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28"/>
  </p:notesMasterIdLst>
  <p:sldIdLst>
    <p:sldId id="256" r:id="rId2"/>
    <p:sldId id="257" r:id="rId3"/>
    <p:sldId id="258" r:id="rId4"/>
    <p:sldId id="261" r:id="rId5"/>
    <p:sldId id="263" r:id="rId6"/>
    <p:sldId id="262" r:id="rId7"/>
    <p:sldId id="260" r:id="rId8"/>
    <p:sldId id="259" r:id="rId9"/>
    <p:sldId id="267" r:id="rId10"/>
    <p:sldId id="268" r:id="rId11"/>
    <p:sldId id="266" r:id="rId12"/>
    <p:sldId id="275" r:id="rId13"/>
    <p:sldId id="269" r:id="rId14"/>
    <p:sldId id="276" r:id="rId15"/>
    <p:sldId id="274" r:id="rId16"/>
    <p:sldId id="270" r:id="rId17"/>
    <p:sldId id="272" r:id="rId18"/>
    <p:sldId id="271" r:id="rId19"/>
    <p:sldId id="281" r:id="rId20"/>
    <p:sldId id="277" r:id="rId21"/>
    <p:sldId id="282" r:id="rId22"/>
    <p:sldId id="283" r:id="rId23"/>
    <p:sldId id="284" r:id="rId24"/>
    <p:sldId id="285" r:id="rId25"/>
    <p:sldId id="273" r:id="rId26"/>
    <p:sldId id="286"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A0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97" autoAdjust="0"/>
    <p:restoredTop sz="84355" autoAdjust="0"/>
  </p:normalViewPr>
  <p:slideViewPr>
    <p:cSldViewPr>
      <p:cViewPr varScale="1">
        <p:scale>
          <a:sx n="58" d="100"/>
          <a:sy n="58" d="100"/>
        </p:scale>
        <p:origin x="1660" y="48"/>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0" y="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98602-0560-4791-93EC-3BF081516261}" type="datetimeFigureOut">
              <a:rPr lang="en-US" smtClean="0"/>
              <a:t>12/20/2022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88E1D-6BDD-4280-B096-4D15059FE1C4}" type="slidenum">
              <a:rPr lang="en-US" smtClean="0"/>
              <a:t>‹#›</a:t>
            </a:fld>
            <a:endParaRPr lang="en-US"/>
          </a:p>
        </p:txBody>
      </p:sp>
    </p:spTree>
    <p:extLst>
      <p:ext uri="{BB962C8B-B14F-4D97-AF65-F5344CB8AC3E}">
        <p14:creationId xmlns:p14="http://schemas.microsoft.com/office/powerpoint/2010/main" val="418658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M.Sc. Computer Engineering,</a:t>
            </a:r>
            <a:r>
              <a:rPr lang="en-US" baseline="0" dirty="0" smtClean="0"/>
              <a:t> </a:t>
            </a:r>
            <a:r>
              <a:rPr lang="en-US" dirty="0" smtClean="0"/>
              <a:t>Computer System and Knowledge Engineering</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a:t>
            </a:fld>
            <a:endParaRPr lang="en-US"/>
          </a:p>
        </p:txBody>
      </p:sp>
    </p:spTree>
    <p:extLst>
      <p:ext uri="{BB962C8B-B14F-4D97-AF65-F5344CB8AC3E}">
        <p14:creationId xmlns:p14="http://schemas.microsoft.com/office/powerpoint/2010/main" val="355287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14</a:t>
            </a:fld>
            <a:endParaRPr lang="en-US"/>
          </a:p>
        </p:txBody>
      </p:sp>
    </p:spTree>
    <p:extLst>
      <p:ext uri="{BB962C8B-B14F-4D97-AF65-F5344CB8AC3E}">
        <p14:creationId xmlns:p14="http://schemas.microsoft.com/office/powerpoint/2010/main" val="36561616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20</a:t>
            </a:fld>
            <a:endParaRPr lang="en-US"/>
          </a:p>
        </p:txBody>
      </p:sp>
    </p:spTree>
    <p:extLst>
      <p:ext uri="{BB962C8B-B14F-4D97-AF65-F5344CB8AC3E}">
        <p14:creationId xmlns:p14="http://schemas.microsoft.com/office/powerpoint/2010/main" val="1228197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F3430D4D-3097-410A-8244-D4E23DFFF5D3}" type="slidenum">
              <a:rPr lang="en-US" altLang="en-US" sz="1200" smtClean="0"/>
              <a:pPr/>
              <a:t>22</a:t>
            </a:fld>
            <a:endParaRPr lang="en-US" altLang="en-US" sz="1200" smtClean="0"/>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p:spPr>
        <p:txBody>
          <a:bodyPr/>
          <a:lstStyle/>
          <a:p>
            <a:pPr eaLnBrk="1" hangingPunct="1"/>
            <a:r>
              <a:rPr lang="en-US" altLang="en-US" smtClean="0"/>
              <a:t>Chacon &amp; Straub: “Pro Git”, page 152</a:t>
            </a:r>
          </a:p>
        </p:txBody>
      </p:sp>
    </p:spTree>
    <p:extLst>
      <p:ext uri="{BB962C8B-B14F-4D97-AF65-F5344CB8AC3E}">
        <p14:creationId xmlns:p14="http://schemas.microsoft.com/office/powerpoint/2010/main" val="1863920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77C3F9DD-E02E-457B-A2B0-971181D57B89}" type="slidenum">
              <a:rPr lang="en-US" altLang="en-US" sz="1200" smtClean="0"/>
              <a:pPr/>
              <a:t>23</a:t>
            </a:fld>
            <a:endParaRPr lang="en-US" altLang="en-US" sz="1200" smtClean="0"/>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p:spPr>
        <p:txBody>
          <a:bodyPr/>
          <a:lstStyle/>
          <a:p>
            <a:pPr eaLnBrk="1" hangingPunct="1"/>
            <a:r>
              <a:rPr lang="en-US" altLang="en-US" smtClean="0"/>
              <a:t>Chacon &amp; Straub: “Pro Git”, page 152</a:t>
            </a:r>
          </a:p>
        </p:txBody>
      </p:sp>
    </p:spTree>
    <p:extLst>
      <p:ext uri="{BB962C8B-B14F-4D97-AF65-F5344CB8AC3E}">
        <p14:creationId xmlns:p14="http://schemas.microsoft.com/office/powerpoint/2010/main" val="3961774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25</a:t>
            </a:fld>
            <a:endParaRPr lang="en-US"/>
          </a:p>
        </p:txBody>
      </p:sp>
    </p:spTree>
    <p:extLst>
      <p:ext uri="{BB962C8B-B14F-4D97-AF65-F5344CB8AC3E}">
        <p14:creationId xmlns:p14="http://schemas.microsoft.com/office/powerpoint/2010/main" val="2040627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26</a:t>
            </a:fld>
            <a:endParaRPr lang="en-US"/>
          </a:p>
        </p:txBody>
      </p:sp>
    </p:spTree>
    <p:extLst>
      <p:ext uri="{BB962C8B-B14F-4D97-AF65-F5344CB8AC3E}">
        <p14:creationId xmlns:p14="http://schemas.microsoft.com/office/powerpoint/2010/main" val="3996521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1EDF663-6502-4AFE-A4A5-DFC5B2B7FA99}"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19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F53C7-C888-4A97-B991-55F187B14BFF}"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83319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B8A232B-0067-4CCE-A445-7B7B82D9D5C2}"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06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B1C0C5-D42E-4942-B7A6-EBC3DBCF8390}"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1380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DA196BF-0B58-443F-823E-B05D5E9A8D60}" type="datetime1">
              <a:rPr lang="en-US" smtClean="0"/>
              <a:t>12/20/2022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61340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CC82D245-7DA9-4010-A373-1F247DBFB5AB}" type="datetime1">
              <a:rPr lang="en-US" smtClean="0"/>
              <a:t>12/20/2022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CE4F79-B2B3-4E4E-AB5D-F771515B9CEF}" type="slidenum">
              <a:rPr lang="en-US" smtClean="0"/>
              <a:t>‹#›</a:t>
            </a:fld>
            <a:endParaRPr lang="en-US" dirty="0"/>
          </a:p>
        </p:txBody>
      </p:sp>
      <p:sp>
        <p:nvSpPr>
          <p:cNvPr id="6" name="Content Placeholder 2"/>
          <p:cNvSpPr>
            <a:spLocks noGrp="1"/>
          </p:cNvSpPr>
          <p:nvPr>
            <p:ph idx="1"/>
          </p:nvPr>
        </p:nvSpPr>
        <p:spPr>
          <a:xfrm>
            <a:off x="822959" y="1447800"/>
            <a:ext cx="7543801"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9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F6B4D06-8CB4-42AC-816F-7C1FFDE86611}" type="datetime1">
              <a:rPr lang="en-US" smtClean="0"/>
              <a:t>12/20/2022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6916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F46CEDC9-0142-4D64-B5E9-A5FEF739447C}" type="datetime1">
              <a:rPr lang="en-US" smtClean="0"/>
              <a:t>12/20/2022</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CE4F79-B2B3-4E4E-AB5D-F771515B9CEF}" type="slidenum">
              <a:rPr lang="en-US" smtClean="0"/>
              <a:t>‹#›</a:t>
            </a:fld>
            <a:endParaRPr lang="en-US" dirty="0"/>
          </a:p>
        </p:txBody>
      </p:sp>
    </p:spTree>
    <p:extLst>
      <p:ext uri="{BB962C8B-B14F-4D97-AF65-F5344CB8AC3E}">
        <p14:creationId xmlns:p14="http://schemas.microsoft.com/office/powerpoint/2010/main" val="242952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645F492-B77D-4B0F-B5F0-1A7BBE520E95}" type="datetime1">
              <a:rPr lang="en-US" smtClean="0"/>
              <a:t>12/20/2022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6997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68438"/>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1289" y="1845734"/>
            <a:ext cx="7543801" cy="4023360"/>
          </a:xfrm>
        </p:spPr>
        <p:txBody>
          <a:bodyPr vert="eaVert" lIns="45720" tIns="0" rIns="45720" bIns="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D91EB734-D3CD-4AFE-AB0B-5A20496C0742}"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12320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E57C9D8-9BE6-4C30-B819-056EEB03C995}" type="datetime1">
              <a:rPr lang="en-US" smtClean="0"/>
              <a:t>12/20/2022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43369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8A3FF76-C175-4D8E-85B7-25A1FFA3E293}" type="datetime1">
              <a:rPr lang="en-US" smtClean="0"/>
              <a:t>12/20/2022</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lvl1pPr marL="91440" indent="-91440">
              <a:buClrTx/>
              <a:buFont typeface="Arial" panose="020B0604020202020204" pitchFamily="34" charset="0"/>
              <a:buChar char="•"/>
              <a:defRPr/>
            </a:lvl1pPr>
            <a:lvl2pPr marL="384048" indent="-182880">
              <a:buClrTx/>
              <a:buFont typeface="Arial" panose="020B0604020202020204" pitchFamily="34" charset="0"/>
              <a:buChar char="•"/>
              <a:defRPr/>
            </a:lvl2pPr>
            <a:lvl3pPr marL="566928" indent="-182880">
              <a:buClrTx/>
              <a:buFont typeface="Arial" panose="020B0604020202020204" pitchFamily="34" charset="0"/>
              <a:buChar char="•"/>
              <a:defRPr/>
            </a:lvl3pPr>
            <a:lvl4pPr marL="749808" indent="-182880">
              <a:buClrTx/>
              <a:buFont typeface="Arial" panose="020B0604020202020204" pitchFamily="34" charset="0"/>
              <a:buChar char="•"/>
              <a:defRPr/>
            </a:lvl4pPr>
            <a:lvl5pPr marL="932688" indent="-182880">
              <a:buClrTx/>
              <a:buFont typeface="Arial" panose="020B0604020202020204"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07707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a:xfrm>
            <a:off x="471544" y="6173786"/>
            <a:ext cx="2133600" cy="365125"/>
          </a:xfrm>
        </p:spPr>
        <p:txBody>
          <a:bodyPr/>
          <a:lstStyle>
            <a:lvl1pPr>
              <a:defRPr/>
            </a:lvl1pPr>
          </a:lstStyle>
          <a:p>
            <a:pPr>
              <a:defRPr/>
            </a:pPr>
            <a:fld id="{D9EA1146-09F4-4C1C-BD61-E44F9ACB076E}" type="datetime1">
              <a:rPr lang="en-US" smtClean="0">
                <a:solidFill>
                  <a:prstClr val="black">
                    <a:tint val="75000"/>
                  </a:prstClr>
                </a:solidFill>
              </a:rPr>
              <a:t>12/20/2022</a:t>
            </a:fld>
            <a:endParaRPr lang="en-MY">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a:xfrm>
            <a:off x="6553200" y="6173787"/>
            <a:ext cx="2133600" cy="365125"/>
          </a:xfrm>
        </p:spPr>
        <p:txBody>
          <a:bodyPr/>
          <a:lstStyle>
            <a:lvl1pPr>
              <a:defRPr/>
            </a:lvl1pPr>
          </a:lstStyle>
          <a:p>
            <a:pPr>
              <a:defRPr/>
            </a:pPr>
            <a:fld id="{7302620F-2723-4C1D-A0D6-2D78DF04BBE5}" type="slidenum">
              <a:rPr lang="en-MY">
                <a:solidFill>
                  <a:prstClr val="black">
                    <a:tint val="75000"/>
                  </a:prstClr>
                </a:solidFill>
              </a:rPr>
              <a:pPr>
                <a:defRPr/>
              </a:pPr>
              <a:t>‹#›</a:t>
            </a:fld>
            <a:endParaRPr lang="en-MY">
              <a:solidFill>
                <a:prstClr val="black">
                  <a:tint val="75000"/>
                </a:prstClr>
              </a:solidFill>
            </a:endParaRPr>
          </a:p>
        </p:txBody>
      </p:sp>
    </p:spTree>
    <p:extLst>
      <p:ext uri="{BB962C8B-B14F-4D97-AF65-F5344CB8AC3E}">
        <p14:creationId xmlns:p14="http://schemas.microsoft.com/office/powerpoint/2010/main" val="1019353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347" y="274638"/>
            <a:ext cx="8229307" cy="1143000"/>
          </a:xfrm>
          <a:prstGeom prst="rect">
            <a:avLst/>
          </a:prstGeom>
        </p:spPr>
        <p:txBody>
          <a:bodyPr/>
          <a:lstStyle/>
          <a:p>
            <a:r>
              <a:rPr lang="en-US"/>
              <a:t>Click to edit Master title style</a:t>
            </a:r>
          </a:p>
        </p:txBody>
      </p:sp>
      <p:sp>
        <p:nvSpPr>
          <p:cNvPr id="3" name="ClipArt Placeholder 2"/>
          <p:cNvSpPr>
            <a:spLocks noGrp="1"/>
          </p:cNvSpPr>
          <p:nvPr>
            <p:ph type="clipArt" sz="half" idx="1"/>
          </p:nvPr>
        </p:nvSpPr>
        <p:spPr>
          <a:xfrm>
            <a:off x="703610" y="1981200"/>
            <a:ext cx="3799495" cy="4114800"/>
          </a:xfrm>
        </p:spPr>
        <p:txBody>
          <a:bodyPr rtlCol="0">
            <a:normAutofit/>
          </a:bodyPr>
          <a:lstStyle/>
          <a:p>
            <a:pPr lvl="0"/>
            <a:endParaRPr lang="en-US" noProof="0"/>
          </a:p>
        </p:txBody>
      </p:sp>
      <p:sp>
        <p:nvSpPr>
          <p:cNvPr id="4" name="Text Placeholder 3"/>
          <p:cNvSpPr>
            <a:spLocks noGrp="1"/>
          </p:cNvSpPr>
          <p:nvPr>
            <p:ph type="body" sz="half" idx="2"/>
          </p:nvPr>
        </p:nvSpPr>
        <p:spPr>
          <a:xfrm>
            <a:off x="4643827" y="1981200"/>
            <a:ext cx="379949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01675" y="6104965"/>
            <a:ext cx="1900238" cy="457200"/>
          </a:xfrm>
        </p:spPr>
        <p:txBody>
          <a:bodyPr/>
          <a:lstStyle>
            <a:lvl1pPr>
              <a:defRPr/>
            </a:lvl1pPr>
          </a:lstStyle>
          <a:p>
            <a:pPr>
              <a:defRPr/>
            </a:pPr>
            <a:fld id="{AA91B0A5-D192-4BF2-BC8E-4747070C6AD7}" type="datetime1">
              <a:rPr lang="en-US" smtClean="0"/>
              <a:t>12/20/2022</a:t>
            </a:fld>
            <a:endParaRPr lang="en-US"/>
          </a:p>
        </p:txBody>
      </p:sp>
      <p:sp>
        <p:nvSpPr>
          <p:cNvPr id="6" name="Footer Placeholder 5"/>
          <p:cNvSpPr>
            <a:spLocks noGrp="1"/>
          </p:cNvSpPr>
          <p:nvPr>
            <p:ph type="ftr" sz="quarter" idx="11"/>
          </p:nvPr>
        </p:nvSpPr>
        <p:spPr>
          <a:xfrm>
            <a:off x="3165475" y="6248400"/>
            <a:ext cx="281305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42087" y="6096000"/>
            <a:ext cx="1900237" cy="457200"/>
          </a:xfrm>
        </p:spPr>
        <p:txBody>
          <a:bodyPr/>
          <a:lstStyle>
            <a:lvl1pPr>
              <a:defRPr/>
            </a:lvl1pPr>
          </a:lstStyle>
          <a:p>
            <a:pPr>
              <a:defRPr/>
            </a:pPr>
            <a:fld id="{4109A845-B5D7-4212-A085-B80A81F92DF0}" type="slidenum">
              <a:rPr lang="en-US"/>
              <a:pPr>
                <a:defRPr/>
              </a:pPr>
              <a:t>‹#›</a:t>
            </a:fld>
            <a:endParaRPr lang="en-US"/>
          </a:p>
        </p:txBody>
      </p:sp>
    </p:spTree>
    <p:extLst>
      <p:ext uri="{BB962C8B-B14F-4D97-AF65-F5344CB8AC3E}">
        <p14:creationId xmlns:p14="http://schemas.microsoft.com/office/powerpoint/2010/main" val="3016415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508260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DB4245B0-D1EF-4B7C-A7D4-45A4BB6BBB4E}" type="datetime1">
              <a:rPr lang="en-US" smtClean="0"/>
              <a:t>12/20/2022</a:t>
            </a:fld>
            <a:endParaRPr lang="en-US" dirty="0"/>
          </a:p>
        </p:txBody>
      </p:sp>
      <p:sp>
        <p:nvSpPr>
          <p:cNvPr id="4" name="Footer Placeholder 3"/>
          <p:cNvSpPr>
            <a:spLocks noGrp="1"/>
          </p:cNvSpPr>
          <p:nvPr>
            <p:ph type="ftr" sz="quarter" idx="11"/>
          </p:nvPr>
        </p:nvSpPr>
        <p:spPr/>
        <p:txBody>
          <a:bodyPr/>
          <a:lstStyle/>
          <a:p>
            <a:pPr>
              <a:defRPr/>
            </a:pPr>
            <a:endParaRPr lang="en-US" dirty="0"/>
          </a:p>
        </p:txBody>
      </p:sp>
      <p:sp>
        <p:nvSpPr>
          <p:cNvPr id="5" name="Slide Number Placeholder 4"/>
          <p:cNvSpPr>
            <a:spLocks noGrp="1"/>
          </p:cNvSpPr>
          <p:nvPr>
            <p:ph type="sldNum" sz="quarter" idx="12"/>
          </p:nvPr>
        </p:nvSpPr>
        <p:spPr/>
        <p:txBody>
          <a:bodyPr/>
          <a:lstStyle/>
          <a:p>
            <a:pPr>
              <a:defRPr/>
            </a:pPr>
            <a:fld id="{D86EE55E-B41D-4258-BEDF-F2FB37197106}" type="slidenum">
              <a:rPr lang="en-US" smtClean="0"/>
              <a:pPr>
                <a:defRPr/>
              </a:pPr>
              <a:t>‹#›</a:t>
            </a:fld>
            <a:endParaRPr lang="en-US" dirty="0"/>
          </a:p>
        </p:txBody>
      </p:sp>
      <p:sp>
        <p:nvSpPr>
          <p:cNvPr id="7" name="Content Placeholder 6"/>
          <p:cNvSpPr>
            <a:spLocks noGrp="1"/>
          </p:cNvSpPr>
          <p:nvPr>
            <p:ph sz="quarter" idx="13"/>
          </p:nvPr>
        </p:nvSpPr>
        <p:spPr>
          <a:xfrm>
            <a:off x="685800" y="1752600"/>
            <a:ext cx="7961313" cy="3048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p:cNvSpPr>
            <a:spLocks noGrp="1"/>
          </p:cNvSpPr>
          <p:nvPr>
            <p:ph sz="quarter" idx="14"/>
          </p:nvPr>
        </p:nvSpPr>
        <p:spPr>
          <a:xfrm>
            <a:off x="4379913" y="5181600"/>
            <a:ext cx="4078287" cy="60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21753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03BDC0B3-8455-404F-A258-F64313AEC8EA}" type="datetime1">
              <a:rPr lang="en-US" smtClean="0"/>
              <a:t>12/20/2022</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E5CE4F79-B2B3-4E4E-AB5D-F771515B9CE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5213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4" r:id="rId12"/>
    <p:sldLayoutId id="2147483705" r:id="rId13"/>
    <p:sldLayoutId id="2147483706" r:id="rId14"/>
    <p:sldLayoutId id="2147483707" r:id="rId15"/>
    <p:sldLayoutId id="2147483708" r:id="rId16"/>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ubhash@achsnepal.edu.n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a:t>
            </a:fld>
            <a:endParaRPr lang="en-US" dirty="0"/>
          </a:p>
        </p:txBody>
      </p:sp>
      <p:sp>
        <p:nvSpPr>
          <p:cNvPr id="2" name="Title 1"/>
          <p:cNvSpPr>
            <a:spLocks noGrp="1"/>
          </p:cNvSpPr>
          <p:nvPr>
            <p:ph type="ctrTitle"/>
          </p:nvPr>
        </p:nvSpPr>
        <p:spPr>
          <a:xfrm>
            <a:off x="762000" y="1066800"/>
            <a:ext cx="8229600" cy="1676400"/>
          </a:xfrm>
        </p:spPr>
        <p:txBody>
          <a:bodyPr>
            <a:normAutofit/>
          </a:bodyPr>
          <a:lstStyle/>
          <a:p>
            <a:r>
              <a:rPr lang="en-US" sz="4400" dirty="0">
                <a:latin typeface="+mn-lt"/>
              </a:rPr>
              <a:t>Software Configuration </a:t>
            </a:r>
            <a:r>
              <a:rPr lang="en-US" sz="4400" dirty="0" smtClean="0">
                <a:latin typeface="+mn-lt"/>
              </a:rPr>
              <a:t>Management</a:t>
            </a:r>
            <a:endParaRPr lang="en-US" sz="4400" b="1" dirty="0">
              <a:latin typeface="+mn-lt"/>
            </a:endParaRPr>
          </a:p>
        </p:txBody>
      </p:sp>
      <p:sp>
        <p:nvSpPr>
          <p:cNvPr id="3" name="Subtitle 2"/>
          <p:cNvSpPr>
            <a:spLocks noGrp="1"/>
          </p:cNvSpPr>
          <p:nvPr>
            <p:ph type="subTitle" idx="4294967295"/>
          </p:nvPr>
        </p:nvSpPr>
        <p:spPr>
          <a:xfrm>
            <a:off x="865563" y="2877468"/>
            <a:ext cx="7543800" cy="1143000"/>
          </a:xfrm>
        </p:spPr>
        <p:txBody>
          <a:bodyPr>
            <a:normAutofit/>
          </a:bodyPr>
          <a:lstStyle/>
          <a:p>
            <a:pPr marL="0" indent="0">
              <a:lnSpc>
                <a:spcPct val="100000"/>
              </a:lnSpc>
              <a:spcBef>
                <a:spcPts val="0"/>
              </a:spcBef>
              <a:spcAft>
                <a:spcPts val="0"/>
              </a:spcAft>
              <a:buNone/>
            </a:pPr>
            <a:r>
              <a:rPr lang="en-US" sz="2000" b="1" dirty="0" smtClean="0">
                <a:latin typeface="+mn-lt"/>
              </a:rPr>
              <a:t>Subhash Paudel</a:t>
            </a:r>
          </a:p>
          <a:p>
            <a:pPr marL="0" indent="0">
              <a:lnSpc>
                <a:spcPct val="100000"/>
              </a:lnSpc>
              <a:spcBef>
                <a:spcPts val="0"/>
              </a:spcBef>
              <a:spcAft>
                <a:spcPts val="0"/>
              </a:spcAft>
              <a:buNone/>
            </a:pPr>
            <a:r>
              <a:rPr lang="en-US" b="1" dirty="0" smtClean="0"/>
              <a:t>MSCSKE, IOE, Pulchowk Campus</a:t>
            </a:r>
          </a:p>
          <a:p>
            <a:pPr marL="0" indent="0">
              <a:lnSpc>
                <a:spcPct val="100000"/>
              </a:lnSpc>
              <a:spcBef>
                <a:spcPts val="0"/>
              </a:spcBef>
              <a:spcAft>
                <a:spcPts val="0"/>
              </a:spcAft>
              <a:buNone/>
            </a:pPr>
            <a:r>
              <a:rPr lang="en-US" b="1" dirty="0" smtClean="0">
                <a:hlinkClick r:id="rId3"/>
              </a:rPr>
              <a:t>subhash@achsnepal.edu.np</a:t>
            </a:r>
            <a:endParaRPr lang="en-US" sz="2000" b="1" dirty="0">
              <a:latin typeface="+mn-lt"/>
            </a:endParaRPr>
          </a:p>
        </p:txBody>
      </p:sp>
    </p:spTree>
    <p:extLst>
      <p:ext uri="{BB962C8B-B14F-4D97-AF65-F5344CB8AC3E}">
        <p14:creationId xmlns:p14="http://schemas.microsoft.com/office/powerpoint/2010/main" val="946450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a:t>
            </a:fld>
            <a:endParaRPr lang="en-US" dirty="0"/>
          </a:p>
        </p:txBody>
      </p:sp>
      <p:sp>
        <p:nvSpPr>
          <p:cNvPr id="3" name="Title 2"/>
          <p:cNvSpPr>
            <a:spLocks noGrp="1"/>
          </p:cNvSpPr>
          <p:nvPr>
            <p:ph type="title"/>
          </p:nvPr>
        </p:nvSpPr>
        <p:spPr/>
        <p:txBody>
          <a:bodyPr/>
          <a:lstStyle/>
          <a:p>
            <a:r>
              <a:rPr lang="en-US" dirty="0" smtClean="0"/>
              <a:t>Introduction</a:t>
            </a:r>
            <a:endParaRPr lang="en-US" dirty="0"/>
          </a:p>
        </p:txBody>
      </p:sp>
      <p:sp>
        <p:nvSpPr>
          <p:cNvPr id="4" name="Text Placeholder 3"/>
          <p:cNvSpPr>
            <a:spLocks noGrp="1"/>
          </p:cNvSpPr>
          <p:nvPr>
            <p:ph type="body" sz="quarter" idx="13"/>
          </p:nvPr>
        </p:nvSpPr>
        <p:spPr/>
        <p:txBody>
          <a:bodyPr/>
          <a:lstStyle/>
          <a:p>
            <a:r>
              <a:rPr lang="en-US" sz="2800" dirty="0" smtClean="0"/>
              <a:t>The </a:t>
            </a:r>
            <a:r>
              <a:rPr lang="en-US" sz="2800" dirty="0"/>
              <a:t>art of identifying, organizing </a:t>
            </a:r>
            <a:r>
              <a:rPr lang="en-US" sz="2800" dirty="0" smtClean="0"/>
              <a:t>and controlling </a:t>
            </a:r>
            <a:r>
              <a:rPr lang="en-US" sz="2800" dirty="0"/>
              <a:t>modifications to the </a:t>
            </a:r>
            <a:r>
              <a:rPr lang="en-US" sz="2800" dirty="0" smtClean="0"/>
              <a:t>software being built</a:t>
            </a:r>
            <a:endParaRPr lang="en-US" sz="2800" dirty="0"/>
          </a:p>
          <a:p>
            <a:r>
              <a:rPr lang="en-US" sz="2800" u="sng" dirty="0" smtClean="0"/>
              <a:t>Goal: </a:t>
            </a:r>
            <a:r>
              <a:rPr lang="en-US" sz="2800" dirty="0" smtClean="0"/>
              <a:t>Maximize the productivity by minimizing mistakes and confusions</a:t>
            </a:r>
            <a:endParaRPr lang="en-US" sz="2800" dirty="0"/>
          </a:p>
          <a:p>
            <a:r>
              <a:rPr lang="en-US" sz="2800" dirty="0" smtClean="0"/>
              <a:t>Software Configuration Management (SCM) </a:t>
            </a:r>
            <a:r>
              <a:rPr lang="en-US" sz="2800" dirty="0"/>
              <a:t>is an umbrella activity, applied </a:t>
            </a:r>
            <a:r>
              <a:rPr lang="en-US" sz="2800" dirty="0" smtClean="0"/>
              <a:t>throughout the </a:t>
            </a:r>
            <a:r>
              <a:rPr lang="en-US" sz="2800" dirty="0"/>
              <a:t>software engineering process</a:t>
            </a:r>
            <a:r>
              <a:rPr lang="en-US" sz="2800" dirty="0" smtClean="0"/>
              <a:t>.</a:t>
            </a:r>
          </a:p>
          <a:p>
            <a:r>
              <a:rPr lang="en-GB" altLang="en-US" sz="2800" dirty="0" smtClean="0"/>
              <a:t>Key SCM activities are </a:t>
            </a:r>
            <a:r>
              <a:rPr lang="en-GB" altLang="en-US" sz="2800" dirty="0"/>
              <a:t>CM planning, change management, version management and system building</a:t>
            </a:r>
            <a:endParaRPr lang="en-US" sz="2800" dirty="0" smtClean="0"/>
          </a:p>
          <a:p>
            <a:endParaRPr lang="en-US" dirty="0"/>
          </a:p>
        </p:txBody>
      </p:sp>
    </p:spTree>
    <p:extLst>
      <p:ext uri="{BB962C8B-B14F-4D97-AF65-F5344CB8AC3E}">
        <p14:creationId xmlns:p14="http://schemas.microsoft.com/office/powerpoint/2010/main" val="1685762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a:t>
            </a:fld>
            <a:endParaRPr lang="en-US" dirty="0"/>
          </a:p>
        </p:txBody>
      </p:sp>
      <p:sp>
        <p:nvSpPr>
          <p:cNvPr id="3" name="Title 2"/>
          <p:cNvSpPr>
            <a:spLocks noGrp="1"/>
          </p:cNvSpPr>
          <p:nvPr>
            <p:ph type="title"/>
          </p:nvPr>
        </p:nvSpPr>
        <p:spPr/>
        <p:txBody>
          <a:bodyPr/>
          <a:lstStyle/>
          <a:p>
            <a:r>
              <a:rPr lang="en-US" dirty="0" smtClean="0"/>
              <a:t>Introduction</a:t>
            </a:r>
            <a:endParaRPr lang="en-US" dirty="0"/>
          </a:p>
        </p:txBody>
      </p:sp>
      <p:sp>
        <p:nvSpPr>
          <p:cNvPr id="4" name="Text Placeholder 3"/>
          <p:cNvSpPr>
            <a:spLocks noGrp="1"/>
          </p:cNvSpPr>
          <p:nvPr>
            <p:ph type="body" sz="quarter" idx="13"/>
          </p:nvPr>
        </p:nvSpPr>
        <p:spPr>
          <a:xfrm>
            <a:off x="457201" y="1447800"/>
            <a:ext cx="8381999" cy="4800600"/>
          </a:xfrm>
        </p:spPr>
        <p:txBody>
          <a:bodyPr>
            <a:normAutofit/>
          </a:bodyPr>
          <a:lstStyle/>
          <a:p>
            <a:r>
              <a:rPr lang="en-US" altLang="en-US" sz="2800" dirty="0" smtClean="0"/>
              <a:t>In </a:t>
            </a:r>
            <a:r>
              <a:rPr lang="en-US" altLang="en-US" sz="2800" dirty="0"/>
              <a:t>System Engineering </a:t>
            </a:r>
            <a:r>
              <a:rPr lang="en-US" altLang="en-US" sz="2800" dirty="0" smtClean="0"/>
              <a:t>: </a:t>
            </a:r>
            <a:r>
              <a:rPr lang="en-US" altLang="en-US" sz="2800" dirty="0"/>
              <a:t>No matter where you are in the system life cycle, the system will change, and the desire to change it will persist throughout the life </a:t>
            </a:r>
            <a:r>
              <a:rPr lang="en-US" altLang="en-US" sz="2800" dirty="0" smtClean="0"/>
              <a:t>cycle</a:t>
            </a:r>
          </a:p>
          <a:p>
            <a:r>
              <a:rPr lang="en-US" altLang="en-US" sz="2800" dirty="0" smtClean="0"/>
              <a:t>Fundamental </a:t>
            </a:r>
            <a:r>
              <a:rPr lang="en-US" altLang="en-US" sz="2800" dirty="0"/>
              <a:t>sources of change:</a:t>
            </a:r>
          </a:p>
          <a:p>
            <a:pPr lvl="1"/>
            <a:r>
              <a:rPr lang="en-US" altLang="en-US" sz="2400" dirty="0"/>
              <a:t>New business or market conditions</a:t>
            </a:r>
          </a:p>
          <a:p>
            <a:pPr lvl="1"/>
            <a:r>
              <a:rPr lang="en-US" altLang="en-US" sz="2400" dirty="0"/>
              <a:t>New customer needs</a:t>
            </a:r>
          </a:p>
          <a:p>
            <a:pPr lvl="1"/>
            <a:r>
              <a:rPr lang="en-US" altLang="en-US" sz="2400" dirty="0"/>
              <a:t>Reorganization and/or business downsizing</a:t>
            </a:r>
          </a:p>
          <a:p>
            <a:pPr lvl="1"/>
            <a:r>
              <a:rPr lang="en-US" altLang="en-US" sz="2400" dirty="0"/>
              <a:t>Budgetary or </a:t>
            </a:r>
            <a:r>
              <a:rPr lang="en-US" altLang="en-US" sz="2400" dirty="0" smtClean="0"/>
              <a:t>scheduling</a:t>
            </a:r>
            <a:endParaRPr lang="en-US" altLang="en-US" sz="2400" dirty="0"/>
          </a:p>
          <a:p>
            <a:r>
              <a:rPr lang="en-US" altLang="en-US" sz="2800" dirty="0"/>
              <a:t>All information produced as part of the software process are collectively called a software </a:t>
            </a:r>
            <a:r>
              <a:rPr lang="en-US" altLang="en-US" sz="2800" dirty="0" smtClean="0"/>
              <a:t>configuration</a:t>
            </a:r>
            <a:endParaRPr lang="en-GB" altLang="en-US" sz="2800" dirty="0"/>
          </a:p>
          <a:p>
            <a:pPr lvl="1"/>
            <a:endParaRPr lang="en-US" altLang="en-US" dirty="0"/>
          </a:p>
          <a:p>
            <a:endParaRPr lang="en-US" dirty="0"/>
          </a:p>
          <a:p>
            <a:endParaRPr lang="en-US" dirty="0"/>
          </a:p>
        </p:txBody>
      </p:sp>
    </p:spTree>
    <p:extLst>
      <p:ext uri="{BB962C8B-B14F-4D97-AF65-F5344CB8AC3E}">
        <p14:creationId xmlns:p14="http://schemas.microsoft.com/office/powerpoint/2010/main" val="17377864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4</a:t>
            </a:fld>
            <a:endParaRPr lang="en-US" dirty="0"/>
          </a:p>
        </p:txBody>
      </p:sp>
      <p:sp>
        <p:nvSpPr>
          <p:cNvPr id="3" name="Title 2"/>
          <p:cNvSpPr>
            <a:spLocks noGrp="1"/>
          </p:cNvSpPr>
          <p:nvPr>
            <p:ph type="title"/>
          </p:nvPr>
        </p:nvSpPr>
        <p:spPr/>
        <p:txBody>
          <a:bodyPr/>
          <a:lstStyle/>
          <a:p>
            <a:r>
              <a:rPr lang="en-US" dirty="0" smtClean="0"/>
              <a:t>SCM Concepts</a:t>
            </a:r>
            <a:endParaRPr lang="en-US" dirty="0"/>
          </a:p>
        </p:txBody>
      </p:sp>
      <p:sp>
        <p:nvSpPr>
          <p:cNvPr id="4" name="Text Placeholder 3"/>
          <p:cNvSpPr>
            <a:spLocks noGrp="1"/>
          </p:cNvSpPr>
          <p:nvPr>
            <p:ph type="body" sz="quarter" idx="13"/>
          </p:nvPr>
        </p:nvSpPr>
        <p:spPr>
          <a:xfrm>
            <a:off x="457201" y="1447799"/>
            <a:ext cx="8381999" cy="4800601"/>
          </a:xfrm>
        </p:spPr>
        <p:txBody>
          <a:bodyPr>
            <a:normAutofit/>
          </a:bodyPr>
          <a:lstStyle/>
          <a:p>
            <a:r>
              <a:rPr lang="en-GB" altLang="en-US" sz="3000" dirty="0"/>
              <a:t>New versions of software systems are created as they change:</a:t>
            </a:r>
          </a:p>
          <a:p>
            <a:pPr lvl="1"/>
            <a:r>
              <a:rPr lang="en-GB" altLang="en-US" sz="2600" dirty="0"/>
              <a:t>For different machines/OS;</a:t>
            </a:r>
          </a:p>
          <a:p>
            <a:pPr lvl="1"/>
            <a:r>
              <a:rPr lang="en-GB" altLang="en-US" sz="2600" dirty="0"/>
              <a:t>Offering different functionality;</a:t>
            </a:r>
          </a:p>
          <a:p>
            <a:pPr lvl="1"/>
            <a:r>
              <a:rPr lang="en-GB" altLang="en-US" sz="2600" dirty="0"/>
              <a:t>Tailored for particular user requirements.</a:t>
            </a:r>
          </a:p>
          <a:p>
            <a:r>
              <a:rPr lang="en-GB" altLang="en-US" sz="3000" dirty="0"/>
              <a:t>Configuration</a:t>
            </a:r>
            <a:r>
              <a:rPr lang="en-GB" altLang="en-US" sz="3200" dirty="0"/>
              <a:t> </a:t>
            </a:r>
            <a:r>
              <a:rPr lang="en-GB" altLang="en-US" sz="3000" dirty="0"/>
              <a:t>management is concerned with managing evolving software systems:</a:t>
            </a:r>
          </a:p>
          <a:p>
            <a:pPr lvl="1"/>
            <a:r>
              <a:rPr lang="en-GB" altLang="en-US" sz="2600" dirty="0"/>
              <a:t>System change is a team activity;</a:t>
            </a:r>
          </a:p>
          <a:p>
            <a:pPr lvl="1"/>
            <a:r>
              <a:rPr lang="en-GB" altLang="en-US" sz="2600" dirty="0"/>
              <a:t>CM aims to control the costs and effort involved in making changes to a system</a:t>
            </a:r>
            <a:r>
              <a:rPr lang="en-GB" altLang="en-US" sz="2600" dirty="0" smtClean="0"/>
              <a:t>.</a:t>
            </a:r>
            <a:endParaRPr lang="en-US" dirty="0"/>
          </a:p>
        </p:txBody>
      </p:sp>
    </p:spTree>
    <p:extLst>
      <p:ext uri="{BB962C8B-B14F-4D97-AF65-F5344CB8AC3E}">
        <p14:creationId xmlns:p14="http://schemas.microsoft.com/office/powerpoint/2010/main" val="992271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5</a:t>
            </a:fld>
            <a:endParaRPr lang="en-US" dirty="0"/>
          </a:p>
        </p:txBody>
      </p:sp>
      <p:sp>
        <p:nvSpPr>
          <p:cNvPr id="3" name="Title 2"/>
          <p:cNvSpPr>
            <a:spLocks noGrp="1"/>
          </p:cNvSpPr>
          <p:nvPr>
            <p:ph type="title"/>
          </p:nvPr>
        </p:nvSpPr>
        <p:spPr/>
        <p:txBody>
          <a:bodyPr/>
          <a:lstStyle/>
          <a:p>
            <a:r>
              <a:rPr lang="en-US" dirty="0" smtClean="0"/>
              <a:t>SCM Concepts</a:t>
            </a:r>
            <a:endParaRPr lang="en-US" dirty="0"/>
          </a:p>
        </p:txBody>
      </p:sp>
      <p:sp>
        <p:nvSpPr>
          <p:cNvPr id="4" name="Text Placeholder 3"/>
          <p:cNvSpPr>
            <a:spLocks noGrp="1"/>
          </p:cNvSpPr>
          <p:nvPr>
            <p:ph type="body" sz="quarter" idx="13"/>
          </p:nvPr>
        </p:nvSpPr>
        <p:spPr/>
        <p:txBody>
          <a:bodyPr>
            <a:normAutofit/>
          </a:bodyPr>
          <a:lstStyle/>
          <a:p>
            <a:r>
              <a:rPr lang="en-GB" altLang="en-US" sz="2800" dirty="0" smtClean="0"/>
              <a:t>Involves </a:t>
            </a:r>
            <a:r>
              <a:rPr lang="en-GB" altLang="en-US" sz="2800" dirty="0"/>
              <a:t>the development and application of procedures and standards to manage an evolving software product.</a:t>
            </a:r>
          </a:p>
          <a:p>
            <a:r>
              <a:rPr lang="en-GB" altLang="en-US" sz="2800" dirty="0"/>
              <a:t>CM may be seen as part of a more general quality management process.</a:t>
            </a:r>
          </a:p>
          <a:p>
            <a:r>
              <a:rPr lang="en-GB" altLang="en-US" sz="2800" dirty="0"/>
              <a:t>When released to CM, software systems are sometimes called </a:t>
            </a:r>
            <a:r>
              <a:rPr lang="en-GB" altLang="en-US" sz="2800" i="1" dirty="0"/>
              <a:t>baselines</a:t>
            </a:r>
            <a:r>
              <a:rPr lang="en-GB" altLang="en-US" sz="2800" dirty="0"/>
              <a:t> as they are a starting point for further development.</a:t>
            </a:r>
          </a:p>
          <a:p>
            <a:pPr marL="0" indent="0">
              <a:buNone/>
            </a:pPr>
            <a:r>
              <a:rPr lang="en-US" dirty="0"/>
              <a:t/>
            </a:r>
            <a:br>
              <a:rPr lang="en-US" dirty="0"/>
            </a:br>
            <a:endParaRPr lang="en-US" dirty="0"/>
          </a:p>
        </p:txBody>
      </p:sp>
    </p:spTree>
    <p:extLst>
      <p:ext uri="{BB962C8B-B14F-4D97-AF65-F5344CB8AC3E}">
        <p14:creationId xmlns:p14="http://schemas.microsoft.com/office/powerpoint/2010/main" val="3798098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6</a:t>
            </a:fld>
            <a:endParaRPr lang="en-US" dirty="0"/>
          </a:p>
        </p:txBody>
      </p:sp>
      <p:sp>
        <p:nvSpPr>
          <p:cNvPr id="3" name="Title 2"/>
          <p:cNvSpPr>
            <a:spLocks noGrp="1"/>
          </p:cNvSpPr>
          <p:nvPr>
            <p:ph type="title"/>
          </p:nvPr>
        </p:nvSpPr>
        <p:spPr/>
        <p:txBody>
          <a:bodyPr/>
          <a:lstStyle/>
          <a:p>
            <a:r>
              <a:rPr lang="en-US" dirty="0" smtClean="0"/>
              <a:t>SCM Concepts</a:t>
            </a:r>
            <a:endParaRPr lang="en-US" dirty="0"/>
          </a:p>
        </p:txBody>
      </p:sp>
      <p:sp>
        <p:nvSpPr>
          <p:cNvPr id="4" name="Text Placeholder 3"/>
          <p:cNvSpPr>
            <a:spLocks noGrp="1"/>
          </p:cNvSpPr>
          <p:nvPr>
            <p:ph type="body" sz="quarter" idx="13"/>
          </p:nvPr>
        </p:nvSpPr>
        <p:spPr>
          <a:xfrm>
            <a:off x="457201" y="1447800"/>
            <a:ext cx="8381999" cy="4724400"/>
          </a:xfrm>
        </p:spPr>
        <p:txBody>
          <a:bodyPr>
            <a:normAutofit fontScale="92500"/>
          </a:bodyPr>
          <a:lstStyle/>
          <a:p>
            <a:r>
              <a:rPr lang="en-US" sz="3200" dirty="0"/>
              <a:t>A baseline is a milestone in the </a:t>
            </a:r>
            <a:r>
              <a:rPr lang="en-US" sz="3200" dirty="0" smtClean="0"/>
              <a:t>development of </a:t>
            </a:r>
            <a:r>
              <a:rPr lang="en-US" sz="3200" dirty="0"/>
              <a:t>software that marked the delivery of one </a:t>
            </a:r>
            <a:r>
              <a:rPr lang="en-US" sz="3200" dirty="0" smtClean="0"/>
              <a:t>or more </a:t>
            </a:r>
            <a:r>
              <a:rPr lang="en-US" sz="3200" dirty="0"/>
              <a:t>software configuration items.</a:t>
            </a:r>
          </a:p>
          <a:p>
            <a:r>
              <a:rPr lang="en-US" sz="3200" dirty="0" smtClean="0"/>
              <a:t>Example: </a:t>
            </a:r>
            <a:r>
              <a:rPr lang="en-US" sz="3200" dirty="0"/>
              <a:t>Design specification </a:t>
            </a:r>
            <a:r>
              <a:rPr lang="en-US" sz="3200" dirty="0" smtClean="0"/>
              <a:t>-&gt; documented, reviewed ; </a:t>
            </a:r>
            <a:r>
              <a:rPr lang="en-US" sz="3200" dirty="0"/>
              <a:t>errors </a:t>
            </a:r>
            <a:r>
              <a:rPr lang="en-US" sz="3200" dirty="0" smtClean="0"/>
              <a:t>found</a:t>
            </a:r>
            <a:r>
              <a:rPr lang="en-US" sz="3200" dirty="0"/>
              <a:t> </a:t>
            </a:r>
            <a:r>
              <a:rPr lang="en-US" sz="3200" dirty="0" smtClean="0"/>
              <a:t>-&gt; corrected, Approved </a:t>
            </a:r>
          </a:p>
          <a:p>
            <a:r>
              <a:rPr lang="en-US" altLang="en-US" sz="3200" dirty="0"/>
              <a:t>Baseline, IEEE defines a baseline as:</a:t>
            </a:r>
          </a:p>
          <a:p>
            <a:pPr lvl="1"/>
            <a:r>
              <a:rPr lang="en-US" altLang="en-US" sz="2800" dirty="0"/>
              <a:t>A specification or product that has been formally reviewed and agreed upon, that thereafter serves as the basis for further development, and that can be changed only through formal change control procedures</a:t>
            </a:r>
            <a:r>
              <a:rPr lang="en-US" dirty="0"/>
              <a:t/>
            </a:r>
            <a:br>
              <a:rPr lang="en-US" dirty="0"/>
            </a:br>
            <a:endParaRPr lang="en-US" dirty="0"/>
          </a:p>
        </p:txBody>
      </p:sp>
    </p:spTree>
    <p:extLst>
      <p:ext uri="{BB962C8B-B14F-4D97-AF65-F5344CB8AC3E}">
        <p14:creationId xmlns:p14="http://schemas.microsoft.com/office/powerpoint/2010/main" val="3733064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7</a:t>
            </a:fld>
            <a:endParaRPr lang="en-US" dirty="0"/>
          </a:p>
        </p:txBody>
      </p:sp>
      <p:sp>
        <p:nvSpPr>
          <p:cNvPr id="3" name="Title 2"/>
          <p:cNvSpPr>
            <a:spLocks noGrp="1"/>
          </p:cNvSpPr>
          <p:nvPr>
            <p:ph type="title"/>
          </p:nvPr>
        </p:nvSpPr>
        <p:spPr/>
        <p:txBody>
          <a:bodyPr/>
          <a:lstStyle/>
          <a:p>
            <a:r>
              <a:rPr lang="en-US" dirty="0" smtClean="0"/>
              <a:t>SCM Concepts: </a:t>
            </a:r>
            <a:r>
              <a:rPr lang="en-US" dirty="0"/>
              <a:t>Common Baselines</a:t>
            </a:r>
          </a:p>
        </p:txBody>
      </p:sp>
      <p:sp>
        <p:nvSpPr>
          <p:cNvPr id="20" name="Rectangle 5"/>
          <p:cNvSpPr txBox="1">
            <a:spLocks noChangeArrowheads="1"/>
          </p:cNvSpPr>
          <p:nvPr/>
        </p:nvSpPr>
        <p:spPr bwMode="auto">
          <a:xfrm>
            <a:off x="457200" y="1600200"/>
            <a:ext cx="4572000" cy="41338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lvl1pPr marL="342900" indent="-342900" algn="l" rtl="0" fontAlgn="base">
              <a:spcBef>
                <a:spcPct val="20000"/>
              </a:spcBef>
              <a:spcAft>
                <a:spcPct val="0"/>
              </a:spcAft>
              <a:buClr>
                <a:schemeClr val="accent2"/>
              </a:buClr>
              <a:buFont typeface="Wingdings" panose="05000000000000000000" pitchFamily="2" charset="2"/>
              <a:buChar char="w"/>
              <a:defRPr sz="3200" kern="1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55000"/>
              <a:buFont typeface="Wingdings" panose="05000000000000000000" pitchFamily="2" charset="2"/>
              <a:buChar char="n"/>
              <a:defRPr sz="2800" kern="1200">
                <a:solidFill>
                  <a:schemeClr val="tx1"/>
                </a:solidFill>
                <a:latin typeface="+mn-lt"/>
                <a:ea typeface="+mn-ea"/>
                <a:cs typeface="+mn-cs"/>
              </a:defRPr>
            </a:lvl2pPr>
            <a:lvl3pPr marL="1085850" indent="-228600" algn="l" rtl="0" fontAlgn="base">
              <a:spcBef>
                <a:spcPct val="20000"/>
              </a:spcBef>
              <a:spcAft>
                <a:spcPct val="0"/>
              </a:spcAft>
              <a:buClr>
                <a:schemeClr val="accent2"/>
              </a:buClr>
              <a:buSzPct val="65000"/>
              <a:buFont typeface="Wingdings" panose="05000000000000000000" pitchFamily="2" charset="2"/>
              <a:buChar char="l"/>
              <a:defRPr sz="2400" kern="1200">
                <a:solidFill>
                  <a:schemeClr val="tx1"/>
                </a:solidFill>
                <a:latin typeface="+mn-lt"/>
                <a:ea typeface="+mn-ea"/>
                <a:cs typeface="+mn-cs"/>
              </a:defRPr>
            </a:lvl3pPr>
            <a:lvl4pPr marL="1428750" indent="-228600" algn="l" rtl="0" fontAlgn="base">
              <a:spcBef>
                <a:spcPct val="20000"/>
              </a:spcBef>
              <a:spcAft>
                <a:spcPct val="0"/>
              </a:spcAft>
              <a:buClr>
                <a:schemeClr val="accent2"/>
              </a:buClr>
              <a:buSzPct val="85000"/>
              <a:buFont typeface="Wingdings" panose="05000000000000000000" pitchFamily="2" charset="2"/>
              <a:buChar char="w"/>
              <a:defRPr sz="2000" kern="1200">
                <a:solidFill>
                  <a:schemeClr val="tx1"/>
                </a:solidFill>
                <a:latin typeface="+mn-lt"/>
                <a:ea typeface="+mn-ea"/>
                <a:cs typeface="+mn-cs"/>
              </a:defRPr>
            </a:lvl4pPr>
            <a:lvl5pPr marL="1771650" indent="-228600" algn="l" rtl="0" fontAlgn="base">
              <a:spcBef>
                <a:spcPct val="20000"/>
              </a:spcBef>
              <a:spcAft>
                <a:spcPct val="0"/>
              </a:spcAft>
              <a:buClr>
                <a:schemeClr val="accent2"/>
              </a:buClr>
              <a:buSzPct val="80000"/>
              <a:buFont typeface="Wingdings" panose="05000000000000000000" pitchFamily="2" charset="2"/>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r>
              <a:rPr kumimoji="0" lang="en-US" altLang="en-US" sz="2000" b="0" i="0" u="none" strike="noStrike" kern="1200" cap="none" spc="0" normalizeH="0" baseline="0" noProof="0" smtClean="0">
                <a:ln>
                  <a:noFill/>
                </a:ln>
                <a:effectLst/>
                <a:uLnTx/>
                <a:uFillTx/>
                <a:latin typeface="Times New Roman"/>
                <a:ea typeface="+mn-ea"/>
                <a:cs typeface="+mn-cs"/>
              </a:rPr>
              <a:t>System engineering </a:t>
            </a: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endParaRPr kumimoji="0" lang="en-US" altLang="en-US" sz="2000" b="0" i="0" u="none" strike="noStrike" kern="1200" cap="none" spc="0" normalizeH="0" baseline="0" noProof="0" smtClean="0">
              <a:ln>
                <a:noFill/>
              </a:ln>
              <a:effectLst/>
              <a:uLnTx/>
              <a:uFillTx/>
              <a:latin typeface="Times New Roman"/>
              <a:ea typeface="+mn-ea"/>
              <a:cs typeface="+mn-cs"/>
            </a:endParaRP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r>
              <a:rPr kumimoji="0" lang="en-US" altLang="en-US" sz="2000" b="0" i="0" u="none" strike="noStrike" kern="1200" cap="none" spc="0" normalizeH="0" baseline="0" noProof="0" smtClean="0">
                <a:ln>
                  <a:noFill/>
                </a:ln>
                <a:effectLst/>
                <a:uLnTx/>
                <a:uFillTx/>
                <a:latin typeface="Times New Roman"/>
                <a:ea typeface="+mn-ea"/>
                <a:cs typeface="+mn-cs"/>
              </a:rPr>
              <a:t>Requirement analysis</a:t>
            </a: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endParaRPr kumimoji="0" lang="en-US" altLang="en-US" sz="2000" b="0" i="0" u="none" strike="noStrike" kern="1200" cap="none" spc="0" normalizeH="0" baseline="0" noProof="0" smtClean="0">
              <a:ln>
                <a:noFill/>
              </a:ln>
              <a:effectLst/>
              <a:uLnTx/>
              <a:uFillTx/>
              <a:latin typeface="Times New Roman"/>
              <a:ea typeface="+mn-ea"/>
              <a:cs typeface="+mn-cs"/>
            </a:endParaRP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r>
              <a:rPr kumimoji="0" lang="en-US" altLang="en-US" sz="2000" b="0" i="0" u="none" strike="noStrike" kern="1200" cap="none" spc="0" normalizeH="0" baseline="0" noProof="0" smtClean="0">
                <a:ln>
                  <a:noFill/>
                </a:ln>
                <a:effectLst/>
                <a:uLnTx/>
                <a:uFillTx/>
                <a:latin typeface="Times New Roman"/>
                <a:ea typeface="+mn-ea"/>
                <a:cs typeface="+mn-cs"/>
              </a:rPr>
              <a:t>Software design</a:t>
            </a: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endParaRPr kumimoji="0" lang="en-US" altLang="en-US" sz="2000" b="0" i="0" u="none" strike="noStrike" kern="1200" cap="none" spc="0" normalizeH="0" baseline="0" noProof="0" smtClean="0">
              <a:ln>
                <a:noFill/>
              </a:ln>
              <a:effectLst/>
              <a:uLnTx/>
              <a:uFillTx/>
              <a:latin typeface="Times New Roman"/>
              <a:ea typeface="+mn-ea"/>
              <a:cs typeface="+mn-cs"/>
            </a:endParaRP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r>
              <a:rPr kumimoji="0" lang="en-US" altLang="en-US" sz="2000" b="0" i="0" u="none" strike="noStrike" kern="1200" cap="none" spc="0" normalizeH="0" baseline="0" noProof="0" smtClean="0">
                <a:ln>
                  <a:noFill/>
                </a:ln>
                <a:effectLst/>
                <a:uLnTx/>
                <a:uFillTx/>
                <a:latin typeface="Times New Roman"/>
                <a:ea typeface="+mn-ea"/>
                <a:cs typeface="+mn-cs"/>
              </a:rPr>
              <a:t>Coding</a:t>
            </a: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endParaRPr kumimoji="0" lang="en-US" altLang="en-US" sz="2000" b="0" i="0" u="none" strike="noStrike" kern="1200" cap="none" spc="0" normalizeH="0" baseline="0" noProof="0" smtClean="0">
              <a:ln>
                <a:noFill/>
              </a:ln>
              <a:effectLst/>
              <a:uLnTx/>
              <a:uFillTx/>
              <a:latin typeface="Times New Roman"/>
              <a:ea typeface="+mn-ea"/>
              <a:cs typeface="+mn-cs"/>
            </a:endParaRP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r>
              <a:rPr kumimoji="0" lang="en-US" altLang="en-US" sz="2000" b="0" i="0" u="none" strike="noStrike" kern="1200" cap="none" spc="0" normalizeH="0" baseline="0" noProof="0" smtClean="0">
                <a:ln>
                  <a:noFill/>
                </a:ln>
                <a:effectLst/>
                <a:uLnTx/>
                <a:uFillTx/>
                <a:latin typeface="Times New Roman"/>
                <a:ea typeface="+mn-ea"/>
                <a:cs typeface="+mn-cs"/>
              </a:rPr>
              <a:t>Testing</a:t>
            </a: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endParaRPr kumimoji="0" lang="en-US" altLang="en-US" sz="2000" b="0" i="0" u="none" strike="noStrike" kern="1200" cap="none" spc="0" normalizeH="0" baseline="0" noProof="0" smtClean="0">
              <a:ln>
                <a:noFill/>
              </a:ln>
              <a:effectLst/>
              <a:uLnTx/>
              <a:uFillTx/>
              <a:latin typeface="Times New Roman"/>
              <a:ea typeface="+mn-ea"/>
              <a:cs typeface="+mn-cs"/>
            </a:endParaRP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r>
              <a:rPr kumimoji="0" lang="en-US" altLang="en-US" sz="2000" b="0" i="0" u="none" strike="noStrike" kern="1200" cap="none" spc="0" normalizeH="0" baseline="0" noProof="0" smtClean="0">
                <a:ln>
                  <a:noFill/>
                </a:ln>
                <a:effectLst/>
                <a:uLnTx/>
                <a:uFillTx/>
                <a:latin typeface="Times New Roman"/>
                <a:ea typeface="+mn-ea"/>
                <a:cs typeface="+mn-cs"/>
              </a:rPr>
              <a:t>Release</a:t>
            </a:r>
          </a:p>
          <a:p>
            <a:pPr marL="342900" marR="0" lvl="0" indent="-342900" algn="ctr" defTabSz="914400" rtl="0" eaLnBrk="1" fontAlgn="base" latinLnBrk="0" hangingPunct="1">
              <a:lnSpc>
                <a:spcPct val="100000"/>
              </a:lnSpc>
              <a:spcBef>
                <a:spcPct val="20000"/>
              </a:spcBef>
              <a:spcAft>
                <a:spcPct val="0"/>
              </a:spcAft>
              <a:buClr>
                <a:srgbClr val="003366"/>
              </a:buClr>
              <a:buSzTx/>
              <a:buFont typeface="Wingdings" panose="05000000000000000000" pitchFamily="2" charset="2"/>
              <a:buNone/>
              <a:tabLst/>
              <a:defRPr/>
            </a:pPr>
            <a:endParaRPr kumimoji="0" lang="en-US" altLang="en-US" sz="2000" b="0" i="0" u="none" strike="noStrike" kern="1200" cap="none" spc="0" normalizeH="0" baseline="0" noProof="0" smtClean="0">
              <a:ln>
                <a:noFill/>
              </a:ln>
              <a:effectLst/>
              <a:uLnTx/>
              <a:uFillTx/>
              <a:latin typeface="Times New Roman"/>
              <a:ea typeface="+mn-ea"/>
              <a:cs typeface="+mn-cs"/>
            </a:endParaRPr>
          </a:p>
        </p:txBody>
      </p:sp>
      <p:sp>
        <p:nvSpPr>
          <p:cNvPr id="21" name="Rectangle 6"/>
          <p:cNvSpPr>
            <a:spLocks noChangeArrowheads="1"/>
          </p:cNvSpPr>
          <p:nvPr/>
        </p:nvSpPr>
        <p:spPr bwMode="auto">
          <a:xfrm>
            <a:off x="4519753" y="1556674"/>
            <a:ext cx="4660900" cy="4152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fontAlgn="base" hangingPunct="0">
              <a:spcBef>
                <a:spcPct val="0"/>
              </a:spcBef>
              <a:spcAft>
                <a:spcPct val="0"/>
              </a:spcAft>
            </a:pPr>
            <a:r>
              <a:rPr lang="en-US" altLang="en-US" sz="2400" i="1" dirty="0" smtClean="0">
                <a:latin typeface="Arial" panose="020B0604020202020204" pitchFamily="34" charset="0"/>
              </a:rPr>
              <a:t>System specification</a:t>
            </a:r>
          </a:p>
          <a:p>
            <a:pPr eaLnBrk="0" fontAlgn="base" hangingPunct="0">
              <a:spcBef>
                <a:spcPct val="0"/>
              </a:spcBef>
              <a:spcAft>
                <a:spcPct val="0"/>
              </a:spcAft>
            </a:pPr>
            <a:endParaRPr lang="en-US" altLang="en-US" sz="2400" i="1" dirty="0" smtClean="0">
              <a:latin typeface="Arial" panose="020B0604020202020204" pitchFamily="34" charset="0"/>
            </a:endParaRPr>
          </a:p>
          <a:p>
            <a:pPr eaLnBrk="0" fontAlgn="base" hangingPunct="0">
              <a:spcBef>
                <a:spcPct val="0"/>
              </a:spcBef>
              <a:spcAft>
                <a:spcPct val="0"/>
              </a:spcAft>
            </a:pPr>
            <a:r>
              <a:rPr lang="en-US" altLang="en-US" sz="2400" i="1" dirty="0" smtClean="0">
                <a:latin typeface="Arial" panose="020B0604020202020204" pitchFamily="34" charset="0"/>
              </a:rPr>
              <a:t>Software requirement specification</a:t>
            </a:r>
          </a:p>
          <a:p>
            <a:pPr eaLnBrk="0" fontAlgn="base" hangingPunct="0">
              <a:spcBef>
                <a:spcPct val="0"/>
              </a:spcBef>
              <a:spcAft>
                <a:spcPct val="0"/>
              </a:spcAft>
            </a:pPr>
            <a:r>
              <a:rPr lang="en-US" altLang="en-US" sz="2400" i="1" dirty="0" smtClean="0">
                <a:latin typeface="Arial" panose="020B0604020202020204" pitchFamily="34" charset="0"/>
              </a:rPr>
              <a:t>Design specification</a:t>
            </a:r>
          </a:p>
          <a:p>
            <a:pPr eaLnBrk="0" fontAlgn="base" hangingPunct="0">
              <a:spcBef>
                <a:spcPct val="0"/>
              </a:spcBef>
              <a:spcAft>
                <a:spcPct val="0"/>
              </a:spcAft>
            </a:pPr>
            <a:endParaRPr lang="en-US" altLang="en-US" sz="2400" i="1" dirty="0" smtClean="0">
              <a:latin typeface="Arial" panose="020B0604020202020204" pitchFamily="34" charset="0"/>
            </a:endParaRPr>
          </a:p>
          <a:p>
            <a:pPr eaLnBrk="0" fontAlgn="base" hangingPunct="0">
              <a:spcBef>
                <a:spcPct val="0"/>
              </a:spcBef>
              <a:spcAft>
                <a:spcPct val="0"/>
              </a:spcAft>
            </a:pPr>
            <a:r>
              <a:rPr lang="en-US" altLang="en-US" sz="2400" i="1" dirty="0" smtClean="0">
                <a:latin typeface="Arial" panose="020B0604020202020204" pitchFamily="34" charset="0"/>
              </a:rPr>
              <a:t>Source code</a:t>
            </a:r>
          </a:p>
          <a:p>
            <a:pPr eaLnBrk="0" fontAlgn="base" hangingPunct="0">
              <a:spcBef>
                <a:spcPct val="0"/>
              </a:spcBef>
              <a:spcAft>
                <a:spcPct val="0"/>
              </a:spcAft>
            </a:pPr>
            <a:endParaRPr lang="en-US" altLang="en-US" sz="2400" i="1" dirty="0" smtClean="0">
              <a:latin typeface="Arial" panose="020B0604020202020204" pitchFamily="34" charset="0"/>
            </a:endParaRPr>
          </a:p>
          <a:p>
            <a:pPr eaLnBrk="0" fontAlgn="base" hangingPunct="0">
              <a:spcBef>
                <a:spcPct val="0"/>
              </a:spcBef>
              <a:spcAft>
                <a:spcPct val="0"/>
              </a:spcAft>
            </a:pPr>
            <a:r>
              <a:rPr lang="en-US" altLang="en-US" sz="2400" i="1" dirty="0" smtClean="0">
                <a:latin typeface="Arial" panose="020B0604020202020204" pitchFamily="34" charset="0"/>
              </a:rPr>
              <a:t>Test plans/Procedures/Data</a:t>
            </a:r>
          </a:p>
          <a:p>
            <a:pPr eaLnBrk="0" fontAlgn="base" hangingPunct="0">
              <a:spcBef>
                <a:spcPct val="0"/>
              </a:spcBef>
              <a:spcAft>
                <a:spcPct val="0"/>
              </a:spcAft>
            </a:pPr>
            <a:endParaRPr lang="en-US" altLang="en-US" sz="2400" i="1" dirty="0" smtClean="0">
              <a:latin typeface="Arial" panose="020B0604020202020204" pitchFamily="34" charset="0"/>
            </a:endParaRPr>
          </a:p>
          <a:p>
            <a:pPr eaLnBrk="0" fontAlgn="base" hangingPunct="0">
              <a:spcBef>
                <a:spcPct val="0"/>
              </a:spcBef>
              <a:spcAft>
                <a:spcPct val="0"/>
              </a:spcAft>
            </a:pPr>
            <a:r>
              <a:rPr lang="en-US" altLang="en-US" sz="2400" i="1" dirty="0" smtClean="0">
                <a:latin typeface="Arial" panose="020B0604020202020204" pitchFamily="34" charset="0"/>
              </a:rPr>
              <a:t>Operational system</a:t>
            </a:r>
          </a:p>
        </p:txBody>
      </p:sp>
      <p:sp>
        <p:nvSpPr>
          <p:cNvPr id="22" name="Line 7"/>
          <p:cNvSpPr>
            <a:spLocks noChangeShapeType="1"/>
          </p:cNvSpPr>
          <p:nvPr/>
        </p:nvSpPr>
        <p:spPr bwMode="auto">
          <a:xfrm>
            <a:off x="2590800" y="2006600"/>
            <a:ext cx="0" cy="330200"/>
          </a:xfrm>
          <a:prstGeom prst="line">
            <a:avLst/>
          </a:prstGeom>
          <a:noFill/>
          <a:ln w="50800">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3" name="Line 8"/>
          <p:cNvSpPr>
            <a:spLocks noChangeShapeType="1"/>
          </p:cNvSpPr>
          <p:nvPr/>
        </p:nvSpPr>
        <p:spPr bwMode="auto">
          <a:xfrm>
            <a:off x="2590800" y="2692400"/>
            <a:ext cx="0" cy="330200"/>
          </a:xfrm>
          <a:prstGeom prst="line">
            <a:avLst/>
          </a:prstGeom>
          <a:noFill/>
          <a:ln w="50800">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4" name="Line 9"/>
          <p:cNvSpPr>
            <a:spLocks noChangeShapeType="1"/>
          </p:cNvSpPr>
          <p:nvPr/>
        </p:nvSpPr>
        <p:spPr bwMode="auto">
          <a:xfrm>
            <a:off x="2590800" y="3378200"/>
            <a:ext cx="0" cy="330200"/>
          </a:xfrm>
          <a:prstGeom prst="line">
            <a:avLst/>
          </a:prstGeom>
          <a:noFill/>
          <a:ln w="50800">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5" name="Line 10"/>
          <p:cNvSpPr>
            <a:spLocks noChangeShapeType="1"/>
          </p:cNvSpPr>
          <p:nvPr/>
        </p:nvSpPr>
        <p:spPr bwMode="auto">
          <a:xfrm>
            <a:off x="2590800" y="4140200"/>
            <a:ext cx="0" cy="330200"/>
          </a:xfrm>
          <a:prstGeom prst="line">
            <a:avLst/>
          </a:prstGeom>
          <a:noFill/>
          <a:ln w="50800">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6" name="Line 11"/>
          <p:cNvSpPr>
            <a:spLocks noChangeShapeType="1"/>
          </p:cNvSpPr>
          <p:nvPr/>
        </p:nvSpPr>
        <p:spPr bwMode="auto">
          <a:xfrm>
            <a:off x="2590800" y="4902200"/>
            <a:ext cx="0" cy="330200"/>
          </a:xfrm>
          <a:prstGeom prst="line">
            <a:avLst/>
          </a:prstGeom>
          <a:noFill/>
          <a:ln w="50800">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7" name="Line 12"/>
          <p:cNvSpPr>
            <a:spLocks noChangeShapeType="1"/>
          </p:cNvSpPr>
          <p:nvPr/>
        </p:nvSpPr>
        <p:spPr bwMode="auto">
          <a:xfrm>
            <a:off x="1606550" y="2057400"/>
            <a:ext cx="2806700" cy="0"/>
          </a:xfrm>
          <a:prstGeom prst="line">
            <a:avLst/>
          </a:prstGeom>
          <a:noFill/>
          <a:ln w="12700">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8" name="Line 13"/>
          <p:cNvSpPr>
            <a:spLocks noChangeShapeType="1"/>
          </p:cNvSpPr>
          <p:nvPr/>
        </p:nvSpPr>
        <p:spPr bwMode="auto">
          <a:xfrm>
            <a:off x="1682750" y="2743200"/>
            <a:ext cx="2730500" cy="0"/>
          </a:xfrm>
          <a:prstGeom prst="line">
            <a:avLst/>
          </a:prstGeom>
          <a:noFill/>
          <a:ln w="12700">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29" name="Line 14"/>
          <p:cNvSpPr>
            <a:spLocks noChangeShapeType="1"/>
          </p:cNvSpPr>
          <p:nvPr/>
        </p:nvSpPr>
        <p:spPr bwMode="auto">
          <a:xfrm>
            <a:off x="1835150" y="3429000"/>
            <a:ext cx="2578100" cy="0"/>
          </a:xfrm>
          <a:prstGeom prst="line">
            <a:avLst/>
          </a:prstGeom>
          <a:noFill/>
          <a:ln w="12700">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30" name="Line 15"/>
          <p:cNvSpPr>
            <a:spLocks noChangeShapeType="1"/>
          </p:cNvSpPr>
          <p:nvPr/>
        </p:nvSpPr>
        <p:spPr bwMode="auto">
          <a:xfrm>
            <a:off x="1835150" y="4191000"/>
            <a:ext cx="2578100" cy="0"/>
          </a:xfrm>
          <a:prstGeom prst="line">
            <a:avLst/>
          </a:prstGeom>
          <a:noFill/>
          <a:ln w="12700">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31" name="Line 16"/>
          <p:cNvSpPr>
            <a:spLocks noChangeShapeType="1"/>
          </p:cNvSpPr>
          <p:nvPr/>
        </p:nvSpPr>
        <p:spPr bwMode="auto">
          <a:xfrm>
            <a:off x="1682750" y="4953000"/>
            <a:ext cx="2730500" cy="0"/>
          </a:xfrm>
          <a:prstGeom prst="line">
            <a:avLst/>
          </a:prstGeom>
          <a:noFill/>
          <a:ln w="12700">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32" name="Line 17"/>
          <p:cNvSpPr>
            <a:spLocks noChangeShapeType="1"/>
          </p:cNvSpPr>
          <p:nvPr/>
        </p:nvSpPr>
        <p:spPr bwMode="auto">
          <a:xfrm>
            <a:off x="1682750" y="5638800"/>
            <a:ext cx="2654300" cy="0"/>
          </a:xfrm>
          <a:prstGeom prst="line">
            <a:avLst/>
          </a:prstGeom>
          <a:noFill/>
          <a:ln w="12700">
            <a:solidFill>
              <a:srgbClr val="0033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
        <p:nvSpPr>
          <p:cNvPr id="33" name="Line 18"/>
          <p:cNvSpPr>
            <a:spLocks noChangeShapeType="1"/>
          </p:cNvSpPr>
          <p:nvPr/>
        </p:nvSpPr>
        <p:spPr bwMode="auto">
          <a:xfrm>
            <a:off x="2590800" y="5588000"/>
            <a:ext cx="0" cy="330200"/>
          </a:xfrm>
          <a:prstGeom prst="line">
            <a:avLst/>
          </a:prstGeom>
          <a:noFill/>
          <a:ln w="50800">
            <a:solidFill>
              <a:srgbClr val="00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effectLst/>
              <a:uLnTx/>
              <a:uFillTx/>
              <a:latin typeface="Times New Roman" panose="02020603050405020304" pitchFamily="18" charset="0"/>
            </a:endParaRPr>
          </a:p>
        </p:txBody>
      </p:sp>
    </p:spTree>
    <p:extLst>
      <p:ext uri="{BB962C8B-B14F-4D97-AF65-F5344CB8AC3E}">
        <p14:creationId xmlns:p14="http://schemas.microsoft.com/office/powerpoint/2010/main" val="502476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8</a:t>
            </a:fld>
            <a:endParaRPr lang="en-US" dirty="0"/>
          </a:p>
        </p:txBody>
      </p:sp>
      <p:sp>
        <p:nvSpPr>
          <p:cNvPr id="3" name="Title 2"/>
          <p:cNvSpPr>
            <a:spLocks noGrp="1"/>
          </p:cNvSpPr>
          <p:nvPr>
            <p:ph type="title"/>
          </p:nvPr>
        </p:nvSpPr>
        <p:spPr/>
        <p:txBody>
          <a:bodyPr/>
          <a:lstStyle/>
          <a:p>
            <a:r>
              <a:rPr lang="en-US" dirty="0" smtClean="0"/>
              <a:t>Software Configuration Item (SCI)</a:t>
            </a:r>
            <a:endParaRPr lang="en-US" dirty="0"/>
          </a:p>
        </p:txBody>
      </p:sp>
      <p:sp>
        <p:nvSpPr>
          <p:cNvPr id="4" name="Text Placeholder 3"/>
          <p:cNvSpPr>
            <a:spLocks noGrp="1"/>
          </p:cNvSpPr>
          <p:nvPr>
            <p:ph type="body" sz="quarter" idx="13"/>
          </p:nvPr>
        </p:nvSpPr>
        <p:spPr>
          <a:xfrm>
            <a:off x="914400" y="2667000"/>
            <a:ext cx="8053086" cy="3505200"/>
          </a:xfrm>
        </p:spPr>
        <p:txBody>
          <a:bodyPr numCol="2">
            <a:normAutofit/>
          </a:bodyPr>
          <a:lstStyle/>
          <a:p>
            <a:pPr lvl="1"/>
            <a:r>
              <a:rPr lang="en-US" altLang="en-US" sz="2400" dirty="0" smtClean="0"/>
              <a:t>System </a:t>
            </a:r>
            <a:r>
              <a:rPr lang="en-US" altLang="en-US" sz="2400" dirty="0"/>
              <a:t>specification</a:t>
            </a:r>
          </a:p>
          <a:p>
            <a:pPr lvl="1"/>
            <a:r>
              <a:rPr lang="en-US" altLang="en-US" sz="2400" dirty="0"/>
              <a:t>Software project plan</a:t>
            </a:r>
          </a:p>
          <a:p>
            <a:pPr lvl="1"/>
            <a:r>
              <a:rPr lang="en-US" altLang="en-US" sz="2400" dirty="0"/>
              <a:t>Software requirements specification</a:t>
            </a:r>
          </a:p>
          <a:p>
            <a:pPr lvl="1"/>
            <a:r>
              <a:rPr lang="en-US" altLang="en-US" sz="2400" dirty="0"/>
              <a:t>Preliminary user manual</a:t>
            </a:r>
          </a:p>
          <a:p>
            <a:pPr lvl="1"/>
            <a:r>
              <a:rPr lang="en-US" altLang="en-US" sz="2400" dirty="0"/>
              <a:t>Design specification</a:t>
            </a:r>
          </a:p>
          <a:p>
            <a:pPr lvl="1"/>
            <a:r>
              <a:rPr lang="en-US" altLang="en-US" sz="2400" dirty="0"/>
              <a:t>Source code listing</a:t>
            </a:r>
          </a:p>
          <a:p>
            <a:pPr lvl="1"/>
            <a:r>
              <a:rPr lang="en-US" altLang="en-US" sz="2400" dirty="0"/>
              <a:t>Test specification</a:t>
            </a:r>
          </a:p>
          <a:p>
            <a:pPr lvl="1"/>
            <a:r>
              <a:rPr lang="en-US" altLang="en-US" sz="2400" dirty="0"/>
              <a:t>Operation and installation manuals</a:t>
            </a:r>
          </a:p>
          <a:p>
            <a:pPr lvl="1"/>
            <a:r>
              <a:rPr lang="en-US" altLang="en-US" sz="2400" dirty="0"/>
              <a:t>Executable program</a:t>
            </a:r>
          </a:p>
          <a:p>
            <a:pPr lvl="1"/>
            <a:r>
              <a:rPr lang="en-US" altLang="en-US" sz="2400" dirty="0"/>
              <a:t>Database description</a:t>
            </a:r>
          </a:p>
          <a:p>
            <a:pPr lvl="1"/>
            <a:r>
              <a:rPr lang="en-US" altLang="en-US" sz="2400" dirty="0"/>
              <a:t>As-built user manual</a:t>
            </a:r>
          </a:p>
          <a:p>
            <a:pPr lvl="1"/>
            <a:r>
              <a:rPr lang="en-US" altLang="en-US" sz="2400" dirty="0"/>
              <a:t>Maintenance documents</a:t>
            </a:r>
          </a:p>
          <a:p>
            <a:pPr lvl="1"/>
            <a:r>
              <a:rPr lang="en-US" altLang="en-US" sz="2400" dirty="0"/>
              <a:t>Standards and procedures for </a:t>
            </a:r>
            <a:r>
              <a:rPr lang="en-US" altLang="en-US" sz="2400" dirty="0" smtClean="0"/>
              <a:t>SE</a:t>
            </a:r>
            <a:endParaRPr lang="en-US" altLang="en-US" sz="2400" dirty="0"/>
          </a:p>
        </p:txBody>
      </p:sp>
      <p:sp>
        <p:nvSpPr>
          <p:cNvPr id="5" name="Text Placeholder 3"/>
          <p:cNvSpPr txBox="1">
            <a:spLocks/>
          </p:cNvSpPr>
          <p:nvPr/>
        </p:nvSpPr>
        <p:spPr>
          <a:xfrm>
            <a:off x="609601" y="1600200"/>
            <a:ext cx="8381999" cy="1066800"/>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US" altLang="en-US" sz="2800" dirty="0" smtClean="0"/>
              <a:t>Information created as part of SE process</a:t>
            </a:r>
          </a:p>
          <a:p>
            <a:r>
              <a:rPr lang="en-US" altLang="en-US" sz="2800" dirty="0"/>
              <a:t>SCIs used as target in SCM:</a:t>
            </a:r>
          </a:p>
          <a:p>
            <a:endParaRPr lang="en-US" dirty="0"/>
          </a:p>
        </p:txBody>
      </p:sp>
    </p:spTree>
    <p:extLst>
      <p:ext uri="{BB962C8B-B14F-4D97-AF65-F5344CB8AC3E}">
        <p14:creationId xmlns:p14="http://schemas.microsoft.com/office/powerpoint/2010/main" val="21032669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9</a:t>
            </a:fld>
            <a:endParaRPr lang="en-US" dirty="0"/>
          </a:p>
        </p:txBody>
      </p:sp>
      <p:sp>
        <p:nvSpPr>
          <p:cNvPr id="3" name="Title 2"/>
          <p:cNvSpPr>
            <a:spLocks noGrp="1"/>
          </p:cNvSpPr>
          <p:nvPr>
            <p:ph type="title"/>
          </p:nvPr>
        </p:nvSpPr>
        <p:spPr/>
        <p:txBody>
          <a:bodyPr/>
          <a:lstStyle/>
          <a:p>
            <a:r>
              <a:rPr lang="en-US" dirty="0" smtClean="0"/>
              <a:t>Software Configuration Item (SCI)</a:t>
            </a:r>
            <a:endParaRPr lang="en-US" dirty="0"/>
          </a:p>
        </p:txBody>
      </p:sp>
      <p:pic>
        <p:nvPicPr>
          <p:cNvPr id="6" name="Picture 5" descr="volz.bm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1295400"/>
            <a:ext cx="7162800" cy="455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3034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10</a:t>
            </a:fld>
            <a:endParaRPr lang="en-US" dirty="0"/>
          </a:p>
        </p:txBody>
      </p:sp>
      <p:sp>
        <p:nvSpPr>
          <p:cNvPr id="3" name="Title 2"/>
          <p:cNvSpPr>
            <a:spLocks noGrp="1"/>
          </p:cNvSpPr>
          <p:nvPr>
            <p:ph type="title"/>
          </p:nvPr>
        </p:nvSpPr>
        <p:spPr/>
        <p:txBody>
          <a:bodyPr/>
          <a:lstStyle/>
          <a:p>
            <a:r>
              <a:rPr lang="en-US" dirty="0" smtClean="0"/>
              <a:t>SCM Process</a:t>
            </a:r>
            <a:endParaRPr lang="en-US" dirty="0"/>
          </a:p>
        </p:txBody>
      </p:sp>
      <p:sp>
        <p:nvSpPr>
          <p:cNvPr id="4" name="Text Placeholder 3"/>
          <p:cNvSpPr>
            <a:spLocks noGrp="1"/>
          </p:cNvSpPr>
          <p:nvPr>
            <p:ph type="body" sz="quarter" idx="13"/>
          </p:nvPr>
        </p:nvSpPr>
        <p:spPr/>
        <p:txBody>
          <a:bodyPr/>
          <a:lstStyle/>
          <a:p>
            <a:r>
              <a:rPr lang="en-US" altLang="en-US" sz="3200" dirty="0"/>
              <a:t>Identification</a:t>
            </a:r>
          </a:p>
          <a:p>
            <a:r>
              <a:rPr lang="en-US" altLang="en-US" sz="3200" dirty="0"/>
              <a:t>Version </a:t>
            </a:r>
            <a:r>
              <a:rPr lang="en-US" altLang="en-US" sz="3200" dirty="0" smtClean="0"/>
              <a:t>control/Baseline</a:t>
            </a:r>
            <a:endParaRPr lang="en-US" altLang="en-US" sz="3200" dirty="0"/>
          </a:p>
          <a:p>
            <a:r>
              <a:rPr lang="en-US" altLang="en-US" sz="3200" dirty="0"/>
              <a:t>Change control</a:t>
            </a:r>
          </a:p>
          <a:p>
            <a:r>
              <a:rPr lang="en-US" altLang="en-US" sz="3200" dirty="0"/>
              <a:t>Configuration auditing </a:t>
            </a:r>
          </a:p>
          <a:p>
            <a:r>
              <a:rPr lang="en-US" altLang="en-US" sz="3200" dirty="0"/>
              <a:t>Status reporting</a:t>
            </a:r>
          </a:p>
          <a:p>
            <a:endParaRPr lang="en-US" dirty="0"/>
          </a:p>
        </p:txBody>
      </p:sp>
    </p:spTree>
    <p:extLst>
      <p:ext uri="{BB962C8B-B14F-4D97-AF65-F5344CB8AC3E}">
        <p14:creationId xmlns:p14="http://schemas.microsoft.com/office/powerpoint/2010/main" val="2459851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11</a:t>
            </a:fld>
            <a:endParaRPr lang="en-US" dirty="0"/>
          </a:p>
        </p:txBody>
      </p:sp>
      <p:sp>
        <p:nvSpPr>
          <p:cNvPr id="3" name="Title 2"/>
          <p:cNvSpPr>
            <a:spLocks noGrp="1"/>
          </p:cNvSpPr>
          <p:nvPr>
            <p:ph type="title"/>
          </p:nvPr>
        </p:nvSpPr>
        <p:spPr/>
        <p:txBody>
          <a:bodyPr/>
          <a:lstStyle/>
          <a:p>
            <a:r>
              <a:rPr lang="en-US" dirty="0" smtClean="0"/>
              <a:t>SCM Process</a:t>
            </a:r>
            <a:endParaRPr lang="en-US" dirty="0"/>
          </a:p>
        </p:txBody>
      </p:sp>
      <p:sp>
        <p:nvSpPr>
          <p:cNvPr id="4" name="Text Placeholder 3"/>
          <p:cNvSpPr>
            <a:spLocks noGrp="1"/>
          </p:cNvSpPr>
          <p:nvPr>
            <p:ph type="body" sz="quarter" idx="13"/>
          </p:nvPr>
        </p:nvSpPr>
        <p:spPr>
          <a:xfrm>
            <a:off x="457201" y="1447800"/>
            <a:ext cx="8381999" cy="4800600"/>
          </a:xfrm>
        </p:spPr>
        <p:txBody>
          <a:bodyPr>
            <a:normAutofit fontScale="92500"/>
          </a:bodyPr>
          <a:lstStyle/>
          <a:p>
            <a:r>
              <a:rPr lang="en-US" sz="2800" dirty="0" smtClean="0"/>
              <a:t>Configuration </a:t>
            </a:r>
            <a:r>
              <a:rPr lang="en-US" sz="2800" dirty="0"/>
              <a:t>Identification: </a:t>
            </a:r>
            <a:endParaRPr lang="en-US" sz="2800" dirty="0" smtClean="0"/>
          </a:p>
          <a:p>
            <a:pPr lvl="1"/>
            <a:r>
              <a:rPr lang="en-US" sz="2600" dirty="0" smtClean="0"/>
              <a:t>Configuration </a:t>
            </a:r>
            <a:r>
              <a:rPr lang="en-US" sz="2600" dirty="0"/>
              <a:t>identification is a method of determining the scope of the software system. </a:t>
            </a:r>
            <a:endParaRPr lang="en-US" sz="2600" dirty="0" smtClean="0"/>
          </a:p>
          <a:p>
            <a:pPr lvl="1"/>
            <a:r>
              <a:rPr lang="en-US" sz="2600" dirty="0" smtClean="0"/>
              <a:t>With </a:t>
            </a:r>
            <a:r>
              <a:rPr lang="en-US" sz="2600" dirty="0"/>
              <a:t>the help of this step, you can manage or control something even if you don't know what it is. </a:t>
            </a:r>
            <a:endParaRPr lang="en-US" sz="2600" dirty="0" smtClean="0"/>
          </a:p>
          <a:p>
            <a:pPr lvl="1"/>
            <a:r>
              <a:rPr lang="en-US" sz="2600" dirty="0" smtClean="0"/>
              <a:t>It </a:t>
            </a:r>
            <a:r>
              <a:rPr lang="en-US" sz="2600" dirty="0"/>
              <a:t>is a description that contains the CSCI type (Computer Software Configuration Item), a project identifier and version information</a:t>
            </a:r>
            <a:r>
              <a:rPr lang="en-US" sz="2600" dirty="0" smtClean="0"/>
              <a:t>.</a:t>
            </a:r>
          </a:p>
          <a:p>
            <a:pPr lvl="1"/>
            <a:r>
              <a:rPr lang="en-US" sz="2600" dirty="0"/>
              <a:t>Instead of naming a File </a:t>
            </a:r>
            <a:r>
              <a:rPr lang="en-US" sz="2600" dirty="0" err="1"/>
              <a:t>login.php</a:t>
            </a:r>
            <a:r>
              <a:rPr lang="en-US" sz="2600" dirty="0"/>
              <a:t> its should be named login_v1.2.php where v1.2 stands for the version number of the file </a:t>
            </a:r>
            <a:endParaRPr lang="en-US" sz="2600" dirty="0"/>
          </a:p>
          <a:p>
            <a:pPr lvl="1"/>
            <a:r>
              <a:rPr lang="en-US" sz="2600" dirty="0"/>
              <a:t>Instead </a:t>
            </a:r>
            <a:r>
              <a:rPr lang="en-US" sz="2600" dirty="0"/>
              <a:t>of naming folder "Code" it should be named "</a:t>
            </a:r>
            <a:r>
              <a:rPr lang="en-US" sz="2600" dirty="0" err="1"/>
              <a:t>Code_D</a:t>
            </a:r>
            <a:r>
              <a:rPr lang="en-US" sz="2600" dirty="0"/>
              <a:t>" where D represents code should be backed up daily</a:t>
            </a:r>
            <a:r>
              <a:rPr lang="en-US" sz="2600" dirty="0" smtClean="0"/>
              <a:t>.</a:t>
            </a:r>
            <a:endParaRPr lang="en-US" sz="2600" dirty="0"/>
          </a:p>
        </p:txBody>
      </p:sp>
    </p:spTree>
    <p:extLst>
      <p:ext uri="{BB962C8B-B14F-4D97-AF65-F5344CB8AC3E}">
        <p14:creationId xmlns:p14="http://schemas.microsoft.com/office/powerpoint/2010/main" val="2981575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12</a:t>
            </a:fld>
            <a:endParaRPr lang="en-US" dirty="0"/>
          </a:p>
        </p:txBody>
      </p:sp>
      <p:sp>
        <p:nvSpPr>
          <p:cNvPr id="3" name="Title 2"/>
          <p:cNvSpPr>
            <a:spLocks noGrp="1"/>
          </p:cNvSpPr>
          <p:nvPr>
            <p:ph type="title"/>
          </p:nvPr>
        </p:nvSpPr>
        <p:spPr/>
        <p:txBody>
          <a:bodyPr/>
          <a:lstStyle/>
          <a:p>
            <a:r>
              <a:rPr lang="en-US" dirty="0" smtClean="0"/>
              <a:t>SCM Process</a:t>
            </a:r>
            <a:endParaRPr lang="en-US" dirty="0"/>
          </a:p>
        </p:txBody>
      </p:sp>
      <p:sp>
        <p:nvSpPr>
          <p:cNvPr id="4" name="Text Placeholder 3"/>
          <p:cNvSpPr>
            <a:spLocks noGrp="1"/>
          </p:cNvSpPr>
          <p:nvPr>
            <p:ph type="body" sz="quarter" idx="13"/>
          </p:nvPr>
        </p:nvSpPr>
        <p:spPr/>
        <p:txBody>
          <a:bodyPr>
            <a:normAutofit/>
          </a:bodyPr>
          <a:lstStyle/>
          <a:p>
            <a:r>
              <a:rPr lang="en-US" sz="2800" dirty="0" smtClean="0"/>
              <a:t>Baseline</a:t>
            </a:r>
            <a:r>
              <a:rPr lang="en-US" sz="2800" dirty="0"/>
              <a:t>: </a:t>
            </a:r>
            <a:endParaRPr lang="en-US" sz="2800" dirty="0" smtClean="0"/>
          </a:p>
          <a:p>
            <a:pPr lvl="1"/>
            <a:r>
              <a:rPr lang="en-US" sz="2600" dirty="0" smtClean="0"/>
              <a:t>A </a:t>
            </a:r>
            <a:r>
              <a:rPr lang="en-US" sz="2600" dirty="0"/>
              <a:t>baseline is a formally accepted version of a software configuration item. </a:t>
            </a:r>
            <a:endParaRPr lang="en-US" sz="2600" dirty="0" smtClean="0"/>
          </a:p>
          <a:p>
            <a:pPr lvl="1"/>
            <a:r>
              <a:rPr lang="en-US" sz="2600" dirty="0" smtClean="0"/>
              <a:t>It </a:t>
            </a:r>
            <a:r>
              <a:rPr lang="en-US" sz="2600" dirty="0"/>
              <a:t>is designated and fixed at a specific time while conducting the SCM process. </a:t>
            </a:r>
            <a:endParaRPr lang="en-US" sz="2600" dirty="0" smtClean="0"/>
          </a:p>
          <a:p>
            <a:pPr lvl="1"/>
            <a:r>
              <a:rPr lang="en-US" sz="2600" dirty="0" smtClean="0"/>
              <a:t>It </a:t>
            </a:r>
            <a:r>
              <a:rPr lang="en-US" sz="2600" dirty="0"/>
              <a:t>can only be changed through formal change control procedures</a:t>
            </a:r>
            <a:r>
              <a:rPr lang="en-US" sz="2600" dirty="0" smtClean="0"/>
              <a:t>.</a:t>
            </a:r>
          </a:p>
          <a:p>
            <a:pPr lvl="1"/>
            <a:r>
              <a:rPr lang="en-US" sz="2600" dirty="0"/>
              <a:t>In </a:t>
            </a:r>
            <a:r>
              <a:rPr lang="en-US" sz="2600" dirty="0"/>
              <a:t>simple words, baseline means ready for release.</a:t>
            </a:r>
            <a:br>
              <a:rPr lang="en-US" sz="2600" dirty="0"/>
            </a:br>
            <a:endParaRPr lang="en-US" sz="2600" dirty="0"/>
          </a:p>
        </p:txBody>
      </p:sp>
    </p:spTree>
    <p:extLst>
      <p:ext uri="{BB962C8B-B14F-4D97-AF65-F5344CB8AC3E}">
        <p14:creationId xmlns:p14="http://schemas.microsoft.com/office/powerpoint/2010/main" val="2248618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13</a:t>
            </a:fld>
            <a:endParaRPr lang="en-US" dirty="0"/>
          </a:p>
        </p:txBody>
      </p:sp>
      <p:sp>
        <p:nvSpPr>
          <p:cNvPr id="3" name="Title 2"/>
          <p:cNvSpPr>
            <a:spLocks noGrp="1"/>
          </p:cNvSpPr>
          <p:nvPr>
            <p:ph type="title"/>
          </p:nvPr>
        </p:nvSpPr>
        <p:spPr/>
        <p:txBody>
          <a:bodyPr/>
          <a:lstStyle/>
          <a:p>
            <a:r>
              <a:rPr lang="en-US" dirty="0" smtClean="0"/>
              <a:t>SCM Process</a:t>
            </a:r>
            <a:endParaRPr lang="en-US" dirty="0"/>
          </a:p>
        </p:txBody>
      </p:sp>
      <p:sp>
        <p:nvSpPr>
          <p:cNvPr id="4" name="Text Placeholder 3"/>
          <p:cNvSpPr>
            <a:spLocks noGrp="1"/>
          </p:cNvSpPr>
          <p:nvPr>
            <p:ph type="body" sz="quarter" idx="13"/>
          </p:nvPr>
        </p:nvSpPr>
        <p:spPr/>
        <p:txBody>
          <a:bodyPr>
            <a:normAutofit fontScale="85000" lnSpcReduction="20000"/>
          </a:bodyPr>
          <a:lstStyle/>
          <a:p>
            <a:r>
              <a:rPr lang="en-US" sz="3000" dirty="0" smtClean="0"/>
              <a:t>Change </a:t>
            </a:r>
            <a:r>
              <a:rPr lang="en-US" sz="3000" dirty="0"/>
              <a:t>Control: </a:t>
            </a:r>
            <a:endParaRPr lang="en-US" sz="3000" dirty="0" smtClean="0"/>
          </a:p>
          <a:p>
            <a:pPr lvl="1"/>
            <a:r>
              <a:rPr lang="en-US" sz="2800" dirty="0" smtClean="0"/>
              <a:t>Change </a:t>
            </a:r>
            <a:r>
              <a:rPr lang="en-US" sz="2800" dirty="0"/>
              <a:t>control is a procedural method which ensures quality and consistency when changes are made in the configuration object. </a:t>
            </a:r>
            <a:endParaRPr lang="en-US" sz="2800" dirty="0" smtClean="0"/>
          </a:p>
          <a:p>
            <a:pPr lvl="1"/>
            <a:r>
              <a:rPr lang="en-US" sz="2800" dirty="0" smtClean="0"/>
              <a:t>In </a:t>
            </a:r>
            <a:r>
              <a:rPr lang="en-US" sz="2800" dirty="0"/>
              <a:t>this step, the change request is submitted to software configuration manager. </a:t>
            </a:r>
            <a:endParaRPr lang="en-US" sz="2800" dirty="0" smtClean="0"/>
          </a:p>
          <a:p>
            <a:pPr lvl="1"/>
            <a:r>
              <a:rPr lang="en-US" sz="2900" dirty="0"/>
              <a:t>It manages changes and making configuration items available during the software lifecycle </a:t>
            </a:r>
            <a:endParaRPr lang="en-US" sz="2900" dirty="0"/>
          </a:p>
          <a:p>
            <a:r>
              <a:rPr lang="en-US" sz="3000" dirty="0" smtClean="0"/>
              <a:t>Configuration </a:t>
            </a:r>
            <a:r>
              <a:rPr lang="en-US" sz="3000" dirty="0"/>
              <a:t>Status Accounting: </a:t>
            </a:r>
            <a:endParaRPr lang="en-US" sz="3000" dirty="0" smtClean="0"/>
          </a:p>
          <a:p>
            <a:pPr lvl="1"/>
            <a:r>
              <a:rPr lang="en-US" sz="2800" dirty="0" smtClean="0"/>
              <a:t>Configuration </a:t>
            </a:r>
            <a:r>
              <a:rPr lang="en-US" sz="2800" dirty="0"/>
              <a:t>status accounting tracks each release during the SCM process. </a:t>
            </a:r>
            <a:endParaRPr lang="en-US" sz="2800" dirty="0" smtClean="0"/>
          </a:p>
          <a:p>
            <a:pPr lvl="1"/>
            <a:r>
              <a:rPr lang="en-US" sz="2800" dirty="0" smtClean="0"/>
              <a:t>This </a:t>
            </a:r>
            <a:r>
              <a:rPr lang="en-US" sz="2800" dirty="0"/>
              <a:t>stage involves tracking what each version has and the changes that lead to this version. </a:t>
            </a:r>
            <a:r>
              <a:rPr lang="en-US" dirty="0"/>
              <a:t/>
            </a:r>
            <a:br>
              <a:rPr lang="en-US" dirty="0"/>
            </a:br>
            <a:endParaRPr lang="en-US" dirty="0"/>
          </a:p>
        </p:txBody>
      </p:sp>
    </p:spTree>
    <p:extLst>
      <p:ext uri="{BB962C8B-B14F-4D97-AF65-F5344CB8AC3E}">
        <p14:creationId xmlns:p14="http://schemas.microsoft.com/office/powerpoint/2010/main" val="1742211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14</a:t>
            </a:fld>
            <a:endParaRPr lang="en-US" dirty="0"/>
          </a:p>
        </p:txBody>
      </p:sp>
      <p:sp>
        <p:nvSpPr>
          <p:cNvPr id="3" name="Title 2"/>
          <p:cNvSpPr>
            <a:spLocks noGrp="1"/>
          </p:cNvSpPr>
          <p:nvPr>
            <p:ph type="title"/>
          </p:nvPr>
        </p:nvSpPr>
        <p:spPr/>
        <p:txBody>
          <a:bodyPr/>
          <a:lstStyle/>
          <a:p>
            <a:r>
              <a:rPr lang="en-US" dirty="0" smtClean="0"/>
              <a:t>SCM Process</a:t>
            </a:r>
            <a:endParaRPr lang="en-US" dirty="0"/>
          </a:p>
        </p:txBody>
      </p:sp>
      <p:sp>
        <p:nvSpPr>
          <p:cNvPr id="4" name="Text Placeholder 3"/>
          <p:cNvSpPr>
            <a:spLocks noGrp="1"/>
          </p:cNvSpPr>
          <p:nvPr>
            <p:ph type="body" sz="quarter" idx="13"/>
          </p:nvPr>
        </p:nvSpPr>
        <p:spPr>
          <a:xfrm>
            <a:off x="457201" y="1447800"/>
            <a:ext cx="8381999" cy="4800600"/>
          </a:xfrm>
        </p:spPr>
        <p:txBody>
          <a:bodyPr>
            <a:normAutofit lnSpcReduction="10000"/>
          </a:bodyPr>
          <a:lstStyle/>
          <a:p>
            <a:r>
              <a:rPr lang="en-US" sz="3000" dirty="0" smtClean="0"/>
              <a:t>Configuration </a:t>
            </a:r>
            <a:r>
              <a:rPr lang="en-US" sz="3000" dirty="0"/>
              <a:t>Audits and Reviews: </a:t>
            </a:r>
            <a:endParaRPr lang="en-US" sz="3000" dirty="0" smtClean="0"/>
          </a:p>
          <a:p>
            <a:pPr lvl="1"/>
            <a:r>
              <a:rPr lang="en-US" sz="2800" dirty="0" smtClean="0"/>
              <a:t>Configuration </a:t>
            </a:r>
            <a:r>
              <a:rPr lang="en-US" sz="2800" dirty="0"/>
              <a:t>auditing is conducted by auditors by checking that </a:t>
            </a:r>
            <a:r>
              <a:rPr lang="en-US" sz="2800" dirty="0" smtClean="0"/>
              <a:t>defined </a:t>
            </a:r>
            <a:r>
              <a:rPr lang="en-US" sz="2800" dirty="0"/>
              <a:t>processes are being followed and ensuring that the SCM </a:t>
            </a:r>
            <a:r>
              <a:rPr lang="en-US" sz="2800" dirty="0" smtClean="0"/>
              <a:t>goals </a:t>
            </a:r>
            <a:r>
              <a:rPr lang="en-US" sz="2800" dirty="0"/>
              <a:t>are satisfied. </a:t>
            </a:r>
          </a:p>
          <a:p>
            <a:pPr lvl="1"/>
            <a:r>
              <a:rPr lang="en-US" sz="2800" dirty="0" smtClean="0"/>
              <a:t>To </a:t>
            </a:r>
            <a:r>
              <a:rPr lang="en-US" sz="2800" dirty="0"/>
              <a:t>verify compliance with configuration control standards. auditing </a:t>
            </a:r>
            <a:r>
              <a:rPr lang="en-US" sz="2800" dirty="0" smtClean="0"/>
              <a:t>and </a:t>
            </a:r>
            <a:r>
              <a:rPr lang="en-US" sz="2800" dirty="0"/>
              <a:t>reporting the changes made </a:t>
            </a:r>
          </a:p>
          <a:p>
            <a:pPr lvl="1"/>
            <a:r>
              <a:rPr lang="en-US" sz="2800" dirty="0" smtClean="0"/>
              <a:t>SCM </a:t>
            </a:r>
            <a:r>
              <a:rPr lang="en-US" sz="2800" dirty="0"/>
              <a:t>audits also ensure that traceability is maintained during the </a:t>
            </a:r>
            <a:r>
              <a:rPr lang="en-US" sz="2800" dirty="0" smtClean="0"/>
              <a:t>process</a:t>
            </a:r>
            <a:r>
              <a:rPr lang="en-US" sz="2800" dirty="0"/>
              <a:t>. </a:t>
            </a:r>
          </a:p>
          <a:p>
            <a:pPr lvl="1"/>
            <a:r>
              <a:rPr lang="en-US" sz="2800" dirty="0" smtClean="0"/>
              <a:t>Ensures </a:t>
            </a:r>
            <a:r>
              <a:rPr lang="en-US" sz="2800" dirty="0"/>
              <a:t>that changes made to a baseline comply with </a:t>
            </a:r>
            <a:r>
              <a:rPr lang="en-US" sz="2800" dirty="0" smtClean="0"/>
              <a:t>the configuration </a:t>
            </a:r>
            <a:r>
              <a:rPr lang="en-US" sz="2800" dirty="0"/>
              <a:t>status reports </a:t>
            </a:r>
          </a:p>
          <a:p>
            <a:pPr lvl="1"/>
            <a:r>
              <a:rPr lang="en-US" sz="2800" dirty="0" smtClean="0"/>
              <a:t>Validation </a:t>
            </a:r>
            <a:r>
              <a:rPr lang="en-US" sz="2800" dirty="0"/>
              <a:t>of completeness and consistency</a:t>
            </a:r>
            <a:r>
              <a:rPr lang="en-US" dirty="0"/>
              <a:t/>
            </a:r>
            <a:br>
              <a:rPr lang="en-US" dirty="0"/>
            </a:br>
            <a:endParaRPr lang="en-US" dirty="0"/>
          </a:p>
        </p:txBody>
      </p:sp>
    </p:spTree>
    <p:extLst>
      <p:ext uri="{BB962C8B-B14F-4D97-AF65-F5344CB8AC3E}">
        <p14:creationId xmlns:p14="http://schemas.microsoft.com/office/powerpoint/2010/main" val="2072461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15</a:t>
            </a:fld>
            <a:endParaRPr lang="en-US" dirty="0"/>
          </a:p>
        </p:txBody>
      </p:sp>
      <p:sp>
        <p:nvSpPr>
          <p:cNvPr id="3" name="Title 2"/>
          <p:cNvSpPr>
            <a:spLocks noGrp="1"/>
          </p:cNvSpPr>
          <p:nvPr>
            <p:ph type="title"/>
          </p:nvPr>
        </p:nvSpPr>
        <p:spPr/>
        <p:txBody>
          <a:bodyPr/>
          <a:lstStyle/>
          <a:p>
            <a:r>
              <a:rPr lang="en-US" dirty="0" smtClean="0"/>
              <a:t>Why SCM</a:t>
            </a:r>
            <a:endParaRPr lang="en-US" dirty="0"/>
          </a:p>
        </p:txBody>
      </p:sp>
      <p:pic>
        <p:nvPicPr>
          <p:cNvPr id="5" name="Picture 4"/>
          <p:cNvPicPr>
            <a:picLocks noChangeAspect="1"/>
          </p:cNvPicPr>
          <p:nvPr/>
        </p:nvPicPr>
        <p:blipFill rotWithShape="1">
          <a:blip r:embed="rId2"/>
          <a:srcRect t="4893" b="2969"/>
          <a:stretch/>
        </p:blipFill>
        <p:spPr>
          <a:xfrm>
            <a:off x="838200" y="1340808"/>
            <a:ext cx="6981634" cy="4907592"/>
          </a:xfrm>
          <a:prstGeom prst="rect">
            <a:avLst/>
          </a:prstGeom>
        </p:spPr>
      </p:pic>
    </p:spTree>
    <p:extLst>
      <p:ext uri="{BB962C8B-B14F-4D97-AF65-F5344CB8AC3E}">
        <p14:creationId xmlns:p14="http://schemas.microsoft.com/office/powerpoint/2010/main" val="745729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16</a:t>
            </a:fld>
            <a:endParaRPr lang="en-US" dirty="0"/>
          </a:p>
        </p:txBody>
      </p:sp>
      <p:sp>
        <p:nvSpPr>
          <p:cNvPr id="3" name="Title 2"/>
          <p:cNvSpPr>
            <a:spLocks noGrp="1"/>
          </p:cNvSpPr>
          <p:nvPr>
            <p:ph type="title"/>
          </p:nvPr>
        </p:nvSpPr>
        <p:spPr/>
        <p:txBody>
          <a:bodyPr/>
          <a:lstStyle/>
          <a:p>
            <a:r>
              <a:rPr lang="en-US" dirty="0" smtClean="0"/>
              <a:t>Participants on SCM Process</a:t>
            </a:r>
            <a:endParaRPr lang="en-US" dirty="0"/>
          </a:p>
        </p:txBody>
      </p:sp>
      <p:pic>
        <p:nvPicPr>
          <p:cNvPr id="1026" name="Picture 2" descr="https://www.guru99.com/images/1/051818_1048_SoftwareCon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93925"/>
            <a:ext cx="6400800" cy="4044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7659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17</a:t>
            </a:fld>
            <a:endParaRPr lang="en-US" dirty="0"/>
          </a:p>
        </p:txBody>
      </p:sp>
      <p:sp>
        <p:nvSpPr>
          <p:cNvPr id="3" name="Title 2"/>
          <p:cNvSpPr>
            <a:spLocks noGrp="1"/>
          </p:cNvSpPr>
          <p:nvPr>
            <p:ph type="title"/>
          </p:nvPr>
        </p:nvSpPr>
        <p:spPr/>
        <p:txBody>
          <a:bodyPr/>
          <a:lstStyle/>
          <a:p>
            <a:r>
              <a:rPr lang="en-US" dirty="0" smtClean="0"/>
              <a:t>Participants on SCM Process</a:t>
            </a:r>
            <a:endParaRPr lang="en-US" dirty="0"/>
          </a:p>
        </p:txBody>
      </p:sp>
      <p:sp>
        <p:nvSpPr>
          <p:cNvPr id="4" name="Text Placeholder 3"/>
          <p:cNvSpPr>
            <a:spLocks noGrp="1"/>
          </p:cNvSpPr>
          <p:nvPr>
            <p:ph type="body" sz="quarter" idx="13"/>
          </p:nvPr>
        </p:nvSpPr>
        <p:spPr/>
        <p:txBody>
          <a:bodyPr>
            <a:normAutofit/>
          </a:bodyPr>
          <a:lstStyle/>
          <a:p>
            <a:r>
              <a:rPr lang="en-US" sz="2800" b="1" dirty="0"/>
              <a:t>Configuration Manager</a:t>
            </a:r>
            <a:endParaRPr lang="en-US" sz="2800" dirty="0"/>
          </a:p>
          <a:p>
            <a:pPr lvl="1"/>
            <a:r>
              <a:rPr lang="en-US" sz="2400" dirty="0"/>
              <a:t>Configuration Manager is the head who is Responsible for identifying configuration items.</a:t>
            </a:r>
          </a:p>
          <a:p>
            <a:pPr lvl="1"/>
            <a:r>
              <a:rPr lang="en-US" sz="2400" dirty="0"/>
              <a:t>CM ensures team follows the SCM process</a:t>
            </a:r>
          </a:p>
          <a:p>
            <a:pPr lvl="1"/>
            <a:r>
              <a:rPr lang="en-US" sz="2400" dirty="0" err="1"/>
              <a:t>He/She</a:t>
            </a:r>
            <a:r>
              <a:rPr lang="en-US" sz="2400" dirty="0"/>
              <a:t> needs to approve or reject change requests</a:t>
            </a:r>
          </a:p>
          <a:p>
            <a:r>
              <a:rPr lang="en-US" sz="2800" b="1" dirty="0" smtClean="0"/>
              <a:t>Developer</a:t>
            </a:r>
            <a:endParaRPr lang="en-US" sz="2800" dirty="0"/>
          </a:p>
          <a:p>
            <a:pPr lvl="1"/>
            <a:r>
              <a:rPr lang="en-US" sz="2400" dirty="0"/>
              <a:t>The developer needs to change the code as per standard development activities or change requests. He is responsible for maintaining configuration of code.</a:t>
            </a:r>
          </a:p>
          <a:p>
            <a:pPr lvl="1"/>
            <a:r>
              <a:rPr lang="en-US" sz="2400" dirty="0"/>
              <a:t>The developer should check the changes and resolves conflicts</a:t>
            </a:r>
          </a:p>
          <a:p>
            <a:pPr marL="0" indent="0">
              <a:buNone/>
            </a:pPr>
            <a:endParaRPr lang="en-US" dirty="0"/>
          </a:p>
        </p:txBody>
      </p:sp>
    </p:spTree>
    <p:extLst>
      <p:ext uri="{BB962C8B-B14F-4D97-AF65-F5344CB8AC3E}">
        <p14:creationId xmlns:p14="http://schemas.microsoft.com/office/powerpoint/2010/main" val="38503811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18</a:t>
            </a:fld>
            <a:endParaRPr lang="en-US" dirty="0"/>
          </a:p>
        </p:txBody>
      </p:sp>
      <p:sp>
        <p:nvSpPr>
          <p:cNvPr id="3" name="Title 2"/>
          <p:cNvSpPr>
            <a:spLocks noGrp="1"/>
          </p:cNvSpPr>
          <p:nvPr>
            <p:ph type="title"/>
          </p:nvPr>
        </p:nvSpPr>
        <p:spPr/>
        <p:txBody>
          <a:bodyPr/>
          <a:lstStyle/>
          <a:p>
            <a:r>
              <a:rPr lang="en-US" dirty="0" smtClean="0"/>
              <a:t>Participants on SCM Process</a:t>
            </a:r>
            <a:endParaRPr lang="en-US" dirty="0"/>
          </a:p>
        </p:txBody>
      </p:sp>
      <p:sp>
        <p:nvSpPr>
          <p:cNvPr id="4" name="Text Placeholder 3"/>
          <p:cNvSpPr>
            <a:spLocks noGrp="1"/>
          </p:cNvSpPr>
          <p:nvPr>
            <p:ph type="body" sz="quarter" idx="13"/>
          </p:nvPr>
        </p:nvSpPr>
        <p:spPr/>
        <p:txBody>
          <a:bodyPr>
            <a:noAutofit/>
          </a:bodyPr>
          <a:lstStyle/>
          <a:p>
            <a:r>
              <a:rPr lang="en-US" sz="2400" b="1" dirty="0" smtClean="0"/>
              <a:t> </a:t>
            </a:r>
            <a:r>
              <a:rPr lang="en-US" sz="2400" b="1" dirty="0"/>
              <a:t>Auditor</a:t>
            </a:r>
            <a:endParaRPr lang="en-US" sz="2400" dirty="0"/>
          </a:p>
          <a:p>
            <a:pPr lvl="1"/>
            <a:r>
              <a:rPr lang="en-US" sz="2000" dirty="0"/>
              <a:t>The auditor is responsible for SCM audits and reviews.</a:t>
            </a:r>
          </a:p>
          <a:p>
            <a:pPr lvl="1"/>
            <a:r>
              <a:rPr lang="en-US" sz="2000" dirty="0"/>
              <a:t>Need to ensure the consistency and completeness of release.</a:t>
            </a:r>
          </a:p>
          <a:p>
            <a:r>
              <a:rPr lang="en-US" sz="2400" b="1" dirty="0" smtClean="0"/>
              <a:t>Project </a:t>
            </a:r>
            <a:r>
              <a:rPr lang="en-US" sz="2400" b="1" dirty="0"/>
              <a:t>Manager:</a:t>
            </a:r>
            <a:endParaRPr lang="en-US" sz="2400" dirty="0"/>
          </a:p>
          <a:p>
            <a:pPr lvl="1"/>
            <a:r>
              <a:rPr lang="en-US" sz="2000" dirty="0"/>
              <a:t>Ensure that the product is developed within a certain time frame</a:t>
            </a:r>
          </a:p>
          <a:p>
            <a:pPr lvl="1"/>
            <a:r>
              <a:rPr lang="en-US" sz="2000" dirty="0"/>
              <a:t>Monitors the progress of development and recognizes issues in the SCM process</a:t>
            </a:r>
          </a:p>
          <a:p>
            <a:pPr lvl="1"/>
            <a:r>
              <a:rPr lang="en-US" sz="2000" dirty="0"/>
              <a:t>Generate reports about the status of the software system</a:t>
            </a:r>
          </a:p>
          <a:p>
            <a:pPr lvl="1"/>
            <a:r>
              <a:rPr lang="en-US" sz="2000" dirty="0"/>
              <a:t>Make sure that processes and policies are followed for creating, changing, and testing</a:t>
            </a:r>
          </a:p>
          <a:p>
            <a:r>
              <a:rPr lang="en-US" sz="2400" b="1" dirty="0" smtClean="0"/>
              <a:t>User</a:t>
            </a:r>
            <a:endParaRPr lang="en-US" sz="2400" dirty="0"/>
          </a:p>
          <a:p>
            <a:pPr lvl="1"/>
            <a:r>
              <a:rPr lang="en-US" sz="2000" dirty="0"/>
              <a:t>The end user should understand the key SCM terms to ensure he has the latest version of the </a:t>
            </a:r>
            <a:r>
              <a:rPr lang="en-US" sz="2000" dirty="0" smtClean="0"/>
              <a:t>software</a:t>
            </a:r>
            <a:endParaRPr lang="en-US" sz="2000" dirty="0"/>
          </a:p>
        </p:txBody>
      </p:sp>
    </p:spTree>
    <p:extLst>
      <p:ext uri="{BB962C8B-B14F-4D97-AF65-F5344CB8AC3E}">
        <p14:creationId xmlns:p14="http://schemas.microsoft.com/office/powerpoint/2010/main" val="2863460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19</a:t>
            </a:fld>
            <a:endParaRPr lang="en-US" dirty="0"/>
          </a:p>
        </p:txBody>
      </p:sp>
      <p:sp>
        <p:nvSpPr>
          <p:cNvPr id="3" name="Title 2"/>
          <p:cNvSpPr>
            <a:spLocks noGrp="1"/>
          </p:cNvSpPr>
          <p:nvPr>
            <p:ph type="title"/>
          </p:nvPr>
        </p:nvSpPr>
        <p:spPr/>
        <p:txBody>
          <a:bodyPr/>
          <a:lstStyle/>
          <a:p>
            <a:r>
              <a:rPr lang="en-US" dirty="0" smtClean="0"/>
              <a:t>Change Management Process</a:t>
            </a:r>
            <a:endParaRPr lang="en-US" dirty="0"/>
          </a:p>
        </p:txBody>
      </p:sp>
      <p:sp>
        <p:nvSpPr>
          <p:cNvPr id="4" name="Text Placeholder 3"/>
          <p:cNvSpPr>
            <a:spLocks noGrp="1"/>
          </p:cNvSpPr>
          <p:nvPr>
            <p:ph type="body" sz="quarter" idx="13"/>
          </p:nvPr>
        </p:nvSpPr>
        <p:spPr/>
        <p:txBody>
          <a:bodyPr/>
          <a:lstStyle/>
          <a:p>
            <a:endParaRPr lang="en-US" dirty="0"/>
          </a:p>
        </p:txBody>
      </p:sp>
      <p:sp>
        <p:nvSpPr>
          <p:cNvPr id="5" name="Rectangle 4"/>
          <p:cNvSpPr>
            <a:spLocks noChangeArrowheads="1"/>
          </p:cNvSpPr>
          <p:nvPr/>
        </p:nvSpPr>
        <p:spPr bwMode="auto">
          <a:xfrm>
            <a:off x="457200" y="1524000"/>
            <a:ext cx="8458200" cy="4648200"/>
          </a:xfrm>
          <a:prstGeom prst="rect">
            <a:avLst/>
          </a:prstGeom>
          <a:solidFill>
            <a:srgbClr val="CCFF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6" name="Picture 2"/>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752600"/>
            <a:ext cx="49530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3387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20</a:t>
            </a:fld>
            <a:endParaRPr lang="en-US" dirty="0"/>
          </a:p>
        </p:txBody>
      </p:sp>
      <p:pic>
        <p:nvPicPr>
          <p:cNvPr id="1028" name="Picture 4" descr="080315_0723_ChangeContr3.png (392×66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81000"/>
            <a:ext cx="3429000" cy="57820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rot="18182337">
            <a:off x="-536446" y="2835926"/>
            <a:ext cx="4881401" cy="461665"/>
          </a:xfrm>
          <a:prstGeom prst="rect">
            <a:avLst/>
          </a:prstGeom>
          <a:noFill/>
        </p:spPr>
        <p:txBody>
          <a:bodyPr wrap="none" rtlCol="0">
            <a:spAutoFit/>
          </a:bodyPr>
          <a:lstStyle/>
          <a:p>
            <a:r>
              <a:rPr lang="en-US" sz="2400" b="1" dirty="0" smtClean="0"/>
              <a:t>Steps </a:t>
            </a:r>
            <a:r>
              <a:rPr lang="en-US" sz="2400" b="1" dirty="0"/>
              <a:t>involved in the Change Process</a:t>
            </a:r>
          </a:p>
        </p:txBody>
      </p:sp>
    </p:spTree>
    <p:extLst>
      <p:ext uri="{BB962C8B-B14F-4D97-AF65-F5344CB8AC3E}">
        <p14:creationId xmlns:p14="http://schemas.microsoft.com/office/powerpoint/2010/main" val="1871626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21</a:t>
            </a:fld>
            <a:endParaRPr lang="en-US" dirty="0"/>
          </a:p>
        </p:txBody>
      </p:sp>
      <p:sp>
        <p:nvSpPr>
          <p:cNvPr id="3" name="Title 2"/>
          <p:cNvSpPr>
            <a:spLocks noGrp="1"/>
          </p:cNvSpPr>
          <p:nvPr>
            <p:ph type="title"/>
          </p:nvPr>
        </p:nvSpPr>
        <p:spPr/>
        <p:txBody>
          <a:bodyPr>
            <a:normAutofit fontScale="90000"/>
          </a:bodyPr>
          <a:lstStyle/>
          <a:p>
            <a:r>
              <a:rPr lang="en-US" dirty="0" smtClean="0"/>
              <a:t>SCM Planning (</a:t>
            </a:r>
            <a:r>
              <a:rPr lang="en-US" altLang="en-US" dirty="0"/>
              <a:t>SCMP, IEEE 828-1990</a:t>
            </a:r>
            <a:r>
              <a:rPr lang="en-US" dirty="0" smtClean="0"/>
              <a:t>)</a:t>
            </a:r>
            <a:endParaRPr lang="en-US" dirty="0"/>
          </a:p>
        </p:txBody>
      </p:sp>
      <p:sp>
        <p:nvSpPr>
          <p:cNvPr id="4" name="Text Placeholder 3"/>
          <p:cNvSpPr>
            <a:spLocks noGrp="1"/>
          </p:cNvSpPr>
          <p:nvPr>
            <p:ph type="body" sz="quarter" idx="13"/>
          </p:nvPr>
        </p:nvSpPr>
        <p:spPr/>
        <p:txBody>
          <a:bodyPr>
            <a:normAutofit fontScale="92500" lnSpcReduction="20000"/>
          </a:bodyPr>
          <a:lstStyle/>
          <a:p>
            <a:pPr>
              <a:buNone/>
            </a:pPr>
            <a:r>
              <a:rPr lang="en-US" altLang="en-US" b="1" dirty="0">
                <a:solidFill>
                  <a:schemeClr val="folHlink"/>
                </a:solidFill>
              </a:rPr>
              <a:t>Introduction</a:t>
            </a:r>
          </a:p>
          <a:p>
            <a:pPr lvl="1"/>
            <a:r>
              <a:rPr lang="en-US" altLang="en-US" dirty="0"/>
              <a:t>Describes purpose, scope of application, key terms and references</a:t>
            </a:r>
          </a:p>
          <a:p>
            <a:pPr>
              <a:buNone/>
            </a:pPr>
            <a:r>
              <a:rPr lang="en-US" altLang="en-US" b="1" dirty="0" smtClean="0">
                <a:solidFill>
                  <a:schemeClr val="folHlink"/>
                </a:solidFill>
              </a:rPr>
              <a:t>Management </a:t>
            </a:r>
            <a:r>
              <a:rPr lang="en-US" altLang="en-US" b="1" dirty="0">
                <a:solidFill>
                  <a:schemeClr val="folHlink"/>
                </a:solidFill>
              </a:rPr>
              <a:t>(Who?)</a:t>
            </a:r>
            <a:r>
              <a:rPr lang="en-US" altLang="en-US" dirty="0"/>
              <a:t> </a:t>
            </a:r>
          </a:p>
          <a:p>
            <a:pPr lvl="1"/>
            <a:r>
              <a:rPr lang="en-US" altLang="en-US" dirty="0"/>
              <a:t>Identifies the responsibilities and authorities for accomplishing the planned configuration management activities</a:t>
            </a:r>
          </a:p>
          <a:p>
            <a:pPr>
              <a:buNone/>
            </a:pPr>
            <a:r>
              <a:rPr lang="en-US" altLang="en-US" b="1" dirty="0" smtClean="0">
                <a:solidFill>
                  <a:schemeClr val="folHlink"/>
                </a:solidFill>
              </a:rPr>
              <a:t>Activities </a:t>
            </a:r>
            <a:r>
              <a:rPr lang="en-US" altLang="en-US" b="1" dirty="0">
                <a:solidFill>
                  <a:schemeClr val="folHlink"/>
                </a:solidFill>
              </a:rPr>
              <a:t>(What?)</a:t>
            </a:r>
          </a:p>
          <a:p>
            <a:pPr lvl="1"/>
            <a:r>
              <a:rPr lang="en-US" altLang="en-US" dirty="0"/>
              <a:t>Identifies the activities to be performed in applying to the project</a:t>
            </a:r>
            <a:r>
              <a:rPr lang="en-US" altLang="en-US" dirty="0" smtClean="0"/>
              <a:t>.</a:t>
            </a:r>
          </a:p>
          <a:p>
            <a:pPr>
              <a:buNone/>
            </a:pPr>
            <a:r>
              <a:rPr lang="en-US" altLang="en-US" b="1" dirty="0" smtClean="0">
                <a:solidFill>
                  <a:schemeClr val="folHlink"/>
                </a:solidFill>
              </a:rPr>
              <a:t>Schedule </a:t>
            </a:r>
            <a:r>
              <a:rPr lang="en-US" altLang="en-US" b="1" dirty="0">
                <a:solidFill>
                  <a:schemeClr val="folHlink"/>
                </a:solidFill>
              </a:rPr>
              <a:t>(When?) </a:t>
            </a:r>
          </a:p>
          <a:p>
            <a:pPr lvl="1"/>
            <a:r>
              <a:rPr lang="en-US" altLang="en-US" dirty="0"/>
              <a:t>Establishes the sequence and coordination of the SCM activities with project mile stones.</a:t>
            </a:r>
          </a:p>
          <a:p>
            <a:pPr>
              <a:buNone/>
            </a:pPr>
            <a:r>
              <a:rPr lang="en-US" altLang="en-US" b="1" dirty="0" smtClean="0">
                <a:solidFill>
                  <a:schemeClr val="folHlink"/>
                </a:solidFill>
              </a:rPr>
              <a:t>Resources </a:t>
            </a:r>
            <a:r>
              <a:rPr lang="en-US" altLang="en-US" b="1" dirty="0">
                <a:solidFill>
                  <a:schemeClr val="folHlink"/>
                </a:solidFill>
              </a:rPr>
              <a:t>(How?)</a:t>
            </a:r>
            <a:r>
              <a:rPr lang="en-US" altLang="en-US" dirty="0">
                <a:solidFill>
                  <a:schemeClr val="folHlink"/>
                </a:solidFill>
              </a:rPr>
              <a:t> </a:t>
            </a:r>
          </a:p>
          <a:p>
            <a:pPr lvl="1"/>
            <a:r>
              <a:rPr lang="en-US" altLang="en-US" dirty="0"/>
              <a:t>Identifies tools and techniques required for the implementation of the SCMP</a:t>
            </a:r>
          </a:p>
          <a:p>
            <a:pPr>
              <a:buNone/>
            </a:pPr>
            <a:r>
              <a:rPr lang="en-US" altLang="en-US" b="1" dirty="0" smtClean="0">
                <a:solidFill>
                  <a:schemeClr val="folHlink"/>
                </a:solidFill>
              </a:rPr>
              <a:t>Maintenance</a:t>
            </a:r>
            <a:endParaRPr lang="en-US" altLang="en-US" b="1" dirty="0">
              <a:solidFill>
                <a:schemeClr val="folHlink"/>
              </a:solidFill>
            </a:endParaRPr>
          </a:p>
          <a:p>
            <a:pPr lvl="1"/>
            <a:r>
              <a:rPr lang="en-US" altLang="en-US" dirty="0"/>
              <a:t>Identifies activities and responsibilities on how the SCMP will be kept current during the life-cycle of the </a:t>
            </a:r>
            <a:r>
              <a:rPr lang="en-US" altLang="en-US" dirty="0" smtClean="0"/>
              <a:t>project.</a:t>
            </a:r>
          </a:p>
          <a:p>
            <a:pPr marL="0" indent="0">
              <a:buNone/>
            </a:pPr>
            <a:endParaRPr lang="en-US" altLang="en-US" dirty="0" smtClean="0"/>
          </a:p>
          <a:p>
            <a:endParaRPr lang="en-US" dirty="0"/>
          </a:p>
        </p:txBody>
      </p:sp>
    </p:spTree>
    <p:extLst>
      <p:ext uri="{BB962C8B-B14F-4D97-AF65-F5344CB8AC3E}">
        <p14:creationId xmlns:p14="http://schemas.microsoft.com/office/powerpoint/2010/main" val="3452918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p:spPr>
        <p:txBody>
          <a:bodyPr/>
          <a:lstStyle>
            <a:lvl1pPr>
              <a:spcBef>
                <a:spcPct val="20000"/>
              </a:spcBef>
              <a:buClr>
                <a:srgbClr val="A50021"/>
              </a:buClr>
              <a:buSzPct val="120000"/>
              <a:buFont typeface="Wingdings" panose="05000000000000000000" pitchFamily="2" charset="2"/>
              <a:buChar char="§"/>
              <a:defRPr sz="32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SzTx/>
              <a:buFontTx/>
              <a:buNone/>
            </a:pPr>
            <a:fld id="{FDB416FB-2EAF-4200-9259-5787DEFA1F1C}" type="slidenum">
              <a:rPr lang="en-US" altLang="en-US" sz="1400" smtClean="0">
                <a:latin typeface="Times New Roman" panose="02020603050405020304" pitchFamily="18" charset="0"/>
              </a:rPr>
              <a:pPr>
                <a:spcBef>
                  <a:spcPct val="0"/>
                </a:spcBef>
                <a:buClrTx/>
                <a:buSzTx/>
                <a:buFontTx/>
                <a:buNone/>
              </a:pPr>
              <a:t>22</a:t>
            </a:fld>
            <a:endParaRPr lang="en-US" altLang="en-US" sz="1400" smtClean="0">
              <a:latin typeface="Times New Roman" panose="02020603050405020304" pitchFamily="18" charset="0"/>
            </a:endParaRPr>
          </a:p>
        </p:txBody>
      </p:sp>
      <p:sp>
        <p:nvSpPr>
          <p:cNvPr id="21507" name="Rectangle 234"/>
          <p:cNvSpPr>
            <a:spLocks noGrp="1" noChangeArrowheads="1"/>
          </p:cNvSpPr>
          <p:nvPr>
            <p:ph type="title"/>
          </p:nvPr>
        </p:nvSpPr>
        <p:spPr>
          <a:xfrm>
            <a:off x="304800" y="152400"/>
            <a:ext cx="8381999" cy="780195"/>
          </a:xfrm>
        </p:spPr>
        <p:txBody>
          <a:bodyPr>
            <a:noAutofit/>
          </a:bodyPr>
          <a:lstStyle/>
          <a:p>
            <a:pPr eaLnBrk="1" hangingPunct="1"/>
            <a:r>
              <a:rPr lang="en-US" altLang="en-US" sz="4000" dirty="0" smtClean="0"/>
              <a:t>Working with </a:t>
            </a:r>
            <a:r>
              <a:rPr lang="en-US" altLang="en-US" sz="4000" dirty="0" smtClean="0"/>
              <a:t>Peers: Centralized </a:t>
            </a:r>
            <a:r>
              <a:rPr lang="en-US" altLang="en-US" sz="4000" dirty="0" smtClean="0"/>
              <a:t>Workflow</a:t>
            </a:r>
          </a:p>
        </p:txBody>
      </p:sp>
      <p:sp>
        <p:nvSpPr>
          <p:cNvPr id="21508" name="Rectangle 235"/>
          <p:cNvSpPr>
            <a:spLocks noGrp="1" noChangeArrowheads="1"/>
          </p:cNvSpPr>
          <p:nvPr>
            <p:ph type="body" sz="quarter" idx="13"/>
          </p:nvPr>
        </p:nvSpPr>
        <p:spPr>
          <a:xfrm>
            <a:off x="457201" y="1447800"/>
            <a:ext cx="8381999" cy="4800600"/>
          </a:xfrm>
        </p:spPr>
        <p:txBody>
          <a:bodyPr>
            <a:normAutofit/>
          </a:bodyPr>
          <a:lstStyle/>
          <a:p>
            <a:pPr eaLnBrk="1" hangingPunct="1">
              <a:spcBef>
                <a:spcPct val="50000"/>
              </a:spcBef>
            </a:pPr>
            <a:endParaRPr lang="en-US" altLang="en-US" sz="1800" u="sng" dirty="0" smtClean="0"/>
          </a:p>
          <a:p>
            <a:pPr eaLnBrk="1" hangingPunct="1">
              <a:spcBef>
                <a:spcPct val="50000"/>
              </a:spcBef>
            </a:pPr>
            <a:endParaRPr lang="en-US" altLang="en-US" sz="1800" u="sng" dirty="0"/>
          </a:p>
          <a:p>
            <a:pPr eaLnBrk="1" hangingPunct="1">
              <a:spcBef>
                <a:spcPct val="50000"/>
              </a:spcBef>
            </a:pPr>
            <a:endParaRPr lang="en-US" altLang="en-US" sz="1800" u="sng" dirty="0" smtClean="0"/>
          </a:p>
          <a:p>
            <a:pPr eaLnBrk="1" hangingPunct="1">
              <a:spcBef>
                <a:spcPct val="50000"/>
              </a:spcBef>
            </a:pPr>
            <a:endParaRPr lang="en-US" altLang="en-US" sz="1800" u="sng" dirty="0"/>
          </a:p>
          <a:p>
            <a:pPr eaLnBrk="1" hangingPunct="1">
              <a:spcBef>
                <a:spcPct val="50000"/>
              </a:spcBef>
            </a:pPr>
            <a:endParaRPr lang="en-US" altLang="en-US" sz="1800" u="sng" dirty="0" smtClean="0"/>
          </a:p>
          <a:p>
            <a:pPr eaLnBrk="1" hangingPunct="1">
              <a:spcBef>
                <a:spcPct val="50000"/>
              </a:spcBef>
            </a:pPr>
            <a:endParaRPr lang="en-US" altLang="en-US" sz="1800" u="sng" dirty="0"/>
          </a:p>
          <a:p>
            <a:pPr eaLnBrk="1" hangingPunct="1">
              <a:spcBef>
                <a:spcPct val="50000"/>
              </a:spcBef>
            </a:pPr>
            <a:endParaRPr lang="en-US" altLang="en-US" sz="1800" u="sng" dirty="0" smtClean="0"/>
          </a:p>
          <a:p>
            <a:pPr eaLnBrk="1" hangingPunct="1">
              <a:spcBef>
                <a:spcPct val="50000"/>
              </a:spcBef>
            </a:pPr>
            <a:endParaRPr lang="en-US" altLang="en-US" sz="1800" u="sng" dirty="0"/>
          </a:p>
          <a:p>
            <a:pPr eaLnBrk="1" hangingPunct="1">
              <a:spcBef>
                <a:spcPct val="50000"/>
              </a:spcBef>
            </a:pPr>
            <a:r>
              <a:rPr lang="en-US" altLang="en-US" sz="1800" u="sng" dirty="0" smtClean="0"/>
              <a:t>Example </a:t>
            </a:r>
            <a:r>
              <a:rPr lang="en-US" altLang="en-US" sz="1800" u="sng" dirty="0" smtClean="0"/>
              <a:t>scenario</a:t>
            </a:r>
            <a:r>
              <a:rPr lang="en-US" altLang="en-US" sz="1800" dirty="0" smtClean="0"/>
              <a:t>: Two developers clone from the hub and both make changes</a:t>
            </a:r>
          </a:p>
          <a:p>
            <a:pPr eaLnBrk="1" hangingPunct="1">
              <a:spcBef>
                <a:spcPct val="50000"/>
              </a:spcBef>
            </a:pPr>
            <a:r>
              <a:rPr lang="en-US" altLang="en-US" sz="1800" dirty="0" smtClean="0"/>
              <a:t>The first developer to push his changes back up can do so with no problems</a:t>
            </a:r>
          </a:p>
          <a:p>
            <a:pPr eaLnBrk="1" hangingPunct="1">
              <a:spcBef>
                <a:spcPct val="50000"/>
              </a:spcBef>
            </a:pPr>
            <a:r>
              <a:rPr lang="en-US" altLang="en-US" sz="1800" dirty="0" smtClean="0"/>
              <a:t>The second developer must merge in the first one’s work before pushing changes up, so as not to overwrite the first developer’s changes</a:t>
            </a:r>
          </a:p>
        </p:txBody>
      </p:sp>
      <p:pic>
        <p:nvPicPr>
          <p:cNvPr id="21509"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26853" y="1296381"/>
            <a:ext cx="7817035" cy="33978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97081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lvl1pPr>
              <a:spcBef>
                <a:spcPct val="20000"/>
              </a:spcBef>
              <a:buClr>
                <a:srgbClr val="A50021"/>
              </a:buClr>
              <a:buSzPct val="120000"/>
              <a:buFont typeface="Wingdings" panose="05000000000000000000" pitchFamily="2" charset="2"/>
              <a:buChar char="§"/>
              <a:defRPr sz="32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SzTx/>
              <a:buFontTx/>
              <a:buNone/>
            </a:pPr>
            <a:fld id="{E3C78081-F99D-4873-B965-DA31FEA4AD4D}" type="slidenum">
              <a:rPr lang="en-US" altLang="en-US" sz="1400" smtClean="0">
                <a:latin typeface="Times New Roman" panose="02020603050405020304" pitchFamily="18" charset="0"/>
              </a:rPr>
              <a:pPr>
                <a:spcBef>
                  <a:spcPct val="0"/>
                </a:spcBef>
                <a:buClrTx/>
                <a:buSzTx/>
                <a:buFontTx/>
                <a:buNone/>
              </a:pPr>
              <a:t>23</a:t>
            </a:fld>
            <a:endParaRPr lang="en-US" altLang="en-US" sz="1400" smtClean="0">
              <a:latin typeface="Times New Roman" panose="02020603050405020304" pitchFamily="18" charset="0"/>
            </a:endParaRPr>
          </a:p>
        </p:txBody>
      </p:sp>
      <p:sp>
        <p:nvSpPr>
          <p:cNvPr id="23555" name="Rectangle 116"/>
          <p:cNvSpPr>
            <a:spLocks noGrp="1" noChangeArrowheads="1"/>
          </p:cNvSpPr>
          <p:nvPr>
            <p:ph type="title"/>
          </p:nvPr>
        </p:nvSpPr>
        <p:spPr>
          <a:xfrm>
            <a:off x="457200" y="0"/>
            <a:ext cx="8381999" cy="780195"/>
          </a:xfrm>
        </p:spPr>
        <p:txBody>
          <a:bodyPr/>
          <a:lstStyle/>
          <a:p>
            <a:pPr eaLnBrk="1" hangingPunct="1"/>
            <a:r>
              <a:rPr lang="en-US" altLang="en-US" dirty="0" smtClean="0"/>
              <a:t>Working with a Managed Team</a:t>
            </a:r>
          </a:p>
        </p:txBody>
      </p:sp>
      <p:sp>
        <p:nvSpPr>
          <p:cNvPr id="23556" name="Rectangle 117"/>
          <p:cNvSpPr>
            <a:spLocks noGrp="1" noChangeArrowheads="1"/>
          </p:cNvSpPr>
          <p:nvPr>
            <p:ph type="body" sz="quarter" idx="13"/>
          </p:nvPr>
        </p:nvSpPr>
        <p:spPr>
          <a:xfrm>
            <a:off x="457201" y="1524000"/>
            <a:ext cx="8381999" cy="4876800"/>
          </a:xfrm>
        </p:spPr>
        <p:txBody>
          <a:bodyPr>
            <a:normAutofit fontScale="92500" lnSpcReduction="20000"/>
          </a:bodyPr>
          <a:lstStyle/>
          <a:p>
            <a:pPr eaLnBrk="1" hangingPunct="1">
              <a:spcBef>
                <a:spcPct val="50000"/>
              </a:spcBef>
            </a:pPr>
            <a:endParaRPr lang="en-US" altLang="en-US" sz="1400" u="sng" dirty="0" smtClean="0"/>
          </a:p>
          <a:p>
            <a:pPr eaLnBrk="1" hangingPunct="1">
              <a:spcBef>
                <a:spcPct val="50000"/>
              </a:spcBef>
            </a:pPr>
            <a:endParaRPr lang="en-US" altLang="en-US" sz="1400" u="sng" dirty="0"/>
          </a:p>
          <a:p>
            <a:pPr eaLnBrk="1" hangingPunct="1">
              <a:spcBef>
                <a:spcPct val="50000"/>
              </a:spcBef>
            </a:pPr>
            <a:endParaRPr lang="en-US" altLang="en-US" sz="1400" u="sng" dirty="0" smtClean="0"/>
          </a:p>
          <a:p>
            <a:pPr eaLnBrk="1" hangingPunct="1">
              <a:spcBef>
                <a:spcPct val="50000"/>
              </a:spcBef>
            </a:pPr>
            <a:endParaRPr lang="en-US" altLang="en-US" sz="1400" u="sng" dirty="0"/>
          </a:p>
          <a:p>
            <a:pPr eaLnBrk="1" hangingPunct="1">
              <a:spcBef>
                <a:spcPct val="50000"/>
              </a:spcBef>
            </a:pPr>
            <a:endParaRPr lang="en-US" altLang="en-US" sz="1400" u="sng" dirty="0" smtClean="0"/>
          </a:p>
          <a:p>
            <a:pPr eaLnBrk="1" hangingPunct="1">
              <a:spcBef>
                <a:spcPct val="50000"/>
              </a:spcBef>
            </a:pPr>
            <a:endParaRPr lang="en-US" altLang="en-US" sz="1400" u="sng" dirty="0"/>
          </a:p>
          <a:p>
            <a:pPr eaLnBrk="1" hangingPunct="1">
              <a:spcBef>
                <a:spcPct val="50000"/>
              </a:spcBef>
            </a:pPr>
            <a:endParaRPr lang="en-US" altLang="en-US" sz="1400" u="sng" dirty="0" smtClean="0"/>
          </a:p>
          <a:p>
            <a:pPr eaLnBrk="1" hangingPunct="1">
              <a:spcBef>
                <a:spcPct val="50000"/>
              </a:spcBef>
            </a:pPr>
            <a:endParaRPr lang="en-US" altLang="en-US" sz="1400" u="sng" dirty="0"/>
          </a:p>
          <a:p>
            <a:pPr eaLnBrk="1" hangingPunct="1">
              <a:spcBef>
                <a:spcPct val="50000"/>
              </a:spcBef>
            </a:pPr>
            <a:endParaRPr lang="en-US" altLang="en-US" sz="1400" u="sng" dirty="0" smtClean="0"/>
          </a:p>
          <a:p>
            <a:pPr eaLnBrk="1" hangingPunct="1">
              <a:spcBef>
                <a:spcPct val="50000"/>
              </a:spcBef>
            </a:pPr>
            <a:endParaRPr lang="en-US" altLang="en-US" sz="1400" u="sng" dirty="0"/>
          </a:p>
          <a:p>
            <a:pPr eaLnBrk="1" hangingPunct="1">
              <a:spcBef>
                <a:spcPct val="50000"/>
              </a:spcBef>
            </a:pPr>
            <a:r>
              <a:rPr lang="en-US" altLang="en-US" sz="1400" u="sng" dirty="0" smtClean="0"/>
              <a:t>Example </a:t>
            </a:r>
            <a:r>
              <a:rPr lang="en-US" altLang="en-US" sz="1400" u="sng" dirty="0" smtClean="0"/>
              <a:t>scenario</a:t>
            </a:r>
            <a:r>
              <a:rPr lang="en-US" altLang="en-US" sz="1400" dirty="0" smtClean="0"/>
              <a:t>:</a:t>
            </a:r>
          </a:p>
          <a:p>
            <a:pPr eaLnBrk="1" hangingPunct="1">
              <a:lnSpc>
                <a:spcPct val="80000"/>
              </a:lnSpc>
            </a:pPr>
            <a:r>
              <a:rPr lang="en-US" altLang="en-US" sz="1400" dirty="0" smtClean="0"/>
              <a:t>1. The configuration manager pushes the current version to the central project repository</a:t>
            </a:r>
          </a:p>
          <a:p>
            <a:pPr eaLnBrk="1" hangingPunct="1">
              <a:lnSpc>
                <a:spcPct val="80000"/>
              </a:lnSpc>
            </a:pPr>
            <a:r>
              <a:rPr lang="en-US" altLang="en-US" sz="1400" dirty="0" smtClean="0"/>
              <a:t>2. A contributor clones that repository and makes changes</a:t>
            </a:r>
          </a:p>
          <a:p>
            <a:pPr eaLnBrk="1" hangingPunct="1">
              <a:lnSpc>
                <a:spcPct val="80000"/>
              </a:lnSpc>
            </a:pPr>
            <a:r>
              <a:rPr lang="en-US" altLang="en-US" sz="1400" dirty="0" smtClean="0"/>
              <a:t>3. The contributor pushes the changed version to his own public repository</a:t>
            </a:r>
          </a:p>
          <a:p>
            <a:pPr eaLnBrk="1" hangingPunct="1">
              <a:lnSpc>
                <a:spcPct val="80000"/>
              </a:lnSpc>
            </a:pPr>
            <a:r>
              <a:rPr lang="en-US" altLang="en-US" sz="1400" dirty="0" smtClean="0"/>
              <a:t>4. The contributor notifies the configuration manager requesting to pull changes</a:t>
            </a:r>
          </a:p>
          <a:p>
            <a:pPr eaLnBrk="1" hangingPunct="1">
              <a:lnSpc>
                <a:spcPct val="80000"/>
              </a:lnSpc>
            </a:pPr>
            <a:r>
              <a:rPr lang="en-US" altLang="en-US" sz="1400" dirty="0" smtClean="0"/>
              <a:t>5. The configuration manager adds the contributor’s repository as a remote and merges locally</a:t>
            </a:r>
          </a:p>
          <a:p>
            <a:pPr eaLnBrk="1" hangingPunct="1">
              <a:lnSpc>
                <a:spcPct val="80000"/>
              </a:lnSpc>
            </a:pPr>
            <a:r>
              <a:rPr lang="en-US" altLang="en-US" sz="1400" dirty="0" smtClean="0"/>
              <a:t>6. The configuration manager pushes merged changes to the central project repository</a:t>
            </a:r>
          </a:p>
        </p:txBody>
      </p:sp>
      <p:pic>
        <p:nvPicPr>
          <p:cNvPr id="2355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0266" y="839181"/>
            <a:ext cx="7177087"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85990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Slide Number Placeholder 3"/>
          <p:cNvSpPr>
            <a:spLocks noGrp="1"/>
          </p:cNvSpPr>
          <p:nvPr>
            <p:ph type="sldNum" sz="quarter" idx="12"/>
          </p:nvPr>
        </p:nvSpPr>
        <p:spPr>
          <a:noFill/>
        </p:spPr>
        <p:txBody>
          <a:bodyPr/>
          <a:lstStyle>
            <a:lvl1pPr>
              <a:spcBef>
                <a:spcPct val="20000"/>
              </a:spcBef>
              <a:buClr>
                <a:srgbClr val="A50021"/>
              </a:buClr>
              <a:buSzPct val="120000"/>
              <a:buFont typeface="Wingdings" panose="05000000000000000000" pitchFamily="2" charset="2"/>
              <a:buChar char="§"/>
              <a:defRPr sz="3200">
                <a:solidFill>
                  <a:schemeClr val="tx1"/>
                </a:solidFill>
                <a:latin typeface="Comic Sans MS" panose="030F0702030302020204" pitchFamily="66" charset="0"/>
              </a:defRPr>
            </a:lvl1pPr>
            <a:lvl2pPr marL="742950" indent="-285750">
              <a:spcBef>
                <a:spcPct val="20000"/>
              </a:spcBef>
              <a:buChar char="–"/>
              <a:defRPr sz="2400">
                <a:solidFill>
                  <a:schemeClr val="tx1"/>
                </a:solidFill>
                <a:latin typeface="Arial" panose="020B0604020202020204" pitchFamily="34" charset="0"/>
              </a:defRPr>
            </a:lvl2pPr>
            <a:lvl3pPr marL="1143000" indent="-228600">
              <a:spcBef>
                <a:spcPct val="20000"/>
              </a:spcBef>
              <a:buChar char="•"/>
              <a:defRPr sz="2000">
                <a:solidFill>
                  <a:schemeClr val="tx1"/>
                </a:solidFill>
                <a:latin typeface="Times New Roman" panose="02020603050405020304" pitchFamily="18" charset="0"/>
              </a:defRPr>
            </a:lvl3pPr>
            <a:lvl4pPr marL="1600200" indent="-228600">
              <a:spcBef>
                <a:spcPct val="20000"/>
              </a:spcBef>
              <a:buChar char="–"/>
              <a:defRPr>
                <a:solidFill>
                  <a:schemeClr val="tx1"/>
                </a:solidFill>
                <a:latin typeface="Times New Roman" panose="02020603050405020304" pitchFamily="18" charset="0"/>
              </a:defRPr>
            </a:lvl4pPr>
            <a:lvl5pPr marL="2057400" indent="-228600">
              <a:spcBef>
                <a:spcPct val="20000"/>
              </a:spcBef>
              <a:buChar char="»"/>
              <a:defRPr sz="16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16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16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16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1600">
                <a:solidFill>
                  <a:schemeClr val="tx1"/>
                </a:solidFill>
                <a:latin typeface="Times New Roman" panose="02020603050405020304" pitchFamily="18" charset="0"/>
              </a:defRPr>
            </a:lvl9pPr>
          </a:lstStyle>
          <a:p>
            <a:pPr>
              <a:spcBef>
                <a:spcPct val="0"/>
              </a:spcBef>
              <a:buClrTx/>
              <a:buSzTx/>
              <a:buFontTx/>
              <a:buNone/>
            </a:pPr>
            <a:fld id="{D9D1308F-A44B-4A82-B32D-F722BB3D1825}" type="slidenum">
              <a:rPr lang="en-US" altLang="en-US" sz="1400" smtClean="0">
                <a:latin typeface="Times New Roman" panose="02020603050405020304" pitchFamily="18" charset="0"/>
              </a:rPr>
              <a:pPr>
                <a:spcBef>
                  <a:spcPct val="0"/>
                </a:spcBef>
                <a:buClrTx/>
                <a:buSzTx/>
                <a:buFontTx/>
                <a:buNone/>
              </a:pPr>
              <a:t>24</a:t>
            </a:fld>
            <a:endParaRPr lang="en-US" altLang="en-US" sz="1400" smtClean="0">
              <a:latin typeface="Times New Roman" panose="02020603050405020304" pitchFamily="18" charset="0"/>
            </a:endParaRPr>
          </a:p>
        </p:txBody>
      </p:sp>
      <p:sp>
        <p:nvSpPr>
          <p:cNvPr id="25602" name="Title 4"/>
          <p:cNvSpPr>
            <a:spLocks noGrp="1"/>
          </p:cNvSpPr>
          <p:nvPr>
            <p:ph type="title"/>
          </p:nvPr>
        </p:nvSpPr>
        <p:spPr/>
        <p:txBody>
          <a:bodyPr/>
          <a:lstStyle/>
          <a:p>
            <a:r>
              <a:rPr lang="en-US" altLang="en-US" smtClean="0"/>
              <a:t>Git Commands Summary</a:t>
            </a:r>
          </a:p>
        </p:txBody>
      </p:sp>
      <p:pic>
        <p:nvPicPr>
          <p:cNvPr id="25604"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828924"/>
            <a:ext cx="7515225" cy="386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99784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25</a:t>
            </a:fld>
            <a:endParaRPr lang="en-US" dirty="0"/>
          </a:p>
        </p:txBody>
      </p:sp>
      <p:sp>
        <p:nvSpPr>
          <p:cNvPr id="3" name="Title 2"/>
          <p:cNvSpPr>
            <a:spLocks noGrp="1"/>
          </p:cNvSpPr>
          <p:nvPr>
            <p:ph type="title"/>
          </p:nvPr>
        </p:nvSpPr>
        <p:spPr/>
        <p:txBody>
          <a:bodyPr/>
          <a:lstStyle/>
          <a:p>
            <a:r>
              <a:rPr lang="en-US" dirty="0" smtClean="0"/>
              <a:t>SCM Summary</a:t>
            </a:r>
            <a:endParaRPr lang="en-US" dirty="0"/>
          </a:p>
        </p:txBody>
      </p:sp>
      <p:sp>
        <p:nvSpPr>
          <p:cNvPr id="4" name="Text Placeholder 3"/>
          <p:cNvSpPr>
            <a:spLocks noGrp="1"/>
          </p:cNvSpPr>
          <p:nvPr>
            <p:ph type="body" sz="quarter" idx="13"/>
          </p:nvPr>
        </p:nvSpPr>
        <p:spPr>
          <a:xfrm>
            <a:off x="457201" y="1066800"/>
            <a:ext cx="8381999" cy="5257800"/>
          </a:xfrm>
        </p:spPr>
        <p:txBody>
          <a:bodyPr>
            <a:normAutofit lnSpcReduction="10000"/>
          </a:bodyPr>
          <a:lstStyle/>
          <a:p>
            <a:r>
              <a:rPr lang="en-US" sz="2800" dirty="0"/>
              <a:t>Configuration Management best practices helps organizations to systematically manage, organize, and control the changes in the documents, codes, and other entities during the Software Development Life Cycle.</a:t>
            </a:r>
          </a:p>
          <a:p>
            <a:r>
              <a:rPr lang="en-US" sz="2800" dirty="0"/>
              <a:t>The primary goal of the SCM process is to increase productivity with minimal mistakes</a:t>
            </a:r>
          </a:p>
          <a:p>
            <a:r>
              <a:rPr lang="en-US" sz="2800" dirty="0"/>
              <a:t>The main reason behind configuration management process is that there are multiple people working on software which is continually updating. SCM helps establish concurrency, synchronization, and version control.</a:t>
            </a:r>
          </a:p>
          <a:p>
            <a:r>
              <a:rPr lang="en-US" sz="2800" dirty="0"/>
              <a:t>A baseline is a formally accepted version of a software configuration item</a:t>
            </a:r>
          </a:p>
          <a:p>
            <a:endParaRPr lang="en-US" sz="2200" dirty="0"/>
          </a:p>
        </p:txBody>
      </p:sp>
    </p:spTree>
    <p:extLst>
      <p:ext uri="{BB962C8B-B14F-4D97-AF65-F5344CB8AC3E}">
        <p14:creationId xmlns:p14="http://schemas.microsoft.com/office/powerpoint/2010/main" val="12634443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26</a:t>
            </a:fld>
            <a:endParaRPr lang="en-US" dirty="0"/>
          </a:p>
        </p:txBody>
      </p:sp>
      <p:sp>
        <p:nvSpPr>
          <p:cNvPr id="3" name="Title 2"/>
          <p:cNvSpPr>
            <a:spLocks noGrp="1"/>
          </p:cNvSpPr>
          <p:nvPr>
            <p:ph type="title"/>
          </p:nvPr>
        </p:nvSpPr>
        <p:spPr/>
        <p:txBody>
          <a:bodyPr/>
          <a:lstStyle/>
          <a:p>
            <a:r>
              <a:rPr lang="en-US" dirty="0" smtClean="0"/>
              <a:t>SCM Summary</a:t>
            </a:r>
            <a:endParaRPr lang="en-US" dirty="0"/>
          </a:p>
        </p:txBody>
      </p:sp>
      <p:sp>
        <p:nvSpPr>
          <p:cNvPr id="4" name="Text Placeholder 3"/>
          <p:cNvSpPr>
            <a:spLocks noGrp="1"/>
          </p:cNvSpPr>
          <p:nvPr>
            <p:ph type="body" sz="quarter" idx="13"/>
          </p:nvPr>
        </p:nvSpPr>
        <p:spPr>
          <a:xfrm>
            <a:off x="457201" y="1066800"/>
            <a:ext cx="8381999" cy="5257800"/>
          </a:xfrm>
        </p:spPr>
        <p:txBody>
          <a:bodyPr>
            <a:normAutofit fontScale="92500" lnSpcReduction="10000"/>
          </a:bodyPr>
          <a:lstStyle/>
          <a:p>
            <a:r>
              <a:rPr lang="en-US" sz="2800" dirty="0"/>
              <a:t>Change control is a procedural method which ensures quality and consistency when changes are made in the configuration object</a:t>
            </a:r>
            <a:r>
              <a:rPr lang="en-US" sz="2800" dirty="0" smtClean="0"/>
              <a:t>.</a:t>
            </a:r>
          </a:p>
          <a:p>
            <a:r>
              <a:rPr lang="en-US" sz="2800" dirty="0" smtClean="0"/>
              <a:t>Configuration </a:t>
            </a:r>
            <a:r>
              <a:rPr lang="en-US" sz="2800" dirty="0"/>
              <a:t>status accounting tracks each release during the SCM process</a:t>
            </a:r>
          </a:p>
          <a:p>
            <a:r>
              <a:rPr lang="en-US" sz="2800" dirty="0"/>
              <a:t>Software Configuration audits verify that all the software product satisfies the baseline needs</a:t>
            </a:r>
          </a:p>
          <a:p>
            <a:r>
              <a:rPr lang="en-US" sz="2800" dirty="0"/>
              <a:t>Project manager, Configuration manager, Developer, Auditor, and user are participants in SCM process</a:t>
            </a:r>
          </a:p>
          <a:p>
            <a:r>
              <a:rPr lang="en-US" sz="2800" dirty="0"/>
              <a:t>The SCM process planning begins at the early phases of a project.</a:t>
            </a:r>
          </a:p>
          <a:p>
            <a:r>
              <a:rPr lang="en-US" sz="2800" dirty="0" err="1"/>
              <a:t>Git</a:t>
            </a:r>
            <a:r>
              <a:rPr lang="en-US" sz="2800" dirty="0"/>
              <a:t>, Team foundation Sever </a:t>
            </a:r>
            <a:r>
              <a:rPr lang="en-US" sz="2800" dirty="0" smtClean="0"/>
              <a:t>and </a:t>
            </a:r>
            <a:r>
              <a:rPr lang="en-US" sz="2800" dirty="0" err="1" smtClean="0"/>
              <a:t>Ansible</a:t>
            </a:r>
            <a:r>
              <a:rPr lang="en-US" sz="2800" dirty="0" smtClean="0"/>
              <a:t> are </a:t>
            </a:r>
            <a:r>
              <a:rPr lang="en-US" sz="2800" dirty="0"/>
              <a:t>few popular SCM tools.</a:t>
            </a:r>
          </a:p>
          <a:p>
            <a:pPr marL="0" indent="0">
              <a:buNone/>
            </a:pPr>
            <a:endParaRPr lang="en-US" sz="2200" dirty="0"/>
          </a:p>
        </p:txBody>
      </p:sp>
    </p:spTree>
    <p:extLst>
      <p:ext uri="{BB962C8B-B14F-4D97-AF65-F5344CB8AC3E}">
        <p14:creationId xmlns:p14="http://schemas.microsoft.com/office/powerpoint/2010/main" val="399106999"/>
      </p:ext>
    </p:extLst>
  </p:cSld>
  <p:clrMapOvr>
    <a:masterClrMapping/>
  </p:clrMapOvr>
</p:sld>
</file>

<file path=ppt/theme/theme1.xml><?xml version="1.0" encoding="utf-8"?>
<a:theme xmlns:a="http://schemas.openxmlformats.org/drawingml/2006/main" name="Retrospect">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12317</TotalTime>
  <Words>1424</Words>
  <Application>Microsoft Office PowerPoint</Application>
  <PresentationFormat>On-screen Show (4:3)</PresentationFormat>
  <Paragraphs>224</Paragraphs>
  <Slides>26</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Times New Roman</vt:lpstr>
      <vt:lpstr>Wingdings</vt:lpstr>
      <vt:lpstr>Retrospect</vt:lpstr>
      <vt:lpstr>Software Configuration Management</vt:lpstr>
      <vt:lpstr>Introduction</vt:lpstr>
      <vt:lpstr>Introduction</vt:lpstr>
      <vt:lpstr>SCM Concepts</vt:lpstr>
      <vt:lpstr>SCM Concepts</vt:lpstr>
      <vt:lpstr>SCM Concepts</vt:lpstr>
      <vt:lpstr>SCM Concepts: Common Baselines</vt:lpstr>
      <vt:lpstr>Software Configuration Item (SCI)</vt:lpstr>
      <vt:lpstr>Software Configuration Item (SCI)</vt:lpstr>
      <vt:lpstr>SCM Process</vt:lpstr>
      <vt:lpstr>SCM Process</vt:lpstr>
      <vt:lpstr>SCM Process</vt:lpstr>
      <vt:lpstr>SCM Process</vt:lpstr>
      <vt:lpstr>SCM Process</vt:lpstr>
      <vt:lpstr>Why SCM</vt:lpstr>
      <vt:lpstr>Participants on SCM Process</vt:lpstr>
      <vt:lpstr>Participants on SCM Process</vt:lpstr>
      <vt:lpstr>Participants on SCM Process</vt:lpstr>
      <vt:lpstr>Change Management Process</vt:lpstr>
      <vt:lpstr>PowerPoint Presentation</vt:lpstr>
      <vt:lpstr>SCM Planning (SCMP, IEEE 828-1990)</vt:lpstr>
      <vt:lpstr>Working with Peers: Centralized Workflow</vt:lpstr>
      <vt:lpstr>Working with a Managed Team</vt:lpstr>
      <vt:lpstr>Git Commands Summary</vt:lpstr>
      <vt:lpstr>SCM Summary</vt:lpstr>
      <vt:lpstr>SCM 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Microsoft account</cp:lastModifiedBy>
  <cp:revision>1142</cp:revision>
  <dcterms:created xsi:type="dcterms:W3CDTF">2022-08-07T01:15:18Z</dcterms:created>
  <dcterms:modified xsi:type="dcterms:W3CDTF">2022-12-20T11:03:30Z</dcterms:modified>
</cp:coreProperties>
</file>