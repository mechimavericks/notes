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notesMasterIdLst>
    <p:notesMasterId r:id="rId79"/>
  </p:notesMasterIdLst>
  <p:sldIdLst>
    <p:sldId id="256" r:id="rId2"/>
    <p:sldId id="418" r:id="rId3"/>
    <p:sldId id="421" r:id="rId4"/>
    <p:sldId id="423" r:id="rId5"/>
    <p:sldId id="419" r:id="rId6"/>
    <p:sldId id="420" r:id="rId7"/>
    <p:sldId id="424" r:id="rId8"/>
    <p:sldId id="389" r:id="rId9"/>
    <p:sldId id="425" r:id="rId10"/>
    <p:sldId id="392" r:id="rId11"/>
    <p:sldId id="393" r:id="rId12"/>
    <p:sldId id="489" r:id="rId13"/>
    <p:sldId id="395" r:id="rId14"/>
    <p:sldId id="396" r:id="rId15"/>
    <p:sldId id="397" r:id="rId16"/>
    <p:sldId id="426" r:id="rId17"/>
    <p:sldId id="427" r:id="rId18"/>
    <p:sldId id="398" r:id="rId19"/>
    <p:sldId id="399" r:id="rId20"/>
    <p:sldId id="400" r:id="rId21"/>
    <p:sldId id="401" r:id="rId22"/>
    <p:sldId id="402" r:id="rId23"/>
    <p:sldId id="403" r:id="rId24"/>
    <p:sldId id="404" r:id="rId25"/>
    <p:sldId id="405" r:id="rId26"/>
    <p:sldId id="406" r:id="rId27"/>
    <p:sldId id="469" r:id="rId28"/>
    <p:sldId id="474" r:id="rId29"/>
    <p:sldId id="471" r:id="rId30"/>
    <p:sldId id="470" r:id="rId31"/>
    <p:sldId id="472" r:id="rId32"/>
    <p:sldId id="473" r:id="rId33"/>
    <p:sldId id="478" r:id="rId34"/>
    <p:sldId id="477" r:id="rId35"/>
    <p:sldId id="479" r:id="rId36"/>
    <p:sldId id="480" r:id="rId37"/>
    <p:sldId id="486" r:id="rId38"/>
    <p:sldId id="488" r:id="rId39"/>
    <p:sldId id="481" r:id="rId40"/>
    <p:sldId id="482" r:id="rId41"/>
    <p:sldId id="407" r:id="rId42"/>
    <p:sldId id="408" r:id="rId43"/>
    <p:sldId id="409" r:id="rId44"/>
    <p:sldId id="410" r:id="rId45"/>
    <p:sldId id="411" r:id="rId46"/>
    <p:sldId id="412" r:id="rId47"/>
    <p:sldId id="413" r:id="rId48"/>
    <p:sldId id="414" r:id="rId49"/>
    <p:sldId id="437" r:id="rId50"/>
    <p:sldId id="487" r:id="rId51"/>
    <p:sldId id="438" r:id="rId52"/>
    <p:sldId id="439" r:id="rId53"/>
    <p:sldId id="440" r:id="rId54"/>
    <p:sldId id="441" r:id="rId55"/>
    <p:sldId id="442" r:id="rId56"/>
    <p:sldId id="443" r:id="rId57"/>
    <p:sldId id="444" r:id="rId58"/>
    <p:sldId id="445" r:id="rId59"/>
    <p:sldId id="446" r:id="rId60"/>
    <p:sldId id="447" r:id="rId61"/>
    <p:sldId id="449" r:id="rId62"/>
    <p:sldId id="448" r:id="rId63"/>
    <p:sldId id="450" r:id="rId64"/>
    <p:sldId id="451" r:id="rId65"/>
    <p:sldId id="490" r:id="rId66"/>
    <p:sldId id="491" r:id="rId67"/>
    <p:sldId id="452" r:id="rId68"/>
    <p:sldId id="453" r:id="rId69"/>
    <p:sldId id="454" r:id="rId70"/>
    <p:sldId id="455" r:id="rId71"/>
    <p:sldId id="456" r:id="rId72"/>
    <p:sldId id="457" r:id="rId73"/>
    <p:sldId id="458" r:id="rId74"/>
    <p:sldId id="465" r:id="rId75"/>
    <p:sldId id="415" r:id="rId76"/>
    <p:sldId id="416" r:id="rId77"/>
    <p:sldId id="417" r:id="rId7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0FCE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897" autoAdjust="0"/>
    <p:restoredTop sz="76141" autoAdjust="0"/>
  </p:normalViewPr>
  <p:slideViewPr>
    <p:cSldViewPr>
      <p:cViewPr varScale="1">
        <p:scale>
          <a:sx n="52" d="100"/>
          <a:sy n="52" d="100"/>
        </p:scale>
        <p:origin x="1840" y="60"/>
      </p:cViewPr>
      <p:guideLst>
        <p:guide orient="horz" pos="2160"/>
        <p:guide pos="2880"/>
      </p:guideLst>
    </p:cSldViewPr>
  </p:slideViewPr>
  <p:notesTextViewPr>
    <p:cViewPr>
      <p:scale>
        <a:sx n="1" d="1"/>
        <a:sy n="1" d="1"/>
      </p:scale>
      <p:origin x="0" y="0"/>
    </p:cViewPr>
  </p:notesTextViewPr>
  <p:notesViewPr>
    <p:cSldViewPr>
      <p:cViewPr varScale="1">
        <p:scale>
          <a:sx n="52" d="100"/>
          <a:sy n="52" d="100"/>
        </p:scale>
        <p:origin x="2680" y="68"/>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E598602-0560-4791-93EC-3BF081516261}" type="datetimeFigureOut">
              <a:rPr lang="en-US" smtClean="0"/>
              <a:t>1/10/2024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E288E1D-6BDD-4280-B096-4D15059FE1C4}" type="slidenum">
              <a:rPr lang="en-US" smtClean="0"/>
              <a:t>‹#›</a:t>
            </a:fld>
            <a:endParaRPr lang="en-US"/>
          </a:p>
        </p:txBody>
      </p:sp>
    </p:spTree>
    <p:extLst>
      <p:ext uri="{BB962C8B-B14F-4D97-AF65-F5344CB8AC3E}">
        <p14:creationId xmlns:p14="http://schemas.microsoft.com/office/powerpoint/2010/main" val="41865893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www.maxwideman.com/pmglossary/PMG_A03.htm" TargetMode="External"/><Relationship Id="rId13" Type="http://schemas.openxmlformats.org/officeDocument/2006/relationships/hyperlink" Target="http://www.maxwideman.com/pmglossary/PMG_P02.htm" TargetMode="External"/><Relationship Id="rId3" Type="http://schemas.openxmlformats.org/officeDocument/2006/relationships/hyperlink" Target="http://www.maxwideman.com/pmglossary/PMG_E02.htm" TargetMode="External"/><Relationship Id="rId7" Type="http://schemas.openxmlformats.org/officeDocument/2006/relationships/hyperlink" Target="http://www.maxwideman.com/pmglossary/PMG_E04.htm" TargetMode="External"/><Relationship Id="rId12" Type="http://schemas.openxmlformats.org/officeDocument/2006/relationships/hyperlink" Target="http://www.maxwideman.com/pmglossary/PMG_F01.htm" TargetMode="External"/><Relationship Id="rId2" Type="http://schemas.openxmlformats.org/officeDocument/2006/relationships/slide" Target="../slides/slide24.xml"/><Relationship Id="rId1" Type="http://schemas.openxmlformats.org/officeDocument/2006/relationships/notesMaster" Target="../notesMasters/notesMaster1.xml"/><Relationship Id="rId6" Type="http://schemas.openxmlformats.org/officeDocument/2006/relationships/hyperlink" Target="http://www.maxwideman.com/pmglossary/PMG_C11.htm" TargetMode="External"/><Relationship Id="rId11" Type="http://schemas.openxmlformats.org/officeDocument/2006/relationships/hyperlink" Target="http://www.maxwideman.com/pmglossary/PMG_W00.htm" TargetMode="External"/><Relationship Id="rId5" Type="http://schemas.openxmlformats.org/officeDocument/2006/relationships/hyperlink" Target="http://www.maxwideman.com/pmglossary/PMG_B00.htm" TargetMode="External"/><Relationship Id="rId10" Type="http://schemas.openxmlformats.org/officeDocument/2006/relationships/hyperlink" Target="http://www.maxwideman.com/pmglossary/PMG_S04.htm" TargetMode="External"/><Relationship Id="rId4" Type="http://schemas.openxmlformats.org/officeDocument/2006/relationships/hyperlink" Target="http://www.maxwideman.com/pmglossary/PMG_C10.htm" TargetMode="External"/><Relationship Id="rId9" Type="http://schemas.openxmlformats.org/officeDocument/2006/relationships/hyperlink" Target="http://www.maxwideman.com/pmglossary/PMG_R02.htm" TargetMode="External"/><Relationship Id="rId14" Type="http://schemas.openxmlformats.org/officeDocument/2006/relationships/hyperlink" Target="http://www.maxwideman.com/pmglossary/PMG_P15.htm"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M.Sc. Computer Engineering,</a:t>
            </a:r>
            <a:r>
              <a:rPr lang="en-US" baseline="0" dirty="0" smtClean="0"/>
              <a:t> </a:t>
            </a:r>
            <a:r>
              <a:rPr lang="en-US" dirty="0" smtClean="0"/>
              <a:t>Computer System and Knowledge Engineering</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1</a:t>
            </a:fld>
            <a:endParaRPr lang="en-US"/>
          </a:p>
        </p:txBody>
      </p:sp>
    </p:spTree>
    <p:extLst>
      <p:ext uri="{BB962C8B-B14F-4D97-AF65-F5344CB8AC3E}">
        <p14:creationId xmlns:p14="http://schemas.microsoft.com/office/powerpoint/2010/main" val="355287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B6BAC77-CF3C-4CD2-820F-D866FFE668D0}" type="slidenum">
              <a:rPr lang="en-MY" smtClean="0"/>
              <a:pPr/>
              <a:t>13</a:t>
            </a:fld>
            <a:endParaRPr lang="en-MY"/>
          </a:p>
        </p:txBody>
      </p:sp>
    </p:spTree>
    <p:extLst>
      <p:ext uri="{BB962C8B-B14F-4D97-AF65-F5344CB8AC3E}">
        <p14:creationId xmlns:p14="http://schemas.microsoft.com/office/powerpoint/2010/main" val="19194994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4" name="Slide Image Placeholder 1"/>
          <p:cNvSpPr>
            <a:spLocks noGrp="1" noRot="1" noChangeAspect="1" noTextEdit="1"/>
          </p:cNvSpPr>
          <p:nvPr>
            <p:ph type="sldImg"/>
          </p:nvPr>
        </p:nvSpPr>
        <p:spPr>
          <a:ln/>
        </p:spPr>
      </p:sp>
      <p:sp>
        <p:nvSpPr>
          <p:cNvPr id="269315" name="Notes Placeholder 2"/>
          <p:cNvSpPr>
            <a:spLocks noGrp="1"/>
          </p:cNvSpPr>
          <p:nvPr>
            <p:ph type="body" idx="1"/>
          </p:nvPr>
        </p:nvSpPr>
        <p:spPr>
          <a:noFill/>
          <a:ln/>
        </p:spPr>
        <p:txBody>
          <a:bodyPr/>
          <a:lstStyle/>
          <a:p>
            <a:pPr eaLnBrk="1" hangingPunct="1">
              <a:spcBef>
                <a:spcPct val="0"/>
              </a:spcBef>
            </a:pPr>
            <a:r>
              <a:rPr lang="en-US">
                <a:latin typeface="Arial" pitchFamily="34" charset="0"/>
              </a:rPr>
              <a:t>Continuous estimation shouldn’t differ enormously with the initial one.</a:t>
            </a:r>
          </a:p>
          <a:p>
            <a:pPr eaLnBrk="1" hangingPunct="1">
              <a:spcBef>
                <a:spcPct val="0"/>
              </a:spcBef>
            </a:pPr>
            <a:r>
              <a:rPr lang="en-US">
                <a:latin typeface="Arial" pitchFamily="34" charset="0"/>
              </a:rPr>
              <a:t>Get a re-estimate when taking over someone else’s project.</a:t>
            </a:r>
          </a:p>
          <a:p>
            <a:pPr eaLnBrk="1" hangingPunct="1">
              <a:spcBef>
                <a:spcPct val="0"/>
              </a:spcBef>
            </a:pPr>
            <a:r>
              <a:rPr lang="en-US">
                <a:latin typeface="Arial" pitchFamily="34" charset="0"/>
              </a:rPr>
              <a:t>Don’t do buffers.  Do risk containment.</a:t>
            </a:r>
          </a:p>
          <a:p>
            <a:pPr eaLnBrk="1" hangingPunct="1">
              <a:spcBef>
                <a:spcPct val="0"/>
              </a:spcBef>
            </a:pPr>
            <a:r>
              <a:rPr lang="en-US">
                <a:latin typeface="Arial" pitchFamily="34" charset="0"/>
              </a:rPr>
              <a:t>Re-estimate if there is any authorized changes.</a:t>
            </a:r>
          </a:p>
          <a:p>
            <a:endParaRPr lang="en-US">
              <a:latin typeface="Arial" pitchFamily="34" charset="0"/>
            </a:endParaRPr>
          </a:p>
        </p:txBody>
      </p:sp>
      <p:sp>
        <p:nvSpPr>
          <p:cNvPr id="269316" name="Slide Number Placeholder 3"/>
          <p:cNvSpPr>
            <a:spLocks noGrp="1"/>
          </p:cNvSpPr>
          <p:nvPr>
            <p:ph type="sldNum" sz="quarter" idx="5"/>
          </p:nvPr>
        </p:nvSpPr>
        <p:spPr>
          <a:noFill/>
        </p:spPr>
        <p:txBody>
          <a:bodyPr/>
          <a:lstStyle/>
          <a:p>
            <a:fld id="{2CA68B0B-FF9F-465C-A448-EC0EBA26E5B7}" type="slidenum">
              <a:rPr lang="en-US" smtClean="0">
                <a:latin typeface="Arial" pitchFamily="34" charset="0"/>
              </a:rPr>
              <a:pPr/>
              <a:t>14</a:t>
            </a:fld>
            <a:endParaRPr lang="en-US">
              <a:latin typeface="Arial" pitchFamily="34" charset="0"/>
            </a:endParaRPr>
          </a:p>
        </p:txBody>
      </p:sp>
    </p:spTree>
    <p:extLst>
      <p:ext uri="{BB962C8B-B14F-4D97-AF65-F5344CB8AC3E}">
        <p14:creationId xmlns:p14="http://schemas.microsoft.com/office/powerpoint/2010/main" val="28217373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MY" dirty="0"/>
          </a:p>
        </p:txBody>
      </p:sp>
      <p:sp>
        <p:nvSpPr>
          <p:cNvPr id="4" name="Slide Number Placeholder 3"/>
          <p:cNvSpPr>
            <a:spLocks noGrp="1"/>
          </p:cNvSpPr>
          <p:nvPr>
            <p:ph type="sldNum" sz="quarter" idx="10"/>
          </p:nvPr>
        </p:nvSpPr>
        <p:spPr/>
        <p:txBody>
          <a:bodyPr/>
          <a:lstStyle/>
          <a:p>
            <a:fld id="{2B6BAC77-CF3C-4CD2-820F-D866FFE668D0}" type="slidenum">
              <a:rPr lang="en-MY" smtClean="0"/>
              <a:pPr/>
              <a:t>20</a:t>
            </a:fld>
            <a:endParaRPr lang="en-MY"/>
          </a:p>
        </p:txBody>
      </p:sp>
    </p:spTree>
    <p:extLst>
      <p:ext uri="{BB962C8B-B14F-4D97-AF65-F5344CB8AC3E}">
        <p14:creationId xmlns:p14="http://schemas.microsoft.com/office/powerpoint/2010/main" val="41995768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Slide Image Placeholder 1"/>
          <p:cNvSpPr>
            <a:spLocks noGrp="1" noRot="1" noChangeAspect="1" noTextEdit="1"/>
          </p:cNvSpPr>
          <p:nvPr>
            <p:ph type="sldImg"/>
          </p:nvPr>
        </p:nvSpPr>
        <p:spPr>
          <a:ln/>
        </p:spPr>
      </p:sp>
      <p:sp>
        <p:nvSpPr>
          <p:cNvPr id="267267" name="Notes Placeholder 2"/>
          <p:cNvSpPr>
            <a:spLocks noGrp="1"/>
          </p:cNvSpPr>
          <p:nvPr>
            <p:ph type="body" idx="1"/>
          </p:nvPr>
        </p:nvSpPr>
        <p:spPr>
          <a:noFill/>
          <a:ln/>
        </p:spPr>
        <p:txBody>
          <a:bodyPr/>
          <a:lstStyle/>
          <a:p>
            <a:r>
              <a:rPr lang="en-US">
                <a:latin typeface="Arial" pitchFamily="34" charset="0"/>
              </a:rPr>
              <a:t>Rough Order of Magnitude Estimate ("ROM") </a:t>
            </a:r>
            <a:r>
              <a:rPr lang="en-US">
                <a:latin typeface="Arial" pitchFamily="34" charset="0"/>
                <a:hlinkClick r:id="rId3" action="ppaction://hlinkfile"/>
              </a:rPr>
              <a:t>Estimate</a:t>
            </a:r>
            <a:r>
              <a:rPr lang="en-US">
                <a:latin typeface="Arial" pitchFamily="34" charset="0"/>
              </a:rPr>
              <a:t>d </a:t>
            </a:r>
            <a:r>
              <a:rPr lang="en-US">
                <a:latin typeface="Arial" pitchFamily="34" charset="0"/>
                <a:hlinkClick r:id="rId4" action="ppaction://hlinkfile"/>
              </a:rPr>
              <a:t>cost</a:t>
            </a:r>
            <a:r>
              <a:rPr lang="en-US">
                <a:latin typeface="Arial" pitchFamily="34" charset="0"/>
              </a:rPr>
              <a:t> </a:t>
            </a:r>
            <a:r>
              <a:rPr lang="en-US">
                <a:latin typeface="Arial" pitchFamily="34" charset="0"/>
                <a:hlinkClick r:id="rId5" action="ppaction://hlinkfile"/>
              </a:rPr>
              <a:t>base</a:t>
            </a:r>
            <a:r>
              <a:rPr lang="en-US">
                <a:latin typeface="Arial" pitchFamily="34" charset="0"/>
              </a:rPr>
              <a:t>d on approximate </a:t>
            </a:r>
            <a:r>
              <a:rPr lang="en-US">
                <a:latin typeface="Arial" pitchFamily="34" charset="0"/>
                <a:hlinkClick r:id="rId6" action="ppaction://hlinkfile"/>
              </a:rPr>
              <a:t>cost model</a:t>
            </a:r>
            <a:r>
              <a:rPr lang="en-US">
                <a:latin typeface="Arial" pitchFamily="34" charset="0"/>
              </a:rPr>
              <a:t>s or </a:t>
            </a:r>
            <a:r>
              <a:rPr lang="en-US">
                <a:latin typeface="Arial" pitchFamily="34" charset="0"/>
                <a:hlinkClick r:id="rId7" action="ppaction://hlinkfile"/>
              </a:rPr>
              <a:t>expert</a:t>
            </a:r>
            <a:r>
              <a:rPr lang="en-US">
                <a:latin typeface="Arial" pitchFamily="34" charset="0"/>
              </a:rPr>
              <a:t> </a:t>
            </a:r>
            <a:r>
              <a:rPr lang="en-US">
                <a:latin typeface="Arial" pitchFamily="34" charset="0"/>
                <a:hlinkClick r:id="rId8" action="ppaction://hlinkfile"/>
              </a:rPr>
              <a:t>analysis</a:t>
            </a:r>
            <a:r>
              <a:rPr lang="en-US">
                <a:latin typeface="Arial" pitchFamily="34" charset="0"/>
              </a:rPr>
              <a:t>. It is usually </a:t>
            </a:r>
            <a:r>
              <a:rPr lang="en-US">
                <a:latin typeface="Arial" pitchFamily="34" charset="0"/>
                <a:hlinkClick r:id="rId5" action="ppaction://hlinkfile"/>
              </a:rPr>
              <a:t>base</a:t>
            </a:r>
            <a:r>
              <a:rPr lang="en-US">
                <a:latin typeface="Arial" pitchFamily="34" charset="0"/>
              </a:rPr>
              <a:t>d on top level </a:t>
            </a:r>
            <a:r>
              <a:rPr lang="en-US">
                <a:latin typeface="Arial" pitchFamily="34" charset="0"/>
                <a:hlinkClick r:id="rId9" action="ppaction://hlinkfile"/>
              </a:rPr>
              <a:t>requirements</a:t>
            </a:r>
            <a:r>
              <a:rPr lang="en-US">
                <a:latin typeface="Arial" pitchFamily="34" charset="0"/>
              </a:rPr>
              <a:t> or </a:t>
            </a:r>
            <a:r>
              <a:rPr lang="en-US">
                <a:latin typeface="Arial" pitchFamily="34" charset="0"/>
                <a:hlinkClick r:id="rId10" action="ppaction://hlinkfile"/>
              </a:rPr>
              <a:t>specification</a:t>
            </a:r>
            <a:r>
              <a:rPr lang="en-US">
                <a:latin typeface="Arial" pitchFamily="34" charset="0"/>
              </a:rPr>
              <a:t>s, and an overall prediction of </a:t>
            </a:r>
            <a:r>
              <a:rPr lang="en-US">
                <a:latin typeface="Arial" pitchFamily="34" charset="0"/>
                <a:hlinkClick r:id="rId11" action="ppaction://hlinkfile"/>
              </a:rPr>
              <a:t>work</a:t>
            </a:r>
            <a:r>
              <a:rPr lang="en-US">
                <a:latin typeface="Arial" pitchFamily="34" charset="0"/>
              </a:rPr>
              <a:t> to be done to satisfy the </a:t>
            </a:r>
            <a:r>
              <a:rPr lang="en-US">
                <a:latin typeface="Arial" pitchFamily="34" charset="0"/>
                <a:hlinkClick r:id="rId9" action="ppaction://hlinkfile"/>
              </a:rPr>
              <a:t>requirements</a:t>
            </a:r>
            <a:r>
              <a:rPr lang="en-US">
                <a:latin typeface="Arial" pitchFamily="34" charset="0"/>
              </a:rPr>
              <a:t>. The </a:t>
            </a:r>
            <a:r>
              <a:rPr lang="en-US">
                <a:latin typeface="Arial" pitchFamily="34" charset="0"/>
                <a:hlinkClick r:id="" action="ppaction://hlinkfile"/>
              </a:rPr>
              <a:t>ROM</a:t>
            </a:r>
            <a:r>
              <a:rPr lang="en-US">
                <a:latin typeface="Arial" pitchFamily="34" charset="0"/>
              </a:rPr>
              <a:t> is usually used for </a:t>
            </a:r>
            <a:r>
              <a:rPr lang="en-US">
                <a:latin typeface="Arial" pitchFamily="34" charset="0"/>
                <a:hlinkClick r:id="rId12" action="ppaction://hlinkfile"/>
              </a:rPr>
              <a:t>financial</a:t>
            </a:r>
            <a:r>
              <a:rPr lang="en-US">
                <a:latin typeface="Arial" pitchFamily="34" charset="0"/>
              </a:rPr>
              <a:t> </a:t>
            </a:r>
            <a:r>
              <a:rPr lang="en-US">
                <a:latin typeface="Arial" pitchFamily="34" charset="0"/>
                <a:hlinkClick r:id="rId13" action="ppaction://hlinkfile"/>
              </a:rPr>
              <a:t>planning</a:t>
            </a:r>
            <a:r>
              <a:rPr lang="en-US">
                <a:latin typeface="Arial" pitchFamily="34" charset="0"/>
              </a:rPr>
              <a:t> </a:t>
            </a:r>
            <a:r>
              <a:rPr lang="en-US">
                <a:latin typeface="Arial" pitchFamily="34" charset="0"/>
                <a:hlinkClick r:id="rId14" action="ppaction://hlinkfile"/>
              </a:rPr>
              <a:t>purpose</a:t>
            </a:r>
            <a:r>
              <a:rPr lang="en-US">
                <a:latin typeface="Arial" pitchFamily="34" charset="0"/>
              </a:rPr>
              <a:t>s only. </a:t>
            </a:r>
          </a:p>
        </p:txBody>
      </p:sp>
      <p:sp>
        <p:nvSpPr>
          <p:cNvPr id="267268" name="Slide Number Placeholder 3"/>
          <p:cNvSpPr>
            <a:spLocks noGrp="1"/>
          </p:cNvSpPr>
          <p:nvPr>
            <p:ph type="sldNum" sz="quarter" idx="5"/>
          </p:nvPr>
        </p:nvSpPr>
        <p:spPr>
          <a:noFill/>
        </p:spPr>
        <p:txBody>
          <a:bodyPr/>
          <a:lstStyle/>
          <a:p>
            <a:fld id="{A9FD525F-46F7-41A7-A974-D2B11091A6B3}" type="slidenum">
              <a:rPr lang="en-US" smtClean="0">
                <a:latin typeface="Arial" pitchFamily="34" charset="0"/>
              </a:rPr>
              <a:pPr/>
              <a:t>24</a:t>
            </a:fld>
            <a:endParaRPr lang="en-US">
              <a:latin typeface="Arial" pitchFamily="34" charset="0"/>
            </a:endParaRPr>
          </a:p>
        </p:txBody>
      </p:sp>
    </p:spTree>
    <p:extLst>
      <p:ext uri="{BB962C8B-B14F-4D97-AF65-F5344CB8AC3E}">
        <p14:creationId xmlns:p14="http://schemas.microsoft.com/office/powerpoint/2010/main" val="34397460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8530" name="Rectangle 5"/>
          <p:cNvSpPr>
            <a:spLocks noGrp="1" noChangeArrowheads="1"/>
          </p:cNvSpPr>
          <p:nvPr>
            <p:ph type="sldNum" sz="quarter" idx="5"/>
          </p:nvPr>
        </p:nvSpPr>
        <p:spPr>
          <a:noFill/>
        </p:spPr>
        <p:txBody>
          <a:bodyPr/>
          <a:lstStyle/>
          <a:p>
            <a:fld id="{94A4B3C3-1B69-4D0F-99EC-F3AB128C1061}" type="slidenum">
              <a:rPr lang="en-US" smtClean="0">
                <a:latin typeface="Arial" pitchFamily="34" charset="0"/>
              </a:rPr>
              <a:pPr/>
              <a:t>25</a:t>
            </a:fld>
            <a:endParaRPr lang="en-US">
              <a:latin typeface="Arial" pitchFamily="34" charset="0"/>
            </a:endParaRPr>
          </a:p>
        </p:txBody>
      </p:sp>
      <p:sp>
        <p:nvSpPr>
          <p:cNvPr id="278531" name="Rectangle 2"/>
          <p:cNvSpPr>
            <a:spLocks noGrp="1" noRot="1" noChangeAspect="1" noChangeArrowheads="1" noTextEdit="1"/>
          </p:cNvSpPr>
          <p:nvPr>
            <p:ph type="sldImg"/>
          </p:nvPr>
        </p:nvSpPr>
        <p:spPr>
          <a:ln/>
        </p:spPr>
      </p:sp>
      <p:sp>
        <p:nvSpPr>
          <p:cNvPr id="278532" name="Rectangle 3"/>
          <p:cNvSpPr>
            <a:spLocks noGrp="1" noChangeArrowheads="1"/>
          </p:cNvSpPr>
          <p:nvPr>
            <p:ph type="body" idx="1"/>
          </p:nvPr>
        </p:nvSpPr>
        <p:spPr>
          <a:noFill/>
          <a:ln/>
        </p:spPr>
        <p:txBody>
          <a:bodyPr/>
          <a:lstStyle/>
          <a:p>
            <a:pPr marL="229372" lvl="2" eaLnBrk="1" hangingPunct="1">
              <a:spcBef>
                <a:spcPct val="0"/>
              </a:spcBef>
            </a:pPr>
            <a:r>
              <a:rPr lang="en-US" dirty="0">
                <a:latin typeface="Arial" pitchFamily="34" charset="0"/>
              </a:rPr>
              <a:t>1.</a:t>
            </a:r>
            <a:r>
              <a:rPr lang="en-GB" dirty="0">
                <a:latin typeface="Arial" pitchFamily="34" charset="0"/>
              </a:rPr>
              <a:t>Algorithmic cost </a:t>
            </a:r>
            <a:r>
              <a:rPr lang="en-GB" dirty="0" err="1">
                <a:latin typeface="Arial" pitchFamily="34" charset="0"/>
              </a:rPr>
              <a:t>modeling</a:t>
            </a:r>
            <a:r>
              <a:rPr lang="en-GB" dirty="0">
                <a:latin typeface="Arial" pitchFamily="34" charset="0"/>
              </a:rPr>
              <a:t> --  model based on historical cost information – relates some software metric (</a:t>
            </a:r>
            <a:r>
              <a:rPr lang="en-GB" dirty="0" err="1">
                <a:latin typeface="Arial" pitchFamily="34" charset="0"/>
              </a:rPr>
              <a:t>eg</a:t>
            </a:r>
            <a:r>
              <a:rPr lang="en-GB" dirty="0">
                <a:latin typeface="Arial" pitchFamily="34" charset="0"/>
              </a:rPr>
              <a:t>. L.O.C.) to project cost; model predicts effort required</a:t>
            </a:r>
          </a:p>
          <a:p>
            <a:pPr marL="114687" lvl="1" eaLnBrk="1" hangingPunct="1">
              <a:spcBef>
                <a:spcPct val="0"/>
              </a:spcBef>
              <a:buFontTx/>
              <a:buChar char="•"/>
            </a:pPr>
            <a:r>
              <a:rPr lang="en-GB" dirty="0">
                <a:latin typeface="Arial" pitchFamily="34" charset="0"/>
              </a:rPr>
              <a:t>Halstead’s Software Science </a:t>
            </a:r>
          </a:p>
          <a:p>
            <a:pPr marL="458745" lvl="3" eaLnBrk="1" hangingPunct="1">
              <a:spcBef>
                <a:spcPct val="0"/>
              </a:spcBef>
              <a:buFont typeface="Symbol" pitchFamily="18" charset="2"/>
              <a:buChar char="·"/>
            </a:pPr>
            <a:r>
              <a:rPr lang="en-GB" dirty="0">
                <a:latin typeface="Arial" pitchFamily="34" charset="0"/>
              </a:rPr>
              <a:t>Counted # operators &amp; operands / module – gives project complexity</a:t>
            </a:r>
          </a:p>
          <a:p>
            <a:pPr marL="458745" lvl="3" eaLnBrk="1" hangingPunct="1">
              <a:spcBef>
                <a:spcPct val="0"/>
              </a:spcBef>
              <a:buFont typeface="Symbol" pitchFamily="18" charset="2"/>
              <a:buChar char="·"/>
            </a:pPr>
            <a:r>
              <a:rPr lang="en-GB" dirty="0">
                <a:latin typeface="Arial" pitchFamily="34" charset="0"/>
              </a:rPr>
              <a:t>Counted # “mental discriminations” required to understand project to estimate effort required</a:t>
            </a:r>
          </a:p>
          <a:p>
            <a:pPr marL="114687" lvl="1" eaLnBrk="1" hangingPunct="1">
              <a:spcBef>
                <a:spcPct val="0"/>
              </a:spcBef>
              <a:buFontTx/>
              <a:buChar char="•"/>
            </a:pPr>
            <a:r>
              <a:rPr lang="en-GB" dirty="0">
                <a:latin typeface="Arial" pitchFamily="34" charset="0"/>
              </a:rPr>
              <a:t>COCOMO – Constructive Cost Model (Boehm)</a:t>
            </a:r>
          </a:p>
          <a:p>
            <a:pPr marL="229372" lvl="2" eaLnBrk="1" hangingPunct="1">
              <a:spcBef>
                <a:spcPct val="0"/>
              </a:spcBef>
              <a:buFont typeface="Symbol" pitchFamily="18" charset="2"/>
              <a:buChar char="·"/>
            </a:pPr>
            <a:r>
              <a:rPr lang="en-GB" dirty="0">
                <a:latin typeface="Arial" pitchFamily="34" charset="0"/>
              </a:rPr>
              <a:t>Considered differences in types of projects</a:t>
            </a:r>
          </a:p>
          <a:p>
            <a:pPr marL="229372" lvl="2" eaLnBrk="1" hangingPunct="1">
              <a:spcBef>
                <a:spcPct val="0"/>
              </a:spcBef>
              <a:buFont typeface="Symbol" pitchFamily="18" charset="2"/>
              <a:buChar char="·"/>
            </a:pPr>
            <a:r>
              <a:rPr lang="en-GB" dirty="0">
                <a:latin typeface="Arial" pitchFamily="34" charset="0"/>
              </a:rPr>
              <a:t>Modified values by 15 different factors including_</a:t>
            </a:r>
          </a:p>
          <a:p>
            <a:pPr marL="229372" lvl="2" eaLnBrk="1" hangingPunct="1">
              <a:spcBef>
                <a:spcPct val="0"/>
              </a:spcBef>
              <a:buFont typeface="Symbol" pitchFamily="18" charset="2"/>
              <a:buChar char="·"/>
            </a:pPr>
            <a:r>
              <a:rPr lang="en-GB" dirty="0">
                <a:latin typeface="Arial" pitchFamily="34" charset="0"/>
              </a:rPr>
              <a:t>Programmer skill</a:t>
            </a:r>
          </a:p>
          <a:p>
            <a:pPr marL="229372" lvl="2" eaLnBrk="1" hangingPunct="1">
              <a:spcBef>
                <a:spcPct val="0"/>
              </a:spcBef>
              <a:buFont typeface="Symbol" pitchFamily="18" charset="2"/>
              <a:buChar char="·"/>
            </a:pPr>
            <a:r>
              <a:rPr lang="en-GB" dirty="0">
                <a:latin typeface="Arial" pitchFamily="34" charset="0"/>
              </a:rPr>
              <a:t>Project attributes</a:t>
            </a:r>
          </a:p>
          <a:p>
            <a:pPr marL="229372" lvl="2" eaLnBrk="1" hangingPunct="1">
              <a:spcBef>
                <a:spcPct val="0"/>
              </a:spcBef>
              <a:buFont typeface="Symbol" pitchFamily="18" charset="2"/>
              <a:buChar char="·"/>
            </a:pPr>
            <a:r>
              <a:rPr lang="en-GB" dirty="0">
                <a:latin typeface="Arial" pitchFamily="34" charset="0"/>
              </a:rPr>
              <a:t>Computer attributes</a:t>
            </a:r>
          </a:p>
          <a:p>
            <a:pPr marL="229372" lvl="2" eaLnBrk="1" hangingPunct="1">
              <a:spcBef>
                <a:spcPct val="0"/>
              </a:spcBef>
              <a:buFont typeface="Symbol" pitchFamily="18" charset="2"/>
              <a:buChar char="·"/>
            </a:pPr>
            <a:r>
              <a:rPr lang="en-GB" dirty="0">
                <a:latin typeface="Arial" pitchFamily="34" charset="0"/>
              </a:rPr>
              <a:t>Product attributes</a:t>
            </a:r>
          </a:p>
          <a:p>
            <a:pPr marL="114687" lvl="1" eaLnBrk="1" hangingPunct="1">
              <a:spcBef>
                <a:spcPct val="0"/>
              </a:spcBef>
              <a:buFontTx/>
              <a:buChar char="•"/>
            </a:pPr>
            <a:r>
              <a:rPr lang="en-GB" dirty="0">
                <a:latin typeface="Arial" pitchFamily="34" charset="0"/>
              </a:rPr>
              <a:t>Albrecht’s Function Points – relies on functionality of software based on requirements (not code size)</a:t>
            </a:r>
          </a:p>
          <a:p>
            <a:pPr marL="229372" lvl="2" eaLnBrk="1" hangingPunct="1">
              <a:spcBef>
                <a:spcPct val="0"/>
              </a:spcBef>
              <a:buFont typeface="Symbol" pitchFamily="18" charset="2"/>
              <a:buChar char="·"/>
            </a:pPr>
            <a:r>
              <a:rPr lang="en-GB" dirty="0">
                <a:latin typeface="Arial" pitchFamily="34" charset="0"/>
              </a:rPr>
              <a:t>Domain information; I/O, complexity</a:t>
            </a:r>
          </a:p>
          <a:p>
            <a:pPr marL="229372" lvl="2" eaLnBrk="1" hangingPunct="1">
              <a:spcBef>
                <a:spcPct val="0"/>
              </a:spcBef>
              <a:buFont typeface="Symbol" pitchFamily="18" charset="2"/>
              <a:buChar char="·"/>
            </a:pPr>
            <a:endParaRPr lang="en-US" dirty="0">
              <a:latin typeface="Arial" pitchFamily="34" charset="0"/>
            </a:endParaRPr>
          </a:p>
        </p:txBody>
      </p:sp>
    </p:spTree>
    <p:extLst>
      <p:ext uri="{BB962C8B-B14F-4D97-AF65-F5344CB8AC3E}">
        <p14:creationId xmlns:p14="http://schemas.microsoft.com/office/powerpoint/2010/main" val="2091342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578" name="Rectangle 5"/>
          <p:cNvSpPr>
            <a:spLocks noGrp="1" noChangeArrowheads="1"/>
          </p:cNvSpPr>
          <p:nvPr>
            <p:ph type="sldNum" sz="quarter" idx="5"/>
          </p:nvPr>
        </p:nvSpPr>
        <p:spPr>
          <a:noFill/>
        </p:spPr>
        <p:txBody>
          <a:bodyPr/>
          <a:lstStyle/>
          <a:p>
            <a:fld id="{778FF953-24B2-40A2-A05E-D9035EB1D3B2}" type="slidenum">
              <a:rPr lang="en-US" smtClean="0">
                <a:latin typeface="Arial" pitchFamily="34" charset="0"/>
              </a:rPr>
              <a:pPr/>
              <a:t>26</a:t>
            </a:fld>
            <a:endParaRPr lang="en-US">
              <a:latin typeface="Arial" pitchFamily="34" charset="0"/>
            </a:endParaRPr>
          </a:p>
        </p:txBody>
      </p:sp>
      <p:sp>
        <p:nvSpPr>
          <p:cNvPr id="280579" name="Rectangle 2"/>
          <p:cNvSpPr>
            <a:spLocks noGrp="1" noRot="1" noChangeAspect="1" noChangeArrowheads="1" noTextEdit="1"/>
          </p:cNvSpPr>
          <p:nvPr>
            <p:ph type="sldImg"/>
          </p:nvPr>
        </p:nvSpPr>
        <p:spPr>
          <a:ln/>
        </p:spPr>
      </p:sp>
      <p:sp>
        <p:nvSpPr>
          <p:cNvPr id="280580" name="Rectangle 3"/>
          <p:cNvSpPr>
            <a:spLocks noGrp="1" noChangeArrowheads="1"/>
          </p:cNvSpPr>
          <p:nvPr>
            <p:ph type="body" idx="1"/>
          </p:nvPr>
        </p:nvSpPr>
        <p:spPr>
          <a:noFill/>
          <a:ln/>
        </p:spPr>
        <p:txBody>
          <a:bodyPr/>
          <a:lstStyle/>
          <a:p>
            <a:pPr eaLnBrk="1" hangingPunct="1">
              <a:spcBef>
                <a:spcPct val="0"/>
              </a:spcBef>
            </a:pPr>
            <a:r>
              <a:rPr lang="en-GB" dirty="0">
                <a:latin typeface="Arial" pitchFamily="34" charset="0"/>
              </a:rPr>
              <a:t>The abbreviation NCLOC is used to represent a non-commented source line of code. NCLOC is also sometimes referred to as effective lines of code (ELOC). NCLOC is therefore a measure of the uncommented length.</a:t>
            </a:r>
          </a:p>
          <a:p>
            <a:pPr eaLnBrk="1" hangingPunct="1">
              <a:spcBef>
                <a:spcPct val="0"/>
              </a:spcBef>
            </a:pPr>
            <a:r>
              <a:rPr lang="en-GB" dirty="0">
                <a:latin typeface="Arial" pitchFamily="34" charset="0"/>
              </a:rPr>
              <a:t>The commented length is also a valid measure, depending on whether or not line documentation is considered to be a part of programming effort. The abbreviation CLOC is used to represent a commented source line of code (Fenton, 1997).</a:t>
            </a:r>
          </a:p>
          <a:p>
            <a:pPr eaLnBrk="1" hangingPunct="1">
              <a:spcBef>
                <a:spcPct val="0"/>
              </a:spcBef>
            </a:pPr>
            <a:endParaRPr lang="en-GB" dirty="0">
              <a:latin typeface="Arial" pitchFamily="34" charset="0"/>
            </a:endParaRPr>
          </a:p>
          <a:p>
            <a:pPr eaLnBrk="1" hangingPunct="1">
              <a:spcBef>
                <a:spcPct val="0"/>
              </a:spcBef>
            </a:pPr>
            <a:r>
              <a:rPr lang="en-GB" dirty="0">
                <a:latin typeface="Arial" pitchFamily="34" charset="0"/>
              </a:rPr>
              <a:t>Counts are made for the following categories (Fenton, 1997):</a:t>
            </a:r>
          </a:p>
          <a:p>
            <a:pPr eaLnBrk="1" hangingPunct="1">
              <a:spcBef>
                <a:spcPct val="0"/>
              </a:spcBef>
            </a:pPr>
            <a:r>
              <a:rPr lang="en-GB" i="1" dirty="0">
                <a:latin typeface="Arial" pitchFamily="34" charset="0"/>
              </a:rPr>
              <a:t>External inputs</a:t>
            </a:r>
            <a:r>
              <a:rPr lang="en-GB" dirty="0">
                <a:latin typeface="Arial" pitchFamily="34" charset="0"/>
              </a:rPr>
              <a:t> – those items provided by the user that describe distinct application-oriented data (such as file names and menu selections) </a:t>
            </a:r>
          </a:p>
          <a:p>
            <a:pPr eaLnBrk="1" hangingPunct="1">
              <a:spcBef>
                <a:spcPct val="0"/>
              </a:spcBef>
            </a:pPr>
            <a:r>
              <a:rPr lang="en-GB" i="1" dirty="0">
                <a:latin typeface="Arial" pitchFamily="34" charset="0"/>
              </a:rPr>
              <a:t>External outputs</a:t>
            </a:r>
            <a:r>
              <a:rPr lang="en-GB" dirty="0">
                <a:latin typeface="Arial" pitchFamily="34" charset="0"/>
              </a:rPr>
              <a:t> – those items provided to the user that generate distinct application-oriented data (such as reports and messages, rather than the individual components of these) </a:t>
            </a:r>
          </a:p>
          <a:p>
            <a:pPr eaLnBrk="1" hangingPunct="1">
              <a:spcBef>
                <a:spcPct val="0"/>
              </a:spcBef>
            </a:pPr>
            <a:r>
              <a:rPr lang="en-GB" i="1" dirty="0">
                <a:latin typeface="Arial" pitchFamily="34" charset="0"/>
              </a:rPr>
              <a:t>External inquiries</a:t>
            </a:r>
            <a:r>
              <a:rPr lang="en-GB" dirty="0">
                <a:latin typeface="Arial" pitchFamily="34" charset="0"/>
              </a:rPr>
              <a:t> – interactive inputs requiring a response </a:t>
            </a:r>
          </a:p>
          <a:p>
            <a:pPr eaLnBrk="1" hangingPunct="1">
              <a:spcBef>
                <a:spcPct val="0"/>
              </a:spcBef>
            </a:pPr>
            <a:r>
              <a:rPr lang="en-GB" i="1" dirty="0">
                <a:latin typeface="Arial" pitchFamily="34" charset="0"/>
              </a:rPr>
              <a:t>External files</a:t>
            </a:r>
            <a:r>
              <a:rPr lang="en-GB" dirty="0">
                <a:latin typeface="Arial" pitchFamily="34" charset="0"/>
              </a:rPr>
              <a:t> – machine-readable interfaces to other systems </a:t>
            </a:r>
          </a:p>
          <a:p>
            <a:pPr eaLnBrk="1" hangingPunct="1">
              <a:spcBef>
                <a:spcPct val="0"/>
              </a:spcBef>
            </a:pPr>
            <a:r>
              <a:rPr lang="en-GB" i="1" dirty="0">
                <a:latin typeface="Arial" pitchFamily="34" charset="0"/>
              </a:rPr>
              <a:t>Internal files</a:t>
            </a:r>
            <a:r>
              <a:rPr lang="en-GB" dirty="0">
                <a:latin typeface="Arial" pitchFamily="34" charset="0"/>
              </a:rPr>
              <a:t> – logical master files in the system </a:t>
            </a:r>
          </a:p>
          <a:p>
            <a:pPr eaLnBrk="1" hangingPunct="1">
              <a:spcBef>
                <a:spcPct val="0"/>
              </a:spcBef>
            </a:pPr>
            <a:endParaRPr lang="en-US" dirty="0">
              <a:latin typeface="Arial" pitchFamily="34" charset="0"/>
            </a:endParaRPr>
          </a:p>
        </p:txBody>
      </p:sp>
    </p:spTree>
    <p:extLst>
      <p:ext uri="{BB962C8B-B14F-4D97-AF65-F5344CB8AC3E}">
        <p14:creationId xmlns:p14="http://schemas.microsoft.com/office/powerpoint/2010/main" val="30541961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4</a:t>
            </a:r>
            <a:r>
              <a:rPr lang="en-US" baseline="30000" dirty="0" smtClean="0"/>
              <a:t>th</a:t>
            </a:r>
            <a:r>
              <a:rPr lang="en-US" dirty="0" smtClean="0"/>
              <a:t> Generation</a:t>
            </a:r>
            <a:r>
              <a:rPr lang="en-US" baseline="0" dirty="0" smtClean="0"/>
              <a:t> Language=4GL</a:t>
            </a:r>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37</a:t>
            </a:fld>
            <a:endParaRPr lang="en-US"/>
          </a:p>
        </p:txBody>
      </p:sp>
    </p:spTree>
    <p:extLst>
      <p:ext uri="{BB962C8B-B14F-4D97-AF65-F5344CB8AC3E}">
        <p14:creationId xmlns:p14="http://schemas.microsoft.com/office/powerpoint/2010/main" val="42483427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9554" name="Rectangle 5"/>
          <p:cNvSpPr>
            <a:spLocks noGrp="1" noChangeArrowheads="1"/>
          </p:cNvSpPr>
          <p:nvPr>
            <p:ph type="sldNum" sz="quarter" idx="5"/>
          </p:nvPr>
        </p:nvSpPr>
        <p:spPr>
          <a:noFill/>
        </p:spPr>
        <p:txBody>
          <a:bodyPr/>
          <a:lstStyle/>
          <a:p>
            <a:fld id="{09CC8808-0011-4B48-A4A8-7E39E8B91314}" type="slidenum">
              <a:rPr lang="en-US" smtClean="0">
                <a:latin typeface="Arial" pitchFamily="34" charset="0"/>
              </a:rPr>
              <a:pPr/>
              <a:t>41</a:t>
            </a:fld>
            <a:endParaRPr lang="en-US">
              <a:latin typeface="Arial" pitchFamily="34" charset="0"/>
            </a:endParaRPr>
          </a:p>
        </p:txBody>
      </p:sp>
      <p:sp>
        <p:nvSpPr>
          <p:cNvPr id="279555" name="Rectangle 2"/>
          <p:cNvSpPr>
            <a:spLocks noGrp="1" noRot="1" noChangeAspect="1" noChangeArrowheads="1" noTextEdit="1"/>
          </p:cNvSpPr>
          <p:nvPr>
            <p:ph type="sldImg"/>
          </p:nvPr>
        </p:nvSpPr>
        <p:spPr>
          <a:ln/>
        </p:spPr>
      </p:sp>
      <p:sp>
        <p:nvSpPr>
          <p:cNvPr id="279556" name="Rectangle 3"/>
          <p:cNvSpPr>
            <a:spLocks noGrp="1" noChangeArrowheads="1"/>
          </p:cNvSpPr>
          <p:nvPr>
            <p:ph type="body" idx="1"/>
          </p:nvPr>
        </p:nvSpPr>
        <p:spPr>
          <a:noFill/>
          <a:ln/>
        </p:spPr>
        <p:txBody>
          <a:bodyPr/>
          <a:lstStyle/>
          <a:p>
            <a:pPr eaLnBrk="1" hangingPunct="1">
              <a:spcBef>
                <a:spcPct val="0"/>
              </a:spcBef>
            </a:pPr>
            <a:r>
              <a:rPr lang="en-GB">
                <a:latin typeface="Arial" pitchFamily="34" charset="0"/>
              </a:rPr>
              <a:t>Software cost estimation is the process of predicting the amount of effort required to build a software system. </a:t>
            </a:r>
          </a:p>
          <a:p>
            <a:pPr eaLnBrk="1" hangingPunct="1">
              <a:spcBef>
                <a:spcPct val="0"/>
              </a:spcBef>
            </a:pPr>
            <a:r>
              <a:rPr lang="en-GB">
                <a:latin typeface="Arial" pitchFamily="34" charset="0"/>
              </a:rPr>
              <a:t>Models provide one or more mathematical algorithms that compute cost as a function of a number of variables. </a:t>
            </a:r>
          </a:p>
          <a:p>
            <a:pPr eaLnBrk="1" hangingPunct="1">
              <a:spcBef>
                <a:spcPct val="0"/>
              </a:spcBef>
            </a:pPr>
            <a:r>
              <a:rPr lang="en-GB">
                <a:latin typeface="Arial" pitchFamily="34" charset="0"/>
              </a:rPr>
              <a:t>Size is a primary cost factor in most models and can be measuring using lines of codes or function points. </a:t>
            </a:r>
          </a:p>
          <a:p>
            <a:pPr eaLnBrk="1" hangingPunct="1">
              <a:spcBef>
                <a:spcPct val="0"/>
              </a:spcBef>
            </a:pPr>
            <a:r>
              <a:rPr lang="en-GB">
                <a:latin typeface="Arial" pitchFamily="34" charset="0"/>
              </a:rPr>
              <a:t>Models used to estimate cost can be categorized as either cost models or constraint models. </a:t>
            </a:r>
          </a:p>
          <a:p>
            <a:pPr eaLnBrk="1" hangingPunct="1">
              <a:spcBef>
                <a:spcPct val="0"/>
              </a:spcBef>
            </a:pPr>
            <a:r>
              <a:rPr lang="en-GB">
                <a:latin typeface="Arial" pitchFamily="34" charset="0"/>
              </a:rPr>
              <a:t>COCOMO is an example of a cost model and SLIM is an example of a constraint model. </a:t>
            </a:r>
          </a:p>
          <a:p>
            <a:pPr eaLnBrk="1" hangingPunct="1">
              <a:spcBef>
                <a:spcPct val="0"/>
              </a:spcBef>
            </a:pPr>
            <a:r>
              <a:rPr lang="en-GB">
                <a:latin typeface="Arial" pitchFamily="34" charset="0"/>
              </a:rPr>
              <a:t>Although criteria for evaluating model have been suggested, there are some fundamental problems with existing models.</a:t>
            </a:r>
          </a:p>
          <a:p>
            <a:pPr eaLnBrk="1" hangingPunct="1">
              <a:spcBef>
                <a:spcPct val="0"/>
              </a:spcBef>
            </a:pPr>
            <a:r>
              <a:rPr lang="en-GB">
                <a:latin typeface="Arial" pitchFamily="34" charset="0"/>
              </a:rPr>
              <a:t> Many models are available as automated tools.</a:t>
            </a:r>
          </a:p>
          <a:p>
            <a:pPr eaLnBrk="1" hangingPunct="1">
              <a:spcBef>
                <a:spcPct val="0"/>
              </a:spcBef>
            </a:pPr>
            <a:endParaRPr lang="en-US">
              <a:latin typeface="Arial" pitchFamily="34" charset="0"/>
            </a:endParaRPr>
          </a:p>
        </p:txBody>
      </p:sp>
    </p:spTree>
    <p:extLst>
      <p:ext uri="{BB962C8B-B14F-4D97-AF65-F5344CB8AC3E}">
        <p14:creationId xmlns:p14="http://schemas.microsoft.com/office/powerpoint/2010/main" val="30598782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45</a:t>
            </a:fld>
            <a:endParaRPr lang="en-US"/>
          </a:p>
        </p:txBody>
      </p:sp>
    </p:spTree>
    <p:extLst>
      <p:ext uri="{BB962C8B-B14F-4D97-AF65-F5344CB8AC3E}">
        <p14:creationId xmlns:p14="http://schemas.microsoft.com/office/powerpoint/2010/main" val="22791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90" name="Slide Image Placeholder 1"/>
          <p:cNvSpPr>
            <a:spLocks noGrp="1" noRot="1" noChangeAspect="1" noTextEdit="1"/>
          </p:cNvSpPr>
          <p:nvPr>
            <p:ph type="sldImg"/>
          </p:nvPr>
        </p:nvSpPr>
        <p:spPr>
          <a:ln/>
        </p:spPr>
      </p:sp>
      <p:sp>
        <p:nvSpPr>
          <p:cNvPr id="268291" name="Notes Placeholder 2"/>
          <p:cNvSpPr>
            <a:spLocks noGrp="1"/>
          </p:cNvSpPr>
          <p:nvPr>
            <p:ph type="body" idx="1"/>
          </p:nvPr>
        </p:nvSpPr>
        <p:spPr>
          <a:noFill/>
          <a:ln/>
        </p:spPr>
        <p:txBody>
          <a:bodyPr/>
          <a:lstStyle/>
          <a:p>
            <a:pPr eaLnBrk="1" hangingPunct="1">
              <a:spcBef>
                <a:spcPct val="0"/>
              </a:spcBef>
            </a:pPr>
            <a:r>
              <a:rPr lang="en-US">
                <a:latin typeface="Arial" pitchFamily="34" charset="0"/>
              </a:rPr>
              <a:t>PM’s reasons for estimating:</a:t>
            </a:r>
          </a:p>
          <a:p>
            <a:pPr eaLnBrk="1" hangingPunct="1">
              <a:spcBef>
                <a:spcPct val="0"/>
              </a:spcBef>
              <a:buFontTx/>
              <a:buChar char="•"/>
            </a:pPr>
            <a:r>
              <a:rPr lang="en-US">
                <a:latin typeface="Arial" pitchFamily="34" charset="0"/>
              </a:rPr>
              <a:t>Evaluate a project’s probable costs before authorizing implementation</a:t>
            </a:r>
          </a:p>
          <a:p>
            <a:pPr eaLnBrk="1" hangingPunct="1">
              <a:spcBef>
                <a:spcPct val="0"/>
              </a:spcBef>
              <a:buFontTx/>
              <a:buChar char="•"/>
            </a:pPr>
            <a:r>
              <a:rPr lang="en-US">
                <a:latin typeface="Arial" pitchFamily="34" charset="0"/>
              </a:rPr>
              <a:t>Have a basis for tracking &amp; managing project expenditures using activity-based costing or other methods</a:t>
            </a:r>
          </a:p>
          <a:p>
            <a:pPr eaLnBrk="1" hangingPunct="1">
              <a:spcBef>
                <a:spcPct val="0"/>
              </a:spcBef>
              <a:buFontTx/>
              <a:buChar char="•"/>
            </a:pPr>
            <a:r>
              <a:rPr lang="en-US">
                <a:latin typeface="Arial" pitchFamily="34" charset="0"/>
              </a:rPr>
              <a:t>Establish managerial baselines against which to measure expenditures</a:t>
            </a:r>
          </a:p>
          <a:p>
            <a:pPr eaLnBrk="1" hangingPunct="1">
              <a:spcBef>
                <a:spcPct val="0"/>
              </a:spcBef>
              <a:buFontTx/>
              <a:buChar char="•"/>
            </a:pPr>
            <a:r>
              <a:rPr lang="en-US">
                <a:latin typeface="Arial" pitchFamily="34" charset="0"/>
              </a:rPr>
              <a:t>Evaluate routine project decisions with greater accuracy</a:t>
            </a:r>
          </a:p>
          <a:p>
            <a:pPr eaLnBrk="1" hangingPunct="1">
              <a:spcBef>
                <a:spcPct val="0"/>
              </a:spcBef>
              <a:buFontTx/>
              <a:buChar char="•"/>
            </a:pPr>
            <a:r>
              <a:rPr lang="en-US">
                <a:latin typeface="Arial" pitchFamily="34" charset="0"/>
              </a:rPr>
              <a:t>Establish resources required &amp; the resulting schedule</a:t>
            </a:r>
          </a:p>
          <a:p>
            <a:pPr eaLnBrk="1" hangingPunct="1">
              <a:spcBef>
                <a:spcPct val="0"/>
              </a:spcBef>
              <a:buFontTx/>
              <a:buChar char="•"/>
            </a:pPr>
            <a:r>
              <a:rPr lang="en-US">
                <a:latin typeface="Arial" pitchFamily="34" charset="0"/>
              </a:rPr>
              <a:t>Provide fact-based info to support investment analysis</a:t>
            </a:r>
          </a:p>
          <a:p>
            <a:pPr eaLnBrk="1" hangingPunct="1">
              <a:spcBef>
                <a:spcPct val="0"/>
              </a:spcBef>
              <a:buFontTx/>
              <a:buChar char="•"/>
            </a:pPr>
            <a:endParaRPr lang="en-US">
              <a:latin typeface="Arial" pitchFamily="34" charset="0"/>
            </a:endParaRPr>
          </a:p>
          <a:p>
            <a:pPr eaLnBrk="1" hangingPunct="1">
              <a:spcBef>
                <a:spcPct val="0"/>
              </a:spcBef>
            </a:pPr>
            <a:r>
              <a:rPr lang="en-US">
                <a:latin typeface="Arial" pitchFamily="34" charset="0"/>
              </a:rPr>
              <a:t>If project is not affordable, descope or choose cheaper resources.</a:t>
            </a:r>
          </a:p>
          <a:p>
            <a:endParaRPr lang="en-US">
              <a:latin typeface="Arial" pitchFamily="34" charset="0"/>
            </a:endParaRPr>
          </a:p>
        </p:txBody>
      </p:sp>
      <p:sp>
        <p:nvSpPr>
          <p:cNvPr id="268292" name="Slide Number Placeholder 3"/>
          <p:cNvSpPr>
            <a:spLocks noGrp="1"/>
          </p:cNvSpPr>
          <p:nvPr>
            <p:ph type="sldNum" sz="quarter" idx="5"/>
          </p:nvPr>
        </p:nvSpPr>
        <p:spPr>
          <a:noFill/>
        </p:spPr>
        <p:txBody>
          <a:bodyPr/>
          <a:lstStyle/>
          <a:p>
            <a:fld id="{93133B0B-F1EA-4B8A-83B0-89E29EB8D10C}" type="slidenum">
              <a:rPr lang="en-US" smtClean="0">
                <a:latin typeface="Arial" pitchFamily="34" charset="0"/>
              </a:rPr>
              <a:pPr/>
              <a:t>47</a:t>
            </a:fld>
            <a:endParaRPr lang="en-US">
              <a:latin typeface="Arial" pitchFamily="34" charset="0"/>
            </a:endParaRPr>
          </a:p>
        </p:txBody>
      </p:sp>
    </p:spTree>
    <p:extLst>
      <p:ext uri="{BB962C8B-B14F-4D97-AF65-F5344CB8AC3E}">
        <p14:creationId xmlns:p14="http://schemas.microsoft.com/office/powerpoint/2010/main" val="31146289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E288E1D-6BDD-4280-B096-4D15059FE1C4}" type="slidenum">
              <a:rPr lang="en-US" smtClean="0"/>
              <a:t>52</a:t>
            </a:fld>
            <a:endParaRPr lang="en-US"/>
          </a:p>
        </p:txBody>
      </p:sp>
    </p:spTree>
    <p:extLst>
      <p:ext uri="{BB962C8B-B14F-4D97-AF65-F5344CB8AC3E}">
        <p14:creationId xmlns:p14="http://schemas.microsoft.com/office/powerpoint/2010/main" val="20457250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749808" lvl="1" indent="-457200"/>
            <a:r>
              <a:rPr lang="en-US" dirty="0" smtClean="0">
                <a:solidFill>
                  <a:schemeClr val="tx1"/>
                </a:solidFill>
              </a:rPr>
              <a:t>Hybrid, </a:t>
            </a:r>
            <a:r>
              <a:rPr lang="en-US" dirty="0" smtClean="0"/>
              <a:t>can be applied to a total project or to segments,</a:t>
            </a:r>
            <a:r>
              <a:rPr lang="en-US" baseline="0" dirty="0" smtClean="0"/>
              <a:t> </a:t>
            </a:r>
            <a:r>
              <a:rPr lang="en-US" dirty="0" smtClean="0">
                <a:solidFill>
                  <a:schemeClr val="tx1"/>
                </a:solidFill>
              </a:rPr>
              <a:t>Need historical data </a:t>
            </a:r>
          </a:p>
        </p:txBody>
      </p:sp>
      <p:sp>
        <p:nvSpPr>
          <p:cNvPr id="4" name="Slide Number Placeholder 3"/>
          <p:cNvSpPr>
            <a:spLocks noGrp="1"/>
          </p:cNvSpPr>
          <p:nvPr>
            <p:ph type="sldNum" sz="quarter" idx="10"/>
          </p:nvPr>
        </p:nvSpPr>
        <p:spPr/>
        <p:txBody>
          <a:bodyPr/>
          <a:lstStyle/>
          <a:p>
            <a:fld id="{3E288E1D-6BDD-4280-B096-4D15059FE1C4}" type="slidenum">
              <a:rPr lang="en-US" smtClean="0"/>
              <a:t>65</a:t>
            </a:fld>
            <a:endParaRPr lang="en-US"/>
          </a:p>
        </p:txBody>
      </p:sp>
    </p:spTree>
    <p:extLst>
      <p:ext uri="{BB962C8B-B14F-4D97-AF65-F5344CB8AC3E}">
        <p14:creationId xmlns:p14="http://schemas.microsoft.com/office/powerpoint/2010/main" val="34292831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1602" name="Rectangle 5"/>
          <p:cNvSpPr>
            <a:spLocks noGrp="1" noChangeArrowheads="1"/>
          </p:cNvSpPr>
          <p:nvPr>
            <p:ph type="sldNum" sz="quarter" idx="5"/>
          </p:nvPr>
        </p:nvSpPr>
        <p:spPr>
          <a:noFill/>
        </p:spPr>
        <p:txBody>
          <a:bodyPr/>
          <a:lstStyle/>
          <a:p>
            <a:fld id="{C6224B7D-8040-4984-9A11-74F1D7887AED}" type="slidenum">
              <a:rPr lang="en-US" smtClean="0">
                <a:latin typeface="Arial" pitchFamily="34" charset="0"/>
              </a:rPr>
              <a:pPr/>
              <a:t>75</a:t>
            </a:fld>
            <a:endParaRPr lang="en-US">
              <a:latin typeface="Arial" pitchFamily="34" charset="0"/>
            </a:endParaRPr>
          </a:p>
        </p:txBody>
      </p:sp>
      <p:sp>
        <p:nvSpPr>
          <p:cNvPr id="281603" name="Rectangle 2"/>
          <p:cNvSpPr>
            <a:spLocks noChangeArrowheads="1"/>
          </p:cNvSpPr>
          <p:nvPr/>
        </p:nvSpPr>
        <p:spPr bwMode="auto">
          <a:xfrm>
            <a:off x="3961060" y="2"/>
            <a:ext cx="3030162" cy="503993"/>
          </a:xfrm>
          <a:prstGeom prst="rect">
            <a:avLst/>
          </a:prstGeom>
          <a:noFill/>
          <a:ln w="9525">
            <a:noFill/>
            <a:miter lim="800000"/>
            <a:headEnd/>
            <a:tailEnd/>
          </a:ln>
        </p:spPr>
        <p:txBody>
          <a:bodyPr wrap="none" lIns="91749" tIns="45874" rIns="91749" bIns="45874" anchor="ctr"/>
          <a:lstStyle/>
          <a:p>
            <a:endParaRPr lang="en-US">
              <a:latin typeface="Calibri" pitchFamily="34" charset="0"/>
            </a:endParaRPr>
          </a:p>
        </p:txBody>
      </p:sp>
      <p:sp>
        <p:nvSpPr>
          <p:cNvPr id="281604" name="Rectangle 3"/>
          <p:cNvSpPr>
            <a:spLocks noChangeArrowheads="1"/>
          </p:cNvSpPr>
          <p:nvPr/>
        </p:nvSpPr>
        <p:spPr bwMode="auto">
          <a:xfrm>
            <a:off x="3961060" y="9600040"/>
            <a:ext cx="3030162" cy="507446"/>
          </a:xfrm>
          <a:prstGeom prst="rect">
            <a:avLst/>
          </a:prstGeom>
          <a:noFill/>
          <a:ln w="9525">
            <a:noFill/>
            <a:miter lim="800000"/>
            <a:headEnd/>
            <a:tailEnd/>
          </a:ln>
        </p:spPr>
        <p:txBody>
          <a:bodyPr lIns="19248" tIns="0" rIns="19248" bIns="0" anchor="b"/>
          <a:lstStyle/>
          <a:p>
            <a:pPr algn="r" defTabSz="989170"/>
            <a:r>
              <a:rPr lang="en-US" sz="1000" i="1" dirty="0">
                <a:latin typeface="Calibri" pitchFamily="34" charset="0"/>
              </a:rPr>
              <a:t>1</a:t>
            </a:r>
          </a:p>
        </p:txBody>
      </p:sp>
      <p:sp>
        <p:nvSpPr>
          <p:cNvPr id="281605" name="Rectangle 4"/>
          <p:cNvSpPr>
            <a:spLocks noChangeArrowheads="1"/>
          </p:cNvSpPr>
          <p:nvPr/>
        </p:nvSpPr>
        <p:spPr bwMode="auto">
          <a:xfrm>
            <a:off x="1" y="9600040"/>
            <a:ext cx="3028579" cy="507446"/>
          </a:xfrm>
          <a:prstGeom prst="rect">
            <a:avLst/>
          </a:prstGeom>
          <a:noFill/>
          <a:ln w="9525">
            <a:noFill/>
            <a:miter lim="800000"/>
            <a:headEnd/>
            <a:tailEnd/>
          </a:ln>
        </p:spPr>
        <p:txBody>
          <a:bodyPr wrap="none" lIns="91749" tIns="45874" rIns="91749" bIns="45874" anchor="ctr"/>
          <a:lstStyle/>
          <a:p>
            <a:endParaRPr lang="en-US">
              <a:latin typeface="Calibri" pitchFamily="34" charset="0"/>
            </a:endParaRPr>
          </a:p>
        </p:txBody>
      </p:sp>
      <p:sp>
        <p:nvSpPr>
          <p:cNvPr id="281606" name="Rectangle 5"/>
          <p:cNvSpPr>
            <a:spLocks noChangeArrowheads="1"/>
          </p:cNvSpPr>
          <p:nvPr/>
        </p:nvSpPr>
        <p:spPr bwMode="auto">
          <a:xfrm>
            <a:off x="1" y="2"/>
            <a:ext cx="3028579" cy="503993"/>
          </a:xfrm>
          <a:prstGeom prst="rect">
            <a:avLst/>
          </a:prstGeom>
          <a:noFill/>
          <a:ln w="9525">
            <a:noFill/>
            <a:miter lim="800000"/>
            <a:headEnd/>
            <a:tailEnd/>
          </a:ln>
        </p:spPr>
        <p:txBody>
          <a:bodyPr wrap="none" lIns="91749" tIns="45874" rIns="91749" bIns="45874" anchor="ctr"/>
          <a:lstStyle/>
          <a:p>
            <a:endParaRPr lang="en-US">
              <a:latin typeface="Calibri" pitchFamily="34" charset="0"/>
            </a:endParaRPr>
          </a:p>
        </p:txBody>
      </p:sp>
      <p:sp>
        <p:nvSpPr>
          <p:cNvPr id="281607" name="Rectangle 6"/>
          <p:cNvSpPr>
            <a:spLocks noGrp="1" noRot="1" noChangeAspect="1" noChangeArrowheads="1" noTextEdit="1"/>
          </p:cNvSpPr>
          <p:nvPr>
            <p:ph type="sldImg"/>
          </p:nvPr>
        </p:nvSpPr>
        <p:spPr>
          <a:ln cap="flat"/>
        </p:spPr>
      </p:sp>
      <p:sp>
        <p:nvSpPr>
          <p:cNvPr id="281608" name="Rectangle 7"/>
          <p:cNvSpPr>
            <a:spLocks noGrp="1" noChangeArrowheads="1"/>
          </p:cNvSpPr>
          <p:nvPr>
            <p:ph type="body" idx="1"/>
          </p:nvPr>
        </p:nvSpPr>
        <p:spPr>
          <a:noFill/>
          <a:ln/>
        </p:spPr>
        <p:txBody>
          <a:bodyPr/>
          <a:lstStyle/>
          <a:p>
            <a:pPr eaLnBrk="1" hangingPunct="1">
              <a:spcBef>
                <a:spcPct val="0"/>
              </a:spcBef>
            </a:pPr>
            <a:endParaRPr lang="en-US">
              <a:latin typeface="Arial" pitchFamily="34" charset="0"/>
            </a:endParaRPr>
          </a:p>
        </p:txBody>
      </p:sp>
    </p:spTree>
    <p:extLst>
      <p:ext uri="{BB962C8B-B14F-4D97-AF65-F5344CB8AC3E}">
        <p14:creationId xmlns:p14="http://schemas.microsoft.com/office/powerpoint/2010/main" val="38695414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MY" dirty="0"/>
              <a:t>Estimates Provide an Important Signal.  Not estimating means the team will miss an important signal: the variation of the estimates.</a:t>
            </a:r>
          </a:p>
          <a:p>
            <a:r>
              <a:rPr lang="en-MY" dirty="0"/>
              <a:t>When the estimates are far apart it signals that the team understands the problem differently. A developer with a low estimate may know of a library or a tool that can speed things up. A developer with a high estimate may know of a pitfall that others have forgotten. Sometimes a designer may add time for user testing or quality assurance for automated testing.</a:t>
            </a:r>
          </a:p>
          <a:p>
            <a:endParaRPr lang="en-MY" dirty="0"/>
          </a:p>
          <a:p>
            <a:r>
              <a:rPr lang="en-MY" dirty="0"/>
              <a:t>Estimation Allows for Failing Early. Making estimates provides a baseline. It's not possible to know a team is running in to unexpected complication without first establishing what is </a:t>
            </a:r>
            <a:r>
              <a:rPr lang="en-MY"/>
              <a:t>expected. </a:t>
            </a:r>
            <a:endParaRPr lang="en-MY" dirty="0"/>
          </a:p>
          <a:p>
            <a:r>
              <a:rPr lang="en-MY" dirty="0"/>
              <a:t>When those unexpected complications happen, and they will happen, the team can work together to figure out how to adjust. There are a lot of options: adjusting the scope of the features, expanding the budget to buy new tools or services, expanding the team, or expanding the timeline.</a:t>
            </a:r>
          </a:p>
        </p:txBody>
      </p:sp>
      <p:sp>
        <p:nvSpPr>
          <p:cNvPr id="4" name="Slide Number Placeholder 3"/>
          <p:cNvSpPr>
            <a:spLocks noGrp="1"/>
          </p:cNvSpPr>
          <p:nvPr>
            <p:ph type="sldNum" sz="quarter" idx="10"/>
          </p:nvPr>
        </p:nvSpPr>
        <p:spPr/>
        <p:txBody>
          <a:bodyPr/>
          <a:lstStyle/>
          <a:p>
            <a:fld id="{2B6BAC77-CF3C-4CD2-820F-D866FFE668D0}" type="slidenum">
              <a:rPr lang="en-MY" smtClean="0"/>
              <a:pPr/>
              <a:t>76</a:t>
            </a:fld>
            <a:endParaRPr lang="en-MY"/>
          </a:p>
        </p:txBody>
      </p:sp>
    </p:spTree>
    <p:extLst>
      <p:ext uri="{BB962C8B-B14F-4D97-AF65-F5344CB8AC3E}">
        <p14:creationId xmlns:p14="http://schemas.microsoft.com/office/powerpoint/2010/main" val="1567102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822960" y="758952"/>
            <a:ext cx="75438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25038" y="4455621"/>
            <a:ext cx="75438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72C8D21-33F4-4F62-A528-B294B24D4F5B}" type="datetime1">
              <a:rPr lang="en-US" smtClean="0"/>
              <a:t>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3199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3833C76-CF47-4680-A3E7-CE6AC95A9795}" type="datetime1">
              <a:rPr lang="en-US" smtClean="0"/>
              <a:t>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833194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758952"/>
            <a:ext cx="75438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822960" y="4453128"/>
            <a:ext cx="75438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0CDAC62-A1FB-4724-B7C3-C072FC249839}" type="datetime1">
              <a:rPr lang="en-US" smtClean="0"/>
              <a:t>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cxnSp>
        <p:nvCxnSpPr>
          <p:cNvPr id="9" name="Straight Connector 8"/>
          <p:cNvCxnSpPr/>
          <p:nvPr/>
        </p:nvCxnSpPr>
        <p:spPr>
          <a:xfrm>
            <a:off x="905744" y="4343400"/>
            <a:ext cx="740664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0665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22960" y="1845734"/>
            <a:ext cx="370332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63440" y="1845736"/>
            <a:ext cx="370332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7F2AC1D-7C11-485F-B06C-143C72612122}" type="datetime1">
              <a:rPr lang="en-US" smtClean="0"/>
              <a:t>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138090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822960" y="286604"/>
            <a:ext cx="75438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2296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2296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663440" y="1846052"/>
            <a:ext cx="370332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63440" y="2582334"/>
            <a:ext cx="370332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BD6734D-4F47-4E5D-910D-FD829B18F36F}" type="datetime1">
              <a:rPr lang="en-US" smtClean="0"/>
              <a:t>1/10/2024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6134094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1008796"/>
          </a:xfrm>
        </p:spPr>
        <p:txBody>
          <a:bodyPr/>
          <a:lstStyle/>
          <a:p>
            <a:r>
              <a:rPr lang="en-US" dirty="0" smtClean="0"/>
              <a:t>Click to edit Master title style</a:t>
            </a:r>
            <a:endParaRPr lang="en-US" dirty="0"/>
          </a:p>
        </p:txBody>
      </p:sp>
      <p:sp>
        <p:nvSpPr>
          <p:cNvPr id="3" name="Date Placeholder 2"/>
          <p:cNvSpPr>
            <a:spLocks noGrp="1"/>
          </p:cNvSpPr>
          <p:nvPr>
            <p:ph type="dt" sz="half" idx="10"/>
          </p:nvPr>
        </p:nvSpPr>
        <p:spPr/>
        <p:txBody>
          <a:bodyPr/>
          <a:lstStyle/>
          <a:p>
            <a:fld id="{0BECD2A0-0A14-446D-B01B-5160B7BF65AB}" type="datetime1">
              <a:rPr lang="en-US" smtClean="0"/>
              <a:t>1/10/2024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E5CE4F79-B2B3-4E4E-AB5D-F771515B9CEF}" type="slidenum">
              <a:rPr lang="en-US" smtClean="0"/>
              <a:t>‹#›</a:t>
            </a:fld>
            <a:endParaRPr lang="en-US" dirty="0"/>
          </a:p>
        </p:txBody>
      </p:sp>
      <p:sp>
        <p:nvSpPr>
          <p:cNvPr id="6" name="Content Placeholder 2"/>
          <p:cNvSpPr>
            <a:spLocks noGrp="1"/>
          </p:cNvSpPr>
          <p:nvPr>
            <p:ph idx="1"/>
          </p:nvPr>
        </p:nvSpPr>
        <p:spPr>
          <a:xfrm>
            <a:off x="822959" y="1447800"/>
            <a:ext cx="7543801" cy="4800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5194479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5" name="Rectangle 4"/>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4EED40FA-22B4-4FC2-81ED-83A80F1BD438}" type="datetime1">
              <a:rPr lang="en-US" smtClean="0"/>
              <a:t>1/10/2024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1" y="286605"/>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1"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1469166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3" y="0"/>
            <a:ext cx="3038093"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30053" y="0"/>
            <a:ext cx="48006"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594359"/>
            <a:ext cx="24003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3460237" y="731520"/>
            <a:ext cx="5009393"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342900" y="2926080"/>
            <a:ext cx="24003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49134" y="6459786"/>
            <a:ext cx="1963883" cy="365125"/>
          </a:xfrm>
        </p:spPr>
        <p:txBody>
          <a:bodyPr/>
          <a:lstStyle>
            <a:lvl1pPr algn="l">
              <a:defRPr/>
            </a:lvl1pPr>
          </a:lstStyle>
          <a:p>
            <a:fld id="{1B44A0E9-F78A-4B4A-A505-84864F09002A}" type="datetime1">
              <a:rPr lang="en-US" smtClean="0"/>
              <a:t>1/10/2024</a:t>
            </a:fld>
            <a:endParaRPr lang="en-US" dirty="0"/>
          </a:p>
        </p:txBody>
      </p:sp>
      <p:sp>
        <p:nvSpPr>
          <p:cNvPr id="6" name="Footer Placeholder 5"/>
          <p:cNvSpPr>
            <a:spLocks noGrp="1"/>
          </p:cNvSpPr>
          <p:nvPr>
            <p:ph type="ftr" sz="quarter" idx="11"/>
          </p:nvPr>
        </p:nvSpPr>
        <p:spPr>
          <a:xfrm>
            <a:off x="3600450" y="6459786"/>
            <a:ext cx="3486150"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E5CE4F79-B2B3-4E4E-AB5D-F771515B9CEF}" type="slidenum">
              <a:rPr lang="en-US" smtClean="0"/>
              <a:t>‹#›</a:t>
            </a:fld>
            <a:endParaRPr lang="en-US" dirty="0"/>
          </a:p>
        </p:txBody>
      </p:sp>
    </p:spTree>
    <p:extLst>
      <p:ext uri="{BB962C8B-B14F-4D97-AF65-F5344CB8AC3E}">
        <p14:creationId xmlns:p14="http://schemas.microsoft.com/office/powerpoint/2010/main" val="2429528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9141619"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2" y="491507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22960" y="5074920"/>
            <a:ext cx="7589520"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2" y="0"/>
            <a:ext cx="9143989"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22959" y="5907024"/>
            <a:ext cx="758952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4EEDE19-06A6-4BCC-8F08-EB6EDF42B722}" type="datetime1">
              <a:rPr lang="en-US" smtClean="0"/>
              <a:t>1/10/2024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569972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22960" y="286605"/>
            <a:ext cx="7543800" cy="968438"/>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01289" y="1845734"/>
            <a:ext cx="7543801" cy="4023360"/>
          </a:xfrm>
        </p:spPr>
        <p:txBody>
          <a:bodyPr vert="eaVert" lIns="45720" tIns="0" rIns="45720" bIns="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3F30D81-3BAF-49BB-97B5-50376D93473A}" type="datetime1">
              <a:rPr lang="en-US" smtClean="0"/>
              <a:t>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1232047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2382"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2"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6543675" y="414779"/>
            <a:ext cx="1971675" cy="575742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414779"/>
            <a:ext cx="5800725" cy="5757420"/>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FD01703-C989-4A3F-9EAD-84A50E33F0C8}" type="datetime1">
              <a:rPr lang="en-US" smtClean="0"/>
              <a:t>1/10/2024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5CE4F79-B2B3-4E4E-AB5D-F771515B9CEF}" type="slidenum">
              <a:rPr lang="en-US" smtClean="0"/>
              <a:t>‹#›</a:t>
            </a:fld>
            <a:endParaRPr lang="en-US" dirty="0"/>
          </a:p>
        </p:txBody>
      </p:sp>
    </p:spTree>
    <p:extLst>
      <p:ext uri="{BB962C8B-B14F-4D97-AF65-F5344CB8AC3E}">
        <p14:creationId xmlns:p14="http://schemas.microsoft.com/office/powerpoint/2010/main" val="34336904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6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79385929-B823-4728-A2A6-913878A42760}" type="datetime1">
              <a:rPr lang="en-US" smtClean="0"/>
              <a:t>1/10/2024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t>‹#›</a:t>
            </a:fld>
            <a:endParaRPr lang="en-US" dirty="0"/>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lvl1pPr marL="91440" indent="-91440">
              <a:buClrTx/>
              <a:buFont typeface="Arial" panose="020B0604020202020204" pitchFamily="34" charset="0"/>
              <a:buChar char="•"/>
              <a:defRPr/>
            </a:lvl1pPr>
            <a:lvl2pPr marL="384048" indent="-182880">
              <a:buClrTx/>
              <a:buFont typeface="Arial" panose="020B0604020202020204" pitchFamily="34" charset="0"/>
              <a:buChar char="•"/>
              <a:defRPr/>
            </a:lvl2pPr>
            <a:lvl3pPr marL="566928" indent="-182880">
              <a:buClrTx/>
              <a:buFont typeface="Arial" panose="020B0604020202020204" pitchFamily="34" charset="0"/>
              <a:buChar char="•"/>
              <a:defRPr/>
            </a:lvl3pPr>
            <a:lvl4pPr marL="749808" indent="-182880">
              <a:buClrTx/>
              <a:buFont typeface="Arial" panose="020B0604020202020204" pitchFamily="34" charset="0"/>
              <a:buChar char="•"/>
              <a:defRPr/>
            </a:lvl4pPr>
            <a:lvl5pPr marL="932688" indent="-182880">
              <a:buClrTx/>
              <a:buFont typeface="Arial" panose="020B0604020202020204" pitchFamily="34" charset="0"/>
              <a:buChar cha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8077074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MY"/>
          </a:p>
        </p:txBody>
      </p:sp>
      <p:sp>
        <p:nvSpPr>
          <p:cNvPr id="3" name="Date Placeholder 3"/>
          <p:cNvSpPr>
            <a:spLocks noGrp="1"/>
          </p:cNvSpPr>
          <p:nvPr>
            <p:ph type="dt" sz="half" idx="10"/>
          </p:nvPr>
        </p:nvSpPr>
        <p:spPr>
          <a:xfrm>
            <a:off x="471544" y="6173786"/>
            <a:ext cx="2133600" cy="365125"/>
          </a:xfrm>
        </p:spPr>
        <p:txBody>
          <a:bodyPr/>
          <a:lstStyle>
            <a:lvl1pPr>
              <a:defRPr/>
            </a:lvl1pPr>
          </a:lstStyle>
          <a:p>
            <a:pPr>
              <a:defRPr/>
            </a:pPr>
            <a:fld id="{A14EF112-5EEB-43C0-A151-8343D5517A1A}" type="datetime1">
              <a:rPr lang="en-US" smtClean="0">
                <a:solidFill>
                  <a:prstClr val="black">
                    <a:tint val="75000"/>
                  </a:prstClr>
                </a:solidFill>
              </a:rPr>
              <a:t>1/10/2024</a:t>
            </a:fld>
            <a:endParaRPr lang="en-MY">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MY">
              <a:solidFill>
                <a:prstClr val="black">
                  <a:tint val="75000"/>
                </a:prstClr>
              </a:solidFill>
            </a:endParaRPr>
          </a:p>
        </p:txBody>
      </p:sp>
      <p:sp>
        <p:nvSpPr>
          <p:cNvPr id="5" name="Slide Number Placeholder 5"/>
          <p:cNvSpPr>
            <a:spLocks noGrp="1"/>
          </p:cNvSpPr>
          <p:nvPr>
            <p:ph type="sldNum" sz="quarter" idx="12"/>
          </p:nvPr>
        </p:nvSpPr>
        <p:spPr>
          <a:xfrm>
            <a:off x="6553200" y="6173787"/>
            <a:ext cx="2133600" cy="365125"/>
          </a:xfrm>
        </p:spPr>
        <p:txBody>
          <a:bodyPr/>
          <a:lstStyle>
            <a:lvl1pPr>
              <a:defRPr/>
            </a:lvl1pPr>
          </a:lstStyle>
          <a:p>
            <a:pPr>
              <a:defRPr/>
            </a:pPr>
            <a:fld id="{7302620F-2723-4C1D-A0D6-2D78DF04BBE5}" type="slidenum">
              <a:rPr lang="en-MY">
                <a:solidFill>
                  <a:prstClr val="black">
                    <a:tint val="75000"/>
                  </a:prstClr>
                </a:solidFill>
              </a:rPr>
              <a:pPr>
                <a:defRPr/>
              </a:pPr>
              <a:t>‹#›</a:t>
            </a:fld>
            <a:endParaRPr lang="en-MY">
              <a:solidFill>
                <a:prstClr val="black">
                  <a:tint val="75000"/>
                </a:prstClr>
              </a:solidFill>
            </a:endParaRPr>
          </a:p>
        </p:txBody>
      </p:sp>
    </p:spTree>
    <p:extLst>
      <p:ext uri="{BB962C8B-B14F-4D97-AF65-F5344CB8AC3E}">
        <p14:creationId xmlns:p14="http://schemas.microsoft.com/office/powerpoint/2010/main" val="10193539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clipArtAndTx">
  <p:cSld name="Title, Clip Art and Text">
    <p:spTree>
      <p:nvGrpSpPr>
        <p:cNvPr id="1" name=""/>
        <p:cNvGrpSpPr/>
        <p:nvPr/>
      </p:nvGrpSpPr>
      <p:grpSpPr>
        <a:xfrm>
          <a:off x="0" y="0"/>
          <a:ext cx="0" cy="0"/>
          <a:chOff x="0" y="0"/>
          <a:chExt cx="0" cy="0"/>
        </a:xfrm>
      </p:grpSpPr>
      <p:sp>
        <p:nvSpPr>
          <p:cNvPr id="2" name="Title 1"/>
          <p:cNvSpPr>
            <a:spLocks noGrp="1"/>
          </p:cNvSpPr>
          <p:nvPr>
            <p:ph type="title"/>
          </p:nvPr>
        </p:nvSpPr>
        <p:spPr>
          <a:xfrm>
            <a:off x="457347" y="274638"/>
            <a:ext cx="8229307" cy="1143000"/>
          </a:xfrm>
          <a:prstGeom prst="rect">
            <a:avLst/>
          </a:prstGeom>
        </p:spPr>
        <p:txBody>
          <a:bodyPr/>
          <a:lstStyle/>
          <a:p>
            <a:r>
              <a:rPr lang="en-US"/>
              <a:t>Click to edit Master title style</a:t>
            </a:r>
          </a:p>
        </p:txBody>
      </p:sp>
      <p:sp>
        <p:nvSpPr>
          <p:cNvPr id="3" name="ClipArt Placeholder 2"/>
          <p:cNvSpPr>
            <a:spLocks noGrp="1"/>
          </p:cNvSpPr>
          <p:nvPr>
            <p:ph type="clipArt" sz="half" idx="1"/>
          </p:nvPr>
        </p:nvSpPr>
        <p:spPr>
          <a:xfrm>
            <a:off x="703610" y="1981200"/>
            <a:ext cx="3799495" cy="4114800"/>
          </a:xfrm>
        </p:spPr>
        <p:txBody>
          <a:bodyPr rtlCol="0">
            <a:normAutofit/>
          </a:bodyPr>
          <a:lstStyle/>
          <a:p>
            <a:pPr lvl="0"/>
            <a:endParaRPr lang="en-US" noProof="0"/>
          </a:p>
        </p:txBody>
      </p:sp>
      <p:sp>
        <p:nvSpPr>
          <p:cNvPr id="4" name="Text Placeholder 3"/>
          <p:cNvSpPr>
            <a:spLocks noGrp="1"/>
          </p:cNvSpPr>
          <p:nvPr>
            <p:ph type="body" sz="half" idx="2"/>
          </p:nvPr>
        </p:nvSpPr>
        <p:spPr>
          <a:xfrm>
            <a:off x="4643827" y="1981200"/>
            <a:ext cx="3799495" cy="4114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701675" y="6104965"/>
            <a:ext cx="1900238" cy="457200"/>
          </a:xfrm>
        </p:spPr>
        <p:txBody>
          <a:bodyPr/>
          <a:lstStyle>
            <a:lvl1pPr>
              <a:defRPr/>
            </a:lvl1pPr>
          </a:lstStyle>
          <a:p>
            <a:pPr>
              <a:defRPr/>
            </a:pPr>
            <a:fld id="{92614DEE-3ACB-4C92-AA78-6EE0A50A2A0E}" type="datetime1">
              <a:rPr lang="en-US" smtClean="0"/>
              <a:t>1/10/2024</a:t>
            </a:fld>
            <a:endParaRPr lang="en-US"/>
          </a:p>
        </p:txBody>
      </p:sp>
      <p:sp>
        <p:nvSpPr>
          <p:cNvPr id="6" name="Footer Placeholder 5"/>
          <p:cNvSpPr>
            <a:spLocks noGrp="1"/>
          </p:cNvSpPr>
          <p:nvPr>
            <p:ph type="ftr" sz="quarter" idx="11"/>
          </p:nvPr>
        </p:nvSpPr>
        <p:spPr>
          <a:xfrm>
            <a:off x="3165475" y="6248400"/>
            <a:ext cx="2813050" cy="457200"/>
          </a:xfrm>
        </p:spPr>
        <p:txBody>
          <a:bodyPr/>
          <a:lstStyle>
            <a:lvl1pPr>
              <a:defRPr/>
            </a:lvl1pPr>
          </a:lstStyle>
          <a:p>
            <a:pPr>
              <a:defRPr/>
            </a:pPr>
            <a:endParaRPr lang="en-US"/>
          </a:p>
        </p:txBody>
      </p:sp>
      <p:sp>
        <p:nvSpPr>
          <p:cNvPr id="7" name="Slide Number Placeholder 6"/>
          <p:cNvSpPr>
            <a:spLocks noGrp="1"/>
          </p:cNvSpPr>
          <p:nvPr>
            <p:ph type="sldNum" sz="quarter" idx="12"/>
          </p:nvPr>
        </p:nvSpPr>
        <p:spPr>
          <a:xfrm>
            <a:off x="6542087" y="6096000"/>
            <a:ext cx="1900237" cy="457200"/>
          </a:xfrm>
        </p:spPr>
        <p:txBody>
          <a:bodyPr/>
          <a:lstStyle>
            <a:lvl1pPr>
              <a:defRPr/>
            </a:lvl1pPr>
          </a:lstStyle>
          <a:p>
            <a:pPr>
              <a:defRPr/>
            </a:pPr>
            <a:fld id="{4109A845-B5D7-4212-A085-B80A81F92DF0}" type="slidenum">
              <a:rPr lang="en-US"/>
              <a:pPr>
                <a:defRPr/>
              </a:pPr>
              <a:t>‹#›</a:t>
            </a:fld>
            <a:endParaRPr lang="en-US"/>
          </a:p>
        </p:txBody>
      </p:sp>
    </p:spTree>
    <p:extLst>
      <p:ext uri="{BB962C8B-B14F-4D97-AF65-F5344CB8AC3E}">
        <p14:creationId xmlns:p14="http://schemas.microsoft.com/office/powerpoint/2010/main" val="30164155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2_Blank">
    <p:spTree>
      <p:nvGrpSpPr>
        <p:cNvPr id="1" name=""/>
        <p:cNvGrpSpPr/>
        <p:nvPr/>
      </p:nvGrpSpPr>
      <p:grpSpPr>
        <a:xfrm>
          <a:off x="0" y="0"/>
          <a:ext cx="0" cy="0"/>
          <a:chOff x="0" y="0"/>
          <a:chExt cx="0" cy="0"/>
        </a:xfrm>
      </p:grpSpPr>
      <p:sp>
        <p:nvSpPr>
          <p:cNvPr id="5" name="Rectangle 4"/>
          <p:cNvSpPr/>
          <p:nvPr/>
        </p:nvSpPr>
        <p:spPr>
          <a:xfrm>
            <a:off x="2383" y="6400800"/>
            <a:ext cx="9141619"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3" y="6334316"/>
            <a:ext cx="9141619"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0D869FCB-7AE9-4C6E-996F-B3368308D56D}" type="datetime1">
              <a:rPr lang="en-US" smtClean="0">
                <a:solidFill>
                  <a:prstClr val="black">
                    <a:tint val="75000"/>
                  </a:prstClr>
                </a:solidFill>
              </a:rPr>
              <a:t>1/10/2024</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dirty="0"/>
          </a:p>
        </p:txBody>
      </p:sp>
      <p:sp>
        <p:nvSpPr>
          <p:cNvPr id="9" name="Slide Number Placeholder 8"/>
          <p:cNvSpPr>
            <a:spLocks noGrp="1"/>
          </p:cNvSpPr>
          <p:nvPr>
            <p:ph type="sldNum" sz="quarter" idx="12"/>
          </p:nvPr>
        </p:nvSpPr>
        <p:spPr/>
        <p:txBody>
          <a:bodyPr/>
          <a:lstStyle/>
          <a:p>
            <a:fld id="{E5CE4F79-B2B3-4E4E-AB5D-F771515B9CEF}" type="slidenum">
              <a:rPr lang="en-US" smtClean="0">
                <a:solidFill>
                  <a:prstClr val="black">
                    <a:tint val="75000"/>
                  </a:prstClr>
                </a:solidFill>
              </a:rPr>
              <a:pPr/>
              <a:t>‹#›</a:t>
            </a:fld>
            <a:endParaRPr lang="en-US" dirty="0">
              <a:solidFill>
                <a:prstClr val="black">
                  <a:tint val="75000"/>
                </a:prstClr>
              </a:solidFill>
            </a:endParaRPr>
          </a:p>
        </p:txBody>
      </p:sp>
      <p:sp>
        <p:nvSpPr>
          <p:cNvPr id="2" name="Title 1"/>
          <p:cNvSpPr>
            <a:spLocks noGrp="1"/>
          </p:cNvSpPr>
          <p:nvPr>
            <p:ph type="title"/>
          </p:nvPr>
        </p:nvSpPr>
        <p:spPr>
          <a:xfrm>
            <a:off x="457202" y="286607"/>
            <a:ext cx="8381999" cy="780195"/>
          </a:xfrm>
        </p:spPr>
        <p:txBody>
          <a:bodyPr/>
          <a:lstStyle>
            <a:lvl1pPr>
              <a:defRPr b="1"/>
            </a:lvl1pPr>
          </a:lstStyle>
          <a:p>
            <a:r>
              <a:rPr lang="en-US" dirty="0" smtClean="0"/>
              <a:t>Click to edit Master title style</a:t>
            </a:r>
            <a:endParaRPr lang="en-US" dirty="0"/>
          </a:p>
        </p:txBody>
      </p:sp>
      <p:sp>
        <p:nvSpPr>
          <p:cNvPr id="4" name="Text Placeholder 3"/>
          <p:cNvSpPr>
            <a:spLocks noGrp="1"/>
          </p:cNvSpPr>
          <p:nvPr>
            <p:ph type="body" sz="quarter" idx="13"/>
          </p:nvPr>
        </p:nvSpPr>
        <p:spPr>
          <a:xfrm>
            <a:off x="457202" y="1447800"/>
            <a:ext cx="8381999" cy="4495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577344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0" y="6400800"/>
            <a:ext cx="9144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5"/>
            <a:ext cx="9144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822960" y="286604"/>
            <a:ext cx="75438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22959" y="1845734"/>
            <a:ext cx="7543801" cy="4023360"/>
          </a:xfrm>
          <a:prstGeom prst="rect">
            <a:avLst/>
          </a:prstGeom>
        </p:spPr>
        <p:txBody>
          <a:bodyPr vert="horz" lIns="0" tIns="45720" rIns="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822961" y="6459786"/>
            <a:ext cx="1854203" cy="365125"/>
          </a:xfrm>
          <a:prstGeom prst="rect">
            <a:avLst/>
          </a:prstGeom>
        </p:spPr>
        <p:txBody>
          <a:bodyPr vert="horz" lIns="91440" tIns="45720" rIns="91440" bIns="45720" rtlCol="0" anchor="ctr"/>
          <a:lstStyle>
            <a:lvl1pPr algn="l">
              <a:defRPr sz="900">
                <a:solidFill>
                  <a:srgbClr val="FFFFFF"/>
                </a:solidFill>
              </a:defRPr>
            </a:lvl1pPr>
          </a:lstStyle>
          <a:p>
            <a:fld id="{53416F76-68ED-4AE8-B55F-51BE85305804}" type="datetime1">
              <a:rPr lang="en-US" smtClean="0"/>
              <a:t>1/10/2024</a:t>
            </a:fld>
            <a:endParaRPr lang="en-US" dirty="0"/>
          </a:p>
        </p:txBody>
      </p:sp>
      <p:sp>
        <p:nvSpPr>
          <p:cNvPr id="5" name="Footer Placeholder 4"/>
          <p:cNvSpPr>
            <a:spLocks noGrp="1"/>
          </p:cNvSpPr>
          <p:nvPr>
            <p:ph type="ftr" sz="quarter" idx="3"/>
          </p:nvPr>
        </p:nvSpPr>
        <p:spPr>
          <a:xfrm>
            <a:off x="2764639" y="6459786"/>
            <a:ext cx="3617103"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7425344" y="6459786"/>
            <a:ext cx="984019" cy="365125"/>
          </a:xfrm>
          <a:prstGeom prst="rect">
            <a:avLst/>
          </a:prstGeom>
        </p:spPr>
        <p:txBody>
          <a:bodyPr vert="horz" lIns="91440" tIns="45720" rIns="91440" bIns="45720" rtlCol="0" anchor="ctr"/>
          <a:lstStyle>
            <a:lvl1pPr algn="r">
              <a:defRPr sz="1050">
                <a:solidFill>
                  <a:srgbClr val="FFFFFF"/>
                </a:solidFill>
              </a:defRPr>
            </a:lvl1pPr>
          </a:lstStyle>
          <a:p>
            <a:fld id="{E5CE4F79-B2B3-4E4E-AB5D-F771515B9CEF}" type="slidenum">
              <a:rPr lang="en-US" smtClean="0"/>
              <a:t>‹#›</a:t>
            </a:fld>
            <a:endParaRPr lang="en-US" dirty="0"/>
          </a:p>
        </p:txBody>
      </p:sp>
      <p:cxnSp>
        <p:nvCxnSpPr>
          <p:cNvPr id="10" name="Straight Connector 9"/>
          <p:cNvCxnSpPr/>
          <p:nvPr/>
        </p:nvCxnSpPr>
        <p:spPr>
          <a:xfrm>
            <a:off x="895149" y="1737845"/>
            <a:ext cx="74752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7452130"/>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4" r:id="rId12"/>
    <p:sldLayoutId id="2147483705" r:id="rId13"/>
    <p:sldLayoutId id="2147483706" r:id="rId14"/>
    <p:sldLayoutId id="2147483708" r:id="rId15"/>
  </p:sldLayoutIdLst>
  <p:hf hdr="0" ftr="0" dt="0"/>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Tx/>
        <a:buSzPct val="100000"/>
        <a:buFont typeface="Arial" panose="020B0604020202020204" pitchFamily="34" charset="0"/>
        <a:buChar char="•"/>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Tx/>
        <a:buFont typeface="Arial" panose="020B0604020202020204"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Tx/>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subhash@achsnepal.edu.np"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1</a:t>
            </a:fld>
            <a:endParaRPr lang="en-US" dirty="0"/>
          </a:p>
        </p:txBody>
      </p:sp>
      <p:sp>
        <p:nvSpPr>
          <p:cNvPr id="2" name="Title 1"/>
          <p:cNvSpPr>
            <a:spLocks noGrp="1"/>
          </p:cNvSpPr>
          <p:nvPr>
            <p:ph type="ctrTitle"/>
          </p:nvPr>
        </p:nvSpPr>
        <p:spPr>
          <a:xfrm>
            <a:off x="762000" y="1238250"/>
            <a:ext cx="7467600" cy="1581150"/>
          </a:xfrm>
        </p:spPr>
        <p:txBody>
          <a:bodyPr>
            <a:normAutofit/>
          </a:bodyPr>
          <a:lstStyle/>
          <a:p>
            <a:r>
              <a:rPr lang="en-US" sz="4400" b="1" dirty="0" smtClean="0">
                <a:latin typeface="+mn-lt"/>
              </a:rPr>
              <a:t>Software Estimation Technique</a:t>
            </a:r>
            <a:endParaRPr lang="en-US" sz="4400" b="1" dirty="0">
              <a:latin typeface="+mn-lt"/>
            </a:endParaRPr>
          </a:p>
        </p:txBody>
      </p:sp>
      <p:sp>
        <p:nvSpPr>
          <p:cNvPr id="3" name="Subtitle 2"/>
          <p:cNvSpPr>
            <a:spLocks noGrp="1"/>
          </p:cNvSpPr>
          <p:nvPr>
            <p:ph type="subTitle" idx="4294967295"/>
          </p:nvPr>
        </p:nvSpPr>
        <p:spPr>
          <a:xfrm>
            <a:off x="865563" y="2877468"/>
            <a:ext cx="7543800" cy="1143000"/>
          </a:xfrm>
        </p:spPr>
        <p:txBody>
          <a:bodyPr>
            <a:normAutofit/>
          </a:bodyPr>
          <a:lstStyle/>
          <a:p>
            <a:pPr marL="0" indent="0">
              <a:lnSpc>
                <a:spcPct val="100000"/>
              </a:lnSpc>
              <a:spcBef>
                <a:spcPts val="0"/>
              </a:spcBef>
              <a:spcAft>
                <a:spcPts val="0"/>
              </a:spcAft>
              <a:buNone/>
            </a:pPr>
            <a:r>
              <a:rPr lang="en-US" sz="2000" b="1" dirty="0" smtClean="0">
                <a:latin typeface="+mn-lt"/>
              </a:rPr>
              <a:t>Subhash Paudel</a:t>
            </a:r>
          </a:p>
          <a:p>
            <a:pPr marL="0" indent="0">
              <a:lnSpc>
                <a:spcPct val="100000"/>
              </a:lnSpc>
              <a:spcBef>
                <a:spcPts val="0"/>
              </a:spcBef>
              <a:spcAft>
                <a:spcPts val="0"/>
              </a:spcAft>
              <a:buNone/>
            </a:pPr>
            <a:r>
              <a:rPr lang="en-US" b="1" dirty="0" smtClean="0"/>
              <a:t>MSCSKE, IOE, Pulchowk Campus</a:t>
            </a:r>
          </a:p>
          <a:p>
            <a:pPr marL="0" indent="0">
              <a:lnSpc>
                <a:spcPct val="100000"/>
              </a:lnSpc>
              <a:spcBef>
                <a:spcPts val="0"/>
              </a:spcBef>
              <a:spcAft>
                <a:spcPts val="0"/>
              </a:spcAft>
              <a:buNone/>
            </a:pPr>
            <a:r>
              <a:rPr lang="en-US" b="1" dirty="0" smtClean="0">
                <a:hlinkClick r:id="rId3"/>
              </a:rPr>
              <a:t>subhash@achsnepal.edu.np</a:t>
            </a:r>
            <a:endParaRPr lang="en-US" sz="2000" b="1" dirty="0">
              <a:latin typeface="+mn-lt"/>
            </a:endParaRPr>
          </a:p>
        </p:txBody>
      </p:sp>
    </p:spTree>
    <p:extLst>
      <p:ext uri="{BB962C8B-B14F-4D97-AF65-F5344CB8AC3E}">
        <p14:creationId xmlns:p14="http://schemas.microsoft.com/office/powerpoint/2010/main" val="9464505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2</a:t>
            </a:fld>
            <a:endParaRPr lang="en-US" dirty="0"/>
          </a:p>
        </p:txBody>
      </p:sp>
      <p:sp>
        <p:nvSpPr>
          <p:cNvPr id="2" name="Title 1"/>
          <p:cNvSpPr>
            <a:spLocks noGrp="1"/>
          </p:cNvSpPr>
          <p:nvPr>
            <p:ph type="title"/>
          </p:nvPr>
        </p:nvSpPr>
        <p:spPr/>
        <p:txBody>
          <a:bodyPr/>
          <a:lstStyle/>
          <a:p>
            <a:r>
              <a:rPr lang="en-US" b="1" dirty="0" smtClean="0"/>
              <a:t>Outline</a:t>
            </a:r>
            <a:endParaRPr lang="en-US" b="1" dirty="0"/>
          </a:p>
        </p:txBody>
      </p:sp>
      <p:sp>
        <p:nvSpPr>
          <p:cNvPr id="3" name="Content Placeholder 2"/>
          <p:cNvSpPr>
            <a:spLocks noGrp="1"/>
          </p:cNvSpPr>
          <p:nvPr>
            <p:ph type="body" sz="quarter" idx="13"/>
          </p:nvPr>
        </p:nvSpPr>
        <p:spPr/>
        <p:txBody>
          <a:bodyPr/>
          <a:lstStyle/>
          <a:p>
            <a:pPr>
              <a:buClrTx/>
              <a:buFont typeface="Arial" panose="020B0604020202020204" pitchFamily="34" charset="0"/>
              <a:buChar char="•"/>
            </a:pPr>
            <a:r>
              <a:rPr lang="en-US" sz="2800" dirty="0"/>
              <a:t>Software Effort Estimation: Problems with over and under </a:t>
            </a:r>
            <a:r>
              <a:rPr lang="en-US" sz="2800" dirty="0" smtClean="0"/>
              <a:t>estimations</a:t>
            </a:r>
          </a:p>
          <a:p>
            <a:pPr>
              <a:buClrTx/>
              <a:buFont typeface="Arial" panose="020B0604020202020204" pitchFamily="34" charset="0"/>
              <a:buChar char="•"/>
            </a:pPr>
            <a:r>
              <a:rPr lang="en-US" sz="2800" dirty="0" smtClean="0"/>
              <a:t>Basis </a:t>
            </a:r>
            <a:r>
              <a:rPr lang="en-US" sz="2800" dirty="0"/>
              <a:t>of </a:t>
            </a:r>
            <a:r>
              <a:rPr lang="en-US" sz="2800" dirty="0" smtClean="0"/>
              <a:t>software Estimating</a:t>
            </a:r>
          </a:p>
          <a:p>
            <a:pPr>
              <a:buClrTx/>
              <a:buFont typeface="Arial" panose="020B0604020202020204" pitchFamily="34" charset="0"/>
              <a:buChar char="•"/>
            </a:pPr>
            <a:r>
              <a:rPr lang="en-US" sz="2800" dirty="0" smtClean="0"/>
              <a:t>Software </a:t>
            </a:r>
            <a:r>
              <a:rPr lang="en-US" sz="2800" dirty="0"/>
              <a:t>effort estimation </a:t>
            </a:r>
            <a:r>
              <a:rPr lang="en-US" sz="2800" dirty="0" smtClean="0"/>
              <a:t>techniques</a:t>
            </a:r>
          </a:p>
          <a:p>
            <a:pPr lvl="1">
              <a:buClrTx/>
              <a:buFont typeface="Arial" panose="020B0604020202020204" pitchFamily="34" charset="0"/>
              <a:buChar char="•"/>
            </a:pPr>
            <a:r>
              <a:rPr lang="en-US" sz="2400" dirty="0" smtClean="0"/>
              <a:t>Expert Judgment</a:t>
            </a:r>
          </a:p>
          <a:p>
            <a:pPr lvl="1">
              <a:buClrTx/>
              <a:buFont typeface="Arial" panose="020B0604020202020204" pitchFamily="34" charset="0"/>
              <a:buChar char="•"/>
            </a:pPr>
            <a:r>
              <a:rPr lang="en-US" sz="2400" dirty="0" smtClean="0"/>
              <a:t>Estimating </a:t>
            </a:r>
            <a:r>
              <a:rPr lang="en-US" sz="2400" dirty="0"/>
              <a:t>by </a:t>
            </a:r>
            <a:r>
              <a:rPr lang="en-US" sz="2400" dirty="0" smtClean="0"/>
              <a:t>analogy</a:t>
            </a:r>
          </a:p>
          <a:p>
            <a:pPr lvl="1">
              <a:buClrTx/>
              <a:buFont typeface="Arial" panose="020B0604020202020204" pitchFamily="34" charset="0"/>
              <a:buChar char="•"/>
            </a:pPr>
            <a:r>
              <a:rPr lang="en-US" sz="2400" dirty="0" smtClean="0"/>
              <a:t>Bottoms-up estimating</a:t>
            </a:r>
          </a:p>
          <a:p>
            <a:pPr lvl="1">
              <a:buClrTx/>
              <a:buFont typeface="Arial" panose="020B0604020202020204" pitchFamily="34" charset="0"/>
              <a:buChar char="•"/>
            </a:pPr>
            <a:r>
              <a:rPr lang="en-US" sz="2400" dirty="0" smtClean="0"/>
              <a:t>Top-down </a:t>
            </a:r>
            <a:r>
              <a:rPr lang="en-US" sz="2400" dirty="0"/>
              <a:t>approach </a:t>
            </a:r>
            <a:endParaRPr lang="en-US" sz="2400" dirty="0" smtClean="0"/>
          </a:p>
          <a:p>
            <a:pPr lvl="1">
              <a:buClrTx/>
              <a:buFont typeface="Arial" panose="020B0604020202020204" pitchFamily="34" charset="0"/>
              <a:buChar char="•"/>
            </a:pPr>
            <a:r>
              <a:rPr lang="en-US" sz="2400" dirty="0" smtClean="0"/>
              <a:t>Parametric </a:t>
            </a:r>
            <a:r>
              <a:rPr lang="en-US" sz="2400" dirty="0"/>
              <a:t>models.</a:t>
            </a:r>
          </a:p>
          <a:p>
            <a:endParaRPr lang="en-US" dirty="0"/>
          </a:p>
        </p:txBody>
      </p:sp>
    </p:spTree>
    <p:extLst>
      <p:ext uri="{BB962C8B-B14F-4D97-AF65-F5344CB8AC3E}">
        <p14:creationId xmlns:p14="http://schemas.microsoft.com/office/powerpoint/2010/main" val="23387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a:t>
            </a:fld>
            <a:endParaRPr lang="en-US" dirty="0"/>
          </a:p>
        </p:txBody>
      </p:sp>
      <p:sp>
        <p:nvSpPr>
          <p:cNvPr id="3" name="Title 2"/>
          <p:cNvSpPr>
            <a:spLocks noGrp="1"/>
          </p:cNvSpPr>
          <p:nvPr>
            <p:ph type="title"/>
          </p:nvPr>
        </p:nvSpPr>
        <p:spPr/>
        <p:txBody>
          <a:bodyPr/>
          <a:lstStyle/>
          <a:p>
            <a:r>
              <a:rPr lang="en-US" dirty="0" smtClean="0"/>
              <a:t>Software Project Planning</a:t>
            </a:r>
            <a:endParaRPr lang="en-US" dirty="0"/>
          </a:p>
        </p:txBody>
      </p:sp>
      <p:sp>
        <p:nvSpPr>
          <p:cNvPr id="4" name="Text Placeholder 3"/>
          <p:cNvSpPr>
            <a:spLocks noGrp="1"/>
          </p:cNvSpPr>
          <p:nvPr>
            <p:ph type="body" sz="quarter" idx="13"/>
          </p:nvPr>
        </p:nvSpPr>
        <p:spPr/>
        <p:txBody>
          <a:bodyPr/>
          <a:lstStyle/>
          <a:p>
            <a:pPr>
              <a:buClrTx/>
              <a:buFont typeface="Arial" panose="020B0604020202020204" pitchFamily="34" charset="0"/>
              <a:buChar char="•"/>
            </a:pPr>
            <a:r>
              <a:rPr lang="en-US" sz="2400" dirty="0" smtClean="0"/>
              <a:t>SPM Process </a:t>
            </a:r>
          </a:p>
          <a:p>
            <a:pPr marL="685800" lvl="1" indent="-342900">
              <a:buFont typeface="+mj-lt"/>
              <a:buAutoNum type="arabicPeriod"/>
            </a:pPr>
            <a:r>
              <a:rPr lang="en-US" sz="2200" dirty="0"/>
              <a:t>Project Initiation</a:t>
            </a:r>
          </a:p>
          <a:p>
            <a:pPr marL="685800" lvl="1" indent="-342900">
              <a:buFont typeface="+mj-lt"/>
              <a:buAutoNum type="arabicPeriod"/>
            </a:pPr>
            <a:r>
              <a:rPr lang="en-US" sz="2200" dirty="0"/>
              <a:t>Project Planning</a:t>
            </a:r>
          </a:p>
          <a:p>
            <a:pPr marL="685800" lvl="1" indent="-342900">
              <a:buFont typeface="+mj-lt"/>
              <a:buAutoNum type="arabicPeriod"/>
            </a:pPr>
            <a:r>
              <a:rPr lang="en-US" sz="2200" dirty="0"/>
              <a:t>Executing</a:t>
            </a:r>
          </a:p>
          <a:p>
            <a:pPr marL="685800" lvl="1" indent="-342900">
              <a:buFont typeface="+mj-lt"/>
              <a:buAutoNum type="arabicPeriod"/>
            </a:pPr>
            <a:r>
              <a:rPr lang="en-US" sz="2200" dirty="0"/>
              <a:t>Monitoring and Control</a:t>
            </a:r>
          </a:p>
          <a:p>
            <a:pPr marL="685800" lvl="1" indent="-342900">
              <a:buFont typeface="+mj-lt"/>
              <a:buAutoNum type="arabicPeriod"/>
            </a:pPr>
            <a:r>
              <a:rPr lang="en-US" sz="2200" dirty="0" smtClean="0"/>
              <a:t>Closing</a:t>
            </a:r>
          </a:p>
          <a:p>
            <a:r>
              <a:rPr lang="en-US" sz="2400" dirty="0"/>
              <a:t>The overall goal of project planning is to establish a pragmatic strategy </a:t>
            </a:r>
            <a:r>
              <a:rPr lang="en-US" sz="2400" dirty="0" smtClean="0"/>
              <a:t>for initiating, scoping, controlling</a:t>
            </a:r>
            <a:r>
              <a:rPr lang="en-US" sz="2400" dirty="0"/>
              <a:t>, tracking, and monitoring a complex technical project.</a:t>
            </a:r>
          </a:p>
          <a:p>
            <a:pPr lvl="1"/>
            <a:r>
              <a:rPr lang="en-US" sz="2200" dirty="0"/>
              <a:t>Why?</a:t>
            </a:r>
          </a:p>
          <a:p>
            <a:pPr lvl="2"/>
            <a:r>
              <a:rPr lang="en-US" sz="2200" dirty="0"/>
              <a:t>So the end result gets done on time, with quality</a:t>
            </a:r>
            <a:r>
              <a:rPr lang="en-US" sz="2200" dirty="0" smtClean="0"/>
              <a:t>!</a:t>
            </a:r>
            <a:endParaRPr lang="en-US" sz="2200" dirty="0"/>
          </a:p>
        </p:txBody>
      </p:sp>
      <p:pic>
        <p:nvPicPr>
          <p:cNvPr id="5" name="Picture 4"/>
          <p:cNvPicPr>
            <a:picLocks noChangeAspect="1"/>
          </p:cNvPicPr>
          <p:nvPr/>
        </p:nvPicPr>
        <p:blipFill>
          <a:blip r:embed="rId2"/>
          <a:stretch>
            <a:fillRect/>
          </a:stretch>
        </p:blipFill>
        <p:spPr>
          <a:xfrm>
            <a:off x="5266700" y="1219201"/>
            <a:ext cx="2810500" cy="2587977"/>
          </a:xfrm>
          <a:prstGeom prst="rect">
            <a:avLst/>
          </a:prstGeom>
        </p:spPr>
      </p:pic>
    </p:spTree>
    <p:extLst>
      <p:ext uri="{BB962C8B-B14F-4D97-AF65-F5344CB8AC3E}">
        <p14:creationId xmlns:p14="http://schemas.microsoft.com/office/powerpoint/2010/main" val="3403286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52400"/>
            <a:ext cx="8381999" cy="780195"/>
          </a:xfrm>
        </p:spPr>
        <p:txBody>
          <a:bodyPr/>
          <a:lstStyle/>
          <a:p>
            <a:r>
              <a:rPr lang="en-US" sz="4800" dirty="0" smtClean="0"/>
              <a:t>Project Planning</a:t>
            </a:r>
            <a:endParaRPr lang="en-US"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121803"/>
            <a:ext cx="7315200" cy="51505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Slide Number Placeholder 2"/>
          <p:cNvSpPr>
            <a:spLocks noGrp="1"/>
          </p:cNvSpPr>
          <p:nvPr>
            <p:ph type="sldNum" sz="quarter" idx="12"/>
          </p:nvPr>
        </p:nvSpPr>
        <p:spPr/>
        <p:txBody>
          <a:bodyPr/>
          <a:lstStyle/>
          <a:p>
            <a:fld id="{E5CE4F79-B2B3-4E4E-AB5D-F771515B9CEF}" type="slidenum">
              <a:rPr lang="en-US" smtClean="0">
                <a:solidFill>
                  <a:prstClr val="black">
                    <a:tint val="75000"/>
                  </a:prstClr>
                </a:solidFill>
              </a:rPr>
              <a:pPr/>
              <a:t>4</a:t>
            </a:fld>
            <a:endParaRPr lang="en-US" dirty="0">
              <a:solidFill>
                <a:prstClr val="black">
                  <a:tint val="75000"/>
                </a:prstClr>
              </a:solidFill>
            </a:endParaRPr>
          </a:p>
        </p:txBody>
      </p:sp>
    </p:spTree>
    <p:extLst>
      <p:ext uri="{BB962C8B-B14F-4D97-AF65-F5344CB8AC3E}">
        <p14:creationId xmlns:p14="http://schemas.microsoft.com/office/powerpoint/2010/main" val="11151305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5</a:t>
            </a:fld>
            <a:endParaRPr lang="en-US" dirty="0"/>
          </a:p>
        </p:txBody>
      </p:sp>
      <p:sp>
        <p:nvSpPr>
          <p:cNvPr id="3" name="Title 2"/>
          <p:cNvSpPr>
            <a:spLocks noGrp="1"/>
          </p:cNvSpPr>
          <p:nvPr>
            <p:ph type="title"/>
          </p:nvPr>
        </p:nvSpPr>
        <p:spPr/>
        <p:txBody>
          <a:bodyPr/>
          <a:lstStyle/>
          <a:p>
            <a:r>
              <a:rPr lang="en-US" dirty="0" smtClean="0"/>
              <a:t>Project Planning Task</a:t>
            </a:r>
            <a:endParaRPr lang="en-US" dirty="0"/>
          </a:p>
        </p:txBody>
      </p:sp>
      <p:sp>
        <p:nvSpPr>
          <p:cNvPr id="4" name="Text Placeholder 3"/>
          <p:cNvSpPr>
            <a:spLocks noGrp="1"/>
          </p:cNvSpPr>
          <p:nvPr>
            <p:ph type="body" sz="quarter" idx="13"/>
          </p:nvPr>
        </p:nvSpPr>
        <p:spPr/>
        <p:txBody>
          <a:bodyPr>
            <a:normAutofit lnSpcReduction="10000"/>
          </a:bodyPr>
          <a:lstStyle/>
          <a:p>
            <a:pPr>
              <a:spcBef>
                <a:spcPts val="600"/>
              </a:spcBef>
              <a:buClrTx/>
              <a:buFont typeface="Arial" panose="020B0604020202020204" pitchFamily="34" charset="0"/>
              <a:buChar char="•"/>
            </a:pPr>
            <a:r>
              <a:rPr lang="en-US" altLang="en-US" sz="2800" dirty="0"/>
              <a:t>Establish project scope</a:t>
            </a:r>
          </a:p>
          <a:p>
            <a:pPr>
              <a:spcBef>
                <a:spcPts val="300"/>
              </a:spcBef>
              <a:buClrTx/>
              <a:buFont typeface="Arial" panose="020B0604020202020204" pitchFamily="34" charset="0"/>
              <a:buChar char="•"/>
            </a:pPr>
            <a:r>
              <a:rPr lang="en-US" altLang="en-US" sz="2800" dirty="0"/>
              <a:t>Determine </a:t>
            </a:r>
            <a:r>
              <a:rPr lang="en-US" altLang="en-US" sz="2800" dirty="0" smtClean="0"/>
              <a:t>feasibility</a:t>
            </a:r>
          </a:p>
          <a:p>
            <a:pPr>
              <a:spcBef>
                <a:spcPts val="300"/>
              </a:spcBef>
              <a:buClrTx/>
              <a:buFont typeface="Arial" panose="020B0604020202020204" pitchFamily="34" charset="0"/>
              <a:buChar char="•"/>
            </a:pPr>
            <a:r>
              <a:rPr lang="en-US" altLang="en-US" sz="2800" dirty="0" smtClean="0"/>
              <a:t>Analyze risks</a:t>
            </a:r>
            <a:endParaRPr lang="en-US" altLang="en-US" sz="2400" dirty="0"/>
          </a:p>
          <a:p>
            <a:pPr>
              <a:buClrTx/>
              <a:buFont typeface="Arial" panose="020B0604020202020204" pitchFamily="34" charset="0"/>
              <a:buChar char="•"/>
            </a:pPr>
            <a:r>
              <a:rPr lang="en-US" altLang="en-US" sz="2800" dirty="0"/>
              <a:t>Define required </a:t>
            </a:r>
            <a:r>
              <a:rPr lang="en-US" altLang="en-US" sz="2800" dirty="0" smtClean="0"/>
              <a:t>resources</a:t>
            </a:r>
          </a:p>
          <a:p>
            <a:pPr lvl="1"/>
            <a:r>
              <a:rPr lang="en-US" altLang="en-US" sz="2200" dirty="0" smtClean="0"/>
              <a:t>Determine </a:t>
            </a:r>
            <a:r>
              <a:rPr lang="en-US" altLang="en-US" sz="2200" dirty="0"/>
              <a:t>require human </a:t>
            </a:r>
            <a:r>
              <a:rPr lang="en-US" altLang="en-US" sz="2200" dirty="0" smtClean="0"/>
              <a:t>resources</a:t>
            </a:r>
          </a:p>
          <a:p>
            <a:pPr lvl="1"/>
            <a:r>
              <a:rPr lang="en-US" altLang="en-US" sz="2200" dirty="0" smtClean="0"/>
              <a:t>Define </a:t>
            </a:r>
            <a:r>
              <a:rPr lang="en-US" altLang="en-US" sz="2200" dirty="0"/>
              <a:t>reusable software </a:t>
            </a:r>
            <a:r>
              <a:rPr lang="en-US" altLang="en-US" sz="2200" dirty="0" smtClean="0"/>
              <a:t>resources</a:t>
            </a:r>
          </a:p>
          <a:p>
            <a:pPr>
              <a:spcBef>
                <a:spcPts val="600"/>
              </a:spcBef>
            </a:pPr>
            <a:r>
              <a:rPr lang="en-US" altLang="en-US" sz="2800" dirty="0"/>
              <a:t>Estimate cost and effort</a:t>
            </a:r>
          </a:p>
          <a:p>
            <a:pPr lvl="1">
              <a:spcBef>
                <a:spcPts val="600"/>
              </a:spcBef>
            </a:pPr>
            <a:r>
              <a:rPr lang="en-US" altLang="en-US" sz="2200" dirty="0"/>
              <a:t>Decompose the problem</a:t>
            </a:r>
          </a:p>
          <a:p>
            <a:pPr lvl="1">
              <a:spcBef>
                <a:spcPts val="600"/>
              </a:spcBef>
            </a:pPr>
            <a:r>
              <a:rPr lang="en-US" altLang="en-US" sz="2200" dirty="0"/>
              <a:t>Develop two or more estimates using size, function points, process tasks or use-cases</a:t>
            </a:r>
          </a:p>
          <a:p>
            <a:pPr lvl="1">
              <a:spcBef>
                <a:spcPts val="600"/>
              </a:spcBef>
            </a:pPr>
            <a:r>
              <a:rPr lang="en-US" altLang="en-US" sz="2200" dirty="0"/>
              <a:t>Reconcile the estimates</a:t>
            </a:r>
          </a:p>
          <a:p>
            <a:pPr marL="621792" indent="-457200"/>
            <a:endParaRPr lang="en-US" altLang="en-US" sz="2600" dirty="0"/>
          </a:p>
        </p:txBody>
      </p:sp>
    </p:spTree>
    <p:extLst>
      <p:ext uri="{BB962C8B-B14F-4D97-AF65-F5344CB8AC3E}">
        <p14:creationId xmlns:p14="http://schemas.microsoft.com/office/powerpoint/2010/main" val="39714688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6</a:t>
            </a:fld>
            <a:endParaRPr lang="en-US" dirty="0"/>
          </a:p>
        </p:txBody>
      </p:sp>
      <p:sp>
        <p:nvSpPr>
          <p:cNvPr id="3" name="Title 2"/>
          <p:cNvSpPr>
            <a:spLocks noGrp="1"/>
          </p:cNvSpPr>
          <p:nvPr>
            <p:ph type="title"/>
          </p:nvPr>
        </p:nvSpPr>
        <p:spPr/>
        <p:txBody>
          <a:bodyPr/>
          <a:lstStyle/>
          <a:p>
            <a:r>
              <a:rPr lang="en-US" dirty="0"/>
              <a:t>Project Planning </a:t>
            </a:r>
            <a:r>
              <a:rPr lang="en-US" dirty="0" smtClean="0"/>
              <a:t>Task (contd.)</a:t>
            </a:r>
            <a:endParaRPr lang="en-US" dirty="0"/>
          </a:p>
        </p:txBody>
      </p:sp>
      <p:sp>
        <p:nvSpPr>
          <p:cNvPr id="4" name="Text Placeholder 3"/>
          <p:cNvSpPr>
            <a:spLocks noGrp="1"/>
          </p:cNvSpPr>
          <p:nvPr>
            <p:ph type="body" sz="quarter" idx="13"/>
          </p:nvPr>
        </p:nvSpPr>
        <p:spPr/>
        <p:txBody>
          <a:bodyPr>
            <a:normAutofit/>
          </a:bodyPr>
          <a:lstStyle/>
          <a:p>
            <a:pPr>
              <a:spcBef>
                <a:spcPts val="600"/>
              </a:spcBef>
              <a:buClrTx/>
              <a:buFont typeface="Arial" panose="020B0604020202020204" pitchFamily="34" charset="0"/>
              <a:buChar char="•"/>
            </a:pPr>
            <a:r>
              <a:rPr lang="en-US" altLang="en-US" sz="2800" dirty="0" smtClean="0"/>
              <a:t>Develop </a:t>
            </a:r>
            <a:r>
              <a:rPr lang="en-US" altLang="en-US" sz="2800" dirty="0"/>
              <a:t>a project </a:t>
            </a:r>
            <a:r>
              <a:rPr lang="en-US" altLang="en-US" sz="2800" dirty="0" smtClean="0"/>
              <a:t>schedule</a:t>
            </a:r>
            <a:endParaRPr lang="en-US" altLang="en-US" sz="2800" dirty="0"/>
          </a:p>
          <a:p>
            <a:pPr lvl="1">
              <a:spcBef>
                <a:spcPts val="600"/>
              </a:spcBef>
              <a:buClrTx/>
              <a:buFont typeface="Arial" panose="020B0604020202020204" pitchFamily="34" charset="0"/>
              <a:buChar char="•"/>
            </a:pPr>
            <a:r>
              <a:rPr lang="en-US" altLang="en-US" sz="2400" dirty="0"/>
              <a:t>Establish a meaningful task set</a:t>
            </a:r>
          </a:p>
          <a:p>
            <a:pPr lvl="1">
              <a:spcBef>
                <a:spcPts val="600"/>
              </a:spcBef>
              <a:buClrTx/>
              <a:buFont typeface="Arial" panose="020B0604020202020204" pitchFamily="34" charset="0"/>
              <a:buChar char="•"/>
            </a:pPr>
            <a:r>
              <a:rPr lang="en-US" altLang="en-US" sz="2400" dirty="0"/>
              <a:t>Define a task network</a:t>
            </a:r>
          </a:p>
          <a:p>
            <a:pPr lvl="1">
              <a:spcBef>
                <a:spcPts val="600"/>
              </a:spcBef>
              <a:buClrTx/>
              <a:buFont typeface="Arial" panose="020B0604020202020204" pitchFamily="34" charset="0"/>
              <a:buChar char="•"/>
            </a:pPr>
            <a:r>
              <a:rPr lang="en-US" altLang="en-US" sz="2400" dirty="0"/>
              <a:t>Use scheduling tools to develop a timeline chart</a:t>
            </a:r>
          </a:p>
          <a:p>
            <a:pPr lvl="1">
              <a:spcBef>
                <a:spcPts val="600"/>
              </a:spcBef>
              <a:buClrTx/>
              <a:buFont typeface="Arial" panose="020B0604020202020204" pitchFamily="34" charset="0"/>
              <a:buChar char="•"/>
            </a:pPr>
            <a:r>
              <a:rPr lang="en-US" altLang="en-US" sz="2400" dirty="0"/>
              <a:t>Define schedule tracking mechanisms</a:t>
            </a:r>
          </a:p>
          <a:p>
            <a:endParaRPr lang="en-US" dirty="0"/>
          </a:p>
        </p:txBody>
      </p:sp>
    </p:spTree>
    <p:extLst>
      <p:ext uri="{BB962C8B-B14F-4D97-AF65-F5344CB8AC3E}">
        <p14:creationId xmlns:p14="http://schemas.microsoft.com/office/powerpoint/2010/main" val="2897840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7</a:t>
            </a:fld>
            <a:endParaRPr lang="en-MY">
              <a:solidFill>
                <a:prstClr val="black">
                  <a:tint val="75000"/>
                </a:prstClr>
              </a:solidFill>
            </a:endParaRPr>
          </a:p>
        </p:txBody>
      </p:sp>
      <p:sp>
        <p:nvSpPr>
          <p:cNvPr id="2" name="Title 1"/>
          <p:cNvSpPr>
            <a:spLocks noGrp="1"/>
          </p:cNvSpPr>
          <p:nvPr>
            <p:ph type="title"/>
          </p:nvPr>
        </p:nvSpPr>
        <p:spPr/>
        <p:txBody>
          <a:bodyPr/>
          <a:lstStyle/>
          <a:p>
            <a:r>
              <a:rPr lang="en-MY" b="1" dirty="0"/>
              <a:t>Estimation</a:t>
            </a:r>
          </a:p>
        </p:txBody>
      </p:sp>
      <p:sp>
        <p:nvSpPr>
          <p:cNvPr id="3" name="Content Placeholder 2"/>
          <p:cNvSpPr>
            <a:spLocks noGrp="1"/>
          </p:cNvSpPr>
          <p:nvPr>
            <p:ph type="body" sz="quarter" idx="13"/>
          </p:nvPr>
        </p:nvSpPr>
        <p:spPr>
          <a:xfrm>
            <a:off x="457200" y="1517851"/>
            <a:ext cx="8381999" cy="4495800"/>
          </a:xfrm>
        </p:spPr>
        <p:txBody>
          <a:bodyPr>
            <a:noAutofit/>
          </a:bodyPr>
          <a:lstStyle/>
          <a:p>
            <a:pPr>
              <a:buClrTx/>
              <a:buFont typeface="Arial" panose="020B0604020202020204" pitchFamily="34" charset="0"/>
              <a:buChar char="•"/>
            </a:pPr>
            <a:r>
              <a:rPr lang="en-MY" sz="2800" dirty="0" smtClean="0"/>
              <a:t>Estimation is </a:t>
            </a:r>
            <a:r>
              <a:rPr lang="en-MY" sz="2800" dirty="0"/>
              <a:t>about:</a:t>
            </a:r>
          </a:p>
          <a:p>
            <a:pPr lvl="1">
              <a:buClrTx/>
              <a:buFont typeface="Arial" panose="020B0604020202020204" pitchFamily="34" charset="0"/>
              <a:buChar char="•"/>
            </a:pPr>
            <a:r>
              <a:rPr lang="en-MY" sz="2400" dirty="0"/>
              <a:t>determining the project </a:t>
            </a:r>
            <a:r>
              <a:rPr lang="en-MY" sz="2400" dirty="0" smtClean="0"/>
              <a:t>scope</a:t>
            </a:r>
            <a:r>
              <a:rPr lang="en-MY" sz="2400" dirty="0"/>
              <a:t> </a:t>
            </a:r>
            <a:r>
              <a:rPr lang="en-MY" sz="2400" dirty="0" smtClean="0"/>
              <a:t>and its constraints</a:t>
            </a:r>
          </a:p>
          <a:p>
            <a:pPr lvl="1"/>
            <a:r>
              <a:rPr lang="en-US" altLang="en-US" sz="2400" dirty="0"/>
              <a:t>Elaboration (decomposition) is </a:t>
            </a:r>
            <a:r>
              <a:rPr lang="en-US" altLang="en-US" sz="2400" dirty="0" smtClean="0"/>
              <a:t>necessary</a:t>
            </a:r>
            <a:endParaRPr lang="en-MY" sz="2400" dirty="0"/>
          </a:p>
          <a:p>
            <a:pPr lvl="1">
              <a:buClrTx/>
              <a:buFont typeface="Arial" panose="020B0604020202020204" pitchFamily="34" charset="0"/>
              <a:buChar char="•"/>
            </a:pPr>
            <a:r>
              <a:rPr lang="en-MY" sz="2400" dirty="0"/>
              <a:t>investigating the quality as required by the client</a:t>
            </a:r>
          </a:p>
          <a:p>
            <a:pPr lvl="1">
              <a:buClrTx/>
              <a:buFont typeface="Arial" panose="020B0604020202020204" pitchFamily="34" charset="0"/>
              <a:buChar char="•"/>
            </a:pPr>
            <a:r>
              <a:rPr lang="en-MY" sz="2400" dirty="0"/>
              <a:t>preparing the project schedule and budget</a:t>
            </a:r>
          </a:p>
          <a:p>
            <a:pPr lvl="1">
              <a:buClrTx/>
              <a:buFont typeface="Arial" panose="020B0604020202020204" pitchFamily="34" charset="0"/>
              <a:buChar char="•"/>
            </a:pPr>
            <a:r>
              <a:rPr lang="en-MY" sz="2400" dirty="0"/>
              <a:t>adjusting to the available resources </a:t>
            </a:r>
          </a:p>
          <a:p>
            <a:pPr lvl="1">
              <a:buClrTx/>
              <a:buFont typeface="Arial" panose="020B0604020202020204" pitchFamily="34" charset="0"/>
              <a:buChar char="•"/>
            </a:pPr>
            <a:r>
              <a:rPr lang="en-MY" sz="2400" dirty="0"/>
              <a:t>taking into consideration </a:t>
            </a:r>
            <a:r>
              <a:rPr lang="en-MY" sz="2400" dirty="0" smtClean="0"/>
              <a:t>the uncertainty in the project and project </a:t>
            </a:r>
            <a:r>
              <a:rPr lang="en-MY" sz="2400" dirty="0"/>
              <a:t>risks  </a:t>
            </a:r>
            <a:endParaRPr lang="en-MY" sz="2400" dirty="0" smtClean="0"/>
          </a:p>
          <a:p>
            <a:pPr lvl="1">
              <a:buClrTx/>
              <a:buFont typeface="Arial" panose="020B0604020202020204" pitchFamily="34" charset="0"/>
              <a:buChar char="•"/>
            </a:pPr>
            <a:r>
              <a:rPr lang="en-MY" sz="2400" dirty="0" smtClean="0"/>
              <a:t>Historical metrics are very helpful</a:t>
            </a:r>
          </a:p>
          <a:p>
            <a:r>
              <a:rPr lang="en-MY" sz="2800" dirty="0"/>
              <a:t>Is used to study and to predict the resources or time necessary to implement </a:t>
            </a:r>
            <a:r>
              <a:rPr lang="en-MY" sz="2800" dirty="0" smtClean="0"/>
              <a:t>requirements</a:t>
            </a:r>
          </a:p>
        </p:txBody>
      </p:sp>
    </p:spTree>
    <p:extLst>
      <p:ext uri="{BB962C8B-B14F-4D97-AF65-F5344CB8AC3E}">
        <p14:creationId xmlns:p14="http://schemas.microsoft.com/office/powerpoint/2010/main" val="9800762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8</a:t>
            </a:fld>
            <a:endParaRPr lang="en-MY">
              <a:solidFill>
                <a:prstClr val="black">
                  <a:tint val="75000"/>
                </a:prstClr>
              </a:solidFill>
            </a:endParaRPr>
          </a:p>
        </p:txBody>
      </p:sp>
      <p:sp>
        <p:nvSpPr>
          <p:cNvPr id="2" name="Title 1"/>
          <p:cNvSpPr>
            <a:spLocks noGrp="1"/>
          </p:cNvSpPr>
          <p:nvPr>
            <p:ph type="title"/>
          </p:nvPr>
        </p:nvSpPr>
        <p:spPr/>
        <p:txBody>
          <a:bodyPr/>
          <a:lstStyle/>
          <a:p>
            <a:r>
              <a:rPr lang="en-MY" b="1" dirty="0" smtClean="0"/>
              <a:t>Estimation </a:t>
            </a:r>
            <a:r>
              <a:rPr lang="en-US" dirty="0"/>
              <a:t>(contd.)</a:t>
            </a:r>
            <a:endParaRPr lang="en-MY" b="1" dirty="0"/>
          </a:p>
        </p:txBody>
      </p:sp>
      <p:sp>
        <p:nvSpPr>
          <p:cNvPr id="3" name="Content Placeholder 2"/>
          <p:cNvSpPr>
            <a:spLocks noGrp="1"/>
          </p:cNvSpPr>
          <p:nvPr>
            <p:ph type="body" sz="quarter" idx="13"/>
          </p:nvPr>
        </p:nvSpPr>
        <p:spPr/>
        <p:txBody>
          <a:bodyPr>
            <a:normAutofit fontScale="92500" lnSpcReduction="20000"/>
          </a:bodyPr>
          <a:lstStyle/>
          <a:p>
            <a:r>
              <a:rPr lang="en-US" sz="2600" dirty="0"/>
              <a:t>Estimation carries inherent risk and this risk leads to uncertainty</a:t>
            </a:r>
            <a:endParaRPr lang="en-MY" sz="2600" dirty="0"/>
          </a:p>
          <a:p>
            <a:r>
              <a:rPr lang="en-MY" sz="2600" dirty="0"/>
              <a:t>Is used to analyse the viability of the investment analysis, to come up with a realistic pricing and to bid for a project competitively </a:t>
            </a:r>
            <a:endParaRPr lang="en-US" sz="2600" dirty="0" smtClean="0"/>
          </a:p>
          <a:p>
            <a:r>
              <a:rPr lang="en-US" sz="2600" dirty="0" smtClean="0"/>
              <a:t>Estimation </a:t>
            </a:r>
            <a:r>
              <a:rPr lang="en-US" sz="2600" dirty="0"/>
              <a:t>of resources, cost, and schedule for a software engineering effort requires </a:t>
            </a:r>
          </a:p>
          <a:p>
            <a:pPr lvl="1"/>
            <a:r>
              <a:rPr lang="en-US" sz="2200" dirty="0"/>
              <a:t>experience</a:t>
            </a:r>
          </a:p>
          <a:p>
            <a:pPr lvl="1"/>
            <a:r>
              <a:rPr lang="en-US" sz="2200" dirty="0"/>
              <a:t>access to good historical information (metrics)</a:t>
            </a:r>
          </a:p>
          <a:p>
            <a:pPr lvl="1"/>
            <a:r>
              <a:rPr lang="en-US" sz="2200" dirty="0"/>
              <a:t>the courage to commit to quantitative predictions when qualitative information is all that </a:t>
            </a:r>
            <a:r>
              <a:rPr lang="en-US" sz="2200" dirty="0" smtClean="0"/>
              <a:t>exists</a:t>
            </a:r>
          </a:p>
          <a:p>
            <a:r>
              <a:rPr lang="en-US" sz="2600" dirty="0"/>
              <a:t>Estimation techniques help project managers accurately estimate essential elements, such as cost and scope, resources within their projects </a:t>
            </a:r>
          </a:p>
          <a:p>
            <a:r>
              <a:rPr lang="en-US" sz="2600" dirty="0"/>
              <a:t>provide better forecasts to clients and more accurately budget the funds and resources they need for project success</a:t>
            </a:r>
            <a:endParaRPr lang="en-MY" sz="2600" dirty="0"/>
          </a:p>
          <a:p>
            <a:endParaRPr lang="en-US" dirty="0"/>
          </a:p>
        </p:txBody>
      </p:sp>
    </p:spTree>
    <p:extLst>
      <p:ext uri="{BB962C8B-B14F-4D97-AF65-F5344CB8AC3E}">
        <p14:creationId xmlns:p14="http://schemas.microsoft.com/office/powerpoint/2010/main" val="30835719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9</a:t>
            </a:fld>
            <a:endParaRPr lang="en-MY">
              <a:solidFill>
                <a:prstClr val="black">
                  <a:tint val="75000"/>
                </a:prstClr>
              </a:solidFill>
            </a:endParaRPr>
          </a:p>
        </p:txBody>
      </p:sp>
      <p:sp>
        <p:nvSpPr>
          <p:cNvPr id="2" name="Title 1"/>
          <p:cNvSpPr>
            <a:spLocks noGrp="1"/>
          </p:cNvSpPr>
          <p:nvPr>
            <p:ph type="title"/>
          </p:nvPr>
        </p:nvSpPr>
        <p:spPr/>
        <p:txBody>
          <a:bodyPr/>
          <a:lstStyle/>
          <a:p>
            <a:r>
              <a:rPr lang="en-MY" b="1" dirty="0" smtClean="0"/>
              <a:t>Estimation </a:t>
            </a:r>
            <a:r>
              <a:rPr lang="en-US" dirty="0"/>
              <a:t>(contd.)</a:t>
            </a:r>
            <a:endParaRPr lang="en-MY" b="1" dirty="0"/>
          </a:p>
        </p:txBody>
      </p:sp>
      <p:sp>
        <p:nvSpPr>
          <p:cNvPr id="3" name="Content Placeholder 2"/>
          <p:cNvSpPr>
            <a:spLocks noGrp="1"/>
          </p:cNvSpPr>
          <p:nvPr>
            <p:ph type="body" sz="quarter" idx="13"/>
          </p:nvPr>
        </p:nvSpPr>
        <p:spPr/>
        <p:txBody>
          <a:bodyPr/>
          <a:lstStyle/>
          <a:p>
            <a:r>
              <a:rPr lang="en-MY" sz="2400" dirty="0"/>
              <a:t>Therefore proper project planning and control is not possible without a sound and reliable estimate </a:t>
            </a:r>
          </a:p>
          <a:p>
            <a:r>
              <a:rPr lang="en-MY" sz="2400" dirty="0"/>
              <a:t>Estimating size and cost are one of the most important topics in the area of software project management </a:t>
            </a:r>
          </a:p>
          <a:p>
            <a:endParaRPr lang="en-US" dirty="0"/>
          </a:p>
        </p:txBody>
      </p:sp>
    </p:spTree>
    <p:extLst>
      <p:ext uri="{BB962C8B-B14F-4D97-AF65-F5344CB8AC3E}">
        <p14:creationId xmlns:p14="http://schemas.microsoft.com/office/powerpoint/2010/main" val="1840330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10</a:t>
            </a:fld>
            <a:endParaRPr lang="en-MY">
              <a:solidFill>
                <a:prstClr val="black">
                  <a:tint val="75000"/>
                </a:prstClr>
              </a:solidFill>
            </a:endParaRPr>
          </a:p>
        </p:txBody>
      </p:sp>
      <p:sp>
        <p:nvSpPr>
          <p:cNvPr id="2" name="Title 1"/>
          <p:cNvSpPr>
            <a:spLocks noGrp="1"/>
          </p:cNvSpPr>
          <p:nvPr>
            <p:ph type="title"/>
          </p:nvPr>
        </p:nvSpPr>
        <p:spPr>
          <a:xfrm>
            <a:off x="445169" y="76200"/>
            <a:ext cx="8381999" cy="1113507"/>
          </a:xfrm>
        </p:spPr>
        <p:txBody>
          <a:bodyPr>
            <a:normAutofit fontScale="90000"/>
          </a:bodyPr>
          <a:lstStyle/>
          <a:p>
            <a:r>
              <a:rPr lang="en-MY" dirty="0"/>
              <a:t>Software Estimates/ Software efforts </a:t>
            </a:r>
            <a:r>
              <a:rPr lang="en-MY" dirty="0" smtClean="0"/>
              <a:t>estimate</a:t>
            </a:r>
            <a:endParaRPr lang="en-MY" dirty="0"/>
          </a:p>
        </p:txBody>
      </p:sp>
      <p:sp>
        <p:nvSpPr>
          <p:cNvPr id="3" name="Content Placeholder 2"/>
          <p:cNvSpPr>
            <a:spLocks noGrp="1"/>
          </p:cNvSpPr>
          <p:nvPr>
            <p:ph type="body" sz="quarter" idx="13"/>
          </p:nvPr>
        </p:nvSpPr>
        <p:spPr/>
        <p:txBody>
          <a:bodyPr>
            <a:normAutofit lnSpcReduction="10000"/>
          </a:bodyPr>
          <a:lstStyle/>
          <a:p>
            <a:r>
              <a:rPr lang="en-MY" sz="2400" dirty="0" smtClean="0"/>
              <a:t>Unlike </a:t>
            </a:r>
            <a:r>
              <a:rPr lang="en-MY" sz="2400" dirty="0"/>
              <a:t>other types of projects, software is an intangible product where specifications are not very obvious especially at its initial stages</a:t>
            </a:r>
          </a:p>
          <a:p>
            <a:r>
              <a:rPr lang="en-MY" sz="2400" dirty="0"/>
              <a:t>This characteristic puts software in a delicate position where inconsistency and vagueness of the project attributes makes the work estimation more difficult </a:t>
            </a:r>
            <a:endParaRPr lang="en-MY" sz="2400" dirty="0" smtClean="0"/>
          </a:p>
          <a:p>
            <a:r>
              <a:rPr lang="en-US" sz="2400" b="1" dirty="0"/>
              <a:t>effort estimation is the </a:t>
            </a:r>
            <a:r>
              <a:rPr lang="en-US" sz="2400" b="1" u="sng" dirty="0"/>
              <a:t>process of predicting the most realistic amount of effor</a:t>
            </a:r>
            <a:r>
              <a:rPr lang="en-US" sz="2400" b="1" dirty="0"/>
              <a:t>t </a:t>
            </a:r>
            <a:r>
              <a:rPr lang="en-US" sz="2400" b="1" dirty="0">
                <a:solidFill>
                  <a:srgbClr val="FF0000"/>
                </a:solidFill>
              </a:rPr>
              <a:t>(expressed in terms of person-hours or money) </a:t>
            </a:r>
            <a:r>
              <a:rPr lang="en-US" sz="2400" b="1" dirty="0"/>
              <a:t>required to develop or maintain software based on incomplete, uncertain and noisy input.</a:t>
            </a:r>
            <a:endParaRPr lang="en-US" sz="2400" dirty="0"/>
          </a:p>
          <a:p>
            <a:r>
              <a:rPr lang="en-US" sz="2400" dirty="0"/>
              <a:t>Effort estimates may be used as input to project plans, iteration plans, budgets, investment analyses, pricing processes and bidding rounds</a:t>
            </a:r>
          </a:p>
          <a:p>
            <a:endParaRPr lang="en-MY" sz="2400" dirty="0"/>
          </a:p>
        </p:txBody>
      </p:sp>
    </p:spTree>
    <p:extLst>
      <p:ext uri="{BB962C8B-B14F-4D97-AF65-F5344CB8AC3E}">
        <p14:creationId xmlns:p14="http://schemas.microsoft.com/office/powerpoint/2010/main" val="1838564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Slide Number Placeholder 3"/>
          <p:cNvSpPr>
            <a:spLocks noGrp="1"/>
          </p:cNvSpPr>
          <p:nvPr>
            <p:ph type="sldNum" sz="quarter" idx="12"/>
          </p:nvPr>
        </p:nvSpPr>
        <p:spPr/>
        <p:txBody>
          <a:bodyPr/>
          <a:lstStyle/>
          <a:p>
            <a:pPr>
              <a:defRPr/>
            </a:pPr>
            <a:fld id="{92638742-E657-4C1C-BC7B-CB1C100A2E80}" type="slidenum">
              <a:rPr lang="en-US"/>
              <a:pPr>
                <a:defRPr/>
              </a:pPr>
              <a:t>11</a:t>
            </a:fld>
            <a:endParaRPr lang="en-US"/>
          </a:p>
        </p:txBody>
      </p:sp>
      <p:sp>
        <p:nvSpPr>
          <p:cNvPr id="97282" name="Title 1"/>
          <p:cNvSpPr>
            <a:spLocks noGrp="1"/>
          </p:cNvSpPr>
          <p:nvPr>
            <p:ph type="title"/>
          </p:nvPr>
        </p:nvSpPr>
        <p:spPr>
          <a:xfrm>
            <a:off x="457201" y="409512"/>
            <a:ext cx="8381999" cy="780195"/>
          </a:xfrm>
        </p:spPr>
        <p:txBody>
          <a:bodyPr>
            <a:normAutofit fontScale="90000"/>
          </a:bodyPr>
          <a:lstStyle/>
          <a:p>
            <a:r>
              <a:rPr lang="en-MY" dirty="0"/>
              <a:t>Software Estimates/ Software efforts </a:t>
            </a:r>
            <a:r>
              <a:rPr lang="en-MY" dirty="0" smtClean="0"/>
              <a:t>estimate </a:t>
            </a:r>
            <a:r>
              <a:rPr lang="en-US" dirty="0" smtClean="0"/>
              <a:t>(contd</a:t>
            </a:r>
            <a:r>
              <a:rPr lang="en-US" dirty="0"/>
              <a:t>.)</a:t>
            </a:r>
          </a:p>
        </p:txBody>
      </p:sp>
      <p:sp>
        <p:nvSpPr>
          <p:cNvPr id="3" name="Content Placeholder 2"/>
          <p:cNvSpPr>
            <a:spLocks noGrp="1"/>
          </p:cNvSpPr>
          <p:nvPr>
            <p:ph type="body" sz="quarter" idx="13"/>
          </p:nvPr>
        </p:nvSpPr>
        <p:spPr/>
        <p:txBody>
          <a:bodyPr>
            <a:normAutofit lnSpcReduction="10000"/>
          </a:bodyPr>
          <a:lstStyle/>
          <a:p>
            <a:pPr defTabSz="901700" eaLnBrk="1" fontAlgn="auto" hangingPunct="1">
              <a:spcBef>
                <a:spcPct val="50000"/>
              </a:spcBef>
              <a:spcAft>
                <a:spcPts val="0"/>
              </a:spcAft>
              <a:buFont typeface="Arial" panose="020B0604020202020204" pitchFamily="34" charset="0"/>
              <a:buChar char="•"/>
              <a:defRPr/>
            </a:pPr>
            <a:r>
              <a:rPr lang="en-US" sz="2400" dirty="0"/>
              <a:t>In a project  it is very important to know:</a:t>
            </a:r>
          </a:p>
          <a:p>
            <a:pPr lvl="1" defTabSz="901700" eaLnBrk="1" fontAlgn="auto" hangingPunct="1">
              <a:spcBef>
                <a:spcPct val="50000"/>
              </a:spcBef>
              <a:spcAft>
                <a:spcPts val="0"/>
              </a:spcAft>
              <a:buSzPct val="85000"/>
              <a:buFont typeface="Calibri" panose="020F0502020204030204" pitchFamily="34" charset="0"/>
              <a:buChar char="-"/>
              <a:defRPr/>
            </a:pPr>
            <a:r>
              <a:rPr lang="en-US" sz="2400" dirty="0"/>
              <a:t>how long will it take</a:t>
            </a:r>
          </a:p>
          <a:p>
            <a:pPr lvl="1" defTabSz="901700" eaLnBrk="1" fontAlgn="auto" hangingPunct="1">
              <a:spcBef>
                <a:spcPct val="50000"/>
              </a:spcBef>
              <a:spcAft>
                <a:spcPts val="0"/>
              </a:spcAft>
              <a:buSzPct val="85000"/>
              <a:buFont typeface="Calibri" panose="020F0502020204030204" pitchFamily="34" charset="0"/>
              <a:buChar char="-"/>
              <a:defRPr/>
            </a:pPr>
            <a:r>
              <a:rPr lang="en-US" sz="2400" dirty="0"/>
              <a:t>how much effort will be required</a:t>
            </a:r>
          </a:p>
          <a:p>
            <a:pPr lvl="1" defTabSz="901700" eaLnBrk="1" fontAlgn="auto" hangingPunct="1">
              <a:spcBef>
                <a:spcPct val="50000"/>
              </a:spcBef>
              <a:spcAft>
                <a:spcPts val="0"/>
              </a:spcAft>
              <a:buSzPct val="85000"/>
              <a:buFont typeface="Calibri" panose="020F0502020204030204" pitchFamily="34" charset="0"/>
              <a:buChar char="-"/>
              <a:defRPr/>
            </a:pPr>
            <a:r>
              <a:rPr lang="en-US" sz="2400" dirty="0"/>
              <a:t>how many people will be involved</a:t>
            </a:r>
          </a:p>
          <a:p>
            <a:pPr lvl="1" defTabSz="901700" eaLnBrk="1" fontAlgn="auto" hangingPunct="1">
              <a:spcBef>
                <a:spcPct val="50000"/>
              </a:spcBef>
              <a:spcAft>
                <a:spcPts val="0"/>
              </a:spcAft>
              <a:buSzPct val="85000"/>
              <a:buFont typeface="Calibri" panose="020F0502020204030204" pitchFamily="34" charset="0"/>
              <a:buChar char="-"/>
              <a:defRPr/>
            </a:pPr>
            <a:r>
              <a:rPr lang="en-US" sz="2400" dirty="0"/>
              <a:t>how many resources do I need</a:t>
            </a:r>
          </a:p>
          <a:p>
            <a:pPr lvl="1" defTabSz="901700" eaLnBrk="1" fontAlgn="auto" hangingPunct="1">
              <a:spcBef>
                <a:spcPct val="50000"/>
              </a:spcBef>
              <a:spcAft>
                <a:spcPts val="0"/>
              </a:spcAft>
              <a:buSzPct val="85000"/>
              <a:buFont typeface="Calibri" panose="020F0502020204030204" pitchFamily="34" charset="0"/>
              <a:buChar char="-"/>
              <a:defRPr/>
            </a:pPr>
            <a:r>
              <a:rPr lang="en-US" sz="2400" dirty="0"/>
              <a:t>what are the </a:t>
            </a:r>
            <a:r>
              <a:rPr lang="en-US" sz="2400" dirty="0" smtClean="0"/>
              <a:t>risks</a:t>
            </a:r>
          </a:p>
          <a:p>
            <a:pPr lvl="1" defTabSz="901700" eaLnBrk="1" fontAlgn="auto" hangingPunct="1">
              <a:spcBef>
                <a:spcPct val="50000"/>
              </a:spcBef>
              <a:spcAft>
                <a:spcPts val="0"/>
              </a:spcAft>
              <a:buSzPct val="85000"/>
              <a:buFont typeface="Calibri" panose="020F0502020204030204" pitchFamily="34" charset="0"/>
              <a:buChar char="-"/>
              <a:defRPr/>
            </a:pPr>
            <a:endParaRPr lang="en-US" sz="2400" dirty="0" smtClean="0"/>
          </a:p>
          <a:p>
            <a:pPr>
              <a:spcBef>
                <a:spcPct val="0"/>
              </a:spcBef>
              <a:buFontTx/>
              <a:buChar char="•"/>
              <a:defRPr/>
            </a:pPr>
            <a:r>
              <a:rPr lang="en-US" sz="2400" dirty="0"/>
              <a:t>Availability:  time a staff person is able/willing to work</a:t>
            </a:r>
          </a:p>
          <a:p>
            <a:pPr>
              <a:spcBef>
                <a:spcPct val="0"/>
              </a:spcBef>
              <a:buFontTx/>
              <a:buChar char="•"/>
              <a:defRPr/>
            </a:pPr>
            <a:r>
              <a:rPr lang="en-US" sz="2400" dirty="0"/>
              <a:t>Productivity:  the relative measure of work in a time unit.  People hours left in a day.</a:t>
            </a:r>
          </a:p>
          <a:p>
            <a:pPr lvl="1" defTabSz="901700" eaLnBrk="1" fontAlgn="auto" hangingPunct="1">
              <a:spcBef>
                <a:spcPct val="50000"/>
              </a:spcBef>
              <a:spcAft>
                <a:spcPts val="0"/>
              </a:spcAft>
              <a:buSzPct val="85000"/>
              <a:buFont typeface="Calibri" panose="020F0502020204030204" pitchFamily="34" charset="0"/>
              <a:buChar char="-"/>
              <a:defRPr/>
            </a:pPr>
            <a:endParaRPr lang="en-US" sz="2400" dirty="0"/>
          </a:p>
          <a:p>
            <a:pPr marL="274320" indent="-274320" eaLnBrk="1" fontAlgn="auto" hangingPunct="1">
              <a:spcAft>
                <a:spcPts val="0"/>
              </a:spcAft>
              <a:buFont typeface="Wingdings 2"/>
              <a:buChar char=""/>
              <a:defRPr/>
            </a:pPr>
            <a:endParaRPr lang="en-US" dirty="0"/>
          </a:p>
        </p:txBody>
      </p:sp>
    </p:spTree>
    <p:extLst>
      <p:ext uri="{BB962C8B-B14F-4D97-AF65-F5344CB8AC3E}">
        <p14:creationId xmlns:p14="http://schemas.microsoft.com/office/powerpoint/2010/main" val="6855840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Slide Number Placeholder 3"/>
          <p:cNvSpPr>
            <a:spLocks noGrp="1"/>
          </p:cNvSpPr>
          <p:nvPr>
            <p:ph type="sldNum" sz="quarter" idx="12"/>
          </p:nvPr>
        </p:nvSpPr>
        <p:spPr/>
        <p:txBody>
          <a:bodyPr/>
          <a:lstStyle/>
          <a:p>
            <a:pPr>
              <a:defRPr/>
            </a:pPr>
            <a:fld id="{92638742-E657-4C1C-BC7B-CB1C100A2E80}" type="slidenum">
              <a:rPr lang="en-US"/>
              <a:pPr>
                <a:defRPr/>
              </a:pPr>
              <a:t>12</a:t>
            </a:fld>
            <a:endParaRPr lang="en-US"/>
          </a:p>
        </p:txBody>
      </p:sp>
      <p:sp>
        <p:nvSpPr>
          <p:cNvPr id="97282" name="Title 1"/>
          <p:cNvSpPr>
            <a:spLocks noGrp="1"/>
          </p:cNvSpPr>
          <p:nvPr>
            <p:ph type="title"/>
          </p:nvPr>
        </p:nvSpPr>
        <p:spPr>
          <a:xfrm>
            <a:off x="457201" y="409512"/>
            <a:ext cx="8381999" cy="780195"/>
          </a:xfrm>
        </p:spPr>
        <p:txBody>
          <a:bodyPr>
            <a:normAutofit fontScale="90000"/>
          </a:bodyPr>
          <a:lstStyle/>
          <a:p>
            <a:r>
              <a:rPr lang="en-MY" dirty="0"/>
              <a:t>Software Estimates/ Software efforts </a:t>
            </a:r>
            <a:r>
              <a:rPr lang="en-MY" dirty="0" smtClean="0"/>
              <a:t>estimate </a:t>
            </a:r>
            <a:r>
              <a:rPr lang="en-US" dirty="0" smtClean="0"/>
              <a:t>(contd</a:t>
            </a:r>
            <a:r>
              <a:rPr lang="en-US" dirty="0"/>
              <a:t>.)</a:t>
            </a:r>
          </a:p>
        </p:txBody>
      </p:sp>
      <p:sp>
        <p:nvSpPr>
          <p:cNvPr id="3" name="Content Placeholder 2"/>
          <p:cNvSpPr>
            <a:spLocks noGrp="1"/>
          </p:cNvSpPr>
          <p:nvPr>
            <p:ph type="body" sz="quarter" idx="13"/>
          </p:nvPr>
        </p:nvSpPr>
        <p:spPr/>
        <p:txBody>
          <a:bodyPr>
            <a:normAutofit fontScale="92500" lnSpcReduction="20000"/>
          </a:bodyPr>
          <a:lstStyle/>
          <a:p>
            <a:pPr>
              <a:spcBef>
                <a:spcPct val="0"/>
              </a:spcBef>
              <a:buFontTx/>
              <a:buChar char="•"/>
              <a:defRPr/>
            </a:pPr>
            <a:r>
              <a:rPr lang="en-US" sz="2800" dirty="0" smtClean="0"/>
              <a:t>Level </a:t>
            </a:r>
            <a:r>
              <a:rPr lang="en-US" sz="2800" dirty="0"/>
              <a:t>of effort:  a type of support activity that is characterized by a consistent rate of activity over a given period of time rather than in terms of specific accomplishments</a:t>
            </a:r>
          </a:p>
          <a:p>
            <a:pPr>
              <a:spcBef>
                <a:spcPct val="0"/>
              </a:spcBef>
              <a:buFontTx/>
              <a:buChar char="•"/>
              <a:defRPr/>
            </a:pPr>
            <a:r>
              <a:rPr lang="en-US" sz="2800" dirty="0"/>
              <a:t>Staff effort:  time required to complete tasks.  Usually measured in increments such as person-hours</a:t>
            </a:r>
          </a:p>
          <a:p>
            <a:pPr>
              <a:spcBef>
                <a:spcPct val="0"/>
              </a:spcBef>
              <a:buFontTx/>
              <a:buChar char="•"/>
              <a:defRPr/>
            </a:pPr>
            <a:r>
              <a:rPr lang="en-US" sz="2800" dirty="0"/>
              <a:t>Working time:  time available for work.  Usually measured in working hours/day, working hours/week, working hours/month</a:t>
            </a:r>
          </a:p>
          <a:p>
            <a:pPr>
              <a:spcBef>
                <a:spcPct val="0"/>
              </a:spcBef>
              <a:buFontTx/>
              <a:buChar char="•"/>
              <a:defRPr/>
            </a:pPr>
            <a:r>
              <a:rPr lang="en-US" sz="2800" dirty="0"/>
              <a:t>Calendar time (elapsed time):  time required to perform the effort, considering the working time.  Usually measured in calendar days, calendar weeks or calendar </a:t>
            </a:r>
            <a:r>
              <a:rPr lang="en-US" sz="2800" dirty="0" smtClean="0"/>
              <a:t>months</a:t>
            </a:r>
          </a:p>
          <a:p>
            <a:pPr>
              <a:spcBef>
                <a:spcPct val="0"/>
              </a:spcBef>
              <a:buFontTx/>
              <a:buChar char="•"/>
              <a:defRPr/>
            </a:pPr>
            <a:r>
              <a:rPr lang="en-US" sz="2800" dirty="0" smtClean="0"/>
              <a:t>Expenses</a:t>
            </a:r>
            <a:r>
              <a:rPr lang="en-US" sz="2800" dirty="0"/>
              <a:t>:  a charge incurred when a bill or invoice is processed or when work time is reported against the project’s authorized job codes</a:t>
            </a:r>
          </a:p>
          <a:p>
            <a:pPr marL="274320" indent="-274320" eaLnBrk="1" fontAlgn="auto" hangingPunct="1">
              <a:spcAft>
                <a:spcPts val="0"/>
              </a:spcAft>
              <a:buFont typeface="Wingdings 2"/>
              <a:buChar char=""/>
              <a:defRPr/>
            </a:pPr>
            <a:endParaRPr lang="en-US" dirty="0"/>
          </a:p>
        </p:txBody>
      </p:sp>
    </p:spTree>
    <p:extLst>
      <p:ext uri="{BB962C8B-B14F-4D97-AF65-F5344CB8AC3E}">
        <p14:creationId xmlns:p14="http://schemas.microsoft.com/office/powerpoint/2010/main" val="2545886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13</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US" dirty="0"/>
              <a:t>What to estimate?</a:t>
            </a:r>
            <a:endParaRPr lang="en-MY" dirty="0"/>
          </a:p>
        </p:txBody>
      </p:sp>
      <p:sp>
        <p:nvSpPr>
          <p:cNvPr id="3" name="Content Placeholder 2"/>
          <p:cNvSpPr>
            <a:spLocks noGrp="1"/>
          </p:cNvSpPr>
          <p:nvPr>
            <p:ph type="body" sz="quarter" idx="13"/>
          </p:nvPr>
        </p:nvSpPr>
        <p:spPr/>
        <p:txBody>
          <a:bodyPr>
            <a:normAutofit fontScale="92500" lnSpcReduction="10000"/>
          </a:bodyPr>
          <a:lstStyle/>
          <a:p>
            <a:pPr eaLnBrk="1" hangingPunct="1">
              <a:spcBef>
                <a:spcPct val="0"/>
              </a:spcBef>
              <a:buFontTx/>
              <a:buChar char="•"/>
              <a:defRPr/>
            </a:pPr>
            <a:r>
              <a:rPr lang="en-US" sz="2400" dirty="0"/>
              <a:t>Effort:  the number of </a:t>
            </a:r>
            <a:r>
              <a:rPr lang="en-US" sz="2400" dirty="0" smtClean="0"/>
              <a:t>labor </a:t>
            </a:r>
            <a:r>
              <a:rPr lang="en-US" sz="2400" dirty="0"/>
              <a:t>units required to complete an activity or other project element</a:t>
            </a:r>
          </a:p>
          <a:p>
            <a:pPr eaLnBrk="1" hangingPunct="1">
              <a:spcBef>
                <a:spcPct val="0"/>
              </a:spcBef>
              <a:buFontTx/>
              <a:buChar char="•"/>
              <a:defRPr/>
            </a:pPr>
            <a:r>
              <a:rPr lang="en-US" sz="2400" dirty="0" smtClean="0"/>
              <a:t>Activity Duration</a:t>
            </a:r>
            <a:r>
              <a:rPr lang="en-US" sz="2400" dirty="0"/>
              <a:t>:  number of work periods required to complete an activity or other project element.  </a:t>
            </a:r>
          </a:p>
          <a:p>
            <a:pPr lvl="1" eaLnBrk="1" hangingPunct="1">
              <a:spcBef>
                <a:spcPct val="0"/>
              </a:spcBef>
              <a:buFontTx/>
              <a:buChar char="•"/>
              <a:defRPr/>
            </a:pPr>
            <a:r>
              <a:rPr lang="en-US" sz="2000" dirty="0"/>
              <a:t>Continuous duration is work time that is not interrupted.  </a:t>
            </a:r>
          </a:p>
          <a:p>
            <a:pPr lvl="1" eaLnBrk="1" hangingPunct="1">
              <a:spcBef>
                <a:spcPct val="0"/>
              </a:spcBef>
              <a:buFontTx/>
              <a:buChar char="•"/>
              <a:defRPr/>
            </a:pPr>
            <a:r>
              <a:rPr lang="en-US" sz="2000" dirty="0"/>
              <a:t>Interruptible duration is work time that might be interrupted.</a:t>
            </a:r>
          </a:p>
          <a:p>
            <a:pPr eaLnBrk="1" hangingPunct="1">
              <a:spcBef>
                <a:spcPct val="0"/>
              </a:spcBef>
              <a:buFontTx/>
              <a:buChar char="•"/>
              <a:defRPr/>
            </a:pPr>
            <a:r>
              <a:rPr lang="en-US" sz="2400" dirty="0"/>
              <a:t>Resources:  any necessary item that might be directly used in &amp; charged to the </a:t>
            </a:r>
            <a:r>
              <a:rPr lang="en-US" sz="2400" dirty="0" smtClean="0"/>
              <a:t>project</a:t>
            </a:r>
          </a:p>
          <a:p>
            <a:pPr lvl="1"/>
            <a:r>
              <a:rPr lang="en-US" sz="2000" dirty="0"/>
              <a:t>People</a:t>
            </a:r>
          </a:p>
          <a:p>
            <a:pPr lvl="1"/>
            <a:r>
              <a:rPr lang="en-US" sz="2000" dirty="0" smtClean="0"/>
              <a:t>Equipment</a:t>
            </a:r>
            <a:endParaRPr lang="en-US" sz="2200" dirty="0"/>
          </a:p>
          <a:p>
            <a:pPr eaLnBrk="1" hangingPunct="1">
              <a:spcBef>
                <a:spcPct val="0"/>
              </a:spcBef>
              <a:buFontTx/>
              <a:buChar char="•"/>
              <a:defRPr/>
            </a:pPr>
            <a:r>
              <a:rPr lang="en-US" sz="2400" dirty="0" smtClean="0"/>
              <a:t>Cost</a:t>
            </a:r>
          </a:p>
          <a:p>
            <a:pPr lvl="1">
              <a:spcBef>
                <a:spcPct val="0"/>
              </a:spcBef>
              <a:buFontTx/>
              <a:buChar char="•"/>
              <a:defRPr/>
            </a:pPr>
            <a:r>
              <a:rPr lang="en-US" sz="2200" dirty="0" smtClean="0"/>
              <a:t>Direct </a:t>
            </a:r>
            <a:r>
              <a:rPr lang="en-US" sz="2200" dirty="0"/>
              <a:t>costs:  labor, materials, equipment, services and fees that are charged to the project &amp; must be traceable</a:t>
            </a:r>
          </a:p>
          <a:p>
            <a:pPr lvl="1">
              <a:spcBef>
                <a:spcPct val="0"/>
              </a:spcBef>
              <a:buFontTx/>
              <a:buChar char="•"/>
              <a:defRPr/>
            </a:pPr>
            <a:r>
              <a:rPr lang="en-US" sz="2200" dirty="0"/>
              <a:t>Indirect costs:  overhead &amp; admin expenses.  Overhead might include user training (course development, classroom costs, </a:t>
            </a:r>
            <a:r>
              <a:rPr lang="en-US" sz="2200" dirty="0" err="1"/>
              <a:t>etc</a:t>
            </a:r>
            <a:r>
              <a:rPr lang="en-US" sz="2200" dirty="0"/>
              <a:t>)</a:t>
            </a:r>
          </a:p>
          <a:p>
            <a:endParaRPr lang="en-MY" sz="2400" dirty="0"/>
          </a:p>
        </p:txBody>
      </p:sp>
    </p:spTree>
    <p:extLst>
      <p:ext uri="{BB962C8B-B14F-4D97-AF65-F5344CB8AC3E}">
        <p14:creationId xmlns:p14="http://schemas.microsoft.com/office/powerpoint/2010/main" val="22657682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8" name="Slide Number Placeholder 3"/>
          <p:cNvSpPr>
            <a:spLocks noGrp="1"/>
          </p:cNvSpPr>
          <p:nvPr>
            <p:ph type="sldNum" sz="quarter" idx="12"/>
          </p:nvPr>
        </p:nvSpPr>
        <p:spPr/>
        <p:txBody>
          <a:bodyPr/>
          <a:lstStyle/>
          <a:p>
            <a:pPr>
              <a:defRPr/>
            </a:pPr>
            <a:fld id="{408BF873-30C9-47FC-BE9C-5EFC13A73C55}" type="slidenum">
              <a:rPr lang="en-US"/>
              <a:pPr>
                <a:defRPr/>
              </a:pPr>
              <a:t>14</a:t>
            </a:fld>
            <a:endParaRPr lang="en-US"/>
          </a:p>
        </p:txBody>
      </p:sp>
      <p:sp>
        <p:nvSpPr>
          <p:cNvPr id="96258" name="Title 1"/>
          <p:cNvSpPr>
            <a:spLocks noGrp="1"/>
          </p:cNvSpPr>
          <p:nvPr>
            <p:ph type="title"/>
          </p:nvPr>
        </p:nvSpPr>
        <p:spPr/>
        <p:txBody>
          <a:bodyPr>
            <a:normAutofit/>
          </a:bodyPr>
          <a:lstStyle/>
          <a:p>
            <a:pPr eaLnBrk="1" hangingPunct="1"/>
            <a:r>
              <a:rPr lang="en-US" dirty="0"/>
              <a:t>When to estimate?</a:t>
            </a:r>
          </a:p>
        </p:txBody>
      </p:sp>
      <p:sp>
        <p:nvSpPr>
          <p:cNvPr id="96260" name="Content Placeholder 2"/>
          <p:cNvSpPr>
            <a:spLocks noGrp="1"/>
          </p:cNvSpPr>
          <p:nvPr>
            <p:ph type="body" sz="quarter" idx="13"/>
          </p:nvPr>
        </p:nvSpPr>
        <p:spPr/>
        <p:txBody>
          <a:bodyPr>
            <a:normAutofit lnSpcReduction="10000"/>
          </a:bodyPr>
          <a:lstStyle/>
          <a:p>
            <a:pPr eaLnBrk="1" hangingPunct="1">
              <a:lnSpc>
                <a:spcPct val="90000"/>
              </a:lnSpc>
            </a:pPr>
            <a:r>
              <a:rPr lang="en-US" sz="2800" dirty="0"/>
              <a:t>Estimate is done many times throughout the project lifecycle</a:t>
            </a:r>
          </a:p>
          <a:p>
            <a:pPr eaLnBrk="1" hangingPunct="1">
              <a:lnSpc>
                <a:spcPct val="90000"/>
              </a:lnSpc>
            </a:pPr>
            <a:r>
              <a:rPr lang="en-US" sz="2800" dirty="0"/>
              <a:t>Prepare estimates:</a:t>
            </a:r>
          </a:p>
          <a:p>
            <a:pPr lvl="1" eaLnBrk="1" hangingPunct="1">
              <a:lnSpc>
                <a:spcPct val="90000"/>
              </a:lnSpc>
            </a:pPr>
            <a:r>
              <a:rPr lang="en-US" sz="2400" dirty="0"/>
              <a:t>After WBS is developed</a:t>
            </a:r>
          </a:p>
          <a:p>
            <a:pPr lvl="1" eaLnBrk="1" hangingPunct="1">
              <a:lnSpc>
                <a:spcPct val="90000"/>
              </a:lnSpc>
            </a:pPr>
            <a:r>
              <a:rPr lang="en-US" sz="2400" dirty="0"/>
              <a:t>When determining whether to bid on an opportunity</a:t>
            </a:r>
          </a:p>
          <a:p>
            <a:pPr lvl="1" eaLnBrk="1" hangingPunct="1">
              <a:lnSpc>
                <a:spcPct val="90000"/>
              </a:lnSpc>
            </a:pPr>
            <a:r>
              <a:rPr lang="en-US" sz="2400" dirty="0"/>
              <a:t>When taking over a project to validate proposal estimates</a:t>
            </a:r>
          </a:p>
          <a:p>
            <a:pPr lvl="1" eaLnBrk="1" hangingPunct="1">
              <a:lnSpc>
                <a:spcPct val="90000"/>
              </a:lnSpc>
            </a:pPr>
            <a:r>
              <a:rPr lang="en-US" sz="2400" dirty="0"/>
              <a:t>When moving to the next phase of a project</a:t>
            </a:r>
          </a:p>
          <a:p>
            <a:pPr lvl="1" eaLnBrk="1" hangingPunct="1">
              <a:lnSpc>
                <a:spcPct val="90000"/>
              </a:lnSpc>
            </a:pPr>
            <a:r>
              <a:rPr lang="en-US" sz="2400" dirty="0"/>
              <a:t>When an assumption proves to be invalid</a:t>
            </a:r>
          </a:p>
          <a:p>
            <a:pPr lvl="1" eaLnBrk="1" hangingPunct="1">
              <a:lnSpc>
                <a:spcPct val="90000"/>
              </a:lnSpc>
            </a:pPr>
            <a:r>
              <a:rPr lang="en-US" sz="2400" dirty="0"/>
              <a:t>When the WBS changes to ascertain the effort and cost associated with the changes</a:t>
            </a:r>
          </a:p>
          <a:p>
            <a:pPr lvl="1" eaLnBrk="1" hangingPunct="1">
              <a:lnSpc>
                <a:spcPct val="90000"/>
              </a:lnSpc>
            </a:pPr>
            <a:r>
              <a:rPr lang="en-US" sz="2400" dirty="0"/>
              <a:t>When there are authorized changes in resources, materials or </a:t>
            </a:r>
            <a:r>
              <a:rPr lang="en-US" sz="2400" dirty="0" smtClean="0"/>
              <a:t>services</a:t>
            </a:r>
            <a:endParaRPr lang="en-US" sz="2400" dirty="0"/>
          </a:p>
        </p:txBody>
      </p:sp>
    </p:spTree>
    <p:extLst>
      <p:ext uri="{BB962C8B-B14F-4D97-AF65-F5344CB8AC3E}">
        <p14:creationId xmlns:p14="http://schemas.microsoft.com/office/powerpoint/2010/main" val="3835971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15</a:t>
            </a:fld>
            <a:endParaRPr lang="en-MY">
              <a:solidFill>
                <a:prstClr val="black">
                  <a:tint val="75000"/>
                </a:prstClr>
              </a:solidFill>
            </a:endParaRPr>
          </a:p>
        </p:txBody>
      </p:sp>
      <p:sp>
        <p:nvSpPr>
          <p:cNvPr id="2" name="Title 1"/>
          <p:cNvSpPr>
            <a:spLocks noGrp="1"/>
          </p:cNvSpPr>
          <p:nvPr>
            <p:ph type="title"/>
          </p:nvPr>
        </p:nvSpPr>
        <p:spPr/>
        <p:txBody>
          <a:bodyPr/>
          <a:lstStyle/>
          <a:p>
            <a:r>
              <a:rPr lang="en-MY" dirty="0"/>
              <a:t>How to estimate?</a:t>
            </a:r>
          </a:p>
        </p:txBody>
      </p:sp>
      <p:sp>
        <p:nvSpPr>
          <p:cNvPr id="3" name="Content Placeholder 2"/>
          <p:cNvSpPr>
            <a:spLocks noGrp="1"/>
          </p:cNvSpPr>
          <p:nvPr>
            <p:ph type="body" sz="quarter" idx="13"/>
          </p:nvPr>
        </p:nvSpPr>
        <p:spPr/>
        <p:txBody>
          <a:bodyPr/>
          <a:lstStyle/>
          <a:p>
            <a:pPr defTabSz="901700" eaLnBrk="1" fontAlgn="auto" hangingPunct="1">
              <a:spcBef>
                <a:spcPct val="50000"/>
              </a:spcBef>
              <a:spcAft>
                <a:spcPts val="0"/>
              </a:spcAft>
              <a:buFont typeface="Arial" panose="020B0604020202020204" pitchFamily="34" charset="0"/>
              <a:buChar char="•"/>
              <a:defRPr/>
            </a:pPr>
            <a:r>
              <a:rPr lang="en-MY" sz="2400" dirty="0"/>
              <a:t>Software estimation is one of the most challenging and important activities in software development. </a:t>
            </a:r>
          </a:p>
          <a:p>
            <a:pPr defTabSz="901700" eaLnBrk="1" fontAlgn="auto" hangingPunct="1">
              <a:spcBef>
                <a:spcPct val="50000"/>
              </a:spcBef>
              <a:spcAft>
                <a:spcPts val="0"/>
              </a:spcAft>
              <a:buFont typeface="Arial" panose="020B0604020202020204" pitchFamily="34" charset="0"/>
              <a:buChar char="•"/>
              <a:defRPr/>
            </a:pPr>
            <a:r>
              <a:rPr lang="en-US" sz="2400" dirty="0"/>
              <a:t>Software estimation can never be an exact science</a:t>
            </a:r>
          </a:p>
          <a:p>
            <a:pPr defTabSz="901700" eaLnBrk="1" fontAlgn="auto" hangingPunct="1">
              <a:spcBef>
                <a:spcPct val="50000"/>
              </a:spcBef>
              <a:spcAft>
                <a:spcPts val="0"/>
              </a:spcAft>
              <a:buFont typeface="Arial" panose="020B0604020202020204" pitchFamily="34" charset="0"/>
              <a:buChar char="•"/>
              <a:defRPr/>
            </a:pPr>
            <a:r>
              <a:rPr lang="en-US" sz="2400" dirty="0"/>
              <a:t>Combination of good historical data and the use of a method can improve estimation </a:t>
            </a:r>
            <a:r>
              <a:rPr lang="en-US" sz="2400" dirty="0" smtClean="0"/>
              <a:t>accuracy</a:t>
            </a:r>
          </a:p>
          <a:p>
            <a:pPr defTabSz="901700" eaLnBrk="1" fontAlgn="auto" hangingPunct="1">
              <a:spcBef>
                <a:spcPct val="50000"/>
              </a:spcBef>
              <a:spcAft>
                <a:spcPts val="0"/>
              </a:spcAft>
              <a:buFont typeface="Arial" panose="020B0604020202020204" pitchFamily="34" charset="0"/>
              <a:buChar char="•"/>
              <a:defRPr/>
            </a:pPr>
            <a:r>
              <a:rPr lang="en-US" sz="2400" dirty="0" smtClean="0"/>
              <a:t>Make some assumption for estimation</a:t>
            </a:r>
            <a:endParaRPr lang="en-US" sz="2400" dirty="0"/>
          </a:p>
          <a:p>
            <a:endParaRPr lang="en-MY" dirty="0"/>
          </a:p>
        </p:txBody>
      </p:sp>
    </p:spTree>
    <p:extLst>
      <p:ext uri="{BB962C8B-B14F-4D97-AF65-F5344CB8AC3E}">
        <p14:creationId xmlns:p14="http://schemas.microsoft.com/office/powerpoint/2010/main" val="4255931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16</a:t>
            </a:fld>
            <a:endParaRPr lang="en-MY">
              <a:solidFill>
                <a:prstClr val="black">
                  <a:tint val="75000"/>
                </a:prstClr>
              </a:solidFill>
            </a:endParaRPr>
          </a:p>
        </p:txBody>
      </p:sp>
      <p:sp>
        <p:nvSpPr>
          <p:cNvPr id="2" name="Title 1"/>
          <p:cNvSpPr>
            <a:spLocks noGrp="1"/>
          </p:cNvSpPr>
          <p:nvPr>
            <p:ph type="title"/>
          </p:nvPr>
        </p:nvSpPr>
        <p:spPr/>
        <p:txBody>
          <a:bodyPr/>
          <a:lstStyle/>
          <a:p>
            <a:r>
              <a:rPr lang="en-MY" dirty="0" smtClean="0"/>
              <a:t>Costing and Pricing</a:t>
            </a:r>
            <a:endParaRPr lang="en-MY" dirty="0"/>
          </a:p>
        </p:txBody>
      </p:sp>
      <p:sp>
        <p:nvSpPr>
          <p:cNvPr id="3" name="Content Placeholder 2"/>
          <p:cNvSpPr>
            <a:spLocks noGrp="1"/>
          </p:cNvSpPr>
          <p:nvPr>
            <p:ph type="body" sz="quarter" idx="13"/>
          </p:nvPr>
        </p:nvSpPr>
        <p:spPr/>
        <p:txBody>
          <a:bodyPr/>
          <a:lstStyle/>
          <a:p>
            <a:r>
              <a:rPr lang="en-GB" altLang="en-US" sz="2400" dirty="0"/>
              <a:t>Estimates are made to discover the cost, to the developer, of producing a software system</a:t>
            </a:r>
          </a:p>
          <a:p>
            <a:r>
              <a:rPr lang="en-GB" altLang="en-US" sz="2400" dirty="0"/>
              <a:t>There is not a simple relationship between the development cost and the price charged to the customer</a:t>
            </a:r>
          </a:p>
          <a:p>
            <a:r>
              <a:rPr lang="en-GB" altLang="en-US" sz="2400" dirty="0"/>
              <a:t>Broader organisational, economic, political and business considerations influence the price charged</a:t>
            </a:r>
          </a:p>
          <a:p>
            <a:endParaRPr lang="en-MY" dirty="0"/>
          </a:p>
        </p:txBody>
      </p:sp>
    </p:spTree>
    <p:extLst>
      <p:ext uri="{BB962C8B-B14F-4D97-AF65-F5344CB8AC3E}">
        <p14:creationId xmlns:p14="http://schemas.microsoft.com/office/powerpoint/2010/main" val="11382605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17</a:t>
            </a:fld>
            <a:endParaRPr lang="en-MY">
              <a:solidFill>
                <a:prstClr val="black">
                  <a:tint val="75000"/>
                </a:prstClr>
              </a:solidFill>
            </a:endParaRPr>
          </a:p>
        </p:txBody>
      </p:sp>
      <p:sp>
        <p:nvSpPr>
          <p:cNvPr id="2" name="Title 1"/>
          <p:cNvSpPr>
            <a:spLocks noGrp="1"/>
          </p:cNvSpPr>
          <p:nvPr>
            <p:ph type="title"/>
          </p:nvPr>
        </p:nvSpPr>
        <p:spPr/>
        <p:txBody>
          <a:bodyPr/>
          <a:lstStyle/>
          <a:p>
            <a:r>
              <a:rPr lang="en-MY" dirty="0" smtClean="0"/>
              <a:t>Software Pricing Factors</a:t>
            </a:r>
            <a:endParaRPr lang="en-MY" dirty="0"/>
          </a:p>
        </p:txBody>
      </p:sp>
      <p:graphicFrame>
        <p:nvGraphicFramePr>
          <p:cNvPr id="5" name="Object 6"/>
          <p:cNvGraphicFramePr>
            <a:graphicFrameLocks noChangeAspect="1"/>
          </p:cNvGraphicFramePr>
          <p:nvPr>
            <p:extLst>
              <p:ext uri="{D42A27DB-BD31-4B8C-83A1-F6EECF244321}">
                <p14:modId xmlns:p14="http://schemas.microsoft.com/office/powerpoint/2010/main" val="2772816968"/>
              </p:ext>
            </p:extLst>
          </p:nvPr>
        </p:nvGraphicFramePr>
        <p:xfrm>
          <a:off x="838200" y="1240755"/>
          <a:ext cx="6858000" cy="5045075"/>
        </p:xfrm>
        <a:graphic>
          <a:graphicData uri="http://schemas.openxmlformats.org/presentationml/2006/ole">
            <mc:AlternateContent xmlns:mc="http://schemas.openxmlformats.org/markup-compatibility/2006">
              <mc:Choice xmlns:v="urn:schemas-microsoft-com:vml" Requires="v">
                <p:oleObj spid="_x0000_s1139" name="Bitmap Image" r:id="rId3" imgW="5800000" imgH="4266667" progId="Paint.Picture">
                  <p:embed/>
                </p:oleObj>
              </mc:Choice>
              <mc:Fallback>
                <p:oleObj name="Bitmap Image" r:id="rId3" imgW="5800000" imgH="4266667"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240755"/>
                        <a:ext cx="6858000" cy="5045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extLst>
      <p:ext uri="{BB962C8B-B14F-4D97-AF65-F5344CB8AC3E}">
        <p14:creationId xmlns:p14="http://schemas.microsoft.com/office/powerpoint/2010/main" val="31537073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18</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MY" dirty="0"/>
              <a:t>Estimation Types</a:t>
            </a:r>
          </a:p>
        </p:txBody>
      </p:sp>
      <p:sp>
        <p:nvSpPr>
          <p:cNvPr id="3" name="Content Placeholder 2"/>
          <p:cNvSpPr>
            <a:spLocks noGrp="1"/>
          </p:cNvSpPr>
          <p:nvPr>
            <p:ph type="body" sz="quarter" idx="13"/>
          </p:nvPr>
        </p:nvSpPr>
        <p:spPr/>
        <p:txBody>
          <a:bodyPr>
            <a:normAutofit/>
          </a:bodyPr>
          <a:lstStyle/>
          <a:p>
            <a:r>
              <a:rPr lang="en-MY" sz="2800" dirty="0"/>
              <a:t>A few elements are to be considered when choosing the right method to estimate software development:  </a:t>
            </a:r>
          </a:p>
          <a:p>
            <a:pPr lvl="1"/>
            <a:r>
              <a:rPr lang="en-MY" sz="2400" dirty="0"/>
              <a:t>team’s experience</a:t>
            </a:r>
          </a:p>
          <a:p>
            <a:pPr lvl="1"/>
            <a:r>
              <a:rPr lang="en-MY" sz="2400" dirty="0"/>
              <a:t>the estimated lines of codes (LOC) to be delivered</a:t>
            </a:r>
          </a:p>
          <a:p>
            <a:pPr lvl="1"/>
            <a:r>
              <a:rPr lang="en-MY" sz="2400" dirty="0"/>
              <a:t>the programming language used</a:t>
            </a:r>
          </a:p>
          <a:p>
            <a:pPr lvl="1"/>
            <a:r>
              <a:rPr lang="en-MY" sz="2400" dirty="0"/>
              <a:t>the complexity of the software</a:t>
            </a:r>
          </a:p>
          <a:p>
            <a:pPr lvl="1"/>
            <a:r>
              <a:rPr lang="en-MY" sz="2400" dirty="0"/>
              <a:t>the design methodologies </a:t>
            </a:r>
          </a:p>
          <a:p>
            <a:pPr lvl="1"/>
            <a:r>
              <a:rPr lang="en-MY" sz="2400" dirty="0"/>
              <a:t>the environment for the tests to be conducted etc.</a:t>
            </a:r>
          </a:p>
        </p:txBody>
      </p:sp>
    </p:spTree>
    <p:extLst>
      <p:ext uri="{BB962C8B-B14F-4D97-AF65-F5344CB8AC3E}">
        <p14:creationId xmlns:p14="http://schemas.microsoft.com/office/powerpoint/2010/main" val="37065059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19</a:t>
            </a:fld>
            <a:endParaRPr lang="en-MY">
              <a:solidFill>
                <a:prstClr val="black">
                  <a:tint val="75000"/>
                </a:prstClr>
              </a:solidFill>
            </a:endParaRPr>
          </a:p>
        </p:txBody>
      </p:sp>
      <p:sp>
        <p:nvSpPr>
          <p:cNvPr id="2" name="Title 1"/>
          <p:cNvSpPr>
            <a:spLocks noGrp="1"/>
          </p:cNvSpPr>
          <p:nvPr>
            <p:ph type="title"/>
          </p:nvPr>
        </p:nvSpPr>
        <p:spPr/>
        <p:txBody>
          <a:bodyPr/>
          <a:lstStyle/>
          <a:p>
            <a:r>
              <a:rPr lang="en-MY" dirty="0"/>
              <a:t>Estimation </a:t>
            </a:r>
            <a:r>
              <a:rPr lang="en-MY" dirty="0" smtClean="0"/>
              <a:t>Types </a:t>
            </a:r>
            <a:r>
              <a:rPr lang="en-US" dirty="0"/>
              <a:t>(contd.)</a:t>
            </a:r>
            <a:endParaRPr lang="en-MY" dirty="0"/>
          </a:p>
        </p:txBody>
      </p:sp>
      <p:sp>
        <p:nvSpPr>
          <p:cNvPr id="3" name="Content Placeholder 2"/>
          <p:cNvSpPr>
            <a:spLocks noGrp="1"/>
          </p:cNvSpPr>
          <p:nvPr>
            <p:ph type="body" sz="quarter" idx="13"/>
          </p:nvPr>
        </p:nvSpPr>
        <p:spPr/>
        <p:txBody>
          <a:bodyPr>
            <a:normAutofit/>
          </a:bodyPr>
          <a:lstStyle/>
          <a:p>
            <a:r>
              <a:rPr lang="en-MY" sz="2800" dirty="0"/>
              <a:t>From the point of view of the input data, estimation methods can be divided into three groups: </a:t>
            </a:r>
          </a:p>
          <a:p>
            <a:pPr lvl="1"/>
            <a:r>
              <a:rPr lang="en-MY" sz="2400" dirty="0"/>
              <a:t>data-intensive</a:t>
            </a:r>
          </a:p>
          <a:p>
            <a:pPr lvl="1"/>
            <a:r>
              <a:rPr lang="en-MY" sz="2400" dirty="0"/>
              <a:t>expert-based </a:t>
            </a:r>
          </a:p>
          <a:p>
            <a:pPr lvl="1"/>
            <a:r>
              <a:rPr lang="en-MY" sz="2400" dirty="0"/>
              <a:t>hybrid methods </a:t>
            </a:r>
          </a:p>
        </p:txBody>
      </p:sp>
    </p:spTree>
    <p:extLst>
      <p:ext uri="{BB962C8B-B14F-4D97-AF65-F5344CB8AC3E}">
        <p14:creationId xmlns:p14="http://schemas.microsoft.com/office/powerpoint/2010/main" val="18361856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20</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MY" dirty="0"/>
              <a:t>Data-intensive method</a:t>
            </a:r>
          </a:p>
        </p:txBody>
      </p:sp>
      <p:sp>
        <p:nvSpPr>
          <p:cNvPr id="3" name="Content Placeholder 2"/>
          <p:cNvSpPr>
            <a:spLocks noGrp="1"/>
          </p:cNvSpPr>
          <p:nvPr>
            <p:ph type="body" sz="quarter" idx="13"/>
          </p:nvPr>
        </p:nvSpPr>
        <p:spPr/>
        <p:txBody>
          <a:bodyPr>
            <a:normAutofit/>
          </a:bodyPr>
          <a:lstStyle/>
          <a:p>
            <a:r>
              <a:rPr lang="en-MY" sz="2400" dirty="0"/>
              <a:t>The prediction relies upon an accurate estimation of:</a:t>
            </a:r>
          </a:p>
          <a:p>
            <a:pPr lvl="1"/>
            <a:r>
              <a:rPr lang="en-MY" sz="2000" dirty="0"/>
              <a:t>the software size</a:t>
            </a:r>
          </a:p>
          <a:p>
            <a:pPr lvl="1"/>
            <a:r>
              <a:rPr lang="en-MY" sz="2000" dirty="0"/>
              <a:t>its complexness</a:t>
            </a:r>
          </a:p>
          <a:p>
            <a:pPr lvl="1"/>
            <a:r>
              <a:rPr lang="en-MY" sz="2000" dirty="0"/>
              <a:t>the number of interfaces needed or the number of screens</a:t>
            </a:r>
          </a:p>
          <a:p>
            <a:r>
              <a:rPr lang="en-MY" sz="2400" dirty="0"/>
              <a:t>Made up of mathematics and statistics equations</a:t>
            </a:r>
          </a:p>
          <a:p>
            <a:r>
              <a:rPr lang="en-MY" sz="2400" dirty="0"/>
              <a:t>Fixed and predefined</a:t>
            </a:r>
          </a:p>
          <a:p>
            <a:r>
              <a:rPr lang="en-MY" sz="2400" dirty="0"/>
              <a:t>The input parameters have to be derived from various project properties in order to obtain a more precise estimation</a:t>
            </a:r>
          </a:p>
        </p:txBody>
      </p:sp>
    </p:spTree>
    <p:extLst>
      <p:ext uri="{BB962C8B-B14F-4D97-AF65-F5344CB8AC3E}">
        <p14:creationId xmlns:p14="http://schemas.microsoft.com/office/powerpoint/2010/main" val="4264940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21</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MY" dirty="0"/>
              <a:t>Expert-based method</a:t>
            </a:r>
          </a:p>
        </p:txBody>
      </p:sp>
      <p:sp>
        <p:nvSpPr>
          <p:cNvPr id="3" name="Content Placeholder 2"/>
          <p:cNvSpPr>
            <a:spLocks noGrp="1"/>
          </p:cNvSpPr>
          <p:nvPr>
            <p:ph type="body" sz="quarter" idx="13"/>
          </p:nvPr>
        </p:nvSpPr>
        <p:spPr/>
        <p:txBody>
          <a:bodyPr>
            <a:normAutofit/>
          </a:bodyPr>
          <a:lstStyle/>
          <a:p>
            <a:r>
              <a:rPr lang="en-MY" sz="2400" dirty="0"/>
              <a:t>The characteristics include learning, inferring and </a:t>
            </a:r>
            <a:r>
              <a:rPr lang="en-MY" sz="2400" dirty="0" smtClean="0"/>
              <a:t>analysing </a:t>
            </a:r>
            <a:r>
              <a:rPr lang="en-MY" sz="2400" dirty="0"/>
              <a:t>previous projects</a:t>
            </a:r>
          </a:p>
          <a:p>
            <a:r>
              <a:rPr lang="en-MY" sz="2400" dirty="0"/>
              <a:t>Among the well known expert-based software models are the ones using soft computing methodologies like artificial neural networks (ANN), fuzzy logic (FL) and evolutionary computing (EC) which cater for real life situations where things are vague and flexibility is required to handle each one of them</a:t>
            </a:r>
          </a:p>
          <a:p>
            <a:r>
              <a:rPr lang="en-MY" sz="2400" dirty="0"/>
              <a:t>Expert Judgement is the most commonly used technique but difficult to verify the accuracy of the results</a:t>
            </a:r>
          </a:p>
          <a:p>
            <a:r>
              <a:rPr lang="en-MY" sz="2400" dirty="0"/>
              <a:t>Analogy Based Estimation (ABE) is a simple &amp; flexible  </a:t>
            </a:r>
          </a:p>
        </p:txBody>
      </p:sp>
    </p:spTree>
    <p:extLst>
      <p:ext uri="{BB962C8B-B14F-4D97-AF65-F5344CB8AC3E}">
        <p14:creationId xmlns:p14="http://schemas.microsoft.com/office/powerpoint/2010/main" val="38049395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22</a:t>
            </a:fld>
            <a:endParaRPr lang="en-MY" dirty="0">
              <a:solidFill>
                <a:prstClr val="black">
                  <a:tint val="75000"/>
                </a:prstClr>
              </a:solidFill>
            </a:endParaRPr>
          </a:p>
        </p:txBody>
      </p:sp>
      <p:sp>
        <p:nvSpPr>
          <p:cNvPr id="2" name="Title 1"/>
          <p:cNvSpPr>
            <a:spLocks noGrp="1"/>
          </p:cNvSpPr>
          <p:nvPr>
            <p:ph type="title"/>
          </p:nvPr>
        </p:nvSpPr>
        <p:spPr/>
        <p:txBody>
          <a:bodyPr/>
          <a:lstStyle/>
          <a:p>
            <a:r>
              <a:rPr lang="en-MY" dirty="0"/>
              <a:t>Hybrid</a:t>
            </a:r>
            <a:endParaRPr lang="en-MY" sz="4000" dirty="0"/>
          </a:p>
        </p:txBody>
      </p:sp>
      <p:sp>
        <p:nvSpPr>
          <p:cNvPr id="3" name="Content Placeholder 2"/>
          <p:cNvSpPr>
            <a:spLocks noGrp="1"/>
          </p:cNvSpPr>
          <p:nvPr>
            <p:ph type="body" sz="quarter" idx="13"/>
          </p:nvPr>
        </p:nvSpPr>
        <p:spPr/>
        <p:txBody>
          <a:bodyPr>
            <a:normAutofit/>
          </a:bodyPr>
          <a:lstStyle/>
          <a:p>
            <a:r>
              <a:rPr lang="en-MY" sz="2800" dirty="0"/>
              <a:t>Hybrid means combining the available data and expert knowledge in order to come up with a good estimate</a:t>
            </a:r>
          </a:p>
          <a:p>
            <a:r>
              <a:rPr lang="en-MY" sz="2800" dirty="0"/>
              <a:t>The models are built by integrating expert opinion and data-driven techniques</a:t>
            </a:r>
          </a:p>
          <a:p>
            <a:r>
              <a:rPr lang="en-MY" sz="2800" dirty="0"/>
              <a:t>Assumed to work better because there is no isolate technique that does not have any flaw nor one that can be accepted by everyone and hybridizing a few approaches is hoped to produce more realistic estimations</a:t>
            </a:r>
          </a:p>
        </p:txBody>
      </p:sp>
    </p:spTree>
    <p:extLst>
      <p:ext uri="{BB962C8B-B14F-4D97-AF65-F5344CB8AC3E}">
        <p14:creationId xmlns:p14="http://schemas.microsoft.com/office/powerpoint/2010/main" val="29017180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Slide Number Placeholder 3"/>
          <p:cNvSpPr>
            <a:spLocks noGrp="1"/>
          </p:cNvSpPr>
          <p:nvPr>
            <p:ph type="sldNum" sz="quarter" idx="12"/>
          </p:nvPr>
        </p:nvSpPr>
        <p:spPr/>
        <p:txBody>
          <a:bodyPr/>
          <a:lstStyle/>
          <a:p>
            <a:pPr>
              <a:defRPr/>
            </a:pPr>
            <a:fld id="{E01BAA74-F4EF-4695-8395-715719B8B5E2}" type="slidenum">
              <a:rPr lang="en-US"/>
              <a:pPr>
                <a:defRPr/>
              </a:pPr>
              <a:t>23</a:t>
            </a:fld>
            <a:endParaRPr lang="en-US"/>
          </a:p>
        </p:txBody>
      </p:sp>
      <p:sp>
        <p:nvSpPr>
          <p:cNvPr id="90114" name="Title 1"/>
          <p:cNvSpPr>
            <a:spLocks noGrp="1"/>
          </p:cNvSpPr>
          <p:nvPr>
            <p:ph type="title"/>
          </p:nvPr>
        </p:nvSpPr>
        <p:spPr/>
        <p:txBody>
          <a:bodyPr>
            <a:normAutofit/>
          </a:bodyPr>
          <a:lstStyle/>
          <a:p>
            <a:pPr eaLnBrk="1" hangingPunct="1"/>
            <a:r>
              <a:rPr lang="en-US" dirty="0"/>
              <a:t>Planning Estimation</a:t>
            </a:r>
          </a:p>
        </p:txBody>
      </p:sp>
      <p:sp>
        <p:nvSpPr>
          <p:cNvPr id="90116" name="Content Placeholder 2"/>
          <p:cNvSpPr>
            <a:spLocks noGrp="1"/>
          </p:cNvSpPr>
          <p:nvPr>
            <p:ph type="body" sz="quarter" idx="13"/>
          </p:nvPr>
        </p:nvSpPr>
        <p:spPr>
          <a:xfrm>
            <a:off x="521112" y="1219200"/>
            <a:ext cx="8381999" cy="4495800"/>
          </a:xfrm>
        </p:spPr>
        <p:txBody>
          <a:bodyPr>
            <a:noAutofit/>
          </a:bodyPr>
          <a:lstStyle/>
          <a:p>
            <a:pPr eaLnBrk="1" hangingPunct="1">
              <a:lnSpc>
                <a:spcPct val="90000"/>
              </a:lnSpc>
            </a:pPr>
            <a:r>
              <a:rPr lang="en-US" sz="2400" dirty="0"/>
              <a:t>Establish the estimating objectives</a:t>
            </a:r>
          </a:p>
          <a:p>
            <a:pPr lvl="1" eaLnBrk="1" hangingPunct="1">
              <a:lnSpc>
                <a:spcPct val="90000"/>
              </a:lnSpc>
            </a:pPr>
            <a:r>
              <a:rPr lang="en-US" sz="2000" dirty="0"/>
              <a:t>Why are they being prepared?</a:t>
            </a:r>
          </a:p>
          <a:p>
            <a:pPr lvl="1" eaLnBrk="1" hangingPunct="1">
              <a:lnSpc>
                <a:spcPct val="90000"/>
              </a:lnSpc>
            </a:pPr>
            <a:r>
              <a:rPr lang="en-US" sz="2000" dirty="0"/>
              <a:t>What is the required accuracy?</a:t>
            </a:r>
          </a:p>
          <a:p>
            <a:pPr lvl="1" eaLnBrk="1" hangingPunct="1">
              <a:lnSpc>
                <a:spcPct val="90000"/>
              </a:lnSpc>
            </a:pPr>
            <a:r>
              <a:rPr lang="en-US" sz="2000" dirty="0"/>
              <a:t>Who is the intended audience?</a:t>
            </a:r>
          </a:p>
          <a:p>
            <a:pPr lvl="1" eaLnBrk="1" hangingPunct="1">
              <a:lnSpc>
                <a:spcPct val="90000"/>
              </a:lnSpc>
            </a:pPr>
            <a:r>
              <a:rPr lang="en-US" sz="2000" dirty="0"/>
              <a:t>When are the estimates needed?</a:t>
            </a:r>
          </a:p>
          <a:p>
            <a:pPr eaLnBrk="1" hangingPunct="1">
              <a:lnSpc>
                <a:spcPct val="90000"/>
              </a:lnSpc>
            </a:pPr>
            <a:r>
              <a:rPr lang="en-US" sz="2400" dirty="0"/>
              <a:t>Determine the project details</a:t>
            </a:r>
          </a:p>
          <a:p>
            <a:pPr lvl="1" eaLnBrk="1" hangingPunct="1">
              <a:lnSpc>
                <a:spcPct val="90000"/>
              </a:lnSpc>
            </a:pPr>
            <a:r>
              <a:rPr lang="en-US" sz="2000" dirty="0"/>
              <a:t>Identify required information to prepare estimates</a:t>
            </a:r>
          </a:p>
          <a:p>
            <a:pPr eaLnBrk="1" hangingPunct="1">
              <a:lnSpc>
                <a:spcPct val="90000"/>
              </a:lnSpc>
            </a:pPr>
            <a:r>
              <a:rPr lang="en-US" sz="2400" dirty="0"/>
              <a:t>Select the appropriate model</a:t>
            </a:r>
          </a:p>
          <a:p>
            <a:pPr eaLnBrk="1" hangingPunct="1">
              <a:lnSpc>
                <a:spcPct val="90000"/>
              </a:lnSpc>
            </a:pPr>
            <a:r>
              <a:rPr lang="en-US" sz="2400" dirty="0"/>
              <a:t>Develop the estimating strategy and plan</a:t>
            </a:r>
          </a:p>
          <a:p>
            <a:pPr lvl="1" eaLnBrk="1" hangingPunct="1">
              <a:lnSpc>
                <a:spcPct val="90000"/>
              </a:lnSpc>
            </a:pPr>
            <a:r>
              <a:rPr lang="en-US" sz="2000" dirty="0"/>
              <a:t>Identify estimators</a:t>
            </a:r>
          </a:p>
          <a:p>
            <a:pPr lvl="1" eaLnBrk="1" hangingPunct="1">
              <a:lnSpc>
                <a:spcPct val="90000"/>
              </a:lnSpc>
            </a:pPr>
            <a:r>
              <a:rPr lang="en-US" sz="2000" dirty="0"/>
              <a:t>Develop a plan to gather the estimates</a:t>
            </a:r>
          </a:p>
          <a:p>
            <a:pPr lvl="1" eaLnBrk="1" hangingPunct="1">
              <a:lnSpc>
                <a:spcPct val="90000"/>
              </a:lnSpc>
            </a:pPr>
            <a:r>
              <a:rPr lang="en-US" sz="2000" dirty="0"/>
              <a:t>Review history of similar </a:t>
            </a:r>
            <a:r>
              <a:rPr lang="en-US" sz="2000" dirty="0" smtClean="0"/>
              <a:t>projects</a:t>
            </a:r>
          </a:p>
        </p:txBody>
      </p:sp>
    </p:spTree>
    <p:extLst>
      <p:ext uri="{BB962C8B-B14F-4D97-AF65-F5344CB8AC3E}">
        <p14:creationId xmlns:p14="http://schemas.microsoft.com/office/powerpoint/2010/main" val="152273967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6" name="Slide Number Placeholder 3"/>
          <p:cNvSpPr>
            <a:spLocks noGrp="1"/>
          </p:cNvSpPr>
          <p:nvPr>
            <p:ph type="sldNum" sz="quarter" idx="12"/>
          </p:nvPr>
        </p:nvSpPr>
        <p:spPr/>
        <p:txBody>
          <a:bodyPr/>
          <a:lstStyle/>
          <a:p>
            <a:pPr>
              <a:defRPr/>
            </a:pPr>
            <a:fld id="{9B21F79E-DC18-4C57-947B-680B9F7C2831}" type="slidenum">
              <a:rPr lang="en-US"/>
              <a:pPr>
                <a:defRPr/>
              </a:pPr>
              <a:t>24</a:t>
            </a:fld>
            <a:endParaRPr lang="en-US"/>
          </a:p>
        </p:txBody>
      </p:sp>
      <p:sp>
        <p:nvSpPr>
          <p:cNvPr id="93186" name="Title 1"/>
          <p:cNvSpPr>
            <a:spLocks noGrp="1"/>
          </p:cNvSpPr>
          <p:nvPr>
            <p:ph type="title"/>
          </p:nvPr>
        </p:nvSpPr>
        <p:spPr/>
        <p:txBody>
          <a:bodyPr>
            <a:normAutofit/>
          </a:bodyPr>
          <a:lstStyle/>
          <a:p>
            <a:pPr eaLnBrk="1" hangingPunct="1"/>
            <a:r>
              <a:rPr lang="en-US" dirty="0"/>
              <a:t>Key factors in Software Estimation</a:t>
            </a:r>
          </a:p>
        </p:txBody>
      </p:sp>
      <p:sp>
        <p:nvSpPr>
          <p:cNvPr id="93188" name="Content Placeholder 2"/>
          <p:cNvSpPr>
            <a:spLocks noGrp="1"/>
          </p:cNvSpPr>
          <p:nvPr>
            <p:ph type="body" sz="quarter" idx="13"/>
          </p:nvPr>
        </p:nvSpPr>
        <p:spPr/>
        <p:txBody>
          <a:bodyPr/>
          <a:lstStyle/>
          <a:p>
            <a:pPr eaLnBrk="1" hangingPunct="1"/>
            <a:r>
              <a:rPr lang="en-US" sz="2400" dirty="0"/>
              <a:t>Project Manager has to balance between:</a:t>
            </a:r>
          </a:p>
          <a:p>
            <a:pPr lvl="1" eaLnBrk="1" hangingPunct="1"/>
            <a:r>
              <a:rPr lang="en-US" sz="2400" dirty="0"/>
              <a:t>Cost</a:t>
            </a:r>
          </a:p>
          <a:p>
            <a:pPr lvl="1" eaLnBrk="1" hangingPunct="1"/>
            <a:r>
              <a:rPr lang="en-US" sz="2400" dirty="0"/>
              <a:t>Schedule</a:t>
            </a:r>
          </a:p>
          <a:p>
            <a:pPr lvl="1" eaLnBrk="1" hangingPunct="1"/>
            <a:r>
              <a:rPr lang="en-US" sz="2400" dirty="0"/>
              <a:t>Quality</a:t>
            </a:r>
          </a:p>
          <a:p>
            <a:pPr eaLnBrk="1" hangingPunct="1"/>
            <a:r>
              <a:rPr lang="en-US" sz="2400" dirty="0"/>
              <a:t>Project costs involve:</a:t>
            </a:r>
          </a:p>
          <a:p>
            <a:pPr lvl="1" eaLnBrk="1" hangingPunct="1"/>
            <a:r>
              <a:rPr lang="en-US" sz="2400" dirty="0"/>
              <a:t>Hardware costs</a:t>
            </a:r>
          </a:p>
          <a:p>
            <a:pPr lvl="1" eaLnBrk="1" hangingPunct="1"/>
            <a:r>
              <a:rPr lang="en-US" sz="2400" dirty="0"/>
              <a:t>Travel and training costs</a:t>
            </a:r>
          </a:p>
          <a:p>
            <a:pPr lvl="1" eaLnBrk="1" hangingPunct="1"/>
            <a:r>
              <a:rPr lang="en-US" sz="2400" b="1" dirty="0">
                <a:solidFill>
                  <a:srgbClr val="FF0000"/>
                </a:solidFill>
              </a:rPr>
              <a:t>Effort costs</a:t>
            </a:r>
          </a:p>
          <a:p>
            <a:pPr eaLnBrk="1" hangingPunct="1"/>
            <a:endParaRPr lang="en-US" dirty="0"/>
          </a:p>
        </p:txBody>
      </p:sp>
    </p:spTree>
    <p:extLst>
      <p:ext uri="{BB962C8B-B14F-4D97-AF65-F5344CB8AC3E}">
        <p14:creationId xmlns:p14="http://schemas.microsoft.com/office/powerpoint/2010/main" val="29139825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7" name="Slide Number Placeholder 5"/>
          <p:cNvSpPr>
            <a:spLocks noGrp="1"/>
          </p:cNvSpPr>
          <p:nvPr>
            <p:ph type="sldNum" sz="quarter" idx="12"/>
          </p:nvPr>
        </p:nvSpPr>
        <p:spPr/>
        <p:txBody>
          <a:bodyPr/>
          <a:lstStyle/>
          <a:p>
            <a:pPr>
              <a:defRPr/>
            </a:pPr>
            <a:fld id="{52E2A309-418C-4C09-9F20-153E40DB9D50}" type="slidenum">
              <a:rPr lang="en-US"/>
              <a:pPr>
                <a:defRPr/>
              </a:pPr>
              <a:t>25</a:t>
            </a:fld>
            <a:endParaRPr lang="en-US"/>
          </a:p>
        </p:txBody>
      </p:sp>
      <p:sp>
        <p:nvSpPr>
          <p:cNvPr id="107522" name="Title 4"/>
          <p:cNvSpPr>
            <a:spLocks noGrp="1"/>
          </p:cNvSpPr>
          <p:nvPr>
            <p:ph type="title"/>
          </p:nvPr>
        </p:nvSpPr>
        <p:spPr/>
        <p:txBody>
          <a:bodyPr>
            <a:normAutofit/>
          </a:bodyPr>
          <a:lstStyle/>
          <a:p>
            <a:pPr eaLnBrk="1" hangingPunct="1"/>
            <a:r>
              <a:rPr lang="en-US" dirty="0"/>
              <a:t>Software Cost Estimation</a:t>
            </a:r>
          </a:p>
        </p:txBody>
      </p:sp>
      <p:sp>
        <p:nvSpPr>
          <p:cNvPr id="41987" name="Rectangle 3"/>
          <p:cNvSpPr>
            <a:spLocks noGrp="1" noChangeArrowheads="1"/>
          </p:cNvSpPr>
          <p:nvPr>
            <p:ph type="body" sz="quarter" idx="13"/>
          </p:nvPr>
        </p:nvSpPr>
        <p:spPr/>
        <p:txBody>
          <a:bodyPr rtlCol="0">
            <a:normAutofit/>
          </a:bodyPr>
          <a:lstStyle/>
          <a:p>
            <a:pPr marL="274320" indent="-274320" eaLnBrk="1" fontAlgn="auto" hangingPunct="1">
              <a:spcAft>
                <a:spcPts val="0"/>
              </a:spcAft>
              <a:buFont typeface="Wingdings 2"/>
              <a:buChar char=""/>
              <a:defRPr/>
            </a:pPr>
            <a:r>
              <a:rPr lang="en-GB" sz="2400" dirty="0"/>
              <a:t>Software cost estimation is the process of predicting the amount of effort required to build a software system. </a:t>
            </a:r>
          </a:p>
          <a:p>
            <a:pPr marL="274320" indent="-274320" eaLnBrk="1" fontAlgn="auto" hangingPunct="1">
              <a:spcAft>
                <a:spcPts val="0"/>
              </a:spcAft>
              <a:buFont typeface="Wingdings 2"/>
              <a:buChar char=""/>
              <a:defRPr/>
            </a:pPr>
            <a:r>
              <a:rPr lang="en-GB" sz="2400" dirty="0"/>
              <a:t>Cost estimates are needed throughout the software lifecycle. </a:t>
            </a:r>
          </a:p>
          <a:p>
            <a:pPr marL="274320" indent="-274320" eaLnBrk="1" fontAlgn="auto" hangingPunct="1">
              <a:spcAft>
                <a:spcPts val="0"/>
              </a:spcAft>
              <a:buFont typeface="Wingdings 2"/>
              <a:buChar char=""/>
              <a:defRPr/>
            </a:pPr>
            <a:r>
              <a:rPr lang="en-GB" sz="2400" dirty="0"/>
              <a:t>Examining projects &amp; characteristics helps develop underlying theory of how software development works &amp; what factors generate highest costs.</a:t>
            </a:r>
          </a:p>
          <a:p>
            <a:pPr marL="274320" indent="-274320" eaLnBrk="1" fontAlgn="auto" hangingPunct="1">
              <a:spcAft>
                <a:spcPts val="0"/>
              </a:spcAft>
              <a:buFont typeface="Wingdings 2"/>
              <a:buChar char=""/>
              <a:defRPr/>
            </a:pPr>
            <a:r>
              <a:rPr lang="en-GB" sz="2400" dirty="0"/>
              <a:t>Cost model gives us some idea of what project will cost.</a:t>
            </a:r>
          </a:p>
          <a:p>
            <a:pPr marL="274320" indent="-274320" eaLnBrk="1" fontAlgn="auto" hangingPunct="1">
              <a:spcAft>
                <a:spcPts val="0"/>
              </a:spcAft>
              <a:buFont typeface="Wingdings 2"/>
              <a:buChar char=""/>
              <a:defRPr/>
            </a:pPr>
            <a:r>
              <a:rPr lang="en-US" sz="2400" dirty="0"/>
              <a:t>Cost modeling is imprecise and difficult – it is important as a planning &amp; evaluation tool.  </a:t>
            </a:r>
          </a:p>
          <a:p>
            <a:pPr marL="274320" indent="-274320" eaLnBrk="1" fontAlgn="auto" hangingPunct="1">
              <a:spcAft>
                <a:spcPts val="0"/>
              </a:spcAft>
              <a:buFont typeface="Wingdings 2"/>
              <a:buChar char=""/>
              <a:defRPr/>
            </a:pPr>
            <a:endParaRPr lang="en-GB" dirty="0"/>
          </a:p>
          <a:p>
            <a:pPr marL="274320" indent="-274320" eaLnBrk="1" fontAlgn="auto" hangingPunct="1">
              <a:spcAft>
                <a:spcPts val="0"/>
              </a:spcAft>
              <a:buFont typeface="Wingdings 2"/>
              <a:buChar char=""/>
              <a:defRPr/>
            </a:pPr>
            <a:endParaRPr lang="en-US" dirty="0"/>
          </a:p>
        </p:txBody>
      </p:sp>
    </p:spTree>
    <p:extLst>
      <p:ext uri="{BB962C8B-B14F-4D97-AF65-F5344CB8AC3E}">
        <p14:creationId xmlns:p14="http://schemas.microsoft.com/office/powerpoint/2010/main" val="21977352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5" name="Slide Number Placeholder 5"/>
          <p:cNvSpPr>
            <a:spLocks noGrp="1"/>
          </p:cNvSpPr>
          <p:nvPr>
            <p:ph type="sldNum" sz="quarter" idx="12"/>
          </p:nvPr>
        </p:nvSpPr>
        <p:spPr/>
        <p:txBody>
          <a:bodyPr/>
          <a:lstStyle/>
          <a:p>
            <a:pPr>
              <a:defRPr/>
            </a:pPr>
            <a:fld id="{F4A6C490-2D32-4212-A171-9EFAB07AFD7C}" type="slidenum">
              <a:rPr lang="en-US"/>
              <a:pPr>
                <a:defRPr/>
              </a:pPr>
              <a:t>26</a:t>
            </a:fld>
            <a:endParaRPr lang="en-US"/>
          </a:p>
        </p:txBody>
      </p:sp>
      <p:sp>
        <p:nvSpPr>
          <p:cNvPr id="109570" name="Title 4"/>
          <p:cNvSpPr>
            <a:spLocks noGrp="1"/>
          </p:cNvSpPr>
          <p:nvPr>
            <p:ph type="title"/>
          </p:nvPr>
        </p:nvSpPr>
        <p:spPr/>
        <p:txBody>
          <a:bodyPr>
            <a:normAutofit/>
          </a:bodyPr>
          <a:lstStyle/>
          <a:p>
            <a:r>
              <a:rPr lang="en-US" dirty="0"/>
              <a:t>Software Cost Estimation (contd.)</a:t>
            </a:r>
          </a:p>
        </p:txBody>
      </p:sp>
      <p:sp>
        <p:nvSpPr>
          <p:cNvPr id="109572" name="Rectangle 3"/>
          <p:cNvSpPr>
            <a:spLocks noGrp="1" noChangeArrowheads="1"/>
          </p:cNvSpPr>
          <p:nvPr>
            <p:ph type="body" sz="quarter" idx="13"/>
          </p:nvPr>
        </p:nvSpPr>
        <p:spPr/>
        <p:txBody>
          <a:bodyPr>
            <a:normAutofit fontScale="92500" lnSpcReduction="20000"/>
          </a:bodyPr>
          <a:lstStyle/>
          <a:p>
            <a:pPr eaLnBrk="1" hangingPunct="1"/>
            <a:r>
              <a:rPr lang="en-GB" sz="2400" dirty="0"/>
              <a:t>Size is a primary cost factor in most models. There are two common ways to measure software size: </a:t>
            </a:r>
          </a:p>
          <a:p>
            <a:pPr lvl="1" eaLnBrk="1" hangingPunct="1"/>
            <a:r>
              <a:rPr lang="en-GB" sz="2200" dirty="0"/>
              <a:t>lines of code  </a:t>
            </a:r>
          </a:p>
          <a:p>
            <a:pPr lvl="1" eaLnBrk="1" hangingPunct="1"/>
            <a:r>
              <a:rPr lang="en-GB" sz="2200" dirty="0"/>
              <a:t>function </a:t>
            </a:r>
            <a:r>
              <a:rPr lang="en-GB" sz="2200" dirty="0" smtClean="0"/>
              <a:t>points</a:t>
            </a:r>
          </a:p>
          <a:p>
            <a:pPr lvl="1"/>
            <a:r>
              <a:rPr lang="fr-FR" sz="2400" dirty="0"/>
              <a:t>COCOMO Techniques </a:t>
            </a:r>
            <a:r>
              <a:rPr lang="fr-FR" sz="2400" dirty="0" smtClean="0"/>
              <a:t>(</a:t>
            </a:r>
            <a:r>
              <a:rPr lang="fr-FR" sz="2400" b="1" dirty="0" err="1" smtClean="0"/>
              <a:t>CO</a:t>
            </a:r>
            <a:r>
              <a:rPr lang="fr-FR" sz="2400" dirty="0" err="1" smtClean="0"/>
              <a:t>nstructive</a:t>
            </a:r>
            <a:r>
              <a:rPr lang="fr-FR" sz="2400" dirty="0" smtClean="0"/>
              <a:t> </a:t>
            </a:r>
            <a:r>
              <a:rPr lang="fr-FR" sz="2400" b="1" dirty="0" err="1" smtClean="0"/>
              <a:t>CO</a:t>
            </a:r>
            <a:r>
              <a:rPr lang="fr-FR" sz="2400" dirty="0" err="1" smtClean="0"/>
              <a:t>st</a:t>
            </a:r>
            <a:r>
              <a:rPr lang="fr-FR" sz="2400" dirty="0" smtClean="0"/>
              <a:t> </a:t>
            </a:r>
            <a:r>
              <a:rPr lang="fr-FR" sz="2400" b="1" dirty="0" smtClean="0"/>
              <a:t>M</a:t>
            </a:r>
            <a:r>
              <a:rPr lang="fr-FR" sz="2400" dirty="0" smtClean="0"/>
              <a:t>odel </a:t>
            </a:r>
            <a:r>
              <a:rPr lang="fr-FR" sz="2400" b="1" dirty="0" smtClean="0"/>
              <a:t>T</a:t>
            </a:r>
            <a:r>
              <a:rPr lang="fr-FR" sz="2400" dirty="0" smtClean="0"/>
              <a:t>echniques)</a:t>
            </a:r>
            <a:endParaRPr lang="en-GB" sz="2200" dirty="0"/>
          </a:p>
          <a:p>
            <a:pPr eaLnBrk="1" hangingPunct="1"/>
            <a:r>
              <a:rPr lang="en-GB" sz="2400" dirty="0"/>
              <a:t>Lines of Code:  The most commonly used measure of source code program length is the number of lines of code (LOC) </a:t>
            </a:r>
          </a:p>
          <a:p>
            <a:pPr eaLnBrk="1" hangingPunct="1"/>
            <a:r>
              <a:rPr lang="en-GB" sz="2400" dirty="0"/>
              <a:t>Function points (FP):  measure size in terms of the amount of functionality in a system. </a:t>
            </a:r>
            <a:endParaRPr lang="en-GB" sz="2400" dirty="0" smtClean="0"/>
          </a:p>
          <a:p>
            <a:pPr marL="229372" lvl="2">
              <a:spcBef>
                <a:spcPct val="0"/>
              </a:spcBef>
              <a:buFont typeface="Symbol" pitchFamily="18" charset="2"/>
              <a:buChar char="·"/>
            </a:pPr>
            <a:r>
              <a:rPr lang="en-GB" sz="2400" dirty="0" smtClean="0"/>
              <a:t>COCOMO Techniques: </a:t>
            </a:r>
          </a:p>
          <a:p>
            <a:pPr marL="412252" lvl="3">
              <a:spcBef>
                <a:spcPct val="0"/>
              </a:spcBef>
              <a:buFont typeface="Symbol" pitchFamily="18" charset="2"/>
              <a:buChar char="·"/>
            </a:pPr>
            <a:r>
              <a:rPr lang="en-GB" dirty="0" smtClean="0">
                <a:latin typeface="Arial" pitchFamily="34" charset="0"/>
              </a:rPr>
              <a:t>Considered </a:t>
            </a:r>
            <a:r>
              <a:rPr lang="en-GB" dirty="0">
                <a:latin typeface="Arial" pitchFamily="34" charset="0"/>
              </a:rPr>
              <a:t>differences in types of projects</a:t>
            </a:r>
          </a:p>
          <a:p>
            <a:pPr marL="412252" lvl="3">
              <a:spcBef>
                <a:spcPct val="0"/>
              </a:spcBef>
              <a:buFont typeface="Symbol" pitchFamily="18" charset="2"/>
              <a:buChar char="·"/>
            </a:pPr>
            <a:r>
              <a:rPr lang="en-GB" dirty="0">
                <a:latin typeface="Arial" pitchFamily="34" charset="0"/>
              </a:rPr>
              <a:t>Modified values by 15 different factors including_</a:t>
            </a:r>
          </a:p>
          <a:p>
            <a:pPr marL="412252" lvl="3">
              <a:spcBef>
                <a:spcPct val="0"/>
              </a:spcBef>
              <a:buFont typeface="Symbol" pitchFamily="18" charset="2"/>
              <a:buChar char="·"/>
            </a:pPr>
            <a:r>
              <a:rPr lang="en-GB" dirty="0">
                <a:latin typeface="Arial" pitchFamily="34" charset="0"/>
              </a:rPr>
              <a:t>Programmer skill</a:t>
            </a:r>
          </a:p>
          <a:p>
            <a:pPr marL="412252" lvl="3">
              <a:spcBef>
                <a:spcPct val="0"/>
              </a:spcBef>
              <a:buFont typeface="Symbol" pitchFamily="18" charset="2"/>
              <a:buChar char="·"/>
            </a:pPr>
            <a:r>
              <a:rPr lang="en-GB" dirty="0">
                <a:latin typeface="Arial" pitchFamily="34" charset="0"/>
              </a:rPr>
              <a:t>Project attributes</a:t>
            </a:r>
          </a:p>
          <a:p>
            <a:pPr marL="412252" lvl="3">
              <a:spcBef>
                <a:spcPct val="0"/>
              </a:spcBef>
              <a:buFont typeface="Symbol" pitchFamily="18" charset="2"/>
              <a:buChar char="·"/>
            </a:pPr>
            <a:r>
              <a:rPr lang="en-GB" dirty="0">
                <a:latin typeface="Arial" pitchFamily="34" charset="0"/>
              </a:rPr>
              <a:t>Computer attributes</a:t>
            </a:r>
          </a:p>
          <a:p>
            <a:pPr marL="412252" lvl="3">
              <a:spcBef>
                <a:spcPct val="0"/>
              </a:spcBef>
              <a:buFont typeface="Symbol" pitchFamily="18" charset="2"/>
              <a:buChar char="·"/>
            </a:pPr>
            <a:r>
              <a:rPr lang="en-GB" dirty="0">
                <a:latin typeface="Arial" pitchFamily="34" charset="0"/>
              </a:rPr>
              <a:t>Product attributes</a:t>
            </a:r>
          </a:p>
          <a:p>
            <a:pPr eaLnBrk="1" hangingPunct="1"/>
            <a:endParaRPr lang="en-US" sz="2400" dirty="0"/>
          </a:p>
        </p:txBody>
      </p:sp>
    </p:spTree>
    <p:extLst>
      <p:ext uri="{BB962C8B-B14F-4D97-AF65-F5344CB8AC3E}">
        <p14:creationId xmlns:p14="http://schemas.microsoft.com/office/powerpoint/2010/main" val="1371334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SLOC –source lines of code</a:t>
            </a:r>
            <a:endParaRPr lang="en-US" b="1" dirty="0"/>
          </a:p>
        </p:txBody>
      </p:sp>
      <p:sp>
        <p:nvSpPr>
          <p:cNvPr id="3" name="Content Placeholder 2"/>
          <p:cNvSpPr>
            <a:spLocks noGrp="1"/>
          </p:cNvSpPr>
          <p:nvPr>
            <p:ph type="body" sz="quarter" idx="13"/>
          </p:nvPr>
        </p:nvSpPr>
        <p:spPr/>
        <p:txBody>
          <a:bodyPr>
            <a:normAutofit/>
          </a:bodyPr>
          <a:lstStyle/>
          <a:p>
            <a:r>
              <a:rPr lang="en-US" sz="2400" dirty="0"/>
              <a:t>a software metric used to measure the size of a computer program by counting the number of lines in the text of the program's source code. </a:t>
            </a:r>
            <a:endParaRPr lang="en-US" sz="2400" dirty="0" smtClean="0"/>
          </a:p>
          <a:p>
            <a:r>
              <a:rPr lang="en-US" sz="2400" dirty="0" smtClean="0"/>
              <a:t>SLOC </a:t>
            </a:r>
            <a:r>
              <a:rPr lang="en-US" sz="2400" dirty="0"/>
              <a:t>is typically used </a:t>
            </a:r>
            <a:r>
              <a:rPr lang="en-US" sz="2400" dirty="0" smtClean="0"/>
              <a:t>to </a:t>
            </a:r>
          </a:p>
          <a:p>
            <a:pPr lvl="1"/>
            <a:r>
              <a:rPr lang="en-US" sz="2000" dirty="0"/>
              <a:t>P</a:t>
            </a:r>
            <a:r>
              <a:rPr lang="en-US" sz="2000" dirty="0" smtClean="0"/>
              <a:t>redict </a:t>
            </a:r>
            <a:r>
              <a:rPr lang="en-US" sz="2000" dirty="0"/>
              <a:t>the amount of effort that will be required to develop a program, </a:t>
            </a:r>
            <a:endParaRPr lang="en-US" sz="2000" dirty="0" smtClean="0"/>
          </a:p>
          <a:p>
            <a:pPr lvl="1"/>
            <a:r>
              <a:rPr lang="en-US" sz="2000" dirty="0" smtClean="0"/>
              <a:t>Estimate </a:t>
            </a:r>
            <a:r>
              <a:rPr lang="en-US" sz="2000" dirty="0"/>
              <a:t>programming productivity </a:t>
            </a:r>
            <a:r>
              <a:rPr lang="en-US" sz="2000" dirty="0" smtClean="0"/>
              <a:t>or </a:t>
            </a:r>
            <a:r>
              <a:rPr lang="en-US" sz="2000" dirty="0"/>
              <a:t>maintainability once the software is produced. </a:t>
            </a:r>
          </a:p>
        </p:txBody>
      </p:sp>
      <p:sp>
        <p:nvSpPr>
          <p:cNvPr id="4" name="Slide Number Placeholder 3"/>
          <p:cNvSpPr>
            <a:spLocks noGrp="1"/>
          </p:cNvSpPr>
          <p:nvPr>
            <p:ph type="sldNum" sz="quarter" idx="12"/>
          </p:nvPr>
        </p:nvSpPr>
        <p:spPr/>
        <p:txBody>
          <a:bodyPr/>
          <a:lstStyle/>
          <a:p>
            <a:fld id="{E5CE4F79-B2B3-4E4E-AB5D-F771515B9CEF}" type="slidenum">
              <a:rPr lang="en-US" smtClean="0"/>
              <a:t>27</a:t>
            </a:fld>
            <a:endParaRPr lang="en-US" dirty="0"/>
          </a:p>
        </p:txBody>
      </p:sp>
    </p:spTree>
    <p:extLst>
      <p:ext uri="{BB962C8B-B14F-4D97-AF65-F5344CB8AC3E}">
        <p14:creationId xmlns:p14="http://schemas.microsoft.com/office/powerpoint/2010/main" val="20639668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SLOC –source lines of code (Contd.)</a:t>
            </a:r>
            <a:endParaRPr lang="en-US" b="1" dirty="0"/>
          </a:p>
        </p:txBody>
      </p:sp>
      <p:sp>
        <p:nvSpPr>
          <p:cNvPr id="3" name="Content Placeholder 2"/>
          <p:cNvSpPr>
            <a:spLocks noGrp="1"/>
          </p:cNvSpPr>
          <p:nvPr>
            <p:ph type="body" sz="quarter" idx="13"/>
          </p:nvPr>
        </p:nvSpPr>
        <p:spPr/>
        <p:txBody>
          <a:bodyPr>
            <a:normAutofit/>
          </a:bodyPr>
          <a:lstStyle/>
          <a:p>
            <a:pPr marL="342900" indent="-342900"/>
            <a:r>
              <a:rPr lang="fi-FI" altLang="en-US" sz="2400" dirty="0"/>
              <a:t>Very difficult to know how many LOC will be produced before they are written or even designed</a:t>
            </a:r>
          </a:p>
          <a:p>
            <a:pPr marL="342900" indent="-342900"/>
            <a:r>
              <a:rPr lang="fi-FI" altLang="en-US" sz="2400" dirty="0"/>
              <a:t>LOC measure has become infamous</a:t>
            </a:r>
          </a:p>
          <a:p>
            <a:pPr marL="342900" indent="-342900"/>
            <a:r>
              <a:rPr lang="fi-FI" altLang="en-US" sz="2400" dirty="0"/>
              <a:t>Still the most used metric</a:t>
            </a:r>
          </a:p>
          <a:p>
            <a:pPr marL="342900" indent="-342900"/>
            <a:r>
              <a:rPr lang="fi-FI" altLang="en-US" sz="2400" dirty="0"/>
              <a:t>Average programmer productivity rate remains despite of new languages</a:t>
            </a:r>
          </a:p>
          <a:p>
            <a:pPr marL="342900" indent="-342900"/>
            <a:r>
              <a:rPr lang="fi-FI" altLang="en-US" sz="2400" dirty="0"/>
              <a:t>Functionality and quality are the real concerns, not the LOC</a:t>
            </a:r>
            <a:endParaRPr lang="en-US" altLang="en-US" sz="2400" dirty="0"/>
          </a:p>
        </p:txBody>
      </p:sp>
      <p:sp>
        <p:nvSpPr>
          <p:cNvPr id="4" name="Slide Number Placeholder 3"/>
          <p:cNvSpPr>
            <a:spLocks noGrp="1"/>
          </p:cNvSpPr>
          <p:nvPr>
            <p:ph type="sldNum" sz="quarter" idx="12"/>
          </p:nvPr>
        </p:nvSpPr>
        <p:spPr/>
        <p:txBody>
          <a:bodyPr/>
          <a:lstStyle/>
          <a:p>
            <a:fld id="{E5CE4F79-B2B3-4E4E-AB5D-F771515B9CEF}" type="slidenum">
              <a:rPr lang="en-US" smtClean="0"/>
              <a:t>28</a:t>
            </a:fld>
            <a:endParaRPr lang="en-US" dirty="0"/>
          </a:p>
        </p:txBody>
      </p:sp>
    </p:spTree>
    <p:extLst>
      <p:ext uri="{BB962C8B-B14F-4D97-AF65-F5344CB8AC3E}">
        <p14:creationId xmlns:p14="http://schemas.microsoft.com/office/powerpoint/2010/main" val="8787450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Counting SLOC	</a:t>
            </a:r>
            <a:endParaRPr lang="en-US" dirty="0"/>
          </a:p>
        </p:txBody>
      </p:sp>
      <p:sp>
        <p:nvSpPr>
          <p:cNvPr id="3" name="Content Placeholder 2"/>
          <p:cNvSpPr>
            <a:spLocks noGrp="1"/>
          </p:cNvSpPr>
          <p:nvPr>
            <p:ph type="body" sz="quarter" idx="13"/>
          </p:nvPr>
        </p:nvSpPr>
        <p:spPr/>
        <p:txBody>
          <a:bodyPr>
            <a:normAutofit/>
          </a:bodyPr>
          <a:lstStyle/>
          <a:p>
            <a:r>
              <a:rPr lang="en-US" sz="2400" dirty="0"/>
              <a:t>To count the SLOC the following must be </a:t>
            </a:r>
            <a:r>
              <a:rPr lang="en-US" sz="2400" dirty="0" smtClean="0"/>
              <a:t>considered:</a:t>
            </a:r>
          </a:p>
          <a:p>
            <a:r>
              <a:rPr lang="en-US" sz="2200" dirty="0" smtClean="0">
                <a:solidFill>
                  <a:srgbClr val="00B050"/>
                </a:solidFill>
              </a:rPr>
              <a:t>The</a:t>
            </a:r>
            <a:r>
              <a:rPr lang="en-US" sz="2400" dirty="0" smtClean="0">
                <a:solidFill>
                  <a:srgbClr val="00B050"/>
                </a:solidFill>
              </a:rPr>
              <a:t> </a:t>
            </a:r>
            <a:r>
              <a:rPr lang="en-US" sz="2400" dirty="0">
                <a:solidFill>
                  <a:srgbClr val="00B050"/>
                </a:solidFill>
              </a:rPr>
              <a:t>count </a:t>
            </a:r>
            <a:r>
              <a:rPr lang="en-US" sz="2400" dirty="0" smtClean="0">
                <a:solidFill>
                  <a:srgbClr val="00B050"/>
                </a:solidFill>
              </a:rPr>
              <a:t>includes:</a:t>
            </a:r>
            <a:endParaRPr lang="en-US" sz="2400" dirty="0"/>
          </a:p>
          <a:p>
            <a:pPr lvl="1"/>
            <a:r>
              <a:rPr lang="en-US" sz="2200" dirty="0" smtClean="0"/>
              <a:t>The </a:t>
            </a:r>
            <a:r>
              <a:rPr lang="en-US" sz="2200" dirty="0"/>
              <a:t>SLOC delivered to </a:t>
            </a:r>
            <a:r>
              <a:rPr lang="en-US" sz="2200" dirty="0" smtClean="0"/>
              <a:t>client.</a:t>
            </a:r>
            <a:endParaRPr lang="en-US" sz="2200" dirty="0"/>
          </a:p>
          <a:p>
            <a:pPr lvl="1"/>
            <a:r>
              <a:rPr lang="en-US" sz="2200" dirty="0" smtClean="0"/>
              <a:t>The </a:t>
            </a:r>
            <a:r>
              <a:rPr lang="en-US" sz="2200" dirty="0"/>
              <a:t>SLOC written only by the development team are </a:t>
            </a:r>
            <a:r>
              <a:rPr lang="en-US" sz="2200" dirty="0" smtClean="0"/>
              <a:t>counted</a:t>
            </a:r>
            <a:endParaRPr lang="en-US" sz="2200" dirty="0"/>
          </a:p>
          <a:p>
            <a:pPr lvl="1"/>
            <a:r>
              <a:rPr lang="en-US" sz="2200" dirty="0" smtClean="0"/>
              <a:t>The </a:t>
            </a:r>
            <a:r>
              <a:rPr lang="en-US" sz="2200" dirty="0"/>
              <a:t>declaration statements are counted as source lines of </a:t>
            </a:r>
            <a:r>
              <a:rPr lang="en-US" sz="2200" dirty="0" smtClean="0"/>
              <a:t>code</a:t>
            </a:r>
            <a:endParaRPr lang="en-US" sz="2200" dirty="0"/>
          </a:p>
          <a:p>
            <a:r>
              <a:rPr lang="en-US" sz="2400" dirty="0" smtClean="0">
                <a:solidFill>
                  <a:srgbClr val="00B050"/>
                </a:solidFill>
              </a:rPr>
              <a:t>The </a:t>
            </a:r>
            <a:r>
              <a:rPr lang="en-US" sz="2400" dirty="0">
                <a:solidFill>
                  <a:srgbClr val="00B050"/>
                </a:solidFill>
              </a:rPr>
              <a:t>count </a:t>
            </a:r>
            <a:r>
              <a:rPr lang="en-US" sz="2400" dirty="0" smtClean="0">
                <a:solidFill>
                  <a:srgbClr val="00B050"/>
                </a:solidFill>
              </a:rPr>
              <a:t>excludes:</a:t>
            </a:r>
            <a:endParaRPr lang="en-US" sz="2400" dirty="0"/>
          </a:p>
          <a:p>
            <a:pPr lvl="1"/>
            <a:r>
              <a:rPr lang="en-US" sz="2200" dirty="0" smtClean="0"/>
              <a:t>The </a:t>
            </a:r>
            <a:r>
              <a:rPr lang="en-US" sz="2200" dirty="0"/>
              <a:t>code created by application </a:t>
            </a:r>
            <a:r>
              <a:rPr lang="en-US" sz="2200" dirty="0" smtClean="0"/>
              <a:t>generators.</a:t>
            </a:r>
            <a:endParaRPr lang="en-US" sz="2200" dirty="0"/>
          </a:p>
          <a:p>
            <a:pPr lvl="1"/>
            <a:r>
              <a:rPr lang="en-US" sz="2200" dirty="0" smtClean="0"/>
              <a:t>The </a:t>
            </a:r>
            <a:r>
              <a:rPr lang="en-US" sz="2200" dirty="0"/>
              <a:t>comments inserted to improve the readability of </a:t>
            </a:r>
            <a:r>
              <a:rPr lang="en-US" sz="2200" dirty="0" smtClean="0"/>
              <a:t>program.</a:t>
            </a:r>
            <a:endParaRPr lang="en-US" sz="2200" dirty="0"/>
          </a:p>
          <a:p>
            <a:r>
              <a:rPr lang="en-US" sz="2400" dirty="0" smtClean="0"/>
              <a:t>Once</a:t>
            </a:r>
            <a:r>
              <a:rPr lang="en-US" sz="2400" dirty="0"/>
              <a:t>, you get the numbers of line of code of SLOC, you can estimate or calculate the total effort and cost to complete the given project</a:t>
            </a:r>
          </a:p>
        </p:txBody>
      </p:sp>
      <p:sp>
        <p:nvSpPr>
          <p:cNvPr id="4" name="Slide Number Placeholder 3"/>
          <p:cNvSpPr>
            <a:spLocks noGrp="1"/>
          </p:cNvSpPr>
          <p:nvPr>
            <p:ph type="sldNum" sz="quarter" idx="12"/>
          </p:nvPr>
        </p:nvSpPr>
        <p:spPr/>
        <p:txBody>
          <a:bodyPr/>
          <a:lstStyle/>
          <a:p>
            <a:fld id="{E5CE4F79-B2B3-4E4E-AB5D-F771515B9CEF}" type="slidenum">
              <a:rPr lang="en-US" smtClean="0"/>
              <a:t>29</a:t>
            </a:fld>
            <a:endParaRPr lang="en-US" dirty="0"/>
          </a:p>
        </p:txBody>
      </p:sp>
    </p:spTree>
    <p:extLst>
      <p:ext uri="{BB962C8B-B14F-4D97-AF65-F5344CB8AC3E}">
        <p14:creationId xmlns:p14="http://schemas.microsoft.com/office/powerpoint/2010/main" val="30726482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SLOC example</a:t>
            </a:r>
            <a:endParaRPr lang="en-US" dirty="0"/>
          </a:p>
        </p:txBody>
      </p:sp>
      <p:sp>
        <p:nvSpPr>
          <p:cNvPr id="3" name="Content Placeholder 2"/>
          <p:cNvSpPr>
            <a:spLocks noGrp="1"/>
          </p:cNvSpPr>
          <p:nvPr>
            <p:ph type="body" sz="quarter" idx="13"/>
          </p:nvPr>
        </p:nvSpPr>
        <p:spPr/>
        <p:txBody>
          <a:bodyPr>
            <a:normAutofit lnSpcReduction="10000"/>
          </a:bodyPr>
          <a:lstStyle/>
          <a:p>
            <a:pPr marL="0" indent="0">
              <a:buNone/>
            </a:pPr>
            <a:r>
              <a:rPr lang="en-US" dirty="0"/>
              <a:t>/* Now how many lines of code is this? </a:t>
            </a:r>
            <a:r>
              <a:rPr lang="en-US" dirty="0" smtClean="0"/>
              <a:t>*/</a:t>
            </a:r>
          </a:p>
          <a:p>
            <a:pPr marL="0" indent="0">
              <a:buNone/>
            </a:pPr>
            <a:r>
              <a:rPr lang="en-US" dirty="0" smtClean="0"/>
              <a:t> </a:t>
            </a:r>
            <a:r>
              <a:rPr lang="en-US" dirty="0"/>
              <a:t>for (i = 0; i &lt; 100; i++) </a:t>
            </a:r>
            <a:endParaRPr lang="en-US" dirty="0" smtClean="0"/>
          </a:p>
          <a:p>
            <a:pPr marL="0" indent="0">
              <a:buNone/>
            </a:pPr>
            <a:r>
              <a:rPr lang="en-US" dirty="0" smtClean="0"/>
              <a:t>{</a:t>
            </a:r>
          </a:p>
          <a:p>
            <a:pPr marL="0" indent="0">
              <a:buNone/>
            </a:pPr>
            <a:r>
              <a:rPr lang="en-US" dirty="0" smtClean="0"/>
              <a:t>      </a:t>
            </a:r>
            <a:r>
              <a:rPr lang="en-US" dirty="0" err="1" smtClean="0"/>
              <a:t>printf</a:t>
            </a:r>
            <a:r>
              <a:rPr lang="en-US" dirty="0" smtClean="0"/>
              <a:t>("hello");</a:t>
            </a:r>
          </a:p>
          <a:p>
            <a:pPr marL="0" indent="0">
              <a:buNone/>
            </a:pPr>
            <a:r>
              <a:rPr lang="en-US" dirty="0" smtClean="0"/>
              <a:t> }</a:t>
            </a:r>
          </a:p>
          <a:p>
            <a:pPr marL="0" indent="0">
              <a:buNone/>
            </a:pPr>
            <a:r>
              <a:rPr lang="en-US" dirty="0" smtClean="0"/>
              <a:t>In </a:t>
            </a:r>
            <a:r>
              <a:rPr lang="en-US" dirty="0"/>
              <a:t>this example we have: </a:t>
            </a:r>
          </a:p>
          <a:p>
            <a:r>
              <a:rPr lang="en-US" dirty="0"/>
              <a:t>4 physical lines of code (LOC): is placing braces work to be estimated?</a:t>
            </a:r>
          </a:p>
          <a:p>
            <a:r>
              <a:rPr lang="en-US" dirty="0"/>
              <a:t>2 logical lines of code (LLOC): what about all the work writing non-statement lines?</a:t>
            </a:r>
          </a:p>
          <a:p>
            <a:r>
              <a:rPr lang="en-US" dirty="0"/>
              <a:t>1 comment line: tools must account for all code and comments regardless of comment placement.</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30</a:t>
            </a:fld>
            <a:endParaRPr lang="en-US" dirty="0"/>
          </a:p>
        </p:txBody>
      </p:sp>
    </p:spTree>
    <p:extLst>
      <p:ext uri="{BB962C8B-B14F-4D97-AF65-F5344CB8AC3E}">
        <p14:creationId xmlns:p14="http://schemas.microsoft.com/office/powerpoint/2010/main" val="307101286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SLOC Numerical</a:t>
            </a:r>
            <a:endParaRPr lang="en-US" dirty="0"/>
          </a:p>
        </p:txBody>
      </p:sp>
      <p:sp>
        <p:nvSpPr>
          <p:cNvPr id="3" name="Text Placeholder 2"/>
          <p:cNvSpPr>
            <a:spLocks noGrp="1"/>
          </p:cNvSpPr>
          <p:nvPr>
            <p:ph type="body" sz="quarter" idx="13"/>
          </p:nvPr>
        </p:nvSpPr>
        <p:spPr>
          <a:xfrm>
            <a:off x="457201" y="1447800"/>
            <a:ext cx="8381999" cy="4052887"/>
          </a:xfrm>
        </p:spPr>
        <p:txBody>
          <a:bodyPr/>
          <a:lstStyle/>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1" y="1281113"/>
            <a:ext cx="8039100" cy="4433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457201" y="5817513"/>
            <a:ext cx="8381999" cy="430887"/>
          </a:xfrm>
          <a:prstGeom prst="rect">
            <a:avLst/>
          </a:prstGeom>
        </p:spPr>
        <p:txBody>
          <a:bodyPr wrap="square">
            <a:spAutoFit/>
          </a:bodyPr>
          <a:lstStyle/>
          <a:p>
            <a:r>
              <a:rPr lang="en-US" sz="2200" b="1" dirty="0"/>
              <a:t>Total Effort = Total Cost / Labor Rate = 43,200/800 = 54 person-months</a:t>
            </a:r>
          </a:p>
        </p:txBody>
      </p:sp>
      <p:sp>
        <p:nvSpPr>
          <p:cNvPr id="5" name="Slide Number Placeholder 4"/>
          <p:cNvSpPr>
            <a:spLocks noGrp="1"/>
          </p:cNvSpPr>
          <p:nvPr>
            <p:ph type="sldNum" sz="quarter" idx="12"/>
          </p:nvPr>
        </p:nvSpPr>
        <p:spPr/>
        <p:txBody>
          <a:bodyPr/>
          <a:lstStyle/>
          <a:p>
            <a:fld id="{E5CE4F79-B2B3-4E4E-AB5D-F771515B9CEF}" type="slidenum">
              <a:rPr lang="en-US" smtClean="0"/>
              <a:t>31</a:t>
            </a:fld>
            <a:endParaRPr lang="en-US" dirty="0"/>
          </a:p>
        </p:txBody>
      </p:sp>
    </p:spTree>
    <p:extLst>
      <p:ext uri="{BB962C8B-B14F-4D97-AF65-F5344CB8AC3E}">
        <p14:creationId xmlns:p14="http://schemas.microsoft.com/office/powerpoint/2010/main" val="34029299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type="body" sz="quarter" idx="13"/>
          </p:nvPr>
        </p:nvSpPr>
        <p:spPr/>
        <p:txBody>
          <a:bodyPr>
            <a:normAutofit/>
          </a:bodyPr>
          <a:lstStyle/>
          <a:p>
            <a:endParaRPr lang="en-US" dirty="0" smtClean="0"/>
          </a:p>
          <a:p>
            <a:endParaRPr lang="en-US" dirty="0"/>
          </a:p>
          <a:p>
            <a:endParaRPr lang="en-US" dirty="0" smtClean="0"/>
          </a:p>
          <a:p>
            <a:endParaRPr lang="en-US" dirty="0"/>
          </a:p>
          <a:p>
            <a:endParaRPr lang="en-US" dirty="0" smtClean="0"/>
          </a:p>
          <a:p>
            <a:r>
              <a:rPr lang="en-US" sz="2400" dirty="0" smtClean="0"/>
              <a:t>Estimated Effort </a:t>
            </a:r>
            <a:r>
              <a:rPr lang="en-US" sz="2400" dirty="0" smtClean="0">
                <a:sym typeface="Wingdings" pitchFamily="2" charset="2"/>
              </a:rPr>
              <a:t> </a:t>
            </a:r>
            <a:r>
              <a:rPr lang="en-US" sz="2400" dirty="0" smtClean="0"/>
              <a:t>There </a:t>
            </a:r>
            <a:r>
              <a:rPr lang="en-US" sz="2400" dirty="0"/>
              <a:t>would be an under-estimate of 6.9 work-months for project a and an over-estimate of 5.7 </a:t>
            </a:r>
            <a:r>
              <a:rPr lang="en-US" sz="2400" dirty="0" smtClean="0"/>
              <a:t>for project d</a:t>
            </a:r>
            <a:endParaRPr lang="en-US" sz="24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382000" cy="3162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867275"/>
            <a:ext cx="6010275"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 y="228600"/>
            <a:ext cx="8534400" cy="1038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32</a:t>
            </a:fld>
            <a:endParaRPr lang="en-US" dirty="0"/>
          </a:p>
        </p:txBody>
      </p:sp>
    </p:spTree>
    <p:extLst>
      <p:ext uri="{BB962C8B-B14F-4D97-AF65-F5344CB8AC3E}">
        <p14:creationId xmlns:p14="http://schemas.microsoft.com/office/powerpoint/2010/main" val="29249586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33</a:t>
            </a:fld>
            <a:endParaRPr lang="en-US" dirty="0"/>
          </a:p>
        </p:txBody>
      </p:sp>
      <p:sp>
        <p:nvSpPr>
          <p:cNvPr id="3" name="Title 2"/>
          <p:cNvSpPr>
            <a:spLocks noGrp="1"/>
          </p:cNvSpPr>
          <p:nvPr>
            <p:ph type="title"/>
          </p:nvPr>
        </p:nvSpPr>
        <p:spPr/>
        <p:txBody>
          <a:bodyPr/>
          <a:lstStyle/>
          <a:p>
            <a:r>
              <a:rPr lang="en-US" dirty="0" smtClean="0"/>
              <a:t>Advantages of SLOC</a:t>
            </a:r>
            <a:endParaRPr lang="en-US" dirty="0"/>
          </a:p>
        </p:txBody>
      </p:sp>
      <p:sp>
        <p:nvSpPr>
          <p:cNvPr id="4" name="Text Placeholder 3"/>
          <p:cNvSpPr>
            <a:spLocks noGrp="1"/>
          </p:cNvSpPr>
          <p:nvPr>
            <p:ph type="body" sz="quarter" idx="13"/>
          </p:nvPr>
        </p:nvSpPr>
        <p:spPr/>
        <p:txBody>
          <a:bodyPr/>
          <a:lstStyle/>
          <a:p>
            <a:pPr marL="342900" indent="-342900"/>
            <a:r>
              <a:rPr lang="fi-FI" altLang="en-US" dirty="0"/>
              <a:t>Widely used and accepted</a:t>
            </a:r>
          </a:p>
          <a:p>
            <a:pPr marL="342900" indent="-342900"/>
            <a:r>
              <a:rPr lang="fi-FI" altLang="en-US" dirty="0"/>
              <a:t>Allows for comparison between diverse development groups</a:t>
            </a:r>
          </a:p>
          <a:p>
            <a:pPr marL="342900" indent="-342900"/>
            <a:r>
              <a:rPr lang="fi-FI" altLang="en-US" dirty="0"/>
              <a:t>Directly relates to the end product</a:t>
            </a:r>
          </a:p>
          <a:p>
            <a:pPr marL="342900" indent="-342900"/>
            <a:r>
              <a:rPr lang="fi-FI" altLang="en-US" dirty="0"/>
              <a:t>Easily measured upon project completion</a:t>
            </a:r>
          </a:p>
          <a:p>
            <a:pPr marL="342900" indent="-342900"/>
            <a:r>
              <a:rPr lang="fi-FI" altLang="en-US" dirty="0"/>
              <a:t>Measure from the developer’s point of view</a:t>
            </a:r>
          </a:p>
          <a:p>
            <a:pPr marL="342900" indent="-342900"/>
            <a:r>
              <a:rPr lang="fi-FI" altLang="en-US" dirty="0"/>
              <a:t>Continuous improvement</a:t>
            </a:r>
            <a:endParaRPr lang="en-US" altLang="en-US" dirty="0"/>
          </a:p>
          <a:p>
            <a:endParaRPr lang="en-US" dirty="0"/>
          </a:p>
        </p:txBody>
      </p:sp>
    </p:spTree>
    <p:extLst>
      <p:ext uri="{BB962C8B-B14F-4D97-AF65-F5344CB8AC3E}">
        <p14:creationId xmlns:p14="http://schemas.microsoft.com/office/powerpoint/2010/main" val="12407669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7681" y="667605"/>
            <a:ext cx="8381999" cy="780195"/>
          </a:xfrm>
        </p:spPr>
        <p:txBody>
          <a:bodyPr>
            <a:noAutofit/>
          </a:bodyPr>
          <a:lstStyle/>
          <a:p>
            <a:r>
              <a:rPr lang="en-US" dirty="0"/>
              <a:t>Disadvantages of Using SLOC Technique</a:t>
            </a:r>
          </a:p>
        </p:txBody>
      </p:sp>
      <p:sp>
        <p:nvSpPr>
          <p:cNvPr id="3" name="Content Placeholder 2"/>
          <p:cNvSpPr>
            <a:spLocks noGrp="1"/>
          </p:cNvSpPr>
          <p:nvPr>
            <p:ph type="body" sz="quarter" idx="13"/>
          </p:nvPr>
        </p:nvSpPr>
        <p:spPr/>
        <p:txBody>
          <a:bodyPr>
            <a:normAutofit fontScale="85000" lnSpcReduction="20000"/>
          </a:bodyPr>
          <a:lstStyle/>
          <a:p>
            <a:r>
              <a:rPr lang="en-US" sz="2400" dirty="0" smtClean="0"/>
              <a:t>The </a:t>
            </a:r>
            <a:r>
              <a:rPr lang="en-US" sz="2400" dirty="0"/>
              <a:t>SLOC technique is language-dependent </a:t>
            </a:r>
            <a:r>
              <a:rPr lang="en-US" sz="2400" dirty="0" smtClean="0"/>
              <a:t>(i.e. </a:t>
            </a:r>
            <a:r>
              <a:rPr lang="en-US" sz="2400" dirty="0"/>
              <a:t>It depends on specific type of </a:t>
            </a:r>
            <a:r>
              <a:rPr lang="en-US" sz="2400" dirty="0" smtClean="0"/>
              <a:t>language experienced).</a:t>
            </a:r>
            <a:endParaRPr lang="en-US" sz="2400" dirty="0"/>
          </a:p>
          <a:p>
            <a:r>
              <a:rPr lang="en-US" sz="2400" dirty="0" smtClean="0"/>
              <a:t>The </a:t>
            </a:r>
            <a:r>
              <a:rPr lang="en-US" sz="2400" dirty="0"/>
              <a:t>effort required to calculate source lines of code. This may not be the same for </a:t>
            </a:r>
            <a:r>
              <a:rPr lang="en-US" sz="2400" dirty="0" smtClean="0"/>
              <a:t>all languages.</a:t>
            </a:r>
          </a:p>
          <a:p>
            <a:pPr marL="342900" indent="-342900"/>
            <a:r>
              <a:rPr lang="fi-FI" altLang="en-US" sz="2400" dirty="0"/>
              <a:t>Difficult to estimate early in the life cycle</a:t>
            </a:r>
          </a:p>
          <a:p>
            <a:pPr marL="342900" indent="-342900"/>
            <a:r>
              <a:rPr lang="fi-FI" altLang="en-US" sz="2400" dirty="0"/>
              <a:t>Source instructions variate with language, design, programmer etc.</a:t>
            </a:r>
          </a:p>
          <a:p>
            <a:pPr marL="342900" indent="-342900"/>
            <a:r>
              <a:rPr lang="fi-FI" altLang="en-US" sz="2400" dirty="0"/>
              <a:t>No industry standars for counting LOC</a:t>
            </a:r>
          </a:p>
          <a:p>
            <a:pPr marL="342900" indent="-342900"/>
            <a:r>
              <a:rPr lang="fi-FI" altLang="en-US" sz="2400" dirty="0"/>
              <a:t>Fixed costs are not included with coding</a:t>
            </a:r>
          </a:p>
          <a:p>
            <a:pPr marL="342900" indent="-342900"/>
            <a:r>
              <a:rPr lang="fi-FI" altLang="en-US" sz="2400" dirty="0"/>
              <a:t>Programmers may be rewarded for large LOC counts</a:t>
            </a:r>
          </a:p>
          <a:p>
            <a:pPr marL="342900" indent="-342900"/>
            <a:r>
              <a:rPr lang="fi-FI" altLang="en-US" sz="2400" dirty="0"/>
              <a:t>Distinguish between generated code and hand-crafted code</a:t>
            </a:r>
          </a:p>
          <a:p>
            <a:pPr marL="342900" indent="-342900"/>
            <a:r>
              <a:rPr lang="fi-FI" altLang="en-US" sz="2400" dirty="0"/>
              <a:t>Can not be used for normalizing if languages are different</a:t>
            </a:r>
          </a:p>
          <a:p>
            <a:pPr marL="342900" indent="-342900"/>
            <a:r>
              <a:rPr lang="fi-FI" altLang="en-US" sz="2400" dirty="0"/>
              <a:t>Only existing products and expert opinions can be used to predict a LOC count</a:t>
            </a:r>
            <a:endParaRPr lang="en-US" altLang="en-US" sz="2400" dirty="0"/>
          </a:p>
          <a:p>
            <a:endParaRPr lang="en-US" sz="2400" dirty="0"/>
          </a:p>
        </p:txBody>
      </p:sp>
      <p:sp>
        <p:nvSpPr>
          <p:cNvPr id="4" name="Slide Number Placeholder 3"/>
          <p:cNvSpPr>
            <a:spLocks noGrp="1"/>
          </p:cNvSpPr>
          <p:nvPr>
            <p:ph type="sldNum" sz="quarter" idx="12"/>
          </p:nvPr>
        </p:nvSpPr>
        <p:spPr/>
        <p:txBody>
          <a:bodyPr/>
          <a:lstStyle/>
          <a:p>
            <a:fld id="{E5CE4F79-B2B3-4E4E-AB5D-F771515B9CEF}" type="slidenum">
              <a:rPr lang="en-US" smtClean="0"/>
              <a:t>34</a:t>
            </a:fld>
            <a:endParaRPr lang="en-US" dirty="0"/>
          </a:p>
        </p:txBody>
      </p:sp>
    </p:spTree>
    <p:extLst>
      <p:ext uri="{BB962C8B-B14F-4D97-AF65-F5344CB8AC3E}">
        <p14:creationId xmlns:p14="http://schemas.microsoft.com/office/powerpoint/2010/main" val="39456336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p:txBody>
          <a:bodyPr>
            <a:normAutofit/>
          </a:bodyPr>
          <a:lstStyle/>
          <a:p>
            <a:pPr eaLnBrk="1" hangingPunct="1"/>
            <a:r>
              <a:rPr lang="fi-FI" altLang="en-US" dirty="0" smtClean="0"/>
              <a:t>Function Points</a:t>
            </a:r>
            <a:endParaRPr lang="en-US" altLang="en-US" dirty="0" smtClean="0"/>
          </a:p>
        </p:txBody>
      </p:sp>
      <p:sp>
        <p:nvSpPr>
          <p:cNvPr id="81923" name="Rectangle 3"/>
          <p:cNvSpPr>
            <a:spLocks noGrp="1" noChangeArrowheads="1"/>
          </p:cNvSpPr>
          <p:nvPr>
            <p:ph type="body" sz="quarter" idx="13"/>
          </p:nvPr>
        </p:nvSpPr>
        <p:spPr/>
        <p:txBody>
          <a:bodyPr>
            <a:normAutofit fontScale="92500" lnSpcReduction="20000"/>
          </a:bodyPr>
          <a:lstStyle/>
          <a:p>
            <a:r>
              <a:rPr lang="fi-FI" altLang="en-US" sz="2400" b="1" dirty="0" smtClean="0">
                <a:solidFill>
                  <a:srgbClr val="00B050"/>
                </a:solidFill>
              </a:rPr>
              <a:t>Idea:</a:t>
            </a:r>
            <a:r>
              <a:rPr lang="fi-FI" altLang="en-US" sz="2400" dirty="0" smtClean="0"/>
              <a:t> software is better measured in terms of the number and complexity of the functions that it performs</a:t>
            </a:r>
          </a:p>
          <a:p>
            <a:r>
              <a:rPr lang="fi-FI" altLang="en-US" sz="2400" dirty="0"/>
              <a:t>Function</a:t>
            </a:r>
            <a:r>
              <a:rPr lang="fi-FI" altLang="en-US" sz="2400" dirty="0" smtClean="0"/>
              <a:t> points measure categories of end-user business functions</a:t>
            </a:r>
          </a:p>
          <a:p>
            <a:r>
              <a:rPr lang="en-US" sz="2400" dirty="0"/>
              <a:t>It is independent 'of the computer language, development methodology, technology, or capability of the project team developing the software project. </a:t>
            </a:r>
            <a:endParaRPr lang="fi-FI" altLang="en-US" sz="2400" dirty="0" smtClean="0"/>
          </a:p>
          <a:p>
            <a:r>
              <a:rPr lang="en-GB" altLang="en-US" sz="2400" dirty="0"/>
              <a:t>FPs are very subjective. They depend on the estimator. </a:t>
            </a:r>
          </a:p>
          <a:p>
            <a:pPr lvl="1"/>
            <a:r>
              <a:rPr lang="en-GB" altLang="en-US" sz="2400" dirty="0"/>
              <a:t>Automatic function-point counting is </a:t>
            </a:r>
            <a:r>
              <a:rPr lang="en-GB" altLang="en-US" sz="2400" dirty="0" smtClean="0"/>
              <a:t>impossible</a:t>
            </a:r>
          </a:p>
          <a:p>
            <a:r>
              <a:rPr lang="en-GB" altLang="en-US" sz="2400" dirty="0" smtClean="0"/>
              <a:t>Based </a:t>
            </a:r>
            <a:r>
              <a:rPr lang="en-GB" altLang="en-US" sz="2400" dirty="0"/>
              <a:t>on a combination of program characteristics</a:t>
            </a:r>
          </a:p>
          <a:p>
            <a:pPr lvl="1"/>
            <a:r>
              <a:rPr lang="en-GB" altLang="en-US" sz="2400" dirty="0"/>
              <a:t>external inputs and outputs</a:t>
            </a:r>
          </a:p>
          <a:p>
            <a:pPr lvl="1"/>
            <a:r>
              <a:rPr lang="en-GB" altLang="en-US" sz="2400" dirty="0"/>
              <a:t>user interactions</a:t>
            </a:r>
          </a:p>
          <a:p>
            <a:pPr lvl="1"/>
            <a:r>
              <a:rPr lang="en-GB" altLang="en-US" sz="2400" dirty="0"/>
              <a:t>external interfaces</a:t>
            </a:r>
          </a:p>
          <a:p>
            <a:pPr lvl="1"/>
            <a:r>
              <a:rPr lang="en-GB" altLang="en-US" sz="2400" dirty="0"/>
              <a:t>files used by the system</a:t>
            </a:r>
          </a:p>
          <a:p>
            <a:pPr marL="342900" indent="-342900" eaLnBrk="1" hangingPunct="1"/>
            <a:endParaRPr lang="en-US" altLang="en-US" sz="2400" dirty="0" smtClean="0"/>
          </a:p>
        </p:txBody>
      </p:sp>
      <p:sp>
        <p:nvSpPr>
          <p:cNvPr id="2" name="Slide Number Placeholder 1"/>
          <p:cNvSpPr>
            <a:spLocks noGrp="1"/>
          </p:cNvSpPr>
          <p:nvPr>
            <p:ph type="sldNum" sz="quarter" idx="12"/>
          </p:nvPr>
        </p:nvSpPr>
        <p:spPr/>
        <p:txBody>
          <a:bodyPr/>
          <a:lstStyle/>
          <a:p>
            <a:fld id="{E5CE4F79-B2B3-4E4E-AB5D-F771515B9CEF}" type="slidenum">
              <a:rPr lang="en-US" smtClean="0"/>
              <a:t>35</a:t>
            </a:fld>
            <a:endParaRPr lang="en-US" dirty="0"/>
          </a:p>
        </p:txBody>
      </p:sp>
    </p:spTree>
    <p:extLst>
      <p:ext uri="{BB962C8B-B14F-4D97-AF65-F5344CB8AC3E}">
        <p14:creationId xmlns:p14="http://schemas.microsoft.com/office/powerpoint/2010/main" val="2567149749"/>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fi-FI" altLang="en-US" smtClean="0"/>
              <a:t>Function Point Process Steps</a:t>
            </a:r>
            <a:endParaRPr lang="en-US" altLang="en-US" smtClean="0"/>
          </a:p>
        </p:txBody>
      </p:sp>
      <p:sp>
        <p:nvSpPr>
          <p:cNvPr id="82947" name="Rectangle 3"/>
          <p:cNvSpPr>
            <a:spLocks noGrp="1" noChangeArrowheads="1"/>
          </p:cNvSpPr>
          <p:nvPr>
            <p:ph type="body" sz="quarter" idx="13"/>
          </p:nvPr>
        </p:nvSpPr>
        <p:spPr/>
        <p:txBody>
          <a:bodyPr>
            <a:normAutofit fontScale="92500" lnSpcReduction="10000"/>
          </a:bodyPr>
          <a:lstStyle/>
          <a:p>
            <a:pPr marL="609600" indent="-609600" eaLnBrk="1" hangingPunct="1">
              <a:buFontTx/>
              <a:buAutoNum type="arabicPeriod"/>
            </a:pPr>
            <a:r>
              <a:rPr lang="fi-FI" altLang="en-US" sz="2600" dirty="0" smtClean="0"/>
              <a:t>Count number of functions in each category (outputs, inputs, interfaces etc..)</a:t>
            </a:r>
          </a:p>
          <a:p>
            <a:pPr marL="609600" indent="-609600" eaLnBrk="1" hangingPunct="1">
              <a:buFontTx/>
              <a:buAutoNum type="arabicPeriod"/>
            </a:pPr>
            <a:r>
              <a:rPr lang="fi-FI" altLang="en-US" sz="2600" dirty="0" smtClean="0"/>
              <a:t>Apply complexity weighting factors (simple, medium, complex)</a:t>
            </a:r>
          </a:p>
          <a:p>
            <a:pPr marL="609600" indent="-609600" eaLnBrk="1" hangingPunct="1">
              <a:buFontTx/>
              <a:buAutoNum type="arabicPeriod"/>
            </a:pPr>
            <a:r>
              <a:rPr lang="fi-FI" altLang="en-US" sz="2600" dirty="0" smtClean="0"/>
              <a:t>Apply environmental factors</a:t>
            </a:r>
          </a:p>
          <a:p>
            <a:pPr marL="609600" indent="-609600" eaLnBrk="1" hangingPunct="1">
              <a:buFontTx/>
              <a:buAutoNum type="arabicPeriod"/>
            </a:pPr>
            <a:r>
              <a:rPr lang="fi-FI" altLang="en-US" sz="2600" dirty="0" smtClean="0"/>
              <a:t>Calculate complexity adjustment factor</a:t>
            </a:r>
          </a:p>
          <a:p>
            <a:pPr marL="609600" indent="-609600" eaLnBrk="1" hangingPunct="1">
              <a:buFontTx/>
              <a:buAutoNum type="arabicPeriod"/>
            </a:pPr>
            <a:r>
              <a:rPr lang="fi-FI" altLang="en-US" sz="2600" dirty="0" smtClean="0"/>
              <a:t>Compute adjusted function points</a:t>
            </a:r>
          </a:p>
          <a:p>
            <a:pPr marL="609600" indent="-609600">
              <a:buFontTx/>
              <a:buAutoNum type="arabicPeriod"/>
            </a:pPr>
            <a:r>
              <a:rPr lang="en-GB" altLang="en-US" sz="2600" dirty="0"/>
              <a:t>C</a:t>
            </a:r>
            <a:r>
              <a:rPr lang="en-GB" altLang="en-US" sz="2600" dirty="0" smtClean="0"/>
              <a:t>omputed </a:t>
            </a:r>
            <a:r>
              <a:rPr lang="en-GB" altLang="en-US" sz="2600" dirty="0"/>
              <a:t>by multiplying each raw count by the weight and summing all </a:t>
            </a:r>
            <a:r>
              <a:rPr lang="en-GB" altLang="en-US" sz="2600" dirty="0" smtClean="0"/>
              <a:t>values</a:t>
            </a:r>
          </a:p>
          <a:p>
            <a:pPr marL="902208" lvl="1" indent="-609600"/>
            <a:r>
              <a:rPr lang="en-US" sz="2600" dirty="0"/>
              <a:t>FP = CT * (0.65 + 0.01 * </a:t>
            </a:r>
            <a:r>
              <a:rPr lang="el-GR" sz="2600" dirty="0"/>
              <a:t>Σ</a:t>
            </a:r>
            <a:r>
              <a:rPr lang="en-US" sz="2600" dirty="0"/>
              <a:t>Fi</a:t>
            </a:r>
            <a:r>
              <a:rPr lang="en-US" sz="2600" dirty="0" smtClean="0"/>
              <a:t>)</a:t>
            </a:r>
          </a:p>
          <a:p>
            <a:pPr marL="1085088" lvl="2" indent="-609600"/>
            <a:r>
              <a:rPr lang="en-US" altLang="en-US" sz="2200" dirty="0" smtClean="0"/>
              <a:t>CT= Count of </a:t>
            </a:r>
            <a:r>
              <a:rPr lang="fi-FI" altLang="en-US" sz="2200" dirty="0"/>
              <a:t>number of functions in each category </a:t>
            </a:r>
            <a:endParaRPr lang="fi-FI" altLang="en-US" sz="2200" dirty="0" smtClean="0"/>
          </a:p>
          <a:p>
            <a:pPr marL="1085088" lvl="2" indent="-609600"/>
            <a:r>
              <a:rPr lang="en-US" altLang="en-US" sz="2200" dirty="0" smtClean="0"/>
              <a:t>Fi= Complexity factors</a:t>
            </a:r>
            <a:endParaRPr lang="fi-FI" altLang="en-US" sz="2000" dirty="0"/>
          </a:p>
        </p:txBody>
      </p:sp>
      <p:sp>
        <p:nvSpPr>
          <p:cNvPr id="2" name="Slide Number Placeholder 1"/>
          <p:cNvSpPr>
            <a:spLocks noGrp="1"/>
          </p:cNvSpPr>
          <p:nvPr>
            <p:ph type="sldNum" sz="quarter" idx="12"/>
          </p:nvPr>
        </p:nvSpPr>
        <p:spPr/>
        <p:txBody>
          <a:bodyPr/>
          <a:lstStyle/>
          <a:p>
            <a:fld id="{E5CE4F79-B2B3-4E4E-AB5D-F771515B9CEF}" type="slidenum">
              <a:rPr lang="en-US" smtClean="0"/>
              <a:t>36</a:t>
            </a:fld>
            <a:endParaRPr lang="en-US" dirty="0"/>
          </a:p>
        </p:txBody>
      </p:sp>
    </p:spTree>
    <p:extLst>
      <p:ext uri="{BB962C8B-B14F-4D97-AF65-F5344CB8AC3E}">
        <p14:creationId xmlns:p14="http://schemas.microsoft.com/office/powerpoint/2010/main" val="303561037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fi-FI" altLang="en-US" smtClean="0"/>
              <a:t>Function Point Process Steps</a:t>
            </a:r>
            <a:endParaRPr lang="en-US" altLang="en-US" smtClean="0"/>
          </a:p>
        </p:txBody>
      </p:sp>
      <p:sp>
        <p:nvSpPr>
          <p:cNvPr id="82947" name="Rectangle 3"/>
          <p:cNvSpPr>
            <a:spLocks noGrp="1" noChangeArrowheads="1"/>
          </p:cNvSpPr>
          <p:nvPr>
            <p:ph type="body" sz="quarter" idx="13"/>
          </p:nvPr>
        </p:nvSpPr>
        <p:spPr/>
        <p:txBody>
          <a:bodyPr>
            <a:normAutofit/>
          </a:bodyPr>
          <a:lstStyle/>
          <a:p>
            <a:pPr marL="609600" indent="-609600" eaLnBrk="1" hangingPunct="1">
              <a:buFont typeface="+mj-lt"/>
              <a:buAutoNum type="arabicPeriod" startAt="7"/>
            </a:pPr>
            <a:r>
              <a:rPr lang="fi-FI" altLang="en-US" sz="2400" dirty="0" smtClean="0"/>
              <a:t>Convert to Lines of Code (optional)</a:t>
            </a:r>
          </a:p>
          <a:p>
            <a:pPr lvl="1"/>
            <a:r>
              <a:rPr lang="en-GB" altLang="en-US" sz="2400" dirty="0"/>
              <a:t>FPs can be used to estimate LOC depending on the average number of LOC per FP for a given language</a:t>
            </a:r>
          </a:p>
          <a:p>
            <a:pPr lvl="2"/>
            <a:r>
              <a:rPr lang="en-US" sz="2400" dirty="0"/>
              <a:t>LOC = LOC per FP * </a:t>
            </a:r>
            <a:r>
              <a:rPr lang="en-US" sz="2400" dirty="0" smtClean="0"/>
              <a:t>FP</a:t>
            </a:r>
            <a:endParaRPr lang="en-GB" altLang="en-US" sz="2400" dirty="0" smtClean="0"/>
          </a:p>
          <a:p>
            <a:pPr lvl="2"/>
            <a:r>
              <a:rPr lang="en-GB" altLang="en-US" sz="2400" dirty="0" smtClean="0"/>
              <a:t>LOC </a:t>
            </a:r>
            <a:r>
              <a:rPr lang="en-GB" altLang="en-US" sz="2400" dirty="0"/>
              <a:t>= AVC * number of function points </a:t>
            </a:r>
          </a:p>
          <a:p>
            <a:pPr lvl="3"/>
            <a:r>
              <a:rPr lang="en-US" sz="2400" dirty="0" smtClean="0"/>
              <a:t>Average </a:t>
            </a:r>
            <a:r>
              <a:rPr lang="en-US" sz="2400" dirty="0"/>
              <a:t>number of LOC/ FP for a given language (AVC</a:t>
            </a:r>
            <a:r>
              <a:rPr lang="en-US" sz="2400" dirty="0" smtClean="0"/>
              <a:t>)</a:t>
            </a:r>
          </a:p>
          <a:p>
            <a:pPr lvl="3"/>
            <a:r>
              <a:rPr lang="en-GB" altLang="en-US" sz="2400" dirty="0"/>
              <a:t>AVC is a language-dependent factor varying from 200-300 for assemble language to 2-40 for a </a:t>
            </a:r>
            <a:r>
              <a:rPr lang="en-GB" altLang="en-US" sz="2400" dirty="0" smtClean="0"/>
              <a:t>4GL</a:t>
            </a:r>
            <a:endParaRPr lang="en-US" sz="2400" dirty="0" smtClean="0"/>
          </a:p>
        </p:txBody>
      </p:sp>
      <p:sp>
        <p:nvSpPr>
          <p:cNvPr id="2" name="Slide Number Placeholder 1"/>
          <p:cNvSpPr>
            <a:spLocks noGrp="1"/>
          </p:cNvSpPr>
          <p:nvPr>
            <p:ph type="sldNum" sz="quarter" idx="12"/>
          </p:nvPr>
        </p:nvSpPr>
        <p:spPr/>
        <p:txBody>
          <a:bodyPr/>
          <a:lstStyle/>
          <a:p>
            <a:fld id="{E5CE4F79-B2B3-4E4E-AB5D-F771515B9CEF}" type="slidenum">
              <a:rPr lang="en-US" smtClean="0"/>
              <a:t>37</a:t>
            </a:fld>
            <a:endParaRPr lang="en-US" dirty="0"/>
          </a:p>
        </p:txBody>
      </p:sp>
    </p:spTree>
    <p:extLst>
      <p:ext uri="{BB962C8B-B14F-4D97-AF65-F5344CB8AC3E}">
        <p14:creationId xmlns:p14="http://schemas.microsoft.com/office/powerpoint/2010/main" val="163887491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E5CE4F79-B2B3-4E4E-AB5D-F771515B9CEF}" type="slidenum">
              <a:rPr lang="en-US" smtClean="0"/>
              <a:t>38</a:t>
            </a:fld>
            <a:endParaRPr lang="en-US" dirty="0"/>
          </a:p>
        </p:txBody>
      </p:sp>
      <p:sp>
        <p:nvSpPr>
          <p:cNvPr id="3" name="Title 2"/>
          <p:cNvSpPr>
            <a:spLocks noGrp="1"/>
          </p:cNvSpPr>
          <p:nvPr>
            <p:ph type="title"/>
          </p:nvPr>
        </p:nvSpPr>
        <p:spPr/>
        <p:txBody>
          <a:bodyPr/>
          <a:lstStyle/>
          <a:p>
            <a:r>
              <a:rPr lang="en-US" dirty="0" smtClean="0"/>
              <a:t>Function Point Example</a:t>
            </a:r>
            <a:endParaRPr lang="en-US" dirty="0"/>
          </a:p>
        </p:txBody>
      </p:sp>
      <p:pic>
        <p:nvPicPr>
          <p:cNvPr id="5" name="Picture 4"/>
          <p:cNvPicPr>
            <a:picLocks noChangeAspect="1"/>
          </p:cNvPicPr>
          <p:nvPr/>
        </p:nvPicPr>
        <p:blipFill>
          <a:blip r:embed="rId2"/>
          <a:stretch>
            <a:fillRect/>
          </a:stretch>
        </p:blipFill>
        <p:spPr>
          <a:xfrm>
            <a:off x="609600" y="1052052"/>
            <a:ext cx="8077200" cy="5150996"/>
          </a:xfrm>
          <a:prstGeom prst="rect">
            <a:avLst/>
          </a:prstGeom>
        </p:spPr>
      </p:pic>
    </p:spTree>
    <p:extLst>
      <p:ext uri="{BB962C8B-B14F-4D97-AF65-F5344CB8AC3E}">
        <p14:creationId xmlns:p14="http://schemas.microsoft.com/office/powerpoint/2010/main" val="42052963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p:txBody>
          <a:bodyPr>
            <a:noAutofit/>
          </a:bodyPr>
          <a:lstStyle/>
          <a:p>
            <a:pPr eaLnBrk="1" hangingPunct="1"/>
            <a:r>
              <a:rPr lang="fi-FI" altLang="en-US" sz="4400" dirty="0" smtClean="0"/>
              <a:t>Advantages of Function Point Analysis</a:t>
            </a:r>
            <a:endParaRPr lang="en-US" altLang="en-US" sz="4400" dirty="0" smtClean="0"/>
          </a:p>
        </p:txBody>
      </p:sp>
      <p:sp>
        <p:nvSpPr>
          <p:cNvPr id="83971" name="Rectangle 3"/>
          <p:cNvSpPr>
            <a:spLocks noGrp="1" noChangeArrowheads="1"/>
          </p:cNvSpPr>
          <p:nvPr>
            <p:ph type="body" sz="quarter" idx="13"/>
          </p:nvPr>
        </p:nvSpPr>
        <p:spPr/>
        <p:txBody>
          <a:bodyPr/>
          <a:lstStyle/>
          <a:p>
            <a:pPr marL="342900" indent="-342900" eaLnBrk="1" hangingPunct="1"/>
            <a:r>
              <a:rPr lang="fi-FI" altLang="en-US" sz="2600" smtClean="0"/>
              <a:t>Can be applied early in the life cycle</a:t>
            </a:r>
          </a:p>
          <a:p>
            <a:pPr marL="342900" indent="-342900" eaLnBrk="1" hangingPunct="1"/>
            <a:r>
              <a:rPr lang="fi-FI" altLang="en-US" sz="2600" smtClean="0"/>
              <a:t>Independent of language and technology</a:t>
            </a:r>
          </a:p>
          <a:p>
            <a:pPr marL="342900" indent="-342900" eaLnBrk="1" hangingPunct="1"/>
            <a:r>
              <a:rPr lang="fi-FI" altLang="en-US" sz="2600" smtClean="0"/>
              <a:t>Provide a reliable relationship to effort</a:t>
            </a:r>
          </a:p>
          <a:p>
            <a:pPr marL="342900" indent="-342900" eaLnBrk="1" hangingPunct="1"/>
            <a:r>
              <a:rPr lang="fi-FI" altLang="en-US" sz="2600" smtClean="0"/>
              <a:t>Can be used as a productivity goal</a:t>
            </a:r>
          </a:p>
          <a:p>
            <a:pPr marL="342900" indent="-342900" eaLnBrk="1" hangingPunct="1"/>
            <a:r>
              <a:rPr lang="fi-FI" altLang="en-US" sz="2600" smtClean="0"/>
              <a:t>Users understand better</a:t>
            </a:r>
          </a:p>
          <a:p>
            <a:pPr marL="342900" indent="-342900" eaLnBrk="1" hangingPunct="1"/>
            <a:r>
              <a:rPr lang="fi-FI" altLang="en-US" sz="2600" smtClean="0"/>
              <a:t>Provide a mechanism to track and monitor scope</a:t>
            </a:r>
          </a:p>
          <a:p>
            <a:pPr marL="342900" indent="-342900" eaLnBrk="1" hangingPunct="1"/>
            <a:r>
              <a:rPr lang="fi-FI" altLang="en-US" sz="2600" smtClean="0"/>
              <a:t>Environmental factors are considered</a:t>
            </a:r>
            <a:endParaRPr lang="en-US" altLang="en-US" sz="2600" smtClean="0"/>
          </a:p>
        </p:txBody>
      </p:sp>
      <p:sp>
        <p:nvSpPr>
          <p:cNvPr id="2" name="Slide Number Placeholder 1"/>
          <p:cNvSpPr>
            <a:spLocks noGrp="1"/>
          </p:cNvSpPr>
          <p:nvPr>
            <p:ph type="sldNum" sz="quarter" idx="12"/>
          </p:nvPr>
        </p:nvSpPr>
        <p:spPr/>
        <p:txBody>
          <a:bodyPr/>
          <a:lstStyle/>
          <a:p>
            <a:fld id="{E5CE4F79-B2B3-4E4E-AB5D-F771515B9CEF}" type="slidenum">
              <a:rPr lang="en-US" smtClean="0"/>
              <a:t>39</a:t>
            </a:fld>
            <a:endParaRPr lang="en-US" dirty="0"/>
          </a:p>
        </p:txBody>
      </p:sp>
    </p:spTree>
    <p:extLst>
      <p:ext uri="{BB962C8B-B14F-4D97-AF65-F5344CB8AC3E}">
        <p14:creationId xmlns:p14="http://schemas.microsoft.com/office/powerpoint/2010/main" val="131346195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p:txBody>
          <a:bodyPr>
            <a:noAutofit/>
          </a:bodyPr>
          <a:lstStyle/>
          <a:p>
            <a:pPr eaLnBrk="1" hangingPunct="1"/>
            <a:r>
              <a:rPr lang="fi-FI" altLang="en-US" sz="4000" dirty="0" smtClean="0"/>
              <a:t>Disadvantages of Function Point Analysis</a:t>
            </a:r>
            <a:endParaRPr lang="en-US" altLang="en-US" sz="4000" dirty="0" smtClean="0"/>
          </a:p>
        </p:txBody>
      </p:sp>
      <p:sp>
        <p:nvSpPr>
          <p:cNvPr id="84995" name="Rectangle 3"/>
          <p:cNvSpPr>
            <a:spLocks noGrp="1" noChangeArrowheads="1"/>
          </p:cNvSpPr>
          <p:nvPr>
            <p:ph type="body" sz="quarter" idx="13"/>
          </p:nvPr>
        </p:nvSpPr>
        <p:spPr/>
        <p:txBody>
          <a:bodyPr/>
          <a:lstStyle/>
          <a:p>
            <a:pPr marL="342900" indent="-342900" eaLnBrk="1" hangingPunct="1">
              <a:lnSpc>
                <a:spcPct val="90000"/>
              </a:lnSpc>
            </a:pPr>
            <a:r>
              <a:rPr lang="fi-FI" altLang="en-US" smtClean="0"/>
              <a:t>Requires subjective evaluations</a:t>
            </a:r>
          </a:p>
          <a:p>
            <a:pPr marL="342900" indent="-342900" eaLnBrk="1" hangingPunct="1">
              <a:lnSpc>
                <a:spcPct val="90000"/>
              </a:lnSpc>
            </a:pPr>
            <a:r>
              <a:rPr lang="fi-FI" altLang="en-US" smtClean="0"/>
              <a:t>Results depend on technology used to implement the analysis</a:t>
            </a:r>
          </a:p>
          <a:p>
            <a:pPr marL="342900" indent="-342900" eaLnBrk="1" hangingPunct="1">
              <a:lnSpc>
                <a:spcPct val="90000"/>
              </a:lnSpc>
            </a:pPr>
            <a:r>
              <a:rPr lang="fi-FI" altLang="en-US" smtClean="0"/>
              <a:t>Many effort and cost models depend on LOC, must be converted</a:t>
            </a:r>
          </a:p>
          <a:p>
            <a:pPr marL="342900" indent="-342900" eaLnBrk="1" hangingPunct="1">
              <a:lnSpc>
                <a:spcPct val="90000"/>
              </a:lnSpc>
            </a:pPr>
            <a:r>
              <a:rPr lang="fi-FI" altLang="en-US" smtClean="0"/>
              <a:t>Best after the creation of a design specification</a:t>
            </a:r>
          </a:p>
          <a:p>
            <a:pPr marL="342900" indent="-342900" eaLnBrk="1" hangingPunct="1">
              <a:lnSpc>
                <a:spcPct val="90000"/>
              </a:lnSpc>
            </a:pPr>
            <a:r>
              <a:rPr lang="fi-FI" altLang="en-US" smtClean="0"/>
              <a:t>Not good to non-MIS applications</a:t>
            </a:r>
            <a:endParaRPr lang="en-US" altLang="en-US" smtClean="0"/>
          </a:p>
        </p:txBody>
      </p:sp>
      <p:sp>
        <p:nvSpPr>
          <p:cNvPr id="2" name="Slide Number Placeholder 1"/>
          <p:cNvSpPr>
            <a:spLocks noGrp="1"/>
          </p:cNvSpPr>
          <p:nvPr>
            <p:ph type="sldNum" sz="quarter" idx="12"/>
          </p:nvPr>
        </p:nvSpPr>
        <p:spPr/>
        <p:txBody>
          <a:bodyPr/>
          <a:lstStyle/>
          <a:p>
            <a:fld id="{E5CE4F79-B2B3-4E4E-AB5D-F771515B9CEF}" type="slidenum">
              <a:rPr lang="en-US" smtClean="0"/>
              <a:t>40</a:t>
            </a:fld>
            <a:endParaRPr lang="en-US" dirty="0"/>
          </a:p>
        </p:txBody>
      </p:sp>
    </p:spTree>
    <p:extLst>
      <p:ext uri="{BB962C8B-B14F-4D97-AF65-F5344CB8AC3E}">
        <p14:creationId xmlns:p14="http://schemas.microsoft.com/office/powerpoint/2010/main" val="71396451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1" name="Slide Number Placeholder 5"/>
          <p:cNvSpPr>
            <a:spLocks noGrp="1"/>
          </p:cNvSpPr>
          <p:nvPr>
            <p:ph type="sldNum" sz="quarter" idx="12"/>
          </p:nvPr>
        </p:nvSpPr>
        <p:spPr/>
        <p:txBody>
          <a:bodyPr/>
          <a:lstStyle/>
          <a:p>
            <a:pPr>
              <a:defRPr/>
            </a:pPr>
            <a:fld id="{71A4123E-B487-40DE-A266-231EE1A53AC3}" type="slidenum">
              <a:rPr lang="en-US"/>
              <a:pPr>
                <a:defRPr/>
              </a:pPr>
              <a:t>41</a:t>
            </a:fld>
            <a:endParaRPr lang="en-US"/>
          </a:p>
        </p:txBody>
      </p:sp>
      <p:sp>
        <p:nvSpPr>
          <p:cNvPr id="108546" name="Title 4"/>
          <p:cNvSpPr>
            <a:spLocks noGrp="1"/>
          </p:cNvSpPr>
          <p:nvPr>
            <p:ph type="title"/>
          </p:nvPr>
        </p:nvSpPr>
        <p:spPr/>
        <p:txBody>
          <a:bodyPr>
            <a:normAutofit/>
          </a:bodyPr>
          <a:lstStyle/>
          <a:p>
            <a:pPr eaLnBrk="1" hangingPunct="1"/>
            <a:r>
              <a:rPr lang="en-US" dirty="0"/>
              <a:t>Software Cost Estimation </a:t>
            </a:r>
          </a:p>
        </p:txBody>
      </p:sp>
      <p:sp>
        <p:nvSpPr>
          <p:cNvPr id="108548" name="Rectangle 3"/>
          <p:cNvSpPr>
            <a:spLocks noGrp="1" noChangeArrowheads="1"/>
          </p:cNvSpPr>
          <p:nvPr>
            <p:ph type="body" sz="quarter" idx="13"/>
          </p:nvPr>
        </p:nvSpPr>
        <p:spPr/>
        <p:txBody>
          <a:bodyPr>
            <a:normAutofit lnSpcReduction="10000"/>
          </a:bodyPr>
          <a:lstStyle/>
          <a:p>
            <a:pPr eaLnBrk="1" hangingPunct="1"/>
            <a:r>
              <a:rPr lang="en-US" sz="2400" dirty="0"/>
              <a:t>Software project managers must estimate how much a software development is going to cost for the project budget.</a:t>
            </a:r>
          </a:p>
          <a:p>
            <a:pPr eaLnBrk="1" hangingPunct="1"/>
            <a:r>
              <a:rPr lang="en-GB" sz="2400" dirty="0"/>
              <a:t>Types of costs:</a:t>
            </a:r>
          </a:p>
          <a:p>
            <a:pPr lvl="1" eaLnBrk="1" hangingPunct="1"/>
            <a:r>
              <a:rPr lang="en-GB" sz="2200" dirty="0"/>
              <a:t>Facilities costs  </a:t>
            </a:r>
          </a:p>
          <a:p>
            <a:pPr lvl="2" eaLnBrk="1" hangingPunct="1"/>
            <a:r>
              <a:rPr lang="en-GB" sz="2000" dirty="0"/>
              <a:t>Hardware &amp; software costs</a:t>
            </a:r>
          </a:p>
          <a:p>
            <a:pPr lvl="2" eaLnBrk="1" hangingPunct="1"/>
            <a:r>
              <a:rPr lang="en-GB" sz="2000" dirty="0"/>
              <a:t>Costs for physical space for team</a:t>
            </a:r>
          </a:p>
          <a:p>
            <a:pPr lvl="1" eaLnBrk="1" hangingPunct="1"/>
            <a:r>
              <a:rPr lang="en-GB" sz="2200" dirty="0"/>
              <a:t>Project management costs</a:t>
            </a:r>
          </a:p>
          <a:p>
            <a:pPr lvl="2" eaLnBrk="1" hangingPunct="1"/>
            <a:r>
              <a:rPr lang="en-GB" sz="2000" dirty="0"/>
              <a:t>Standards</a:t>
            </a:r>
          </a:p>
          <a:p>
            <a:pPr lvl="2" eaLnBrk="1" hangingPunct="1"/>
            <a:r>
              <a:rPr lang="en-GB" sz="2000" dirty="0"/>
              <a:t>Training</a:t>
            </a:r>
          </a:p>
          <a:p>
            <a:pPr lvl="2" eaLnBrk="1" hangingPunct="1"/>
            <a:r>
              <a:rPr lang="en-GB" sz="2000" dirty="0"/>
              <a:t>Travel</a:t>
            </a:r>
          </a:p>
          <a:p>
            <a:pPr lvl="2" eaLnBrk="1" hangingPunct="1"/>
            <a:r>
              <a:rPr lang="en-GB" sz="2000" dirty="0"/>
              <a:t>Management methods</a:t>
            </a:r>
          </a:p>
          <a:p>
            <a:pPr lvl="1" eaLnBrk="1" hangingPunct="1"/>
            <a:r>
              <a:rPr lang="en-GB" sz="2200" dirty="0"/>
              <a:t>People costs</a:t>
            </a:r>
            <a:endParaRPr lang="en-GB" sz="2000" dirty="0"/>
          </a:p>
          <a:p>
            <a:pPr lvl="2" eaLnBrk="1" hangingPunct="1"/>
            <a:r>
              <a:rPr lang="en-GB" sz="2000" dirty="0"/>
              <a:t>Salary</a:t>
            </a:r>
            <a:r>
              <a:rPr lang="en-GB" sz="1800" dirty="0"/>
              <a:t> </a:t>
            </a:r>
            <a:endParaRPr lang="en-US" sz="1800" dirty="0"/>
          </a:p>
        </p:txBody>
      </p:sp>
    </p:spTree>
    <p:extLst>
      <p:ext uri="{BB962C8B-B14F-4D97-AF65-F5344CB8AC3E}">
        <p14:creationId xmlns:p14="http://schemas.microsoft.com/office/powerpoint/2010/main" val="372173711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42</a:t>
            </a:fld>
            <a:endParaRPr lang="en-MY">
              <a:solidFill>
                <a:prstClr val="black">
                  <a:tint val="75000"/>
                </a:prstClr>
              </a:solidFill>
            </a:endParaRPr>
          </a:p>
        </p:txBody>
      </p:sp>
      <p:sp>
        <p:nvSpPr>
          <p:cNvPr id="2" name="Title 1"/>
          <p:cNvSpPr>
            <a:spLocks noGrp="1"/>
          </p:cNvSpPr>
          <p:nvPr>
            <p:ph type="title"/>
          </p:nvPr>
        </p:nvSpPr>
        <p:spPr/>
        <p:txBody>
          <a:bodyPr/>
          <a:lstStyle/>
          <a:p>
            <a:r>
              <a:rPr lang="en-US" dirty="0"/>
              <a:t>Effort</a:t>
            </a:r>
            <a:endParaRPr lang="en-US" sz="4000" dirty="0"/>
          </a:p>
        </p:txBody>
      </p:sp>
      <p:sp>
        <p:nvSpPr>
          <p:cNvPr id="3" name="Content Placeholder 2"/>
          <p:cNvSpPr>
            <a:spLocks noGrp="1"/>
          </p:cNvSpPr>
          <p:nvPr>
            <p:ph type="body" sz="quarter" idx="13"/>
          </p:nvPr>
        </p:nvSpPr>
        <p:spPr/>
        <p:txBody>
          <a:bodyPr>
            <a:normAutofit/>
          </a:bodyPr>
          <a:lstStyle/>
          <a:p>
            <a:r>
              <a:rPr lang="en-US" sz="2400" dirty="0"/>
              <a:t>Effort is the number of </a:t>
            </a:r>
            <a:r>
              <a:rPr lang="en-US" sz="2400" dirty="0" smtClean="0"/>
              <a:t>labor </a:t>
            </a:r>
            <a:r>
              <a:rPr lang="en-US" sz="2400" dirty="0"/>
              <a:t>units required to complete an activity or other project element</a:t>
            </a:r>
          </a:p>
          <a:p>
            <a:r>
              <a:rPr lang="en-US" sz="2400" dirty="0"/>
              <a:t>The estimated range of effort required for a project, or parts of a project, can be determined using:</a:t>
            </a:r>
          </a:p>
          <a:p>
            <a:pPr lvl="1"/>
            <a:r>
              <a:rPr lang="en-US" sz="2200" dirty="0"/>
              <a:t>a calibrated estimation model based on historical size and effort data (when available) </a:t>
            </a:r>
          </a:p>
          <a:p>
            <a:pPr lvl="1"/>
            <a:r>
              <a:rPr lang="en-US" sz="2200" dirty="0"/>
              <a:t>other relevant methods such as expert judgment and analogy</a:t>
            </a:r>
          </a:p>
          <a:p>
            <a:r>
              <a:rPr lang="en-US" sz="2400" dirty="0"/>
              <a:t>Task dependencies can be established and potential opportunities for completing tasks concurrently and sequentially can be identified and documented using a Gantt chart, for example.</a:t>
            </a:r>
          </a:p>
        </p:txBody>
      </p:sp>
    </p:spTree>
    <p:extLst>
      <p:ext uri="{BB962C8B-B14F-4D97-AF65-F5344CB8AC3E}">
        <p14:creationId xmlns:p14="http://schemas.microsoft.com/office/powerpoint/2010/main" val="232248074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43</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MY" dirty="0"/>
              <a:t>Software Effort Estimation</a:t>
            </a:r>
          </a:p>
        </p:txBody>
      </p:sp>
      <p:sp>
        <p:nvSpPr>
          <p:cNvPr id="3" name="Content Placeholder 2"/>
          <p:cNvSpPr>
            <a:spLocks noGrp="1"/>
          </p:cNvSpPr>
          <p:nvPr>
            <p:ph type="body" sz="quarter" idx="13"/>
          </p:nvPr>
        </p:nvSpPr>
        <p:spPr/>
        <p:txBody>
          <a:bodyPr>
            <a:normAutofit/>
          </a:bodyPr>
          <a:lstStyle/>
          <a:p>
            <a:r>
              <a:rPr lang="en-MY" sz="2400" dirty="0"/>
              <a:t>After sizing the product (functional size measurement), the effort to be expended shall be estimated in person months (or hours) using the size and additional estimation parameters</a:t>
            </a:r>
          </a:p>
          <a:p>
            <a:r>
              <a:rPr lang="en-MY" sz="2400" dirty="0"/>
              <a:t>The estimated effort is distributed across the phases of the project as the basis for project planning and scheduling</a:t>
            </a:r>
          </a:p>
          <a:p>
            <a:r>
              <a:rPr lang="en-MY" sz="2400" dirty="0"/>
              <a:t>For the total project plan, an estimate must also be made for the effort for project management and quality assurance</a:t>
            </a:r>
          </a:p>
          <a:p>
            <a:r>
              <a:rPr lang="en-MY" sz="2400" dirty="0"/>
              <a:t>Often the project management and quality assurance efforts are overlooked or forgotten, and this leads to severe miscalculations and underestimating</a:t>
            </a:r>
          </a:p>
        </p:txBody>
      </p:sp>
    </p:spTree>
    <p:extLst>
      <p:ext uri="{BB962C8B-B14F-4D97-AF65-F5344CB8AC3E}">
        <p14:creationId xmlns:p14="http://schemas.microsoft.com/office/powerpoint/2010/main" val="160052290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44</a:t>
            </a:fld>
            <a:endParaRPr lang="en-MY">
              <a:solidFill>
                <a:prstClr val="black">
                  <a:tint val="75000"/>
                </a:prstClr>
              </a:solidFill>
            </a:endParaRPr>
          </a:p>
        </p:txBody>
      </p:sp>
      <p:sp>
        <p:nvSpPr>
          <p:cNvPr id="2" name="Title 1"/>
          <p:cNvSpPr>
            <a:spLocks noGrp="1"/>
          </p:cNvSpPr>
          <p:nvPr>
            <p:ph type="title"/>
          </p:nvPr>
        </p:nvSpPr>
        <p:spPr/>
        <p:txBody>
          <a:bodyPr/>
          <a:lstStyle/>
          <a:p>
            <a:r>
              <a:rPr lang="en-US" dirty="0"/>
              <a:t>Schedule</a:t>
            </a:r>
            <a:endParaRPr lang="en-US" sz="3200" dirty="0"/>
          </a:p>
        </p:txBody>
      </p:sp>
      <p:sp>
        <p:nvSpPr>
          <p:cNvPr id="3" name="Content Placeholder 2"/>
          <p:cNvSpPr>
            <a:spLocks noGrp="1"/>
          </p:cNvSpPr>
          <p:nvPr>
            <p:ph type="body" sz="quarter" idx="13"/>
          </p:nvPr>
        </p:nvSpPr>
        <p:spPr/>
        <p:txBody>
          <a:bodyPr/>
          <a:lstStyle/>
          <a:p>
            <a:r>
              <a:rPr lang="en-US" sz="2800" dirty="0"/>
              <a:t>Determine the start and finish dates for project activities.</a:t>
            </a:r>
          </a:p>
          <a:p>
            <a:r>
              <a:rPr lang="en-US" sz="2800" dirty="0"/>
              <a:t>If the start and finish dates are not realistic, the project is unlikely to be finished as scheduled. </a:t>
            </a:r>
          </a:p>
          <a:p>
            <a:r>
              <a:rPr lang="en-US" sz="2800" dirty="0"/>
              <a:t>The schedule development process must often be iterated (along with the processes that provide inputs, especially duration estimating and cost estimating) prior to determination of the project schedule.</a:t>
            </a:r>
          </a:p>
        </p:txBody>
      </p:sp>
    </p:spTree>
    <p:extLst>
      <p:ext uri="{BB962C8B-B14F-4D97-AF65-F5344CB8AC3E}">
        <p14:creationId xmlns:p14="http://schemas.microsoft.com/office/powerpoint/2010/main" val="21238718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45</a:t>
            </a:fld>
            <a:endParaRPr lang="en-MY">
              <a:solidFill>
                <a:prstClr val="black">
                  <a:tint val="75000"/>
                </a:prstClr>
              </a:solidFill>
            </a:endParaRPr>
          </a:p>
        </p:txBody>
      </p:sp>
      <p:sp>
        <p:nvSpPr>
          <p:cNvPr id="2" name="Title 1"/>
          <p:cNvSpPr>
            <a:spLocks noGrp="1"/>
          </p:cNvSpPr>
          <p:nvPr>
            <p:ph type="title"/>
          </p:nvPr>
        </p:nvSpPr>
        <p:spPr/>
        <p:txBody>
          <a:bodyPr>
            <a:normAutofit/>
          </a:bodyPr>
          <a:lstStyle/>
          <a:p>
            <a:r>
              <a:rPr lang="en-MY" dirty="0"/>
              <a:t>Software Schedule Estimation</a:t>
            </a:r>
          </a:p>
        </p:txBody>
      </p:sp>
      <p:sp>
        <p:nvSpPr>
          <p:cNvPr id="3" name="Content Placeholder 2"/>
          <p:cNvSpPr>
            <a:spLocks noGrp="1"/>
          </p:cNvSpPr>
          <p:nvPr>
            <p:ph type="body" sz="quarter" idx="13"/>
          </p:nvPr>
        </p:nvSpPr>
        <p:spPr/>
        <p:txBody>
          <a:bodyPr>
            <a:normAutofit/>
          </a:bodyPr>
          <a:lstStyle/>
          <a:p>
            <a:r>
              <a:rPr lang="en-MY" sz="2800" dirty="0"/>
              <a:t>Early and precise estimations are necessary and desirable by software clients</a:t>
            </a:r>
          </a:p>
          <a:p>
            <a:r>
              <a:rPr lang="en-MY" sz="2800" dirty="0"/>
              <a:t>However, early estimations are usually imprecise and prone to a high degree of uncertainty</a:t>
            </a:r>
          </a:p>
          <a:p>
            <a:r>
              <a:rPr lang="en-MY" sz="2800" dirty="0"/>
              <a:t>Estimates must be updated and revised whenever important influencing factors change</a:t>
            </a:r>
          </a:p>
          <a:p>
            <a:r>
              <a:rPr lang="en-MY" sz="2800" dirty="0"/>
              <a:t>If changes are not considered and actualized, the plan made from the original estimation will never be met</a:t>
            </a:r>
          </a:p>
          <a:p>
            <a:endParaRPr lang="en-MY" sz="2800" dirty="0"/>
          </a:p>
        </p:txBody>
      </p:sp>
    </p:spTree>
    <p:extLst>
      <p:ext uri="{BB962C8B-B14F-4D97-AF65-F5344CB8AC3E}">
        <p14:creationId xmlns:p14="http://schemas.microsoft.com/office/powerpoint/2010/main" val="12500196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01F39769-412B-442C-8C4E-CB6033C33AD7}" type="slidenum">
              <a:rPr lang="en-MY" smtClean="0">
                <a:solidFill>
                  <a:prstClr val="black">
                    <a:tint val="75000"/>
                  </a:prstClr>
                </a:solidFill>
              </a:rPr>
              <a:pPr>
                <a:defRPr/>
              </a:pPr>
              <a:t>46</a:t>
            </a:fld>
            <a:endParaRPr lang="en-MY">
              <a:solidFill>
                <a:prstClr val="black">
                  <a:tint val="75000"/>
                </a:prstClr>
              </a:solidFill>
            </a:endParaRPr>
          </a:p>
        </p:txBody>
      </p:sp>
      <p:sp>
        <p:nvSpPr>
          <p:cNvPr id="5" name="Title 4"/>
          <p:cNvSpPr>
            <a:spLocks noGrp="1"/>
          </p:cNvSpPr>
          <p:nvPr>
            <p:ph type="title"/>
          </p:nvPr>
        </p:nvSpPr>
        <p:spPr/>
        <p:txBody>
          <a:bodyPr/>
          <a:lstStyle/>
          <a:p>
            <a:r>
              <a:rPr lang="en-MY" dirty="0"/>
              <a:t>Software Schedule Estimation</a:t>
            </a:r>
          </a:p>
        </p:txBody>
      </p:sp>
      <p:pic>
        <p:nvPicPr>
          <p:cNvPr id="6" name="Picture 5"/>
          <p:cNvPicPr>
            <a:picLocks noChangeAspect="1"/>
          </p:cNvPicPr>
          <p:nvPr/>
        </p:nvPicPr>
        <p:blipFill>
          <a:blip r:embed="rId2"/>
          <a:stretch>
            <a:fillRect/>
          </a:stretch>
        </p:blipFill>
        <p:spPr>
          <a:xfrm>
            <a:off x="1066800" y="1752600"/>
            <a:ext cx="6928359" cy="3317340"/>
          </a:xfrm>
          <a:prstGeom prst="rect">
            <a:avLst/>
          </a:prstGeom>
        </p:spPr>
      </p:pic>
      <p:sp>
        <p:nvSpPr>
          <p:cNvPr id="7" name="TextBox 6"/>
          <p:cNvSpPr txBox="1"/>
          <p:nvPr/>
        </p:nvSpPr>
        <p:spPr>
          <a:xfrm>
            <a:off x="1902079" y="5222340"/>
            <a:ext cx="5257800" cy="646331"/>
          </a:xfrm>
          <a:prstGeom prst="rect">
            <a:avLst/>
          </a:prstGeom>
          <a:noFill/>
        </p:spPr>
        <p:txBody>
          <a:bodyPr wrap="square" rtlCol="0">
            <a:spAutoFit/>
          </a:bodyPr>
          <a:lstStyle/>
          <a:p>
            <a:pPr algn="ctr"/>
            <a:r>
              <a:rPr lang="en-MY" dirty="0"/>
              <a:t>Suggestion for Milestones for IT project estimation </a:t>
            </a:r>
          </a:p>
          <a:p>
            <a:pPr algn="ctr"/>
            <a:r>
              <a:rPr lang="en-MY" dirty="0"/>
              <a:t>(</a:t>
            </a:r>
            <a:r>
              <a:rPr lang="en-MY" dirty="0" err="1"/>
              <a:t>Bundschuh</a:t>
            </a:r>
            <a:r>
              <a:rPr lang="en-MY" dirty="0"/>
              <a:t> &amp; </a:t>
            </a:r>
            <a:r>
              <a:rPr lang="en-MY" dirty="0" err="1"/>
              <a:t>Dekkers</a:t>
            </a:r>
            <a:r>
              <a:rPr lang="en-MY" dirty="0"/>
              <a:t>, 2008) </a:t>
            </a:r>
          </a:p>
        </p:txBody>
      </p:sp>
    </p:spTree>
    <p:extLst>
      <p:ext uri="{BB962C8B-B14F-4D97-AF65-F5344CB8AC3E}">
        <p14:creationId xmlns:p14="http://schemas.microsoft.com/office/powerpoint/2010/main" val="9617033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20" name="Slide Number Placeholder 3"/>
          <p:cNvSpPr>
            <a:spLocks noGrp="1"/>
          </p:cNvSpPr>
          <p:nvPr>
            <p:ph type="sldNum" sz="quarter" idx="12"/>
          </p:nvPr>
        </p:nvSpPr>
        <p:spPr/>
        <p:txBody>
          <a:bodyPr/>
          <a:lstStyle/>
          <a:p>
            <a:pPr>
              <a:defRPr/>
            </a:pPr>
            <a:fld id="{800AFBE5-CBCD-4165-B01D-2EC48776A284}" type="slidenum">
              <a:rPr lang="en-US"/>
              <a:pPr>
                <a:defRPr/>
              </a:pPr>
              <a:t>47</a:t>
            </a:fld>
            <a:endParaRPr lang="en-US"/>
          </a:p>
        </p:txBody>
      </p:sp>
      <p:sp>
        <p:nvSpPr>
          <p:cNvPr id="94210" name="Title 1"/>
          <p:cNvSpPr>
            <a:spLocks noGrp="1"/>
          </p:cNvSpPr>
          <p:nvPr>
            <p:ph type="title"/>
          </p:nvPr>
        </p:nvSpPr>
        <p:spPr/>
        <p:txBody>
          <a:bodyPr>
            <a:normAutofit/>
          </a:bodyPr>
          <a:lstStyle/>
          <a:p>
            <a:pPr eaLnBrk="1" hangingPunct="1"/>
            <a:r>
              <a:rPr lang="en-US" dirty="0"/>
              <a:t>Estimate is …</a:t>
            </a:r>
          </a:p>
        </p:txBody>
      </p:sp>
      <p:sp>
        <p:nvSpPr>
          <p:cNvPr id="94212" name="Content Placeholder 2"/>
          <p:cNvSpPr>
            <a:spLocks noGrp="1"/>
          </p:cNvSpPr>
          <p:nvPr>
            <p:ph type="body" sz="quarter" idx="13"/>
          </p:nvPr>
        </p:nvSpPr>
        <p:spPr/>
        <p:txBody>
          <a:bodyPr/>
          <a:lstStyle/>
          <a:p>
            <a:pPr eaLnBrk="1" hangingPunct="1"/>
            <a:r>
              <a:rPr lang="en-US" sz="2400" dirty="0"/>
              <a:t>An assessment of the likely quantitative result</a:t>
            </a:r>
          </a:p>
          <a:p>
            <a:pPr eaLnBrk="1" hangingPunct="1"/>
            <a:r>
              <a:rPr lang="en-US" sz="2400" dirty="0"/>
              <a:t>An approximate judgment of the effort, cost &amp; time to perform a specified piece of work</a:t>
            </a:r>
          </a:p>
          <a:p>
            <a:pPr eaLnBrk="1" hangingPunct="1"/>
            <a:r>
              <a:rPr lang="en-US" sz="2400" dirty="0"/>
              <a:t>A quotation for a piece of work that cannot be exceeded without notice given</a:t>
            </a:r>
          </a:p>
          <a:p>
            <a:pPr eaLnBrk="1" hangingPunct="1"/>
            <a:r>
              <a:rPr lang="en-US" sz="2400" dirty="0"/>
              <a:t>A document containing resources &amp; consumption:</a:t>
            </a:r>
          </a:p>
          <a:p>
            <a:pPr lvl="1" eaLnBrk="1" hangingPunct="1"/>
            <a:r>
              <a:rPr lang="en-US" sz="2400" dirty="0"/>
              <a:t>What resources require?</a:t>
            </a:r>
          </a:p>
          <a:p>
            <a:pPr lvl="1" eaLnBrk="1" hangingPunct="1"/>
            <a:r>
              <a:rPr lang="en-US" sz="2400" dirty="0"/>
              <a:t>Who will supply them?</a:t>
            </a:r>
          </a:p>
          <a:p>
            <a:pPr lvl="1" eaLnBrk="1" hangingPunct="1"/>
            <a:r>
              <a:rPr lang="en-US" sz="2400" dirty="0"/>
              <a:t>When are they needed?</a:t>
            </a:r>
          </a:p>
          <a:p>
            <a:pPr lvl="1" eaLnBrk="1" hangingPunct="1"/>
            <a:r>
              <a:rPr lang="en-US" sz="2400" dirty="0"/>
              <a:t>How long they are needed?</a:t>
            </a:r>
          </a:p>
        </p:txBody>
      </p:sp>
    </p:spTree>
    <p:extLst>
      <p:ext uri="{BB962C8B-B14F-4D97-AF65-F5344CB8AC3E}">
        <p14:creationId xmlns:p14="http://schemas.microsoft.com/office/powerpoint/2010/main" val="18641782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4" name="Slide Number Placeholder 3"/>
          <p:cNvSpPr>
            <a:spLocks noGrp="1"/>
          </p:cNvSpPr>
          <p:nvPr>
            <p:ph type="sldNum" sz="quarter" idx="12"/>
          </p:nvPr>
        </p:nvSpPr>
        <p:spPr/>
        <p:txBody>
          <a:bodyPr/>
          <a:lstStyle/>
          <a:p>
            <a:pPr>
              <a:defRPr/>
            </a:pPr>
            <a:fld id="{A6D75917-F970-4B84-8CA8-DD53E520B3B2}" type="slidenum">
              <a:rPr lang="en-US"/>
              <a:pPr>
                <a:defRPr/>
              </a:pPr>
              <a:t>48</a:t>
            </a:fld>
            <a:endParaRPr lang="en-US"/>
          </a:p>
        </p:txBody>
      </p:sp>
      <p:sp>
        <p:nvSpPr>
          <p:cNvPr id="95234" name="Title 1"/>
          <p:cNvSpPr>
            <a:spLocks noGrp="1"/>
          </p:cNvSpPr>
          <p:nvPr>
            <p:ph type="title"/>
          </p:nvPr>
        </p:nvSpPr>
        <p:spPr/>
        <p:txBody>
          <a:bodyPr>
            <a:normAutofit/>
          </a:bodyPr>
          <a:lstStyle/>
          <a:p>
            <a:pPr eaLnBrk="1" hangingPunct="1"/>
            <a:r>
              <a:rPr lang="en-US" dirty="0"/>
              <a:t>Estimate is not …</a:t>
            </a:r>
          </a:p>
        </p:txBody>
      </p:sp>
      <p:sp>
        <p:nvSpPr>
          <p:cNvPr id="95236" name="Content Placeholder 2"/>
          <p:cNvSpPr>
            <a:spLocks noGrp="1"/>
          </p:cNvSpPr>
          <p:nvPr>
            <p:ph type="body" sz="quarter" idx="13"/>
          </p:nvPr>
        </p:nvSpPr>
        <p:spPr/>
        <p:txBody>
          <a:bodyPr/>
          <a:lstStyle/>
          <a:p>
            <a:pPr eaLnBrk="1" hangingPunct="1"/>
            <a:r>
              <a:rPr lang="en-US" sz="2800" dirty="0"/>
              <a:t>Account strategy</a:t>
            </a:r>
          </a:p>
          <a:p>
            <a:pPr eaLnBrk="1" hangingPunct="1"/>
            <a:r>
              <a:rPr lang="en-US" sz="2800" dirty="0"/>
              <a:t>Pricing</a:t>
            </a:r>
          </a:p>
          <a:p>
            <a:pPr eaLnBrk="1" hangingPunct="1"/>
            <a:r>
              <a:rPr lang="en-US" sz="2800" dirty="0"/>
              <a:t>Investment marketing</a:t>
            </a:r>
          </a:p>
          <a:p>
            <a:pPr eaLnBrk="1" hangingPunct="1"/>
            <a:r>
              <a:rPr lang="en-US" sz="2800" dirty="0"/>
              <a:t>Client satisfaction</a:t>
            </a:r>
          </a:p>
          <a:p>
            <a:pPr eaLnBrk="1" hangingPunct="1"/>
            <a:r>
              <a:rPr lang="en-US" sz="2800" dirty="0"/>
              <a:t>Software or tools</a:t>
            </a:r>
          </a:p>
          <a:p>
            <a:pPr eaLnBrk="1" hangingPunct="1"/>
            <a:r>
              <a:rPr lang="en-US" sz="2800" dirty="0"/>
              <a:t>Finding the fastest way</a:t>
            </a:r>
            <a:endParaRPr lang="en-US" sz="2800" b="1" dirty="0"/>
          </a:p>
          <a:p>
            <a:pPr eaLnBrk="1" hangingPunct="1"/>
            <a:endParaRPr lang="en-US" sz="2800" dirty="0"/>
          </a:p>
        </p:txBody>
      </p:sp>
    </p:spTree>
    <p:extLst>
      <p:ext uri="{BB962C8B-B14F-4D97-AF65-F5344CB8AC3E}">
        <p14:creationId xmlns:p14="http://schemas.microsoft.com/office/powerpoint/2010/main" val="224101389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73162"/>
          </a:xfrm>
        </p:spPr>
        <p:txBody>
          <a:bodyPr>
            <a:noAutofit/>
          </a:bodyPr>
          <a:lstStyle/>
          <a:p>
            <a:r>
              <a:rPr lang="en-US" b="1" dirty="0"/>
              <a:t>Problems with Over- and Under-Estimates</a:t>
            </a:r>
          </a:p>
        </p:txBody>
      </p:sp>
      <p:sp>
        <p:nvSpPr>
          <p:cNvPr id="3" name="Content Placeholder 2"/>
          <p:cNvSpPr>
            <a:spLocks noGrp="1"/>
          </p:cNvSpPr>
          <p:nvPr>
            <p:ph idx="1"/>
          </p:nvPr>
        </p:nvSpPr>
        <p:spPr>
          <a:xfrm>
            <a:off x="457200" y="1600200"/>
            <a:ext cx="8229600" cy="4876799"/>
          </a:xfrm>
        </p:spPr>
        <p:txBody>
          <a:bodyPr>
            <a:normAutofit/>
          </a:bodyPr>
          <a:lstStyle/>
          <a:p>
            <a:r>
              <a:rPr lang="en-US" sz="2600" dirty="0" smtClean="0">
                <a:solidFill>
                  <a:srgbClr val="FF0000"/>
                </a:solidFill>
              </a:rPr>
              <a:t>an </a:t>
            </a:r>
            <a:r>
              <a:rPr lang="en-US" sz="2600" dirty="0">
                <a:solidFill>
                  <a:srgbClr val="FF0000"/>
                </a:solidFill>
              </a:rPr>
              <a:t>over-estimate </a:t>
            </a:r>
            <a:r>
              <a:rPr lang="en-US" sz="2600" dirty="0" smtClean="0">
                <a:solidFill>
                  <a:srgbClr val="FF0000"/>
                </a:solidFill>
              </a:rPr>
              <a:t>may cause </a:t>
            </a:r>
            <a:r>
              <a:rPr lang="en-US" sz="2600" dirty="0">
                <a:solidFill>
                  <a:srgbClr val="FF0000"/>
                </a:solidFill>
              </a:rPr>
              <a:t>the project to take longer than it would otherwise. </a:t>
            </a:r>
            <a:endParaRPr lang="en-US" sz="2600" dirty="0" smtClean="0">
              <a:solidFill>
                <a:srgbClr val="FF0000"/>
              </a:solidFill>
            </a:endParaRPr>
          </a:p>
          <a:p>
            <a:r>
              <a:rPr lang="en-US" sz="2600" dirty="0" smtClean="0"/>
              <a:t>This </a:t>
            </a:r>
            <a:r>
              <a:rPr lang="en-US" sz="2600" dirty="0"/>
              <a:t>can be explained by </a:t>
            </a:r>
            <a:r>
              <a:rPr lang="en-US" sz="2600" dirty="0" smtClean="0"/>
              <a:t>the application </a:t>
            </a:r>
            <a:r>
              <a:rPr lang="en-US" sz="2600" dirty="0"/>
              <a:t>of two ‘laws</a:t>
            </a:r>
            <a:r>
              <a:rPr lang="en-US" sz="2600" dirty="0" smtClean="0"/>
              <a:t>’.</a:t>
            </a:r>
          </a:p>
          <a:p>
            <a:pPr marL="749808" lvl="1" indent="-457200">
              <a:buFont typeface="+mj-lt"/>
              <a:buAutoNum type="arabicPeriod"/>
            </a:pPr>
            <a:r>
              <a:rPr lang="en-US" sz="2200" b="1" i="1" dirty="0" smtClean="0"/>
              <a:t>Parkinson’s Law </a:t>
            </a:r>
          </a:p>
          <a:p>
            <a:pPr marL="749808" lvl="1" indent="-457200">
              <a:buFont typeface="+mj-lt"/>
              <a:buAutoNum type="arabicPeriod"/>
            </a:pPr>
            <a:r>
              <a:rPr lang="en-US" sz="2200" b="1" i="1" dirty="0" smtClean="0"/>
              <a:t>Brook’s Law</a:t>
            </a:r>
          </a:p>
          <a:p>
            <a:endParaRPr lang="en-US" sz="2400" b="1" i="1" dirty="0">
              <a:sym typeface="Wingdings" pitchFamily="2" charset="2"/>
            </a:endParaRPr>
          </a:p>
        </p:txBody>
      </p:sp>
      <p:sp>
        <p:nvSpPr>
          <p:cNvPr id="4" name="Slide Number Placeholder 3"/>
          <p:cNvSpPr>
            <a:spLocks noGrp="1"/>
          </p:cNvSpPr>
          <p:nvPr>
            <p:ph type="sldNum" sz="quarter" idx="12"/>
          </p:nvPr>
        </p:nvSpPr>
        <p:spPr/>
        <p:txBody>
          <a:bodyPr/>
          <a:lstStyle/>
          <a:p>
            <a:fld id="{E5CE4F79-B2B3-4E4E-AB5D-F771515B9CEF}" type="slidenum">
              <a:rPr lang="en-US" smtClean="0"/>
              <a:t>49</a:t>
            </a:fld>
            <a:endParaRPr lang="en-US" dirty="0"/>
          </a:p>
        </p:txBody>
      </p:sp>
    </p:spTree>
    <p:extLst>
      <p:ext uri="{BB962C8B-B14F-4D97-AF65-F5344CB8AC3E}">
        <p14:creationId xmlns:p14="http://schemas.microsoft.com/office/powerpoint/2010/main" val="12108622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50</a:t>
            </a:fld>
            <a:endParaRPr lang="en-US" dirty="0"/>
          </a:p>
        </p:txBody>
      </p:sp>
      <p:sp>
        <p:nvSpPr>
          <p:cNvPr id="2" name="Title 1"/>
          <p:cNvSpPr>
            <a:spLocks noGrp="1"/>
          </p:cNvSpPr>
          <p:nvPr>
            <p:ph type="title"/>
          </p:nvPr>
        </p:nvSpPr>
        <p:spPr/>
        <p:txBody>
          <a:bodyPr/>
          <a:lstStyle/>
          <a:p>
            <a:r>
              <a:rPr lang="en-US" dirty="0" smtClean="0"/>
              <a:t>Parkinson’s Law</a:t>
            </a:r>
            <a:endParaRPr lang="en-US" dirty="0"/>
          </a:p>
        </p:txBody>
      </p:sp>
      <p:sp>
        <p:nvSpPr>
          <p:cNvPr id="3" name="Content Placeholder 2"/>
          <p:cNvSpPr>
            <a:spLocks noGrp="1"/>
          </p:cNvSpPr>
          <p:nvPr>
            <p:ph type="body" sz="quarter" idx="13"/>
          </p:nvPr>
        </p:nvSpPr>
        <p:spPr/>
        <p:txBody>
          <a:bodyPr/>
          <a:lstStyle/>
          <a:p>
            <a:r>
              <a:rPr lang="en-US" sz="2400" b="1" dirty="0" smtClean="0"/>
              <a:t>“</a:t>
            </a:r>
            <a:r>
              <a:rPr lang="en-US" sz="2400" b="1" i="1" dirty="0" smtClean="0"/>
              <a:t>Work </a:t>
            </a:r>
            <a:r>
              <a:rPr lang="en-US" sz="2400" b="1" i="1" dirty="0"/>
              <a:t>expands to fill the time available</a:t>
            </a:r>
            <a:r>
              <a:rPr lang="en-US" sz="2400" b="1" dirty="0"/>
              <a:t>”</a:t>
            </a:r>
          </a:p>
          <a:p>
            <a:pPr marL="0" indent="0">
              <a:buNone/>
            </a:pPr>
            <a:r>
              <a:rPr lang="en-US" dirty="0"/>
              <a:t> i.e. given an easy target/task, staff will work less hard and will complete the project by the deadline </a:t>
            </a:r>
            <a:r>
              <a:rPr lang="en-US" dirty="0">
                <a:solidFill>
                  <a:srgbClr val="00B050"/>
                </a:solidFill>
              </a:rPr>
              <a:t>even though the task can actually be completed in less time with maximum effort</a:t>
            </a:r>
          </a:p>
          <a:p>
            <a:pPr marL="0" indent="0">
              <a:buNone/>
            </a:pPr>
            <a:r>
              <a:rPr lang="en-US" sz="2600" dirty="0">
                <a:solidFill>
                  <a:srgbClr val="FF0000"/>
                </a:solidFill>
              </a:rPr>
              <a:t>Hence such working tendency leading  to inefficient use of time and resources and affects project performance</a:t>
            </a:r>
            <a:endParaRPr lang="en-US" sz="1300" dirty="0">
              <a:solidFill>
                <a:srgbClr val="FF0000"/>
              </a:solidFill>
            </a:endParaRPr>
          </a:p>
          <a:p>
            <a:endParaRPr lang="en-US" dirty="0"/>
          </a:p>
        </p:txBody>
      </p:sp>
    </p:spTree>
    <p:extLst>
      <p:ext uri="{BB962C8B-B14F-4D97-AF65-F5344CB8AC3E}">
        <p14:creationId xmlns:p14="http://schemas.microsoft.com/office/powerpoint/2010/main" val="2251700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2800" dirty="0"/>
              <a:t>Figure </a:t>
            </a:r>
            <a:r>
              <a:rPr lang="en-US" sz="2800" dirty="0" smtClean="0"/>
              <a:t>: </a:t>
            </a:r>
            <a:r>
              <a:rPr lang="en-US" sz="2800" dirty="0"/>
              <a:t>Parkinson's Law on the same amount of work</a:t>
            </a:r>
          </a:p>
        </p:txBody>
      </p:sp>
      <p:sp>
        <p:nvSpPr>
          <p:cNvPr id="3" name="Content Placeholder 2"/>
          <p:cNvSpPr>
            <a:spLocks noGrp="1"/>
          </p:cNvSpPr>
          <p:nvPr>
            <p:ph type="body" sz="quarter" idx="13"/>
          </p:nvPr>
        </p:nvSpPr>
        <p:spPr/>
        <p:txBody>
          <a:bodyPr>
            <a:normAutofit fontScale="92500" lnSpcReduction="20000"/>
          </a:bodyPr>
          <a:lstStyle/>
          <a:p>
            <a:endParaRPr lang="en-US" dirty="0" smtClean="0"/>
          </a:p>
          <a:p>
            <a:endParaRPr lang="en-US" dirty="0"/>
          </a:p>
          <a:p>
            <a:endParaRPr lang="en-US" dirty="0" smtClean="0"/>
          </a:p>
          <a:p>
            <a:endParaRPr lang="en-US" dirty="0"/>
          </a:p>
          <a:p>
            <a:endParaRPr lang="en-US" dirty="0" smtClean="0"/>
          </a:p>
          <a:p>
            <a:endParaRPr lang="en-US" dirty="0" smtClean="0"/>
          </a:p>
          <a:p>
            <a:r>
              <a:rPr lang="en-US" dirty="0">
                <a:solidFill>
                  <a:srgbClr val="00B050"/>
                </a:solidFill>
              </a:rPr>
              <a:t>For instance, a person has one week to complete a task that takes 8 hours, </a:t>
            </a:r>
            <a:r>
              <a:rPr lang="en-US" dirty="0">
                <a:solidFill>
                  <a:srgbClr val="FF0000"/>
                </a:solidFill>
              </a:rPr>
              <a:t>but instead of completing it on the first day using all of their effort, the person will use less effort and spent a week. </a:t>
            </a:r>
            <a:endParaRPr lang="en-US" dirty="0"/>
          </a:p>
          <a:p>
            <a:r>
              <a:rPr lang="en-US" dirty="0" smtClean="0"/>
              <a:t>According </a:t>
            </a:r>
            <a:r>
              <a:rPr lang="en-US" dirty="0"/>
              <a:t>to Parkinson's Law, </a:t>
            </a:r>
            <a:r>
              <a:rPr lang="en-US" b="1" dirty="0"/>
              <a:t>a person will spent all of the available time to complete a task regardless of the tasks size</a:t>
            </a:r>
            <a:r>
              <a:rPr lang="en-US" dirty="0"/>
              <a:t>. </a:t>
            </a:r>
          </a:p>
          <a:p>
            <a:r>
              <a:rPr lang="en-US" dirty="0"/>
              <a:t>This tendency leads to inefficient use of time and resources and affects project performance.</a:t>
            </a:r>
          </a:p>
          <a:p>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114425"/>
            <a:ext cx="4267200" cy="2362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51</a:t>
            </a:fld>
            <a:endParaRPr lang="en-US" dirty="0"/>
          </a:p>
        </p:txBody>
      </p:sp>
    </p:spTree>
    <p:extLst>
      <p:ext uri="{BB962C8B-B14F-4D97-AF65-F5344CB8AC3E}">
        <p14:creationId xmlns:p14="http://schemas.microsoft.com/office/powerpoint/2010/main" val="3479788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smtClean="0"/>
              <a:t>Parkinson’s Law (contd.)</a:t>
            </a:r>
            <a:endParaRPr lang="en-US" dirty="0"/>
          </a:p>
        </p:txBody>
      </p:sp>
      <p:sp>
        <p:nvSpPr>
          <p:cNvPr id="3" name="Content Placeholder 2"/>
          <p:cNvSpPr>
            <a:spLocks noGrp="1"/>
          </p:cNvSpPr>
          <p:nvPr>
            <p:ph type="body" sz="quarter" idx="13"/>
          </p:nvPr>
        </p:nvSpPr>
        <p:spPr/>
        <p:txBody>
          <a:bodyPr>
            <a:normAutofit/>
          </a:bodyPr>
          <a:lstStyle/>
          <a:p>
            <a:r>
              <a:rPr lang="en-US" b="1" u="sng" dirty="0" smtClean="0"/>
              <a:t>**!!! Project </a:t>
            </a:r>
            <a:r>
              <a:rPr lang="en-US" b="1" u="sng" dirty="0"/>
              <a:t>managers can use Parkinson's Law to understand how people work and to ensure productivity and efficiency. </a:t>
            </a:r>
            <a:endParaRPr lang="en-US" b="1" u="sng" dirty="0" smtClean="0"/>
          </a:p>
          <a:p>
            <a:r>
              <a:rPr lang="en-US" dirty="0" smtClean="0">
                <a:solidFill>
                  <a:srgbClr val="00B050"/>
                </a:solidFill>
              </a:rPr>
              <a:t>An analogy to understand Parkinson’s law in Project management</a:t>
            </a:r>
          </a:p>
          <a:p>
            <a:pPr lvl="1"/>
            <a:r>
              <a:rPr lang="en-US" b="1" dirty="0" smtClean="0"/>
              <a:t>An elderly </a:t>
            </a:r>
            <a:r>
              <a:rPr lang="en-US" b="1" dirty="0"/>
              <a:t>lady spending a whole day writing and sending a postcard. </a:t>
            </a:r>
            <a:endParaRPr lang="en-US" b="1" dirty="0" smtClean="0"/>
          </a:p>
          <a:p>
            <a:pPr lvl="1"/>
            <a:r>
              <a:rPr lang="en-US" b="1" dirty="0" smtClean="0"/>
              <a:t>A </a:t>
            </a:r>
            <a:r>
              <a:rPr lang="en-US" b="1" dirty="0"/>
              <a:t>busy man could do it in three minutes, yet the lady spends the day worrying and stressing over sending the </a:t>
            </a:r>
            <a:r>
              <a:rPr lang="en-US" b="1" dirty="0" smtClean="0"/>
              <a:t>postcard </a:t>
            </a:r>
          </a:p>
          <a:p>
            <a:r>
              <a:rPr lang="en-US" dirty="0" smtClean="0"/>
              <a:t>Parkinson’s </a:t>
            </a:r>
            <a:r>
              <a:rPr lang="en-US" dirty="0"/>
              <a:t>Law describes</a:t>
            </a:r>
            <a:r>
              <a:rPr lang="en-US" u="sng" dirty="0"/>
              <a:t> the tendency that people will spent all of the allocated time to complete a task regardless of the time it actually takes to complete it. </a:t>
            </a:r>
            <a:endParaRPr lang="en-US" u="sng" dirty="0" smtClean="0"/>
          </a:p>
          <a:p>
            <a:r>
              <a:rPr lang="en-US" u="sng" dirty="0" smtClean="0"/>
              <a:t>Likewise</a:t>
            </a:r>
            <a:r>
              <a:rPr lang="en-US" u="sng" dirty="0"/>
              <a:t>, a person will not complete a task before a deadline, resulting in inefficient use of resources and time. </a:t>
            </a:r>
            <a:endParaRPr lang="en-US" u="sng" dirty="0" smtClean="0"/>
          </a:p>
        </p:txBody>
      </p:sp>
      <p:sp>
        <p:nvSpPr>
          <p:cNvPr id="4" name="Slide Number Placeholder 3"/>
          <p:cNvSpPr>
            <a:spLocks noGrp="1"/>
          </p:cNvSpPr>
          <p:nvPr>
            <p:ph type="sldNum" sz="quarter" idx="12"/>
          </p:nvPr>
        </p:nvSpPr>
        <p:spPr/>
        <p:txBody>
          <a:bodyPr/>
          <a:lstStyle/>
          <a:p>
            <a:fld id="{E5CE4F79-B2B3-4E4E-AB5D-F771515B9CEF}" type="slidenum">
              <a:rPr lang="en-US" smtClean="0"/>
              <a:t>52</a:t>
            </a:fld>
            <a:endParaRPr lang="en-US" dirty="0"/>
          </a:p>
        </p:txBody>
      </p:sp>
    </p:spTree>
    <p:extLst>
      <p:ext uri="{BB962C8B-B14F-4D97-AF65-F5344CB8AC3E}">
        <p14:creationId xmlns:p14="http://schemas.microsoft.com/office/powerpoint/2010/main" val="270118970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Parkinson’s Law (contd.)</a:t>
            </a:r>
          </a:p>
        </p:txBody>
      </p:sp>
      <p:sp>
        <p:nvSpPr>
          <p:cNvPr id="3" name="Content Placeholder 2"/>
          <p:cNvSpPr>
            <a:spLocks noGrp="1"/>
          </p:cNvSpPr>
          <p:nvPr>
            <p:ph type="body" sz="quarter" idx="13"/>
          </p:nvPr>
        </p:nvSpPr>
        <p:spPr/>
        <p:txBody>
          <a:bodyPr>
            <a:normAutofit/>
          </a:bodyPr>
          <a:lstStyle/>
          <a:p>
            <a:r>
              <a:rPr lang="en-US" sz="2400" dirty="0" smtClean="0"/>
              <a:t>There </a:t>
            </a:r>
            <a:r>
              <a:rPr lang="en-US" sz="2400" dirty="0"/>
              <a:t>are a number of reasons why people are not interested in completing work before its deadline</a:t>
            </a:r>
            <a:r>
              <a:rPr lang="en-US" sz="2400" dirty="0" smtClean="0"/>
              <a:t>.</a:t>
            </a:r>
          </a:p>
          <a:p>
            <a:r>
              <a:rPr lang="en-US" sz="2400" dirty="0" smtClean="0"/>
              <a:t> </a:t>
            </a:r>
            <a:r>
              <a:rPr lang="en-US" sz="2400" dirty="0"/>
              <a:t>Chen and Hall (2021) </a:t>
            </a:r>
            <a:r>
              <a:rPr lang="en-US" sz="2400" dirty="0" smtClean="0"/>
              <a:t>highlight</a:t>
            </a:r>
          </a:p>
          <a:p>
            <a:pPr marL="806958" lvl="1" indent="-514350">
              <a:buAutoNum type="arabicPeriod"/>
            </a:pPr>
            <a:r>
              <a:rPr lang="en-US" sz="2400" dirty="0" smtClean="0"/>
              <a:t>the </a:t>
            </a:r>
            <a:r>
              <a:rPr lang="en-US" sz="2400" dirty="0"/>
              <a:t>desire to appear busy to not receive additional tasks</a:t>
            </a:r>
            <a:r>
              <a:rPr lang="en-US" sz="2400" dirty="0" smtClean="0"/>
              <a:t>,</a:t>
            </a:r>
          </a:p>
          <a:p>
            <a:pPr marL="806958" lvl="1" indent="-514350">
              <a:buAutoNum type="arabicPeriod"/>
            </a:pPr>
            <a:r>
              <a:rPr lang="en-US" sz="2400" dirty="0" smtClean="0"/>
              <a:t> </a:t>
            </a:r>
            <a:r>
              <a:rPr lang="en-US" sz="2400" dirty="0"/>
              <a:t>the desire to avoid having resources withdrawn as a result of over-performance, </a:t>
            </a:r>
            <a:endParaRPr lang="en-US" sz="2400" dirty="0" smtClean="0"/>
          </a:p>
          <a:p>
            <a:pPr marL="806958" lvl="1" indent="-514350">
              <a:buAutoNum type="arabicPeriod"/>
            </a:pPr>
            <a:r>
              <a:rPr lang="en-US" sz="2400" dirty="0" smtClean="0"/>
              <a:t>and </a:t>
            </a:r>
            <a:r>
              <a:rPr lang="en-US" sz="2400" dirty="0"/>
              <a:t>the natural tendency towards laziness and procrastination. </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53</a:t>
            </a:fld>
            <a:endParaRPr lang="en-US" dirty="0"/>
          </a:p>
        </p:txBody>
      </p:sp>
    </p:spTree>
    <p:extLst>
      <p:ext uri="{BB962C8B-B14F-4D97-AF65-F5344CB8AC3E}">
        <p14:creationId xmlns:p14="http://schemas.microsoft.com/office/powerpoint/2010/main" val="292164031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228600"/>
            <a:ext cx="8381999" cy="780195"/>
          </a:xfrm>
        </p:spPr>
        <p:txBody>
          <a:bodyPr>
            <a:noAutofit/>
          </a:bodyPr>
          <a:lstStyle/>
          <a:p>
            <a:r>
              <a:rPr lang="en-US" sz="4400" b="1" dirty="0" smtClean="0"/>
              <a:t>Implication Of Parkinson’s law on PM</a:t>
            </a:r>
            <a:endParaRPr lang="en-US" sz="4400" dirty="0">
              <a:solidFill>
                <a:srgbClr val="FF0000"/>
              </a:solidFill>
            </a:endParaRPr>
          </a:p>
        </p:txBody>
      </p:sp>
      <p:sp>
        <p:nvSpPr>
          <p:cNvPr id="3" name="Content Placeholder 2"/>
          <p:cNvSpPr>
            <a:spLocks noGrp="1"/>
          </p:cNvSpPr>
          <p:nvPr>
            <p:ph type="body" sz="quarter" idx="13"/>
          </p:nvPr>
        </p:nvSpPr>
        <p:spPr>
          <a:xfrm>
            <a:off x="457201" y="1008795"/>
            <a:ext cx="8381999" cy="5315805"/>
          </a:xfrm>
        </p:spPr>
        <p:txBody>
          <a:bodyPr>
            <a:noAutofit/>
          </a:bodyPr>
          <a:lstStyle/>
          <a:p>
            <a:r>
              <a:rPr lang="en-US" dirty="0" smtClean="0"/>
              <a:t>The behavior </a:t>
            </a:r>
            <a:r>
              <a:rPr lang="en-US" dirty="0"/>
              <a:t>associated with Parkinson’s Law has a great influence on project performance. Along with student syndrome, it is one of the reasons why projects are routinely inefficient and delayed</a:t>
            </a:r>
            <a:r>
              <a:rPr lang="en-US" dirty="0" smtClean="0"/>
              <a:t>.</a:t>
            </a:r>
            <a:endParaRPr lang="en-US" dirty="0"/>
          </a:p>
          <a:p>
            <a:r>
              <a:rPr lang="en-US" b="1" dirty="0"/>
              <a:t>Within project scheduling, it is important project managers are aware of the </a:t>
            </a:r>
            <a:r>
              <a:rPr lang="en-US" b="1" dirty="0" smtClean="0"/>
              <a:t>behavior </a:t>
            </a:r>
            <a:r>
              <a:rPr lang="en-US" b="1" dirty="0"/>
              <a:t>caused by Parkinson's Law and how they can </a:t>
            </a:r>
            <a:r>
              <a:rPr lang="en-US" b="1" dirty="0" smtClean="0"/>
              <a:t>minimize </a:t>
            </a:r>
            <a:r>
              <a:rPr lang="en-US" b="1" dirty="0"/>
              <a:t>it with scheduling</a:t>
            </a:r>
            <a:r>
              <a:rPr lang="en-US" dirty="0"/>
              <a:t>. </a:t>
            </a:r>
            <a:endParaRPr lang="en-US" dirty="0" smtClean="0"/>
          </a:p>
          <a:p>
            <a:r>
              <a:rPr lang="en-US" dirty="0" smtClean="0"/>
              <a:t>According </a:t>
            </a:r>
            <a:r>
              <a:rPr lang="en-US" dirty="0"/>
              <a:t>to Parkinson's Law, a task is either completed on time or delayed. A task is not completed and delivered before its deadline. </a:t>
            </a:r>
            <a:endParaRPr lang="en-US" dirty="0" smtClean="0"/>
          </a:p>
          <a:p>
            <a:r>
              <a:rPr lang="en-US" b="1" dirty="0" smtClean="0">
                <a:solidFill>
                  <a:srgbClr val="00B050"/>
                </a:solidFill>
              </a:rPr>
              <a:t>To </a:t>
            </a:r>
            <a:r>
              <a:rPr lang="en-US" b="1" dirty="0">
                <a:solidFill>
                  <a:srgbClr val="00B050"/>
                </a:solidFill>
              </a:rPr>
              <a:t>achieve the most efficient use of resources and time,</a:t>
            </a:r>
            <a:r>
              <a:rPr lang="en-US" b="1" dirty="0"/>
              <a:t> </a:t>
            </a:r>
            <a:r>
              <a:rPr lang="en-US" b="1" dirty="0">
                <a:solidFill>
                  <a:srgbClr val="FF0000"/>
                </a:solidFill>
              </a:rPr>
              <a:t>the time allocated for each task in a project</a:t>
            </a:r>
            <a:r>
              <a:rPr lang="en-US" b="1" dirty="0"/>
              <a:t> </a:t>
            </a:r>
            <a:r>
              <a:rPr lang="en-US" b="1" u="sng" dirty="0"/>
              <a:t>needs to correspond with the time to completion using maximum effort</a:t>
            </a:r>
            <a:r>
              <a:rPr lang="en-US" u="sng" dirty="0"/>
              <a:t>. </a:t>
            </a:r>
            <a:endParaRPr lang="en-US" u="sng" dirty="0" smtClean="0"/>
          </a:p>
          <a:p>
            <a:r>
              <a:rPr lang="en-US" dirty="0" smtClean="0"/>
              <a:t>The </a:t>
            </a:r>
            <a:r>
              <a:rPr lang="en-US" dirty="0"/>
              <a:t>accuracy and quality of the duration estimates depends on how detailed and precise available data is. </a:t>
            </a:r>
            <a:endParaRPr lang="en-US" dirty="0" smtClean="0"/>
          </a:p>
          <a:p>
            <a:r>
              <a:rPr lang="en-US" b="1" dirty="0" smtClean="0">
                <a:sym typeface="Wingdings" pitchFamily="2" charset="2"/>
              </a:rPr>
              <a:t> </a:t>
            </a:r>
            <a:r>
              <a:rPr lang="en-US" sz="2800" dirty="0">
                <a:solidFill>
                  <a:srgbClr val="FF0000"/>
                </a:solidFill>
                <a:sym typeface="Wingdings" pitchFamily="2" charset="2"/>
              </a:rPr>
              <a:t>While doing your group project beware of </a:t>
            </a:r>
            <a:r>
              <a:rPr lang="en-US" sz="2800" dirty="0" smtClean="0">
                <a:solidFill>
                  <a:srgbClr val="FF0000"/>
                </a:solidFill>
                <a:sym typeface="Wingdings" pitchFamily="2" charset="2"/>
              </a:rPr>
              <a:t>it </a:t>
            </a:r>
            <a:r>
              <a:rPr lang="en-US" sz="2800" dirty="0">
                <a:solidFill>
                  <a:srgbClr val="FF0000"/>
                </a:solidFill>
                <a:sym typeface="Wingdings" pitchFamily="2" charset="2"/>
              </a:rPr>
              <a:t>and estimate the effort for each task </a:t>
            </a:r>
            <a:r>
              <a:rPr lang="en-US" sz="2800" dirty="0" smtClean="0">
                <a:solidFill>
                  <a:srgbClr val="FF0000"/>
                </a:solidFill>
                <a:sym typeface="Wingdings" pitchFamily="2" charset="2"/>
              </a:rPr>
              <a:t>according </a:t>
            </a:r>
            <a:r>
              <a:rPr lang="en-US" sz="2800" dirty="0">
                <a:solidFill>
                  <a:srgbClr val="FF0000"/>
                </a:solidFill>
                <a:sym typeface="Wingdings" pitchFamily="2" charset="2"/>
              </a:rPr>
              <a:t>to this </a:t>
            </a:r>
            <a:r>
              <a:rPr lang="en-US" sz="2800" dirty="0" smtClean="0">
                <a:solidFill>
                  <a:srgbClr val="FF0000"/>
                </a:solidFill>
                <a:sym typeface="Wingdings" pitchFamily="2" charset="2"/>
              </a:rPr>
              <a:t>law</a:t>
            </a:r>
            <a:endParaRPr lang="en-US" sz="2800" dirty="0"/>
          </a:p>
        </p:txBody>
      </p:sp>
      <p:sp>
        <p:nvSpPr>
          <p:cNvPr id="4" name="Slide Number Placeholder 3"/>
          <p:cNvSpPr>
            <a:spLocks noGrp="1"/>
          </p:cNvSpPr>
          <p:nvPr>
            <p:ph type="sldNum" sz="quarter" idx="12"/>
          </p:nvPr>
        </p:nvSpPr>
        <p:spPr/>
        <p:txBody>
          <a:bodyPr/>
          <a:lstStyle/>
          <a:p>
            <a:fld id="{E5CE4F79-B2B3-4E4E-AB5D-F771515B9CEF}" type="slidenum">
              <a:rPr lang="en-US" smtClean="0"/>
              <a:t>54</a:t>
            </a:fld>
            <a:endParaRPr lang="en-US" dirty="0"/>
          </a:p>
        </p:txBody>
      </p:sp>
    </p:spTree>
    <p:extLst>
      <p:ext uri="{BB962C8B-B14F-4D97-AF65-F5344CB8AC3E}">
        <p14:creationId xmlns:p14="http://schemas.microsoft.com/office/powerpoint/2010/main" val="368482550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Brook’s Law</a:t>
            </a:r>
            <a:endParaRPr lang="en-US" dirty="0"/>
          </a:p>
        </p:txBody>
      </p:sp>
      <p:sp>
        <p:nvSpPr>
          <p:cNvPr id="3" name="Content Placeholder 2"/>
          <p:cNvSpPr>
            <a:spLocks noGrp="1"/>
          </p:cNvSpPr>
          <p:nvPr>
            <p:ph type="body" sz="quarter" idx="13"/>
          </p:nvPr>
        </p:nvSpPr>
        <p:spPr/>
        <p:txBody>
          <a:bodyPr>
            <a:normAutofit fontScale="92500" lnSpcReduction="10000"/>
          </a:bodyPr>
          <a:lstStyle/>
          <a:p>
            <a:r>
              <a:rPr lang="en-US" sz="2200" b="1" dirty="0" smtClean="0"/>
              <a:t>“Adding </a:t>
            </a:r>
            <a:r>
              <a:rPr lang="en-US" sz="2200" b="1" dirty="0"/>
              <a:t>manpower to a late software project makes it </a:t>
            </a:r>
            <a:r>
              <a:rPr lang="en-US" sz="2200" b="1" dirty="0" smtClean="0"/>
              <a:t>later”</a:t>
            </a:r>
          </a:p>
          <a:p>
            <a:r>
              <a:rPr lang="en-US" sz="2200" dirty="0" smtClean="0"/>
              <a:t>When </a:t>
            </a:r>
            <a:r>
              <a:rPr lang="en-US" sz="2200" dirty="0"/>
              <a:t>some project is on tight deadlines, then the project manager moves a couple of </a:t>
            </a:r>
            <a:r>
              <a:rPr lang="en-US" sz="2200" dirty="0" smtClean="0"/>
              <a:t>developers </a:t>
            </a:r>
            <a:r>
              <a:rPr lang="en-US" sz="2200" dirty="0"/>
              <a:t>from another team/project to help deliver the project on time. </a:t>
            </a:r>
          </a:p>
          <a:p>
            <a:r>
              <a:rPr lang="en-US" sz="2200" dirty="0" smtClean="0">
                <a:solidFill>
                  <a:srgbClr val="FF0000"/>
                </a:solidFill>
              </a:rPr>
              <a:t>But after </a:t>
            </a:r>
            <a:r>
              <a:rPr lang="en-US" sz="2200" dirty="0">
                <a:solidFill>
                  <a:srgbClr val="FF0000"/>
                </a:solidFill>
              </a:rPr>
              <a:t>that, new developers need to learn about the project, business logic and it takes some time</a:t>
            </a:r>
            <a:r>
              <a:rPr lang="en-US" sz="2200" dirty="0" smtClean="0">
                <a:solidFill>
                  <a:srgbClr val="FF0000"/>
                </a:solidFill>
              </a:rPr>
              <a:t>.</a:t>
            </a:r>
          </a:p>
          <a:p>
            <a:r>
              <a:rPr lang="en-US" sz="2200" dirty="0" smtClean="0"/>
              <a:t> </a:t>
            </a:r>
            <a:r>
              <a:rPr lang="en-US" sz="2200" dirty="0"/>
              <a:t>Naturally, new developers will ask questions about the current state of the project and code. </a:t>
            </a:r>
            <a:r>
              <a:rPr lang="en-US" sz="2200" dirty="0" smtClean="0"/>
              <a:t> </a:t>
            </a:r>
          </a:p>
          <a:p>
            <a:r>
              <a:rPr lang="en-US" sz="2200" dirty="0" smtClean="0"/>
              <a:t>Guess </a:t>
            </a:r>
            <a:r>
              <a:rPr lang="en-US" sz="2200" dirty="0"/>
              <a:t>who will answer and help those new developers? </a:t>
            </a:r>
            <a:endParaRPr lang="en-US" sz="2200" dirty="0" smtClean="0"/>
          </a:p>
          <a:p>
            <a:pPr lvl="1"/>
            <a:r>
              <a:rPr lang="en-US" dirty="0" smtClean="0"/>
              <a:t>current </a:t>
            </a:r>
            <a:r>
              <a:rPr lang="en-US" dirty="0"/>
              <a:t>developers will need to do it, not the project </a:t>
            </a:r>
            <a:r>
              <a:rPr lang="en-US" dirty="0" smtClean="0"/>
              <a:t>manager</a:t>
            </a:r>
          </a:p>
          <a:p>
            <a:r>
              <a:rPr lang="en-US" sz="2600" dirty="0" smtClean="0">
                <a:solidFill>
                  <a:srgbClr val="FF0000"/>
                </a:solidFill>
              </a:rPr>
              <a:t>The effect on project estimation </a:t>
            </a:r>
            <a:r>
              <a:rPr lang="en-US" sz="2600" dirty="0" smtClean="0">
                <a:sym typeface="Wingdings" pitchFamily="2" charset="2"/>
              </a:rPr>
              <a:t></a:t>
            </a:r>
            <a:r>
              <a:rPr lang="en-US" sz="2600" b="1" dirty="0" smtClean="0">
                <a:sym typeface="Wingdings" pitchFamily="2" charset="2"/>
              </a:rPr>
              <a:t> </a:t>
            </a:r>
            <a:r>
              <a:rPr lang="en-US" sz="2600" b="1" dirty="0"/>
              <a:t>If there is an </a:t>
            </a:r>
            <a:r>
              <a:rPr lang="en-US" sz="2600" b="1" dirty="0" smtClean="0"/>
              <a:t>overestimate of </a:t>
            </a:r>
            <a:r>
              <a:rPr lang="en-US" sz="2600" b="1" dirty="0"/>
              <a:t>the effort </a:t>
            </a:r>
            <a:r>
              <a:rPr lang="en-US" sz="2600" b="1" dirty="0" smtClean="0"/>
              <a:t>required</a:t>
            </a:r>
            <a:r>
              <a:rPr lang="en-US" sz="2600" dirty="0" smtClean="0"/>
              <a:t>, </a:t>
            </a:r>
            <a:r>
              <a:rPr lang="en-US" sz="2600" b="1" dirty="0" smtClean="0"/>
              <a:t>this </a:t>
            </a:r>
            <a:r>
              <a:rPr lang="en-US" sz="2600" b="1" dirty="0"/>
              <a:t>could lead to more staff being allocated than needed and </a:t>
            </a:r>
            <a:r>
              <a:rPr lang="en-US" sz="2600" b="1" dirty="0" smtClean="0"/>
              <a:t>managerial overheads </a:t>
            </a:r>
            <a:r>
              <a:rPr lang="en-US" sz="2600" b="1" dirty="0"/>
              <a:t>being increased.</a:t>
            </a:r>
          </a:p>
          <a:p>
            <a:endParaRPr lang="en-US" b="1" dirty="0"/>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55</a:t>
            </a:fld>
            <a:endParaRPr lang="en-US" dirty="0"/>
          </a:p>
        </p:txBody>
      </p:sp>
    </p:spTree>
    <p:extLst>
      <p:ext uri="{BB962C8B-B14F-4D97-AF65-F5344CB8AC3E}">
        <p14:creationId xmlns:p14="http://schemas.microsoft.com/office/powerpoint/2010/main" val="323187288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2857500"/>
            <a:ext cx="8458200" cy="3467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title"/>
          </p:nvPr>
        </p:nvSpPr>
        <p:spPr/>
        <p:txBody>
          <a:bodyPr/>
          <a:lstStyle/>
          <a:p>
            <a:r>
              <a:rPr lang="en-US" dirty="0"/>
              <a:t>Brook’s </a:t>
            </a:r>
            <a:r>
              <a:rPr lang="en-US" dirty="0" smtClean="0"/>
              <a:t>Law (Contd.)</a:t>
            </a:r>
            <a:endParaRPr lang="en-US" dirty="0"/>
          </a:p>
        </p:txBody>
      </p:sp>
      <p:sp>
        <p:nvSpPr>
          <p:cNvPr id="3" name="Content Placeholder 2"/>
          <p:cNvSpPr>
            <a:spLocks noGrp="1"/>
          </p:cNvSpPr>
          <p:nvPr>
            <p:ph type="body" sz="quarter" idx="13"/>
          </p:nvPr>
        </p:nvSpPr>
        <p:spPr>
          <a:xfrm>
            <a:off x="381000" y="1167063"/>
            <a:ext cx="8381999" cy="4547937"/>
          </a:xfrm>
        </p:spPr>
        <p:txBody>
          <a:bodyPr/>
          <a:lstStyle/>
          <a:p>
            <a:r>
              <a:rPr lang="en-US" sz="2200" dirty="0" smtClean="0"/>
              <a:t>The </a:t>
            </a:r>
            <a:r>
              <a:rPr lang="en-US" sz="2200" dirty="0"/>
              <a:t>effort of implementing a project will go up disproportionately with the number of staff assigned to the project. </a:t>
            </a:r>
            <a:endParaRPr lang="en-US" sz="2200" dirty="0" smtClean="0"/>
          </a:p>
          <a:p>
            <a:r>
              <a:rPr lang="en-US" sz="2200" b="1" u="sng" dirty="0"/>
              <a:t>As the project team grows in size</a:t>
            </a:r>
            <a:r>
              <a:rPr lang="en-US" sz="2200" b="1" dirty="0"/>
              <a:t>, </a:t>
            </a:r>
            <a:r>
              <a:rPr lang="en-US" sz="2200" b="1" u="sng" dirty="0"/>
              <a:t>so will the effort that has to go into management, coordination and communication </a:t>
            </a:r>
            <a:r>
              <a:rPr lang="en-US" sz="2200" b="1" u="sng" dirty="0">
                <a:solidFill>
                  <a:srgbClr val="FF0000"/>
                </a:solidFill>
                <a:sym typeface="Wingdings" pitchFamily="2" charset="2"/>
              </a:rPr>
              <a:t>relate with below figure</a:t>
            </a:r>
            <a:endParaRPr lang="en-US" sz="2200" b="1" u="sng" dirty="0">
              <a:solidFill>
                <a:srgbClr val="FF0000"/>
              </a:solidFill>
            </a:endParaRPr>
          </a:p>
          <a:p>
            <a:endParaRPr lang="en-US" dirty="0"/>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56</a:t>
            </a:fld>
            <a:endParaRPr lang="en-US" dirty="0"/>
          </a:p>
        </p:txBody>
      </p:sp>
    </p:spTree>
    <p:extLst>
      <p:ext uri="{BB962C8B-B14F-4D97-AF65-F5344CB8AC3E}">
        <p14:creationId xmlns:p14="http://schemas.microsoft.com/office/powerpoint/2010/main" val="342383057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 with underestimation</a:t>
            </a:r>
            <a:endParaRPr lang="en-US" dirty="0"/>
          </a:p>
        </p:txBody>
      </p:sp>
      <p:sp>
        <p:nvSpPr>
          <p:cNvPr id="3" name="Content Placeholder 2"/>
          <p:cNvSpPr>
            <a:spLocks noGrp="1"/>
          </p:cNvSpPr>
          <p:nvPr>
            <p:ph type="body" sz="quarter" idx="13"/>
          </p:nvPr>
        </p:nvSpPr>
        <p:spPr>
          <a:xfrm>
            <a:off x="457201" y="1524000"/>
            <a:ext cx="8381999" cy="4495800"/>
          </a:xfrm>
        </p:spPr>
        <p:txBody>
          <a:bodyPr>
            <a:normAutofit/>
          </a:bodyPr>
          <a:lstStyle/>
          <a:p>
            <a:r>
              <a:rPr lang="en-US" dirty="0"/>
              <a:t>The </a:t>
            </a:r>
            <a:r>
              <a:rPr lang="en-US" b="1" dirty="0"/>
              <a:t>danger with the under-estimate is the effect on quality. </a:t>
            </a:r>
            <a:endParaRPr lang="en-US" b="1" dirty="0" smtClean="0"/>
          </a:p>
          <a:p>
            <a:r>
              <a:rPr lang="en-US" dirty="0" smtClean="0"/>
              <a:t>Staff</a:t>
            </a:r>
            <a:r>
              <a:rPr lang="en-US" dirty="0"/>
              <a:t>, particularly </a:t>
            </a:r>
            <a:r>
              <a:rPr lang="en-US" dirty="0" smtClean="0"/>
              <a:t>those with </a:t>
            </a:r>
            <a:r>
              <a:rPr lang="en-US" dirty="0"/>
              <a:t>less experience, could respond to pressing deadlines by producing work </a:t>
            </a:r>
            <a:r>
              <a:rPr lang="en-US" dirty="0" smtClean="0"/>
              <a:t>that is </a:t>
            </a:r>
            <a:r>
              <a:rPr lang="en-US" dirty="0"/>
              <a:t>substandard. </a:t>
            </a:r>
            <a:endParaRPr lang="en-US" dirty="0" smtClean="0"/>
          </a:p>
          <a:p>
            <a:r>
              <a:rPr lang="en-US" dirty="0" smtClean="0"/>
              <a:t>This </a:t>
            </a:r>
            <a:r>
              <a:rPr lang="en-US" dirty="0"/>
              <a:t>may be seen as a manifestation of </a:t>
            </a:r>
            <a:r>
              <a:rPr lang="en-US" b="1" dirty="0"/>
              <a:t>Weinberg’s zeroth law </a:t>
            </a:r>
            <a:r>
              <a:rPr lang="en-US" b="1" dirty="0" smtClean="0"/>
              <a:t>of reliability</a:t>
            </a:r>
            <a:r>
              <a:rPr lang="en-US" dirty="0"/>
              <a:t>: ‘</a:t>
            </a:r>
            <a:r>
              <a:rPr lang="en-US" i="1" dirty="0"/>
              <a:t>if a system does not have to be reliable, it can meet any other objective</a:t>
            </a:r>
            <a:r>
              <a:rPr lang="en-US" dirty="0"/>
              <a:t>’.</a:t>
            </a:r>
          </a:p>
          <a:p>
            <a:r>
              <a:rPr lang="en-US" sz="4000" dirty="0">
                <a:solidFill>
                  <a:srgbClr val="FF0000"/>
                </a:solidFill>
              </a:rPr>
              <a:t>Substandard work might only become visible </a:t>
            </a:r>
            <a:r>
              <a:rPr lang="en-US" sz="3300" u="sng" dirty="0">
                <a:solidFill>
                  <a:srgbClr val="FF0000"/>
                </a:solidFill>
              </a:rPr>
              <a:t>at the later, testing, phases of a project </a:t>
            </a:r>
            <a:r>
              <a:rPr lang="en-US" b="1" dirty="0"/>
              <a:t>which are </a:t>
            </a:r>
            <a:r>
              <a:rPr lang="en-US" b="1" dirty="0" smtClean="0"/>
              <a:t>particularly difficult </a:t>
            </a:r>
            <a:r>
              <a:rPr lang="en-US" b="1" dirty="0"/>
              <a:t>to control and where extensive rework can easily delay project completion.</a:t>
            </a:r>
          </a:p>
        </p:txBody>
      </p:sp>
      <p:sp>
        <p:nvSpPr>
          <p:cNvPr id="4" name="Slide Number Placeholder 3"/>
          <p:cNvSpPr>
            <a:spLocks noGrp="1"/>
          </p:cNvSpPr>
          <p:nvPr>
            <p:ph type="sldNum" sz="quarter" idx="12"/>
          </p:nvPr>
        </p:nvSpPr>
        <p:spPr/>
        <p:txBody>
          <a:bodyPr/>
          <a:lstStyle/>
          <a:p>
            <a:fld id="{E5CE4F79-B2B3-4E4E-AB5D-F771515B9CEF}" type="slidenum">
              <a:rPr lang="en-US" smtClean="0"/>
              <a:t>57</a:t>
            </a:fld>
            <a:endParaRPr lang="en-US" dirty="0"/>
          </a:p>
        </p:txBody>
      </p:sp>
    </p:spTree>
    <p:extLst>
      <p:ext uri="{BB962C8B-B14F-4D97-AF65-F5344CB8AC3E}">
        <p14:creationId xmlns:p14="http://schemas.microsoft.com/office/powerpoint/2010/main" val="2699693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86605"/>
            <a:ext cx="8381999" cy="1161195"/>
          </a:xfrm>
        </p:spPr>
        <p:txBody>
          <a:bodyPr>
            <a:noAutofit/>
          </a:bodyPr>
          <a:lstStyle/>
          <a:p>
            <a:r>
              <a:rPr lang="en-US" dirty="0" smtClean="0"/>
              <a:t>Under estimation effect on project staff</a:t>
            </a:r>
            <a:endParaRPr lang="en-US" dirty="0"/>
          </a:p>
        </p:txBody>
      </p:sp>
      <p:sp>
        <p:nvSpPr>
          <p:cNvPr id="3" name="Content Placeholder 2"/>
          <p:cNvSpPr>
            <a:spLocks noGrp="1"/>
          </p:cNvSpPr>
          <p:nvPr>
            <p:ph type="body" sz="quarter" idx="13"/>
          </p:nvPr>
        </p:nvSpPr>
        <p:spPr>
          <a:xfrm>
            <a:off x="457201" y="1600200"/>
            <a:ext cx="8381999" cy="4343400"/>
          </a:xfrm>
        </p:spPr>
        <p:txBody>
          <a:bodyPr>
            <a:normAutofit/>
          </a:bodyPr>
          <a:lstStyle/>
          <a:p>
            <a:r>
              <a:rPr lang="en-US" sz="2400" dirty="0" smtClean="0"/>
              <a:t>Staff motivation </a:t>
            </a:r>
            <a:r>
              <a:rPr lang="en-US" sz="2400" dirty="0"/>
              <a:t>and morale are enhanced where targets are achievable. </a:t>
            </a:r>
            <a:endParaRPr lang="en-US" sz="2400" dirty="0" smtClean="0"/>
          </a:p>
          <a:p>
            <a:r>
              <a:rPr lang="en-US" sz="2400" dirty="0" smtClean="0">
                <a:solidFill>
                  <a:srgbClr val="FF0000"/>
                </a:solidFill>
              </a:rPr>
              <a:t>If</a:t>
            </a:r>
            <a:r>
              <a:rPr lang="en-US" sz="2400" dirty="0">
                <a:solidFill>
                  <a:srgbClr val="FF0000"/>
                </a:solidFill>
              </a:rPr>
              <a:t>, over </a:t>
            </a:r>
            <a:r>
              <a:rPr lang="en-US" sz="2400" dirty="0" smtClean="0">
                <a:solidFill>
                  <a:srgbClr val="FF0000"/>
                </a:solidFill>
              </a:rPr>
              <a:t>time , staff </a:t>
            </a:r>
            <a:r>
              <a:rPr lang="en-US" sz="2400" dirty="0">
                <a:solidFill>
                  <a:srgbClr val="FF0000"/>
                </a:solidFill>
              </a:rPr>
              <a:t>become aware that the targets set are unattainable and that projects routinely miss targets, motivation </a:t>
            </a:r>
            <a:r>
              <a:rPr lang="en-US" sz="2400" dirty="0" smtClean="0">
                <a:solidFill>
                  <a:srgbClr val="FF0000"/>
                </a:solidFill>
              </a:rPr>
              <a:t>is reduced.</a:t>
            </a:r>
          </a:p>
          <a:p>
            <a:r>
              <a:rPr lang="en-US" sz="2400" dirty="0" smtClean="0"/>
              <a:t>People </a:t>
            </a:r>
            <a:r>
              <a:rPr lang="en-US" sz="2400" dirty="0"/>
              <a:t>like to think of themselves as winners and there is a general tendency to put success down </a:t>
            </a:r>
            <a:r>
              <a:rPr lang="en-US" sz="2400" dirty="0" smtClean="0"/>
              <a:t>to our </a:t>
            </a:r>
            <a:r>
              <a:rPr lang="en-US" sz="2400" dirty="0"/>
              <a:t>own efforts and blame failure on the organization.</a:t>
            </a:r>
          </a:p>
        </p:txBody>
      </p:sp>
      <p:sp>
        <p:nvSpPr>
          <p:cNvPr id="4" name="Slide Number Placeholder 3"/>
          <p:cNvSpPr>
            <a:spLocks noGrp="1"/>
          </p:cNvSpPr>
          <p:nvPr>
            <p:ph type="sldNum" sz="quarter" idx="12"/>
          </p:nvPr>
        </p:nvSpPr>
        <p:spPr/>
        <p:txBody>
          <a:bodyPr/>
          <a:lstStyle/>
          <a:p>
            <a:fld id="{E5CE4F79-B2B3-4E4E-AB5D-F771515B9CEF}" type="slidenum">
              <a:rPr lang="en-US" smtClean="0"/>
              <a:t>58</a:t>
            </a:fld>
            <a:endParaRPr lang="en-US" dirty="0"/>
          </a:p>
        </p:txBody>
      </p:sp>
    </p:spTree>
    <p:extLst>
      <p:ext uri="{BB962C8B-B14F-4D97-AF65-F5344CB8AC3E}">
        <p14:creationId xmlns:p14="http://schemas.microsoft.com/office/powerpoint/2010/main" val="10815243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t>Basis for SW estimation</a:t>
            </a:r>
            <a:r>
              <a:rPr lang="en-US" sz="3200" dirty="0" smtClean="0">
                <a:sym typeface="Wingdings" pitchFamily="2" charset="2"/>
              </a:rPr>
              <a:t> On what basis  do you estimate efforts for a particular </a:t>
            </a:r>
            <a:r>
              <a:rPr lang="en-US" sz="3200" dirty="0" err="1" smtClean="0">
                <a:sym typeface="Wingdings" pitchFamily="2" charset="2"/>
              </a:rPr>
              <a:t>sw</a:t>
            </a:r>
            <a:r>
              <a:rPr lang="en-US" sz="3200" dirty="0" smtClean="0">
                <a:sym typeface="Wingdings" pitchFamily="2" charset="2"/>
              </a:rPr>
              <a:t> project??</a:t>
            </a:r>
            <a:endParaRPr lang="en-US" sz="3200" dirty="0"/>
          </a:p>
        </p:txBody>
      </p:sp>
      <p:sp>
        <p:nvSpPr>
          <p:cNvPr id="3" name="Content Placeholder 2"/>
          <p:cNvSpPr>
            <a:spLocks noGrp="1"/>
          </p:cNvSpPr>
          <p:nvPr>
            <p:ph type="body" sz="quarter" idx="13"/>
          </p:nvPr>
        </p:nvSpPr>
        <p:spPr/>
        <p:txBody>
          <a:bodyPr>
            <a:normAutofit/>
          </a:bodyPr>
          <a:lstStyle/>
          <a:p>
            <a:pPr marL="914400" indent="-914400">
              <a:buFont typeface="+mj-lt"/>
              <a:buAutoNum type="arabicPeriod"/>
            </a:pPr>
            <a:r>
              <a:rPr lang="en-US" sz="2800" b="1" dirty="0" smtClean="0"/>
              <a:t>Need For historical Data</a:t>
            </a:r>
          </a:p>
          <a:p>
            <a:r>
              <a:rPr lang="en-US" dirty="0"/>
              <a:t>Most estimating methods need information about past projects. </a:t>
            </a:r>
            <a:endParaRPr lang="en-US" dirty="0" smtClean="0"/>
          </a:p>
          <a:p>
            <a:r>
              <a:rPr lang="en-US" dirty="0" smtClean="0">
                <a:solidFill>
                  <a:srgbClr val="FF0000"/>
                </a:solidFill>
              </a:rPr>
              <a:t>However, </a:t>
            </a:r>
            <a:r>
              <a:rPr lang="en-US" sz="3400" dirty="0" smtClean="0">
                <a:solidFill>
                  <a:srgbClr val="FF0000"/>
                </a:solidFill>
              </a:rPr>
              <a:t>care is needed when applying past performance to new projects </a:t>
            </a:r>
            <a:r>
              <a:rPr lang="en-US" dirty="0" smtClean="0">
                <a:solidFill>
                  <a:srgbClr val="FF0000"/>
                </a:solidFill>
              </a:rPr>
              <a:t>because of possible differences in factors such as programming languages and the experience of staff.</a:t>
            </a:r>
            <a:r>
              <a:rPr lang="en-US" dirty="0" smtClean="0"/>
              <a:t>  </a:t>
            </a:r>
          </a:p>
          <a:p>
            <a:r>
              <a:rPr lang="en-US" dirty="0" smtClean="0"/>
              <a:t>If past project </a:t>
            </a:r>
            <a:r>
              <a:rPr lang="en-US" dirty="0"/>
              <a:t>data is lacking, externally maintained datasets of project performance </a:t>
            </a:r>
            <a:r>
              <a:rPr lang="en-US" dirty="0" smtClean="0"/>
              <a:t>data can </a:t>
            </a:r>
            <a:r>
              <a:rPr lang="en-US" dirty="0"/>
              <a:t>be accessed. </a:t>
            </a:r>
            <a:r>
              <a:rPr lang="en-US" dirty="0" smtClean="0"/>
              <a:t>One </a:t>
            </a:r>
            <a:r>
              <a:rPr lang="en-US" dirty="0"/>
              <a:t>well-known international database is that maintained by </a:t>
            </a:r>
            <a:r>
              <a:rPr lang="en-US" dirty="0" smtClean="0"/>
              <a:t>the International </a:t>
            </a:r>
            <a:r>
              <a:rPr lang="en-US" dirty="0"/>
              <a:t>Software </a:t>
            </a:r>
            <a:r>
              <a:rPr lang="en-US" dirty="0" smtClean="0"/>
              <a:t>Benchmarki</a:t>
            </a:r>
            <a:r>
              <a:rPr lang="en-US" dirty="0"/>
              <a:t>ng Standards Group (ISBSG), which </a:t>
            </a:r>
            <a:r>
              <a:rPr lang="en-US" dirty="0" smtClean="0"/>
              <a:t>currently contains </a:t>
            </a:r>
            <a:r>
              <a:rPr lang="en-US" dirty="0"/>
              <a:t>data from 4800 projects.</a:t>
            </a:r>
          </a:p>
        </p:txBody>
      </p:sp>
      <p:sp>
        <p:nvSpPr>
          <p:cNvPr id="4" name="Slide Number Placeholder 3"/>
          <p:cNvSpPr>
            <a:spLocks noGrp="1"/>
          </p:cNvSpPr>
          <p:nvPr>
            <p:ph type="sldNum" sz="quarter" idx="12"/>
          </p:nvPr>
        </p:nvSpPr>
        <p:spPr/>
        <p:txBody>
          <a:bodyPr/>
          <a:lstStyle/>
          <a:p>
            <a:fld id="{E5CE4F79-B2B3-4E4E-AB5D-F771515B9CEF}" type="slidenum">
              <a:rPr lang="en-US" smtClean="0"/>
              <a:t>59</a:t>
            </a:fld>
            <a:endParaRPr lang="en-US" dirty="0"/>
          </a:p>
        </p:txBody>
      </p:sp>
    </p:spTree>
    <p:extLst>
      <p:ext uri="{BB962C8B-B14F-4D97-AF65-F5344CB8AC3E}">
        <p14:creationId xmlns:p14="http://schemas.microsoft.com/office/powerpoint/2010/main" val="245544904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457200"/>
            <a:ext cx="8381999" cy="780195"/>
          </a:xfrm>
        </p:spPr>
        <p:txBody>
          <a:bodyPr>
            <a:noAutofit/>
          </a:bodyPr>
          <a:lstStyle/>
          <a:p>
            <a:r>
              <a:rPr lang="en-US" sz="3200" b="1" dirty="0"/>
              <a:t>Basis for SW estimation </a:t>
            </a:r>
            <a:r>
              <a:rPr lang="en-US" sz="3200" b="1" dirty="0" smtClean="0">
                <a:sym typeface="Wingdings" pitchFamily="2" charset="2"/>
              </a:rPr>
              <a:t></a:t>
            </a:r>
            <a:r>
              <a:rPr lang="en-US" sz="4000" dirty="0" smtClean="0"/>
              <a:t>2. Parameters to be estimated</a:t>
            </a:r>
            <a:endParaRPr lang="en-US" sz="4000" dirty="0"/>
          </a:p>
        </p:txBody>
      </p:sp>
      <p:sp>
        <p:nvSpPr>
          <p:cNvPr id="3" name="Content Placeholder 2"/>
          <p:cNvSpPr>
            <a:spLocks noGrp="1"/>
          </p:cNvSpPr>
          <p:nvPr>
            <p:ph type="body" sz="quarter" idx="13"/>
          </p:nvPr>
        </p:nvSpPr>
        <p:spPr/>
        <p:txBody>
          <a:bodyPr>
            <a:normAutofit fontScale="47500" lnSpcReduction="20000"/>
          </a:bodyPr>
          <a:lstStyle/>
          <a:p>
            <a:r>
              <a:rPr lang="en-US" sz="4200" dirty="0" smtClean="0"/>
              <a:t>Project managers need to </a:t>
            </a:r>
            <a:r>
              <a:rPr lang="en-US" sz="3800" b="1" dirty="0" smtClean="0"/>
              <a:t>estimate </a:t>
            </a:r>
            <a:r>
              <a:rPr lang="en-US" sz="3800" b="1" dirty="0"/>
              <a:t>two project parameters for carrying out project planning.</a:t>
            </a:r>
            <a:r>
              <a:rPr lang="en-US" dirty="0"/>
              <a:t> </a:t>
            </a:r>
            <a:endParaRPr lang="en-US" sz="4200" dirty="0" smtClean="0"/>
          </a:p>
          <a:p>
            <a:pPr lvl="1"/>
            <a:r>
              <a:rPr lang="en-US" sz="4000" dirty="0" smtClean="0"/>
              <a:t>1  effort</a:t>
            </a:r>
          </a:p>
          <a:p>
            <a:pPr lvl="1"/>
            <a:r>
              <a:rPr lang="en-US" sz="4000" dirty="0" smtClean="0"/>
              <a:t>2  and duration</a:t>
            </a:r>
          </a:p>
          <a:p>
            <a:r>
              <a:rPr lang="en-US" sz="4200" dirty="0"/>
              <a:t>Duration is usually measured in months. </a:t>
            </a:r>
            <a:r>
              <a:rPr lang="en-US" sz="4200" dirty="0" smtClean="0">
                <a:solidFill>
                  <a:srgbClr val="FF0000"/>
                </a:solidFill>
              </a:rPr>
              <a:t>Work-month </a:t>
            </a:r>
            <a:r>
              <a:rPr lang="en-US" sz="4200" dirty="0">
                <a:solidFill>
                  <a:srgbClr val="FF0000"/>
                </a:solidFill>
              </a:rPr>
              <a:t>(</a:t>
            </a:r>
            <a:r>
              <a:rPr lang="en-US" sz="4200" dirty="0" err="1">
                <a:solidFill>
                  <a:srgbClr val="FF0000"/>
                </a:solidFill>
              </a:rPr>
              <a:t>wm</a:t>
            </a:r>
            <a:r>
              <a:rPr lang="en-US" sz="4200" dirty="0">
                <a:solidFill>
                  <a:srgbClr val="FF0000"/>
                </a:solidFill>
              </a:rPr>
              <a:t>) is a </a:t>
            </a:r>
            <a:r>
              <a:rPr lang="en-US" sz="4200" dirty="0" smtClean="0">
                <a:solidFill>
                  <a:srgbClr val="FF0000"/>
                </a:solidFill>
              </a:rPr>
              <a:t>popular unit </a:t>
            </a:r>
            <a:r>
              <a:rPr lang="en-US" sz="4200" dirty="0">
                <a:solidFill>
                  <a:srgbClr val="FF0000"/>
                </a:solidFill>
              </a:rPr>
              <a:t>for effort </a:t>
            </a:r>
            <a:r>
              <a:rPr lang="en-US" sz="4200" dirty="0" smtClean="0">
                <a:solidFill>
                  <a:srgbClr val="FF0000"/>
                </a:solidFill>
              </a:rPr>
              <a:t>measurement.</a:t>
            </a:r>
          </a:p>
          <a:p>
            <a:r>
              <a:rPr lang="en-US" sz="4200" dirty="0"/>
              <a:t>P</a:t>
            </a:r>
            <a:r>
              <a:rPr lang="en-US" sz="4200" dirty="0" smtClean="0"/>
              <a:t>erson-month </a:t>
            </a:r>
            <a:r>
              <a:rPr lang="en-US" sz="4200" dirty="0"/>
              <a:t>(pm) is also frequently used to mean the same as work-month.</a:t>
            </a:r>
            <a:r>
              <a:rPr lang="en-US" sz="4200" dirty="0" smtClean="0"/>
              <a:t> </a:t>
            </a:r>
            <a:r>
              <a:rPr lang="en-US" sz="4500" b="1" dirty="0"/>
              <a:t>One person-month is the effort </a:t>
            </a:r>
            <a:r>
              <a:rPr lang="en-US" sz="4500" b="1" dirty="0" smtClean="0"/>
              <a:t>an individual </a:t>
            </a:r>
            <a:r>
              <a:rPr lang="en-US" sz="4500" b="1" dirty="0"/>
              <a:t>can typically put in a month. </a:t>
            </a:r>
            <a:endParaRPr lang="en-US" sz="4500" b="1" dirty="0" smtClean="0"/>
          </a:p>
          <a:p>
            <a:r>
              <a:rPr lang="en-US" sz="3600" dirty="0" smtClean="0"/>
              <a:t>The </a:t>
            </a:r>
            <a:r>
              <a:rPr lang="en-US" sz="3600" b="1" dirty="0"/>
              <a:t>person-month estimate implicitly takes into account the </a:t>
            </a:r>
            <a:r>
              <a:rPr lang="en-US" sz="3600" b="1" dirty="0" smtClean="0"/>
              <a:t>productivity losses </a:t>
            </a:r>
            <a:r>
              <a:rPr lang="en-US" sz="3600" b="1" dirty="0"/>
              <a:t>that normally occur due to time lost in holidays, weekly offs, coffee breaks, etc. </a:t>
            </a:r>
            <a:endParaRPr lang="en-US" sz="3600" b="1" dirty="0" smtClean="0"/>
          </a:p>
          <a:p>
            <a:pPr marL="0" indent="0">
              <a:buNone/>
            </a:pPr>
            <a:r>
              <a:rPr lang="en-US" sz="5800" b="1" dirty="0" smtClean="0">
                <a:solidFill>
                  <a:srgbClr val="FF0000"/>
                </a:solidFill>
              </a:rPr>
              <a:t>Person-month (pm</a:t>
            </a:r>
            <a:r>
              <a:rPr lang="en-US" sz="5800" b="1" dirty="0">
                <a:solidFill>
                  <a:srgbClr val="FF0000"/>
                </a:solidFill>
              </a:rPr>
              <a:t>) is considered to be an appropriate unit for measuring effort </a:t>
            </a:r>
            <a:r>
              <a:rPr lang="en-US" sz="3600" b="1" dirty="0" smtClean="0"/>
              <a:t>because </a:t>
            </a:r>
            <a:r>
              <a:rPr lang="en-US" sz="3600" b="1" dirty="0"/>
              <a:t>developers are typically assigned to a project for a certain number of months.</a:t>
            </a:r>
            <a:endParaRPr lang="en-US" sz="3600" b="1" dirty="0" smtClean="0">
              <a:solidFill>
                <a:srgbClr val="FF0000"/>
              </a:solidFill>
            </a:endParaRPr>
          </a:p>
          <a:p>
            <a:endParaRPr lang="en-US" dirty="0">
              <a:solidFill>
                <a:srgbClr val="FF0000"/>
              </a:solidFill>
            </a:endParaRPr>
          </a:p>
        </p:txBody>
      </p:sp>
      <p:sp>
        <p:nvSpPr>
          <p:cNvPr id="4" name="Slide Number Placeholder 3"/>
          <p:cNvSpPr>
            <a:spLocks noGrp="1"/>
          </p:cNvSpPr>
          <p:nvPr>
            <p:ph type="sldNum" sz="quarter" idx="12"/>
          </p:nvPr>
        </p:nvSpPr>
        <p:spPr/>
        <p:txBody>
          <a:bodyPr/>
          <a:lstStyle/>
          <a:p>
            <a:fld id="{E5CE4F79-B2B3-4E4E-AB5D-F771515B9CEF}" type="slidenum">
              <a:rPr lang="en-US" smtClean="0"/>
              <a:t>60</a:t>
            </a:fld>
            <a:endParaRPr lang="en-US" dirty="0"/>
          </a:p>
        </p:txBody>
      </p:sp>
    </p:spTree>
    <p:extLst>
      <p:ext uri="{BB962C8B-B14F-4D97-AF65-F5344CB8AC3E}">
        <p14:creationId xmlns:p14="http://schemas.microsoft.com/office/powerpoint/2010/main" val="65467212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457200"/>
            <a:ext cx="8381999" cy="780195"/>
          </a:xfrm>
        </p:spPr>
        <p:txBody>
          <a:bodyPr>
            <a:normAutofit fontScale="90000"/>
          </a:bodyPr>
          <a:lstStyle/>
          <a:p>
            <a:r>
              <a:rPr lang="en-US" b="1" dirty="0"/>
              <a:t>Basis for SW estimation </a:t>
            </a:r>
            <a:r>
              <a:rPr lang="en-US" b="1" dirty="0" smtClean="0">
                <a:sym typeface="Wingdings" pitchFamily="2" charset="2"/>
              </a:rPr>
              <a:t>3</a:t>
            </a:r>
            <a:r>
              <a:rPr lang="en-US" b="1" dirty="0" smtClean="0"/>
              <a:t>. Measure Of Work/Project Size</a:t>
            </a:r>
            <a:endParaRPr lang="en-US" b="1" dirty="0"/>
          </a:p>
        </p:txBody>
      </p:sp>
      <p:sp>
        <p:nvSpPr>
          <p:cNvPr id="3" name="Content Placeholder 2"/>
          <p:cNvSpPr>
            <a:spLocks noGrp="1"/>
          </p:cNvSpPr>
          <p:nvPr>
            <p:ph type="body" sz="quarter" idx="13"/>
          </p:nvPr>
        </p:nvSpPr>
        <p:spPr/>
        <p:txBody>
          <a:bodyPr>
            <a:normAutofit fontScale="92500" lnSpcReduction="20000"/>
          </a:bodyPr>
          <a:lstStyle/>
          <a:p>
            <a:r>
              <a:rPr lang="en-US" dirty="0">
                <a:solidFill>
                  <a:srgbClr val="FF0000"/>
                </a:solidFill>
              </a:rPr>
              <a:t>Work itself can </a:t>
            </a:r>
            <a:r>
              <a:rPr lang="en-US" dirty="0" smtClean="0">
                <a:solidFill>
                  <a:srgbClr val="FF0000"/>
                </a:solidFill>
              </a:rPr>
              <a:t>be characterized </a:t>
            </a:r>
            <a:r>
              <a:rPr lang="en-US" dirty="0">
                <a:solidFill>
                  <a:srgbClr val="FF0000"/>
                </a:solidFill>
              </a:rPr>
              <a:t>by </a:t>
            </a:r>
            <a:endParaRPr lang="en-US" dirty="0" smtClean="0">
              <a:solidFill>
                <a:srgbClr val="FF0000"/>
              </a:solidFill>
            </a:endParaRPr>
          </a:p>
          <a:p>
            <a:pPr marL="0" indent="0">
              <a:buNone/>
            </a:pPr>
            <a:r>
              <a:rPr lang="en-US" dirty="0">
                <a:solidFill>
                  <a:srgbClr val="FF0000"/>
                </a:solidFill>
              </a:rPr>
              <a:t> </a:t>
            </a:r>
            <a:r>
              <a:rPr lang="en-US" dirty="0" smtClean="0">
                <a:solidFill>
                  <a:srgbClr val="FF0000"/>
                </a:solidFill>
              </a:rPr>
              <a:t>     A. cost </a:t>
            </a:r>
            <a:r>
              <a:rPr lang="en-US" dirty="0">
                <a:solidFill>
                  <a:srgbClr val="FF0000"/>
                </a:solidFill>
              </a:rPr>
              <a:t>in accomplishing the </a:t>
            </a:r>
            <a:r>
              <a:rPr lang="en-US" dirty="0" smtClean="0">
                <a:solidFill>
                  <a:srgbClr val="FF0000"/>
                </a:solidFill>
              </a:rPr>
              <a:t>project</a:t>
            </a:r>
          </a:p>
          <a:p>
            <a:pPr marL="0" indent="0">
              <a:buNone/>
            </a:pPr>
            <a:r>
              <a:rPr lang="en-US" dirty="0">
                <a:solidFill>
                  <a:srgbClr val="FF0000"/>
                </a:solidFill>
              </a:rPr>
              <a:t> </a:t>
            </a:r>
            <a:r>
              <a:rPr lang="en-US" dirty="0" smtClean="0">
                <a:solidFill>
                  <a:srgbClr val="FF0000"/>
                </a:solidFill>
              </a:rPr>
              <a:t>     B. </a:t>
            </a:r>
            <a:r>
              <a:rPr lang="en-US" dirty="0">
                <a:solidFill>
                  <a:srgbClr val="FF0000"/>
                </a:solidFill>
              </a:rPr>
              <a:t>and the time over which it is to be completed.</a:t>
            </a:r>
            <a:endParaRPr lang="en-US" b="1" dirty="0" smtClean="0">
              <a:solidFill>
                <a:srgbClr val="FF0000"/>
              </a:solidFill>
            </a:endParaRPr>
          </a:p>
          <a:p>
            <a:r>
              <a:rPr lang="en-US" b="1" dirty="0" smtClean="0"/>
              <a:t>So, First estimate the </a:t>
            </a:r>
            <a:r>
              <a:rPr lang="en-US" b="1" dirty="0"/>
              <a:t>project size; and by using it, the effort and time taken to develop the software can be computed</a:t>
            </a:r>
            <a:r>
              <a:rPr lang="en-US" b="1" dirty="0" smtClean="0"/>
              <a:t>.</a:t>
            </a:r>
          </a:p>
          <a:p>
            <a:r>
              <a:rPr lang="en-US" dirty="0"/>
              <a:t>P</a:t>
            </a:r>
            <a:r>
              <a:rPr lang="en-US" dirty="0" smtClean="0"/>
              <a:t>roject </a:t>
            </a:r>
            <a:r>
              <a:rPr lang="en-US" dirty="0"/>
              <a:t>size </a:t>
            </a:r>
            <a:r>
              <a:rPr lang="en-US" dirty="0" smtClean="0"/>
              <a:t>is as </a:t>
            </a:r>
            <a:r>
              <a:rPr lang="en-US" dirty="0"/>
              <a:t>an independent variable and the effort or time required to develop the </a:t>
            </a:r>
            <a:r>
              <a:rPr lang="en-US" dirty="0" smtClean="0"/>
              <a:t>software are </a:t>
            </a:r>
            <a:r>
              <a:rPr lang="en-US" dirty="0"/>
              <a:t>dependent variables.</a:t>
            </a:r>
            <a:endParaRPr lang="en-US" b="1" dirty="0" smtClean="0"/>
          </a:p>
          <a:p>
            <a:r>
              <a:rPr lang="en-US" sz="2600" dirty="0" smtClean="0"/>
              <a:t>Direct calculation </a:t>
            </a:r>
            <a:r>
              <a:rPr lang="en-US" sz="2600" dirty="0"/>
              <a:t>of cost or time is </a:t>
            </a:r>
            <a:r>
              <a:rPr lang="en-US" sz="2600" dirty="0" smtClean="0"/>
              <a:t>difficult </a:t>
            </a:r>
            <a:r>
              <a:rPr lang="en-US" sz="2600" dirty="0"/>
              <a:t>at the early stages of </a:t>
            </a:r>
            <a:r>
              <a:rPr lang="en-US" sz="2600" dirty="0" smtClean="0"/>
              <a:t>planning</a:t>
            </a:r>
            <a:r>
              <a:rPr lang="en-US" sz="2600" dirty="0"/>
              <a:t> </a:t>
            </a:r>
            <a:r>
              <a:rPr lang="en-US" sz="2600" dirty="0" smtClean="0"/>
              <a:t>due to:</a:t>
            </a:r>
          </a:p>
          <a:p>
            <a:pPr lvl="1"/>
            <a:r>
              <a:rPr lang="en-US" sz="2400" dirty="0" smtClean="0"/>
              <a:t>The </a:t>
            </a:r>
            <a:r>
              <a:rPr lang="en-US" sz="2400" dirty="0"/>
              <a:t>time taken to write the </a:t>
            </a:r>
            <a:r>
              <a:rPr lang="en-US" sz="2400" dirty="0" smtClean="0"/>
              <a:t>software may </a:t>
            </a:r>
            <a:r>
              <a:rPr lang="en-US" sz="2400" dirty="0"/>
              <a:t>vary according to the competence or experience of the software developers might not even have </a:t>
            </a:r>
            <a:r>
              <a:rPr lang="en-US" sz="2400" dirty="0" smtClean="0"/>
              <a:t>been identified</a:t>
            </a:r>
            <a:r>
              <a:rPr lang="en-US" sz="2400" dirty="0"/>
              <a:t>. </a:t>
            </a:r>
            <a:endParaRPr lang="en-US" sz="2400" dirty="0" smtClean="0"/>
          </a:p>
          <a:p>
            <a:pPr lvl="1"/>
            <a:r>
              <a:rPr lang="en-US" sz="2200" dirty="0" smtClean="0"/>
              <a:t>Implementation </a:t>
            </a:r>
            <a:r>
              <a:rPr lang="en-US" sz="2200" dirty="0"/>
              <a:t>time may also vary depending on the extent to which CASE (Computer </a:t>
            </a:r>
            <a:r>
              <a:rPr lang="en-US" sz="2200" dirty="0" smtClean="0"/>
              <a:t>Aided Software </a:t>
            </a:r>
            <a:r>
              <a:rPr lang="en-US" sz="2200" dirty="0"/>
              <a:t>Engineering) tools are used during development</a:t>
            </a:r>
          </a:p>
        </p:txBody>
      </p:sp>
      <p:sp>
        <p:nvSpPr>
          <p:cNvPr id="4" name="Slide Number Placeholder 3"/>
          <p:cNvSpPr>
            <a:spLocks noGrp="1"/>
          </p:cNvSpPr>
          <p:nvPr>
            <p:ph type="sldNum" sz="quarter" idx="12"/>
          </p:nvPr>
        </p:nvSpPr>
        <p:spPr/>
        <p:txBody>
          <a:bodyPr/>
          <a:lstStyle/>
          <a:p>
            <a:fld id="{E5CE4F79-B2B3-4E4E-AB5D-F771515B9CEF}" type="slidenum">
              <a:rPr lang="en-US" smtClean="0"/>
              <a:t>61</a:t>
            </a:fld>
            <a:endParaRPr lang="en-US" dirty="0"/>
          </a:p>
        </p:txBody>
      </p:sp>
    </p:spTree>
    <p:extLst>
      <p:ext uri="{BB962C8B-B14F-4D97-AF65-F5344CB8AC3E}">
        <p14:creationId xmlns:p14="http://schemas.microsoft.com/office/powerpoint/2010/main" val="27252234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Measure Of Work</a:t>
            </a:r>
            <a:r>
              <a:rPr lang="en-US" dirty="0" smtClean="0">
                <a:sym typeface="Wingdings" pitchFamily="2" charset="2"/>
              </a:rPr>
              <a:t> </a:t>
            </a:r>
            <a:r>
              <a:rPr lang="en-US" dirty="0" smtClean="0"/>
              <a:t>Project Size</a:t>
            </a:r>
            <a:endParaRPr lang="en-US" dirty="0"/>
          </a:p>
        </p:txBody>
      </p:sp>
      <p:sp>
        <p:nvSpPr>
          <p:cNvPr id="3" name="Content Placeholder 2"/>
          <p:cNvSpPr>
            <a:spLocks noGrp="1"/>
          </p:cNvSpPr>
          <p:nvPr>
            <p:ph type="body" sz="quarter" idx="13"/>
          </p:nvPr>
        </p:nvSpPr>
        <p:spPr/>
        <p:txBody>
          <a:bodyPr>
            <a:normAutofit/>
          </a:bodyPr>
          <a:lstStyle/>
          <a:p>
            <a:r>
              <a:rPr lang="en-US" dirty="0" smtClean="0"/>
              <a:t>The </a:t>
            </a:r>
            <a:r>
              <a:rPr lang="en-US" dirty="0"/>
              <a:t>size of a project is obviously not the number </a:t>
            </a:r>
            <a:r>
              <a:rPr lang="en-US" dirty="0" smtClean="0"/>
              <a:t>of bytes </a:t>
            </a:r>
            <a:r>
              <a:rPr lang="en-US" dirty="0"/>
              <a:t>that the source code occupies, neither is it the size of the executable code. </a:t>
            </a:r>
            <a:endParaRPr lang="en-US" dirty="0" smtClean="0"/>
          </a:p>
          <a:p>
            <a:r>
              <a:rPr lang="en-US" dirty="0" smtClean="0"/>
              <a:t>Project size gives an estimate of </a:t>
            </a:r>
            <a:r>
              <a:rPr lang="en-US" dirty="0" smtClean="0">
                <a:sym typeface="Wingdings" pitchFamily="2" charset="2"/>
              </a:rPr>
              <a:t></a:t>
            </a:r>
            <a:r>
              <a:rPr lang="en-US" b="1" dirty="0" smtClean="0"/>
              <a:t>How much complex the </a:t>
            </a:r>
            <a:r>
              <a:rPr lang="en-US" b="1" dirty="0"/>
              <a:t>project </a:t>
            </a:r>
            <a:r>
              <a:rPr lang="en-US" b="1" dirty="0" smtClean="0">
                <a:solidFill>
                  <a:srgbClr val="FF0000"/>
                </a:solidFill>
              </a:rPr>
              <a:t> </a:t>
            </a:r>
            <a:r>
              <a:rPr lang="en-US" b="1" dirty="0">
                <a:solidFill>
                  <a:srgbClr val="FF0000"/>
                </a:solidFill>
              </a:rPr>
              <a:t>in terms of the effort</a:t>
            </a:r>
            <a:r>
              <a:rPr lang="en-US" b="1" dirty="0"/>
              <a:t> and </a:t>
            </a:r>
            <a:r>
              <a:rPr lang="en-US" b="1" dirty="0">
                <a:solidFill>
                  <a:srgbClr val="0070C0"/>
                </a:solidFill>
              </a:rPr>
              <a:t>time required </a:t>
            </a:r>
            <a:r>
              <a:rPr lang="en-US" b="1" dirty="0"/>
              <a:t>to develop the product. </a:t>
            </a:r>
            <a:endParaRPr lang="en-US" b="1" dirty="0" smtClean="0"/>
          </a:p>
          <a:p>
            <a:r>
              <a:rPr lang="en-US" dirty="0" smtClean="0"/>
              <a:t>Two </a:t>
            </a:r>
            <a:r>
              <a:rPr lang="en-US" dirty="0"/>
              <a:t>metrics are </a:t>
            </a:r>
            <a:r>
              <a:rPr lang="en-US" dirty="0" smtClean="0"/>
              <a:t>at present </a:t>
            </a:r>
            <a:r>
              <a:rPr lang="en-US" dirty="0"/>
              <a:t>popularly being used to measure size. </a:t>
            </a:r>
            <a:endParaRPr lang="en-US" dirty="0" smtClean="0"/>
          </a:p>
          <a:p>
            <a:r>
              <a:rPr lang="en-US" dirty="0" smtClean="0"/>
              <a:t>1. Source </a:t>
            </a:r>
            <a:r>
              <a:rPr lang="en-US" dirty="0"/>
              <a:t>Lines of Code (SLOC</a:t>
            </a:r>
            <a:r>
              <a:rPr lang="en-US" dirty="0" smtClean="0"/>
              <a:t>)</a:t>
            </a:r>
          </a:p>
          <a:p>
            <a:r>
              <a:rPr lang="en-US" dirty="0" smtClean="0"/>
              <a:t>2.  </a:t>
            </a:r>
            <a:r>
              <a:rPr lang="en-US" dirty="0"/>
              <a:t>and Function </a:t>
            </a:r>
            <a:r>
              <a:rPr lang="en-US" dirty="0" smtClean="0"/>
              <a:t>Point (FP</a:t>
            </a:r>
            <a:r>
              <a:rPr lang="en-US" dirty="0"/>
              <a:t>).</a:t>
            </a:r>
          </a:p>
        </p:txBody>
      </p:sp>
      <p:sp>
        <p:nvSpPr>
          <p:cNvPr id="4" name="Slide Number Placeholder 3"/>
          <p:cNvSpPr>
            <a:spLocks noGrp="1"/>
          </p:cNvSpPr>
          <p:nvPr>
            <p:ph type="sldNum" sz="quarter" idx="12"/>
          </p:nvPr>
        </p:nvSpPr>
        <p:spPr/>
        <p:txBody>
          <a:bodyPr/>
          <a:lstStyle/>
          <a:p>
            <a:fld id="{E5CE4F79-B2B3-4E4E-AB5D-F771515B9CEF}" type="slidenum">
              <a:rPr lang="en-US" smtClean="0"/>
              <a:t>62</a:t>
            </a:fld>
            <a:endParaRPr lang="en-US" dirty="0"/>
          </a:p>
        </p:txBody>
      </p:sp>
    </p:spTree>
    <p:extLst>
      <p:ext uri="{BB962C8B-B14F-4D97-AF65-F5344CB8AC3E}">
        <p14:creationId xmlns:p14="http://schemas.microsoft.com/office/powerpoint/2010/main" val="271084731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smtClean="0"/>
              <a:t>Software Effort </a:t>
            </a:r>
            <a:r>
              <a:rPr lang="en-US" sz="3600" b="1" dirty="0"/>
              <a:t>Estimation Techniques</a:t>
            </a:r>
            <a:endParaRPr lang="en-US" sz="3600" dirty="0"/>
          </a:p>
        </p:txBody>
      </p:sp>
      <p:sp>
        <p:nvSpPr>
          <p:cNvPr id="3" name="Content Placeholder 2"/>
          <p:cNvSpPr>
            <a:spLocks noGrp="1"/>
          </p:cNvSpPr>
          <p:nvPr>
            <p:ph type="body" sz="quarter" idx="13"/>
          </p:nvPr>
        </p:nvSpPr>
        <p:spPr/>
        <p:txBody>
          <a:bodyPr>
            <a:normAutofit/>
          </a:bodyPr>
          <a:lstStyle/>
          <a:p>
            <a:pPr marL="0" indent="0">
              <a:buNone/>
            </a:pPr>
            <a:r>
              <a:rPr lang="en-US" dirty="0" smtClean="0"/>
              <a:t>The </a:t>
            </a:r>
            <a:r>
              <a:rPr lang="en-US" dirty="0"/>
              <a:t>main </a:t>
            </a:r>
            <a:r>
              <a:rPr lang="en-US" dirty="0" smtClean="0"/>
              <a:t>ways of </a:t>
            </a:r>
            <a:r>
              <a:rPr lang="en-US" dirty="0"/>
              <a:t>deriving estimates of software development effort </a:t>
            </a:r>
            <a:r>
              <a:rPr lang="en-US" dirty="0" smtClean="0"/>
              <a:t>are:</a:t>
            </a:r>
            <a:endParaRPr lang="en-US" dirty="0"/>
          </a:p>
          <a:p>
            <a:pPr marL="0" indent="0">
              <a:buNone/>
            </a:pPr>
            <a:r>
              <a:rPr lang="en-US" sz="2400" dirty="0" smtClean="0"/>
              <a:t>1. </a:t>
            </a:r>
            <a:r>
              <a:rPr lang="en-US" sz="2400" b="1" i="1" dirty="0" smtClean="0">
                <a:solidFill>
                  <a:srgbClr val="00B050"/>
                </a:solidFill>
              </a:rPr>
              <a:t>algorithmic </a:t>
            </a:r>
            <a:r>
              <a:rPr lang="en-US" sz="2400" b="1" i="1" dirty="0">
                <a:solidFill>
                  <a:srgbClr val="00B050"/>
                </a:solidFill>
              </a:rPr>
              <a:t>models</a:t>
            </a:r>
            <a:r>
              <a:rPr lang="en-US" sz="2400" dirty="0"/>
              <a:t>, which use ‘effort drivers’ representing characteristics </a:t>
            </a:r>
            <a:r>
              <a:rPr lang="en-US" sz="2400" dirty="0" smtClean="0"/>
              <a:t>of the </a:t>
            </a:r>
            <a:r>
              <a:rPr lang="en-US" sz="2400" dirty="0"/>
              <a:t>target system and the implementation environment to </a:t>
            </a:r>
            <a:r>
              <a:rPr lang="en-US" sz="2400" dirty="0" smtClean="0"/>
              <a:t>predict effort;</a:t>
            </a:r>
          </a:p>
          <a:p>
            <a:pPr marL="0" indent="0">
              <a:buNone/>
            </a:pPr>
            <a:r>
              <a:rPr lang="en-US" sz="2400" dirty="0" smtClean="0"/>
              <a:t>2. </a:t>
            </a:r>
            <a:r>
              <a:rPr lang="en-US" sz="2400" b="1" i="1" dirty="0">
                <a:solidFill>
                  <a:srgbClr val="00B050"/>
                </a:solidFill>
              </a:rPr>
              <a:t>expert judgement</a:t>
            </a:r>
            <a:r>
              <a:rPr lang="en-US" sz="2400" dirty="0"/>
              <a:t>, based on the advice of knowledgeable staff;</a:t>
            </a:r>
          </a:p>
          <a:p>
            <a:pPr marL="0" indent="0">
              <a:buNone/>
            </a:pPr>
            <a:r>
              <a:rPr lang="en-US" sz="2400" dirty="0" smtClean="0"/>
              <a:t>3. </a:t>
            </a:r>
            <a:r>
              <a:rPr lang="en-US" sz="2400" b="1" i="1" dirty="0">
                <a:solidFill>
                  <a:srgbClr val="00B050"/>
                </a:solidFill>
              </a:rPr>
              <a:t>analogy</a:t>
            </a:r>
            <a:r>
              <a:rPr lang="en-US" sz="2400" dirty="0"/>
              <a:t>, where a similar, completed, project is </a:t>
            </a:r>
            <a:r>
              <a:rPr lang="en-US" sz="2400" dirty="0" smtClean="0"/>
              <a:t>identified </a:t>
            </a:r>
            <a:r>
              <a:rPr lang="en-US" sz="2400" dirty="0"/>
              <a:t>and its actual effort is used as the basis of </a:t>
            </a:r>
            <a:r>
              <a:rPr lang="en-US" sz="2400" dirty="0" smtClean="0"/>
              <a:t>the estimate</a:t>
            </a:r>
            <a:r>
              <a:rPr lang="en-US" sz="2400" dirty="0"/>
              <a:t>;</a:t>
            </a:r>
          </a:p>
          <a:p>
            <a:pPr marL="0" indent="0">
              <a:buNone/>
            </a:pPr>
            <a:r>
              <a:rPr lang="en-US" sz="2400" dirty="0" smtClean="0"/>
              <a:t>4. </a:t>
            </a:r>
            <a:r>
              <a:rPr lang="en-US" sz="2400" b="1" i="1" dirty="0">
                <a:solidFill>
                  <a:srgbClr val="00B050"/>
                </a:solidFill>
              </a:rPr>
              <a:t>Parkinson</a:t>
            </a:r>
            <a:r>
              <a:rPr lang="en-US" sz="2400" dirty="0"/>
              <a:t>, where the staff effort available to do a project becomes the ‘estimate’;</a:t>
            </a:r>
          </a:p>
          <a:p>
            <a:pPr marL="0" indent="0">
              <a:buNone/>
            </a:pPr>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63</a:t>
            </a:fld>
            <a:endParaRPr lang="en-US" dirty="0"/>
          </a:p>
        </p:txBody>
      </p:sp>
    </p:spTree>
    <p:extLst>
      <p:ext uri="{BB962C8B-B14F-4D97-AF65-F5344CB8AC3E}">
        <p14:creationId xmlns:p14="http://schemas.microsoft.com/office/powerpoint/2010/main" val="811271791"/>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Software Effort Estimation </a:t>
            </a:r>
            <a:r>
              <a:rPr lang="en-US" sz="3600" b="1" dirty="0" smtClean="0"/>
              <a:t>Techniques (Contd.)</a:t>
            </a:r>
            <a:endParaRPr lang="en-US" sz="3600" dirty="0"/>
          </a:p>
        </p:txBody>
      </p:sp>
      <p:sp>
        <p:nvSpPr>
          <p:cNvPr id="3" name="Content Placeholder 2"/>
          <p:cNvSpPr>
            <a:spLocks noGrp="1"/>
          </p:cNvSpPr>
          <p:nvPr>
            <p:ph type="body" sz="quarter" idx="13"/>
          </p:nvPr>
        </p:nvSpPr>
        <p:spPr/>
        <p:txBody>
          <a:bodyPr>
            <a:noAutofit/>
          </a:bodyPr>
          <a:lstStyle/>
          <a:p>
            <a:pPr marL="0" indent="0">
              <a:buNone/>
            </a:pPr>
            <a:r>
              <a:rPr lang="en-US" sz="2400" dirty="0"/>
              <a:t>5</a:t>
            </a:r>
            <a:r>
              <a:rPr lang="en-US" sz="2400" b="1" dirty="0"/>
              <a:t>. </a:t>
            </a:r>
            <a:r>
              <a:rPr lang="en-US" sz="2400" b="1" dirty="0" smtClean="0"/>
              <a:t> </a:t>
            </a:r>
            <a:r>
              <a:rPr lang="en-US" sz="2400" b="1" dirty="0" smtClean="0">
                <a:solidFill>
                  <a:srgbClr val="00B050"/>
                </a:solidFill>
              </a:rPr>
              <a:t>P</a:t>
            </a:r>
            <a:r>
              <a:rPr lang="en-US" sz="2400" b="1" i="1" dirty="0" smtClean="0">
                <a:solidFill>
                  <a:srgbClr val="00B050"/>
                </a:solidFill>
              </a:rPr>
              <a:t>rice </a:t>
            </a:r>
            <a:r>
              <a:rPr lang="en-US" sz="2400" b="1" i="1" dirty="0">
                <a:solidFill>
                  <a:srgbClr val="00B050"/>
                </a:solidFill>
              </a:rPr>
              <a:t>to win</a:t>
            </a:r>
            <a:r>
              <a:rPr lang="en-US" sz="2400" dirty="0"/>
              <a:t>, where the ‘estimate’ is a figure that seems sufficiently low to win a </a:t>
            </a:r>
            <a:r>
              <a:rPr lang="en-US" sz="2400" dirty="0" smtClean="0"/>
              <a:t>contract;</a:t>
            </a:r>
          </a:p>
          <a:p>
            <a:pPr marL="0" indent="0">
              <a:buNone/>
            </a:pPr>
            <a:r>
              <a:rPr lang="en-US" sz="2400" dirty="0" smtClean="0"/>
              <a:t>i.e</a:t>
            </a:r>
            <a:r>
              <a:rPr lang="en-US" sz="2400" dirty="0"/>
              <a:t>. The software cost is estimated to be whatever the customer has available to spend on the project. The estimated effort depends on the customer's budget and not on the software </a:t>
            </a:r>
            <a:r>
              <a:rPr lang="en-US" sz="2400" dirty="0" smtClean="0"/>
              <a:t>functionality.</a:t>
            </a:r>
          </a:p>
          <a:p>
            <a:pPr marL="0" indent="0">
              <a:buNone/>
            </a:pPr>
            <a:r>
              <a:rPr lang="en-US" sz="2400" b="1" dirty="0" smtClean="0"/>
              <a:t>It identifies </a:t>
            </a:r>
            <a:r>
              <a:rPr lang="en-US" sz="2400" b="1" dirty="0"/>
              <a:t>the correct balance of capability that can be delivered to the customer at the value the customer wants. </a:t>
            </a:r>
            <a:r>
              <a:rPr lang="en-US" sz="2400" dirty="0"/>
              <a:t>Price-to-Win provides management insight for:</a:t>
            </a:r>
          </a:p>
          <a:p>
            <a:pPr lvl="1"/>
            <a:r>
              <a:rPr lang="en-US" sz="2000" dirty="0"/>
              <a:t>Competitive positioning</a:t>
            </a:r>
          </a:p>
          <a:p>
            <a:pPr lvl="1"/>
            <a:r>
              <a:rPr lang="en-US" sz="2000" dirty="0"/>
              <a:t>Strategic partnering</a:t>
            </a:r>
          </a:p>
          <a:p>
            <a:pPr lvl="1"/>
            <a:r>
              <a:rPr lang="en-US" sz="2000" dirty="0"/>
              <a:t>Risk tolerance</a:t>
            </a:r>
          </a:p>
          <a:p>
            <a:pPr lvl="1"/>
            <a:r>
              <a:rPr lang="en-US" sz="2000" dirty="0"/>
              <a:t>Customer relations</a:t>
            </a:r>
          </a:p>
          <a:p>
            <a:pPr lvl="1"/>
            <a:r>
              <a:rPr lang="en-US" sz="2000" dirty="0"/>
              <a:t>Optimal bid </a:t>
            </a:r>
            <a:r>
              <a:rPr lang="en-US" sz="2000" dirty="0" smtClean="0"/>
              <a:t>strategy</a:t>
            </a:r>
            <a:endParaRPr lang="en-US" sz="2000" dirty="0"/>
          </a:p>
        </p:txBody>
      </p:sp>
      <p:sp>
        <p:nvSpPr>
          <p:cNvPr id="4" name="Slide Number Placeholder 3"/>
          <p:cNvSpPr>
            <a:spLocks noGrp="1"/>
          </p:cNvSpPr>
          <p:nvPr>
            <p:ph type="sldNum" sz="quarter" idx="12"/>
          </p:nvPr>
        </p:nvSpPr>
        <p:spPr/>
        <p:txBody>
          <a:bodyPr/>
          <a:lstStyle/>
          <a:p>
            <a:fld id="{E5CE4F79-B2B3-4E4E-AB5D-F771515B9CEF}" type="slidenum">
              <a:rPr lang="en-US" smtClean="0"/>
              <a:t>64</a:t>
            </a:fld>
            <a:endParaRPr lang="en-US" dirty="0"/>
          </a:p>
        </p:txBody>
      </p:sp>
    </p:spTree>
    <p:extLst>
      <p:ext uri="{BB962C8B-B14F-4D97-AF65-F5344CB8AC3E}">
        <p14:creationId xmlns:p14="http://schemas.microsoft.com/office/powerpoint/2010/main" val="714114243"/>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600" b="1" dirty="0"/>
              <a:t>Software Effort Estimation </a:t>
            </a:r>
            <a:r>
              <a:rPr lang="en-US" sz="3600" b="1" dirty="0" smtClean="0"/>
              <a:t>Techniques (Contd.)</a:t>
            </a:r>
            <a:endParaRPr lang="en-US" sz="3600" dirty="0"/>
          </a:p>
        </p:txBody>
      </p:sp>
      <p:sp>
        <p:nvSpPr>
          <p:cNvPr id="3" name="Content Placeholder 2"/>
          <p:cNvSpPr>
            <a:spLocks noGrp="1"/>
          </p:cNvSpPr>
          <p:nvPr>
            <p:ph type="body" sz="quarter" idx="13"/>
          </p:nvPr>
        </p:nvSpPr>
        <p:spPr/>
        <p:txBody>
          <a:bodyPr>
            <a:normAutofit/>
          </a:bodyPr>
          <a:lstStyle/>
          <a:p>
            <a:pPr marL="0" indent="0">
              <a:buNone/>
            </a:pPr>
            <a:r>
              <a:rPr lang="en-US" sz="2400" dirty="0" smtClean="0"/>
              <a:t>6</a:t>
            </a:r>
            <a:r>
              <a:rPr lang="en-US" sz="2400" dirty="0"/>
              <a:t>. </a:t>
            </a:r>
            <a:r>
              <a:rPr lang="en-US" sz="2400" b="1" dirty="0" smtClean="0">
                <a:solidFill>
                  <a:srgbClr val="00B050"/>
                </a:solidFill>
              </a:rPr>
              <a:t> </a:t>
            </a:r>
            <a:r>
              <a:rPr lang="en-US" sz="2400" b="1" i="1" dirty="0">
                <a:solidFill>
                  <a:srgbClr val="00B050"/>
                </a:solidFill>
              </a:rPr>
              <a:t>top-down</a:t>
            </a:r>
            <a:r>
              <a:rPr lang="en-US" sz="2400" dirty="0"/>
              <a:t>, where an </a:t>
            </a:r>
            <a:r>
              <a:rPr lang="en-US" sz="2400" b="1" dirty="0"/>
              <a:t>overall estimate for the whole project</a:t>
            </a:r>
            <a:r>
              <a:rPr lang="en-US" sz="2400" dirty="0"/>
              <a:t> is </a:t>
            </a:r>
            <a:r>
              <a:rPr lang="en-US" sz="2400" b="1" dirty="0"/>
              <a:t>broken down into the effort required for component tasks</a:t>
            </a:r>
            <a:r>
              <a:rPr lang="en-US" sz="2400" dirty="0"/>
              <a:t>;</a:t>
            </a:r>
          </a:p>
          <a:p>
            <a:pPr marL="457200" indent="-457200">
              <a:buAutoNum type="arabicPeriod" startAt="7"/>
            </a:pPr>
            <a:r>
              <a:rPr lang="en-US" sz="2400" b="1" i="1" dirty="0" smtClean="0">
                <a:solidFill>
                  <a:srgbClr val="00B050"/>
                </a:solidFill>
              </a:rPr>
              <a:t>bottom-up</a:t>
            </a:r>
            <a:r>
              <a:rPr lang="en-US" sz="2400" dirty="0"/>
              <a:t>, </a:t>
            </a:r>
            <a:r>
              <a:rPr lang="en-US" sz="2400" b="1" dirty="0"/>
              <a:t>where component tasks are identified and sized </a:t>
            </a:r>
            <a:r>
              <a:rPr lang="en-US" sz="2400" dirty="0"/>
              <a:t>and </a:t>
            </a:r>
            <a:r>
              <a:rPr lang="en-US" sz="2400" b="1" dirty="0"/>
              <a:t>these individual estimates are aggregated</a:t>
            </a:r>
            <a:r>
              <a:rPr lang="en-US" sz="2400" b="1" dirty="0" smtClean="0"/>
              <a:t>.</a:t>
            </a:r>
          </a:p>
          <a:p>
            <a:pPr marL="457200" indent="-457200">
              <a:buFont typeface="Arial" panose="020B0604020202020204" pitchFamily="34" charset="0"/>
              <a:buAutoNum type="arabicPeriod" startAt="7"/>
            </a:pPr>
            <a:r>
              <a:rPr lang="en-US" sz="2400" b="1" dirty="0">
                <a:solidFill>
                  <a:srgbClr val="00B050"/>
                </a:solidFill>
              </a:rPr>
              <a:t>parametric </a:t>
            </a:r>
            <a:r>
              <a:rPr lang="en-US" sz="2400" b="1" dirty="0" smtClean="0">
                <a:solidFill>
                  <a:srgbClr val="00B050"/>
                </a:solidFill>
              </a:rPr>
              <a:t>estimating, </a:t>
            </a:r>
            <a:r>
              <a:rPr lang="en-US" sz="2400" dirty="0" smtClean="0"/>
              <a:t>is </a:t>
            </a:r>
            <a:r>
              <a:rPr lang="en-US" sz="2400" dirty="0"/>
              <a:t>a </a:t>
            </a:r>
            <a:r>
              <a:rPr lang="en-US" sz="2400" dirty="0" smtClean="0"/>
              <a:t>statistical relationship </a:t>
            </a:r>
            <a:r>
              <a:rPr lang="en-US" sz="2400" dirty="0"/>
              <a:t>between historical data and other variables</a:t>
            </a:r>
            <a:r>
              <a:rPr lang="en-US" sz="2400" dirty="0" smtClean="0"/>
              <a:t> </a:t>
            </a:r>
            <a:r>
              <a:rPr lang="en-US" sz="2400" dirty="0"/>
              <a:t>and accuracy-based technique for calculating the time, cost, and resources needed for project </a:t>
            </a:r>
            <a:r>
              <a:rPr lang="en-US" sz="2400" dirty="0" smtClean="0"/>
              <a:t>success</a:t>
            </a:r>
          </a:p>
          <a:p>
            <a:pPr marL="0" indent="0">
              <a:buNone/>
            </a:pPr>
            <a:r>
              <a:rPr lang="en-US" sz="2400" dirty="0"/>
              <a:t> </a:t>
            </a:r>
            <a:r>
              <a:rPr lang="en-US" sz="2400" dirty="0" smtClean="0"/>
              <a:t>       Two Types</a:t>
            </a:r>
          </a:p>
          <a:p>
            <a:pPr lvl="4"/>
            <a:r>
              <a:rPr lang="en-US" sz="2400" dirty="0">
                <a:solidFill>
                  <a:schemeClr val="tx1"/>
                </a:solidFill>
              </a:rPr>
              <a:t>Deterministic</a:t>
            </a:r>
          </a:p>
          <a:p>
            <a:pPr lvl="4"/>
            <a:r>
              <a:rPr lang="en-US" sz="2400" dirty="0" smtClean="0">
                <a:solidFill>
                  <a:schemeClr val="tx1"/>
                </a:solidFill>
              </a:rPr>
              <a:t>Probabilistic </a:t>
            </a:r>
          </a:p>
          <a:p>
            <a:pPr marL="749808" lvl="1" indent="-457200"/>
            <a:endParaRPr lang="en-US" dirty="0">
              <a:solidFill>
                <a:schemeClr val="tx1"/>
              </a:solidFill>
            </a:endParaRPr>
          </a:p>
        </p:txBody>
      </p:sp>
      <p:sp>
        <p:nvSpPr>
          <p:cNvPr id="4" name="Slide Number Placeholder 3"/>
          <p:cNvSpPr>
            <a:spLocks noGrp="1"/>
          </p:cNvSpPr>
          <p:nvPr>
            <p:ph type="sldNum" sz="quarter" idx="12"/>
          </p:nvPr>
        </p:nvSpPr>
        <p:spPr/>
        <p:txBody>
          <a:bodyPr/>
          <a:lstStyle/>
          <a:p>
            <a:fld id="{E5CE4F79-B2B3-4E4E-AB5D-F771515B9CEF}" type="slidenum">
              <a:rPr lang="en-US" smtClean="0"/>
              <a:t>65</a:t>
            </a:fld>
            <a:endParaRPr lang="en-US" dirty="0"/>
          </a:p>
        </p:txBody>
      </p:sp>
    </p:spTree>
    <p:extLst>
      <p:ext uri="{BB962C8B-B14F-4D97-AF65-F5344CB8AC3E}">
        <p14:creationId xmlns:p14="http://schemas.microsoft.com/office/powerpoint/2010/main" val="197690881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000" dirty="0">
                <a:solidFill>
                  <a:schemeClr val="tx1"/>
                </a:solidFill>
              </a:rPr>
              <a:t>P</a:t>
            </a:r>
            <a:r>
              <a:rPr lang="en-US" sz="4000" dirty="0" smtClean="0">
                <a:solidFill>
                  <a:schemeClr val="tx1"/>
                </a:solidFill>
              </a:rPr>
              <a:t>arametric estimating</a:t>
            </a:r>
            <a:endParaRPr lang="en-US" sz="4000" dirty="0">
              <a:solidFill>
                <a:schemeClr val="tx1"/>
              </a:solidFill>
            </a:endParaRPr>
          </a:p>
        </p:txBody>
      </p:sp>
      <p:sp>
        <p:nvSpPr>
          <p:cNvPr id="4" name="Slide Number Placeholder 3"/>
          <p:cNvSpPr>
            <a:spLocks noGrp="1"/>
          </p:cNvSpPr>
          <p:nvPr>
            <p:ph type="sldNum" sz="quarter" idx="12"/>
          </p:nvPr>
        </p:nvSpPr>
        <p:spPr/>
        <p:txBody>
          <a:bodyPr/>
          <a:lstStyle/>
          <a:p>
            <a:fld id="{E5CE4F79-B2B3-4E4E-AB5D-F771515B9CEF}" type="slidenum">
              <a:rPr lang="en-US" smtClean="0"/>
              <a:t>66</a:t>
            </a:fld>
            <a:endParaRPr lang="en-US" dirty="0"/>
          </a:p>
        </p:txBody>
      </p:sp>
      <p:pic>
        <p:nvPicPr>
          <p:cNvPr id="3074" name="Picture 2" descr="https://project-management.info/wp-content/uploads/2020/02/Probabilistic_Parametric_Estimat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0999" y="1090973"/>
            <a:ext cx="8028363" cy="50694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62371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533400"/>
            <a:ext cx="8381999" cy="780195"/>
          </a:xfrm>
        </p:spPr>
        <p:txBody>
          <a:bodyPr>
            <a:normAutofit fontScale="90000"/>
          </a:bodyPr>
          <a:lstStyle/>
          <a:p>
            <a:r>
              <a:rPr lang="en-US" dirty="0" smtClean="0"/>
              <a:t>Task Top down vs bottom up –apply 5w1h/W5H</a:t>
            </a:r>
            <a:endParaRPr lang="en-US" dirty="0"/>
          </a:p>
        </p:txBody>
      </p:sp>
      <p:sp>
        <p:nvSpPr>
          <p:cNvPr id="3" name="Content Placeholder 2"/>
          <p:cNvSpPr>
            <a:spLocks noGrp="1"/>
          </p:cNvSpPr>
          <p:nvPr>
            <p:ph type="body" sz="quarter" idx="13"/>
          </p:nvPr>
        </p:nvSpPr>
        <p:spPr/>
        <p:txBody>
          <a:bodyPr>
            <a:normAutofit/>
          </a:bodyPr>
          <a:lstStyle/>
          <a:p>
            <a:r>
              <a:rPr lang="en-US" b="1" dirty="0" smtClean="0"/>
              <a:t>5W1H/W5H</a:t>
            </a:r>
          </a:p>
          <a:p>
            <a:pPr lvl="1"/>
            <a:r>
              <a:rPr lang="en-US" dirty="0" smtClean="0"/>
              <a:t>Why?</a:t>
            </a:r>
            <a:endParaRPr lang="en-US" dirty="0"/>
          </a:p>
          <a:p>
            <a:pPr lvl="1"/>
            <a:r>
              <a:rPr lang="en-US" dirty="0" smtClean="0"/>
              <a:t>What?</a:t>
            </a:r>
          </a:p>
          <a:p>
            <a:pPr lvl="1"/>
            <a:r>
              <a:rPr lang="en-US" dirty="0" smtClean="0"/>
              <a:t>When?</a:t>
            </a:r>
          </a:p>
          <a:p>
            <a:pPr lvl="1"/>
            <a:r>
              <a:rPr lang="en-US" dirty="0" smtClean="0"/>
              <a:t>Who?</a:t>
            </a:r>
          </a:p>
          <a:p>
            <a:pPr lvl="1"/>
            <a:r>
              <a:rPr lang="en-US" dirty="0" smtClean="0"/>
              <a:t>Where?</a:t>
            </a:r>
          </a:p>
          <a:p>
            <a:pPr lvl="1"/>
            <a:r>
              <a:rPr lang="en-US" dirty="0" smtClean="0"/>
              <a:t>How?</a:t>
            </a:r>
          </a:p>
          <a:p>
            <a:r>
              <a:rPr lang="en-US" i="1" dirty="0" smtClean="0">
                <a:solidFill>
                  <a:srgbClr val="00B050"/>
                </a:solidFill>
              </a:rPr>
              <a:t>Note </a:t>
            </a:r>
            <a:r>
              <a:rPr lang="en-US" i="1" dirty="0" smtClean="0">
                <a:solidFill>
                  <a:srgbClr val="00B050"/>
                </a:solidFill>
                <a:sym typeface="Wingdings" pitchFamily="2" charset="2"/>
              </a:rPr>
              <a:t></a:t>
            </a:r>
            <a:r>
              <a:rPr lang="en-US" i="1" dirty="0" smtClean="0">
                <a:solidFill>
                  <a:srgbClr val="00B050"/>
                </a:solidFill>
              </a:rPr>
              <a:t>the </a:t>
            </a:r>
            <a:r>
              <a:rPr lang="en-US" i="1" dirty="0">
                <a:solidFill>
                  <a:srgbClr val="00B050"/>
                </a:solidFill>
              </a:rPr>
              <a:t>‘Parkinson’ method is not really an effort prediction method, but a </a:t>
            </a:r>
            <a:r>
              <a:rPr lang="en-US" i="1" dirty="0" smtClean="0">
                <a:solidFill>
                  <a:srgbClr val="00B050"/>
                </a:solidFill>
              </a:rPr>
              <a:t>method of </a:t>
            </a:r>
            <a:r>
              <a:rPr lang="en-US" i="1" dirty="0">
                <a:solidFill>
                  <a:srgbClr val="00B050"/>
                </a:solidFill>
              </a:rPr>
              <a:t>setting the scope of a project</a:t>
            </a:r>
            <a:r>
              <a:rPr lang="en-US" i="1" dirty="0" smtClean="0">
                <a:solidFill>
                  <a:srgbClr val="00B050"/>
                </a:solidFill>
              </a:rPr>
              <a:t>.</a:t>
            </a:r>
          </a:p>
          <a:p>
            <a:r>
              <a:rPr lang="en-US" i="1" dirty="0" smtClean="0">
                <a:solidFill>
                  <a:srgbClr val="00B050"/>
                </a:solidFill>
              </a:rPr>
              <a:t> </a:t>
            </a:r>
            <a:r>
              <a:rPr lang="en-US" i="1" dirty="0">
                <a:solidFill>
                  <a:srgbClr val="00B050"/>
                </a:solidFill>
              </a:rPr>
              <a:t>Similarly, ‘price to win’ is a way of identifying a </a:t>
            </a:r>
            <a:r>
              <a:rPr lang="en-US" i="1" dirty="0" smtClean="0">
                <a:solidFill>
                  <a:srgbClr val="00B050"/>
                </a:solidFill>
              </a:rPr>
              <a:t>price and </a:t>
            </a:r>
            <a:r>
              <a:rPr lang="en-US" i="1" dirty="0">
                <a:solidFill>
                  <a:srgbClr val="00B050"/>
                </a:solidFill>
              </a:rPr>
              <a:t>not a prediction.</a:t>
            </a:r>
          </a:p>
        </p:txBody>
      </p:sp>
      <p:sp>
        <p:nvSpPr>
          <p:cNvPr id="4" name="Slide Number Placeholder 3"/>
          <p:cNvSpPr>
            <a:spLocks noGrp="1"/>
          </p:cNvSpPr>
          <p:nvPr>
            <p:ph type="sldNum" sz="quarter" idx="12"/>
          </p:nvPr>
        </p:nvSpPr>
        <p:spPr/>
        <p:txBody>
          <a:bodyPr/>
          <a:lstStyle/>
          <a:p>
            <a:fld id="{E5CE4F79-B2B3-4E4E-AB5D-F771515B9CEF}" type="slidenum">
              <a:rPr lang="en-US" smtClean="0"/>
              <a:t>67</a:t>
            </a:fld>
            <a:endParaRPr lang="en-US" dirty="0"/>
          </a:p>
        </p:txBody>
      </p:sp>
    </p:spTree>
    <p:extLst>
      <p:ext uri="{BB962C8B-B14F-4D97-AF65-F5344CB8AC3E}">
        <p14:creationId xmlns:p14="http://schemas.microsoft.com/office/powerpoint/2010/main" val="268097677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Bottom Up Estimate</a:t>
            </a:r>
            <a:endParaRPr lang="en-US" dirty="0"/>
          </a:p>
        </p:txBody>
      </p:sp>
      <p:sp>
        <p:nvSpPr>
          <p:cNvPr id="3" name="Content Placeholder 2"/>
          <p:cNvSpPr>
            <a:spLocks noGrp="1"/>
          </p:cNvSpPr>
          <p:nvPr>
            <p:ph type="body" sz="quarter" idx="13"/>
          </p:nvPr>
        </p:nvSpPr>
        <p:spPr/>
        <p:txBody>
          <a:bodyPr>
            <a:normAutofit/>
          </a:bodyPr>
          <a:lstStyle/>
          <a:p>
            <a:r>
              <a:rPr lang="en-US" b="1" dirty="0" smtClean="0"/>
              <a:t>“Start </a:t>
            </a:r>
            <a:r>
              <a:rPr lang="en-US" b="1" dirty="0"/>
              <a:t>at the component level and estimate </a:t>
            </a:r>
            <a:r>
              <a:rPr lang="en-US" b="1" dirty="0" smtClean="0"/>
              <a:t>the</a:t>
            </a:r>
            <a:r>
              <a:rPr lang="en-US" b="1" dirty="0"/>
              <a:t> </a:t>
            </a:r>
            <a:r>
              <a:rPr lang="en-US" b="1" dirty="0" smtClean="0"/>
              <a:t>effort </a:t>
            </a:r>
            <a:r>
              <a:rPr lang="en-US" b="1" dirty="0"/>
              <a:t>required for each component. Add </a:t>
            </a:r>
            <a:r>
              <a:rPr lang="en-US" b="1" dirty="0" smtClean="0"/>
              <a:t>these efforts </a:t>
            </a:r>
            <a:r>
              <a:rPr lang="en-US" b="1" dirty="0"/>
              <a:t>to reach a final estimate</a:t>
            </a:r>
            <a:r>
              <a:rPr lang="en-US" b="1" dirty="0" smtClean="0"/>
              <a:t>.”</a:t>
            </a:r>
          </a:p>
          <a:p>
            <a:r>
              <a:rPr lang="en-US" dirty="0" smtClean="0"/>
              <a:t>In it the </a:t>
            </a:r>
            <a:r>
              <a:rPr lang="en-US" dirty="0"/>
              <a:t>estimator breaks the project into its component tasks. </a:t>
            </a:r>
            <a:endParaRPr lang="en-US" dirty="0" smtClean="0"/>
          </a:p>
          <a:p>
            <a:r>
              <a:rPr lang="en-US" dirty="0" smtClean="0"/>
              <a:t>With </a:t>
            </a:r>
            <a:r>
              <a:rPr lang="en-US" dirty="0"/>
              <a:t>a large </a:t>
            </a:r>
            <a:r>
              <a:rPr lang="en-US" dirty="0" smtClean="0"/>
              <a:t>project, the </a:t>
            </a:r>
            <a:r>
              <a:rPr lang="en-US" dirty="0"/>
              <a:t>process of breaking it down into tasks is iterative: each task is decomposed into its component </a:t>
            </a:r>
            <a:r>
              <a:rPr lang="en-US" dirty="0" smtClean="0"/>
              <a:t>subtasks and </a:t>
            </a:r>
            <a:r>
              <a:rPr lang="en-US" dirty="0"/>
              <a:t>these in turn could be further </a:t>
            </a:r>
            <a:r>
              <a:rPr lang="en-US" dirty="0" smtClean="0"/>
              <a:t>analyzed</a:t>
            </a:r>
            <a:r>
              <a:rPr lang="en-US" dirty="0"/>
              <a:t>. </a:t>
            </a:r>
            <a:endParaRPr lang="en-US" dirty="0" smtClean="0"/>
          </a:p>
          <a:p>
            <a:r>
              <a:rPr lang="en-US" dirty="0" smtClean="0"/>
              <a:t>Process </a:t>
            </a:r>
            <a:r>
              <a:rPr lang="en-US" dirty="0"/>
              <a:t>of breaking it down into tasks</a:t>
            </a:r>
            <a:r>
              <a:rPr lang="en-US" dirty="0" smtClean="0"/>
              <a:t> </a:t>
            </a:r>
            <a:r>
              <a:rPr lang="en-US" dirty="0"/>
              <a:t>is suggested </a:t>
            </a:r>
            <a:r>
              <a:rPr lang="en-US" dirty="0" smtClean="0"/>
              <a:t>to be  </a:t>
            </a:r>
            <a:r>
              <a:rPr lang="en-US" dirty="0"/>
              <a:t>repeated until you get tasks an </a:t>
            </a:r>
            <a:r>
              <a:rPr lang="en-US" dirty="0" smtClean="0"/>
              <a:t>individual could </a:t>
            </a:r>
            <a:r>
              <a:rPr lang="en-US" dirty="0"/>
              <a:t>do in a week or two. </a:t>
            </a:r>
            <a:endParaRPr lang="en-US" dirty="0" smtClean="0"/>
          </a:p>
          <a:p>
            <a:r>
              <a:rPr lang="en-US" dirty="0" smtClean="0"/>
              <a:t>The </a:t>
            </a:r>
            <a:r>
              <a:rPr lang="en-US" dirty="0"/>
              <a:t>bottom-up part comes in </a:t>
            </a:r>
            <a:r>
              <a:rPr lang="en-US" dirty="0" smtClean="0"/>
              <a:t>adding up </a:t>
            </a:r>
            <a:r>
              <a:rPr lang="en-US" dirty="0"/>
              <a:t>the calculated effort for each activity to get an overall estimate.</a:t>
            </a:r>
          </a:p>
        </p:txBody>
      </p:sp>
      <p:sp>
        <p:nvSpPr>
          <p:cNvPr id="4" name="Slide Number Placeholder 3"/>
          <p:cNvSpPr>
            <a:spLocks noGrp="1"/>
          </p:cNvSpPr>
          <p:nvPr>
            <p:ph type="sldNum" sz="quarter" idx="12"/>
          </p:nvPr>
        </p:nvSpPr>
        <p:spPr/>
        <p:txBody>
          <a:bodyPr/>
          <a:lstStyle/>
          <a:p>
            <a:fld id="{E5CE4F79-B2B3-4E4E-AB5D-F771515B9CEF}" type="slidenum">
              <a:rPr lang="en-US" smtClean="0"/>
              <a:t>68</a:t>
            </a:fld>
            <a:endParaRPr lang="en-US" dirty="0"/>
          </a:p>
        </p:txBody>
      </p:sp>
    </p:spTree>
    <p:extLst>
      <p:ext uri="{BB962C8B-B14F-4D97-AF65-F5344CB8AC3E}">
        <p14:creationId xmlns:p14="http://schemas.microsoft.com/office/powerpoint/2010/main" val="242379159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When to use Bottom up</a:t>
            </a:r>
            <a:endParaRPr lang="en-US" dirty="0"/>
          </a:p>
        </p:txBody>
      </p:sp>
      <p:sp>
        <p:nvSpPr>
          <p:cNvPr id="3" name="Content Placeholder 2"/>
          <p:cNvSpPr>
            <a:spLocks noGrp="1"/>
          </p:cNvSpPr>
          <p:nvPr>
            <p:ph type="body" sz="quarter" idx="13"/>
          </p:nvPr>
        </p:nvSpPr>
        <p:spPr/>
        <p:txBody>
          <a:bodyPr>
            <a:normAutofit/>
          </a:bodyPr>
          <a:lstStyle/>
          <a:p>
            <a:r>
              <a:rPr lang="en-US" b="1" dirty="0">
                <a:solidFill>
                  <a:srgbClr val="00B050"/>
                </a:solidFill>
              </a:rPr>
              <a:t>the bottom-up approach starts the cost calculation process with the identification and evaluation of separate project components</a:t>
            </a:r>
            <a:r>
              <a:rPr lang="en-US" b="1" dirty="0" smtClean="0">
                <a:solidFill>
                  <a:srgbClr val="00B050"/>
                </a:solidFill>
              </a:rPr>
              <a:t>. SO, </a:t>
            </a:r>
            <a:r>
              <a:rPr lang="en-US" dirty="0" smtClean="0"/>
              <a:t> </a:t>
            </a:r>
            <a:r>
              <a:rPr lang="en-US" dirty="0"/>
              <a:t>The expenditures for every individual project task or a series of tasks are then summed up to arrive at the total project cost.</a:t>
            </a:r>
            <a:endParaRPr lang="en-US" dirty="0" smtClean="0">
              <a:solidFill>
                <a:srgbClr val="FF0000"/>
              </a:solidFill>
            </a:endParaRPr>
          </a:p>
          <a:p>
            <a:r>
              <a:rPr lang="en-US" dirty="0" smtClean="0">
                <a:solidFill>
                  <a:srgbClr val="FF0000"/>
                </a:solidFill>
              </a:rPr>
              <a:t>best </a:t>
            </a:r>
            <a:r>
              <a:rPr lang="en-US" dirty="0">
                <a:solidFill>
                  <a:srgbClr val="FF0000"/>
                </a:solidFill>
              </a:rPr>
              <a:t>at the later, more detailed, stages of project planning</a:t>
            </a:r>
            <a:r>
              <a:rPr lang="en-US" dirty="0"/>
              <a:t>. </a:t>
            </a:r>
            <a:endParaRPr lang="en-US" dirty="0" smtClean="0"/>
          </a:p>
          <a:p>
            <a:r>
              <a:rPr lang="en-US" dirty="0" smtClean="0"/>
              <a:t>If </a:t>
            </a:r>
            <a:r>
              <a:rPr lang="en-US" dirty="0"/>
              <a:t>this method is </a:t>
            </a:r>
            <a:r>
              <a:rPr lang="en-US" dirty="0" smtClean="0"/>
              <a:t>used earlier</a:t>
            </a:r>
            <a:r>
              <a:rPr lang="en-US" dirty="0"/>
              <a:t>, assumptions about the characteristics of the </a:t>
            </a:r>
            <a:r>
              <a:rPr lang="en-US" dirty="0" smtClean="0"/>
              <a:t>final </a:t>
            </a:r>
            <a:r>
              <a:rPr lang="en-US" dirty="0"/>
              <a:t>system and project work methods will have to </a:t>
            </a:r>
            <a:r>
              <a:rPr lang="en-US" dirty="0" smtClean="0"/>
              <a:t>be made</a:t>
            </a:r>
            <a:r>
              <a:rPr lang="en-US" dirty="0"/>
              <a:t>.</a:t>
            </a:r>
          </a:p>
          <a:p>
            <a:r>
              <a:rPr lang="en-US" dirty="0" smtClean="0">
                <a:solidFill>
                  <a:srgbClr val="FF0000"/>
                </a:solidFill>
              </a:rPr>
              <a:t>Due to above reasons  </a:t>
            </a:r>
            <a:r>
              <a:rPr lang="en-US" dirty="0">
                <a:solidFill>
                  <a:srgbClr val="FF0000"/>
                </a:solidFill>
              </a:rPr>
              <a:t>Bottom </a:t>
            </a:r>
            <a:r>
              <a:rPr lang="en-US" dirty="0" smtClean="0">
                <a:solidFill>
                  <a:srgbClr val="FF0000"/>
                </a:solidFill>
              </a:rPr>
              <a:t>up is used where </a:t>
            </a:r>
            <a:r>
              <a:rPr lang="en-US" dirty="0">
                <a:solidFill>
                  <a:srgbClr val="FF0000"/>
                </a:solidFill>
              </a:rPr>
              <a:t>a project is completely novel or there is no historical data available, </a:t>
            </a:r>
            <a:r>
              <a:rPr lang="en-US" b="1" dirty="0"/>
              <a:t>the estimator would be forced </a:t>
            </a:r>
            <a:r>
              <a:rPr lang="en-US" b="1" dirty="0" smtClean="0"/>
              <a:t>to use </a:t>
            </a:r>
            <a:r>
              <a:rPr lang="en-US" b="1" dirty="0"/>
              <a:t>the bottom-up approach.</a:t>
            </a:r>
          </a:p>
        </p:txBody>
      </p:sp>
      <p:sp>
        <p:nvSpPr>
          <p:cNvPr id="4" name="Slide Number Placeholder 3"/>
          <p:cNvSpPr>
            <a:spLocks noGrp="1"/>
          </p:cNvSpPr>
          <p:nvPr>
            <p:ph type="sldNum" sz="quarter" idx="12"/>
          </p:nvPr>
        </p:nvSpPr>
        <p:spPr/>
        <p:txBody>
          <a:bodyPr/>
          <a:lstStyle/>
          <a:p>
            <a:fld id="{E5CE4F79-B2B3-4E4E-AB5D-F771515B9CEF}" type="slidenum">
              <a:rPr lang="en-US" smtClean="0"/>
              <a:t>69</a:t>
            </a:fld>
            <a:endParaRPr lang="en-US" dirty="0"/>
          </a:p>
        </p:txBody>
      </p:sp>
    </p:spTree>
    <p:extLst>
      <p:ext uri="{BB962C8B-B14F-4D97-AF65-F5344CB8AC3E}">
        <p14:creationId xmlns:p14="http://schemas.microsoft.com/office/powerpoint/2010/main" val="1712854093"/>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 </a:t>
            </a:r>
            <a:r>
              <a:rPr lang="en-US" dirty="0" err="1" smtClean="0"/>
              <a:t>vs</a:t>
            </a:r>
            <a:r>
              <a:rPr lang="en-US" dirty="0" smtClean="0"/>
              <a:t> </a:t>
            </a:r>
            <a:r>
              <a:rPr lang="en-US" dirty="0" err="1" smtClean="0"/>
              <a:t>disadv</a:t>
            </a:r>
            <a:endParaRPr lang="en-US" dirty="0"/>
          </a:p>
        </p:txBody>
      </p:sp>
      <p:sp>
        <p:nvSpPr>
          <p:cNvPr id="3" name="Content Placeholder 2"/>
          <p:cNvSpPr>
            <a:spLocks noGrp="1"/>
          </p:cNvSpPr>
          <p:nvPr>
            <p:ph type="body" sz="quarter" idx="13"/>
          </p:nvPr>
        </p:nvSpPr>
        <p:spPr/>
        <p:txBody>
          <a:bodyPr/>
          <a:lstStyle/>
          <a:p>
            <a:r>
              <a:rPr lang="en-US" b="1" dirty="0"/>
              <a:t>Pro:</a:t>
            </a:r>
            <a:r>
              <a:rPr lang="en-US" dirty="0"/>
              <a:t> The bottom-up estimation technique can be very accurate in case a thorough and complete work breakdown </a:t>
            </a:r>
            <a:r>
              <a:rPr lang="en-US" dirty="0" smtClean="0"/>
              <a:t>structure is </a:t>
            </a:r>
            <a:r>
              <a:rPr lang="en-US" dirty="0"/>
              <a:t>applied.</a:t>
            </a:r>
          </a:p>
          <a:p>
            <a:r>
              <a:rPr lang="en-US" b="1" dirty="0"/>
              <a:t>Con:</a:t>
            </a:r>
            <a:r>
              <a:rPr lang="en-US" dirty="0"/>
              <a:t> The development of a work breakdown structure is usually time-consuming and requires much effort, especially if the project under consideration is a complex one.</a:t>
            </a:r>
          </a:p>
          <a:p>
            <a:endParaRPr lang="en-US" dirty="0"/>
          </a:p>
        </p:txBody>
      </p:sp>
      <p:sp>
        <p:nvSpPr>
          <p:cNvPr id="4" name="Slide Number Placeholder 3"/>
          <p:cNvSpPr>
            <a:spLocks noGrp="1"/>
          </p:cNvSpPr>
          <p:nvPr>
            <p:ph type="sldNum" sz="quarter" idx="12"/>
          </p:nvPr>
        </p:nvSpPr>
        <p:spPr/>
        <p:txBody>
          <a:bodyPr/>
          <a:lstStyle/>
          <a:p>
            <a:fld id="{E5CE4F79-B2B3-4E4E-AB5D-F771515B9CEF}" type="slidenum">
              <a:rPr lang="en-US" smtClean="0"/>
              <a:t>70</a:t>
            </a:fld>
            <a:endParaRPr lang="en-US" dirty="0"/>
          </a:p>
        </p:txBody>
      </p:sp>
    </p:spTree>
    <p:extLst>
      <p:ext uri="{BB962C8B-B14F-4D97-AF65-F5344CB8AC3E}">
        <p14:creationId xmlns:p14="http://schemas.microsoft.com/office/powerpoint/2010/main" val="1822530397"/>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Bottom Up approach Example</a:t>
            </a:r>
            <a:endParaRPr lang="en-US" dirty="0"/>
          </a:p>
        </p:txBody>
      </p:sp>
      <p:sp>
        <p:nvSpPr>
          <p:cNvPr id="3" name="Content Placeholder 2"/>
          <p:cNvSpPr>
            <a:spLocks noGrp="1"/>
          </p:cNvSpPr>
          <p:nvPr>
            <p:ph type="body" sz="quarter" idx="13"/>
          </p:nvPr>
        </p:nvSpPr>
        <p:spPr/>
        <p:txBody>
          <a:bodyPr/>
          <a:lstStyle/>
          <a:p>
            <a:r>
              <a:rPr lang="en-US" dirty="0" smtClean="0"/>
              <a:t>A WBS Of an IT project</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066800"/>
            <a:ext cx="9144000" cy="48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E5CE4F79-B2B3-4E4E-AB5D-F771515B9CEF}" type="slidenum">
              <a:rPr lang="en-US" smtClean="0"/>
              <a:t>71</a:t>
            </a:fld>
            <a:endParaRPr lang="en-US" dirty="0"/>
          </a:p>
        </p:txBody>
      </p:sp>
    </p:spTree>
    <p:extLst>
      <p:ext uri="{BB962C8B-B14F-4D97-AF65-F5344CB8AC3E}">
        <p14:creationId xmlns:p14="http://schemas.microsoft.com/office/powerpoint/2010/main" val="341788958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Bottom up example (contd.)</a:t>
            </a:r>
            <a:endParaRPr lang="en-US" dirty="0"/>
          </a:p>
        </p:txBody>
      </p:sp>
      <p:sp>
        <p:nvSpPr>
          <p:cNvPr id="3" name="Content Placeholder 2"/>
          <p:cNvSpPr>
            <a:spLocks noGrp="1"/>
          </p:cNvSpPr>
          <p:nvPr>
            <p:ph type="body" sz="quarter" idx="13"/>
          </p:nvPr>
        </p:nvSpPr>
        <p:spPr/>
        <p:txBody>
          <a:bodyPr/>
          <a:lstStyle/>
          <a:p>
            <a:r>
              <a:rPr lang="en-US" dirty="0" smtClean="0"/>
              <a:t>Once the WBS is defined and activities are specified , </a:t>
            </a:r>
            <a:r>
              <a:rPr lang="en-US" b="1" dirty="0" smtClean="0"/>
              <a:t>the </a:t>
            </a:r>
            <a:r>
              <a:rPr lang="en-US" b="1" dirty="0"/>
              <a:t>work package owners are asked to </a:t>
            </a:r>
            <a:r>
              <a:rPr lang="en-US" b="1" dirty="0" smtClean="0"/>
              <a:t>estimate</a:t>
            </a:r>
          </a:p>
          <a:p>
            <a:r>
              <a:rPr lang="en-US" dirty="0" smtClean="0"/>
              <a:t>1.  </a:t>
            </a:r>
            <a:r>
              <a:rPr lang="en-US" b="1" dirty="0"/>
              <a:t>the resource needs (headcount</a:t>
            </a:r>
            <a:r>
              <a:rPr lang="en-US" b="1" dirty="0" smtClean="0"/>
              <a:t>),</a:t>
            </a:r>
          </a:p>
          <a:p>
            <a:r>
              <a:rPr lang="en-US" b="1" dirty="0" smtClean="0"/>
              <a:t>2.  </a:t>
            </a:r>
            <a:r>
              <a:rPr lang="en-US" b="1" dirty="0"/>
              <a:t>the duration </a:t>
            </a:r>
            <a:endParaRPr lang="en-US" b="1" dirty="0" smtClean="0"/>
          </a:p>
          <a:p>
            <a:r>
              <a:rPr lang="en-US" b="1" dirty="0" smtClean="0"/>
              <a:t>3. and </a:t>
            </a:r>
            <a:r>
              <a:rPr lang="en-US" b="1" dirty="0"/>
              <a:t>the total costs for each activity under their work package</a:t>
            </a:r>
            <a:r>
              <a:rPr lang="en-US" b="1" dirty="0" smtClean="0"/>
              <a:t>.</a:t>
            </a:r>
          </a:p>
          <a:p>
            <a:pPr marL="0" indent="0">
              <a:buNone/>
            </a:pPr>
            <a:r>
              <a:rPr lang="en-US" dirty="0">
                <a:solidFill>
                  <a:srgbClr val="FF0000"/>
                </a:solidFill>
              </a:rPr>
              <a:t>The </a:t>
            </a:r>
            <a:r>
              <a:rPr lang="en-US" dirty="0" smtClean="0">
                <a:solidFill>
                  <a:srgbClr val="FF0000"/>
                </a:solidFill>
              </a:rPr>
              <a:t>next slide  </a:t>
            </a:r>
            <a:r>
              <a:rPr lang="en-US" dirty="0">
                <a:solidFill>
                  <a:srgbClr val="FF0000"/>
                </a:solidFill>
              </a:rPr>
              <a:t>figure shows the granular estimates for the activities, their aggregation to the work package level and the entire project.</a:t>
            </a:r>
          </a:p>
        </p:txBody>
      </p:sp>
      <p:sp>
        <p:nvSpPr>
          <p:cNvPr id="4" name="Slide Number Placeholder 3"/>
          <p:cNvSpPr>
            <a:spLocks noGrp="1"/>
          </p:cNvSpPr>
          <p:nvPr>
            <p:ph type="sldNum" sz="quarter" idx="12"/>
          </p:nvPr>
        </p:nvSpPr>
        <p:spPr/>
        <p:txBody>
          <a:bodyPr/>
          <a:lstStyle/>
          <a:p>
            <a:fld id="{E5CE4F79-B2B3-4E4E-AB5D-F771515B9CEF}" type="slidenum">
              <a:rPr lang="en-US" smtClean="0"/>
              <a:t>72</a:t>
            </a:fld>
            <a:endParaRPr lang="en-US" dirty="0"/>
          </a:p>
        </p:txBody>
      </p:sp>
    </p:spTree>
    <p:extLst>
      <p:ext uri="{BB962C8B-B14F-4D97-AF65-F5344CB8AC3E}">
        <p14:creationId xmlns:p14="http://schemas.microsoft.com/office/powerpoint/2010/main" val="67517647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219200"/>
            <a:ext cx="8102600" cy="51027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228600" y="381000"/>
            <a:ext cx="8229600" cy="707886"/>
          </a:xfrm>
          <a:prstGeom prst="rect">
            <a:avLst/>
          </a:prstGeom>
          <a:noFill/>
        </p:spPr>
        <p:txBody>
          <a:bodyPr wrap="square" rtlCol="0">
            <a:spAutoFit/>
          </a:bodyPr>
          <a:lstStyle/>
          <a:p>
            <a:r>
              <a:rPr lang="en-US" sz="2000" b="1" dirty="0" smtClean="0"/>
              <a:t>Fig </a:t>
            </a:r>
            <a:r>
              <a:rPr lang="en-US" sz="2000" b="1" dirty="0" smtClean="0">
                <a:sym typeface="Wingdings" pitchFamily="2" charset="2"/>
              </a:rPr>
              <a:t> </a:t>
            </a:r>
            <a:r>
              <a:rPr lang="en-US" sz="2000" b="1" dirty="0" smtClean="0"/>
              <a:t>granular </a:t>
            </a:r>
            <a:r>
              <a:rPr lang="en-US" sz="2000" b="1" dirty="0"/>
              <a:t>estimates for the activities, their aggregation to the work package level and the entire project</a:t>
            </a:r>
          </a:p>
        </p:txBody>
      </p:sp>
      <p:sp>
        <p:nvSpPr>
          <p:cNvPr id="2" name="Slide Number Placeholder 1"/>
          <p:cNvSpPr>
            <a:spLocks noGrp="1"/>
          </p:cNvSpPr>
          <p:nvPr>
            <p:ph type="sldNum" sz="quarter" idx="12"/>
          </p:nvPr>
        </p:nvSpPr>
        <p:spPr/>
        <p:txBody>
          <a:bodyPr/>
          <a:lstStyle/>
          <a:p>
            <a:fld id="{E5CE4F79-B2B3-4E4E-AB5D-F771515B9CEF}" type="slidenum">
              <a:rPr lang="en-US" smtClean="0"/>
              <a:t>73</a:t>
            </a:fld>
            <a:endParaRPr lang="en-US" dirty="0"/>
          </a:p>
        </p:txBody>
      </p:sp>
    </p:spTree>
    <p:extLst>
      <p:ext uri="{BB962C8B-B14F-4D97-AF65-F5344CB8AC3E}">
        <p14:creationId xmlns:p14="http://schemas.microsoft.com/office/powerpoint/2010/main" val="3371883387"/>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5CE4F79-B2B3-4E4E-AB5D-F771515B9CEF}" type="slidenum">
              <a:rPr lang="en-US" smtClean="0"/>
              <a:t>74</a:t>
            </a:fld>
            <a:endParaRPr lang="en-US" dirty="0"/>
          </a:p>
        </p:txBody>
      </p:sp>
      <p:sp>
        <p:nvSpPr>
          <p:cNvPr id="2" name="Title 1"/>
          <p:cNvSpPr>
            <a:spLocks noGrp="1"/>
          </p:cNvSpPr>
          <p:nvPr>
            <p:ph type="title"/>
          </p:nvPr>
        </p:nvSpPr>
        <p:spPr/>
        <p:txBody>
          <a:bodyPr/>
          <a:lstStyle/>
          <a:p>
            <a:r>
              <a:rPr lang="en-US" b="1" dirty="0" smtClean="0"/>
              <a:t>Problems with Estimating</a:t>
            </a:r>
            <a:endParaRPr lang="en-US" b="1" dirty="0"/>
          </a:p>
        </p:txBody>
      </p:sp>
      <p:sp>
        <p:nvSpPr>
          <p:cNvPr id="3" name="Content Placeholder 2"/>
          <p:cNvSpPr>
            <a:spLocks noGrp="1"/>
          </p:cNvSpPr>
          <p:nvPr>
            <p:ph type="body" sz="quarter" idx="13"/>
          </p:nvPr>
        </p:nvSpPr>
        <p:spPr>
          <a:xfrm>
            <a:off x="457201" y="1447800"/>
            <a:ext cx="8381999" cy="4800600"/>
          </a:xfrm>
        </p:spPr>
        <p:txBody>
          <a:bodyPr>
            <a:normAutofit fontScale="92500" lnSpcReduction="20000"/>
          </a:bodyPr>
          <a:lstStyle/>
          <a:p>
            <a:pPr marL="342900" indent="-342900"/>
            <a:r>
              <a:rPr lang="en-US" sz="2400" dirty="0"/>
              <a:t>Subjective nature of </a:t>
            </a:r>
            <a:r>
              <a:rPr lang="en-US" sz="2400" dirty="0" smtClean="0"/>
              <a:t>estimating and </a:t>
            </a:r>
            <a:r>
              <a:rPr lang="fi-FI" altLang="en-US" sz="2400" dirty="0" smtClean="0"/>
              <a:t>Problem </a:t>
            </a:r>
            <a:r>
              <a:rPr lang="fi-FI" altLang="en-US" sz="2400" dirty="0"/>
              <a:t>is not well </a:t>
            </a:r>
            <a:r>
              <a:rPr lang="fi-FI" altLang="en-US" sz="2400" dirty="0" smtClean="0"/>
              <a:t>understood</a:t>
            </a:r>
          </a:p>
          <a:p>
            <a:pPr marL="635508" lvl="1" indent="-342900"/>
            <a:r>
              <a:rPr lang="en-US" dirty="0"/>
              <a:t>people tend to underestimate the difficulty of small tasks and over-estimate that of large ones</a:t>
            </a:r>
            <a:endParaRPr lang="fi-FI" altLang="en-US" dirty="0"/>
          </a:p>
          <a:p>
            <a:pPr marL="342900" indent="-342900"/>
            <a:r>
              <a:rPr lang="fi-FI" altLang="en-US" sz="2400" dirty="0"/>
              <a:t>Little or no historical data</a:t>
            </a:r>
          </a:p>
          <a:p>
            <a:pPr marL="342900" indent="-342900"/>
            <a:r>
              <a:rPr lang="fi-FI" altLang="en-US" sz="2400" dirty="0"/>
              <a:t>No standards</a:t>
            </a:r>
          </a:p>
          <a:p>
            <a:pPr marL="342900" indent="-342900"/>
            <a:r>
              <a:rPr lang="fi-FI" altLang="en-US" sz="2400" dirty="0"/>
              <a:t>Management uses estimates as performance </a:t>
            </a:r>
            <a:r>
              <a:rPr lang="fi-FI" altLang="en-US" sz="2400" dirty="0" smtClean="0"/>
              <a:t>goals</a:t>
            </a:r>
          </a:p>
          <a:p>
            <a:pPr marL="342900" indent="-342900"/>
            <a:r>
              <a:rPr lang="en-US" sz="2400" dirty="0"/>
              <a:t>Political </a:t>
            </a:r>
            <a:r>
              <a:rPr lang="en-US" sz="2400" dirty="0" smtClean="0"/>
              <a:t>Implications</a:t>
            </a:r>
            <a:endParaRPr lang="fi-FI" altLang="en-US" sz="2400" dirty="0"/>
          </a:p>
          <a:p>
            <a:pPr marL="342900" indent="-342900"/>
            <a:r>
              <a:rPr lang="fi-FI" altLang="en-US" sz="2400" dirty="0"/>
              <a:t>Developers are optimistic</a:t>
            </a:r>
          </a:p>
          <a:p>
            <a:pPr marL="342900" indent="-342900"/>
            <a:r>
              <a:rPr lang="fi-FI" altLang="en-US" sz="2400" dirty="0"/>
              <a:t>Customer demands quick </a:t>
            </a:r>
            <a:r>
              <a:rPr lang="fi-FI" altLang="en-US" sz="2400" dirty="0" smtClean="0"/>
              <a:t>estimates etc.</a:t>
            </a:r>
          </a:p>
          <a:p>
            <a:pPr marL="342900" indent="-342900"/>
            <a:r>
              <a:rPr lang="fi-FI" altLang="en-US" sz="2400" dirty="0"/>
              <a:t>If incomplete or incorrect estimate:</a:t>
            </a:r>
          </a:p>
          <a:p>
            <a:pPr marL="742950" lvl="1" indent="-285750"/>
            <a:r>
              <a:rPr lang="fi-FI" altLang="en-US" dirty="0"/>
              <a:t>disappointing the customer</a:t>
            </a:r>
          </a:p>
          <a:p>
            <a:pPr marL="742950" lvl="1" indent="-285750"/>
            <a:r>
              <a:rPr lang="fi-FI" altLang="en-US" dirty="0"/>
              <a:t>possibly losing future business</a:t>
            </a:r>
          </a:p>
          <a:p>
            <a:pPr marL="742950" lvl="1" indent="-285750"/>
            <a:r>
              <a:rPr lang="fi-FI" altLang="en-US" dirty="0"/>
              <a:t>too optimistic fixed-price contract result in the contractor losing money and losing face</a:t>
            </a:r>
            <a:endParaRPr lang="en-US" altLang="en-US" dirty="0"/>
          </a:p>
          <a:p>
            <a:pPr marL="342900" indent="-342900"/>
            <a:endParaRPr lang="fi-FI" altLang="en-US" sz="2400" dirty="0"/>
          </a:p>
          <a:p>
            <a:endParaRPr lang="en-US" dirty="0"/>
          </a:p>
        </p:txBody>
      </p:sp>
    </p:spTree>
    <p:extLst>
      <p:ext uri="{BB962C8B-B14F-4D97-AF65-F5344CB8AC3E}">
        <p14:creationId xmlns:p14="http://schemas.microsoft.com/office/powerpoint/2010/main" val="41058405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3"/>
          <p:cNvSpPr>
            <a:spLocks noChangeArrowheads="1"/>
          </p:cNvSpPr>
          <p:nvPr/>
        </p:nvSpPr>
        <p:spPr bwMode="auto">
          <a:xfrm>
            <a:off x="1827213" y="1066800"/>
            <a:ext cx="6262687" cy="4648200"/>
          </a:xfrm>
          <a:prstGeom prst="rect">
            <a:avLst/>
          </a:prstGeom>
          <a:noFill/>
          <a:ln w="9525">
            <a:noFill/>
            <a:miter lim="800000"/>
            <a:headEnd/>
            <a:tailEnd/>
          </a:ln>
        </p:spPr>
        <p:txBody>
          <a:bodyPr wrap="none" anchor="ctr"/>
          <a:lstStyle/>
          <a:p>
            <a:endParaRPr lang="en-US">
              <a:latin typeface="Calibri" pitchFamily="34" charset="0"/>
            </a:endParaRPr>
          </a:p>
        </p:txBody>
      </p:sp>
      <p:sp>
        <p:nvSpPr>
          <p:cNvPr id="110595" name="Rectangle 4"/>
          <p:cNvSpPr>
            <a:spLocks noChangeArrowheads="1"/>
          </p:cNvSpPr>
          <p:nvPr/>
        </p:nvSpPr>
        <p:spPr bwMode="auto">
          <a:xfrm>
            <a:off x="304800" y="1471152"/>
            <a:ext cx="8763000" cy="3710448"/>
          </a:xfrm>
          <a:prstGeom prst="rect">
            <a:avLst/>
          </a:prstGeom>
          <a:noFill/>
          <a:ln w="9525">
            <a:noFill/>
            <a:miter lim="800000"/>
            <a:headEnd/>
            <a:tailEnd/>
          </a:ln>
        </p:spPr>
        <p:txBody>
          <a:bodyPr lIns="92075" tIns="46038" rIns="92075" bIns="46038"/>
          <a:lstStyle/>
          <a:p>
            <a:pPr marL="341313" indent="-341313" defTabSz="901700">
              <a:spcBef>
                <a:spcPct val="50000"/>
              </a:spcBef>
              <a:buSzPct val="85000"/>
              <a:buFont typeface="Arial" pitchFamily="34" charset="0"/>
              <a:buChar char="•"/>
            </a:pPr>
            <a:endParaRPr lang="en-US" sz="2800" dirty="0"/>
          </a:p>
        </p:txBody>
      </p:sp>
      <p:sp>
        <p:nvSpPr>
          <p:cNvPr id="101380" name="Slide Number Placeholder 6"/>
          <p:cNvSpPr>
            <a:spLocks noGrp="1"/>
          </p:cNvSpPr>
          <p:nvPr>
            <p:ph type="sldNum" sz="quarter" idx="12"/>
          </p:nvPr>
        </p:nvSpPr>
        <p:spPr/>
        <p:txBody>
          <a:bodyPr/>
          <a:lstStyle/>
          <a:p>
            <a:pPr>
              <a:defRPr/>
            </a:pPr>
            <a:fld id="{30F05C69-F6B4-4D59-9A33-B6C78F40F685}" type="slidenum">
              <a:rPr lang="en-US" smtClean="0"/>
              <a:pPr>
                <a:defRPr/>
              </a:pPr>
              <a:t>75</a:t>
            </a:fld>
            <a:endParaRPr lang="en-US"/>
          </a:p>
        </p:txBody>
      </p:sp>
      <p:sp>
        <p:nvSpPr>
          <p:cNvPr id="110596" name="Title 5"/>
          <p:cNvSpPr>
            <a:spLocks noGrp="1"/>
          </p:cNvSpPr>
          <p:nvPr>
            <p:ph type="title"/>
          </p:nvPr>
        </p:nvSpPr>
        <p:spPr/>
        <p:txBody>
          <a:bodyPr>
            <a:normAutofit/>
          </a:bodyPr>
          <a:lstStyle/>
          <a:p>
            <a:pPr eaLnBrk="1" hangingPunct="1"/>
            <a:r>
              <a:rPr lang="en-US" dirty="0" smtClean="0"/>
              <a:t>Summary on Estimation</a:t>
            </a:r>
            <a:endParaRPr lang="en-US" dirty="0"/>
          </a:p>
        </p:txBody>
      </p:sp>
      <p:sp>
        <p:nvSpPr>
          <p:cNvPr id="3" name="Text Placeholder 2"/>
          <p:cNvSpPr>
            <a:spLocks noGrp="1"/>
          </p:cNvSpPr>
          <p:nvPr>
            <p:ph type="body" sz="quarter" idx="13"/>
          </p:nvPr>
        </p:nvSpPr>
        <p:spPr>
          <a:xfrm>
            <a:off x="457201" y="1447800"/>
            <a:ext cx="8381999" cy="4724400"/>
          </a:xfrm>
        </p:spPr>
        <p:txBody>
          <a:bodyPr>
            <a:normAutofit/>
          </a:bodyPr>
          <a:lstStyle/>
          <a:p>
            <a:pPr marL="341313" indent="-341313" defTabSz="901700">
              <a:spcBef>
                <a:spcPct val="50000"/>
              </a:spcBef>
              <a:buSzPct val="85000"/>
            </a:pPr>
            <a:r>
              <a:rPr lang="en-MY" sz="2400" dirty="0"/>
              <a:t>Estimation contributes to making process improvements measurable</a:t>
            </a:r>
            <a:endParaRPr lang="en-US" sz="2400" dirty="0"/>
          </a:p>
          <a:p>
            <a:pPr marL="341313" indent="-341313" defTabSz="901700">
              <a:spcBef>
                <a:spcPct val="50000"/>
              </a:spcBef>
              <a:buSzPct val="85000"/>
            </a:pPr>
            <a:r>
              <a:rPr lang="en-US" sz="2400" dirty="0"/>
              <a:t>Estimate as much as possible</a:t>
            </a:r>
          </a:p>
          <a:p>
            <a:pPr marL="341313" indent="-341313" defTabSz="901700">
              <a:spcBef>
                <a:spcPct val="50000"/>
              </a:spcBef>
              <a:buSzPct val="85000"/>
            </a:pPr>
            <a:r>
              <a:rPr lang="en-US" sz="2400" dirty="0"/>
              <a:t>Estimation must be used cautiously</a:t>
            </a:r>
          </a:p>
          <a:p>
            <a:pPr marL="341313" indent="-341313" defTabSz="901700">
              <a:spcBef>
                <a:spcPct val="50000"/>
              </a:spcBef>
              <a:buSzPct val="85000"/>
            </a:pPr>
            <a:r>
              <a:rPr lang="en-US" sz="2400" dirty="0"/>
              <a:t>Implement several techniques</a:t>
            </a:r>
          </a:p>
          <a:p>
            <a:pPr marL="341313" indent="-341313" defTabSz="901700">
              <a:spcBef>
                <a:spcPct val="50000"/>
              </a:spcBef>
              <a:buSzPct val="85000"/>
            </a:pPr>
            <a:r>
              <a:rPr lang="en-US" sz="2400" dirty="0"/>
              <a:t>Most important: make use of historical </a:t>
            </a:r>
            <a:r>
              <a:rPr lang="en-US" sz="2400" dirty="0" smtClean="0"/>
              <a:t>data</a:t>
            </a:r>
          </a:p>
          <a:p>
            <a:pPr marL="341313" indent="-341313" defTabSz="901700">
              <a:spcBef>
                <a:spcPct val="50000"/>
              </a:spcBef>
              <a:buSzPct val="85000"/>
            </a:pPr>
            <a:r>
              <a:rPr lang="en-US" sz="2400" dirty="0" smtClean="0"/>
              <a:t>Use reliable assumptions</a:t>
            </a:r>
          </a:p>
          <a:p>
            <a:pPr marL="341313" indent="-341313" defTabSz="901700">
              <a:spcBef>
                <a:spcPct val="50000"/>
              </a:spcBef>
              <a:buSzPct val="85000"/>
            </a:pPr>
            <a:r>
              <a:rPr lang="en-US" sz="2400" dirty="0" smtClean="0"/>
              <a:t>Student Syndrome: Procrastination until the last minute</a:t>
            </a:r>
          </a:p>
          <a:p>
            <a:pPr marL="341313" indent="-341313" defTabSz="901700">
              <a:spcBef>
                <a:spcPct val="50000"/>
              </a:spcBef>
              <a:buSzPct val="85000"/>
            </a:pPr>
            <a:r>
              <a:rPr lang="en-US" sz="2400" dirty="0" smtClean="0"/>
              <a:t>Manage Expectation</a:t>
            </a:r>
            <a:endParaRPr lang="en-US" sz="2400" dirty="0"/>
          </a:p>
          <a:p>
            <a:endParaRPr lang="en-US" dirty="0"/>
          </a:p>
        </p:txBody>
      </p:sp>
    </p:spTree>
    <p:extLst>
      <p:ext uri="{BB962C8B-B14F-4D97-AF65-F5344CB8AC3E}">
        <p14:creationId xmlns:p14="http://schemas.microsoft.com/office/powerpoint/2010/main" val="2276826853"/>
      </p:ext>
    </p:extLst>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4F63AD-9546-475B-8FF7-F0C53C5C3E2F}" type="slidenum">
              <a:rPr lang="en-US" smtClean="0"/>
              <a:pPr>
                <a:defRPr/>
              </a:pPr>
              <a:t>76</a:t>
            </a:fld>
            <a:endParaRPr lang="en-US"/>
          </a:p>
        </p:txBody>
      </p:sp>
      <p:sp>
        <p:nvSpPr>
          <p:cNvPr id="2" name="Title 1"/>
          <p:cNvSpPr>
            <a:spLocks noGrp="1"/>
          </p:cNvSpPr>
          <p:nvPr>
            <p:ph type="title"/>
          </p:nvPr>
        </p:nvSpPr>
        <p:spPr/>
        <p:txBody>
          <a:bodyPr/>
          <a:lstStyle/>
          <a:p>
            <a:pPr eaLnBrk="1" hangingPunct="1">
              <a:defRPr/>
            </a:pPr>
            <a:r>
              <a:rPr lang="en-US" dirty="0"/>
              <a:t>Discussion #1</a:t>
            </a:r>
          </a:p>
        </p:txBody>
      </p:sp>
      <p:sp>
        <p:nvSpPr>
          <p:cNvPr id="106499" name="Content Placeholder 2"/>
          <p:cNvSpPr>
            <a:spLocks noGrp="1"/>
          </p:cNvSpPr>
          <p:nvPr>
            <p:ph type="body" sz="quarter" idx="13"/>
          </p:nvPr>
        </p:nvSpPr>
        <p:spPr/>
        <p:txBody>
          <a:bodyPr>
            <a:normAutofit/>
          </a:bodyPr>
          <a:lstStyle/>
          <a:p>
            <a:pPr marL="0" indent="0">
              <a:buNone/>
            </a:pPr>
            <a:r>
              <a:rPr lang="en-MY" sz="2400" b="1" dirty="0">
                <a:solidFill>
                  <a:srgbClr val="4D4D4D"/>
                </a:solidFill>
              </a:rPr>
              <a:t>About software estimate:</a:t>
            </a:r>
          </a:p>
          <a:p>
            <a:pPr lvl="1"/>
            <a:r>
              <a:rPr lang="en-MY" sz="2200" dirty="0">
                <a:solidFill>
                  <a:srgbClr val="4D4D4D"/>
                </a:solidFill>
              </a:rPr>
              <a:t>"It takes too much time."</a:t>
            </a:r>
          </a:p>
          <a:p>
            <a:pPr lvl="1"/>
            <a:r>
              <a:rPr lang="en-MY" sz="2200" dirty="0">
                <a:solidFill>
                  <a:srgbClr val="4D4D4D"/>
                </a:solidFill>
              </a:rPr>
              <a:t>"They're not useful."</a:t>
            </a:r>
          </a:p>
          <a:p>
            <a:pPr lvl="1"/>
            <a:r>
              <a:rPr lang="en-MY" sz="2200" dirty="0">
                <a:solidFill>
                  <a:srgbClr val="4D4D4D"/>
                </a:solidFill>
              </a:rPr>
              <a:t>"They'll be wrong</a:t>
            </a:r>
            <a:r>
              <a:rPr lang="en-MY" sz="2200" dirty="0" smtClean="0">
                <a:solidFill>
                  <a:srgbClr val="4D4D4D"/>
                </a:solidFill>
              </a:rPr>
              <a:t>.“</a:t>
            </a:r>
          </a:p>
          <a:p>
            <a:pPr lvl="1"/>
            <a:r>
              <a:rPr lang="en-MY" sz="2200" dirty="0" smtClean="0">
                <a:solidFill>
                  <a:srgbClr val="4D4D4D"/>
                </a:solidFill>
              </a:rPr>
              <a:t>“There are lot of assumptions.”</a:t>
            </a:r>
            <a:endParaRPr lang="en-MY" sz="2200" dirty="0">
              <a:solidFill>
                <a:srgbClr val="4D4D4D"/>
              </a:solidFill>
            </a:endParaRPr>
          </a:p>
          <a:p>
            <a:pPr marL="0" indent="0" eaLnBrk="1" hangingPunct="1">
              <a:buNone/>
            </a:pPr>
            <a:endParaRPr lang="en-US" sz="2400" dirty="0" smtClean="0"/>
          </a:p>
          <a:p>
            <a:pPr marL="0" indent="0" eaLnBrk="1" hangingPunct="1">
              <a:buNone/>
            </a:pPr>
            <a:r>
              <a:rPr lang="en-US" sz="3200" b="1" dirty="0" smtClean="0">
                <a:solidFill>
                  <a:srgbClr val="FF0000"/>
                </a:solidFill>
              </a:rPr>
              <a:t>So</a:t>
            </a:r>
            <a:r>
              <a:rPr lang="en-US" sz="3200" b="1" dirty="0">
                <a:solidFill>
                  <a:srgbClr val="FF0000"/>
                </a:solidFill>
              </a:rPr>
              <a:t>, why do we still need to do estimate?</a:t>
            </a:r>
          </a:p>
        </p:txBody>
      </p:sp>
    </p:spTree>
    <p:extLst>
      <p:ext uri="{BB962C8B-B14F-4D97-AF65-F5344CB8AC3E}">
        <p14:creationId xmlns:p14="http://schemas.microsoft.com/office/powerpoint/2010/main" val="40095704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54F63AD-9546-475B-8FF7-F0C53C5C3E2F}" type="slidenum">
              <a:rPr lang="en-US" smtClean="0"/>
              <a:pPr>
                <a:defRPr/>
              </a:pPr>
              <a:t>77</a:t>
            </a:fld>
            <a:endParaRPr lang="en-US"/>
          </a:p>
        </p:txBody>
      </p:sp>
      <p:sp>
        <p:nvSpPr>
          <p:cNvPr id="2" name="Title 1"/>
          <p:cNvSpPr>
            <a:spLocks noGrp="1"/>
          </p:cNvSpPr>
          <p:nvPr>
            <p:ph type="title"/>
          </p:nvPr>
        </p:nvSpPr>
        <p:spPr/>
        <p:txBody>
          <a:bodyPr/>
          <a:lstStyle/>
          <a:p>
            <a:pPr eaLnBrk="1" hangingPunct="1">
              <a:defRPr/>
            </a:pPr>
            <a:r>
              <a:rPr lang="en-US" dirty="0"/>
              <a:t>Discussion #2</a:t>
            </a:r>
          </a:p>
        </p:txBody>
      </p:sp>
      <p:sp>
        <p:nvSpPr>
          <p:cNvPr id="5" name="Content Placeholder 4"/>
          <p:cNvSpPr>
            <a:spLocks noGrp="1"/>
          </p:cNvSpPr>
          <p:nvPr>
            <p:ph type="body" sz="quarter" idx="13"/>
          </p:nvPr>
        </p:nvSpPr>
        <p:spPr/>
        <p:txBody>
          <a:bodyPr>
            <a:normAutofit/>
          </a:bodyPr>
          <a:lstStyle/>
          <a:p>
            <a:r>
              <a:rPr lang="en-MY" sz="2400" dirty="0"/>
              <a:t>If it takes 5 people 8 hours to build a wall, how many hours will it take for 10 people to build the same wall?</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6196" y="3247360"/>
            <a:ext cx="2857500" cy="2857500"/>
          </a:xfrm>
          <a:prstGeom prst="rect">
            <a:avLst/>
          </a:prstGeom>
        </p:spPr>
      </p:pic>
    </p:spTree>
    <p:extLst>
      <p:ext uri="{BB962C8B-B14F-4D97-AF65-F5344CB8AC3E}">
        <p14:creationId xmlns:p14="http://schemas.microsoft.com/office/powerpoint/2010/main" val="3716099075"/>
      </p:ext>
    </p:extLst>
  </p:cSld>
  <p:clrMapOvr>
    <a:masterClrMapping/>
  </p:clrMapOvr>
</p:sld>
</file>

<file path=ppt/theme/theme1.xml><?xml version="1.0" encoding="utf-8"?>
<a:theme xmlns:a="http://schemas.openxmlformats.org/drawingml/2006/main" name="Retrospect">
  <a:themeElements>
    <a:clrScheme name="Custom 2">
      <a:dk1>
        <a:srgbClr val="000000"/>
      </a:dk1>
      <a:lt1>
        <a:sysClr val="window" lastClr="FFFFFF"/>
      </a:lt1>
      <a:dk2>
        <a:srgbClr val="637052"/>
      </a:dk2>
      <a:lt2>
        <a:srgbClr val="CCDDEA"/>
      </a:lt2>
      <a:accent1>
        <a:srgbClr val="A9D5F3"/>
      </a:accent1>
      <a:accent2>
        <a:srgbClr val="84C3ED"/>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6760</TotalTime>
  <Words>6002</Words>
  <Application>Microsoft Office PowerPoint</Application>
  <PresentationFormat>On-screen Show (4:3)</PresentationFormat>
  <Paragraphs>658</Paragraphs>
  <Slides>77</Slides>
  <Notes>15</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77</vt:i4>
      </vt:variant>
    </vt:vector>
  </HeadingPairs>
  <TitlesOfParts>
    <vt:vector size="85" baseType="lpstr">
      <vt:lpstr>Arial</vt:lpstr>
      <vt:lpstr>Calibri</vt:lpstr>
      <vt:lpstr>Calibri Light</vt:lpstr>
      <vt:lpstr>Symbol</vt:lpstr>
      <vt:lpstr>Wingdings</vt:lpstr>
      <vt:lpstr>Wingdings 2</vt:lpstr>
      <vt:lpstr>Retrospect</vt:lpstr>
      <vt:lpstr>Bitmap Image</vt:lpstr>
      <vt:lpstr>Software Estimation Technique</vt:lpstr>
      <vt:lpstr>Outline</vt:lpstr>
      <vt:lpstr>Software Project Planning</vt:lpstr>
      <vt:lpstr>Project Planning</vt:lpstr>
      <vt:lpstr>Project Planning Task</vt:lpstr>
      <vt:lpstr>Project Planning Task (contd.)</vt:lpstr>
      <vt:lpstr>Estimation</vt:lpstr>
      <vt:lpstr>Estimation (contd.)</vt:lpstr>
      <vt:lpstr>Estimation (contd.)</vt:lpstr>
      <vt:lpstr>Software Estimates/ Software efforts estimate</vt:lpstr>
      <vt:lpstr>Software Estimates/ Software efforts estimate (contd.)</vt:lpstr>
      <vt:lpstr>Software Estimates/ Software efforts estimate (contd.)</vt:lpstr>
      <vt:lpstr>What to estimate?</vt:lpstr>
      <vt:lpstr>When to estimate?</vt:lpstr>
      <vt:lpstr>How to estimate?</vt:lpstr>
      <vt:lpstr>Costing and Pricing</vt:lpstr>
      <vt:lpstr>Software Pricing Factors</vt:lpstr>
      <vt:lpstr>Estimation Types</vt:lpstr>
      <vt:lpstr>Estimation Types (contd.)</vt:lpstr>
      <vt:lpstr>Data-intensive method</vt:lpstr>
      <vt:lpstr>Expert-based method</vt:lpstr>
      <vt:lpstr>Hybrid</vt:lpstr>
      <vt:lpstr>Planning Estimation</vt:lpstr>
      <vt:lpstr>Key factors in Software Estimation</vt:lpstr>
      <vt:lpstr>Software Cost Estimation</vt:lpstr>
      <vt:lpstr>Software Cost Estimation (contd.)</vt:lpstr>
      <vt:lpstr>SLOC –source lines of code</vt:lpstr>
      <vt:lpstr>SLOC –source lines of code (Contd.)</vt:lpstr>
      <vt:lpstr>Counting SLOC </vt:lpstr>
      <vt:lpstr>SLOC example</vt:lpstr>
      <vt:lpstr>SLOC Numerical</vt:lpstr>
      <vt:lpstr>PowerPoint Presentation</vt:lpstr>
      <vt:lpstr>Advantages of SLOC</vt:lpstr>
      <vt:lpstr>Disadvantages of Using SLOC Technique</vt:lpstr>
      <vt:lpstr>Function Points</vt:lpstr>
      <vt:lpstr>Function Point Process Steps</vt:lpstr>
      <vt:lpstr>Function Point Process Steps</vt:lpstr>
      <vt:lpstr>Function Point Example</vt:lpstr>
      <vt:lpstr>Advantages of Function Point Analysis</vt:lpstr>
      <vt:lpstr>Disadvantages of Function Point Analysis</vt:lpstr>
      <vt:lpstr>Software Cost Estimation </vt:lpstr>
      <vt:lpstr>Effort</vt:lpstr>
      <vt:lpstr>Software Effort Estimation</vt:lpstr>
      <vt:lpstr>Schedule</vt:lpstr>
      <vt:lpstr>Software Schedule Estimation</vt:lpstr>
      <vt:lpstr>Software Schedule Estimation</vt:lpstr>
      <vt:lpstr>Estimate is …</vt:lpstr>
      <vt:lpstr>Estimate is not …</vt:lpstr>
      <vt:lpstr>Problems with Over- and Under-Estimates</vt:lpstr>
      <vt:lpstr>Parkinson’s Law</vt:lpstr>
      <vt:lpstr>Figure : Parkinson's Law on the same amount of work</vt:lpstr>
      <vt:lpstr>Parkinson’s Law (contd.)</vt:lpstr>
      <vt:lpstr>Parkinson’s Law (contd.)</vt:lpstr>
      <vt:lpstr>Implication Of Parkinson’s law on PM</vt:lpstr>
      <vt:lpstr>Brook’s Law</vt:lpstr>
      <vt:lpstr>Brook’s Law (Contd.)</vt:lpstr>
      <vt:lpstr>Problem with underestimation</vt:lpstr>
      <vt:lpstr>Under estimation effect on project staff</vt:lpstr>
      <vt:lpstr>Basis for SW estimation On what basis  do you estimate efforts for a particular sw project??</vt:lpstr>
      <vt:lpstr>Basis for SW estimation 2. Parameters to be estimated</vt:lpstr>
      <vt:lpstr>Basis for SW estimation 3. Measure Of Work/Project Size</vt:lpstr>
      <vt:lpstr>Measure Of Work Project Size</vt:lpstr>
      <vt:lpstr>Software Effort Estimation Techniques</vt:lpstr>
      <vt:lpstr>Software Effort Estimation Techniques (Contd.)</vt:lpstr>
      <vt:lpstr>Software Effort Estimation Techniques (Contd.)</vt:lpstr>
      <vt:lpstr>Parametric estimating</vt:lpstr>
      <vt:lpstr>Task Top down vs bottom up –apply 5w1h/W5H</vt:lpstr>
      <vt:lpstr>Bottom Up Estimate</vt:lpstr>
      <vt:lpstr>When to use Bottom up</vt:lpstr>
      <vt:lpstr>ADV vs disadv</vt:lpstr>
      <vt:lpstr>Bottom Up approach Example</vt:lpstr>
      <vt:lpstr>Bottom up example (contd.)</vt:lpstr>
      <vt:lpstr>PowerPoint Presentation</vt:lpstr>
      <vt:lpstr>Problems with Estimating</vt:lpstr>
      <vt:lpstr>Summary on Estimation</vt:lpstr>
      <vt:lpstr>Discussion #1</vt:lpstr>
      <vt:lpstr>Discussion #2</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Microsoft account</cp:lastModifiedBy>
  <cp:revision>824</cp:revision>
  <dcterms:created xsi:type="dcterms:W3CDTF">2022-08-07T01:15:18Z</dcterms:created>
  <dcterms:modified xsi:type="dcterms:W3CDTF">2024-01-10T02:38:53Z</dcterms:modified>
</cp:coreProperties>
</file>