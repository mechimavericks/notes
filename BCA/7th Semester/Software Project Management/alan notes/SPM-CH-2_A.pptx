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90"/>
  </p:notesMasterIdLst>
  <p:sldIdLst>
    <p:sldId id="256" r:id="rId2"/>
    <p:sldId id="438" r:id="rId3"/>
    <p:sldId id="439" r:id="rId4"/>
    <p:sldId id="465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1" r:id="rId15"/>
    <p:sldId id="452" r:id="rId16"/>
    <p:sldId id="453" r:id="rId17"/>
    <p:sldId id="454" r:id="rId18"/>
    <p:sldId id="455" r:id="rId19"/>
    <p:sldId id="456" r:id="rId20"/>
    <p:sldId id="457" r:id="rId21"/>
    <p:sldId id="458" r:id="rId22"/>
    <p:sldId id="461" r:id="rId23"/>
    <p:sldId id="463" r:id="rId24"/>
    <p:sldId id="464" r:id="rId25"/>
    <p:sldId id="466" r:id="rId26"/>
    <p:sldId id="467" r:id="rId27"/>
    <p:sldId id="420" r:id="rId28"/>
    <p:sldId id="422" r:id="rId29"/>
    <p:sldId id="421" r:id="rId30"/>
    <p:sldId id="423" r:id="rId31"/>
    <p:sldId id="424" r:id="rId32"/>
    <p:sldId id="425" r:id="rId33"/>
    <p:sldId id="427" r:id="rId34"/>
    <p:sldId id="426" r:id="rId35"/>
    <p:sldId id="429" r:id="rId36"/>
    <p:sldId id="430" r:id="rId37"/>
    <p:sldId id="431" r:id="rId38"/>
    <p:sldId id="432" r:id="rId39"/>
    <p:sldId id="433" r:id="rId40"/>
    <p:sldId id="434" r:id="rId41"/>
    <p:sldId id="435" r:id="rId42"/>
    <p:sldId id="436" r:id="rId43"/>
    <p:sldId id="437" r:id="rId44"/>
    <p:sldId id="468" r:id="rId45"/>
    <p:sldId id="469" r:id="rId46"/>
    <p:sldId id="470" r:id="rId47"/>
    <p:sldId id="471" r:id="rId48"/>
    <p:sldId id="472" r:id="rId49"/>
    <p:sldId id="473" r:id="rId50"/>
    <p:sldId id="477" r:id="rId51"/>
    <p:sldId id="479" r:id="rId52"/>
    <p:sldId id="514" r:id="rId53"/>
    <p:sldId id="476" r:id="rId54"/>
    <p:sldId id="484" r:id="rId55"/>
    <p:sldId id="485" r:id="rId56"/>
    <p:sldId id="486" r:id="rId57"/>
    <p:sldId id="487" r:id="rId58"/>
    <p:sldId id="488" r:id="rId59"/>
    <p:sldId id="489" r:id="rId60"/>
    <p:sldId id="490" r:id="rId61"/>
    <p:sldId id="491" r:id="rId62"/>
    <p:sldId id="492" r:id="rId63"/>
    <p:sldId id="493" r:id="rId64"/>
    <p:sldId id="494" r:id="rId65"/>
    <p:sldId id="495" r:id="rId66"/>
    <p:sldId id="496" r:id="rId67"/>
    <p:sldId id="497" r:id="rId68"/>
    <p:sldId id="498" r:id="rId69"/>
    <p:sldId id="499" r:id="rId70"/>
    <p:sldId id="500" r:id="rId71"/>
    <p:sldId id="502" r:id="rId72"/>
    <p:sldId id="503" r:id="rId73"/>
    <p:sldId id="501" r:id="rId74"/>
    <p:sldId id="480" r:id="rId75"/>
    <p:sldId id="482" r:id="rId76"/>
    <p:sldId id="475" r:id="rId77"/>
    <p:sldId id="504" r:id="rId78"/>
    <p:sldId id="505" r:id="rId79"/>
    <p:sldId id="506" r:id="rId80"/>
    <p:sldId id="507" r:id="rId81"/>
    <p:sldId id="508" r:id="rId82"/>
    <p:sldId id="509" r:id="rId83"/>
    <p:sldId id="478" r:id="rId84"/>
    <p:sldId id="481" r:id="rId85"/>
    <p:sldId id="510" r:id="rId86"/>
    <p:sldId id="511" r:id="rId87"/>
    <p:sldId id="512" r:id="rId88"/>
    <p:sldId id="513" r:id="rId8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97" autoAdjust="0"/>
    <p:restoredTop sz="94003" autoAdjust="0"/>
  </p:normalViewPr>
  <p:slideViewPr>
    <p:cSldViewPr>
      <p:cViewPr varScale="1">
        <p:scale>
          <a:sx n="65" d="100"/>
          <a:sy n="65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98602-0560-4791-93EC-3BF081516261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88E1D-6BDD-4280-B096-4D15059FE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8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M.Sc. Computer Engineering,</a:t>
            </a:r>
            <a:r>
              <a:rPr lang="en-US" baseline="0" dirty="0" smtClean="0"/>
              <a:t> </a:t>
            </a:r>
            <a:r>
              <a:rPr lang="en-US" dirty="0" smtClean="0"/>
              <a:t>Computer System and Knowledge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7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11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Number of level imposed on the WBS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77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91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885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45C1AA-4B3F-481F-A68D-D2DE0629D0EF}" type="slidenum">
              <a:rPr lang="en-GB" altLang="en-US"/>
              <a:pPr>
                <a:spcBef>
                  <a:spcPct val="0"/>
                </a:spcBef>
              </a:pPr>
              <a:t>55</a:t>
            </a:fld>
            <a:endParaRPr lang="en-GB" altLang="en-US"/>
          </a:p>
        </p:txBody>
      </p:sp>
      <p:sp>
        <p:nvSpPr>
          <p:cNvPr id="157701" name="Date Placeholder 4">
            <a:extLst>
              <a:ext uri="{FF2B5EF4-FFF2-40B4-BE49-F238E27FC236}">
                <a16:creationId xmlns="" xmlns:a16="http://schemas.microsoft.com/office/drawing/2014/main" id="{64D6C82D-9813-460E-8D68-B5C0A8B3D6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A0AD3BE8-952A-4165-8375-EAA091B8CE92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57702" name="Footer Placeholder 5">
            <a:extLst>
              <a:ext uri="{FF2B5EF4-FFF2-40B4-BE49-F238E27FC236}">
                <a16:creationId xmlns="" xmlns:a16="http://schemas.microsoft.com/office/drawing/2014/main" id="{4C82253C-27BF-400D-A223-821B5ADA7B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57703" name="Header Placeholder 6">
            <a:extLst>
              <a:ext uri="{FF2B5EF4-FFF2-40B4-BE49-F238E27FC236}">
                <a16:creationId xmlns="" xmlns:a16="http://schemas.microsoft.com/office/drawing/2014/main" id="{991D56FD-0FB8-4C97-B563-FD86C7ADED6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682323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0900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F495F04-1A91-442C-9240-CB24ADBB925C}" type="slidenum">
              <a:rPr lang="en-GB" altLang="en-US"/>
              <a:pPr>
                <a:spcBef>
                  <a:spcPct val="0"/>
                </a:spcBef>
              </a:pPr>
              <a:t>56</a:t>
            </a:fld>
            <a:endParaRPr lang="en-GB" altLang="en-US"/>
          </a:p>
        </p:txBody>
      </p:sp>
      <p:sp>
        <p:nvSpPr>
          <p:cNvPr id="158725" name="Date Placeholder 4">
            <a:extLst>
              <a:ext uri="{FF2B5EF4-FFF2-40B4-BE49-F238E27FC236}">
                <a16:creationId xmlns="" xmlns:a16="http://schemas.microsoft.com/office/drawing/2014/main" id="{B16877F5-1DB0-49CE-A402-F3C91AC0BC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8075C860-96A3-4CC7-B57D-49B3948FA585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58726" name="Footer Placeholder 5">
            <a:extLst>
              <a:ext uri="{FF2B5EF4-FFF2-40B4-BE49-F238E27FC236}">
                <a16:creationId xmlns="" xmlns:a16="http://schemas.microsoft.com/office/drawing/2014/main" id="{BC64E5C7-4509-408C-9A6A-7DDFF1444B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58727" name="Header Placeholder 6">
            <a:extLst>
              <a:ext uri="{FF2B5EF4-FFF2-40B4-BE49-F238E27FC236}">
                <a16:creationId xmlns="" xmlns:a16="http://schemas.microsoft.com/office/drawing/2014/main" id="{68DAB838-B572-476A-81D1-BF7D77D5CB9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2724055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294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3F3471-7628-467F-BBF6-AC90CA5AF5DF}" type="slidenum">
              <a:rPr lang="en-GB" altLang="en-US"/>
              <a:pPr>
                <a:spcBef>
                  <a:spcPct val="0"/>
                </a:spcBef>
              </a:pPr>
              <a:t>57</a:t>
            </a:fld>
            <a:endParaRPr lang="en-GB" altLang="en-US"/>
          </a:p>
        </p:txBody>
      </p:sp>
      <p:sp>
        <p:nvSpPr>
          <p:cNvPr id="159749" name="Date Placeholder 4">
            <a:extLst>
              <a:ext uri="{FF2B5EF4-FFF2-40B4-BE49-F238E27FC236}">
                <a16:creationId xmlns="" xmlns:a16="http://schemas.microsoft.com/office/drawing/2014/main" id="{1281F0BB-8BC5-4F57-A225-7D960C0546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63468112-1734-4454-8722-C5E6FDAF1037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59750" name="Footer Placeholder 5">
            <a:extLst>
              <a:ext uri="{FF2B5EF4-FFF2-40B4-BE49-F238E27FC236}">
                <a16:creationId xmlns="" xmlns:a16="http://schemas.microsoft.com/office/drawing/2014/main" id="{FA1EAE9E-749A-4DAA-8077-6B2DC9273F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59751" name="Header Placeholder 6">
            <a:extLst>
              <a:ext uri="{FF2B5EF4-FFF2-40B4-BE49-F238E27FC236}">
                <a16:creationId xmlns="" xmlns:a16="http://schemas.microsoft.com/office/drawing/2014/main" id="{C6E14682-9657-48A9-9451-6280FC4C027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2786295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499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006EA25-1189-44AE-864B-071980947A72}" type="slidenum">
              <a:rPr lang="en-GB" altLang="en-US"/>
              <a:pPr>
                <a:spcBef>
                  <a:spcPct val="0"/>
                </a:spcBef>
              </a:pPr>
              <a:t>58</a:t>
            </a:fld>
            <a:endParaRPr lang="en-GB" altLang="en-US"/>
          </a:p>
        </p:txBody>
      </p:sp>
      <p:sp>
        <p:nvSpPr>
          <p:cNvPr id="160773" name="Date Placeholder 4">
            <a:extLst>
              <a:ext uri="{FF2B5EF4-FFF2-40B4-BE49-F238E27FC236}">
                <a16:creationId xmlns="" xmlns:a16="http://schemas.microsoft.com/office/drawing/2014/main" id="{0513056C-1233-4A3E-8F4D-C385CC6354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77346F8E-54F0-414F-B675-77E098E0B56B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60774" name="Footer Placeholder 5">
            <a:extLst>
              <a:ext uri="{FF2B5EF4-FFF2-40B4-BE49-F238E27FC236}">
                <a16:creationId xmlns="" xmlns:a16="http://schemas.microsoft.com/office/drawing/2014/main" id="{DD8BFA4B-BFC7-4A1A-A020-1FA069F20C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60775" name="Header Placeholder 6">
            <a:extLst>
              <a:ext uri="{FF2B5EF4-FFF2-40B4-BE49-F238E27FC236}">
                <a16:creationId xmlns="" xmlns:a16="http://schemas.microsoft.com/office/drawing/2014/main" id="{64C31A64-ED41-4A8A-8A46-8DC4597F931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1367747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7044" name="Slide Number Placeholder 3"/>
          <p:cNvSpPr txBox="1">
            <a:spLocks noGrp="1" noChangeArrowheads="1"/>
          </p:cNvSpPr>
          <p:nvPr/>
        </p:nvSpPr>
        <p:spPr bwMode="auto">
          <a:xfrm>
            <a:off x="5267325" y="6661150"/>
            <a:ext cx="40306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84E5F49-D45A-42C4-9FD7-6E8236202E45}" type="slidenum">
              <a:rPr lang="en-GB" altLang="en-US">
                <a:latin typeface="Calibri" panose="020F0502020204030204" pitchFamily="34" charset="0"/>
              </a:rPr>
              <a:pPr algn="r">
                <a:spcBef>
                  <a:spcPct val="0"/>
                </a:spcBef>
              </a:pPr>
              <a:t>59</a:t>
            </a:fld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26629" name="Date Placeholder 4">
            <a:extLst>
              <a:ext uri="{FF2B5EF4-FFF2-40B4-BE49-F238E27FC236}">
                <a16:creationId xmlns="" xmlns:a16="http://schemas.microsoft.com/office/drawing/2014/main" id="{04F04BEA-0269-4277-9F44-87304A57C9AC}"/>
              </a:ext>
            </a:extLst>
          </p:cNvPr>
          <p:cNvSpPr txBox="1">
            <a:spLocks noGrp="1"/>
          </p:cNvSpPr>
          <p:nvPr/>
        </p:nvSpPr>
        <p:spPr bwMode="auto">
          <a:xfrm>
            <a:off x="5267325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F3BCF7B-5C6D-4166-B03A-EC9B143C5E12}" type="datetime1">
              <a:rPr lang="en-US" sz="1200">
                <a:latin typeface="+mn-lt"/>
                <a:cs typeface="+mn-cs"/>
              </a:rPr>
              <a:pPr algn="r">
                <a:defRPr/>
              </a:pPr>
              <a:t>12/11/2023</a:t>
            </a:fld>
            <a:endParaRPr lang="en-GB" sz="1200">
              <a:latin typeface="+mn-lt"/>
              <a:cs typeface="+mn-cs"/>
            </a:endParaRPr>
          </a:p>
        </p:txBody>
      </p:sp>
      <p:sp>
        <p:nvSpPr>
          <p:cNvPr id="26630" name="Footer Placeholder 5">
            <a:extLst>
              <a:ext uri="{FF2B5EF4-FFF2-40B4-BE49-F238E27FC236}">
                <a16:creationId xmlns="" xmlns:a16="http://schemas.microsoft.com/office/drawing/2014/main" id="{72966E37-E7A2-4928-BC56-64C2D3005DC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66115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GB" sz="1200" dirty="0">
                <a:latin typeface="+mn-lt"/>
                <a:cs typeface="+mn-cs"/>
              </a:rPr>
              <a:t>Maria Petridou</a:t>
            </a:r>
          </a:p>
        </p:txBody>
      </p:sp>
      <p:sp>
        <p:nvSpPr>
          <p:cNvPr id="26631" name="Header Placeholder 6">
            <a:extLst>
              <a:ext uri="{FF2B5EF4-FFF2-40B4-BE49-F238E27FC236}">
                <a16:creationId xmlns="" xmlns:a16="http://schemas.microsoft.com/office/drawing/2014/main" id="{665B5AA4-ADC2-482A-A692-1D134FA24F16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latin typeface="+mn-lt"/>
                <a:cs typeface="+mn-cs"/>
              </a:rPr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2662064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9092" name="Slide Number Placeholder 3"/>
          <p:cNvSpPr txBox="1">
            <a:spLocks noGrp="1" noChangeArrowheads="1"/>
          </p:cNvSpPr>
          <p:nvPr/>
        </p:nvSpPr>
        <p:spPr bwMode="auto">
          <a:xfrm>
            <a:off x="5267325" y="6661150"/>
            <a:ext cx="40306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338E2F31-AD55-445C-A7D5-3A4BCE8A73EC}" type="slidenum">
              <a:rPr lang="en-GB" altLang="en-US">
                <a:latin typeface="Calibri" panose="020F0502020204030204" pitchFamily="34" charset="0"/>
              </a:rPr>
              <a:pPr algn="r">
                <a:spcBef>
                  <a:spcPct val="0"/>
                </a:spcBef>
              </a:pPr>
              <a:t>60</a:t>
            </a:fld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26629" name="Date Placeholder 4">
            <a:extLst>
              <a:ext uri="{FF2B5EF4-FFF2-40B4-BE49-F238E27FC236}">
                <a16:creationId xmlns="" xmlns:a16="http://schemas.microsoft.com/office/drawing/2014/main" id="{C1A90FD3-1A99-4651-AA35-902412156200}"/>
              </a:ext>
            </a:extLst>
          </p:cNvPr>
          <p:cNvSpPr txBox="1">
            <a:spLocks noGrp="1"/>
          </p:cNvSpPr>
          <p:nvPr/>
        </p:nvSpPr>
        <p:spPr bwMode="auto">
          <a:xfrm>
            <a:off x="5267325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F3BCF7B-5C6D-4166-B03A-EC9B143C5E12}" type="datetime1">
              <a:rPr lang="en-US" sz="1200">
                <a:latin typeface="+mn-lt"/>
                <a:cs typeface="+mn-cs"/>
              </a:rPr>
              <a:pPr algn="r">
                <a:defRPr/>
              </a:pPr>
              <a:t>12/11/2023</a:t>
            </a:fld>
            <a:endParaRPr lang="en-GB" sz="1200">
              <a:latin typeface="+mn-lt"/>
              <a:cs typeface="+mn-cs"/>
            </a:endParaRPr>
          </a:p>
        </p:txBody>
      </p:sp>
      <p:sp>
        <p:nvSpPr>
          <p:cNvPr id="26630" name="Footer Placeholder 5">
            <a:extLst>
              <a:ext uri="{FF2B5EF4-FFF2-40B4-BE49-F238E27FC236}">
                <a16:creationId xmlns="" xmlns:a16="http://schemas.microsoft.com/office/drawing/2014/main" id="{283BA7F7-9947-402D-8510-21A4CD0C0142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66115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GB" sz="1200" dirty="0">
                <a:latin typeface="+mn-lt"/>
                <a:cs typeface="+mn-cs"/>
              </a:rPr>
              <a:t>Maria Petridou</a:t>
            </a:r>
          </a:p>
        </p:txBody>
      </p:sp>
      <p:sp>
        <p:nvSpPr>
          <p:cNvPr id="26631" name="Header Placeholder 6">
            <a:extLst>
              <a:ext uri="{FF2B5EF4-FFF2-40B4-BE49-F238E27FC236}">
                <a16:creationId xmlns="" xmlns:a16="http://schemas.microsoft.com/office/drawing/2014/main" id="{30D82167-2CE7-433A-BDCE-DB31A56FD225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latin typeface="+mn-lt"/>
                <a:cs typeface="+mn-cs"/>
              </a:rPr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1247213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1140" name="Slide Number Placeholder 3"/>
          <p:cNvSpPr txBox="1">
            <a:spLocks noGrp="1" noChangeArrowheads="1"/>
          </p:cNvSpPr>
          <p:nvPr/>
        </p:nvSpPr>
        <p:spPr bwMode="auto">
          <a:xfrm>
            <a:off x="5267325" y="6661150"/>
            <a:ext cx="40306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8AF4754E-40DE-492E-AC0B-B2BE192BFB60}" type="slidenum">
              <a:rPr lang="en-GB" altLang="en-US">
                <a:latin typeface="Calibri" panose="020F0502020204030204" pitchFamily="34" charset="0"/>
              </a:rPr>
              <a:pPr algn="r">
                <a:spcBef>
                  <a:spcPct val="0"/>
                </a:spcBef>
              </a:pPr>
              <a:t>61</a:t>
            </a:fld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26629" name="Date Placeholder 4">
            <a:extLst>
              <a:ext uri="{FF2B5EF4-FFF2-40B4-BE49-F238E27FC236}">
                <a16:creationId xmlns="" xmlns:a16="http://schemas.microsoft.com/office/drawing/2014/main" id="{A5F59960-F9D7-4CD9-8816-B5136853928D}"/>
              </a:ext>
            </a:extLst>
          </p:cNvPr>
          <p:cNvSpPr txBox="1">
            <a:spLocks noGrp="1"/>
          </p:cNvSpPr>
          <p:nvPr/>
        </p:nvSpPr>
        <p:spPr bwMode="auto">
          <a:xfrm>
            <a:off x="5267325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F3BCF7B-5C6D-4166-B03A-EC9B143C5E12}" type="datetime1">
              <a:rPr lang="en-US" sz="1200">
                <a:latin typeface="+mn-lt"/>
                <a:cs typeface="+mn-cs"/>
              </a:rPr>
              <a:pPr algn="r">
                <a:defRPr/>
              </a:pPr>
              <a:t>12/11/2023</a:t>
            </a:fld>
            <a:endParaRPr lang="en-GB" sz="1200">
              <a:latin typeface="+mn-lt"/>
              <a:cs typeface="+mn-cs"/>
            </a:endParaRPr>
          </a:p>
        </p:txBody>
      </p:sp>
      <p:sp>
        <p:nvSpPr>
          <p:cNvPr id="26630" name="Footer Placeholder 5">
            <a:extLst>
              <a:ext uri="{FF2B5EF4-FFF2-40B4-BE49-F238E27FC236}">
                <a16:creationId xmlns="" xmlns:a16="http://schemas.microsoft.com/office/drawing/2014/main" id="{F513661F-FC45-48B5-AC11-29CE8A0F988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66115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GB" sz="1200" dirty="0">
                <a:latin typeface="+mn-lt"/>
                <a:cs typeface="+mn-cs"/>
              </a:rPr>
              <a:t>Maria Petridou</a:t>
            </a:r>
          </a:p>
        </p:txBody>
      </p:sp>
      <p:sp>
        <p:nvSpPr>
          <p:cNvPr id="26631" name="Header Placeholder 6">
            <a:extLst>
              <a:ext uri="{FF2B5EF4-FFF2-40B4-BE49-F238E27FC236}">
                <a16:creationId xmlns="" xmlns:a16="http://schemas.microsoft.com/office/drawing/2014/main" id="{71ADD3BA-A832-4F10-8DEF-E25764E38705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latin typeface="+mn-lt"/>
                <a:cs typeface="+mn-cs"/>
              </a:rPr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1363646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318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B0D0014-F7F2-4FAE-9122-2532B62CB36E}" type="slidenum">
              <a:rPr lang="en-GB" altLang="en-US"/>
              <a:pPr>
                <a:spcBef>
                  <a:spcPct val="0"/>
                </a:spcBef>
              </a:pPr>
              <a:t>62</a:t>
            </a:fld>
            <a:endParaRPr lang="en-GB" altLang="en-US"/>
          </a:p>
        </p:txBody>
      </p:sp>
      <p:sp>
        <p:nvSpPr>
          <p:cNvPr id="164869" name="Date Placeholder 4">
            <a:extLst>
              <a:ext uri="{FF2B5EF4-FFF2-40B4-BE49-F238E27FC236}">
                <a16:creationId xmlns="" xmlns:a16="http://schemas.microsoft.com/office/drawing/2014/main" id="{7E800D58-17D5-45EF-9049-527D0EC6C3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BFA2285A-6C60-412F-98D2-43389B5E6C01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64870" name="Footer Placeholder 5">
            <a:extLst>
              <a:ext uri="{FF2B5EF4-FFF2-40B4-BE49-F238E27FC236}">
                <a16:creationId xmlns="" xmlns:a16="http://schemas.microsoft.com/office/drawing/2014/main" id="{2AA51C0E-19AD-485C-9561-48A8D31A9A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64871" name="Header Placeholder 6">
            <a:extLst>
              <a:ext uri="{FF2B5EF4-FFF2-40B4-BE49-F238E27FC236}">
                <a16:creationId xmlns="" xmlns:a16="http://schemas.microsoft.com/office/drawing/2014/main" id="{650C80AD-B6FD-4042-9376-C1EB0A61C48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2936489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523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266BC4E-43DD-4C31-B26B-8BF96B30ACED}" type="slidenum">
              <a:rPr lang="en-GB" altLang="en-US"/>
              <a:pPr>
                <a:spcBef>
                  <a:spcPct val="0"/>
                </a:spcBef>
              </a:pPr>
              <a:t>63</a:t>
            </a:fld>
            <a:endParaRPr lang="en-GB" altLang="en-US"/>
          </a:p>
        </p:txBody>
      </p:sp>
      <p:sp>
        <p:nvSpPr>
          <p:cNvPr id="165893" name="Date Placeholder 4">
            <a:extLst>
              <a:ext uri="{FF2B5EF4-FFF2-40B4-BE49-F238E27FC236}">
                <a16:creationId xmlns="" xmlns:a16="http://schemas.microsoft.com/office/drawing/2014/main" id="{37F77A8E-5530-43C7-B361-0AC6922D6A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76EFF652-4CA0-4614-9F13-3ABE97B89DE5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65894" name="Footer Placeholder 5">
            <a:extLst>
              <a:ext uri="{FF2B5EF4-FFF2-40B4-BE49-F238E27FC236}">
                <a16:creationId xmlns="" xmlns:a16="http://schemas.microsoft.com/office/drawing/2014/main" id="{1A2D080D-D405-4212-B70C-20F9A4C542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65895" name="Header Placeholder 6">
            <a:extLst>
              <a:ext uri="{FF2B5EF4-FFF2-40B4-BE49-F238E27FC236}">
                <a16:creationId xmlns="" xmlns:a16="http://schemas.microsoft.com/office/drawing/2014/main" id="{77D2F6D6-DC69-4299-99F2-0A4221BFCE2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202753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728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3BCF76-B2CF-4BA9-953A-12CAAA067063}" type="slidenum">
              <a:rPr lang="en-GB" altLang="en-US"/>
              <a:pPr>
                <a:spcBef>
                  <a:spcPct val="0"/>
                </a:spcBef>
              </a:pPr>
              <a:t>64</a:t>
            </a:fld>
            <a:endParaRPr lang="en-GB" altLang="en-US"/>
          </a:p>
        </p:txBody>
      </p:sp>
      <p:sp>
        <p:nvSpPr>
          <p:cNvPr id="166917" name="Date Placeholder 4">
            <a:extLst>
              <a:ext uri="{FF2B5EF4-FFF2-40B4-BE49-F238E27FC236}">
                <a16:creationId xmlns="" xmlns:a16="http://schemas.microsoft.com/office/drawing/2014/main" id="{084ADFA6-C80A-4E4B-AF7B-70F4504693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EF17E38-54D6-419C-AFAB-46BB40C95964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66918" name="Footer Placeholder 5">
            <a:extLst>
              <a:ext uri="{FF2B5EF4-FFF2-40B4-BE49-F238E27FC236}">
                <a16:creationId xmlns="" xmlns:a16="http://schemas.microsoft.com/office/drawing/2014/main" id="{FF22E307-4833-4539-9C5D-D621210102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66919" name="Header Placeholder 6">
            <a:extLst>
              <a:ext uri="{FF2B5EF4-FFF2-40B4-BE49-F238E27FC236}">
                <a16:creationId xmlns="" xmlns:a16="http://schemas.microsoft.com/office/drawing/2014/main" id="{B14EB7A4-C97C-4A90-94E2-7AE6A030404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221081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933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487896-3D81-426F-B5A5-85C51D1E0A85}" type="slidenum">
              <a:rPr lang="en-GB" altLang="en-US"/>
              <a:pPr>
                <a:spcBef>
                  <a:spcPct val="0"/>
                </a:spcBef>
              </a:pPr>
              <a:t>65</a:t>
            </a:fld>
            <a:endParaRPr lang="en-GB" altLang="en-US"/>
          </a:p>
        </p:txBody>
      </p:sp>
      <p:sp>
        <p:nvSpPr>
          <p:cNvPr id="167941" name="Date Placeholder 4">
            <a:extLst>
              <a:ext uri="{FF2B5EF4-FFF2-40B4-BE49-F238E27FC236}">
                <a16:creationId xmlns="" xmlns:a16="http://schemas.microsoft.com/office/drawing/2014/main" id="{6D21B29E-F6EF-4EE3-B763-A26DE29652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C0CAAEF-4A23-4A13-89E9-A6D7D67CA7F3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67942" name="Footer Placeholder 5">
            <a:extLst>
              <a:ext uri="{FF2B5EF4-FFF2-40B4-BE49-F238E27FC236}">
                <a16:creationId xmlns="" xmlns:a16="http://schemas.microsoft.com/office/drawing/2014/main" id="{A402918C-C653-448B-8A15-FB0F7BE7A8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67943" name="Header Placeholder 6">
            <a:extLst>
              <a:ext uri="{FF2B5EF4-FFF2-40B4-BE49-F238E27FC236}">
                <a16:creationId xmlns="" xmlns:a16="http://schemas.microsoft.com/office/drawing/2014/main" id="{3C232DC4-D245-446D-9396-D704F019462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3007753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1380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EFFE96B-A2BF-407E-AD09-08C2739BF1D6}" type="slidenum">
              <a:rPr lang="en-GB" altLang="en-US"/>
              <a:pPr>
                <a:spcBef>
                  <a:spcPct val="0"/>
                </a:spcBef>
              </a:pPr>
              <a:t>66</a:t>
            </a:fld>
            <a:endParaRPr lang="en-GB" altLang="en-US"/>
          </a:p>
        </p:txBody>
      </p:sp>
      <p:sp>
        <p:nvSpPr>
          <p:cNvPr id="168965" name="Date Placeholder 4">
            <a:extLst>
              <a:ext uri="{FF2B5EF4-FFF2-40B4-BE49-F238E27FC236}">
                <a16:creationId xmlns="" xmlns:a16="http://schemas.microsoft.com/office/drawing/2014/main" id="{C4DD5D98-6401-4AD8-9760-40480DD73F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0376867-BF77-43C3-910A-57D1C4E47261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68966" name="Footer Placeholder 5">
            <a:extLst>
              <a:ext uri="{FF2B5EF4-FFF2-40B4-BE49-F238E27FC236}">
                <a16:creationId xmlns="" xmlns:a16="http://schemas.microsoft.com/office/drawing/2014/main" id="{F399F8E6-028F-405F-92B8-4132949B34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68967" name="Header Placeholder 6">
            <a:extLst>
              <a:ext uri="{FF2B5EF4-FFF2-40B4-BE49-F238E27FC236}">
                <a16:creationId xmlns="" xmlns:a16="http://schemas.microsoft.com/office/drawing/2014/main" id="{09FB040B-AB45-46B3-BBC2-A8DCE00499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1412622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3428" name="Slide Number Placeholder 3"/>
          <p:cNvSpPr txBox="1">
            <a:spLocks noGrp="1" noChangeArrowheads="1"/>
          </p:cNvSpPr>
          <p:nvPr/>
        </p:nvSpPr>
        <p:spPr bwMode="auto">
          <a:xfrm>
            <a:off x="5267325" y="6661150"/>
            <a:ext cx="40306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8F2AD08D-AD7F-4D6E-B7F7-CABBC1FAC4E8}" type="slidenum">
              <a:rPr lang="en-GB" altLang="en-US">
                <a:latin typeface="Calibri" panose="020F0502020204030204" pitchFamily="34" charset="0"/>
              </a:rPr>
              <a:pPr algn="r">
                <a:spcBef>
                  <a:spcPct val="0"/>
                </a:spcBef>
              </a:pPr>
              <a:t>67</a:t>
            </a:fld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26629" name="Date Placeholder 4">
            <a:extLst>
              <a:ext uri="{FF2B5EF4-FFF2-40B4-BE49-F238E27FC236}">
                <a16:creationId xmlns="" xmlns:a16="http://schemas.microsoft.com/office/drawing/2014/main" id="{BC58EC0B-8375-4859-8579-E02D8A10D1B8}"/>
              </a:ext>
            </a:extLst>
          </p:cNvPr>
          <p:cNvSpPr txBox="1">
            <a:spLocks noGrp="1"/>
          </p:cNvSpPr>
          <p:nvPr/>
        </p:nvSpPr>
        <p:spPr bwMode="auto">
          <a:xfrm>
            <a:off x="5267325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F3BCF7B-5C6D-4166-B03A-EC9B143C5E12}" type="datetime1">
              <a:rPr lang="en-US" sz="1200">
                <a:latin typeface="+mn-lt"/>
                <a:cs typeface="+mn-cs"/>
              </a:rPr>
              <a:pPr algn="r">
                <a:defRPr/>
              </a:pPr>
              <a:t>12/11/2023</a:t>
            </a:fld>
            <a:endParaRPr lang="en-GB" sz="1200">
              <a:latin typeface="+mn-lt"/>
              <a:cs typeface="+mn-cs"/>
            </a:endParaRPr>
          </a:p>
        </p:txBody>
      </p:sp>
      <p:sp>
        <p:nvSpPr>
          <p:cNvPr id="26630" name="Footer Placeholder 5">
            <a:extLst>
              <a:ext uri="{FF2B5EF4-FFF2-40B4-BE49-F238E27FC236}">
                <a16:creationId xmlns="" xmlns:a16="http://schemas.microsoft.com/office/drawing/2014/main" id="{98D13CBF-61C0-4B52-B15F-C8A8F2310D4B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66115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GB" sz="1200" dirty="0">
                <a:latin typeface="+mn-lt"/>
                <a:cs typeface="+mn-cs"/>
              </a:rPr>
              <a:t>Maria Petridou</a:t>
            </a:r>
          </a:p>
        </p:txBody>
      </p:sp>
      <p:sp>
        <p:nvSpPr>
          <p:cNvPr id="26631" name="Header Placeholder 6">
            <a:extLst>
              <a:ext uri="{FF2B5EF4-FFF2-40B4-BE49-F238E27FC236}">
                <a16:creationId xmlns="" xmlns:a16="http://schemas.microsoft.com/office/drawing/2014/main" id="{7420338B-8612-418E-80BD-3ACCE03AABD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latin typeface="+mn-lt"/>
                <a:cs typeface="+mn-cs"/>
              </a:rPr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3219767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5476" name="Slide Number Placeholder 3"/>
          <p:cNvSpPr txBox="1">
            <a:spLocks noGrp="1" noChangeArrowheads="1"/>
          </p:cNvSpPr>
          <p:nvPr/>
        </p:nvSpPr>
        <p:spPr bwMode="auto">
          <a:xfrm>
            <a:off x="5267325" y="6661150"/>
            <a:ext cx="40306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42FDDBB7-A856-44BF-826A-53EE8C03ED2C}" type="slidenum">
              <a:rPr lang="en-GB" altLang="en-US">
                <a:latin typeface="Calibri" panose="020F0502020204030204" pitchFamily="34" charset="0"/>
              </a:rPr>
              <a:pPr algn="r">
                <a:spcBef>
                  <a:spcPct val="0"/>
                </a:spcBef>
              </a:pPr>
              <a:t>68</a:t>
            </a:fld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26629" name="Date Placeholder 4">
            <a:extLst>
              <a:ext uri="{FF2B5EF4-FFF2-40B4-BE49-F238E27FC236}">
                <a16:creationId xmlns="" xmlns:a16="http://schemas.microsoft.com/office/drawing/2014/main" id="{C1DFAD53-0224-4C87-88FB-99044C23164E}"/>
              </a:ext>
            </a:extLst>
          </p:cNvPr>
          <p:cNvSpPr txBox="1">
            <a:spLocks noGrp="1"/>
          </p:cNvSpPr>
          <p:nvPr/>
        </p:nvSpPr>
        <p:spPr bwMode="auto">
          <a:xfrm>
            <a:off x="5267325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F3BCF7B-5C6D-4166-B03A-EC9B143C5E12}" type="datetime1">
              <a:rPr lang="en-US" sz="1200">
                <a:latin typeface="+mn-lt"/>
                <a:cs typeface="+mn-cs"/>
              </a:rPr>
              <a:pPr algn="r">
                <a:defRPr/>
              </a:pPr>
              <a:t>12/11/2023</a:t>
            </a:fld>
            <a:endParaRPr lang="en-GB" sz="1200">
              <a:latin typeface="+mn-lt"/>
              <a:cs typeface="+mn-cs"/>
            </a:endParaRPr>
          </a:p>
        </p:txBody>
      </p:sp>
      <p:sp>
        <p:nvSpPr>
          <p:cNvPr id="26630" name="Footer Placeholder 5">
            <a:extLst>
              <a:ext uri="{FF2B5EF4-FFF2-40B4-BE49-F238E27FC236}">
                <a16:creationId xmlns="" xmlns:a16="http://schemas.microsoft.com/office/drawing/2014/main" id="{7EEBDF7F-BE13-46F8-A447-DF3CDA806EA8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66115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GB" sz="1200" dirty="0">
                <a:latin typeface="+mn-lt"/>
                <a:cs typeface="+mn-cs"/>
              </a:rPr>
              <a:t>Maria Petridou</a:t>
            </a:r>
          </a:p>
        </p:txBody>
      </p:sp>
      <p:sp>
        <p:nvSpPr>
          <p:cNvPr id="26631" name="Header Placeholder 6">
            <a:extLst>
              <a:ext uri="{FF2B5EF4-FFF2-40B4-BE49-F238E27FC236}">
                <a16:creationId xmlns="" xmlns:a16="http://schemas.microsoft.com/office/drawing/2014/main" id="{ECDC6885-6069-4BAD-90B9-3AB8D939409B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latin typeface="+mn-lt"/>
                <a:cs typeface="+mn-cs"/>
              </a:rPr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1533282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7524" name="Slide Number Placeholder 3"/>
          <p:cNvSpPr txBox="1">
            <a:spLocks noGrp="1" noChangeArrowheads="1"/>
          </p:cNvSpPr>
          <p:nvPr/>
        </p:nvSpPr>
        <p:spPr bwMode="auto">
          <a:xfrm>
            <a:off x="5267325" y="6661150"/>
            <a:ext cx="40306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D1D26C64-EBFB-49E5-B053-3849DF7F7571}" type="slidenum">
              <a:rPr lang="en-GB" altLang="en-US">
                <a:latin typeface="Calibri" panose="020F0502020204030204" pitchFamily="34" charset="0"/>
              </a:rPr>
              <a:pPr algn="r">
                <a:spcBef>
                  <a:spcPct val="0"/>
                </a:spcBef>
              </a:pPr>
              <a:t>69</a:t>
            </a:fld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26629" name="Date Placeholder 4">
            <a:extLst>
              <a:ext uri="{FF2B5EF4-FFF2-40B4-BE49-F238E27FC236}">
                <a16:creationId xmlns="" xmlns:a16="http://schemas.microsoft.com/office/drawing/2014/main" id="{5202E7F0-E9B0-4B68-8A32-04F9C2F3B25F}"/>
              </a:ext>
            </a:extLst>
          </p:cNvPr>
          <p:cNvSpPr txBox="1">
            <a:spLocks noGrp="1"/>
          </p:cNvSpPr>
          <p:nvPr/>
        </p:nvSpPr>
        <p:spPr bwMode="auto">
          <a:xfrm>
            <a:off x="5267325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1F3BCF7B-5C6D-4166-B03A-EC9B143C5E12}" type="datetime1">
              <a:rPr lang="en-US" sz="1200">
                <a:latin typeface="+mn-lt"/>
                <a:cs typeface="+mn-cs"/>
              </a:rPr>
              <a:pPr algn="r">
                <a:defRPr/>
              </a:pPr>
              <a:t>12/11/2023</a:t>
            </a:fld>
            <a:endParaRPr lang="en-GB" sz="1200">
              <a:latin typeface="+mn-lt"/>
              <a:cs typeface="+mn-cs"/>
            </a:endParaRPr>
          </a:p>
        </p:txBody>
      </p:sp>
      <p:sp>
        <p:nvSpPr>
          <p:cNvPr id="26630" name="Footer Placeholder 5">
            <a:extLst>
              <a:ext uri="{FF2B5EF4-FFF2-40B4-BE49-F238E27FC236}">
                <a16:creationId xmlns="" xmlns:a16="http://schemas.microsoft.com/office/drawing/2014/main" id="{5A7AFEA6-E700-4E15-8A3B-DC53B45297B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66115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GB" sz="1200" dirty="0">
                <a:latin typeface="+mn-lt"/>
                <a:cs typeface="+mn-cs"/>
              </a:rPr>
              <a:t>Maria Petridou</a:t>
            </a:r>
          </a:p>
        </p:txBody>
      </p:sp>
      <p:sp>
        <p:nvSpPr>
          <p:cNvPr id="26631" name="Header Placeholder 6">
            <a:extLst>
              <a:ext uri="{FF2B5EF4-FFF2-40B4-BE49-F238E27FC236}">
                <a16:creationId xmlns="" xmlns:a16="http://schemas.microsoft.com/office/drawing/2014/main" id="{FC24126A-22C7-471A-B970-98FCED77103C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0"/>
            <a:ext cx="4030663" cy="3508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latin typeface="+mn-lt"/>
                <a:cs typeface="+mn-cs"/>
              </a:rPr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27530634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957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4E9B10-612F-4FCE-A0E0-D037E68B420F}" type="slidenum">
              <a:rPr lang="en-GB" altLang="en-US"/>
              <a:pPr>
                <a:spcBef>
                  <a:spcPct val="0"/>
                </a:spcBef>
              </a:pPr>
              <a:t>70</a:t>
            </a:fld>
            <a:endParaRPr lang="en-GB" altLang="en-US"/>
          </a:p>
        </p:txBody>
      </p:sp>
      <p:sp>
        <p:nvSpPr>
          <p:cNvPr id="173061" name="Date Placeholder 4">
            <a:extLst>
              <a:ext uri="{FF2B5EF4-FFF2-40B4-BE49-F238E27FC236}">
                <a16:creationId xmlns="" xmlns:a16="http://schemas.microsoft.com/office/drawing/2014/main" id="{5E0BBD66-F3D7-4431-85FC-7C976CDC87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CA3C02F-9359-4FA8-BD98-981B289FE0E9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73062" name="Footer Placeholder 5">
            <a:extLst>
              <a:ext uri="{FF2B5EF4-FFF2-40B4-BE49-F238E27FC236}">
                <a16:creationId xmlns="" xmlns:a16="http://schemas.microsoft.com/office/drawing/2014/main" id="{CA81DB44-E224-487B-9A6A-D61566174E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73063" name="Header Placeholder 6">
            <a:extLst>
              <a:ext uri="{FF2B5EF4-FFF2-40B4-BE49-F238E27FC236}">
                <a16:creationId xmlns="" xmlns:a16="http://schemas.microsoft.com/office/drawing/2014/main" id="{D5288010-4CFB-4AF0-BB18-5E8B067C793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3946174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571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E211CF-6F23-4761-BAD5-91492BB177EA}" type="slidenum">
              <a:rPr lang="en-GB" altLang="en-US"/>
              <a:pPr>
                <a:spcBef>
                  <a:spcPct val="0"/>
                </a:spcBef>
              </a:pPr>
              <a:t>72</a:t>
            </a:fld>
            <a:endParaRPr lang="en-GB" altLang="en-US"/>
          </a:p>
        </p:txBody>
      </p:sp>
      <p:sp>
        <p:nvSpPr>
          <p:cNvPr id="176133" name="Date Placeholder 4">
            <a:extLst>
              <a:ext uri="{FF2B5EF4-FFF2-40B4-BE49-F238E27FC236}">
                <a16:creationId xmlns="" xmlns:a16="http://schemas.microsoft.com/office/drawing/2014/main" id="{B7DC7DB3-6C53-481A-A381-296E5B559D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78C938DC-AFE3-4800-91EE-473CF42920C5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76134" name="Footer Placeholder 5">
            <a:extLst>
              <a:ext uri="{FF2B5EF4-FFF2-40B4-BE49-F238E27FC236}">
                <a16:creationId xmlns="" xmlns:a16="http://schemas.microsoft.com/office/drawing/2014/main" id="{E0F72924-A01D-42A7-8DE1-5C21F96E1D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76135" name="Header Placeholder 6">
            <a:extLst>
              <a:ext uri="{FF2B5EF4-FFF2-40B4-BE49-F238E27FC236}">
                <a16:creationId xmlns="" xmlns:a16="http://schemas.microsoft.com/office/drawing/2014/main" id="{3E831A34-DC99-4814-927F-892919595D3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4020414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776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E56526D-C4B6-4C51-94E9-897B5506F460}" type="slidenum">
              <a:rPr lang="en-GB" altLang="en-US"/>
              <a:pPr>
                <a:spcBef>
                  <a:spcPct val="0"/>
                </a:spcBef>
              </a:pPr>
              <a:t>73</a:t>
            </a:fld>
            <a:endParaRPr lang="en-GB" altLang="en-US"/>
          </a:p>
        </p:txBody>
      </p:sp>
      <p:sp>
        <p:nvSpPr>
          <p:cNvPr id="177157" name="Date Placeholder 4">
            <a:extLst>
              <a:ext uri="{FF2B5EF4-FFF2-40B4-BE49-F238E27FC236}">
                <a16:creationId xmlns="" xmlns:a16="http://schemas.microsoft.com/office/drawing/2014/main" id="{1040308F-DF7A-4DBE-A769-3B9E146F29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B79BABFE-1F5B-43A0-BB28-FAF908A594C6}" type="datetime1">
              <a:rPr lang="en-US" smtClean="0"/>
              <a:pPr>
                <a:defRPr/>
              </a:pPr>
              <a:t>12/11/2023</a:t>
            </a:fld>
            <a:endParaRPr lang="en-GB"/>
          </a:p>
        </p:txBody>
      </p:sp>
      <p:sp>
        <p:nvSpPr>
          <p:cNvPr id="177158" name="Footer Placeholder 5">
            <a:extLst>
              <a:ext uri="{FF2B5EF4-FFF2-40B4-BE49-F238E27FC236}">
                <a16:creationId xmlns="" xmlns:a16="http://schemas.microsoft.com/office/drawing/2014/main" id="{F287E4E9-F63B-45B9-8684-438E335AD7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Maria Petridou</a:t>
            </a:r>
          </a:p>
        </p:txBody>
      </p:sp>
      <p:sp>
        <p:nvSpPr>
          <p:cNvPr id="177159" name="Header Placeholder 6">
            <a:extLst>
              <a:ext uri="{FF2B5EF4-FFF2-40B4-BE49-F238E27FC236}">
                <a16:creationId xmlns="" xmlns:a16="http://schemas.microsoft.com/office/drawing/2014/main" id="{D8F15B75-D366-41E4-9A46-7476AFB4901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University of Nottingham</a:t>
            </a:r>
          </a:p>
        </p:txBody>
      </p:sp>
    </p:spTree>
    <p:extLst>
      <p:ext uri="{BB962C8B-B14F-4D97-AF65-F5344CB8AC3E}">
        <p14:creationId xmlns:p14="http://schemas.microsoft.com/office/powerpoint/2010/main" val="1179433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553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E93B406-C679-40D1-8336-7F2DABBDF583}" type="slidenum">
              <a:rPr lang="en-US" altLang="en-US" sz="1200"/>
              <a:pPr eaLnBrk="1" hangingPunct="1"/>
              <a:t>75</a:t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295986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2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36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428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387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1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A4229-75A0-4E65-BD91-C0AF84915A1A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9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6FB3-D38A-4331-9A9D-1FE8F9203AC3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19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61768-7488-4D0D-8871-178DCC47ED4B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06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83AA-EC63-4C54-9ABD-05346051D4A9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80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8D1-6301-4D94-90FB-2BC85C845DA9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0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0879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1AE0-0AAC-46ED-9C7D-C8A75D0EB8B2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22959" y="1447800"/>
            <a:ext cx="7543801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44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08A6-A7BA-4310-8002-A5855F5D2DCC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86605"/>
            <a:ext cx="8381999" cy="78019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6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04620AEB-45AC-46D3-9F75-137D8BE7FA99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52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BCE7-9B96-434F-97A6-CAF6F96218B1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97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684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1289" y="1845734"/>
            <a:ext cx="7543801" cy="4023360"/>
          </a:xfrm>
        </p:spPr>
        <p:txBody>
          <a:bodyPr vert="eaVert" lIns="45720" tIns="0" rIns="45720" bIns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1DB8-1CD9-4AE8-BEA9-D2F977F19E3C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20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2B75-A695-43EE-9EEA-722A54D3F3DC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690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F8438-E9F9-479E-8A8E-28FC6E29A791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86607"/>
            <a:ext cx="8381999" cy="78019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2" y="1447800"/>
            <a:ext cx="8381999" cy="4495800"/>
          </a:xfrm>
        </p:spPr>
        <p:txBody>
          <a:bodyPr/>
          <a:lstStyle>
            <a:lvl1pPr marL="91440" indent="-91440">
              <a:buClrTx/>
              <a:buFont typeface="Arial" panose="020B0604020202020204" pitchFamily="34" charset="0"/>
              <a:buChar char="•"/>
              <a:defRPr/>
            </a:lvl1pPr>
            <a:lvl2pPr marL="384048" indent="-182880">
              <a:buClrTx/>
              <a:buFont typeface="Arial" panose="020B0604020202020204" pitchFamily="34" charset="0"/>
              <a:buChar char="•"/>
              <a:defRPr/>
            </a:lvl2pPr>
            <a:lvl3pPr marL="566928" indent="-182880">
              <a:buClrTx/>
              <a:buFont typeface="Arial" panose="020B0604020202020204" pitchFamily="34" charset="0"/>
              <a:buChar char="•"/>
              <a:defRPr/>
            </a:lvl3pPr>
            <a:lvl4pPr marL="749808" indent="-182880">
              <a:buClrTx/>
              <a:buFont typeface="Arial" panose="020B0604020202020204" pitchFamily="34" charset="0"/>
              <a:buChar char="•"/>
              <a:defRPr/>
            </a:lvl4pPr>
            <a:lvl5pPr marL="932688" indent="-182880">
              <a:buClr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07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71544" y="6173786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587DC-7AD2-45A1-9206-CFBDC6537A5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12/11/2023</a:t>
            </a:fld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173787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2620F-2723-4C1D-A0D6-2D78DF04BBE5}" type="slidenum">
              <a:rPr lang="en-MY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353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47" y="274638"/>
            <a:ext cx="822930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703610" y="1981200"/>
            <a:ext cx="3799495" cy="41148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3827" y="1981200"/>
            <a:ext cx="379949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1675" y="6104965"/>
            <a:ext cx="19002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DF6FD-753A-4A21-B6EB-20DC5B461F48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65475" y="6248400"/>
            <a:ext cx="28130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42087" y="6096000"/>
            <a:ext cx="1900237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09A845-B5D7-4212-A085-B80A81F92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15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7CAF8-CA53-4931-BD76-C833DAAFBD4B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07498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42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50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506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322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56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87016D-9D15-46C6-929E-FCC369A8AB08}" type="datetime1">
              <a:rPr lang="en-US" smtClean="0"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45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ubhash@achsnepal.edu.n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nsislearning.com/blog/define-activity-list-in-a-project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7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.bin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38250"/>
            <a:ext cx="7467600" cy="158115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+mn-lt"/>
              </a:rPr>
              <a:t>Software Project Scheduling</a:t>
            </a:r>
            <a:endParaRPr lang="en-US" sz="44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65563" y="2877468"/>
            <a:ext cx="7543800" cy="1143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latin typeface="+mn-lt"/>
              </a:rPr>
              <a:t>Subhash Paudel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MSCSKE, IOE, Pulchowk Campus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hlinkClick r:id="rId3"/>
              </a:rPr>
              <a:t>subhash@achsnepal.edu.np</a:t>
            </a:r>
            <a:endParaRPr lang="en-US" sz="2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645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62842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Project Time Management-</a:t>
            </a:r>
            <a:r>
              <a:rPr lang="en-US" dirty="0"/>
              <a:t>Activity </a:t>
            </a:r>
            <a:r>
              <a:rPr lang="en-US" dirty="0" smtClean="0"/>
              <a:t>Planning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65160"/>
            <a:ext cx="7391400" cy="4496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82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Activity Planning – Activity + Planning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Activity – a set of one or more actions which upon completion lead the project to next state</a:t>
            </a:r>
          </a:p>
          <a:p>
            <a:r>
              <a:rPr lang="en-US" sz="2400" dirty="0" smtClean="0"/>
              <a:t>Collection of activities results in final deliverable</a:t>
            </a:r>
          </a:p>
          <a:p>
            <a:r>
              <a:rPr lang="en-US" sz="2400" dirty="0" smtClean="0"/>
              <a:t>Each activity has a start and end date upon which the task must be completed</a:t>
            </a:r>
          </a:p>
          <a:p>
            <a:r>
              <a:rPr lang="en-US" sz="2400" dirty="0" smtClean="0"/>
              <a:t>Scheduling of each activity is activity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06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8381999" cy="4495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happens as a result of Activity Planning?  </a:t>
            </a:r>
            <a:r>
              <a:rPr lang="en-US" dirty="0"/>
              <a:t>It leads to </a:t>
            </a:r>
            <a:r>
              <a:rPr lang="en-US" dirty="0">
                <a:solidFill>
                  <a:srgbClr val="00B050"/>
                </a:solidFill>
              </a:rPr>
              <a:t>Project completion 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1. </a:t>
            </a:r>
            <a:r>
              <a:rPr lang="en-US" dirty="0">
                <a:solidFill>
                  <a:srgbClr val="00B050"/>
                </a:solidFill>
              </a:rPr>
              <a:t>on minimal time</a:t>
            </a:r>
          </a:p>
          <a:p>
            <a:pPr marL="0" indent="0">
              <a:buNone/>
            </a:pPr>
            <a:r>
              <a:rPr lang="en-US" dirty="0"/>
              <a:t>    2. </a:t>
            </a:r>
            <a:r>
              <a:rPr lang="en-US" dirty="0">
                <a:solidFill>
                  <a:srgbClr val="00B050"/>
                </a:solidFill>
              </a:rPr>
              <a:t>And at an acceptable costs</a:t>
            </a:r>
          </a:p>
          <a:p>
            <a:pPr marL="0" indent="0">
              <a:buNone/>
            </a:pPr>
            <a:r>
              <a:rPr lang="en-US" dirty="0"/>
              <a:t>Note</a:t>
            </a:r>
            <a:r>
              <a:rPr lang="en-US" dirty="0">
                <a:sym typeface="Wingdings" pitchFamily="2" charset="2"/>
              </a:rPr>
              <a:t> In any project,  group the parallel activities and the serial ones.</a:t>
            </a:r>
          </a:p>
          <a:p>
            <a:pPr marL="0" indent="0">
              <a:buNone/>
            </a:pPr>
            <a:r>
              <a:rPr lang="en-US" sz="2800" b="1" dirty="0">
                <a:sym typeface="Wingdings" pitchFamily="2" charset="2"/>
              </a:rPr>
              <a:t>Parallel activities will shorten project duration </a:t>
            </a:r>
            <a:r>
              <a:rPr lang="en-US" sz="2800" dirty="0">
                <a:sym typeface="Wingdings" pitchFamily="2" charset="2"/>
              </a:rPr>
              <a:t>, </a:t>
            </a:r>
            <a:r>
              <a:rPr lang="en-US" sz="2800" b="1" dirty="0">
                <a:sym typeface="Wingdings" pitchFamily="2" charset="2"/>
              </a:rPr>
              <a:t>while others require completion of previous activities</a:t>
            </a:r>
            <a:r>
              <a:rPr lang="en-US" b="1" dirty="0">
                <a:sym typeface="Wingdings" pitchFamily="2" charset="2"/>
              </a:rPr>
              <a:t> 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733800"/>
            <a:ext cx="510540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43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33400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Activity and its  sub activities  for event planner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 lnSpcReduction="10000"/>
          </a:bodyPr>
          <a:lstStyle/>
          <a:p>
            <a:r>
              <a:rPr lang="en-US" sz="2600" dirty="0" smtClean="0"/>
              <a:t>Main and sub  Activities</a:t>
            </a:r>
          </a:p>
          <a:p>
            <a:r>
              <a:rPr lang="en-US" sz="2600" dirty="0" smtClean="0"/>
              <a:t>1.Mailing invitations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  1.1 gather and confirm attendee’s address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  1.2 print invitations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  1.3  mail completed invitations</a:t>
            </a:r>
            <a:endParaRPr lang="en-US" sz="2400" dirty="0"/>
          </a:p>
          <a:p>
            <a:r>
              <a:rPr lang="en-US" sz="2600" dirty="0" smtClean="0"/>
              <a:t>2.Booking </a:t>
            </a:r>
            <a:r>
              <a:rPr lang="en-US" sz="2600" dirty="0"/>
              <a:t>the </a:t>
            </a:r>
            <a:r>
              <a:rPr lang="en-US" sz="2600" dirty="0" smtClean="0"/>
              <a:t>venue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   2.1 price negotiation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   2.2 Contract</a:t>
            </a:r>
            <a:endParaRPr lang="en-US" sz="2400" dirty="0"/>
          </a:p>
          <a:p>
            <a:r>
              <a:rPr lang="en-US" sz="2600" dirty="0" smtClean="0"/>
              <a:t>3. Hiring </a:t>
            </a:r>
            <a:r>
              <a:rPr lang="en-US" sz="2600" dirty="0"/>
              <a:t>a </a:t>
            </a:r>
            <a:r>
              <a:rPr lang="en-US" sz="2600" dirty="0" smtClean="0"/>
              <a:t>caterer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3.1…</a:t>
            </a:r>
          </a:p>
          <a:p>
            <a:pPr lvl="1"/>
            <a:r>
              <a:rPr lang="en-US" sz="2400" dirty="0" smtClean="0"/>
              <a:t>    3.2…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7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/>
              <a:t>Why defining activities in a project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0"/>
            <a:ext cx="8381999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Defining activities  </a:t>
            </a:r>
            <a:r>
              <a:rPr lang="en-US" sz="2400" u="sng" dirty="0"/>
              <a:t>distinguishes  particular task that needs to be finished  with a specific </a:t>
            </a:r>
            <a:r>
              <a:rPr lang="en-US" sz="2400" u="sng" dirty="0" smtClean="0"/>
              <a:t>objective  </a:t>
            </a:r>
            <a:r>
              <a:rPr lang="en-US" sz="2400" u="sng" dirty="0" smtClean="0">
                <a:solidFill>
                  <a:srgbClr val="00B050"/>
                </a:solidFill>
                <a:sym typeface="Wingdings" pitchFamily="2" charset="2"/>
              </a:rPr>
              <a:t>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b="1" dirty="0">
                <a:solidFill>
                  <a:srgbClr val="00B050"/>
                </a:solidFill>
              </a:rPr>
              <a:t>to produce the project deliverables</a:t>
            </a:r>
            <a:r>
              <a:rPr lang="en-US" sz="2400" b="1" dirty="0" smtClean="0">
                <a:solidFill>
                  <a:srgbClr val="00B050"/>
                </a:solidFill>
              </a:rPr>
              <a:t>.   </a:t>
            </a:r>
            <a:r>
              <a:rPr lang="en-US" sz="2400" b="1" dirty="0" smtClean="0">
                <a:solidFill>
                  <a:srgbClr val="FF0000"/>
                </a:solidFill>
              </a:rPr>
              <a:t>OR</a:t>
            </a:r>
          </a:p>
          <a:p>
            <a:pPr marL="0" indent="0">
              <a:buNone/>
            </a:pPr>
            <a:r>
              <a:rPr lang="en-US" sz="2400" b="1" dirty="0"/>
              <a:t>Defining Activities </a:t>
            </a:r>
            <a:r>
              <a:rPr lang="en-US" sz="2400" b="1" dirty="0">
                <a:solidFill>
                  <a:srgbClr val="00B050"/>
                </a:solidFill>
              </a:rPr>
              <a:t>involves the planning of a detailed depiction of the project and its significant deliverables. </a:t>
            </a:r>
          </a:p>
          <a:p>
            <a:pPr marL="0" indent="0">
              <a:buNone/>
            </a:pPr>
            <a:r>
              <a:rPr lang="en-US" sz="2400" dirty="0" smtClean="0"/>
              <a:t>The </a:t>
            </a:r>
            <a:r>
              <a:rPr lang="en-US" sz="2400" dirty="0"/>
              <a:t>process should be done in adequate detail </a:t>
            </a:r>
            <a:r>
              <a:rPr lang="en-US" sz="2400" b="1" dirty="0"/>
              <a:t>to estimate the resources and time that is required to complete</a:t>
            </a:r>
            <a:r>
              <a:rPr lang="en-US" sz="2400" b="1" dirty="0" smtClean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3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1999" cy="780195"/>
          </a:xfrm>
        </p:spPr>
        <p:txBody>
          <a:bodyPr>
            <a:noAutofit/>
          </a:bodyPr>
          <a:lstStyle/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400" b="1" dirty="0" smtClean="0">
                <a:solidFill>
                  <a:srgbClr val="00B050"/>
                </a:solidFill>
              </a:rPr>
              <a:t>Defining </a:t>
            </a:r>
            <a:r>
              <a:rPr lang="en-US" sz="2400" b="1" dirty="0">
                <a:solidFill>
                  <a:srgbClr val="00B050"/>
                </a:solidFill>
              </a:rPr>
              <a:t>Activity </a:t>
            </a:r>
            <a:r>
              <a:rPr lang="en-US" sz="2400" b="1" dirty="0" smtClean="0">
                <a:solidFill>
                  <a:srgbClr val="00B050"/>
                </a:solidFill>
              </a:rPr>
              <a:t>List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/>
              <a:t>By creating an activity list for a project, you are ensuring proper functioning and the systematic progress of your project</a:t>
            </a:r>
            <a:r>
              <a:rPr lang="en-US" sz="2400" b="1" dirty="0" smtClean="0"/>
              <a:t>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0" y="1686341"/>
            <a:ext cx="1447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milestone list :</a:t>
            </a:r>
          </a:p>
          <a:p>
            <a:r>
              <a:rPr lang="en-US" dirty="0"/>
              <a:t>1. Lay Foundation</a:t>
            </a:r>
          </a:p>
          <a:p>
            <a:endParaRPr lang="en-US" dirty="0"/>
          </a:p>
          <a:p>
            <a:r>
              <a:rPr lang="en-US" dirty="0"/>
              <a:t>2. Build Structure</a:t>
            </a:r>
          </a:p>
          <a:p>
            <a:endParaRPr lang="en-US" dirty="0"/>
          </a:p>
          <a:p>
            <a:r>
              <a:rPr lang="en-US" dirty="0"/>
              <a:t>3. Complete Interiors</a:t>
            </a:r>
          </a:p>
          <a:p>
            <a:endParaRPr lang="en-US" dirty="0"/>
          </a:p>
          <a:p>
            <a:r>
              <a:rPr lang="en-US" dirty="0"/>
              <a:t>4. Complete landscaping</a:t>
            </a:r>
          </a:p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6781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33400"/>
            <a:ext cx="8381999" cy="780195"/>
          </a:xfrm>
        </p:spPr>
        <p:txBody>
          <a:bodyPr>
            <a:noAutofit/>
          </a:bodyPr>
          <a:lstStyle/>
          <a:p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600" dirty="0" smtClean="0"/>
              <a:t>Five-time </a:t>
            </a:r>
            <a:r>
              <a:rPr lang="en-US" sz="3600" dirty="0"/>
              <a:t>management processes of the Activity list as per the PMBOK® guide</a:t>
            </a:r>
            <a:r>
              <a:rPr lang="en-US" sz="3600" dirty="0" smtClean="0"/>
              <a:t>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685800" y="1447800"/>
            <a:ext cx="8153400" cy="4495800"/>
          </a:xfrm>
        </p:spPr>
        <p:txBody>
          <a:bodyPr/>
          <a:lstStyle/>
          <a:p>
            <a:r>
              <a:rPr lang="en-US" sz="2400" dirty="0" smtClean="0"/>
              <a:t>Sequence </a:t>
            </a:r>
            <a:r>
              <a:rPr lang="en-US" sz="2400" dirty="0"/>
              <a:t>Activities</a:t>
            </a:r>
          </a:p>
          <a:p>
            <a:r>
              <a:rPr lang="en-US" sz="2400" dirty="0"/>
              <a:t>Estimate Activity Resources</a:t>
            </a:r>
          </a:p>
          <a:p>
            <a:r>
              <a:rPr lang="en-US" sz="2400" dirty="0"/>
              <a:t>Estimate Activity Durations</a:t>
            </a:r>
          </a:p>
          <a:p>
            <a:r>
              <a:rPr lang="en-US" sz="2400" dirty="0"/>
              <a:t>Develop Schedule</a:t>
            </a:r>
          </a:p>
          <a:p>
            <a:r>
              <a:rPr lang="en-US" sz="2400" dirty="0"/>
              <a:t>Control Schedule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16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85800"/>
            <a:ext cx="8381999" cy="780195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The benefit of Project</a:t>
            </a:r>
            <a:r>
              <a:rPr lang="en-US" sz="3200" dirty="0">
                <a:solidFill>
                  <a:srgbClr val="00B050"/>
                </a:solidFill>
                <a:sym typeface="Wingdings" pitchFamily="2" charset="2"/>
              </a:rPr>
              <a:t> </a:t>
            </a:r>
            <a:r>
              <a:rPr lang="en-US" sz="3200" dirty="0" smtClean="0">
                <a:solidFill>
                  <a:srgbClr val="00B050"/>
                </a:solidFill>
              </a:rPr>
              <a:t>scheduling </a:t>
            </a:r>
            <a:r>
              <a:rPr lang="en-US" sz="2800" dirty="0" smtClean="0">
                <a:sym typeface="Wingdings" pitchFamily="2" charset="2"/>
              </a:rPr>
              <a:t></a:t>
            </a:r>
            <a:r>
              <a:rPr lang="en-US" sz="2800" b="1" dirty="0" smtClean="0"/>
              <a:t>Below figure </a:t>
            </a:r>
            <a:r>
              <a:rPr lang="en-US" sz="2800" b="1" u="sng" dirty="0" smtClean="0"/>
              <a:t>presents task/activity sequencing involving dependencies of tasks</a:t>
            </a:r>
            <a:r>
              <a:rPr lang="en-US" sz="2800" b="1" dirty="0" smtClean="0"/>
              <a:t> and </a:t>
            </a:r>
            <a:r>
              <a:rPr lang="en-US" sz="2800" b="1" u="sng" dirty="0" smtClean="0"/>
              <a:t>when those tasks should take place</a:t>
            </a:r>
            <a:endParaRPr lang="en-US" sz="2800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458200" cy="44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8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Activity sequencing </a:t>
            </a:r>
            <a:r>
              <a:rPr lang="en-US" dirty="0" smtClean="0">
                <a:solidFill>
                  <a:srgbClr val="00B050"/>
                </a:solidFill>
              </a:rPr>
              <a:t>after activities are defined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Once </a:t>
            </a:r>
            <a:r>
              <a:rPr lang="en-US" b="1" dirty="0" smtClean="0"/>
              <a:t>activities been </a:t>
            </a:r>
            <a:r>
              <a:rPr lang="en-US" b="1" dirty="0"/>
              <a:t>defined, </a:t>
            </a:r>
            <a:r>
              <a:rPr lang="en-US" b="1" dirty="0" smtClean="0">
                <a:solidFill>
                  <a:srgbClr val="00B050"/>
                </a:solidFill>
              </a:rPr>
              <a:t>the project </a:t>
            </a:r>
            <a:r>
              <a:rPr lang="en-US" b="1" dirty="0">
                <a:solidFill>
                  <a:srgbClr val="00B050"/>
                </a:solidFill>
              </a:rPr>
              <a:t>manager and other stakeholders </a:t>
            </a:r>
            <a:r>
              <a:rPr lang="en-US" b="1" dirty="0" smtClean="0">
                <a:solidFill>
                  <a:srgbClr val="00B050"/>
                </a:solidFill>
              </a:rPr>
              <a:t>need to </a:t>
            </a:r>
            <a:r>
              <a:rPr lang="en-US" b="1" dirty="0">
                <a:solidFill>
                  <a:srgbClr val="00B050"/>
                </a:solidFill>
              </a:rPr>
              <a:t>sequence </a:t>
            </a:r>
            <a:r>
              <a:rPr lang="en-US" b="1" dirty="0" smtClean="0">
                <a:solidFill>
                  <a:srgbClr val="00B050"/>
                </a:solidFill>
              </a:rPr>
              <a:t>these tasks to </a:t>
            </a:r>
            <a:r>
              <a:rPr lang="en-US" b="1" dirty="0">
                <a:solidFill>
                  <a:srgbClr val="00B050"/>
                </a:solidFill>
              </a:rPr>
              <a:t>place them in the appropriate order</a:t>
            </a:r>
            <a:r>
              <a:rPr lang="en-US" dirty="0"/>
              <a:t>, and then track and manage them. </a:t>
            </a:r>
            <a:endParaRPr lang="en-US" dirty="0" smtClean="0"/>
          </a:p>
          <a:p>
            <a:r>
              <a:rPr lang="en-US" dirty="0" smtClean="0"/>
              <a:t>Activities </a:t>
            </a:r>
            <a:r>
              <a:rPr lang="en-US" dirty="0"/>
              <a:t>are typically tracked </a:t>
            </a:r>
            <a:r>
              <a:rPr lang="en-US" dirty="0" smtClean="0"/>
              <a:t>with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 smtClean="0"/>
              <a:t>either </a:t>
            </a:r>
            <a:r>
              <a:rPr lang="en-US" dirty="0"/>
              <a:t>a network diagram, representing all the activities for a project in a sequential, workflow </a:t>
            </a:r>
            <a:r>
              <a:rPr lang="en-US" dirty="0" smtClean="0"/>
              <a:t>format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 smtClean="0"/>
              <a:t>or </a:t>
            </a:r>
            <a:r>
              <a:rPr lang="en-US" dirty="0"/>
              <a:t>a Gantt </a:t>
            </a:r>
            <a:r>
              <a:rPr lang="en-US" dirty="0" smtClean="0"/>
              <a:t>chart, which </a:t>
            </a:r>
            <a:r>
              <a:rPr lang="en-US" dirty="0"/>
              <a:t>represents tasks via horizontal bars that demonstrate their length and duration</a:t>
            </a:r>
            <a:r>
              <a:rPr lang="en-US" dirty="0" smtClean="0"/>
              <a:t>.(</a:t>
            </a:r>
            <a:r>
              <a:rPr lang="en-US" b="1" dirty="0" smtClean="0"/>
              <a:t>refer previous figure)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80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33192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Benefits of stating start and end date of  each activity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ensure that the appropriate resources will be available precisely when </a:t>
            </a:r>
            <a:r>
              <a:rPr lang="en-US" sz="2400" dirty="0" smtClean="0">
                <a:solidFill>
                  <a:srgbClr val="00B050"/>
                </a:solidFill>
              </a:rPr>
              <a:t>required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en-US" sz="2400" dirty="0" smtClean="0">
                <a:solidFill>
                  <a:srgbClr val="00B050"/>
                </a:solidFill>
              </a:rPr>
              <a:t>avoid </a:t>
            </a:r>
            <a:r>
              <a:rPr lang="en-US" sz="2400" dirty="0">
                <a:solidFill>
                  <a:srgbClr val="00B050"/>
                </a:solidFill>
              </a:rPr>
              <a:t>different activities competing for the same resources at the same time;</a:t>
            </a:r>
          </a:p>
          <a:p>
            <a:r>
              <a:rPr lang="en-US" sz="2400" dirty="0" smtClean="0">
                <a:solidFill>
                  <a:srgbClr val="00B050"/>
                </a:solidFill>
              </a:rPr>
              <a:t>produce </a:t>
            </a:r>
            <a:r>
              <a:rPr lang="en-US" sz="2400" dirty="0">
                <a:solidFill>
                  <a:srgbClr val="00B050"/>
                </a:solidFill>
              </a:rPr>
              <a:t>a detailed schedule showing which staff carry out each activity;</a:t>
            </a:r>
          </a:p>
          <a:p>
            <a:r>
              <a:rPr lang="en-US" sz="2400" dirty="0" smtClean="0">
                <a:solidFill>
                  <a:srgbClr val="00B050"/>
                </a:solidFill>
              </a:rPr>
              <a:t>produce </a:t>
            </a:r>
            <a:r>
              <a:rPr lang="en-US" sz="2400" dirty="0">
                <a:solidFill>
                  <a:srgbClr val="00B050"/>
                </a:solidFill>
              </a:rPr>
              <a:t>a detailed plan against which actual achievement may be measured</a:t>
            </a:r>
            <a:r>
              <a:rPr lang="en-US" sz="2400" dirty="0" smtClean="0">
                <a:solidFill>
                  <a:srgbClr val="00B050"/>
                </a:solidFill>
              </a:rPr>
              <a:t>;</a:t>
            </a:r>
          </a:p>
          <a:p>
            <a:r>
              <a:rPr lang="en-US" sz="2400" dirty="0" smtClean="0">
                <a:solidFill>
                  <a:srgbClr val="00B050"/>
                </a:solidFill>
              </a:rPr>
              <a:t>produce </a:t>
            </a:r>
            <a:r>
              <a:rPr lang="en-US" sz="2400" dirty="0">
                <a:solidFill>
                  <a:srgbClr val="00B050"/>
                </a:solidFill>
              </a:rPr>
              <a:t>a timed cash </a:t>
            </a:r>
            <a:r>
              <a:rPr lang="en-US" sz="2400" dirty="0" smtClean="0">
                <a:solidFill>
                  <a:srgbClr val="00B050"/>
                </a:solidFill>
              </a:rPr>
              <a:t>flow </a:t>
            </a:r>
            <a:r>
              <a:rPr lang="en-US" sz="2400" dirty="0">
                <a:solidFill>
                  <a:srgbClr val="00B050"/>
                </a:solidFill>
              </a:rPr>
              <a:t>forecast;</a:t>
            </a:r>
          </a:p>
          <a:p>
            <a:r>
              <a:rPr lang="en-US" sz="2400" dirty="0" smtClean="0">
                <a:solidFill>
                  <a:srgbClr val="00B050"/>
                </a:solidFill>
              </a:rPr>
              <a:t>Re-plan </a:t>
            </a:r>
            <a:r>
              <a:rPr lang="en-US" sz="2400" dirty="0">
                <a:solidFill>
                  <a:srgbClr val="00B050"/>
                </a:solidFill>
              </a:rPr>
              <a:t>the project during its life to correct drift from the target</a:t>
            </a:r>
            <a:r>
              <a:rPr lang="en-US" sz="2400" dirty="0" smtClean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32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 of activity scheduling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Monitoring the project’s progress  so that output of each activity are delivered on time</a:t>
            </a:r>
          </a:p>
          <a:p>
            <a:r>
              <a:rPr lang="en-US" sz="2400" dirty="0" smtClean="0"/>
              <a:t>Easy to track the progress or any obstruction when something goes wrong </a:t>
            </a:r>
            <a:r>
              <a:rPr lang="en-US" sz="2400" dirty="0" smtClean="0">
                <a:sym typeface="Wingdings" pitchFamily="2" charset="2"/>
              </a:rPr>
              <a:t>as a result we can easily identify the cause and review the plan to prevent its negative effect</a:t>
            </a:r>
          </a:p>
          <a:p>
            <a:r>
              <a:rPr lang="en-US" sz="2400" b="1" dirty="0" smtClean="0">
                <a:sym typeface="Wingdings" pitchFamily="2" charset="2"/>
              </a:rPr>
              <a:t>In other words the activity plan quantifies the consequences of not meeting the task completion date and gives a direction on revising the project plan so that the project  will be back on track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3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Activity </a:t>
            </a:r>
            <a:r>
              <a:rPr lang="en-US" dirty="0"/>
              <a:t>P</a:t>
            </a:r>
            <a:r>
              <a:rPr lang="en-US" dirty="0" smtClean="0"/>
              <a:t>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724400"/>
          </a:xfrm>
        </p:spPr>
        <p:txBody>
          <a:bodyPr/>
          <a:lstStyle/>
          <a:p>
            <a:r>
              <a:rPr lang="en-US" sz="2400" b="1" dirty="0" smtClean="0"/>
              <a:t>Feasibility Assessment </a:t>
            </a:r>
            <a:r>
              <a:rPr lang="en-US" sz="2400" dirty="0" smtClean="0">
                <a:sym typeface="Wingdings" pitchFamily="2" charset="2"/>
              </a:rPr>
              <a:t>gives answer to the following question:</a:t>
            </a:r>
          </a:p>
          <a:p>
            <a:pPr lvl="1"/>
            <a:r>
              <a:rPr lang="en-US" sz="2200" dirty="0" smtClean="0">
                <a:sym typeface="Wingdings" pitchFamily="2" charset="2"/>
              </a:rPr>
              <a:t> Is the project possible within given time and the available resource? (</a:t>
            </a:r>
            <a:r>
              <a:rPr lang="en-US" sz="2200" dirty="0" smtClean="0">
                <a:solidFill>
                  <a:srgbClr val="FF0000"/>
                </a:solidFill>
                <a:sym typeface="Wingdings" pitchFamily="2" charset="2"/>
              </a:rPr>
              <a:t>!!!</a:t>
            </a:r>
            <a:r>
              <a:rPr lang="en-US" sz="2200" dirty="0" smtClean="0">
                <a:sym typeface="Wingdings" pitchFamily="2" charset="2"/>
              </a:rPr>
              <a:t> remember an organization or any project has a limited number of resources and time not infinite</a:t>
            </a:r>
            <a:r>
              <a:rPr lang="en-US" sz="2200" dirty="0" smtClean="0">
                <a:solidFill>
                  <a:srgbClr val="FF0000"/>
                </a:solidFill>
                <a:sym typeface="Wingdings" pitchFamily="2" charset="2"/>
              </a:rPr>
              <a:t>!!!!</a:t>
            </a:r>
            <a:r>
              <a:rPr lang="en-US" sz="2200" dirty="0" smtClean="0">
                <a:sym typeface="Wingdings" pitchFamily="2" charset="2"/>
              </a:rPr>
              <a:t>)</a:t>
            </a:r>
          </a:p>
          <a:p>
            <a:r>
              <a:rPr lang="en-US" sz="2400" b="1" dirty="0">
                <a:sym typeface="Wingdings" pitchFamily="2" charset="2"/>
              </a:rPr>
              <a:t>Resource Allocation</a:t>
            </a:r>
          </a:p>
          <a:p>
            <a:pPr lvl="1"/>
            <a:r>
              <a:rPr lang="en-US" sz="2200" dirty="0">
                <a:sym typeface="Wingdings" pitchFamily="2" charset="2"/>
              </a:rPr>
              <a:t>What are the most effective ways of allocating resources within a given timescale of the project?</a:t>
            </a:r>
          </a:p>
          <a:p>
            <a:r>
              <a:rPr lang="en-US" sz="2400" b="1" dirty="0">
                <a:sym typeface="Wingdings" pitchFamily="2" charset="2"/>
              </a:rPr>
              <a:t> Detailed Costing</a:t>
            </a:r>
          </a:p>
          <a:p>
            <a:pPr lvl="1"/>
            <a:r>
              <a:rPr lang="en-US" sz="2200" dirty="0">
                <a:sym typeface="Wingdings" pitchFamily="2" charset="2"/>
              </a:rPr>
              <a:t>How much does the project cost and when is that particular expenditure likely to take place?</a:t>
            </a:r>
          </a:p>
          <a:p>
            <a:pPr lvl="1"/>
            <a:r>
              <a:rPr lang="en-US" sz="2200" dirty="0">
                <a:sym typeface="Wingdings" pitchFamily="2" charset="2"/>
              </a:rPr>
              <a:t>Producing an activity plan and allocating resource will lead to much better estimate of the project cost</a:t>
            </a:r>
          </a:p>
          <a:p>
            <a:pPr lvl="1"/>
            <a:endParaRPr lang="en-US" sz="2200" dirty="0" smtClean="0">
              <a:sym typeface="Wingdings" pitchFamily="2" charset="2"/>
            </a:endParaRPr>
          </a:p>
          <a:p>
            <a:endParaRPr lang="en-US" dirty="0" smtClean="0">
              <a:solidFill>
                <a:srgbClr val="FF0000"/>
              </a:solidFill>
              <a:sym typeface="Wingdings" pitchFamily="2" charset="2"/>
            </a:endParaRPr>
          </a:p>
          <a:p>
            <a:endParaRPr lang="en-US" dirty="0" smtClean="0">
              <a:solidFill>
                <a:srgbClr val="FF0000"/>
              </a:solidFill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1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 of Activity Planning </a:t>
            </a:r>
            <a:r>
              <a:rPr lang="en-US" dirty="0" smtClean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b="1" dirty="0" smtClean="0"/>
              <a:t>Motivation </a:t>
            </a:r>
            <a:r>
              <a:rPr lang="en-US" sz="2400" b="1" dirty="0" smtClean="0">
                <a:sym typeface="Wingdings" pitchFamily="2" charset="2"/>
              </a:rPr>
              <a:t></a:t>
            </a:r>
            <a:r>
              <a:rPr lang="en-US" sz="2400" dirty="0" smtClean="0"/>
              <a:t>Providing targets and being seen to monitor achievements against target is an effective way of motivating staff 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19400"/>
            <a:ext cx="7010400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985221"/>
            <a:ext cx="3429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9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 of Activity Planning </a:t>
            </a:r>
            <a:r>
              <a:rPr lang="en-US" dirty="0" smtClean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Coordination -</a:t>
            </a:r>
            <a:r>
              <a:rPr lang="en-US" sz="2400" dirty="0" smtClean="0"/>
              <a:t>When </a:t>
            </a:r>
            <a:r>
              <a:rPr lang="en-US" sz="2400" dirty="0"/>
              <a:t>do the staff in different departments need to be available </a:t>
            </a:r>
            <a:r>
              <a:rPr lang="en-US" sz="2400" dirty="0" smtClean="0"/>
              <a:t>to work </a:t>
            </a:r>
            <a:r>
              <a:rPr lang="en-US" sz="2400" dirty="0"/>
              <a:t>on a particular project and when do staff need to be transferred </a:t>
            </a:r>
            <a:r>
              <a:rPr lang="en-US" sz="2400" dirty="0" smtClean="0"/>
              <a:t>between projects</a:t>
            </a:r>
            <a:r>
              <a:rPr lang="en-US" sz="2400" dirty="0"/>
              <a:t>? </a:t>
            </a:r>
            <a:endParaRPr lang="en-US" sz="2400" dirty="0" smtClean="0"/>
          </a:p>
          <a:p>
            <a:pPr lvl="1"/>
            <a:r>
              <a:rPr lang="en-US" sz="2200" b="1" dirty="0" smtClean="0">
                <a:solidFill>
                  <a:srgbClr val="FF0000"/>
                </a:solidFill>
              </a:rPr>
              <a:t>!!!</a:t>
            </a:r>
            <a:r>
              <a:rPr lang="en-US" sz="2200" dirty="0" smtClean="0"/>
              <a:t> In </a:t>
            </a:r>
            <a:r>
              <a:rPr lang="en-US" sz="2200" dirty="0">
                <a:solidFill>
                  <a:srgbClr val="FF0000"/>
                </a:solidFill>
              </a:rPr>
              <a:t>situations </a:t>
            </a:r>
            <a:r>
              <a:rPr lang="en-US" sz="2200" dirty="0" smtClean="0">
                <a:solidFill>
                  <a:srgbClr val="FF0000"/>
                </a:solidFill>
              </a:rPr>
              <a:t>where staff are  concurrently working on more </a:t>
            </a:r>
            <a:r>
              <a:rPr lang="en-US" sz="2200" dirty="0">
                <a:solidFill>
                  <a:srgbClr val="FF0000"/>
                </a:solidFill>
              </a:rPr>
              <a:t>than one </a:t>
            </a:r>
            <a:r>
              <a:rPr lang="en-US" sz="2200" dirty="0" smtClean="0">
                <a:solidFill>
                  <a:srgbClr val="FF0000"/>
                </a:solidFill>
              </a:rPr>
              <a:t>project</a:t>
            </a:r>
            <a:r>
              <a:rPr lang="en-US" sz="2200" dirty="0" smtClean="0"/>
              <a:t>,  </a:t>
            </a:r>
            <a:r>
              <a:rPr lang="en-US" sz="2200" b="1" dirty="0" smtClean="0"/>
              <a:t>a set of integrated project schedules should </a:t>
            </a:r>
            <a:r>
              <a:rPr lang="en-US" sz="2200" b="1" dirty="0"/>
              <a:t>ensure that such staff are available when required and do not suffer periods of </a:t>
            </a:r>
            <a:r>
              <a:rPr lang="en-US" sz="2200" b="1" dirty="0" smtClean="0"/>
              <a:t>enforced idleness</a:t>
            </a:r>
            <a:r>
              <a:rPr lang="en-US" sz="2200" dirty="0"/>
              <a:t>.</a:t>
            </a: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51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743" y="533400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purpose of plan shifts at each successive iteration of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During </a:t>
            </a:r>
            <a:r>
              <a:rPr lang="en-US" sz="2400" dirty="0"/>
              <a:t>the feasibility study and project start-up, </a:t>
            </a:r>
            <a:r>
              <a:rPr lang="en-US" sz="2400" b="1" dirty="0"/>
              <a:t>the main purpose of planning will </a:t>
            </a:r>
            <a:r>
              <a:rPr lang="en-US" sz="2400" b="1" dirty="0" smtClean="0"/>
              <a:t>be:</a:t>
            </a:r>
          </a:p>
          <a:p>
            <a:pPr marL="761238" lvl="2" indent="-285750"/>
            <a:r>
              <a:rPr lang="en-US" sz="1800" b="1" dirty="0"/>
              <a:t> to estimate </a:t>
            </a:r>
            <a:r>
              <a:rPr lang="en-US" sz="1800" b="1" dirty="0" smtClean="0"/>
              <a:t>time scales </a:t>
            </a:r>
            <a:endParaRPr lang="en-US" sz="1800" b="1" dirty="0"/>
          </a:p>
          <a:p>
            <a:pPr marL="761238" lvl="2" indent="-285750"/>
            <a:r>
              <a:rPr lang="en-US" sz="1800" b="1" dirty="0"/>
              <a:t>And estimate  the risks of not achieving target completion dates or keeping within budget. </a:t>
            </a:r>
            <a:endParaRPr lang="en-US" sz="1800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But </a:t>
            </a:r>
            <a:r>
              <a:rPr lang="en-US" sz="2400" dirty="0"/>
              <a:t>as the project proceeds beyond the feasibility study, the emphasis will be placed upon the production of activity plans for ensuring resource availability and cash flow control</a:t>
            </a:r>
            <a:r>
              <a:rPr lang="en-US" sz="2400" dirty="0" smtClean="0"/>
              <a:t>.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**** Throughout </a:t>
            </a:r>
            <a:r>
              <a:rPr lang="en-US" sz="2400" dirty="0">
                <a:solidFill>
                  <a:srgbClr val="FF0000"/>
                </a:solidFill>
              </a:rPr>
              <a:t>the project, until the </a:t>
            </a:r>
            <a:r>
              <a:rPr lang="en-US" sz="2400" dirty="0" smtClean="0">
                <a:solidFill>
                  <a:srgbClr val="FF0000"/>
                </a:solidFill>
              </a:rPr>
              <a:t>final </a:t>
            </a:r>
            <a:r>
              <a:rPr lang="en-US" sz="2400" dirty="0">
                <a:solidFill>
                  <a:srgbClr val="FF0000"/>
                </a:solidFill>
              </a:rPr>
              <a:t>deliverable has reached the customer,</a:t>
            </a:r>
            <a:r>
              <a:rPr lang="en-US" sz="2400" dirty="0"/>
              <a:t> </a:t>
            </a:r>
            <a:r>
              <a:rPr lang="en-US" sz="2400" b="1" dirty="0"/>
              <a:t>monitoring and replanning </a:t>
            </a:r>
            <a:r>
              <a:rPr lang="en-US" sz="2400" b="1" dirty="0" smtClean="0"/>
              <a:t>must continue </a:t>
            </a:r>
            <a:r>
              <a:rPr lang="en-US" sz="2400" b="1" dirty="0"/>
              <a:t>to correct any </a:t>
            </a:r>
            <a:r>
              <a:rPr lang="en-US" sz="2400" b="1" dirty="0" smtClean="0"/>
              <a:t>changes in the plan</a:t>
            </a:r>
            <a:r>
              <a:rPr lang="en-US" sz="2400" b="1" dirty="0" smtClean="0">
                <a:solidFill>
                  <a:srgbClr val="0070C0"/>
                </a:solidFill>
              </a:rPr>
              <a:t> that </a:t>
            </a:r>
            <a:r>
              <a:rPr lang="en-US" sz="2400" b="1" dirty="0">
                <a:solidFill>
                  <a:srgbClr val="0070C0"/>
                </a:solidFill>
              </a:rPr>
              <a:t>might prevent meeting time or cost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3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refined detailed plan of the project </a:t>
            </a:r>
          </a:p>
          <a:p>
            <a:pPr lvl="1"/>
            <a:r>
              <a:rPr lang="en-US" sz="2000" dirty="0" smtClean="0"/>
              <a:t>showing </a:t>
            </a:r>
            <a:r>
              <a:rPr lang="en-US" sz="2000" dirty="0"/>
              <a:t>dates </a:t>
            </a:r>
            <a:r>
              <a:rPr lang="en-US" sz="2000" dirty="0" smtClean="0"/>
              <a:t>of when </a:t>
            </a:r>
            <a:r>
              <a:rPr lang="en-US" sz="2000" dirty="0"/>
              <a:t>each activity </a:t>
            </a:r>
            <a:r>
              <a:rPr lang="en-US" sz="2000" dirty="0" smtClean="0"/>
              <a:t>should start </a:t>
            </a:r>
            <a:r>
              <a:rPr lang="en-US" sz="2000" dirty="0"/>
              <a:t>and </a:t>
            </a:r>
            <a:r>
              <a:rPr lang="en-US" sz="2000" dirty="0" smtClean="0"/>
              <a:t>finish </a:t>
            </a:r>
            <a:r>
              <a:rPr lang="en-US" sz="2000" b="1" dirty="0" smtClean="0"/>
              <a:t>(time)</a:t>
            </a:r>
          </a:p>
          <a:p>
            <a:pPr lvl="1"/>
            <a:r>
              <a:rPr lang="en-US" sz="2000" dirty="0" smtClean="0"/>
              <a:t> </a:t>
            </a:r>
            <a:r>
              <a:rPr lang="en-US" sz="2000" dirty="0"/>
              <a:t>and when and how much of each resource will be required</a:t>
            </a:r>
            <a:r>
              <a:rPr lang="en-US" sz="2000" dirty="0" smtClean="0"/>
              <a:t>.  </a:t>
            </a:r>
            <a:r>
              <a:rPr lang="en-US" sz="2000" b="1" dirty="0" smtClean="0"/>
              <a:t>(resource)</a:t>
            </a:r>
            <a:endParaRPr lang="en-US" sz="2000" dirty="0"/>
          </a:p>
          <a:p>
            <a:r>
              <a:rPr lang="en-US" b="1" dirty="0" smtClean="0"/>
              <a:t>4 main stages of Project Schedule Creation</a:t>
            </a:r>
            <a:endParaRPr lang="en-US" b="1" dirty="0"/>
          </a:p>
          <a:p>
            <a:pPr marL="635508" lvl="1" indent="-342900">
              <a:buFont typeface="+mj-lt"/>
              <a:buAutoNum type="arabicPeriod"/>
            </a:pPr>
            <a:r>
              <a:rPr lang="en-US" sz="2000" b="1" dirty="0" smtClean="0"/>
              <a:t>What activities need to be carried out and in what order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sz="2000" b="1" dirty="0" smtClean="0"/>
              <a:t>Ideal </a:t>
            </a:r>
            <a:r>
              <a:rPr lang="en-US" sz="2000" b="1" i="1" dirty="0" smtClean="0"/>
              <a:t>activity plan construction </a:t>
            </a:r>
            <a:r>
              <a:rPr lang="en-US" sz="2000" i="1" dirty="0" smtClean="0"/>
              <a:t> – </a:t>
            </a:r>
            <a:r>
              <a:rPr lang="en-US" sz="2000" b="1" dirty="0" smtClean="0"/>
              <a:t>a plan when each activity would ideally be undertaken had resources not been a constraint. </a:t>
            </a:r>
          </a:p>
          <a:p>
            <a:pPr lvl="3"/>
            <a:r>
              <a:rPr lang="en-US" sz="2000" dirty="0" smtClean="0"/>
              <a:t>This </a:t>
            </a:r>
            <a:r>
              <a:rPr lang="en-US" sz="2000" dirty="0"/>
              <a:t>activity plan is generated by Steps 4 and 5 of Step </a:t>
            </a:r>
            <a:r>
              <a:rPr lang="en-US" sz="2000" dirty="0" smtClean="0"/>
              <a:t>Wise Project planning overview</a:t>
            </a:r>
            <a:endParaRPr lang="en-US" sz="2000" dirty="0"/>
          </a:p>
          <a:p>
            <a:pPr lvl="3"/>
            <a:r>
              <a:rPr lang="en-US" sz="2000" b="1" dirty="0" smtClean="0"/>
              <a:t>The </a:t>
            </a:r>
            <a:r>
              <a:rPr lang="en-US" sz="2000" b="1" dirty="0"/>
              <a:t>ideal activity plan will then be the subject of an activity risk analysis, aimed at identifying </a:t>
            </a:r>
            <a:r>
              <a:rPr lang="en-US" sz="2000" b="1" dirty="0" smtClean="0"/>
              <a:t>potential problems</a:t>
            </a:r>
            <a:r>
              <a:rPr lang="en-US" sz="2000" b="1" dirty="0"/>
              <a:t>. </a:t>
            </a:r>
            <a:endParaRPr lang="en-US" sz="2000" b="1" dirty="0" smtClean="0"/>
          </a:p>
          <a:p>
            <a:pPr lvl="3"/>
            <a:r>
              <a:rPr lang="en-US" sz="2000" dirty="0" smtClean="0"/>
              <a:t>This </a:t>
            </a:r>
            <a:r>
              <a:rPr lang="en-US" sz="2000" dirty="0"/>
              <a:t>might suggest </a:t>
            </a:r>
            <a:r>
              <a:rPr lang="en-US" sz="2000" b="1" dirty="0"/>
              <a:t>alterations to the ideal activity plan </a:t>
            </a:r>
            <a:r>
              <a:rPr lang="en-US" sz="2000" dirty="0"/>
              <a:t>and will almost certainly have </a:t>
            </a:r>
            <a:r>
              <a:rPr lang="en-US" sz="2000" dirty="0" smtClean="0"/>
              <a:t>implications for </a:t>
            </a:r>
            <a:r>
              <a:rPr lang="en-US" sz="2000" dirty="0"/>
              <a:t>resource </a:t>
            </a:r>
            <a:r>
              <a:rPr lang="en-US" sz="2000" dirty="0" smtClean="0"/>
              <a:t>allocation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2000" b="1" dirty="0"/>
              <a:t>Resource allocation. </a:t>
            </a:r>
            <a:r>
              <a:rPr lang="en-US" sz="2000" dirty="0" smtClean="0"/>
              <a:t>The expected availability of resources might place constraints on when certain activities can be carried out, and our ideal plan might need to be adapted to take account of this</a:t>
            </a:r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 smtClean="0">
              <a:hlinkClick r:id="rId2"/>
            </a:endParaRPr>
          </a:p>
          <a:p>
            <a:endParaRPr lang="en-US" sz="1800" dirty="0">
              <a:hlinkClick r:id="rId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05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b="1" dirty="0" smtClean="0"/>
              <a:t>Schedule production</a:t>
            </a:r>
            <a:r>
              <a:rPr lang="en-US" dirty="0" smtClean="0"/>
              <a:t>- After resources allocation to </a:t>
            </a:r>
            <a:r>
              <a:rPr lang="en-US" dirty="0"/>
              <a:t>each </a:t>
            </a:r>
            <a:r>
              <a:rPr lang="en-US" dirty="0" smtClean="0"/>
              <a:t>activity has been done ,  </a:t>
            </a:r>
            <a:r>
              <a:rPr lang="en-US" b="1" dirty="0" smtClean="0"/>
              <a:t>need to draw </a:t>
            </a:r>
            <a:r>
              <a:rPr lang="en-US" b="1" dirty="0"/>
              <a:t>up and publish a project schedule</a:t>
            </a:r>
            <a:r>
              <a:rPr lang="en-US" dirty="0"/>
              <a:t>, which indicates planned start and completion dates </a:t>
            </a:r>
            <a:r>
              <a:rPr lang="en-US" dirty="0" smtClean="0"/>
              <a:t>and a </a:t>
            </a:r>
            <a:r>
              <a:rPr lang="en-US" dirty="0"/>
              <a:t>resource </a:t>
            </a:r>
            <a:r>
              <a:rPr lang="en-US" dirty="0" smtClean="0"/>
              <a:t>requirements </a:t>
            </a:r>
            <a:r>
              <a:rPr lang="en-US" dirty="0"/>
              <a:t>statement for each activity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Summary Project Schedule Creation</a:t>
            </a:r>
            <a:endParaRPr lang="en-US" b="1" dirty="0"/>
          </a:p>
          <a:p>
            <a:r>
              <a:rPr lang="en-US" dirty="0" smtClean="0"/>
              <a:t>Activity Identification and ordering </a:t>
            </a:r>
          </a:p>
          <a:p>
            <a:pPr marL="201168" lvl="1" indent="0">
              <a:buNone/>
            </a:pPr>
            <a:r>
              <a:rPr lang="en-US" dirty="0" smtClean="0">
                <a:sym typeface="Wingdings" pitchFamily="2" charset="2"/>
              </a:rPr>
              <a:t>Ideal Activity Plan Construction</a:t>
            </a:r>
          </a:p>
          <a:p>
            <a:pPr marL="201168" lvl="1" indent="0">
              <a:buNone/>
            </a:pPr>
            <a:r>
              <a:rPr lang="en-US" dirty="0" smtClean="0">
                <a:sym typeface="Wingdings" pitchFamily="2" charset="2"/>
              </a:rPr>
              <a:t> Resource allocation</a:t>
            </a:r>
          </a:p>
          <a:p>
            <a:pPr marL="201168" lvl="1" indent="0">
              <a:buNone/>
            </a:pPr>
            <a:r>
              <a:rPr lang="en-US" dirty="0" smtClean="0">
                <a:sym typeface="Wingdings" pitchFamily="2" charset="2"/>
              </a:rPr>
              <a:t> Schedule Production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1" y="286605"/>
            <a:ext cx="8381999" cy="780195"/>
          </a:xfrm>
        </p:spPr>
        <p:txBody>
          <a:bodyPr>
            <a:normAutofit/>
          </a:bodyPr>
          <a:lstStyle/>
          <a:p>
            <a:r>
              <a:rPr lang="en-US" dirty="0" smtClean="0"/>
              <a:t>Project Schedule (Contd.)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57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Activity Planning at step 4 and 5 </a:t>
            </a:r>
            <a:endParaRPr lang="en-US" sz="3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104900"/>
            <a:ext cx="4886325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15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352694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5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8289373" cy="542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83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and its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/>
          </a:bodyPr>
          <a:lstStyle/>
          <a:p>
            <a:r>
              <a:rPr lang="en-US" dirty="0"/>
              <a:t>A project is composed of a number of interrelated activities.</a:t>
            </a:r>
          </a:p>
          <a:p>
            <a:r>
              <a:rPr lang="en-US" dirty="0" smtClean="0"/>
              <a:t>A </a:t>
            </a:r>
            <a:r>
              <a:rPr lang="en-US" dirty="0"/>
              <a:t>project may start when at least one of its activities is ready to start.</a:t>
            </a:r>
          </a:p>
          <a:p>
            <a:r>
              <a:rPr lang="en-US" dirty="0" smtClean="0"/>
              <a:t>A </a:t>
            </a:r>
            <a:r>
              <a:rPr lang="en-US" dirty="0"/>
              <a:t>project will be completed when all of the activities it encompasses have been completed</a:t>
            </a:r>
            <a:r>
              <a:rPr lang="en-US" dirty="0" smtClean="0"/>
              <a:t>.</a:t>
            </a:r>
          </a:p>
          <a:p>
            <a:r>
              <a:rPr lang="en-US" b="1" dirty="0"/>
              <a:t>An activity must have a clearly defined start and  end-point, normally marked by the production of a tangible deliverable.</a:t>
            </a:r>
          </a:p>
          <a:p>
            <a:r>
              <a:rPr lang="en-US" dirty="0"/>
              <a:t>If an activity requires a resource (as most do) then that resource requirement must be </a:t>
            </a:r>
            <a:r>
              <a:rPr lang="en-US" dirty="0" smtClean="0"/>
              <a:t>forecastable </a:t>
            </a:r>
            <a:r>
              <a:rPr lang="en-US" dirty="0"/>
              <a:t>and is assumed to be required at a constant level throughout the duration of the activity.</a:t>
            </a:r>
          </a:p>
          <a:p>
            <a:r>
              <a:rPr lang="en-US" dirty="0"/>
              <a:t>The duration of an activity must be </a:t>
            </a:r>
            <a:r>
              <a:rPr lang="en-US" dirty="0" smtClean="0"/>
              <a:t>forecastable </a:t>
            </a:r>
            <a:r>
              <a:rPr lang="en-US" dirty="0"/>
              <a:t>– assuming normal circumstances, and the reasonable availability of resources.</a:t>
            </a:r>
          </a:p>
          <a:p>
            <a:r>
              <a:rPr lang="en-US" b="1" dirty="0"/>
              <a:t>Some activities might require that others are completed before they can begin (these are known as </a:t>
            </a:r>
            <a:r>
              <a:rPr lang="en-US" b="1" i="1" dirty="0"/>
              <a:t>precedence requirements</a:t>
            </a:r>
            <a:r>
              <a:rPr lang="en-US" b="1" dirty="0" smtClean="0"/>
              <a:t>).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3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3 ways to identifying activities in a project:</a:t>
            </a:r>
          </a:p>
          <a:p>
            <a:pPr marL="841248" lvl="2" indent="-457200">
              <a:buFont typeface="+mj-lt"/>
              <a:buAutoNum type="arabicPeriod"/>
            </a:pPr>
            <a:r>
              <a:rPr lang="en-US" sz="2400" dirty="0" smtClean="0"/>
              <a:t>Activity based</a:t>
            </a:r>
          </a:p>
          <a:p>
            <a:pPr marL="841248" lvl="2" indent="-457200">
              <a:buFont typeface="+mj-lt"/>
              <a:buAutoNum type="arabicPeriod"/>
            </a:pPr>
            <a:r>
              <a:rPr lang="en-US" sz="2400" dirty="0" smtClean="0"/>
              <a:t>Product Based</a:t>
            </a:r>
          </a:p>
          <a:p>
            <a:pPr marL="841248" lvl="2" indent="-457200">
              <a:buFont typeface="+mj-lt"/>
              <a:buAutoNum type="arabicPeriod"/>
            </a:pPr>
            <a:r>
              <a:rPr lang="en-US" sz="2400" dirty="0" smtClean="0"/>
              <a:t>Hybrid approach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09512"/>
            <a:ext cx="8381999" cy="780195"/>
          </a:xfrm>
        </p:spPr>
        <p:txBody>
          <a:bodyPr>
            <a:normAutofit/>
          </a:bodyPr>
          <a:lstStyle/>
          <a:p>
            <a:r>
              <a:rPr lang="en-US" dirty="0" smtClean="0"/>
              <a:t>Activity Based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it  list of all activities that the project is thought to go through are noted</a:t>
            </a:r>
          </a:p>
          <a:p>
            <a:r>
              <a:rPr lang="en-US" sz="2400" dirty="0" smtClean="0"/>
              <a:t>Divide the project into main lifecycle stages and again consider each of the lifecycle separately </a:t>
            </a:r>
          </a:p>
          <a:p>
            <a:r>
              <a:rPr lang="en-US" sz="2400" b="1" dirty="0" smtClean="0"/>
              <a:t>Work Break Down Structure (WBS)</a:t>
            </a:r>
            <a:r>
              <a:rPr lang="en-US" sz="2400" dirty="0" smtClean="0"/>
              <a:t> is one of those preferred activity based approach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96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09512"/>
            <a:ext cx="8381999" cy="780195"/>
          </a:xfrm>
        </p:spPr>
        <p:txBody>
          <a:bodyPr>
            <a:normAutofit/>
          </a:bodyPr>
          <a:lstStyle/>
          <a:p>
            <a:r>
              <a:rPr lang="en-US" dirty="0" smtClean="0"/>
              <a:t>Product Based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Product Break Down Structure (PBS) and Product Flow Diagram</a:t>
            </a:r>
          </a:p>
          <a:p>
            <a:pPr lvl="1"/>
            <a:r>
              <a:rPr lang="en-US" sz="2200" dirty="0"/>
              <a:t>is a tool for analyzing, documenting and communicating the outcomes of a project, and forms part of the product based planning technique</a:t>
            </a:r>
            <a:r>
              <a:rPr lang="en-US" sz="2200" dirty="0" smtClean="0"/>
              <a:t>.</a:t>
            </a:r>
          </a:p>
          <a:p>
            <a:pPr lvl="1"/>
            <a:r>
              <a:rPr lang="en-US" sz="2400" dirty="0"/>
              <a:t>The purpose of this breakdown is to provide a visual representation of a products components and the relationship between those </a:t>
            </a:r>
            <a:r>
              <a:rPr lang="en-US" sz="2400" dirty="0" smtClean="0"/>
              <a:t>components</a:t>
            </a:r>
          </a:p>
          <a:p>
            <a:pPr lvl="1"/>
            <a:r>
              <a:rPr lang="en-US" sz="2400" dirty="0" smtClean="0"/>
              <a:t>Show the deliverables</a:t>
            </a:r>
          </a:p>
          <a:p>
            <a:pPr lvl="1"/>
            <a:r>
              <a:rPr lang="en-US" sz="2400" dirty="0"/>
              <a:t>The PFD indicates, for each product, which other products are required as </a:t>
            </a:r>
            <a:r>
              <a:rPr lang="en-US" sz="2400" dirty="0" smtClean="0"/>
              <a:t>inputs</a:t>
            </a:r>
          </a:p>
          <a:p>
            <a:pPr lvl="1"/>
            <a:r>
              <a:rPr lang="en-US" sz="2400" dirty="0"/>
              <a:t>The PFD can therefore be easily transformed into an ordered list of activities by identifying the transformations that turn products into others. 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6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09512"/>
            <a:ext cx="8381999" cy="780195"/>
          </a:xfrm>
        </p:spPr>
        <p:txBody>
          <a:bodyPr>
            <a:normAutofit/>
          </a:bodyPr>
          <a:lstStyle/>
          <a:p>
            <a:r>
              <a:rPr lang="en-US" dirty="0" smtClean="0"/>
              <a:t>Hybrid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324091" y="1296568"/>
            <a:ext cx="8381999" cy="5011986"/>
          </a:xfrm>
        </p:spPr>
        <p:txBody>
          <a:bodyPr>
            <a:normAutofit/>
          </a:bodyPr>
          <a:lstStyle/>
          <a:p>
            <a:r>
              <a:rPr lang="en-US" sz="2600" dirty="0"/>
              <a:t>This approach structure both product and activities</a:t>
            </a:r>
            <a:r>
              <a:rPr lang="en-US" sz="2600" dirty="0" smtClean="0"/>
              <a:t>.</a:t>
            </a:r>
          </a:p>
          <a:p>
            <a:r>
              <a:rPr lang="en-US" sz="2600" dirty="0"/>
              <a:t>IBM recommended the following five levels Level </a:t>
            </a:r>
            <a:endParaRPr lang="en-US" sz="2600" dirty="0" smtClean="0"/>
          </a:p>
          <a:p>
            <a:pPr lvl="1"/>
            <a:r>
              <a:rPr lang="en-US" sz="2400" dirty="0" smtClean="0"/>
              <a:t>Project Level </a:t>
            </a:r>
          </a:p>
          <a:p>
            <a:pPr lvl="1"/>
            <a:r>
              <a:rPr lang="en-US" sz="2400" dirty="0" smtClean="0"/>
              <a:t>Deliverables Level </a:t>
            </a:r>
          </a:p>
          <a:p>
            <a:pPr lvl="2"/>
            <a:r>
              <a:rPr lang="en-US" sz="2000" dirty="0"/>
              <a:t>such as software, manuals and training courses</a:t>
            </a:r>
            <a:endParaRPr lang="en-US" sz="2000" dirty="0" smtClean="0"/>
          </a:p>
          <a:p>
            <a:pPr lvl="1"/>
            <a:r>
              <a:rPr lang="en-US" sz="2400" dirty="0" smtClean="0"/>
              <a:t>Components Level </a:t>
            </a:r>
          </a:p>
          <a:p>
            <a:pPr lvl="2"/>
            <a:r>
              <a:rPr lang="en-US" sz="2000" dirty="0"/>
              <a:t>which are the key work items needed to produce deliverables, </a:t>
            </a:r>
            <a:r>
              <a:rPr lang="en-US" sz="2000" dirty="0" smtClean="0"/>
              <a:t>such </a:t>
            </a:r>
            <a:r>
              <a:rPr lang="en-US" sz="2000" dirty="0"/>
              <a:t>as the modules and tests required to produce the system software. </a:t>
            </a:r>
            <a:endParaRPr lang="en-US" sz="2000" dirty="0" smtClean="0"/>
          </a:p>
          <a:p>
            <a:pPr lvl="1"/>
            <a:r>
              <a:rPr lang="en-US" sz="2400" dirty="0" smtClean="0"/>
              <a:t>Work-packages Level </a:t>
            </a:r>
          </a:p>
          <a:p>
            <a:pPr lvl="2"/>
            <a:r>
              <a:rPr lang="en-US" sz="2000" dirty="0"/>
              <a:t>which are major work items, or collections of related tasks, </a:t>
            </a:r>
            <a:r>
              <a:rPr lang="en-US" sz="2000" dirty="0" smtClean="0"/>
              <a:t>required to </a:t>
            </a:r>
            <a:r>
              <a:rPr lang="en-US" sz="2000" dirty="0"/>
              <a:t>produce a component. </a:t>
            </a:r>
            <a:endParaRPr lang="en-US" sz="2000" dirty="0" smtClean="0"/>
          </a:p>
          <a:p>
            <a:pPr lvl="1"/>
            <a:r>
              <a:rPr lang="en-US" sz="2400" dirty="0" smtClean="0"/>
              <a:t>Tasks Level</a:t>
            </a:r>
          </a:p>
          <a:p>
            <a:pPr lvl="2"/>
            <a:r>
              <a:rPr lang="en-US" sz="2000" dirty="0" smtClean="0"/>
              <a:t>which </a:t>
            </a:r>
            <a:r>
              <a:rPr lang="en-US" sz="2000" dirty="0"/>
              <a:t>are tasks that will normally be the responsibility of a </a:t>
            </a:r>
            <a:r>
              <a:rPr lang="en-US" sz="2000" dirty="0" smtClean="0"/>
              <a:t>single person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77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 Breakdown Structure</a:t>
            </a:r>
            <a:r>
              <a:rPr lang="en-US" dirty="0"/>
              <a:t> </a:t>
            </a:r>
            <a:r>
              <a:rPr lang="en-US" dirty="0" smtClean="0"/>
              <a:t>(WBS)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295400"/>
            <a:ext cx="8381999" cy="762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 smtClean="0"/>
              <a:t>WBS is a </a:t>
            </a:r>
            <a:r>
              <a:rPr lang="en-US" sz="2800" dirty="0"/>
              <a:t>graphical tool used to depict </a:t>
            </a:r>
            <a:r>
              <a:rPr lang="en-US" sz="2800" dirty="0" smtClean="0"/>
              <a:t>the hierarchical </a:t>
            </a:r>
            <a:r>
              <a:rPr lang="en-US" sz="2800" dirty="0"/>
              <a:t>decomposition of </a:t>
            </a:r>
            <a:r>
              <a:rPr lang="en-US" sz="2800" dirty="0" smtClean="0"/>
              <a:t>the project </a:t>
            </a:r>
            <a:r>
              <a:rPr lang="en-US" sz="2800" dirty="0"/>
              <a:t>into phases, activities, </a:t>
            </a:r>
            <a:r>
              <a:rPr lang="en-US" sz="2800" dirty="0" smtClean="0"/>
              <a:t>and tasks.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743200"/>
            <a:ext cx="160972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3962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75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WBS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371600"/>
            <a:ext cx="8381999" cy="44958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WBS  </a:t>
            </a:r>
            <a:r>
              <a:rPr lang="en-US" sz="2800" b="1" dirty="0"/>
              <a:t>involves identifying the main (or </a:t>
            </a:r>
            <a:r>
              <a:rPr lang="en-US" sz="2800" b="1" dirty="0" smtClean="0"/>
              <a:t>high-level) tasks </a:t>
            </a:r>
            <a:r>
              <a:rPr lang="en-US" sz="2800" b="1" dirty="0"/>
              <a:t>required to complete a project and then breaking each of these down into a </a:t>
            </a:r>
            <a:r>
              <a:rPr lang="en-US" sz="2800" b="1" dirty="0" smtClean="0"/>
              <a:t>set of </a:t>
            </a:r>
            <a:r>
              <a:rPr lang="en-US" sz="2800" b="1" dirty="0"/>
              <a:t>lower-level tasks</a:t>
            </a:r>
            <a:r>
              <a:rPr lang="en-US" sz="2800" b="1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Figure </a:t>
            </a:r>
            <a:r>
              <a:rPr lang="en-US" sz="2800" dirty="0" smtClean="0"/>
              <a:t>shows </a:t>
            </a:r>
            <a:r>
              <a:rPr lang="en-US" sz="2800" dirty="0">
                <a:solidFill>
                  <a:srgbClr val="00B050"/>
                </a:solidFill>
              </a:rPr>
              <a:t>a fragment of a WBS where the design task </a:t>
            </a:r>
            <a:r>
              <a:rPr lang="en-US" sz="2800" dirty="0" smtClean="0">
                <a:solidFill>
                  <a:srgbClr val="00B050"/>
                </a:solidFill>
              </a:rPr>
              <a:t>has been </a:t>
            </a:r>
            <a:r>
              <a:rPr lang="en-US" sz="2800" dirty="0">
                <a:solidFill>
                  <a:srgbClr val="00B050"/>
                </a:solidFill>
              </a:rPr>
              <a:t>broken down into three tasks and one of these has been further decomposed </a:t>
            </a:r>
            <a:r>
              <a:rPr lang="en-US" sz="2800" dirty="0" smtClean="0">
                <a:solidFill>
                  <a:srgbClr val="00B050"/>
                </a:solidFill>
              </a:rPr>
              <a:t>into two task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962400"/>
            <a:ext cx="5105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8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Hierarchical Visualization of the WBS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8"/>
          <a:stretch/>
        </p:blipFill>
        <p:spPr bwMode="auto">
          <a:xfrm>
            <a:off x="381000" y="1524000"/>
            <a:ext cx="8305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20003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4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6"/>
          <a:stretch/>
        </p:blipFill>
        <p:spPr bwMode="auto">
          <a:xfrm>
            <a:off x="838200" y="1295400"/>
            <a:ext cx="7720013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1" y="286605"/>
            <a:ext cx="8381999" cy="780195"/>
          </a:xfrm>
        </p:spPr>
        <p:txBody>
          <a:bodyPr>
            <a:normAutofit/>
          </a:bodyPr>
          <a:lstStyle/>
          <a:p>
            <a:r>
              <a:rPr lang="en-US" dirty="0" smtClean="0"/>
              <a:t>Why useful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4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 smtClean="0"/>
          </a:p>
          <a:p>
            <a:r>
              <a:rPr lang="en-US" sz="2400" b="1" dirty="0" smtClean="0"/>
              <a:t>Work Breakdown Structure </a:t>
            </a:r>
            <a:r>
              <a:rPr lang="en-US" sz="2400" b="1" dirty="0"/>
              <a:t>(WBS) </a:t>
            </a:r>
            <a:r>
              <a:rPr lang="en-US" sz="2400" dirty="0"/>
              <a:t>is </a:t>
            </a:r>
            <a:r>
              <a:rPr lang="en-US" sz="2400" dirty="0" smtClean="0"/>
              <a:t>a hierarchical </a:t>
            </a:r>
            <a:r>
              <a:rPr lang="en-US" sz="2400" dirty="0"/>
              <a:t>description </a:t>
            </a:r>
            <a:r>
              <a:rPr lang="en-US" sz="2400" dirty="0" smtClean="0"/>
              <a:t>of all </a:t>
            </a:r>
            <a:r>
              <a:rPr lang="en-US" sz="2400" dirty="0"/>
              <a:t>of the work that must </a:t>
            </a:r>
            <a:r>
              <a:rPr lang="en-US" sz="2400" dirty="0" smtClean="0"/>
              <a:t>be done </a:t>
            </a:r>
            <a:r>
              <a:rPr lang="en-US" sz="2400" dirty="0"/>
              <a:t>to meet the needs </a:t>
            </a:r>
            <a:r>
              <a:rPr lang="en-US" sz="2400" dirty="0" smtClean="0"/>
              <a:t>of the </a:t>
            </a:r>
            <a:r>
              <a:rPr lang="en-US" sz="2400" dirty="0"/>
              <a:t>client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b="1" dirty="0"/>
              <a:t>Milestone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sz="2400" dirty="0"/>
              <a:t>an event signifying the completion of a major project deliverable</a:t>
            </a:r>
            <a:r>
              <a:rPr lang="en-US" dirty="0"/>
              <a:t>.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8382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42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"/>
            <a:ext cx="7162800" cy="5860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66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78486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90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222" y="2220243"/>
            <a:ext cx="6737170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1" y="286605"/>
            <a:ext cx="8381999" cy="7801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Product based WBS for a software </a:t>
            </a:r>
            <a:r>
              <a:rPr lang="en-US" sz="4000" b="1" dirty="0" smtClean="0"/>
              <a:t>system</a:t>
            </a:r>
            <a:endParaRPr lang="en-US" sz="40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develops according to the structure of the output that need to be produced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start from a Product Breakdown Structure, when defined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75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Process </a:t>
            </a:r>
            <a:r>
              <a:rPr lang="en-US" sz="4400" dirty="0" smtClean="0"/>
              <a:t>Based WBS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295400"/>
            <a:ext cx="8381999" cy="4648200"/>
          </a:xfrm>
        </p:spPr>
        <p:txBody>
          <a:bodyPr/>
          <a:lstStyle/>
          <a:p>
            <a:r>
              <a:rPr lang="en-US" dirty="0"/>
              <a:t>It develops according to the phases in which a project is organized</a:t>
            </a:r>
            <a:br>
              <a:rPr lang="en-US" dirty="0"/>
            </a:br>
            <a:r>
              <a:rPr lang="en-US" dirty="0"/>
              <a:t>For instance: Requirements, Analysis, Design, Testing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981200"/>
            <a:ext cx="8001000" cy="42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69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788" y="667605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WBS: both of </a:t>
            </a:r>
            <a:r>
              <a:rPr lang="en-US" dirty="0" smtClean="0"/>
              <a:t>Process and product based WBS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0"/>
            <a:ext cx="8381999" cy="4343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It </a:t>
            </a:r>
            <a:r>
              <a:rPr lang="en-US" sz="2400" dirty="0"/>
              <a:t>mixes process and product</a:t>
            </a:r>
          </a:p>
          <a:p>
            <a:r>
              <a:rPr lang="en-US" sz="2400" dirty="0" smtClean="0"/>
              <a:t>For </a:t>
            </a:r>
            <a:r>
              <a:rPr lang="en-US" sz="2400" dirty="0"/>
              <a:t>instance: life-cycle phases at higher levels; component at</a:t>
            </a:r>
          </a:p>
          <a:p>
            <a:pPr marL="0" indent="0">
              <a:buNone/>
            </a:pPr>
            <a:r>
              <a:rPr lang="en-US" sz="2400" dirty="0"/>
              <a:t>lower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72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7605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To what level of depth WBS needs to show????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0"/>
            <a:ext cx="8381999" cy="4343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Too much depth will create difficulty in managing tasks </a:t>
            </a:r>
          </a:p>
          <a:p>
            <a:r>
              <a:rPr lang="en-US" sz="2400" dirty="0" smtClean="0"/>
              <a:t>Too shallow depth will provide insufficiency in project control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So what level of depth?</a:t>
            </a:r>
          </a:p>
          <a:p>
            <a:r>
              <a:rPr lang="en-US" sz="2400" b="1" u="sng" dirty="0" smtClean="0"/>
              <a:t>The depth should be such that each branch can be extended to a leaf level where that task should be  assigned to a particular person or responsible department within the organization</a:t>
            </a:r>
            <a:endParaRPr lang="en-US" sz="2400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4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WBS produces a task catalogue with non overlapping activities</a:t>
            </a:r>
          </a:p>
          <a:p>
            <a:r>
              <a:rPr lang="en-US" sz="2400" dirty="0" smtClean="0"/>
              <a:t>WBS refinement once the project progresses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In the early </a:t>
            </a:r>
            <a:r>
              <a:rPr lang="en-US" sz="2400" dirty="0">
                <a:solidFill>
                  <a:srgbClr val="0070C0"/>
                </a:solidFill>
              </a:rPr>
              <a:t>part of a project we might use a relatively high-level or shallow WBS,</a:t>
            </a:r>
            <a:r>
              <a:rPr lang="en-US" sz="2400" dirty="0"/>
              <a:t> </a:t>
            </a:r>
            <a:r>
              <a:rPr lang="en-US" sz="2400" b="1" dirty="0"/>
              <a:t>which can be developed </a:t>
            </a:r>
            <a:r>
              <a:rPr lang="en-US" sz="2400" b="1" dirty="0" smtClean="0"/>
              <a:t>as information </a:t>
            </a:r>
            <a:r>
              <a:rPr lang="en-US" sz="2400" b="1" dirty="0"/>
              <a:t>becomes available, typically during the project’s analysis and </a:t>
            </a:r>
            <a:r>
              <a:rPr lang="en-US" sz="2400" b="1" dirty="0" smtClean="0"/>
              <a:t>specification </a:t>
            </a:r>
            <a:r>
              <a:rPr lang="en-US" sz="2400" b="1" dirty="0"/>
              <a:t>phases.</a:t>
            </a:r>
          </a:p>
          <a:p>
            <a:r>
              <a:rPr lang="en-US" sz="2400" u="sng" dirty="0">
                <a:solidFill>
                  <a:srgbClr val="FF0000"/>
                </a:solidFill>
              </a:rPr>
              <a:t>Once the project’s activities have been </a:t>
            </a:r>
            <a:r>
              <a:rPr lang="en-US" sz="2400" u="sng" dirty="0" smtClean="0">
                <a:solidFill>
                  <a:srgbClr val="FF0000"/>
                </a:solidFill>
              </a:rPr>
              <a:t>identified </a:t>
            </a:r>
            <a:r>
              <a:rPr lang="en-US" sz="2400" u="sng" dirty="0">
                <a:solidFill>
                  <a:srgbClr val="00B050"/>
                </a:solidFill>
              </a:rPr>
              <a:t>(whether or not by using a WBS), </a:t>
            </a:r>
            <a:r>
              <a:rPr lang="en-US" sz="2400" u="sng" dirty="0">
                <a:solidFill>
                  <a:srgbClr val="FF0000"/>
                </a:solidFill>
              </a:rPr>
              <a:t>they need to be </a:t>
            </a:r>
            <a:r>
              <a:rPr lang="en-US" sz="2400" u="sng" dirty="0" smtClean="0">
                <a:solidFill>
                  <a:srgbClr val="FF0000"/>
                </a:solidFill>
              </a:rPr>
              <a:t>sequenced in </a:t>
            </a:r>
            <a:r>
              <a:rPr lang="en-US" sz="2400" u="sng" dirty="0">
                <a:solidFill>
                  <a:srgbClr val="FF0000"/>
                </a:solidFill>
              </a:rPr>
              <a:t>the sense of deciding which activities need to be completed before others can start</a:t>
            </a:r>
            <a:r>
              <a:rPr lang="en-US" sz="2400" u="sng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7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18322"/>
            <a:ext cx="8382000" cy="459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88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78" y="457200"/>
            <a:ext cx="8111437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33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400"/>
            <a:ext cx="8374249" cy="5578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04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WBS online shopping store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03897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5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</a:t>
            </a:r>
            <a:r>
              <a:rPr lang="en-US" altLang="en-US" dirty="0" smtClean="0"/>
              <a:t>Fundamentals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sz="2800" dirty="0"/>
              <a:t>The three most common forms of presenting a project schedule are</a:t>
            </a:r>
            <a:r>
              <a:rPr lang="en-US" altLang="en-US" sz="2800" dirty="0" smtClean="0"/>
              <a:t>:</a:t>
            </a:r>
          </a:p>
          <a:p>
            <a:pPr lvl="1"/>
            <a:r>
              <a:rPr lang="en-US" altLang="en-US" sz="2400" dirty="0" smtClean="0"/>
              <a:t>Table</a:t>
            </a:r>
          </a:p>
          <a:p>
            <a:pPr lvl="1"/>
            <a:r>
              <a:rPr lang="en-US" altLang="en-US" sz="2400" dirty="0" smtClean="0"/>
              <a:t>Gantt chart</a:t>
            </a:r>
          </a:p>
          <a:p>
            <a:pPr lvl="1"/>
            <a:r>
              <a:rPr lang="en-US" altLang="en-US" sz="2400" dirty="0" smtClean="0"/>
              <a:t>Network diagram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80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Gantt Charts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Gantt Charts are useful tools for analyzing and planning complex projects. They: </a:t>
            </a:r>
            <a:endParaRPr lang="en-US" sz="2800" dirty="0" smtClean="0"/>
          </a:p>
          <a:p>
            <a:pPr lvl="1"/>
            <a:r>
              <a:rPr lang="en-US" sz="2600" dirty="0" smtClean="0"/>
              <a:t>Help </a:t>
            </a:r>
            <a:r>
              <a:rPr lang="en-US" sz="2600" dirty="0"/>
              <a:t>you to plan out the tasks that need to be </a:t>
            </a:r>
            <a:r>
              <a:rPr lang="en-US" sz="2600" dirty="0" smtClean="0"/>
              <a:t>completed</a:t>
            </a:r>
          </a:p>
          <a:p>
            <a:pPr lvl="1"/>
            <a:r>
              <a:rPr lang="en-US" sz="2600" dirty="0" smtClean="0"/>
              <a:t>Give </a:t>
            </a:r>
            <a:r>
              <a:rPr lang="en-US" sz="2600" dirty="0"/>
              <a:t>you a basis for scheduling when these tasks will be carried </a:t>
            </a:r>
            <a:r>
              <a:rPr lang="en-US" sz="2600" dirty="0" smtClean="0"/>
              <a:t>out</a:t>
            </a:r>
          </a:p>
          <a:p>
            <a:pPr lvl="1"/>
            <a:r>
              <a:rPr lang="en-US" sz="2600" dirty="0" smtClean="0"/>
              <a:t>Allow </a:t>
            </a:r>
            <a:r>
              <a:rPr lang="en-US" sz="2600" dirty="0"/>
              <a:t>you to plan the allocation of resources needed to complete the project, </a:t>
            </a:r>
            <a:r>
              <a:rPr lang="en-US" sz="2600" dirty="0" smtClean="0"/>
              <a:t>and</a:t>
            </a:r>
          </a:p>
          <a:p>
            <a:pPr lvl="1"/>
            <a:r>
              <a:rPr lang="en-US" sz="2600" dirty="0" smtClean="0"/>
              <a:t>Help </a:t>
            </a:r>
            <a:r>
              <a:rPr lang="en-US" sz="2600" dirty="0"/>
              <a:t>you to work out the critical path for a project where you must complete it by a particular date.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2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Gantt Charts</a:t>
            </a:r>
            <a:endParaRPr lang="en-US" dirty="0"/>
          </a:p>
        </p:txBody>
      </p:sp>
      <p:pic>
        <p:nvPicPr>
          <p:cNvPr id="1026" name="Picture 2" descr="Gantt Chart Example by ProductPla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86"/>
          <a:stretch/>
        </p:blipFill>
        <p:spPr bwMode="auto">
          <a:xfrm>
            <a:off x="535000" y="1447800"/>
            <a:ext cx="83042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68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</a:t>
            </a:r>
            <a:r>
              <a:rPr lang="en-US" altLang="en-US" dirty="0" smtClean="0"/>
              <a:t>Diagram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Critical path method </a:t>
            </a:r>
            <a:r>
              <a:rPr lang="en-US" sz="2400" dirty="0" smtClean="0"/>
              <a:t>(CPM)</a:t>
            </a:r>
          </a:p>
          <a:p>
            <a:r>
              <a:rPr lang="en-US" sz="2400" dirty="0" smtClean="0"/>
              <a:t>Program Evaluation and Review Technique (PERT)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path method (CPM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/>
            <a:r>
              <a:rPr lang="en-US" altLang="en-US" sz="2400" dirty="0"/>
              <a:t>CPM is a project network analysis technique used to predict total project duration</a:t>
            </a:r>
          </a:p>
          <a:p>
            <a:pPr marL="342900" indent="-342900"/>
            <a:r>
              <a:rPr lang="en-US" altLang="en-US" sz="2400" dirty="0"/>
              <a:t>A critical path for a project is the series of activities that determines the </a:t>
            </a:r>
            <a:r>
              <a:rPr lang="en-US" altLang="en-US" sz="2400" i="1" dirty="0"/>
              <a:t>earliest time</a:t>
            </a:r>
            <a:r>
              <a:rPr lang="en-US" altLang="en-US" sz="2400" dirty="0"/>
              <a:t> by which the project can be completed</a:t>
            </a:r>
          </a:p>
          <a:p>
            <a:pPr marL="342900" indent="-342900"/>
            <a:r>
              <a:rPr lang="en-US" altLang="en-US" sz="2400" dirty="0"/>
              <a:t>The critical path is the </a:t>
            </a:r>
            <a:r>
              <a:rPr lang="en-US" altLang="en-US" sz="2400" i="1" dirty="0"/>
              <a:t>longest path</a:t>
            </a:r>
            <a:r>
              <a:rPr lang="en-US" altLang="en-US" sz="2400" dirty="0"/>
              <a:t> through the network diagram and has the least amount of slack or float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7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CPM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 fontScale="62500" lnSpcReduction="20000"/>
          </a:bodyPr>
          <a:lstStyle/>
          <a:p>
            <a:pPr marL="342900" indent="-342900"/>
            <a:r>
              <a:rPr lang="en-US" altLang="en-US" sz="3800" dirty="0"/>
              <a:t>First develop a good project network diagram</a:t>
            </a:r>
          </a:p>
          <a:p>
            <a:pPr marL="342900" indent="-342900"/>
            <a:r>
              <a:rPr lang="en-US" altLang="en-US" sz="3800" dirty="0"/>
              <a:t>Add the durations for all activities on each path through the project network </a:t>
            </a:r>
            <a:r>
              <a:rPr lang="en-US" altLang="en-US" sz="3800" dirty="0" smtClean="0"/>
              <a:t>diagram</a:t>
            </a:r>
          </a:p>
          <a:p>
            <a:pPr marL="342900" indent="-342900"/>
            <a:endParaRPr lang="en-US" altLang="en-US" sz="3400" dirty="0"/>
          </a:p>
          <a:p>
            <a:pPr marL="342900" indent="-342900"/>
            <a:endParaRPr lang="en-US" altLang="en-US" sz="3400" dirty="0" smtClean="0"/>
          </a:p>
          <a:p>
            <a:pPr marL="342900" indent="-342900"/>
            <a:endParaRPr lang="en-US" altLang="en-US" sz="3400" dirty="0"/>
          </a:p>
          <a:p>
            <a:pPr marL="658368" lvl="1" indent="-457200">
              <a:spcBef>
                <a:spcPct val="50000"/>
              </a:spcBef>
              <a:buFont typeface="+mj-lt"/>
              <a:buAutoNum type="alphaLcParenR"/>
            </a:pPr>
            <a:r>
              <a:rPr lang="en-US" altLang="en-US" sz="3800" dirty="0"/>
              <a:t>How many paths are on this network diagram?</a:t>
            </a:r>
          </a:p>
          <a:p>
            <a:pPr marL="658368" lvl="1" indent="-457200">
              <a:spcBef>
                <a:spcPct val="50000"/>
              </a:spcBef>
              <a:buFont typeface="+mj-lt"/>
              <a:buAutoNum type="alphaLcParenR"/>
            </a:pPr>
            <a:r>
              <a:rPr lang="en-US" altLang="en-US" sz="3800" dirty="0"/>
              <a:t>How long is each path?</a:t>
            </a:r>
          </a:p>
          <a:p>
            <a:pPr marL="658368" lvl="1" indent="-457200">
              <a:spcBef>
                <a:spcPct val="50000"/>
              </a:spcBef>
              <a:buFont typeface="+mj-lt"/>
              <a:buAutoNum type="alphaLcParenR"/>
            </a:pPr>
            <a:r>
              <a:rPr lang="en-US" altLang="en-US" sz="3800" dirty="0"/>
              <a:t>Which is the critical path?</a:t>
            </a:r>
          </a:p>
          <a:p>
            <a:pPr marL="658368" lvl="1" indent="-457200">
              <a:spcBef>
                <a:spcPct val="50000"/>
              </a:spcBef>
              <a:buFont typeface="+mj-lt"/>
              <a:buAutoNum type="alphaLcParenR"/>
            </a:pPr>
            <a:r>
              <a:rPr lang="en-US" altLang="en-US" sz="3800" dirty="0"/>
              <a:t>What is the shortest amount of time needed to complete this </a:t>
            </a:r>
            <a:r>
              <a:rPr lang="en-US" altLang="en-US" sz="3800" dirty="0" smtClean="0"/>
              <a:t>project?</a:t>
            </a:r>
          </a:p>
          <a:p>
            <a:pPr marL="201168" lvl="1" indent="0">
              <a:spcBef>
                <a:spcPct val="50000"/>
              </a:spcBef>
              <a:buNone/>
            </a:pPr>
            <a:r>
              <a:rPr lang="en-US" altLang="en-US" sz="2600" i="1" dirty="0"/>
              <a:t> </a:t>
            </a:r>
            <a:r>
              <a:rPr lang="en-US" altLang="en-US" sz="2600" i="1" dirty="0" smtClean="0"/>
              <a:t>        Note: Assume all duration are on days</a:t>
            </a:r>
            <a:endParaRPr lang="en-US" sz="1300" i="1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086405"/>
              </p:ext>
            </p:extLst>
          </p:nvPr>
        </p:nvGraphicFramePr>
        <p:xfrm>
          <a:off x="747576" y="2452687"/>
          <a:ext cx="7696200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Document" r:id="rId3" imgW="5478840" imgH="993600" progId="Word.Document.8">
                  <p:embed/>
                </p:oleObj>
              </mc:Choice>
              <mc:Fallback>
                <p:oleObj name="Document" r:id="rId3" imgW="5478840" imgH="993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576" y="2452687"/>
                        <a:ext cx="7696200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871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Constructing Network Model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 </a:t>
            </a:r>
            <a:r>
              <a:rPr lang="en-US" sz="2400" dirty="0"/>
              <a:t>project network should have only one start node.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 </a:t>
            </a:r>
            <a:r>
              <a:rPr lang="en-US" sz="2400" dirty="0"/>
              <a:t>project network should have only one end node.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 </a:t>
            </a:r>
            <a:r>
              <a:rPr lang="en-US" sz="2400" dirty="0"/>
              <a:t>node has duration: A node represents an activity and, in </a:t>
            </a:r>
            <a:r>
              <a:rPr lang="en-US" sz="2400" dirty="0" smtClean="0"/>
              <a:t>general, </a:t>
            </a:r>
            <a:r>
              <a:rPr lang="en-US" sz="2400" dirty="0"/>
              <a:t>activities time to </a:t>
            </a:r>
            <a:r>
              <a:rPr lang="en-US" sz="2400" dirty="0" smtClean="0"/>
              <a:t>execute</a:t>
            </a:r>
            <a:r>
              <a:rPr lang="en-US" sz="2400" dirty="0"/>
              <a:t>. (Links normally have no duration)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There should not be any </a:t>
            </a:r>
            <a:r>
              <a:rPr lang="en-US" sz="2400" dirty="0" err="1" smtClean="0"/>
              <a:t>criss-crossing</a:t>
            </a:r>
            <a:r>
              <a:rPr lang="en-US" sz="2400" dirty="0" smtClean="0"/>
              <a:t> of arrows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Time </a:t>
            </a:r>
            <a:r>
              <a:rPr lang="en-US" sz="2400" dirty="0"/>
              <a:t>moves from left to right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 </a:t>
            </a:r>
            <a:r>
              <a:rPr lang="en-US" sz="2400" dirty="0"/>
              <a:t>network may not contain </a:t>
            </a:r>
            <a:r>
              <a:rPr lang="en-US" sz="2400" dirty="0" smtClean="0"/>
              <a:t>loops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 network should not contain </a:t>
            </a:r>
            <a:r>
              <a:rPr lang="en-US" sz="2400" dirty="0" smtClean="0"/>
              <a:t>dangle</a:t>
            </a:r>
          </a:p>
          <a:p>
            <a:pPr marL="749808" lvl="1" indent="-457200"/>
            <a:r>
              <a:rPr lang="en-US" sz="2000" dirty="0" smtClean="0"/>
              <a:t> </a:t>
            </a:r>
            <a:r>
              <a:rPr lang="en-US" sz="2000" dirty="0"/>
              <a:t>dangling activities indicate errors in logic when activities are added as an afterthought.</a:t>
            </a:r>
          </a:p>
        </p:txBody>
      </p:sp>
    </p:spTree>
    <p:extLst>
      <p:ext uri="{BB962C8B-B14F-4D97-AF65-F5344CB8AC3E}">
        <p14:creationId xmlns:p14="http://schemas.microsoft.com/office/powerpoint/2010/main" val="154801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Constructing Network Model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1555"/>
            <a:ext cx="7971681" cy="22136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26" y="4021386"/>
            <a:ext cx="8222848" cy="190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613" y="3651371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smtClean="0"/>
              <a:t>Dangle</a:t>
            </a:r>
            <a:endParaRPr lang="en-US" b="1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711602" y="1121321"/>
            <a:ext cx="809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smtClean="0"/>
              <a:t>Loop</a:t>
            </a:r>
            <a:endParaRPr lang="en-US" sz="2400" b="1" u="sng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89" y="4164636"/>
            <a:ext cx="8351787" cy="182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9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Constructing Network Model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32628" y="1210050"/>
            <a:ext cx="2224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smtClean="0"/>
              <a:t>Dummy Activity</a:t>
            </a:r>
            <a:endParaRPr lang="en-US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926657"/>
            <a:ext cx="57435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5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CPM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4"/>
          <a:stretch/>
        </p:blipFill>
        <p:spPr bwMode="auto">
          <a:xfrm>
            <a:off x="914400" y="1219200"/>
            <a:ext cx="75438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16" b="14729"/>
          <a:stretch/>
        </p:blipFill>
        <p:spPr bwMode="auto">
          <a:xfrm>
            <a:off x="914400" y="42672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22"/>
          <a:stretch/>
        </p:blipFill>
        <p:spPr bwMode="auto">
          <a:xfrm>
            <a:off x="914400" y="5486400"/>
            <a:ext cx="75438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344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Ways of Finding Critical Path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76800"/>
          </a:xfrm>
        </p:spPr>
        <p:txBody>
          <a:bodyPr>
            <a:noAutofit/>
          </a:bodyPr>
          <a:lstStyle/>
          <a:p>
            <a:r>
              <a:rPr lang="en-US" sz="2800" dirty="0" smtClean="0"/>
              <a:t>Forward Pass Computation</a:t>
            </a:r>
          </a:p>
          <a:p>
            <a:pPr lvl="1"/>
            <a:r>
              <a:rPr lang="en-US" sz="2400" dirty="0"/>
              <a:t>All activities start as </a:t>
            </a:r>
            <a:r>
              <a:rPr lang="en-US" sz="2400" dirty="0" smtClean="0"/>
              <a:t>early as possible</a:t>
            </a:r>
          </a:p>
          <a:p>
            <a:pPr lvl="1"/>
            <a:r>
              <a:rPr lang="en-US" sz="2400" dirty="0" smtClean="0"/>
              <a:t>Calculation from left to right</a:t>
            </a:r>
          </a:p>
          <a:p>
            <a:pPr lvl="1"/>
            <a:r>
              <a:rPr lang="en-US" sz="2400" dirty="0" smtClean="0"/>
              <a:t>When two or more activity merges, Largest value is taken as an earliest occurrence time of the event</a:t>
            </a:r>
          </a:p>
          <a:p>
            <a:pPr lvl="1"/>
            <a:r>
              <a:rPr lang="en-US" sz="2400" dirty="0" smtClean="0"/>
              <a:t>EST, EFT</a:t>
            </a:r>
          </a:p>
          <a:p>
            <a:r>
              <a:rPr lang="en-US" sz="2800" dirty="0" smtClean="0"/>
              <a:t>Backward Pass Computation</a:t>
            </a:r>
          </a:p>
          <a:p>
            <a:pPr lvl="1"/>
            <a:r>
              <a:rPr lang="en-US" sz="2400" dirty="0" smtClean="0"/>
              <a:t>All activities start as late as possible </a:t>
            </a:r>
          </a:p>
          <a:p>
            <a:pPr lvl="1"/>
            <a:r>
              <a:rPr lang="en-US" sz="2400" dirty="0"/>
              <a:t>Calculation </a:t>
            </a:r>
            <a:r>
              <a:rPr lang="en-US" sz="2400" dirty="0" smtClean="0"/>
              <a:t>from right to left</a:t>
            </a:r>
            <a:endParaRPr lang="en-US" sz="2400" dirty="0"/>
          </a:p>
          <a:p>
            <a:pPr lvl="1"/>
            <a:r>
              <a:rPr lang="en-US" sz="2400" dirty="0"/>
              <a:t>When two or more activity merges, </a:t>
            </a:r>
            <a:r>
              <a:rPr lang="en-US" sz="2400" dirty="0" smtClean="0"/>
              <a:t>small value </a:t>
            </a:r>
            <a:r>
              <a:rPr lang="en-US" sz="2400" dirty="0"/>
              <a:t>is taken as </a:t>
            </a:r>
            <a:r>
              <a:rPr lang="en-US" sz="2400" dirty="0" smtClean="0"/>
              <a:t>a late occurrence </a:t>
            </a:r>
            <a:r>
              <a:rPr lang="en-US" sz="2400" dirty="0"/>
              <a:t>time of the </a:t>
            </a:r>
            <a:r>
              <a:rPr lang="en-US" sz="2400" dirty="0" smtClean="0"/>
              <a:t>event</a:t>
            </a:r>
          </a:p>
          <a:p>
            <a:pPr lvl="1"/>
            <a:r>
              <a:rPr lang="en-US" sz="2400" dirty="0" smtClean="0"/>
              <a:t>LST, LFT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049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D102C8B3-85D3-464F-94FA-BF9BE36A6C02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827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BCDBB084-F96C-438B-9A55-E830B0458AA2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7829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5CC6D723-B818-4AB3-A312-E6C81EEA3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77851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52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7853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7854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77855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E9C6CEA6-0437-4466-8B9A-6F37B11461FD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F62B5FEA-E8D8-44EC-9B0F-4684C9273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57FE5680-A211-422D-8B25-FC756008B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D82FD68F-AA0C-4A7D-AA8B-DF1DFA6D2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2817D103-F425-4E4C-9822-71F6A8B0D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545C0271-6B63-4D01-8A13-1034467AB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990AC331-BAC8-4283-B998-E18004443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77831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2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3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4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5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7836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FEF3AB4F-5FF8-487E-850A-31DA2F054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77845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46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7847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7848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77849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ADBD2623-D5A2-43CF-A1F1-40BE2784CEEA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607AE6EF-F2BF-46E2-9C38-A934E238E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C92753C8-BE25-4BF5-A967-B6973BCAC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268CEF22-83B1-40F2-9F57-7F2410EED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00BBDCC4-A45F-47AC-864E-15E2B1429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3577E291-4D12-41F9-9CF1-8345A3F1D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A9C1F51F-EFFF-4AA6-91CB-3F503BEC9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685B8FFF-C70C-45B5-93B9-03652786825C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3C0BA4AE-7AEA-4AEC-862E-9DF23825E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A72ECDC5-71F9-474A-B63E-90E6833CA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20B31F76-70B8-418D-985F-5DBF76580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80685A3F-C465-4013-AC3D-F25DD4627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11DB1276-BCA6-4784-8706-788E06680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7B99D1F4-9F12-41F1-8375-C6B199E7E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77839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77840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77841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77842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77843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</p:spTree>
    <p:extLst>
      <p:ext uri="{BB962C8B-B14F-4D97-AF65-F5344CB8AC3E}">
        <p14:creationId xmlns:p14="http://schemas.microsoft.com/office/powerpoint/2010/main" val="22858877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C3D22BCF-0FF2-4006-9DDA-7DC5AD81D600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875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69DBD470-B33A-4F38-8FB8-B58A0AB8B3FB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9877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CAD51CCC-7CAF-4F73-8DA2-834FE54AF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79900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01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9902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9903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79904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6B90DB8C-A390-4107-9642-039C750DE110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4A29D781-C96B-4934-A0F6-75B600D37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007E2AE9-934D-4165-8918-EB9335905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05932933-4E75-4D51-B437-92D3C366E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29D96547-BBBE-4F8D-9099-AB629E417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7F23333E-685F-409E-91DA-893DF1FD7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2DCDFB2C-2A5D-4C0E-A4E1-3F027D48E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79879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0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1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2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3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9884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613E68CD-A15E-4B72-9830-57FACEC4C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79894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95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9896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9897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79898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7F0A265D-077A-42BB-AA45-871DD58167BE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E567928D-F780-4D99-A2C2-96E6CC508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73B3127D-6371-4B5F-90F3-E0827835B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30C6A42F-4C61-4B31-A6DB-C081287D7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E270B9EB-963D-49EE-ABA9-AA04829BC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5C73699A-E2DF-48F4-9DD1-6FC7FFAB2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E3450870-E90B-4366-AE39-F98062BF2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49D30FD4-7E50-4C15-A991-924E8214EC64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E4F1B3EA-1D40-4D9C-BB1F-D7C571092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B01485BC-232A-409F-BEBE-6528C21FD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9A43EBBB-8E81-4388-9410-202BAD28A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B7D47F07-2994-4CAC-957F-121D56634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A5A78207-6094-4132-8E36-7E935C06E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2BF1981B-2B30-492D-AEE0-AAFF74002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79887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79888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79889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79890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79891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79892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07171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72793F7B-C80B-4EFE-9222-711D6C9DBF64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1923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38B36292-F768-408D-B6ED-9DDD173C8248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1925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71FF9605-A085-49B9-A8CC-153BF7F68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1950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51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952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953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81954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42D5AB71-8C6E-4E5A-82BB-6CBA470D8421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6D21040B-FF62-46AB-9078-BB4543BA9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B86673AA-362A-4FC8-9CB6-A4844C5E7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D1CA0905-1413-4D27-AC9B-6B027CE1D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F8645867-6728-47F2-8A0A-251DBF26D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6EF3314B-CCCA-4279-A5AB-E16D9B0E5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179AB907-B535-4BFF-B2B5-E8B46E45B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1927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8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9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0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1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1932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7DED687C-BDB1-4759-9C3F-260DB2315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1944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45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946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947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1948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81767C0C-6854-4B4F-9390-916885B309AF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98A8FBB7-08AC-4381-AD77-83EC8F39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D0F78EA6-03C5-4493-8050-8058ED85E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FC250EB0-F054-4C5A-A06F-69052A50F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50BD7284-5CC0-4D32-B167-B9AE8CE7F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FEDCE640-5E16-41C2-828F-E06A38FC4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77373EC1-1BED-47DA-85CB-F08AC2F92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EC3C1A8C-E4A8-4CB8-952D-169CBADDADC8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EA0823A0-D9D8-403E-B5A1-404C17DC3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3CE93422-7AE6-418A-92C2-8B99C0446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247E6BB5-43AE-4EAE-A037-9F769FD6F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79F59A43-8D58-4E9A-ADB2-1C19F95BF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FC8855DE-3D26-457F-ABA3-810B59C41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89C8FAD3-909E-42B1-8EEC-0322985E3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1935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81936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81937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81938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81939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81940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81941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81942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0633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78412505-97C1-4C2C-B0C3-04086FB62C67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3971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71C064EE-F38B-4A29-AB66-D533C8C11A49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3973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F5961CE9-9C6D-48EF-B0BB-D2FD1E67D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3999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00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4001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4002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84003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5CBD1CA5-0A4C-4522-8FBE-C47BC1710DF1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A774ED29-266B-4FE9-9071-236EC884A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4FF11E36-B0CA-4BB5-A70D-C7704B124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EDD320CF-A169-42A3-A553-CC6CBAD3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D67A6085-2B41-42B7-84B3-C9354727D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8858861D-F9C1-4C78-9F18-B8C1C8DCB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B10EB2D4-8DB4-4511-B9FA-6C52E7AE4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3975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6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7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8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9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3980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5244174F-63C2-4924-81DB-9E30FBDDD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3993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994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3995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3996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3997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B90AD67A-2021-4407-A293-DCCBCBAEEA01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402CBCC1-E646-4A5B-8B08-2620C86D0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9DAC415B-E77E-400F-970C-29CB5C564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3D1D2268-86A2-4B4F-A6F1-C335FE082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34460467-F1BE-4899-BE22-95C17620B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BF882753-FDBB-441F-AEB8-01B33E068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73160C90-D784-4E3B-B66F-CBD686874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B9029A17-98A2-49AF-BCC1-0FABAD8862D0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3344986A-D699-4999-8BB8-909E54470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140EB8FB-4107-4AEC-8C3A-71826821A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AF583CB8-4E14-472E-8CB8-D7D8FBB4C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E8165884-C8B5-42DA-ACDE-0B01EF583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078B8F79-2129-4AA7-A866-668B7FBD0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D9692323-44D5-4DCE-9EE4-2B5DB01DA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3983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83984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83985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83986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83987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83988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83989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83990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83991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798393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60688305-1AEF-4CD3-B573-E9B262105FAC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019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2B5DC094-49D5-48CC-AA95-E4FE4BEF5F3B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6021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4B58D73C-FD40-43AE-B072-5FDB9F9A6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6048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9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6050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6051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86052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9D7AB68D-D62C-46B1-9AB1-D4DE37322879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05B9E1A1-AC7C-484A-9EAF-82A8AC173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B8891D96-CE71-4437-96DE-676C17E83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45BE71C3-F4E7-40AC-96D7-A9E856411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8F60A468-03E4-43A4-BE1B-8B2303DD5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E75A6407-658A-4D88-B0EE-A0A835DB3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F92D3770-2B8E-4CDF-8D6A-C047F3863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6023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4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5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6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7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6028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2FFD6E09-2130-4B7C-88A6-F9EB26E2F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6042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3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6044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6045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6046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8F2E5BC9-080D-4192-A8F1-037827528C14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C63C8C57-4556-40D4-948E-2BDAD77D6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0183D0AA-DA00-4DFE-9E8A-8C76CFE4B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359E8412-022F-4C20-B5DA-72728CC69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A66BEB89-3218-46A7-81DD-DE925AF5A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07ABD43F-1656-4953-B5F7-FFA415F24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7AD03BEE-FB67-4AD5-8510-7405F63DA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C5AA987A-6EFC-4AA0-AD91-A1513EB1EA8A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2FE79A4C-DC40-4C46-8704-15BA45DDD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3C7DD58F-ED5F-45FD-A70C-83979072E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855FE32A-9EAF-4BF7-80EF-AA1BC5882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914DBD98-B878-4326-8675-9B8D4FB5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C2016D93-7FCB-4DF0-90C5-E6D56F693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E524FDDD-7F60-43C0-91FD-219C71A3E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6031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86032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86033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86034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86035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86036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86037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86038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86039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86040" name="Text Box 40"/>
          <p:cNvSpPr txBox="1">
            <a:spLocks noChangeArrowheads="1"/>
          </p:cNvSpPr>
          <p:nvPr/>
        </p:nvSpPr>
        <p:spPr bwMode="auto">
          <a:xfrm>
            <a:off x="7524750" y="2133600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961231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1F0E3406-23C5-4F91-9A1F-5C54A93D3584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8067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ADDFDEE9-6C33-48A2-A74A-8311BC601E90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8069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8A0C2D19-1FA3-4F9E-BDB7-C456CCD06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8097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98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99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100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88101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B6B9C8BB-2944-45E6-B9BA-2079E500873E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29ECA017-9764-4039-A9FF-2B2FA20C9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098D9719-8542-4893-B9FD-2D7C01CBD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8F29A6D6-BA3C-4AA3-9AA2-F47B9CF42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BADBDC23-48BD-4FED-B47A-C5EC42A15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F09F4777-07C9-4080-A4D7-98A44B89F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3A06C135-55F6-42DF-A4A0-B85496DD4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8071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72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73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74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75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8076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6448A18E-FC28-41D0-B491-31EB824F7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88091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92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93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94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88095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F0840AC5-0D6B-4A29-97C4-C36DBB6F55C7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D097983A-6709-4290-8F10-6C158DFEA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2AC4AC3D-8696-4ADC-9732-2C430A0FB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EA3BF54B-8D28-4902-ACE9-AEA6CCA96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8C555F48-FB71-42B4-9AC4-D651E659D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A945FCB7-DADA-4CCC-B19E-431C5A2C6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F01AEDF6-9860-4985-BCE5-AD38005BB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E22CAF5D-54E0-4BFA-8D47-52B77A1B3D43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8842EB02-0FF5-40FA-B097-18F91BDAB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FA081C94-B915-46CB-A1D4-B4FCB37C0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2FD56515-15D7-4DD3-B3A5-C24A1DAF0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CE43268C-2464-49C2-B33E-6A8648B2F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DC7FAA25-CF4F-42A5-A1B6-EE07A3E8C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FE793250-CB55-48C8-9536-85552685C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88079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88080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88081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88082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88083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88084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88085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88086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88087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73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88088" name="Text Box 40"/>
          <p:cNvSpPr txBox="1">
            <a:spLocks noChangeArrowheads="1"/>
          </p:cNvSpPr>
          <p:nvPr/>
        </p:nvSpPr>
        <p:spPr bwMode="auto">
          <a:xfrm>
            <a:off x="7524750" y="2133600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88089" name="Text Box 41"/>
          <p:cNvSpPr txBox="1">
            <a:spLocks noChangeArrowheads="1"/>
          </p:cNvSpPr>
          <p:nvPr/>
        </p:nvSpPr>
        <p:spPr bwMode="auto">
          <a:xfrm>
            <a:off x="7596188" y="2420938"/>
            <a:ext cx="360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77223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0E00BF6D-9DDD-4A00-8021-55989FA4146A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0115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75DF1D0F-0EB9-415A-A9D8-54ADE403F86C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0117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8181A9FF-261A-43E0-80AA-53B325477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0147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48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49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50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90151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EFF63D2E-47E6-42FC-A73A-B523E959F2F3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596B5160-08CB-40D2-A54E-D3D9CD3B6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DA9F78F1-BE85-4CB4-93AA-A2AF7CBA5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F98664AF-2FD2-4F2C-8937-B2C181C8B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998A78F0-F6DE-4D49-87CB-BC967F239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7A4E5242-DF5F-4808-9C02-B872A1F44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06FEB707-652E-4644-8069-C1064E1B7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0119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0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1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2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23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0124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3F83C441-E39C-4DCA-817E-F48996181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0141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42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43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44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90145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DF98CE3D-F4EF-4E71-A8F0-453ADEE61701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0CE31D51-5A4B-46D2-B69B-B2835ADD8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CEBAB179-D2BB-42EE-B49D-5DAA92BEA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4CD45472-BCDD-4BDE-AC63-3FF37A778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58C97E56-261F-4335-AFC2-5D98885CC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FE5C4007-D2D6-4BF4-B6E5-AF72BC0F2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0D1DF0A5-35A4-42B4-94A1-10DAB7531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33C06C00-0CB0-48F8-8029-6E6A0BE1C7A6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A308CEBE-1372-4B3E-8F19-1703A7CD5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4BF0C002-C993-458E-9169-D2BD4BA8B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DD3B52F6-2E72-49FB-80E6-B1589C57D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65229226-36C5-4F56-AAE6-EE506FEDC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B63F1876-8DC9-466B-BEBE-82F38C8C7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749ED5F3-1B33-49A6-867F-3B6D93D67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0127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90128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90129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90130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90131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90132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90133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90134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90135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90136" name="Text Box 40"/>
          <p:cNvSpPr txBox="1">
            <a:spLocks noChangeArrowheads="1"/>
          </p:cNvSpPr>
          <p:nvPr/>
        </p:nvSpPr>
        <p:spPr bwMode="auto">
          <a:xfrm>
            <a:off x="7524750" y="2133600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90137" name="Text Box 41"/>
          <p:cNvSpPr txBox="1">
            <a:spLocks noChangeArrowheads="1"/>
          </p:cNvSpPr>
          <p:nvPr/>
        </p:nvSpPr>
        <p:spPr bwMode="auto">
          <a:xfrm>
            <a:off x="7596188" y="2420938"/>
            <a:ext cx="360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90138" name="AutoShape 42"/>
          <p:cNvSpPr>
            <a:spLocks/>
          </p:cNvSpPr>
          <p:nvPr/>
        </p:nvSpPr>
        <p:spPr bwMode="auto">
          <a:xfrm>
            <a:off x="7956550" y="2205038"/>
            <a:ext cx="215900" cy="576262"/>
          </a:xfrm>
          <a:prstGeom prst="rightBrace">
            <a:avLst>
              <a:gd name="adj1" fmla="val 2224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0139" name="Text Box 43"/>
          <p:cNvSpPr txBox="1">
            <a:spLocks noChangeArrowheads="1"/>
          </p:cNvSpPr>
          <p:nvPr/>
        </p:nvSpPr>
        <p:spPr bwMode="auto">
          <a:xfrm>
            <a:off x="8172450" y="2349500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600" b="1">
                <a:solidFill>
                  <a:srgbClr val="FF0000"/>
                </a:solidFill>
                <a:latin typeface="Calibri" panose="020F0502020204030204" pitchFamily="34" charset="0"/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40746869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EA41DF98-7A9E-4588-BCF1-870992361D37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2163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47D76901-AD26-48EE-AC63-0548F86F3497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2165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7B4D7CD7-FFF1-464C-8F4E-82F0FA041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2192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93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94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95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92196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66E47CE6-E973-4E46-A268-5FB632C28A38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FD118FFE-475B-457D-A5C8-8582B7812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FC6D8CFF-DD06-4038-90D4-D59371004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53E6BC98-2840-4148-ACBE-D3B526EB9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A4375A28-5E78-40E6-A9BE-F1940A147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D915A1BA-B800-49AC-8BB1-40AC35081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5E64A8DE-C6C8-468B-B1CE-F6A2D0895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2167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8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9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70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71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2172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722CFE71-EC2F-400A-8FE7-3846F270F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2186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7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88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89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92190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22859967-C2CE-4BFD-BEEB-2E6A9CA83DB0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F4A646FD-E1BA-4391-8189-0729B4A4E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1556797A-170A-4FA5-AE43-0C94D5C4A4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A773F041-C036-4BAD-A98E-61B309B0A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F2A35C4E-FF87-4D93-B2AF-3DDFB5673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9BF33894-872F-49DE-BF2A-D8045C73E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A746C1E5-CD9A-41D3-A85F-8F3B4B024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91331103-C7F9-4AD2-A685-2CBAC5492386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B8D5671F-B30B-4AED-A0ED-5F42411D0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1991579A-7CDD-4FF8-955A-E2163188E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F97BD058-DC6A-4A0E-A614-FEDDC931E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B8AC6C82-0377-48AD-B914-6EC78F617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0E3DAEF6-B201-4070-B4BC-570905CD9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AE3469E5-0018-4105-93CE-2FD079571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2175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92176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92177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92178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92179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92180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92181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92182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92183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92184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4493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AD1A55D7-7294-40D4-A018-6E252B058380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4211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B8DEBC48-8550-4E7F-BC17-8C348110DB53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4213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983876DA-C7B5-4A15-9010-836ADCA70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4241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42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4243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4244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94245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7407E15C-06E1-4DD2-8843-5F775B7B689B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80E3BB35-0B71-40D9-8D28-E06213491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6526CC19-DC15-410A-9372-8BDFCD8D8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7B688492-2D3E-4013-A183-74721EE34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EC9DFFEE-3EA8-42F8-BB3C-5A7C91CC4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4FDA2DED-8049-49C3-AECC-9868713AB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E144E5E7-9C22-4BAB-81D3-AD4C34497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4215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6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7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8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9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4220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1AF0EDA2-A2C0-43A2-AA87-AFA57107D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4235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6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4237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4238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94239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ACF4D0C0-C1FE-44EF-A211-42B43ACF43D0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12166B2D-ADBD-4F47-B2FE-7303D012E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63D3FEB9-7568-4570-AE07-8C293BCF4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8159F1B0-7BA6-41A1-9E27-ACBBCA120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2E5B77AE-9C2B-4B63-9E4F-090BA07B8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4FD515C5-2ACA-4855-96E5-345739727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7425701A-C859-424F-9EAD-B6FB315FD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8D092F05-1878-4C0A-8409-DD1A42DCC24C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CAB6704A-1518-427B-8E50-1E236A3F7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A6422A53-B6C0-4C0D-8CB2-B8138E8F8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6294A62D-A0D5-40B2-ADBB-DAA72D450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17ADC169-6654-4A6F-8B5B-46C64ECC8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51DA2344-4BC2-43A4-B2D9-8C884812B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A290F369-C2B9-4869-9E8C-BBCCEA500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4223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94224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94225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94226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94227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94228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94229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94230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94231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484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94232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94233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733351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C55F6D58-D3B1-421D-A208-263E42E9FC6A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259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B0BBE5ED-449F-4870-90AD-D1D1F252DE37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6261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64FAB067-8F0D-4F0E-9AEF-A09F7B237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6290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91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292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293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96294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9FC956AC-795A-45C2-80BA-BCC4DF7B97F3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2B816DA3-7EFA-4D68-BDE4-C8DCD06E3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3DE81091-C83D-4C63-BAA7-FB456388C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A59747BB-6037-44A9-9DCF-CBA952B5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A5DFB46B-CF09-4074-9039-FD4814B16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50CB0B9D-E6EB-4F47-B8C8-20E2ED7D7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8A49DF10-CE47-45DA-8B16-C0301CBFE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6263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4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5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6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7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6268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E75D71EE-6965-40B2-9B95-9ED821F92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6284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85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286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287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96288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A7170E0A-DD4D-4D6D-B07B-E2CA4E8358B1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089C6583-503B-4199-841E-E5F76A1E9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9EC4FA62-5F1E-4974-9DE6-271D47703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1EF08AA5-CB30-4DA4-96F8-5038F7089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A310A9D1-9AE0-4FF5-A667-C1E91A348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1CEAEC18-E31D-4D06-AB19-24D8470B8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09ACF690-CBCA-4786-A310-DF34CDF18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F4973C4E-3F39-4ABD-BB66-814E04F74F75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A340D8F8-E349-41F6-AEEE-53B659255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D2D970C6-275C-41DC-9898-201CE14FB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E1A7A30C-801C-42BA-A6ED-5A0C0046F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757DB9C3-7CBB-4C9C-91B6-43F6B08E9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80E25F22-9515-4C11-B920-CA9BAA592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BB1F2BDF-67E5-4973-BB93-8D0ADFEB1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6271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96272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96273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96274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96275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96276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96277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96278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96279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484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96280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96281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96282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985324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A1DF78C6-5982-4FBA-9D7A-0651CA538D1B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8307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0EE805E1-CB76-45B4-B396-D621CCEA843D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8309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9178F649-B8DB-43F3-BD7E-F6320B84E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8339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40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8341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8342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98343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8144F3E2-03D3-4E38-907E-3B4D99C25879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011DA8EB-3785-4170-8636-F451A90D7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63B6B1C9-F5B7-4049-A898-94799BA53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600A3580-B99A-4128-9544-53F80E9E6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5AFAC177-828A-42CD-96E4-7038785B5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4D23D513-935B-4D68-B86D-3754EA446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D99C390B-31AC-42EA-B07F-3E4270787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8311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2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3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4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5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8316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D1EB1B7A-31EC-4B2E-AED0-439D4FB6B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98333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4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8335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8336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98337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B3F3362C-A28A-4D38-9EEE-CDA110787F2A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E323F5C9-665C-4B06-B774-E9C987E4D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AF70967C-AD55-4617-8CCF-A6201E5F7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876B56F6-7065-4682-88C5-BCAC99090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2A9AE4DB-A1D9-40A6-9789-EA987D15C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38A24875-E912-4E79-A49C-F4E964910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810DB75B-09F0-43B5-8B55-611BE8B5B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8AEBE4FB-3EE0-449A-A65A-7057560F4ED7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6BA5DA72-445E-42D5-956B-DD454B4A9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388D3931-9EEA-46BA-AB64-FA88A4F79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6B56C427-790E-4499-A5BC-627E9E1A5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25715250-C860-4FEB-843F-07AF7BDE1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D746A920-B7F4-497A-8EEC-946E060C9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9839D917-39EB-4C2D-AA19-69EDE9622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98319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98320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98321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98322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98323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98324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98325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98326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98327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98328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98329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98330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98331" name="Text Box 25"/>
          <p:cNvSpPr txBox="1">
            <a:spLocks noChangeArrowheads="1"/>
          </p:cNvSpPr>
          <p:nvPr/>
        </p:nvSpPr>
        <p:spPr bwMode="auto">
          <a:xfrm>
            <a:off x="4357688" y="1928813"/>
            <a:ext cx="357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95256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C1C5648E-C8BA-438B-B941-64A8FFAB21C8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0355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EF7953FB-7E60-43B9-B840-8785F86C1B32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0357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0C91D60F-EAA3-4970-8216-4ABF4ADA1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0388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9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0390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0391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100392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0BA27163-3957-43E7-93BD-31B97807F0F9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1EDA8E60-D2FA-4FD5-BF7E-17E649E19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3EC58789-06D4-4A62-833F-DC11E5AD7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11DB3228-4D14-44B2-9F20-E275A2829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02613967-0378-43DD-80E9-0C79A35A7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7CCCD238-386E-40FC-A923-3FC2E7790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E091B306-32A9-48C3-BAFE-9EF224F0D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0359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0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1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2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3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0364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B3BA9F98-57B7-436C-A706-FFC214A44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0382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3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0384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0385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100386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CB04BECE-E984-4C31-A82D-53D119372373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D982BD91-CC65-4F28-801D-B3EF65399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089DFF81-CDBA-45C1-9348-FCE769A91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35E33228-7964-4A22-9582-57FCED43D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48F990D7-5A45-4833-90E2-AE9F76A80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C2EDB3F4-68F6-4160-A860-027491763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51021B41-2BAD-41CB-91BE-3B1675E57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196F8D92-C45E-495D-B88A-E7E6D898AFDF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CC355B2A-B938-4AE9-93A1-7A92D74D8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158BC4C9-44F0-41A3-A4F1-1B7E30739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549764B2-8D7F-49D7-A1EF-BB6B6BE33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5A456EA1-4F77-40DB-96DF-715EED949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B42EA547-3B16-49D6-B9D3-9A9DD81E7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26F230FD-64BD-4B3F-8CAA-40575FBFB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0367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100368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100369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100370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100371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100372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100373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0374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100375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0376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0377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0378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0379" name="Text Box 25"/>
          <p:cNvSpPr txBox="1">
            <a:spLocks noChangeArrowheads="1"/>
          </p:cNvSpPr>
          <p:nvPr/>
        </p:nvSpPr>
        <p:spPr bwMode="auto">
          <a:xfrm>
            <a:off x="4357688" y="1928813"/>
            <a:ext cx="357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8</a:t>
            </a:r>
          </a:p>
        </p:txBody>
      </p:sp>
      <p:sp>
        <p:nvSpPr>
          <p:cNvPr id="100380" name="Text Box 25"/>
          <p:cNvSpPr txBox="1">
            <a:spLocks noChangeArrowheads="1"/>
          </p:cNvSpPr>
          <p:nvPr/>
        </p:nvSpPr>
        <p:spPr bwMode="auto">
          <a:xfrm>
            <a:off x="3143250" y="5000625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635671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0867CD77-AC24-4C92-BEE4-F8E787B97CB9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2403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4A8AD0C1-315D-4E1B-B7D1-2B8071462B47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2405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0CEE5EB4-2165-498F-ABB2-24F62584D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2437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8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439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440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102441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0573C64F-8848-4552-8EE9-19D55A96DE76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60B6FFD1-F908-4924-B31A-3049CCEE3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83DD75C6-0114-47DD-8C87-4E11D7616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A8C86427-342D-400D-B6DB-8F7E3FBC1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96AD8D24-8537-417C-82A7-FFE5B3C33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A9F97605-EEA2-4AAA-A658-C3B979C17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D4AD4F74-20DC-4BC6-B272-17CC58A50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2407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8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9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0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1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412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57E2909A-68FF-449C-ABD6-89B1ED6B6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2431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32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433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2434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102435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5049E26A-32DF-423B-9AA4-C57BD6C8C46C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F612FED7-361D-4AB4-B3C0-41D0E7077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727DE21D-FEB8-4871-8AB0-649E78692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68A4D313-42E0-47E2-8AAA-D35DEA01F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5BBBEDFF-45EE-4537-BBDB-0D71E53B3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FD20B7F2-295E-421F-BF9C-287858363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0B1676AB-EA0F-436A-98BB-654F679DB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F6CF2864-7710-4BE0-9C78-DA9288009D5F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EA98C0E5-94E3-4190-8717-53F80B0E9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F486A2E0-8910-400E-8755-7348B9072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FDCFE8C7-CF98-4656-9FF6-259963063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4E27B76E-EFB0-4BB9-BBFE-0B6456BB7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2E505F07-311E-44EC-8978-20764197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1615A64B-D52E-41D7-B01C-BDEC1CE48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2415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102416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102417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102418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102419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102420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102421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2422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102423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484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2424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2425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2426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2427" name="Text Box 25"/>
          <p:cNvSpPr txBox="1">
            <a:spLocks noChangeArrowheads="1"/>
          </p:cNvSpPr>
          <p:nvPr/>
        </p:nvSpPr>
        <p:spPr bwMode="auto">
          <a:xfrm>
            <a:off x="4357688" y="1928813"/>
            <a:ext cx="357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8</a:t>
            </a:r>
          </a:p>
        </p:txBody>
      </p:sp>
      <p:sp>
        <p:nvSpPr>
          <p:cNvPr id="102428" name="Text Box 25"/>
          <p:cNvSpPr txBox="1">
            <a:spLocks noChangeArrowheads="1"/>
          </p:cNvSpPr>
          <p:nvPr/>
        </p:nvSpPr>
        <p:spPr bwMode="auto">
          <a:xfrm>
            <a:off x="3143250" y="5000625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2429" name="Text Box 44"/>
          <p:cNvSpPr txBox="1">
            <a:spLocks noChangeArrowheads="1"/>
          </p:cNvSpPr>
          <p:nvPr/>
        </p:nvSpPr>
        <p:spPr bwMode="auto">
          <a:xfrm>
            <a:off x="827088" y="2060575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941611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4C5EB3D7-18E9-4D9D-A230-6F1260A1D9A4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451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094FAB10-9214-4C1C-94C6-26E11D8CB8AE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4453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75C6F3C7-E841-491F-A9DC-4B93F7200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4486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87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4488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4489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104490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DDFDD948-5108-4F35-950F-AAA7B8B119FD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A54E7A89-FC5F-492E-9BC0-88B7E58A4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11ACACA2-4769-4855-B326-BF5269856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536918FD-DB7B-4105-A7AF-9CE2408F2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AC2AE2BD-F1E2-417A-8D4A-F90828C21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D9AFBF5F-782B-42CA-921C-B116104B7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94D9B37B-5861-4F4D-BD4E-5CB8199367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4455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6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7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8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9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4460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F26A74BA-5A2F-420A-AFC2-809F0188B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4480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81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4482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4483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104484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4572F608-C135-4BF9-BB61-0CCBA0C91E7F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66B7B1ED-7170-4B06-B950-AB0546053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54D8D1C3-E330-4AB5-928C-34D310818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E567E3D8-C541-40BE-8DD3-E0767E0DB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22DBC80E-BD17-4A1C-8195-E3F193859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37684489-130E-4FC5-ACFD-7154C27FC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58E9111D-425B-4DC1-9C06-45DC64EA9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89EA2F06-8BCF-4BF5-A6D7-D019CFE17561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ED781615-33B0-4FF7-9843-C6C6D03A0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0A461449-E21A-4748-B9A6-4DEF0A474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F488C999-ABE2-440F-BC7F-8BBEA42D6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36ED2A99-0BB3-4274-9DE8-EA25B3541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0B2150EB-FC31-48C4-B840-7C62709D2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234ED9D7-EBFE-47D4-8A02-569893613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4463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104464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104465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104466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104467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104468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104469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4470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104471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4472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4473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4474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4475" name="Text Box 25"/>
          <p:cNvSpPr txBox="1">
            <a:spLocks noChangeArrowheads="1"/>
          </p:cNvSpPr>
          <p:nvPr/>
        </p:nvSpPr>
        <p:spPr bwMode="auto">
          <a:xfrm>
            <a:off x="4357688" y="1928813"/>
            <a:ext cx="357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8</a:t>
            </a:r>
          </a:p>
        </p:txBody>
      </p:sp>
      <p:sp>
        <p:nvSpPr>
          <p:cNvPr id="104476" name="Text Box 25"/>
          <p:cNvSpPr txBox="1">
            <a:spLocks noChangeArrowheads="1"/>
          </p:cNvSpPr>
          <p:nvPr/>
        </p:nvSpPr>
        <p:spPr bwMode="auto">
          <a:xfrm>
            <a:off x="3143250" y="5000625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4477" name="Text Box 44"/>
          <p:cNvSpPr txBox="1">
            <a:spLocks noChangeArrowheads="1"/>
          </p:cNvSpPr>
          <p:nvPr/>
        </p:nvSpPr>
        <p:spPr bwMode="auto">
          <a:xfrm>
            <a:off x="827088" y="2060575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04478" name="Text Box 45"/>
          <p:cNvSpPr txBox="1">
            <a:spLocks noChangeArrowheads="1"/>
          </p:cNvSpPr>
          <p:nvPr/>
        </p:nvSpPr>
        <p:spPr bwMode="auto">
          <a:xfrm>
            <a:off x="827088" y="2349500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288449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2616E48-C451-4DF7-BB7F-C40EEAC22FC9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6499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7DB29230-16CD-4386-B990-CAFD994C2650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6501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454652C6-4212-4F6C-8095-62AB8F580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6536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7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538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539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106540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AB80B217-E490-45E6-8BFD-FD0263D95CE9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B09E4DF1-2D61-452F-8E77-3247C241A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5AAA27BB-24AF-45B8-B9F5-0A43D89F4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BD779006-776C-4828-B584-269F149DC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CEBEA557-C1CE-45D7-94FA-C29029B3E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4F3D3508-347A-4339-991B-E071677CB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3490D9E3-D9C2-406E-9525-28DCFE477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6503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4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5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6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7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508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429CDB02-31AD-47C3-97F0-F6446A769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6530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1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532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6533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106534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6179E579-A77D-4D19-B36B-693E808EDE9D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08AEFF62-F580-49F0-9371-8CD49780A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7AD81088-49CE-4F90-A979-DA8EC382F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249590D7-CE2D-4C99-81CE-2F258AC1D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49EAC2EE-E8ED-41D4-B927-424BF40D3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8DD28127-AB89-49ED-977A-74F7F0F8A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A5FCF53F-F8FB-452B-96CF-BDE87185C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6BDCC059-35A1-481F-8A5C-200955BFCF89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DF6C69F3-C1EA-4797-85EE-A8C764B51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642B1509-197D-4EFF-9CA1-3D7F975C5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F6256808-0E7F-4D07-8F26-92B25AF41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D0A2F777-87B2-456B-8B1C-C110508A8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DD6854BF-8405-4BF6-8CF6-486F1DFC2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7F043B44-10A7-44EF-BFB0-30701F34E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6511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106512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106513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106514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106515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106516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106517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6518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106519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6520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6521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6522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6523" name="Text Box 25"/>
          <p:cNvSpPr txBox="1">
            <a:spLocks noChangeArrowheads="1"/>
          </p:cNvSpPr>
          <p:nvPr/>
        </p:nvSpPr>
        <p:spPr bwMode="auto">
          <a:xfrm>
            <a:off x="4357688" y="1928813"/>
            <a:ext cx="357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8</a:t>
            </a:r>
          </a:p>
        </p:txBody>
      </p:sp>
      <p:sp>
        <p:nvSpPr>
          <p:cNvPr id="106524" name="Text Box 25"/>
          <p:cNvSpPr txBox="1">
            <a:spLocks noChangeArrowheads="1"/>
          </p:cNvSpPr>
          <p:nvPr/>
        </p:nvSpPr>
        <p:spPr bwMode="auto">
          <a:xfrm>
            <a:off x="3143250" y="5000625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6525" name="Text Box 44"/>
          <p:cNvSpPr txBox="1">
            <a:spLocks noChangeArrowheads="1"/>
          </p:cNvSpPr>
          <p:nvPr/>
        </p:nvSpPr>
        <p:spPr bwMode="auto">
          <a:xfrm>
            <a:off x="827088" y="2060575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06526" name="Text Box 45"/>
          <p:cNvSpPr txBox="1">
            <a:spLocks noChangeArrowheads="1"/>
          </p:cNvSpPr>
          <p:nvPr/>
        </p:nvSpPr>
        <p:spPr bwMode="auto">
          <a:xfrm>
            <a:off x="827088" y="2349500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6527" name="AutoShape 46"/>
          <p:cNvSpPr>
            <a:spLocks/>
          </p:cNvSpPr>
          <p:nvPr/>
        </p:nvSpPr>
        <p:spPr bwMode="auto">
          <a:xfrm>
            <a:off x="1116013" y="2133600"/>
            <a:ext cx="215900" cy="503238"/>
          </a:xfrm>
          <a:prstGeom prst="rightBrace">
            <a:avLst>
              <a:gd name="adj1" fmla="val 19424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6528" name="Text Box 47"/>
          <p:cNvSpPr txBox="1">
            <a:spLocks noChangeArrowheads="1"/>
          </p:cNvSpPr>
          <p:nvPr/>
        </p:nvSpPr>
        <p:spPr bwMode="auto">
          <a:xfrm>
            <a:off x="1331913" y="2205038"/>
            <a:ext cx="576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600" b="1">
                <a:solidFill>
                  <a:srgbClr val="FF0000"/>
                </a:solidFill>
                <a:latin typeface="Calibri" panose="020F0502020204030204" pitchFamily="34" charset="0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41481299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7B8C49F-B0ED-4019-895C-855A86AAF172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8547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60568C4-63D7-479A-A78F-5BB73FCAD93C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8549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BBB58BEE-F69A-47F8-BBE2-AC1E537BE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8581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2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583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584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108585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FE58C82C-909F-4E4F-8570-CB8C4B692DD5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5F1974AD-4CCA-4A4F-AA3B-D6DB14B5E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02A259A6-A3D9-4B0A-B813-FD3381DC3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EF57BF23-EB10-49D5-BCBC-665F1D377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B57308C2-AD6C-4439-82EF-F1D830C85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90787EC2-4058-4DCD-A916-6A91F600D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9E5B50C6-F772-43B7-A1E4-D7B1D7C59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8551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2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3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4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5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8556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B1474A40-A74D-4FAF-A3FA-79EE174FA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08575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6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577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8578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108579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0C46AB63-9CED-4261-82DB-E865095C04D3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27DCE37B-FFD3-4926-8BB6-6CB8209D4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5BD4C288-06CD-4442-80B7-047D698BA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2279EB43-308B-4F4D-9957-E721F58D3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D8F49D26-F0C7-4620-B845-FA9AFEAFE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C088C124-D2A5-418A-ADAA-B28181EC6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49B14DFF-BE7E-4EDA-9D32-DA7009DB6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6621EF11-0C67-46BB-B2FA-1528618F5EB3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01872625-1B02-4533-9CC3-09A1E68B2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E83DAA23-1C44-4E10-906E-65E378DB1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66F999E7-4CDF-4BBA-86B4-DD910CE97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46479D26-9DC6-48F6-B231-4B4A43C15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F4A5AFAB-7B00-42E0-A4DA-9E3193661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9B9F89B5-D50F-4D3B-842C-60BB131BB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08559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108560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108561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108562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108563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108564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108565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8566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108567" name="Text Box 25"/>
          <p:cNvSpPr txBox="1">
            <a:spLocks noChangeArrowheads="1"/>
          </p:cNvSpPr>
          <p:nvPr/>
        </p:nvSpPr>
        <p:spPr bwMode="auto">
          <a:xfrm>
            <a:off x="5148263" y="5000625"/>
            <a:ext cx="649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8568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8569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08570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08571" name="Text Box 25"/>
          <p:cNvSpPr txBox="1">
            <a:spLocks noChangeArrowheads="1"/>
          </p:cNvSpPr>
          <p:nvPr/>
        </p:nvSpPr>
        <p:spPr bwMode="auto">
          <a:xfrm>
            <a:off x="4357688" y="1928813"/>
            <a:ext cx="357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8</a:t>
            </a:r>
          </a:p>
        </p:txBody>
      </p:sp>
      <p:sp>
        <p:nvSpPr>
          <p:cNvPr id="108572" name="Text Box 25"/>
          <p:cNvSpPr txBox="1">
            <a:spLocks noChangeArrowheads="1"/>
          </p:cNvSpPr>
          <p:nvPr/>
        </p:nvSpPr>
        <p:spPr bwMode="auto">
          <a:xfrm>
            <a:off x="3143250" y="5000625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08573" name="Text Box 25"/>
          <p:cNvSpPr txBox="1">
            <a:spLocks noChangeArrowheads="1"/>
          </p:cNvSpPr>
          <p:nvPr/>
        </p:nvSpPr>
        <p:spPr bwMode="auto">
          <a:xfrm>
            <a:off x="1285875" y="314325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690078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71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3190" y="409512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Calculate </a:t>
            </a:r>
            <a:r>
              <a:rPr lang="en-US" dirty="0"/>
              <a:t>processing times for each activity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2400" dirty="0" smtClean="0">
                <a:latin typeface="Calibri" pitchFamily="34" charset="0"/>
              </a:rPr>
              <a:t>For </a:t>
            </a:r>
            <a:r>
              <a:rPr lang="en-GB" sz="2400" dirty="0">
                <a:latin typeface="Calibri" pitchFamily="34" charset="0"/>
              </a:rPr>
              <a:t>each activity X with start node </a:t>
            </a:r>
            <a:r>
              <a:rPr lang="en-GB" sz="2400" dirty="0" err="1">
                <a:latin typeface="Calibri" pitchFamily="34" charset="0"/>
              </a:rPr>
              <a:t>i</a:t>
            </a:r>
            <a:r>
              <a:rPr lang="en-GB" sz="2400" dirty="0">
                <a:latin typeface="Calibri" pitchFamily="34" charset="0"/>
              </a:rPr>
              <a:t> and end node j: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</a:rPr>
              <a:t>	ES(X) = ET(</a:t>
            </a:r>
            <a:r>
              <a:rPr lang="en-GB" sz="2400" dirty="0" err="1">
                <a:latin typeface="Calibri" pitchFamily="34" charset="0"/>
              </a:rPr>
              <a:t>i</a:t>
            </a:r>
            <a:r>
              <a:rPr lang="en-GB" sz="2400" dirty="0">
                <a:latin typeface="Calibri" pitchFamily="34" charset="0"/>
              </a:rPr>
              <a:t>)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</a:rPr>
              <a:t>	EF(X) = ES(X) + t(X)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</a:rPr>
              <a:t>	LF(X) = LT(j)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</a:rPr>
              <a:t>	LS(X) = LF(X) – t(X)</a:t>
            </a:r>
          </a:p>
          <a:p>
            <a:pPr marL="0" indent="0">
              <a:buNone/>
              <a:defRPr/>
            </a:pPr>
            <a:r>
              <a:rPr lang="en-GB" sz="2400" dirty="0">
                <a:latin typeface="Calibri" pitchFamily="34" charset="0"/>
              </a:rPr>
              <a:t>	Slack Time (X) = LS(X) – ES(X) = LF(X) – EF(X</a:t>
            </a:r>
            <a:r>
              <a:rPr lang="en-GB" sz="2400" dirty="0" smtClean="0">
                <a:latin typeface="Calibri" pitchFamily="34" charset="0"/>
              </a:rPr>
              <a:t>)</a:t>
            </a:r>
            <a:endParaRPr lang="en-GB" sz="2400" dirty="0">
              <a:latin typeface="Calibri" pitchFamily="34" charset="0"/>
            </a:endParaRPr>
          </a:p>
          <a:p>
            <a:pPr>
              <a:defRPr/>
            </a:pPr>
            <a:r>
              <a:rPr lang="en-GB" sz="2400" dirty="0">
                <a:latin typeface="Calibri" pitchFamily="34" charset="0"/>
              </a:rPr>
              <a:t>Where t(X) is the duration of activity X</a:t>
            </a:r>
            <a:r>
              <a:rPr lang="en-GB" sz="2400" dirty="0" smtClean="0">
                <a:latin typeface="Calibri" pitchFamily="34" charset="0"/>
              </a:rPr>
              <a:t>.</a:t>
            </a:r>
            <a:endParaRPr lang="en-GB" sz="2400" dirty="0">
              <a:latin typeface="Calibri" pitchFamily="34" charset="0"/>
            </a:endParaRPr>
          </a:p>
          <a:p>
            <a:pPr>
              <a:defRPr/>
            </a:pPr>
            <a:r>
              <a:rPr lang="en-GB" sz="2400" dirty="0">
                <a:latin typeface="Calibri" pitchFamily="34" charset="0"/>
              </a:rPr>
              <a:t>An activity with </a:t>
            </a:r>
            <a:r>
              <a:rPr lang="en-GB" sz="2400" dirty="0">
                <a:solidFill>
                  <a:srgbClr val="00B050"/>
                </a:solidFill>
                <a:latin typeface="Calibri" pitchFamily="34" charset="0"/>
              </a:rPr>
              <a:t>zero slack time </a:t>
            </a:r>
            <a:r>
              <a:rPr lang="en-GB" sz="2400" dirty="0">
                <a:latin typeface="Calibri" pitchFamily="34" charset="0"/>
              </a:rPr>
              <a:t>is </a:t>
            </a:r>
            <a:r>
              <a:rPr lang="en-GB" sz="2400" dirty="0">
                <a:solidFill>
                  <a:srgbClr val="00B050"/>
                </a:solidFill>
                <a:latin typeface="Calibri" pitchFamily="34" charset="0"/>
              </a:rPr>
              <a:t>a critical activity </a:t>
            </a:r>
            <a:r>
              <a:rPr lang="en-GB" sz="2400" dirty="0">
                <a:latin typeface="Calibri" pitchFamily="34" charset="0"/>
              </a:rPr>
              <a:t>and cannot be delayed without causing a delay in the whole project</a:t>
            </a:r>
            <a:r>
              <a:rPr lang="en-GB" sz="2400" dirty="0" smtClean="0">
                <a:latin typeface="Calibri" pitchFamily="34" charset="0"/>
              </a:rPr>
              <a:t>.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81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Tit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graphicFrame>
        <p:nvGraphicFramePr>
          <p:cNvPr id="41079" name="Group 119">
            <a:extLst>
              <a:ext uri="{FF2B5EF4-FFF2-40B4-BE49-F238E27FC236}">
                <a16:creationId xmlns="" xmlns:a16="http://schemas.microsoft.com/office/drawing/2014/main" id="{DBCE5608-371B-493B-B9E6-D54394535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201138"/>
              </p:ext>
            </p:extLst>
          </p:nvPr>
        </p:nvGraphicFramePr>
        <p:xfrm>
          <a:off x="323850" y="2276475"/>
          <a:ext cx="8135938" cy="2335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3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889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461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6041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3183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31286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8796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6588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Task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Duration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ES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EF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LS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LF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Slack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Critical Task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25000"/>
                          </a:schemeClr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Yes</a:t>
                      </a:r>
                      <a:endParaRPr kumimoji="0" lang="en-GB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413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DF5203AB-D49E-46FC-B6FE-17D1CE954E6A}"/>
              </a:ext>
            </a:extLst>
          </p:cNvPr>
          <p:cNvCxnSpPr/>
          <p:nvPr/>
        </p:nvCxnSpPr>
        <p:spPr>
          <a:xfrm>
            <a:off x="428625" y="628650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6739" name="Tit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>
                <a:latin typeface="Calibri" panose="020F0502020204030204" pitchFamily="34" charset="0"/>
              </a:rPr>
              <a:t>CPM – Critical Path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D1B7A6F8-E752-41C1-9654-2723C28AE992}"/>
              </a:ext>
            </a:extLst>
          </p:cNvPr>
          <p:cNvCxnSpPr/>
          <p:nvPr/>
        </p:nvCxnSpPr>
        <p:spPr>
          <a:xfrm>
            <a:off x="428625" y="1428750"/>
            <a:ext cx="8501063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6741" name="Group 18"/>
          <p:cNvGrpSpPr>
            <a:grpSpLocks/>
          </p:cNvGrpSpPr>
          <p:nvPr/>
        </p:nvGrpSpPr>
        <p:grpSpPr bwMode="auto">
          <a:xfrm>
            <a:off x="3571875" y="1714500"/>
            <a:ext cx="1397000" cy="1397000"/>
            <a:chOff x="2376" y="1912"/>
            <a:chExt cx="880" cy="880"/>
          </a:xfrm>
        </p:grpSpPr>
        <p:sp>
          <p:nvSpPr>
            <p:cNvPr id="11" name="Oval 19">
              <a:extLst>
                <a:ext uri="{FF2B5EF4-FFF2-40B4-BE49-F238E27FC236}">
                  <a16:creationId xmlns="" xmlns:a16="http://schemas.microsoft.com/office/drawing/2014/main" id="{E3CF15F0-6DD2-41DC-BC82-5DB154E8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16781" name="Line 20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82" name="Text Box 21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6783" name="Text Box 22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6784" name="Text Box 23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2</a:t>
              </a:r>
            </a:p>
          </p:txBody>
        </p:sp>
        <p:sp>
          <p:nvSpPr>
            <p:cNvPr id="116785" name="Line 24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56">
            <a:extLst>
              <a:ext uri="{FF2B5EF4-FFF2-40B4-BE49-F238E27FC236}">
                <a16:creationId xmlns="" xmlns:a16="http://schemas.microsoft.com/office/drawing/2014/main" id="{A411EA03-9CDD-42A1-AE25-F10697ACFA68}"/>
              </a:ext>
            </a:extLst>
          </p:cNvPr>
          <p:cNvGrpSpPr>
            <a:grpSpLocks/>
          </p:cNvGrpSpPr>
          <p:nvPr/>
        </p:nvGrpSpPr>
        <p:grpSpPr bwMode="auto">
          <a:xfrm>
            <a:off x="7078655" y="2905113"/>
            <a:ext cx="1397000" cy="1397000"/>
            <a:chOff x="4472" y="2013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1" name="Oval 26">
              <a:extLst>
                <a:ext uri="{FF2B5EF4-FFF2-40B4-BE49-F238E27FC236}">
                  <a16:creationId xmlns="" xmlns:a16="http://schemas.microsoft.com/office/drawing/2014/main" id="{66B5F38D-D037-4265-8A72-42F55F284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2013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="" xmlns:a16="http://schemas.microsoft.com/office/drawing/2014/main" id="{1CA1B5F9-B7FA-4C34-AEBA-809CBF9B6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2462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="" xmlns:a16="http://schemas.microsoft.com/office/drawing/2014/main" id="{AECBE944-7F23-4F04-A8DB-B2802039C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2147"/>
              <a:ext cx="321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4" name="Text Box 29">
              <a:extLst>
                <a:ext uri="{FF2B5EF4-FFF2-40B4-BE49-F238E27FC236}">
                  <a16:creationId xmlns="" xmlns:a16="http://schemas.microsoft.com/office/drawing/2014/main" id="{36B31C73-0F5F-413F-9E8A-60C9F62E4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2147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="" xmlns:a16="http://schemas.microsoft.com/office/drawing/2014/main" id="{C725E642-7AE9-439A-BF89-5C69BF383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" y="2541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5</a:t>
              </a:r>
            </a:p>
          </p:txBody>
        </p:sp>
        <p:sp>
          <p:nvSpPr>
            <p:cNvPr id="26" name="Line 31">
              <a:extLst>
                <a:ext uri="{FF2B5EF4-FFF2-40B4-BE49-F238E27FC236}">
                  <a16:creationId xmlns="" xmlns:a16="http://schemas.microsoft.com/office/drawing/2014/main" id="{888EB5A7-942E-4599-9BED-337246CFA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013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16743" name="Line 46"/>
          <p:cNvSpPr>
            <a:spLocks noChangeShapeType="1"/>
          </p:cNvSpPr>
          <p:nvPr/>
        </p:nvSpPr>
        <p:spPr bwMode="auto">
          <a:xfrm>
            <a:off x="4968875" y="2427288"/>
            <a:ext cx="2166938" cy="900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4" name="Line 47"/>
          <p:cNvSpPr>
            <a:spLocks noChangeShapeType="1"/>
          </p:cNvSpPr>
          <p:nvPr/>
        </p:nvSpPr>
        <p:spPr bwMode="auto">
          <a:xfrm>
            <a:off x="3641725" y="5427663"/>
            <a:ext cx="15065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5" name="Line 48"/>
          <p:cNvSpPr>
            <a:spLocks noChangeShapeType="1"/>
          </p:cNvSpPr>
          <p:nvPr/>
        </p:nvSpPr>
        <p:spPr bwMode="auto">
          <a:xfrm flipV="1">
            <a:off x="6496050" y="4110038"/>
            <a:ext cx="803275" cy="1282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6" name="Line 49"/>
          <p:cNvSpPr>
            <a:spLocks noChangeShapeType="1"/>
          </p:cNvSpPr>
          <p:nvPr/>
        </p:nvSpPr>
        <p:spPr bwMode="auto">
          <a:xfrm>
            <a:off x="1566863" y="4110038"/>
            <a:ext cx="844550" cy="10096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7" name="Line 50"/>
          <p:cNvSpPr>
            <a:spLocks noChangeShapeType="1"/>
          </p:cNvSpPr>
          <p:nvPr/>
        </p:nvSpPr>
        <p:spPr bwMode="auto">
          <a:xfrm flipV="1">
            <a:off x="1701800" y="2427288"/>
            <a:ext cx="1870075" cy="744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6748" name="Group 11"/>
          <p:cNvGrpSpPr>
            <a:grpSpLocks/>
          </p:cNvGrpSpPr>
          <p:nvPr/>
        </p:nvGrpSpPr>
        <p:grpSpPr bwMode="auto">
          <a:xfrm>
            <a:off x="436563" y="2884488"/>
            <a:ext cx="1397000" cy="1397000"/>
            <a:chOff x="2376" y="1912"/>
            <a:chExt cx="880" cy="880"/>
          </a:xfrm>
        </p:grpSpPr>
        <p:sp>
          <p:nvSpPr>
            <p:cNvPr id="33" name="Oval 12">
              <a:extLst>
                <a:ext uri="{FF2B5EF4-FFF2-40B4-BE49-F238E27FC236}">
                  <a16:creationId xmlns="" xmlns:a16="http://schemas.microsoft.com/office/drawing/2014/main" id="{2CBB7E3F-D3EA-49BB-BF5C-F9FE48088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116775" name="Line 13"/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76" name="Text Box 14"/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6777" name="Text Box 15"/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6778" name="Text Box 16"/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/>
                <a:t>1</a:t>
              </a:r>
            </a:p>
          </p:txBody>
        </p:sp>
        <p:sp>
          <p:nvSpPr>
            <p:cNvPr id="116779" name="Line 17"/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="" xmlns:a16="http://schemas.microsoft.com/office/drawing/2014/main" id="{AE1AC5C6-E31D-46C7-8A23-8193E0C2B1B9}"/>
              </a:ext>
            </a:extLst>
          </p:cNvPr>
          <p:cNvGrpSpPr>
            <a:grpSpLocks/>
          </p:cNvGrpSpPr>
          <p:nvPr/>
        </p:nvGrpSpPr>
        <p:grpSpPr bwMode="auto">
          <a:xfrm>
            <a:off x="2354255" y="4700575"/>
            <a:ext cx="1397000" cy="1397000"/>
            <a:chOff x="2376" y="1912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Oval 33">
              <a:extLst>
                <a:ext uri="{FF2B5EF4-FFF2-40B4-BE49-F238E27FC236}">
                  <a16:creationId xmlns="" xmlns:a16="http://schemas.microsoft.com/office/drawing/2014/main" id="{2403B5BF-F6D7-4288-A9BD-267B0DDBF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1912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1" name="Line 34">
              <a:extLst>
                <a:ext uri="{FF2B5EF4-FFF2-40B4-BE49-F238E27FC236}">
                  <a16:creationId xmlns="" xmlns:a16="http://schemas.microsoft.com/office/drawing/2014/main" id="{C1B2CE9B-823E-4FA8-BDC0-C98BA0718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61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2" name="Text Box 35">
              <a:extLst>
                <a:ext uri="{FF2B5EF4-FFF2-40B4-BE49-F238E27FC236}">
                  <a16:creationId xmlns="" xmlns:a16="http://schemas.microsoft.com/office/drawing/2014/main" id="{C1EE40CC-634F-431B-A202-79A23D426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2046"/>
              <a:ext cx="18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3" name="Text Box 36">
              <a:extLst>
                <a:ext uri="{FF2B5EF4-FFF2-40B4-BE49-F238E27FC236}">
                  <a16:creationId xmlns="" xmlns:a16="http://schemas.microsoft.com/office/drawing/2014/main" id="{C3F87379-8C3B-4863-B066-BC6A15550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5" y="2046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="" xmlns:a16="http://schemas.microsoft.com/office/drawing/2014/main" id="{519E9ECA-16CF-48DE-AEC5-F7AED962F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2440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3</a:t>
              </a:r>
            </a:p>
          </p:txBody>
        </p:sp>
        <p:sp>
          <p:nvSpPr>
            <p:cNvPr id="45" name="Line 38">
              <a:extLst>
                <a:ext uri="{FF2B5EF4-FFF2-40B4-BE49-F238E27FC236}">
                  <a16:creationId xmlns="" xmlns:a16="http://schemas.microsoft.com/office/drawing/2014/main" id="{0AAD4E12-3E94-489F-A8F4-DDBE8C159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912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grpSp>
        <p:nvGrpSpPr>
          <p:cNvPr id="7" name="Group 57">
            <a:extLst>
              <a:ext uri="{FF2B5EF4-FFF2-40B4-BE49-F238E27FC236}">
                <a16:creationId xmlns="" xmlns:a16="http://schemas.microsoft.com/office/drawing/2014/main" id="{6779A3EF-E49E-4CAA-A2C6-0AFD1B136C00}"/>
              </a:ext>
            </a:extLst>
          </p:cNvPr>
          <p:cNvGrpSpPr>
            <a:grpSpLocks/>
          </p:cNvGrpSpPr>
          <p:nvPr/>
        </p:nvGrpSpPr>
        <p:grpSpPr bwMode="auto">
          <a:xfrm>
            <a:off x="5148255" y="4700575"/>
            <a:ext cx="1397000" cy="1397000"/>
            <a:chOff x="3256" y="3144"/>
            <a:chExt cx="880" cy="88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7" name="Oval 40">
              <a:extLst>
                <a:ext uri="{FF2B5EF4-FFF2-40B4-BE49-F238E27FC236}">
                  <a16:creationId xmlns="" xmlns:a16="http://schemas.microsoft.com/office/drawing/2014/main" id="{8A02E7E6-0E08-43A7-80BF-C84A2E521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3144"/>
              <a:ext cx="880" cy="88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8" name="Line 41">
              <a:extLst>
                <a:ext uri="{FF2B5EF4-FFF2-40B4-BE49-F238E27FC236}">
                  <a16:creationId xmlns="" xmlns:a16="http://schemas.microsoft.com/office/drawing/2014/main" id="{A74F36EC-7A7A-4CA6-8589-A6261746C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593"/>
              <a:ext cx="88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49" name="Text Box 42">
              <a:extLst>
                <a:ext uri="{FF2B5EF4-FFF2-40B4-BE49-F238E27FC236}">
                  <a16:creationId xmlns="" xmlns:a16="http://schemas.microsoft.com/office/drawing/2014/main" id="{250CF833-B3F8-4DBB-9C70-164C28B4A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3278"/>
              <a:ext cx="357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0" name="Text Box 43">
              <a:extLst>
                <a:ext uri="{FF2B5EF4-FFF2-40B4-BE49-F238E27FC236}">
                  <a16:creationId xmlns="" xmlns:a16="http://schemas.microsoft.com/office/drawing/2014/main" id="{0B58077A-BD75-4697-A4F7-2DA7006B6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5" y="3278"/>
              <a:ext cx="315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  <p:sp>
          <p:nvSpPr>
            <p:cNvPr id="51" name="Text Box 44">
              <a:extLst>
                <a:ext uri="{FF2B5EF4-FFF2-40B4-BE49-F238E27FC236}">
                  <a16:creationId xmlns="" xmlns:a16="http://schemas.microsoft.com/office/drawing/2014/main" id="{5B4C5A69-BEBF-4252-A4D0-314B2A92E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672"/>
              <a:ext cx="196" cy="231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>
                  <a:cs typeface="+mn-cs"/>
                </a:rPr>
                <a:t>4</a:t>
              </a:r>
            </a:p>
          </p:txBody>
        </p:sp>
        <p:sp>
          <p:nvSpPr>
            <p:cNvPr id="52" name="Line 45">
              <a:extLst>
                <a:ext uri="{FF2B5EF4-FFF2-40B4-BE49-F238E27FC236}">
                  <a16:creationId xmlns="" xmlns:a16="http://schemas.microsoft.com/office/drawing/2014/main" id="{9812A8AA-1670-4515-89BA-364CA712A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144"/>
              <a:ext cx="0" cy="449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GB">
                <a:cs typeface="+mn-cs"/>
              </a:endParaRPr>
            </a:p>
          </p:txBody>
        </p:sp>
      </p:grpSp>
      <p:sp>
        <p:nvSpPr>
          <p:cNvPr id="116751" name="Text Box 51"/>
          <p:cNvSpPr txBox="1">
            <a:spLocks noChangeArrowheads="1"/>
          </p:cNvSpPr>
          <p:nvPr/>
        </p:nvSpPr>
        <p:spPr bwMode="auto">
          <a:xfrm rot="-1473451">
            <a:off x="2098675" y="244475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A ( 3 )</a:t>
            </a:r>
          </a:p>
        </p:txBody>
      </p:sp>
      <p:sp>
        <p:nvSpPr>
          <p:cNvPr id="116752" name="Text Box 52"/>
          <p:cNvSpPr txBox="1">
            <a:spLocks noChangeArrowheads="1"/>
          </p:cNvSpPr>
          <p:nvPr/>
        </p:nvSpPr>
        <p:spPr bwMode="auto">
          <a:xfrm rot="2867542">
            <a:off x="1718469" y="4282282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B ( 4 )</a:t>
            </a:r>
          </a:p>
        </p:txBody>
      </p:sp>
      <p:sp>
        <p:nvSpPr>
          <p:cNvPr id="116753" name="Text Box 53"/>
          <p:cNvSpPr txBox="1">
            <a:spLocks noChangeArrowheads="1"/>
          </p:cNvSpPr>
          <p:nvPr/>
        </p:nvSpPr>
        <p:spPr bwMode="auto">
          <a:xfrm rot="1435909">
            <a:off x="5692775" y="2517775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D ( 5 )</a:t>
            </a:r>
          </a:p>
        </p:txBody>
      </p:sp>
      <p:sp>
        <p:nvSpPr>
          <p:cNvPr id="116754" name="Text Box 54"/>
          <p:cNvSpPr txBox="1">
            <a:spLocks noChangeArrowheads="1"/>
          </p:cNvSpPr>
          <p:nvPr/>
        </p:nvSpPr>
        <p:spPr bwMode="auto">
          <a:xfrm rot="-3331276">
            <a:off x="6336507" y="4345781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E ( 2 )</a:t>
            </a:r>
          </a:p>
        </p:txBody>
      </p:sp>
      <p:sp>
        <p:nvSpPr>
          <p:cNvPr id="116755" name="Text Box 55"/>
          <p:cNvSpPr txBox="1">
            <a:spLocks noChangeArrowheads="1"/>
          </p:cNvSpPr>
          <p:nvPr/>
        </p:nvSpPr>
        <p:spPr bwMode="auto">
          <a:xfrm>
            <a:off x="3998913" y="506095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C ( 7 )</a:t>
            </a:r>
          </a:p>
        </p:txBody>
      </p:sp>
      <p:sp>
        <p:nvSpPr>
          <p:cNvPr id="116756" name="Text Box 25"/>
          <p:cNvSpPr txBox="1">
            <a:spLocks noChangeArrowheads="1"/>
          </p:cNvSpPr>
          <p:nvPr/>
        </p:nvSpPr>
        <p:spPr bwMode="auto">
          <a:xfrm>
            <a:off x="714375" y="3143250"/>
            <a:ext cx="296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116757" name="Text Box 25"/>
          <p:cNvSpPr txBox="1">
            <a:spLocks noChangeArrowheads="1"/>
          </p:cNvSpPr>
          <p:nvPr/>
        </p:nvSpPr>
        <p:spPr bwMode="auto">
          <a:xfrm>
            <a:off x="2643188" y="5000625"/>
            <a:ext cx="296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16758" name="Text Box 25"/>
          <p:cNvSpPr txBox="1">
            <a:spLocks noChangeArrowheads="1"/>
          </p:cNvSpPr>
          <p:nvPr/>
        </p:nvSpPr>
        <p:spPr bwMode="auto">
          <a:xfrm>
            <a:off x="3857625" y="1928813"/>
            <a:ext cx="296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3</a:t>
            </a:r>
          </a:p>
        </p:txBody>
      </p:sp>
      <p:sp>
        <p:nvSpPr>
          <p:cNvPr id="116759" name="Text Box 25"/>
          <p:cNvSpPr txBox="1">
            <a:spLocks noChangeArrowheads="1"/>
          </p:cNvSpPr>
          <p:nvPr/>
        </p:nvSpPr>
        <p:spPr bwMode="auto">
          <a:xfrm>
            <a:off x="5357813" y="5000625"/>
            <a:ext cx="57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16760" name="Text Box 25"/>
          <p:cNvSpPr txBox="1">
            <a:spLocks noChangeArrowheads="1"/>
          </p:cNvSpPr>
          <p:nvPr/>
        </p:nvSpPr>
        <p:spPr bwMode="auto">
          <a:xfrm>
            <a:off x="735806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16761" name="Text Box 25"/>
          <p:cNvSpPr txBox="1">
            <a:spLocks noChangeArrowheads="1"/>
          </p:cNvSpPr>
          <p:nvPr/>
        </p:nvSpPr>
        <p:spPr bwMode="auto">
          <a:xfrm>
            <a:off x="7858125" y="31432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13</a:t>
            </a:r>
          </a:p>
        </p:txBody>
      </p:sp>
      <p:sp>
        <p:nvSpPr>
          <p:cNvPr id="116762" name="Text Box 25"/>
          <p:cNvSpPr txBox="1">
            <a:spLocks noChangeArrowheads="1"/>
          </p:cNvSpPr>
          <p:nvPr/>
        </p:nvSpPr>
        <p:spPr bwMode="auto">
          <a:xfrm>
            <a:off x="5929313" y="5000625"/>
            <a:ext cx="566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11</a:t>
            </a:r>
          </a:p>
        </p:txBody>
      </p:sp>
      <p:sp>
        <p:nvSpPr>
          <p:cNvPr id="116763" name="Text Box 25"/>
          <p:cNvSpPr txBox="1">
            <a:spLocks noChangeArrowheads="1"/>
          </p:cNvSpPr>
          <p:nvPr/>
        </p:nvSpPr>
        <p:spPr bwMode="auto">
          <a:xfrm>
            <a:off x="4357688" y="1928813"/>
            <a:ext cx="357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8</a:t>
            </a:r>
          </a:p>
        </p:txBody>
      </p:sp>
      <p:sp>
        <p:nvSpPr>
          <p:cNvPr id="116764" name="Text Box 25"/>
          <p:cNvSpPr txBox="1">
            <a:spLocks noChangeArrowheads="1"/>
          </p:cNvSpPr>
          <p:nvPr/>
        </p:nvSpPr>
        <p:spPr bwMode="auto">
          <a:xfrm>
            <a:off x="3143250" y="5000625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4</a:t>
            </a:r>
          </a:p>
        </p:txBody>
      </p:sp>
      <p:sp>
        <p:nvSpPr>
          <p:cNvPr id="116765" name="Text Box 25"/>
          <p:cNvSpPr txBox="1">
            <a:spLocks noChangeArrowheads="1"/>
          </p:cNvSpPr>
          <p:nvPr/>
        </p:nvSpPr>
        <p:spPr bwMode="auto">
          <a:xfrm>
            <a:off x="1285875" y="314325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0</a:t>
            </a:r>
          </a:p>
        </p:txBody>
      </p:sp>
      <p:sp>
        <p:nvSpPr>
          <p:cNvPr id="116766" name="Text Box 40"/>
          <p:cNvSpPr txBox="1">
            <a:spLocks noChangeArrowheads="1"/>
          </p:cNvSpPr>
          <p:nvPr/>
        </p:nvSpPr>
        <p:spPr bwMode="auto">
          <a:xfrm>
            <a:off x="7524750" y="2133600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16767" name="Text Box 41"/>
          <p:cNvSpPr txBox="1">
            <a:spLocks noChangeArrowheads="1"/>
          </p:cNvSpPr>
          <p:nvPr/>
        </p:nvSpPr>
        <p:spPr bwMode="auto">
          <a:xfrm>
            <a:off x="7596188" y="2420938"/>
            <a:ext cx="360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16768" name="AutoShape 42"/>
          <p:cNvSpPr>
            <a:spLocks/>
          </p:cNvSpPr>
          <p:nvPr/>
        </p:nvSpPr>
        <p:spPr bwMode="auto">
          <a:xfrm>
            <a:off x="7956550" y="2205038"/>
            <a:ext cx="215900" cy="576262"/>
          </a:xfrm>
          <a:prstGeom prst="rightBrace">
            <a:avLst>
              <a:gd name="adj1" fmla="val 22243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6769" name="Text Box 43"/>
          <p:cNvSpPr txBox="1">
            <a:spLocks noChangeArrowheads="1"/>
          </p:cNvSpPr>
          <p:nvPr/>
        </p:nvSpPr>
        <p:spPr bwMode="auto">
          <a:xfrm>
            <a:off x="8172450" y="2349500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600" b="1">
                <a:solidFill>
                  <a:srgbClr val="FF0000"/>
                </a:solidFill>
                <a:latin typeface="Calibri" panose="020F0502020204030204" pitchFamily="34" charset="0"/>
              </a:rPr>
              <a:t>max</a:t>
            </a:r>
          </a:p>
        </p:txBody>
      </p:sp>
      <p:sp>
        <p:nvSpPr>
          <p:cNvPr id="116770" name="Text Box 44"/>
          <p:cNvSpPr txBox="1">
            <a:spLocks noChangeArrowheads="1"/>
          </p:cNvSpPr>
          <p:nvPr/>
        </p:nvSpPr>
        <p:spPr bwMode="auto">
          <a:xfrm>
            <a:off x="827088" y="2060575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6771" name="Text Box 45"/>
          <p:cNvSpPr txBox="1">
            <a:spLocks noChangeArrowheads="1"/>
          </p:cNvSpPr>
          <p:nvPr/>
        </p:nvSpPr>
        <p:spPr bwMode="auto">
          <a:xfrm>
            <a:off x="827088" y="2349500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6772" name="AutoShape 46"/>
          <p:cNvSpPr>
            <a:spLocks/>
          </p:cNvSpPr>
          <p:nvPr/>
        </p:nvSpPr>
        <p:spPr bwMode="auto">
          <a:xfrm>
            <a:off x="1116013" y="2133600"/>
            <a:ext cx="215900" cy="503238"/>
          </a:xfrm>
          <a:prstGeom prst="rightBrace">
            <a:avLst>
              <a:gd name="adj1" fmla="val 19424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6773" name="Text Box 47"/>
          <p:cNvSpPr txBox="1">
            <a:spLocks noChangeArrowheads="1"/>
          </p:cNvSpPr>
          <p:nvPr/>
        </p:nvSpPr>
        <p:spPr bwMode="auto">
          <a:xfrm>
            <a:off x="1331913" y="2205038"/>
            <a:ext cx="576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1600" b="1">
                <a:solidFill>
                  <a:srgbClr val="FF0000"/>
                </a:solidFill>
                <a:latin typeface="Calibri" panose="020F0502020204030204" pitchFamily="34" charset="0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3222072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74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Calibri" panose="020F0502020204030204" pitchFamily="34" charset="0"/>
              </a:rPr>
              <a:t>CPM – Critical Path Method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428342"/>
              </p:ext>
            </p:extLst>
          </p:nvPr>
        </p:nvGraphicFramePr>
        <p:xfrm>
          <a:off x="505326" y="1447800"/>
          <a:ext cx="7904037" cy="32918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634679"/>
                <a:gridCol w="2634679"/>
                <a:gridCol w="2634679"/>
              </a:tblGrid>
              <a:tr h="365760">
                <a:tc>
                  <a:txBody>
                    <a:bodyPr/>
                    <a:lstStyle/>
                    <a:p>
                      <a:pPr marL="6477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</a:t>
                      </a:r>
                      <a:r>
                        <a:rPr lang="en-US" sz="2400" b="1" spc="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v</a:t>
                      </a:r>
                      <a:r>
                        <a:rPr lang="en-US" sz="2400" b="1" spc="-1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</a:t>
                      </a:r>
                      <a:r>
                        <a:rPr lang="en-US" sz="2400" b="1" spc="-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</a:t>
                      </a:r>
                      <a:r>
                        <a:rPr lang="en-US" sz="2400" b="1" spc="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</a:t>
                      </a:r>
                      <a:r>
                        <a:rPr lang="en-US" sz="2400" b="1" spc="-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</a:t>
                      </a:r>
                      <a:r>
                        <a:rPr lang="en-US" sz="2400" b="1" spc="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ess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</a:t>
                      </a:r>
                      <a:r>
                        <a:rPr lang="en-US" sz="2400" b="1" spc="-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 (We</a:t>
                      </a:r>
                      <a:r>
                        <a:rPr lang="en-US" sz="2400" b="1" spc="-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ks)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3375" marR="3340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A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5920" marR="3797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Calibri" panose="020F0502020204030204" pitchFamily="34" charset="0"/>
                        </a:rPr>
                        <a:t>4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6550" marR="3359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B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6235" marR="35814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A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6090" marR="46609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pc="5" dirty="0" smtClean="0">
                          <a:effectLst/>
                          <a:latin typeface="+mn-lt"/>
                          <a:ea typeface="Calibri" panose="020F0502020204030204" pitchFamily="34" charset="0"/>
                        </a:rPr>
                        <a:t>6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7820" marR="33655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C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5275" marR="2978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Calibri" panose="020F0502020204030204" pitchFamily="34" charset="0"/>
                        </a:rPr>
                        <a:t>B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6090" marR="46609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pc="5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0200" marR="3314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D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5920" marR="3797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6090" marR="46609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pc="5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E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F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G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H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F,G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14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828800" y="1600200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name="Chart" r:id="rId4" imgW="9144000" imgH="6100664" progId="MSGraph.Chart.8">
                  <p:embed followColorScheme="full"/>
                </p:oleObj>
              </mc:Choice>
              <mc:Fallback>
                <p:oleObj name="Chart" r:id="rId4" imgW="9144000" imgH="6100664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00200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AutoShape 4"/>
          <p:cNvSpPr>
            <a:spLocks noChangeArrowheads="1"/>
          </p:cNvSpPr>
          <p:nvPr/>
        </p:nvSpPr>
        <p:spPr bwMode="auto">
          <a:xfrm>
            <a:off x="762000" y="27432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1</a:t>
            </a:r>
          </a:p>
        </p:txBody>
      </p:sp>
      <p:sp>
        <p:nvSpPr>
          <p:cNvPr id="1028" name="Line 9"/>
          <p:cNvSpPr>
            <a:spLocks noChangeShapeType="1"/>
          </p:cNvSpPr>
          <p:nvPr/>
        </p:nvSpPr>
        <p:spPr bwMode="auto">
          <a:xfrm>
            <a:off x="1219200" y="2971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AutoShape 10"/>
          <p:cNvSpPr>
            <a:spLocks noChangeArrowheads="1"/>
          </p:cNvSpPr>
          <p:nvPr/>
        </p:nvSpPr>
        <p:spPr bwMode="auto">
          <a:xfrm>
            <a:off x="1981200" y="27432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2</a:t>
            </a:r>
          </a:p>
        </p:txBody>
      </p:sp>
      <p:sp>
        <p:nvSpPr>
          <p:cNvPr id="1030" name="Line 11"/>
          <p:cNvSpPr>
            <a:spLocks noChangeShapeType="1"/>
          </p:cNvSpPr>
          <p:nvPr/>
        </p:nvSpPr>
        <p:spPr bwMode="auto">
          <a:xfrm>
            <a:off x="2438400" y="2971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AutoShape 12"/>
          <p:cNvSpPr>
            <a:spLocks noChangeArrowheads="1"/>
          </p:cNvSpPr>
          <p:nvPr/>
        </p:nvSpPr>
        <p:spPr bwMode="auto">
          <a:xfrm>
            <a:off x="3200400" y="27432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3</a:t>
            </a:r>
          </a:p>
        </p:txBody>
      </p:sp>
      <p:sp>
        <p:nvSpPr>
          <p:cNvPr id="1032" name="AutoShape 13"/>
          <p:cNvSpPr>
            <a:spLocks noChangeArrowheads="1"/>
          </p:cNvSpPr>
          <p:nvPr/>
        </p:nvSpPr>
        <p:spPr bwMode="auto">
          <a:xfrm>
            <a:off x="4267200" y="27432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/>
              <a:t>4</a:t>
            </a:r>
          </a:p>
        </p:txBody>
      </p:sp>
      <p:sp>
        <p:nvSpPr>
          <p:cNvPr id="1033" name="Rectangle 14"/>
          <p:cNvSpPr>
            <a:spLocks noChangeArrowheads="1"/>
          </p:cNvSpPr>
          <p:nvPr/>
        </p:nvSpPr>
        <p:spPr bwMode="auto">
          <a:xfrm>
            <a:off x="2587625" y="34147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4" name="Line 15"/>
          <p:cNvSpPr>
            <a:spLocks noChangeShapeType="1"/>
          </p:cNvSpPr>
          <p:nvPr/>
        </p:nvSpPr>
        <p:spPr bwMode="auto">
          <a:xfrm>
            <a:off x="3657600" y="2971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6"/>
          <p:cNvSpPr>
            <a:spLocks noChangeShapeType="1"/>
          </p:cNvSpPr>
          <p:nvPr/>
        </p:nvSpPr>
        <p:spPr bwMode="auto">
          <a:xfrm flipV="1">
            <a:off x="4648200" y="2209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Line 17"/>
          <p:cNvSpPr>
            <a:spLocks noChangeShapeType="1"/>
          </p:cNvSpPr>
          <p:nvPr/>
        </p:nvSpPr>
        <p:spPr bwMode="auto">
          <a:xfrm>
            <a:off x="4648200" y="31242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AutoShape 18"/>
          <p:cNvSpPr>
            <a:spLocks noChangeArrowheads="1"/>
          </p:cNvSpPr>
          <p:nvPr/>
        </p:nvSpPr>
        <p:spPr bwMode="auto">
          <a:xfrm>
            <a:off x="5105400" y="19050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/>
              <a:t>5</a:t>
            </a:r>
          </a:p>
        </p:txBody>
      </p:sp>
      <p:sp>
        <p:nvSpPr>
          <p:cNvPr id="1038" name="AutoShape 19"/>
          <p:cNvSpPr>
            <a:spLocks noChangeArrowheads="1"/>
          </p:cNvSpPr>
          <p:nvPr/>
        </p:nvSpPr>
        <p:spPr bwMode="auto">
          <a:xfrm>
            <a:off x="5257800" y="32766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6</a:t>
            </a:r>
          </a:p>
        </p:txBody>
      </p:sp>
      <p:sp>
        <p:nvSpPr>
          <p:cNvPr id="1039" name="AutoShape 20"/>
          <p:cNvSpPr>
            <a:spLocks noChangeArrowheads="1"/>
          </p:cNvSpPr>
          <p:nvPr/>
        </p:nvSpPr>
        <p:spPr bwMode="auto">
          <a:xfrm>
            <a:off x="6248400" y="26670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7</a:t>
            </a:r>
          </a:p>
        </p:txBody>
      </p:sp>
      <p:sp>
        <p:nvSpPr>
          <p:cNvPr id="1040" name="AutoShape 21"/>
          <p:cNvSpPr>
            <a:spLocks noChangeArrowheads="1"/>
          </p:cNvSpPr>
          <p:nvPr/>
        </p:nvSpPr>
        <p:spPr bwMode="auto">
          <a:xfrm>
            <a:off x="7620000" y="2667000"/>
            <a:ext cx="457200" cy="4572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8</a:t>
            </a:r>
          </a:p>
        </p:txBody>
      </p:sp>
      <p:sp>
        <p:nvSpPr>
          <p:cNvPr id="1041" name="Line 23"/>
          <p:cNvSpPr>
            <a:spLocks noChangeShapeType="1"/>
          </p:cNvSpPr>
          <p:nvPr/>
        </p:nvSpPr>
        <p:spPr bwMode="auto">
          <a:xfrm>
            <a:off x="5562600" y="21336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2" name="Line 24"/>
          <p:cNvSpPr>
            <a:spLocks noChangeShapeType="1"/>
          </p:cNvSpPr>
          <p:nvPr/>
        </p:nvSpPr>
        <p:spPr bwMode="auto">
          <a:xfrm flipV="1">
            <a:off x="5715000" y="3048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" name="Line 25"/>
          <p:cNvSpPr>
            <a:spLocks noChangeShapeType="1"/>
          </p:cNvSpPr>
          <p:nvPr/>
        </p:nvSpPr>
        <p:spPr bwMode="auto">
          <a:xfrm>
            <a:off x="6705600" y="2895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5" name="Text Box 28"/>
          <p:cNvSpPr txBox="1">
            <a:spLocks noChangeArrowheads="1"/>
          </p:cNvSpPr>
          <p:nvPr/>
        </p:nvSpPr>
        <p:spPr bwMode="auto">
          <a:xfrm>
            <a:off x="1371600" y="25146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A</a:t>
            </a:r>
          </a:p>
        </p:txBody>
      </p:sp>
      <p:sp>
        <p:nvSpPr>
          <p:cNvPr id="1046" name="Text Box 31"/>
          <p:cNvSpPr txBox="1">
            <a:spLocks noChangeArrowheads="1"/>
          </p:cNvSpPr>
          <p:nvPr/>
        </p:nvSpPr>
        <p:spPr bwMode="auto">
          <a:xfrm>
            <a:off x="2590800" y="2514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B</a:t>
            </a:r>
          </a:p>
        </p:txBody>
      </p:sp>
      <p:sp>
        <p:nvSpPr>
          <p:cNvPr id="1047" name="Text Box 32"/>
          <p:cNvSpPr txBox="1">
            <a:spLocks noChangeArrowheads="1"/>
          </p:cNvSpPr>
          <p:nvPr/>
        </p:nvSpPr>
        <p:spPr bwMode="auto">
          <a:xfrm>
            <a:off x="3733800" y="25146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1048" name="Text Box 33"/>
          <p:cNvSpPr txBox="1">
            <a:spLocks noChangeArrowheads="1"/>
          </p:cNvSpPr>
          <p:nvPr/>
        </p:nvSpPr>
        <p:spPr bwMode="auto">
          <a:xfrm>
            <a:off x="4572000" y="2057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/>
              <a:t>D</a:t>
            </a:r>
          </a:p>
        </p:txBody>
      </p:sp>
      <p:sp>
        <p:nvSpPr>
          <p:cNvPr id="1049" name="Text Box 34"/>
          <p:cNvSpPr txBox="1">
            <a:spLocks noChangeArrowheads="1"/>
          </p:cNvSpPr>
          <p:nvPr/>
        </p:nvSpPr>
        <p:spPr bwMode="auto">
          <a:xfrm>
            <a:off x="4572000" y="3200400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E</a:t>
            </a:r>
          </a:p>
        </p:txBody>
      </p:sp>
      <p:sp>
        <p:nvSpPr>
          <p:cNvPr id="1050" name="Text Box 35"/>
          <p:cNvSpPr txBox="1">
            <a:spLocks noChangeArrowheads="1"/>
          </p:cNvSpPr>
          <p:nvPr/>
        </p:nvSpPr>
        <p:spPr bwMode="auto">
          <a:xfrm>
            <a:off x="5867400" y="20574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F</a:t>
            </a:r>
          </a:p>
        </p:txBody>
      </p:sp>
      <p:sp>
        <p:nvSpPr>
          <p:cNvPr id="1051" name="Text Box 36"/>
          <p:cNvSpPr txBox="1">
            <a:spLocks noChangeArrowheads="1"/>
          </p:cNvSpPr>
          <p:nvPr/>
        </p:nvSpPr>
        <p:spPr bwMode="auto">
          <a:xfrm>
            <a:off x="5943600" y="3200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G</a:t>
            </a:r>
          </a:p>
        </p:txBody>
      </p:sp>
      <p:sp>
        <p:nvSpPr>
          <p:cNvPr id="1052" name="Text Box 37"/>
          <p:cNvSpPr txBox="1">
            <a:spLocks noChangeArrowheads="1"/>
          </p:cNvSpPr>
          <p:nvPr/>
        </p:nvSpPr>
        <p:spPr bwMode="auto">
          <a:xfrm>
            <a:off x="6934200" y="24384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H</a:t>
            </a:r>
          </a:p>
        </p:txBody>
      </p:sp>
      <p:sp>
        <p:nvSpPr>
          <p:cNvPr id="1053" name="Text Box 38"/>
          <p:cNvSpPr txBox="1">
            <a:spLocks noChangeArrowheads="1"/>
          </p:cNvSpPr>
          <p:nvPr/>
        </p:nvSpPr>
        <p:spPr bwMode="auto">
          <a:xfrm>
            <a:off x="685800" y="2054225"/>
            <a:ext cx="623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0</a:t>
            </a:r>
          </a:p>
          <a:p>
            <a:pPr eaLnBrk="1" hangingPunct="1"/>
            <a:r>
              <a:rPr lang="en-US" altLang="en-US" sz="1800"/>
              <a:t>L= 0</a:t>
            </a:r>
          </a:p>
        </p:txBody>
      </p:sp>
      <p:sp>
        <p:nvSpPr>
          <p:cNvPr id="1054" name="Text Box 39"/>
          <p:cNvSpPr txBox="1">
            <a:spLocks noChangeArrowheads="1"/>
          </p:cNvSpPr>
          <p:nvPr/>
        </p:nvSpPr>
        <p:spPr bwMode="auto">
          <a:xfrm>
            <a:off x="1981200" y="2133600"/>
            <a:ext cx="6937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4</a:t>
            </a:r>
          </a:p>
          <a:p>
            <a:pPr eaLnBrk="1" hangingPunct="1"/>
            <a:r>
              <a:rPr lang="en-US" altLang="en-US" sz="1800"/>
              <a:t>L= 4</a:t>
            </a:r>
          </a:p>
          <a:p>
            <a:pPr eaLnBrk="1" hangingPunct="1"/>
            <a:endParaRPr lang="en-US" altLang="en-US"/>
          </a:p>
        </p:txBody>
      </p:sp>
      <p:sp>
        <p:nvSpPr>
          <p:cNvPr id="1055" name="Text Box 40"/>
          <p:cNvSpPr txBox="1">
            <a:spLocks noChangeArrowheads="1"/>
          </p:cNvSpPr>
          <p:nvPr/>
        </p:nvSpPr>
        <p:spPr bwMode="auto">
          <a:xfrm>
            <a:off x="3124200" y="2057400"/>
            <a:ext cx="738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10</a:t>
            </a:r>
          </a:p>
          <a:p>
            <a:pPr eaLnBrk="1" hangingPunct="1"/>
            <a:r>
              <a:rPr lang="en-US" altLang="en-US" sz="1800"/>
              <a:t>L= 10</a:t>
            </a:r>
          </a:p>
        </p:txBody>
      </p:sp>
      <p:sp>
        <p:nvSpPr>
          <p:cNvPr id="1056" name="Text Box 41"/>
          <p:cNvSpPr txBox="1">
            <a:spLocks noChangeArrowheads="1"/>
          </p:cNvSpPr>
          <p:nvPr/>
        </p:nvSpPr>
        <p:spPr bwMode="auto">
          <a:xfrm>
            <a:off x="3962400" y="3200400"/>
            <a:ext cx="738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12</a:t>
            </a:r>
          </a:p>
          <a:p>
            <a:pPr eaLnBrk="1" hangingPunct="1"/>
            <a:r>
              <a:rPr lang="en-US" altLang="en-US" sz="1800"/>
              <a:t>L= 12</a:t>
            </a:r>
          </a:p>
        </p:txBody>
      </p:sp>
      <p:sp>
        <p:nvSpPr>
          <p:cNvPr id="1057" name="Text Box 42"/>
          <p:cNvSpPr txBox="1">
            <a:spLocks noChangeArrowheads="1"/>
          </p:cNvSpPr>
          <p:nvPr/>
        </p:nvSpPr>
        <p:spPr bwMode="auto">
          <a:xfrm>
            <a:off x="4953000" y="1219200"/>
            <a:ext cx="738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17</a:t>
            </a:r>
          </a:p>
          <a:p>
            <a:pPr eaLnBrk="1" hangingPunct="1"/>
            <a:r>
              <a:rPr lang="en-US" altLang="en-US" sz="1800"/>
              <a:t>L= 17</a:t>
            </a:r>
          </a:p>
        </p:txBody>
      </p:sp>
      <p:sp>
        <p:nvSpPr>
          <p:cNvPr id="1058" name="Text Box 43"/>
          <p:cNvSpPr txBox="1">
            <a:spLocks noChangeArrowheads="1"/>
          </p:cNvSpPr>
          <p:nvPr/>
        </p:nvSpPr>
        <p:spPr bwMode="auto">
          <a:xfrm>
            <a:off x="5105400" y="3733800"/>
            <a:ext cx="738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14</a:t>
            </a:r>
          </a:p>
          <a:p>
            <a:pPr eaLnBrk="1" hangingPunct="1"/>
            <a:r>
              <a:rPr lang="en-US" altLang="en-US" sz="1800"/>
              <a:t>L= 14</a:t>
            </a:r>
          </a:p>
        </p:txBody>
      </p:sp>
      <p:sp>
        <p:nvSpPr>
          <p:cNvPr id="1059" name="Text Box 44"/>
          <p:cNvSpPr txBox="1">
            <a:spLocks noChangeArrowheads="1"/>
          </p:cNvSpPr>
          <p:nvPr/>
        </p:nvSpPr>
        <p:spPr bwMode="auto">
          <a:xfrm>
            <a:off x="6248400" y="1905000"/>
            <a:ext cx="738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24</a:t>
            </a:r>
          </a:p>
          <a:p>
            <a:pPr eaLnBrk="1" hangingPunct="1"/>
            <a:r>
              <a:rPr lang="en-US" altLang="en-US" sz="1800"/>
              <a:t>L= 24</a:t>
            </a:r>
          </a:p>
        </p:txBody>
      </p:sp>
      <p:sp>
        <p:nvSpPr>
          <p:cNvPr id="1060" name="Text Box 45"/>
          <p:cNvSpPr txBox="1">
            <a:spLocks noChangeArrowheads="1"/>
          </p:cNvSpPr>
          <p:nvPr/>
        </p:nvSpPr>
        <p:spPr bwMode="auto">
          <a:xfrm>
            <a:off x="8153400" y="2667000"/>
            <a:ext cx="738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E= 25</a:t>
            </a:r>
          </a:p>
          <a:p>
            <a:pPr eaLnBrk="1" hangingPunct="1"/>
            <a:r>
              <a:rPr lang="en-US" altLang="en-US" sz="1800"/>
              <a:t>L= 25</a:t>
            </a:r>
          </a:p>
        </p:txBody>
      </p:sp>
      <p:sp>
        <p:nvSpPr>
          <p:cNvPr id="1061" name="Line 47"/>
          <p:cNvSpPr>
            <a:spLocks noChangeShapeType="1"/>
          </p:cNvSpPr>
          <p:nvPr/>
        </p:nvSpPr>
        <p:spPr bwMode="auto">
          <a:xfrm>
            <a:off x="1219200" y="2971800"/>
            <a:ext cx="7620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" name="Line 48"/>
          <p:cNvSpPr>
            <a:spLocks noChangeShapeType="1"/>
          </p:cNvSpPr>
          <p:nvPr/>
        </p:nvSpPr>
        <p:spPr bwMode="auto">
          <a:xfrm>
            <a:off x="2438400" y="2971800"/>
            <a:ext cx="7620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3" name="Line 49"/>
          <p:cNvSpPr>
            <a:spLocks noChangeShapeType="1"/>
          </p:cNvSpPr>
          <p:nvPr/>
        </p:nvSpPr>
        <p:spPr bwMode="auto">
          <a:xfrm>
            <a:off x="3657600" y="2971800"/>
            <a:ext cx="609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4" name="Line 50"/>
          <p:cNvSpPr>
            <a:spLocks noChangeShapeType="1"/>
          </p:cNvSpPr>
          <p:nvPr/>
        </p:nvSpPr>
        <p:spPr bwMode="auto">
          <a:xfrm flipV="1">
            <a:off x="4648200" y="2209800"/>
            <a:ext cx="457200" cy="53340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" name="Line 51"/>
          <p:cNvSpPr>
            <a:spLocks noChangeShapeType="1"/>
          </p:cNvSpPr>
          <p:nvPr/>
        </p:nvSpPr>
        <p:spPr bwMode="auto">
          <a:xfrm>
            <a:off x="5562600" y="2133600"/>
            <a:ext cx="762000" cy="60960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6" name="Line 52"/>
          <p:cNvSpPr>
            <a:spLocks noChangeShapeType="1"/>
          </p:cNvSpPr>
          <p:nvPr/>
        </p:nvSpPr>
        <p:spPr bwMode="auto">
          <a:xfrm>
            <a:off x="6705600" y="2895600"/>
            <a:ext cx="9144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7" name="Text Box 53"/>
          <p:cNvSpPr txBox="1">
            <a:spLocks noChangeArrowheads="1"/>
          </p:cNvSpPr>
          <p:nvPr/>
        </p:nvSpPr>
        <p:spPr bwMode="auto">
          <a:xfrm>
            <a:off x="822325" y="4841875"/>
            <a:ext cx="41985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 smtClean="0"/>
              <a:t> Critical </a:t>
            </a:r>
            <a:r>
              <a:rPr lang="en-US" altLang="en-US" dirty="0"/>
              <a:t>Path :1- 2- 3- 4- 5- 7- 8 </a:t>
            </a:r>
          </a:p>
        </p:txBody>
      </p:sp>
      <p:sp>
        <p:nvSpPr>
          <p:cNvPr id="1068" name="Line 55"/>
          <p:cNvSpPr>
            <a:spLocks noChangeShapeType="1"/>
          </p:cNvSpPr>
          <p:nvPr/>
        </p:nvSpPr>
        <p:spPr bwMode="auto">
          <a:xfrm>
            <a:off x="5105400" y="5105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69" name="Text Box 56"/>
          <p:cNvSpPr txBox="1">
            <a:spLocks noChangeArrowheads="1"/>
          </p:cNvSpPr>
          <p:nvPr/>
        </p:nvSpPr>
        <p:spPr bwMode="auto">
          <a:xfrm>
            <a:off x="5638800" y="4876800"/>
            <a:ext cx="1136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/>
              <a:t>25 weeks</a:t>
            </a:r>
          </a:p>
        </p:txBody>
      </p:sp>
      <p:sp>
        <p:nvSpPr>
          <p:cNvPr id="1070" name="Text Box 57"/>
          <p:cNvSpPr txBox="1">
            <a:spLocks noChangeArrowheads="1"/>
          </p:cNvSpPr>
          <p:nvPr/>
        </p:nvSpPr>
        <p:spPr bwMode="auto">
          <a:xfrm>
            <a:off x="901699" y="5244432"/>
            <a:ext cx="459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/>
              <a:t>Non critical path : 1- 2- 3- 4- 6- 7- 8</a:t>
            </a:r>
          </a:p>
        </p:txBody>
      </p:sp>
      <p:sp>
        <p:nvSpPr>
          <p:cNvPr id="1071" name="Line 58"/>
          <p:cNvSpPr>
            <a:spLocks noChangeShapeType="1"/>
          </p:cNvSpPr>
          <p:nvPr/>
        </p:nvSpPr>
        <p:spPr bwMode="auto">
          <a:xfrm>
            <a:off x="5562600" y="5486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72" name="Text Box 59"/>
          <p:cNvSpPr txBox="1">
            <a:spLocks noChangeArrowheads="1"/>
          </p:cNvSpPr>
          <p:nvPr/>
        </p:nvSpPr>
        <p:spPr bwMode="auto">
          <a:xfrm>
            <a:off x="6172200" y="5257800"/>
            <a:ext cx="1136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/>
              <a:t>19 weeks</a:t>
            </a:r>
          </a:p>
        </p:txBody>
      </p:sp>
      <p:sp>
        <p:nvSpPr>
          <p:cNvPr id="1073" name="Text Box 60"/>
          <p:cNvSpPr txBox="1">
            <a:spLocks noChangeArrowheads="1"/>
          </p:cNvSpPr>
          <p:nvPr/>
        </p:nvSpPr>
        <p:spPr bwMode="auto">
          <a:xfrm>
            <a:off x="906087" y="5608637"/>
            <a:ext cx="80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/>
              <a:t>Float</a:t>
            </a:r>
          </a:p>
        </p:txBody>
      </p:sp>
      <p:sp>
        <p:nvSpPr>
          <p:cNvPr id="1074" name="Line 61"/>
          <p:cNvSpPr>
            <a:spLocks noChangeShapeType="1"/>
          </p:cNvSpPr>
          <p:nvPr/>
        </p:nvSpPr>
        <p:spPr bwMode="auto">
          <a:xfrm>
            <a:off x="1828800" y="586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75" name="Text Box 62"/>
          <p:cNvSpPr txBox="1">
            <a:spLocks noChangeArrowheads="1"/>
          </p:cNvSpPr>
          <p:nvPr/>
        </p:nvSpPr>
        <p:spPr bwMode="auto">
          <a:xfrm>
            <a:off x="2438400" y="5638800"/>
            <a:ext cx="1009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000"/>
              <a:t>6 weeks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26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76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1" y="644907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Evaluation and Review Technique (PERT)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en-US" sz="2400" dirty="0"/>
              <a:t>PERT is a network analysis technique used to estimate project duration when there is a high degree of uncertainty about the individual activity duration estimates</a:t>
            </a:r>
          </a:p>
          <a:p>
            <a:pPr marL="342900" indent="-342900"/>
            <a:r>
              <a:rPr lang="en-US" altLang="en-US" sz="2400" dirty="0"/>
              <a:t>PERT uses probabilistic time estimates based on using optimistic, most likely, and pessimistic estimates of activity </a:t>
            </a:r>
            <a:r>
              <a:rPr lang="en-US" altLang="en-US" sz="2400" dirty="0" smtClean="0"/>
              <a:t>durations</a:t>
            </a:r>
          </a:p>
          <a:p>
            <a:pPr marL="342900" indent="-342900"/>
            <a:r>
              <a:rPr lang="en-US" altLang="en-US" sz="2400" dirty="0"/>
              <a:t>PERT weighted average</a:t>
            </a:r>
            <a:r>
              <a:rPr lang="en-US" altLang="en-US" sz="2400" b="1" dirty="0"/>
              <a:t> </a:t>
            </a:r>
            <a:r>
              <a:rPr lang="en-US" altLang="en-US" sz="2400" dirty="0"/>
              <a:t>formula:</a:t>
            </a:r>
            <a:r>
              <a:rPr lang="en-US" altLang="en-US" sz="2400" b="1" u="sng" dirty="0"/>
              <a:t> </a:t>
            </a:r>
          </a:p>
          <a:p>
            <a:pPr marL="342900" indent="-342900">
              <a:buNone/>
            </a:pPr>
            <a:r>
              <a:rPr lang="en-US" altLang="en-US" sz="2400" dirty="0" smtClean="0"/>
              <a:t>		</a:t>
            </a:r>
            <a:r>
              <a:rPr lang="en-US" altLang="en-US" sz="2400" u="sng" dirty="0" smtClean="0"/>
              <a:t>optimistic </a:t>
            </a:r>
            <a:r>
              <a:rPr lang="en-US" altLang="en-US" sz="2400" u="sng" dirty="0"/>
              <a:t>time + 4X most likely time + pessimistic time</a:t>
            </a:r>
            <a:endParaRPr lang="en-US" altLang="en-US" sz="2400" dirty="0"/>
          </a:p>
          <a:p>
            <a:pPr marL="342900" indent="-342900">
              <a:buNone/>
            </a:pPr>
            <a:r>
              <a:rPr lang="en-US" altLang="en-US" sz="2400" dirty="0"/>
              <a:t>					</a:t>
            </a:r>
            <a:r>
              <a:rPr lang="en-US" altLang="en-US" sz="2400" dirty="0" smtClean="0"/>
              <a:t>6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5251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77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1" y="644907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Evaluation and Review Technique (PERT)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en-US" sz="2400" dirty="0"/>
              <a:t>Example:</a:t>
            </a:r>
          </a:p>
          <a:p>
            <a:pPr marL="342900" indent="-342900">
              <a:buNone/>
            </a:pPr>
            <a:r>
              <a:rPr lang="en-US" altLang="en-US" sz="2400" dirty="0"/>
              <a:t>	</a:t>
            </a:r>
            <a:r>
              <a:rPr lang="en-US" altLang="en-US" sz="1800" dirty="0"/>
              <a:t>PERT weighted average =</a:t>
            </a:r>
            <a:r>
              <a:rPr lang="en-US" altLang="en-US" sz="1800" u="sng" dirty="0"/>
              <a:t>8 workdays + 4 X 10 workdays + 24 workdays</a:t>
            </a:r>
            <a:r>
              <a:rPr lang="en-US" altLang="en-US" sz="1800" dirty="0"/>
              <a:t> = 12 days	</a:t>
            </a:r>
            <a:r>
              <a:rPr lang="en-US" altLang="en-US" sz="2400" dirty="0"/>
              <a:t>				</a:t>
            </a:r>
            <a:r>
              <a:rPr lang="en-US" altLang="en-US" sz="1800" dirty="0"/>
              <a:t>6</a:t>
            </a:r>
          </a:p>
          <a:p>
            <a:pPr marL="342900" indent="-342900">
              <a:buNone/>
            </a:pPr>
            <a:r>
              <a:rPr lang="en-US" altLang="en-US" sz="2400" i="1" dirty="0"/>
              <a:t>       where 8 = optimistic time, 10 = most likely time, and 24 = pessimistic </a:t>
            </a:r>
            <a:r>
              <a:rPr lang="en-US" altLang="en-US" sz="2400" i="1" dirty="0" smtClean="0"/>
              <a:t>time</a:t>
            </a:r>
            <a:endParaRPr lang="en-US" altLang="en-US" sz="2400" i="1" dirty="0"/>
          </a:p>
          <a:p>
            <a:r>
              <a:rPr lang="en-US" altLang="en-US" sz="2400" dirty="0" smtClean="0"/>
              <a:t> Standard Deviation = </a:t>
            </a:r>
            <a:r>
              <a:rPr lang="en-US" altLang="en-US" sz="1800" u="sng" dirty="0" smtClean="0"/>
              <a:t>Pessimistic time-Optimistic </a:t>
            </a:r>
            <a:r>
              <a:rPr lang="en-US" altLang="en-US" sz="1800" u="sng" dirty="0"/>
              <a:t>time </a:t>
            </a:r>
            <a:r>
              <a:rPr lang="en-US" altLang="en-US" sz="1800" dirty="0"/>
              <a:t>					</a:t>
            </a:r>
            <a:r>
              <a:rPr lang="en-US" altLang="en-US" sz="1800" dirty="0" smtClean="0"/>
              <a:t>		      6</a:t>
            </a:r>
            <a:endParaRPr lang="en-US" altLang="en-US" sz="1800" dirty="0"/>
          </a:p>
          <a:p>
            <a:r>
              <a:rPr lang="en-US" altLang="en-US" sz="2400" dirty="0" smtClean="0"/>
              <a:t> Variance= (standard Deviation) 2</a:t>
            </a:r>
          </a:p>
          <a:p>
            <a:r>
              <a:rPr lang="en-US" altLang="en-US" sz="2400" dirty="0" smtClean="0"/>
              <a:t>Probability  of completing the project within given time= 					</a:t>
            </a:r>
            <a:r>
              <a:rPr lang="en-US" altLang="en-US" sz="1800" u="sng" dirty="0" smtClean="0"/>
              <a:t>Observed Value-Mean Value</a:t>
            </a:r>
            <a:r>
              <a:rPr lang="en-US" altLang="en-US" sz="1800" dirty="0" smtClean="0"/>
              <a:t>					</a:t>
            </a:r>
            <a:r>
              <a:rPr lang="en-US" altLang="en-US" sz="1800" smtClean="0"/>
              <a:t>	</a:t>
            </a:r>
            <a:r>
              <a:rPr lang="en-US" altLang="en-US" sz="1800"/>
              <a:t> </a:t>
            </a:r>
            <a:r>
              <a:rPr lang="en-US" altLang="en-US" sz="1800" smtClean="0"/>
              <a:t>           Standard </a:t>
            </a:r>
            <a:r>
              <a:rPr lang="en-US" altLang="en-US" sz="1800" dirty="0" smtClean="0"/>
              <a:t>Deviation of critical path</a:t>
            </a:r>
            <a:endParaRPr lang="en-US" altLang="en-US" sz="1800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756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1556"/>
            <a:ext cx="8229600" cy="599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9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27" y="152400"/>
            <a:ext cx="8153346" cy="61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0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2400"/>
            <a:ext cx="8001000" cy="599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1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400" y="228600"/>
            <a:ext cx="8153400" cy="61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1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52400"/>
            <a:ext cx="8153400" cy="61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83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CPM vs </a:t>
            </a:r>
            <a:r>
              <a:rPr lang="en-US" dirty="0" smtClean="0"/>
              <a:t>PERT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429326"/>
              </p:ext>
            </p:extLst>
          </p:nvPr>
        </p:nvGraphicFramePr>
        <p:xfrm>
          <a:off x="457201" y="1272293"/>
          <a:ext cx="8381999" cy="50523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396"/>
                <a:gridCol w="4823603"/>
              </a:tblGrid>
              <a:tr h="532669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CPM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PERT</a:t>
                      </a:r>
                      <a:endParaRPr lang="en-US" sz="2400" b="1" dirty="0"/>
                    </a:p>
                  </a:txBody>
                  <a:tcPr/>
                </a:tc>
              </a:tr>
              <a:tr h="4577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Critical Path Method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Project Evaluation &amp; Review Technique</a:t>
                      </a:r>
                    </a:p>
                  </a:txBody>
                  <a:tcPr/>
                </a:tc>
              </a:tr>
              <a:tr h="990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smtClean="0"/>
                        <a:t>Developed by US Engineer, working at </a:t>
                      </a:r>
                      <a:r>
                        <a:rPr lang="en-US" altLang="en-US" sz="2000" dirty="0" err="1" smtClean="0"/>
                        <a:t>DuPoint</a:t>
                      </a:r>
                      <a:r>
                        <a:rPr lang="en-US" altLang="en-US" sz="2000" dirty="0" smtClean="0"/>
                        <a:t> Company (1956), construction of chemical plant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 smtClean="0"/>
                        <a:t>Developed by US Navy Engineers, working on large military development programs, specially on its </a:t>
                      </a:r>
                      <a:r>
                        <a:rPr lang="en-US" altLang="en-US" sz="2000" dirty="0" err="1" smtClean="0"/>
                        <a:t>Polarish</a:t>
                      </a:r>
                      <a:r>
                        <a:rPr lang="en-US" altLang="en-US" sz="2000" dirty="0" smtClean="0"/>
                        <a:t> Weapon System in 1958</a:t>
                      </a:r>
                      <a:endParaRPr lang="en-US" sz="2000" dirty="0"/>
                    </a:p>
                  </a:txBody>
                  <a:tcPr/>
                </a:tc>
              </a:tr>
              <a:tr h="445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Activity 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Event oriented</a:t>
                      </a:r>
                      <a:endParaRPr lang="en-US" sz="2000" dirty="0"/>
                    </a:p>
                  </a:txBody>
                  <a:tcPr/>
                </a:tc>
              </a:tr>
              <a:tr h="408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Deterministic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Probability Activities</a:t>
                      </a:r>
                    </a:p>
                  </a:txBody>
                  <a:tcPr/>
                </a:tc>
              </a:tr>
              <a:tr h="4533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Used for project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Used for research &amp; development</a:t>
                      </a:r>
                    </a:p>
                  </a:txBody>
                  <a:tcPr/>
                </a:tc>
              </a:tr>
              <a:tr h="742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smtClean="0"/>
                        <a:t>Single time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Three time estimate: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Pessimistic, Optimistic, Most likely time</a:t>
                      </a:r>
                      <a:endParaRPr lang="en-US" sz="2000" dirty="0"/>
                    </a:p>
                  </a:txBody>
                  <a:tcPr/>
                </a:tc>
              </a:tr>
              <a:tr h="69331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Focus on time, cost and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Focus on time and quality without constraint cost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60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3600" dirty="0" smtClean="0"/>
              <a:t>Terminology Of The Networking Technique</a:t>
            </a:r>
          </a:p>
        </p:txBody>
      </p:sp>
      <p:sp>
        <p:nvSpPr>
          <p:cNvPr id="58371" name="Rectangle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Network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Activity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Critical activity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Non-critical activity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Dummy activity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Event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Tail event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Head event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Dual role/event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/>
              <a:t>Float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Total float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Free float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smtClean="0"/>
              <a:t>Independent float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 dirty="0" smtClean="0"/>
          </a:p>
          <a:p>
            <a:pPr eaLnBrk="1" hangingPunct="1">
              <a:lnSpc>
                <a:spcPct val="80000"/>
              </a:lnSpc>
            </a:pPr>
            <a:endParaRPr lang="en-US" altLang="en-US" sz="2400" dirty="0" smtClean="0"/>
          </a:p>
        </p:txBody>
      </p:sp>
      <p:sp>
        <p:nvSpPr>
          <p:cNvPr id="58372" name="Content Placeholder 3"/>
          <p:cNvSpPr>
            <a:spLocks noGrp="1"/>
          </p:cNvSpPr>
          <p:nvPr>
            <p:ph sz="half" idx="4294967295"/>
          </p:nvPr>
        </p:nvSpPr>
        <p:spPr>
          <a:xfrm>
            <a:off x="4800600" y="1447800"/>
            <a:ext cx="4343400" cy="457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Slack time</a:t>
            </a:r>
          </a:p>
          <a:p>
            <a:pPr eaLnBrk="1" hangingPunct="1"/>
            <a:r>
              <a:rPr lang="en-US" altLang="en-US" dirty="0" smtClean="0"/>
              <a:t>Earliest start time (EST)</a:t>
            </a:r>
          </a:p>
          <a:p>
            <a:pPr eaLnBrk="1" hangingPunct="1"/>
            <a:r>
              <a:rPr lang="en-US" altLang="en-US" dirty="0" smtClean="0"/>
              <a:t>Earliest finish time (EFT)</a:t>
            </a:r>
          </a:p>
          <a:p>
            <a:pPr eaLnBrk="1" hangingPunct="1"/>
            <a:r>
              <a:rPr lang="en-US" altLang="en-US" dirty="0" smtClean="0"/>
              <a:t>Latest start time (LST)</a:t>
            </a:r>
          </a:p>
          <a:p>
            <a:pPr eaLnBrk="1" hangingPunct="1"/>
            <a:r>
              <a:rPr lang="en-US" altLang="en-US" dirty="0" smtClean="0"/>
              <a:t>Latest finish time (LFT)</a:t>
            </a:r>
          </a:p>
          <a:p>
            <a:pPr eaLnBrk="1" hangingPunct="1"/>
            <a:r>
              <a:rPr lang="en-US" altLang="en-US" dirty="0" smtClean="0"/>
              <a:t>Forward pass (FWP)</a:t>
            </a:r>
          </a:p>
          <a:p>
            <a:pPr eaLnBrk="1" hangingPunct="1"/>
            <a:r>
              <a:rPr lang="en-US" altLang="en-US" dirty="0" smtClean="0"/>
              <a:t>Backward pass (BWP)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2665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85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Slack/Float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76800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80000"/>
              </a:lnSpc>
            </a:pPr>
            <a:r>
              <a:rPr lang="en-US" altLang="en-US" sz="2400" dirty="0" smtClean="0">
                <a:latin typeface="Calibri" pitchFamily="34" charset="0"/>
              </a:rPr>
              <a:t>Slack or float = LST-EST or LFT-EFT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 smtClean="0">
                <a:latin typeface="Calibri" pitchFamily="34" charset="0"/>
              </a:rPr>
              <a:t>Total float (TF)= LFT of head Event </a:t>
            </a:r>
            <a:r>
              <a:rPr lang="en-US" altLang="en-US" sz="2400" dirty="0">
                <a:latin typeface="Calibri" pitchFamily="34" charset="0"/>
              </a:rPr>
              <a:t>(event </a:t>
            </a:r>
            <a:r>
              <a:rPr lang="en-US" altLang="en-US" sz="2400" dirty="0" smtClean="0">
                <a:latin typeface="Calibri" pitchFamily="34" charset="0"/>
              </a:rPr>
              <a:t>2) – EST of tail event </a:t>
            </a:r>
            <a:r>
              <a:rPr lang="en-US" altLang="en-US" sz="2400" dirty="0">
                <a:latin typeface="Calibri" pitchFamily="34" charset="0"/>
              </a:rPr>
              <a:t>(event 1)</a:t>
            </a:r>
            <a:r>
              <a:rPr lang="en-US" altLang="en-US" sz="2400" dirty="0" smtClean="0">
                <a:latin typeface="Calibri" pitchFamily="34" charset="0"/>
              </a:rPr>
              <a:t> –duration of activity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smtClean="0">
                <a:latin typeface="Calibri" pitchFamily="34" charset="0"/>
              </a:rPr>
              <a:t>Maximum time from which the completion of activity can be delayed without affecting the project completion date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smtClean="0">
                <a:latin typeface="Calibri" pitchFamily="34" charset="0"/>
              </a:rPr>
              <a:t>LST-EST or LFT-EFT or L(j)-E(</a:t>
            </a:r>
            <a:r>
              <a:rPr lang="en-US" altLang="en-US" sz="2000" dirty="0" err="1" smtClean="0">
                <a:latin typeface="Calibri" pitchFamily="34" charset="0"/>
              </a:rPr>
              <a:t>i</a:t>
            </a:r>
            <a:r>
              <a:rPr lang="en-US" altLang="en-US" sz="2000" dirty="0" smtClean="0">
                <a:latin typeface="Calibri" pitchFamily="34" charset="0"/>
              </a:rPr>
              <a:t>)-d</a:t>
            </a:r>
            <a:endParaRPr lang="en-US" altLang="en-US" sz="2000" dirty="0">
              <a:latin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latin typeface="Calibri" pitchFamily="34" charset="0"/>
              </a:rPr>
              <a:t>Free </a:t>
            </a:r>
            <a:r>
              <a:rPr lang="en-US" altLang="en-US" sz="2400" dirty="0" smtClean="0">
                <a:latin typeface="Calibri" pitchFamily="34" charset="0"/>
              </a:rPr>
              <a:t>float (FF) = EST of </a:t>
            </a:r>
            <a:r>
              <a:rPr lang="en-US" altLang="en-US" sz="2400" dirty="0">
                <a:latin typeface="Calibri" pitchFamily="34" charset="0"/>
              </a:rPr>
              <a:t>head Event </a:t>
            </a:r>
            <a:r>
              <a:rPr lang="en-US" altLang="en-US" sz="2400" dirty="0" smtClean="0">
                <a:latin typeface="Calibri" pitchFamily="34" charset="0"/>
              </a:rPr>
              <a:t>(event 2)- EST of </a:t>
            </a:r>
            <a:r>
              <a:rPr lang="en-US" altLang="en-US" sz="2400" dirty="0">
                <a:latin typeface="Calibri" pitchFamily="34" charset="0"/>
              </a:rPr>
              <a:t>tail event </a:t>
            </a:r>
            <a:r>
              <a:rPr lang="en-US" altLang="en-US" sz="2400" dirty="0" smtClean="0">
                <a:latin typeface="Calibri" pitchFamily="34" charset="0"/>
              </a:rPr>
              <a:t>(event 1) - </a:t>
            </a:r>
            <a:r>
              <a:rPr lang="en-US" altLang="en-US" sz="2400" dirty="0">
                <a:latin typeface="Calibri" pitchFamily="34" charset="0"/>
              </a:rPr>
              <a:t>duration of </a:t>
            </a:r>
            <a:r>
              <a:rPr lang="en-US" altLang="en-US" sz="2400" dirty="0" smtClean="0">
                <a:latin typeface="Calibri" pitchFamily="34" charset="0"/>
              </a:rPr>
              <a:t>activity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>
                <a:latin typeface="Calibri" pitchFamily="34" charset="0"/>
              </a:rPr>
              <a:t>Delay that can be permitted in an activity so that succeeding activity in the path are not affected </a:t>
            </a:r>
            <a:endParaRPr lang="en-US" altLang="en-US" sz="2000" dirty="0" smtClean="0">
              <a:latin typeface="Calibri" pitchFamily="34" charset="0"/>
            </a:endParaRPr>
          </a:p>
          <a:p>
            <a:pPr lvl="2">
              <a:lnSpc>
                <a:spcPct val="80000"/>
              </a:lnSpc>
            </a:pPr>
            <a:r>
              <a:rPr lang="en-US" altLang="en-US" sz="2000" dirty="0" smtClean="0">
                <a:latin typeface="Calibri" pitchFamily="34" charset="0"/>
              </a:rPr>
              <a:t>EST of succeeding activity same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smtClean="0">
                <a:latin typeface="Calibri" pitchFamily="34" charset="0"/>
              </a:rPr>
              <a:t>EFT-EST-d or E(j)-E(</a:t>
            </a:r>
            <a:r>
              <a:rPr lang="en-US" altLang="en-US" sz="2000" dirty="0" err="1" smtClean="0">
                <a:latin typeface="Calibri" pitchFamily="34" charset="0"/>
              </a:rPr>
              <a:t>i</a:t>
            </a:r>
            <a:r>
              <a:rPr lang="en-US" altLang="en-US" sz="2000" dirty="0" smtClean="0">
                <a:latin typeface="Calibri" pitchFamily="34" charset="0"/>
              </a:rPr>
              <a:t>)-d</a:t>
            </a:r>
            <a:endParaRPr lang="en-US" altLang="en-US" sz="2000" dirty="0">
              <a:latin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latin typeface="Calibri" pitchFamily="34" charset="0"/>
              </a:rPr>
              <a:t>Independent </a:t>
            </a:r>
            <a:r>
              <a:rPr lang="en-US" altLang="en-US" sz="2400" dirty="0" smtClean="0">
                <a:latin typeface="Calibri" pitchFamily="34" charset="0"/>
              </a:rPr>
              <a:t>float(IDF)=EST of head Event </a:t>
            </a:r>
            <a:r>
              <a:rPr lang="en-US" altLang="en-US" sz="2400" dirty="0">
                <a:latin typeface="Calibri" pitchFamily="34" charset="0"/>
              </a:rPr>
              <a:t>(event </a:t>
            </a:r>
            <a:r>
              <a:rPr lang="en-US" altLang="en-US" sz="2400" dirty="0" smtClean="0">
                <a:latin typeface="Calibri" pitchFamily="34" charset="0"/>
              </a:rPr>
              <a:t>2) – LFT of tail </a:t>
            </a:r>
            <a:r>
              <a:rPr lang="en-US" altLang="en-US" sz="2400" dirty="0">
                <a:latin typeface="Calibri" pitchFamily="34" charset="0"/>
              </a:rPr>
              <a:t>event (event 1)</a:t>
            </a:r>
            <a:r>
              <a:rPr lang="en-US" altLang="en-US" sz="2400" dirty="0" smtClean="0">
                <a:latin typeface="Calibri" pitchFamily="34" charset="0"/>
              </a:rPr>
              <a:t>–</a:t>
            </a:r>
            <a:r>
              <a:rPr lang="en-US" altLang="en-US" sz="2400" dirty="0">
                <a:latin typeface="Calibri" pitchFamily="34" charset="0"/>
              </a:rPr>
              <a:t>duration of </a:t>
            </a:r>
            <a:r>
              <a:rPr lang="en-US" altLang="en-US" sz="2400" dirty="0" smtClean="0">
                <a:latin typeface="Calibri" pitchFamily="34" charset="0"/>
              </a:rPr>
              <a:t>activity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smtClean="0">
                <a:latin typeface="Calibri" pitchFamily="34" charset="0"/>
              </a:rPr>
              <a:t>Started as late as possible and finish as early as possible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>
                <a:latin typeface="Calibri" pitchFamily="34" charset="0"/>
              </a:rPr>
              <a:t>E(j)-E(</a:t>
            </a:r>
            <a:r>
              <a:rPr lang="en-US" altLang="en-US" sz="2000" dirty="0" err="1">
                <a:latin typeface="Calibri" pitchFamily="34" charset="0"/>
              </a:rPr>
              <a:t>i</a:t>
            </a:r>
            <a:r>
              <a:rPr lang="en-US" altLang="en-US" sz="2000" dirty="0">
                <a:latin typeface="Calibri" pitchFamily="34" charset="0"/>
              </a:rPr>
              <a:t>)-</a:t>
            </a:r>
            <a:r>
              <a:rPr lang="en-US" altLang="en-US" sz="2000" dirty="0" smtClean="0">
                <a:latin typeface="Calibri" pitchFamily="34" charset="0"/>
              </a:rPr>
              <a:t>d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 smtClean="0">
                <a:latin typeface="Calibri" pitchFamily="34" charset="0"/>
              </a:rPr>
              <a:t>Interfering float(IFF)= total float –free float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FF0000"/>
                </a:solidFill>
                <a:latin typeface="Calibri" pitchFamily="34" charset="0"/>
              </a:rPr>
              <a:t>TF&lt;=FF&lt;=IDF&lt;=IFF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FF0000"/>
                </a:solidFill>
                <a:latin typeface="Calibri" pitchFamily="34" charset="0"/>
              </a:rPr>
              <a:t>TF&gt;=FF&gt;=IDF&gt;=IFF</a:t>
            </a:r>
            <a:endParaRPr lang="en-US" altLang="en-US" sz="2400" dirty="0">
              <a:solidFill>
                <a:srgbClr val="FF0000"/>
              </a:solidFill>
              <a:latin typeface="Calibri" pitchFamily="34" charset="0"/>
            </a:endParaRPr>
          </a:p>
          <a:p>
            <a:pPr lvl="1">
              <a:lnSpc>
                <a:spcPct val="80000"/>
              </a:lnSpc>
            </a:pPr>
            <a:endParaRPr lang="en-US" altLang="en-US" sz="2400" dirty="0">
              <a:latin typeface="Calibri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71800" y="5444820"/>
            <a:ext cx="824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???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48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86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Precedence Diagram Method (PDM)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219200"/>
            <a:ext cx="6191395" cy="5181600"/>
          </a:xfrm>
        </p:spPr>
        <p:txBody>
          <a:bodyPr>
            <a:normAutofit fontScale="85000" lnSpcReduction="20000"/>
          </a:bodyPr>
          <a:lstStyle/>
          <a:p>
            <a:r>
              <a:rPr lang="en-US" sz="3000" dirty="0" smtClean="0"/>
              <a:t>Also Called Activity on Node (AON) </a:t>
            </a:r>
          </a:p>
          <a:p>
            <a:pPr lvl="1"/>
            <a:r>
              <a:rPr lang="en-US" sz="2600" dirty="0" smtClean="0"/>
              <a:t>where </a:t>
            </a:r>
            <a:r>
              <a:rPr lang="en-US" sz="2600" dirty="0"/>
              <a:t>the nodes represent </a:t>
            </a:r>
            <a:r>
              <a:rPr lang="en-US" sz="2600" dirty="0" smtClean="0"/>
              <a:t>activities</a:t>
            </a:r>
          </a:p>
          <a:p>
            <a:endParaRPr lang="en-US" sz="3000" dirty="0"/>
          </a:p>
          <a:p>
            <a:endParaRPr lang="en-US" sz="3000" dirty="0" smtClean="0"/>
          </a:p>
          <a:p>
            <a:endParaRPr lang="en-US" sz="3000" dirty="0"/>
          </a:p>
          <a:p>
            <a:endParaRPr lang="en-US" sz="3000" dirty="0" smtClean="0"/>
          </a:p>
          <a:p>
            <a:endParaRPr lang="en-US" sz="3000" dirty="0"/>
          </a:p>
          <a:p>
            <a:endParaRPr lang="en-US" sz="3000" dirty="0" smtClean="0"/>
          </a:p>
          <a:p>
            <a:endParaRPr lang="en-US" sz="3000" dirty="0" smtClean="0"/>
          </a:p>
          <a:p>
            <a:r>
              <a:rPr lang="en-US" sz="3000" dirty="0" smtClean="0"/>
              <a:t>In </a:t>
            </a:r>
            <a:r>
              <a:rPr lang="en-US" sz="3000" dirty="0"/>
              <a:t>the nodes, the activity time and the early and </a:t>
            </a:r>
            <a:r>
              <a:rPr lang="en-US" sz="3000" dirty="0" smtClean="0"/>
              <a:t>late </a:t>
            </a:r>
            <a:r>
              <a:rPr lang="en-US" sz="3000" dirty="0"/>
              <a:t>start and finish times are represented in the following manner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746271" y="2142266"/>
            <a:ext cx="7810500" cy="2597150"/>
            <a:chOff x="446" y="1460"/>
            <a:chExt cx="4886" cy="1919"/>
          </a:xfrm>
        </p:grpSpPr>
        <p:grpSp>
          <p:nvGrpSpPr>
            <p:cNvPr id="6" name="Group 12"/>
            <p:cNvGrpSpPr>
              <a:grpSpLocks/>
            </p:cNvGrpSpPr>
            <p:nvPr/>
          </p:nvGrpSpPr>
          <p:grpSpPr bwMode="auto">
            <a:xfrm>
              <a:off x="922" y="1460"/>
              <a:ext cx="803" cy="499"/>
              <a:chOff x="1174" y="1476"/>
              <a:chExt cx="803" cy="499"/>
            </a:xfrm>
          </p:grpSpPr>
          <p:sp>
            <p:nvSpPr>
              <p:cNvPr id="62" name="Rectangle 9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Text Box 4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  <a:r>
                  <a:rPr lang="en-US" sz="1400" i="1"/>
                  <a:t>A</a:t>
                </a:r>
                <a:r>
                  <a:rPr lang="en-US" sz="1400"/>
                  <a:t>	2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</p:txBody>
          </p:sp>
          <p:sp>
            <p:nvSpPr>
              <p:cNvPr id="64" name="Rectangle 5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Line 6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7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13"/>
            <p:cNvGrpSpPr>
              <a:grpSpLocks/>
            </p:cNvGrpSpPr>
            <p:nvPr/>
          </p:nvGrpSpPr>
          <p:grpSpPr bwMode="auto">
            <a:xfrm>
              <a:off x="2094" y="1460"/>
              <a:ext cx="803" cy="499"/>
              <a:chOff x="1174" y="1476"/>
              <a:chExt cx="803" cy="499"/>
            </a:xfrm>
          </p:grpSpPr>
          <p:sp>
            <p:nvSpPr>
              <p:cNvPr id="57" name="Rectangle 14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Text Box 15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  <a:r>
                  <a:rPr lang="en-US" sz="1400" i="1"/>
                  <a:t>C</a:t>
                </a:r>
                <a:r>
                  <a:rPr lang="en-US" sz="1400"/>
                  <a:t>	2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</p:txBody>
          </p:sp>
          <p:sp>
            <p:nvSpPr>
              <p:cNvPr id="59" name="Rectangle 16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Line 17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Line 18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3858" y="2170"/>
              <a:ext cx="803" cy="499"/>
              <a:chOff x="1174" y="1476"/>
              <a:chExt cx="803" cy="499"/>
            </a:xfrm>
          </p:grpSpPr>
          <p:sp>
            <p:nvSpPr>
              <p:cNvPr id="52" name="Rectangle 20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Text Box 21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  <a:r>
                  <a:rPr lang="en-US" sz="1400" i="1"/>
                  <a:t>H</a:t>
                </a:r>
                <a:r>
                  <a:rPr lang="en-US" sz="1400"/>
                  <a:t>	2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</p:txBody>
          </p:sp>
          <p:sp>
            <p:nvSpPr>
              <p:cNvPr id="54" name="Rectangle 22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Line 23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24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25"/>
            <p:cNvGrpSpPr>
              <a:grpSpLocks/>
            </p:cNvGrpSpPr>
            <p:nvPr/>
          </p:nvGrpSpPr>
          <p:grpSpPr bwMode="auto">
            <a:xfrm>
              <a:off x="2686" y="2170"/>
              <a:ext cx="803" cy="499"/>
              <a:chOff x="1174" y="1476"/>
              <a:chExt cx="803" cy="499"/>
            </a:xfrm>
          </p:grpSpPr>
          <p:sp>
            <p:nvSpPr>
              <p:cNvPr id="47" name="Rectangle 26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Text Box 27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  <a:r>
                  <a:rPr lang="en-US" sz="1400" i="1"/>
                  <a:t>E</a:t>
                </a:r>
                <a:r>
                  <a:rPr lang="en-US" sz="1400"/>
                  <a:t>	4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</p:txBody>
          </p:sp>
          <p:sp>
            <p:nvSpPr>
              <p:cNvPr id="49" name="Rectangle 28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Line 29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30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31"/>
            <p:cNvGrpSpPr>
              <a:grpSpLocks/>
            </p:cNvGrpSpPr>
            <p:nvPr/>
          </p:nvGrpSpPr>
          <p:grpSpPr bwMode="auto">
            <a:xfrm>
              <a:off x="922" y="2880"/>
              <a:ext cx="803" cy="499"/>
              <a:chOff x="1174" y="1476"/>
              <a:chExt cx="803" cy="499"/>
            </a:xfrm>
          </p:grpSpPr>
          <p:sp>
            <p:nvSpPr>
              <p:cNvPr id="42" name="Rectangle 32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Text Box 33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  <a:r>
                  <a:rPr lang="en-US" sz="1400" i="1"/>
                  <a:t>B</a:t>
                </a:r>
                <a:r>
                  <a:rPr lang="en-US" sz="1400"/>
                  <a:t>	3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</p:txBody>
          </p:sp>
          <p:sp>
            <p:nvSpPr>
              <p:cNvPr id="44" name="Rectangle 34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35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36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37"/>
            <p:cNvGrpSpPr>
              <a:grpSpLocks/>
            </p:cNvGrpSpPr>
            <p:nvPr/>
          </p:nvGrpSpPr>
          <p:grpSpPr bwMode="auto">
            <a:xfrm>
              <a:off x="2094" y="2880"/>
              <a:ext cx="803" cy="499"/>
              <a:chOff x="1174" y="1476"/>
              <a:chExt cx="803" cy="499"/>
            </a:xfrm>
          </p:grpSpPr>
          <p:sp>
            <p:nvSpPr>
              <p:cNvPr id="37" name="Rectangle 38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Text Box 39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  <a:r>
                  <a:rPr lang="en-US" sz="1400" i="1"/>
                  <a:t>D</a:t>
                </a:r>
                <a:r>
                  <a:rPr lang="en-US" sz="1400"/>
                  <a:t>	4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</p:txBody>
          </p:sp>
          <p:sp>
            <p:nvSpPr>
              <p:cNvPr id="39" name="Rectangle 40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41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42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43"/>
            <p:cNvGrpSpPr>
              <a:grpSpLocks/>
            </p:cNvGrpSpPr>
            <p:nvPr/>
          </p:nvGrpSpPr>
          <p:grpSpPr bwMode="auto">
            <a:xfrm>
              <a:off x="3266" y="2880"/>
              <a:ext cx="803" cy="499"/>
              <a:chOff x="1174" y="1476"/>
              <a:chExt cx="803" cy="499"/>
            </a:xfrm>
          </p:grpSpPr>
          <p:sp>
            <p:nvSpPr>
              <p:cNvPr id="32" name="Rectangle 44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Text Box 45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 dirty="0"/>
                  <a:t>	</a:t>
                </a:r>
                <a:r>
                  <a:rPr lang="en-US" sz="1400" i="1" dirty="0"/>
                  <a:t>G</a:t>
                </a:r>
                <a:r>
                  <a:rPr lang="en-US" sz="1400" dirty="0"/>
                  <a:t>	5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 dirty="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 dirty="0"/>
                  <a:t>	</a:t>
                </a:r>
              </a:p>
            </p:txBody>
          </p:sp>
          <p:sp>
            <p:nvSpPr>
              <p:cNvPr id="34" name="Rectangle 46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47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48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49"/>
            <p:cNvGrpSpPr>
              <a:grpSpLocks/>
            </p:cNvGrpSpPr>
            <p:nvPr/>
          </p:nvGrpSpPr>
          <p:grpSpPr bwMode="auto">
            <a:xfrm>
              <a:off x="3266" y="1460"/>
              <a:ext cx="803" cy="499"/>
              <a:chOff x="1174" y="1476"/>
              <a:chExt cx="803" cy="499"/>
            </a:xfrm>
          </p:grpSpPr>
          <p:sp>
            <p:nvSpPr>
              <p:cNvPr id="27" name="Rectangle 50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1" cy="156"/>
              </a:xfrm>
              <a:prstGeom prst="rect">
                <a:avLst/>
              </a:prstGeom>
              <a:solidFill>
                <a:schemeClr val="folHlink"/>
              </a:solidFill>
              <a:ln w="1905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Text Box 51"/>
              <p:cNvSpPr txBox="1">
                <a:spLocks noChangeArrowheads="1"/>
              </p:cNvSpPr>
              <p:nvPr/>
            </p:nvSpPr>
            <p:spPr bwMode="auto">
              <a:xfrm>
                <a:off x="1206" y="1476"/>
                <a:ext cx="714" cy="499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med"/>
                <a:tailEnd type="none" w="sm" len="med"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  <a:r>
                  <a:rPr lang="en-US" sz="1400" i="1"/>
                  <a:t>F</a:t>
                </a:r>
                <a:r>
                  <a:rPr lang="en-US" sz="1400"/>
                  <a:t>	3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  <a:p>
                <a:pPr>
                  <a:lnSpc>
                    <a:spcPct val="110000"/>
                  </a:lnSpc>
                  <a:tabLst>
                    <a:tab pos="180975" algn="ctr"/>
                    <a:tab pos="804863" algn="ctr"/>
                  </a:tabLst>
                </a:pPr>
                <a:r>
                  <a:rPr lang="en-US" sz="1400"/>
                  <a:t>	</a:t>
                </a:r>
              </a:p>
            </p:txBody>
          </p:sp>
          <p:sp>
            <p:nvSpPr>
              <p:cNvPr id="29" name="Rectangle 52"/>
              <p:cNvSpPr>
                <a:spLocks noChangeArrowheads="1"/>
              </p:cNvSpPr>
              <p:nvPr/>
            </p:nvSpPr>
            <p:spPr bwMode="auto">
              <a:xfrm>
                <a:off x="1176" y="1501"/>
                <a:ext cx="800" cy="4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53"/>
              <p:cNvSpPr>
                <a:spLocks noChangeShapeType="1"/>
              </p:cNvSpPr>
              <p:nvPr/>
            </p:nvSpPr>
            <p:spPr bwMode="auto">
              <a:xfrm>
                <a:off x="1174" y="1657"/>
                <a:ext cx="8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54"/>
              <p:cNvSpPr>
                <a:spLocks noChangeShapeType="1"/>
              </p:cNvSpPr>
              <p:nvPr/>
            </p:nvSpPr>
            <p:spPr bwMode="auto">
              <a:xfrm>
                <a:off x="1175" y="1802"/>
                <a:ext cx="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  <a:tailEnd type="none" w="sm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Text Box 55"/>
            <p:cNvSpPr txBox="1">
              <a:spLocks noChangeArrowheads="1"/>
            </p:cNvSpPr>
            <p:nvPr/>
          </p:nvSpPr>
          <p:spPr bwMode="auto">
            <a:xfrm>
              <a:off x="446" y="2314"/>
              <a:ext cx="389" cy="21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 type="none" w="sm" len="med"/>
              <a:tailEnd type="none" w="sm" len="med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Start</a:t>
              </a:r>
            </a:p>
          </p:txBody>
        </p:sp>
        <p:sp>
          <p:nvSpPr>
            <p:cNvPr id="15" name="Text Box 56"/>
            <p:cNvSpPr txBox="1">
              <a:spLocks noChangeArrowheads="1"/>
            </p:cNvSpPr>
            <p:nvPr/>
          </p:nvSpPr>
          <p:spPr bwMode="auto">
            <a:xfrm>
              <a:off x="4870" y="2314"/>
              <a:ext cx="462" cy="21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 type="none" w="sm" len="med"/>
              <a:tailEnd type="none" w="sm" len="med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400"/>
                <a:t>Finish</a:t>
              </a:r>
            </a:p>
          </p:txBody>
        </p:sp>
        <p:sp>
          <p:nvSpPr>
            <p:cNvPr id="16" name="Line 57"/>
            <p:cNvSpPr>
              <a:spLocks noChangeShapeType="1"/>
            </p:cNvSpPr>
            <p:nvPr/>
          </p:nvSpPr>
          <p:spPr bwMode="auto">
            <a:xfrm flipV="1">
              <a:off x="640" y="1944"/>
              <a:ext cx="280" cy="3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58"/>
            <p:cNvSpPr>
              <a:spLocks noChangeShapeType="1"/>
            </p:cNvSpPr>
            <p:nvPr/>
          </p:nvSpPr>
          <p:spPr bwMode="auto">
            <a:xfrm>
              <a:off x="632" y="2528"/>
              <a:ext cx="280" cy="3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59"/>
            <p:cNvSpPr>
              <a:spLocks noChangeShapeType="1"/>
            </p:cNvSpPr>
            <p:nvPr/>
          </p:nvSpPr>
          <p:spPr bwMode="auto">
            <a:xfrm>
              <a:off x="1720" y="1696"/>
              <a:ext cx="3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60"/>
            <p:cNvSpPr>
              <a:spLocks noChangeShapeType="1"/>
            </p:cNvSpPr>
            <p:nvPr/>
          </p:nvSpPr>
          <p:spPr bwMode="auto">
            <a:xfrm>
              <a:off x="2896" y="1720"/>
              <a:ext cx="3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61"/>
            <p:cNvSpPr>
              <a:spLocks noChangeShapeType="1"/>
            </p:cNvSpPr>
            <p:nvPr/>
          </p:nvSpPr>
          <p:spPr bwMode="auto">
            <a:xfrm>
              <a:off x="4656" y="2424"/>
              <a:ext cx="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62"/>
            <p:cNvSpPr>
              <a:spLocks noChangeShapeType="1"/>
            </p:cNvSpPr>
            <p:nvPr/>
          </p:nvSpPr>
          <p:spPr bwMode="auto">
            <a:xfrm>
              <a:off x="2888" y="3128"/>
              <a:ext cx="3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63"/>
            <p:cNvSpPr>
              <a:spLocks noChangeShapeType="1"/>
            </p:cNvSpPr>
            <p:nvPr/>
          </p:nvSpPr>
          <p:spPr bwMode="auto">
            <a:xfrm>
              <a:off x="1728" y="3136"/>
              <a:ext cx="3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64"/>
            <p:cNvSpPr>
              <a:spLocks noChangeShapeType="1"/>
            </p:cNvSpPr>
            <p:nvPr/>
          </p:nvSpPr>
          <p:spPr bwMode="auto">
            <a:xfrm>
              <a:off x="2696" y="1952"/>
              <a:ext cx="18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65"/>
            <p:cNvSpPr>
              <a:spLocks noChangeShapeType="1"/>
            </p:cNvSpPr>
            <p:nvPr/>
          </p:nvSpPr>
          <p:spPr bwMode="auto">
            <a:xfrm>
              <a:off x="3280" y="2656"/>
              <a:ext cx="18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66"/>
            <p:cNvSpPr>
              <a:spLocks noChangeShapeType="1"/>
            </p:cNvSpPr>
            <p:nvPr/>
          </p:nvSpPr>
          <p:spPr bwMode="auto">
            <a:xfrm>
              <a:off x="4064" y="1944"/>
              <a:ext cx="18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67"/>
            <p:cNvSpPr>
              <a:spLocks noChangeShapeType="1"/>
            </p:cNvSpPr>
            <p:nvPr/>
          </p:nvSpPr>
          <p:spPr bwMode="auto">
            <a:xfrm flipV="1">
              <a:off x="3672" y="2656"/>
              <a:ext cx="18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4"/>
          <p:cNvGrpSpPr>
            <a:grpSpLocks/>
          </p:cNvGrpSpPr>
          <p:nvPr/>
        </p:nvGrpSpPr>
        <p:grpSpPr bwMode="auto">
          <a:xfrm>
            <a:off x="6600971" y="4954097"/>
            <a:ext cx="1958975" cy="996950"/>
            <a:chOff x="1174" y="1476"/>
            <a:chExt cx="1234" cy="628"/>
          </a:xfrm>
        </p:grpSpPr>
        <p:sp>
          <p:nvSpPr>
            <p:cNvPr id="68" name="Rectangle 5"/>
            <p:cNvSpPr>
              <a:spLocks noChangeArrowheads="1"/>
            </p:cNvSpPr>
            <p:nvPr/>
          </p:nvSpPr>
          <p:spPr bwMode="auto">
            <a:xfrm>
              <a:off x="1176" y="1501"/>
              <a:ext cx="1224" cy="198"/>
            </a:xfrm>
            <a:prstGeom prst="rect">
              <a:avLst/>
            </a:prstGeom>
            <a:solidFill>
              <a:schemeClr val="folHlink"/>
            </a:solidFill>
            <a:ln w="19050">
              <a:noFill/>
              <a:miter lim="800000"/>
              <a:headEnd type="non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Text Box 6"/>
            <p:cNvSpPr txBox="1">
              <a:spLocks noChangeArrowheads="1"/>
            </p:cNvSpPr>
            <p:nvPr/>
          </p:nvSpPr>
          <p:spPr bwMode="auto">
            <a:xfrm>
              <a:off x="1206" y="1476"/>
              <a:ext cx="1179" cy="628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med"/>
              <a:tailEnd type="none" w="sm" len="med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tabLst>
                  <a:tab pos="444500" algn="ctr"/>
                  <a:tab pos="1524000" algn="ctr"/>
                </a:tabLst>
              </a:pPr>
              <a:r>
                <a:rPr lang="en-US" sz="1800"/>
                <a:t>	ACTIVITY	</a:t>
              </a:r>
              <a:r>
                <a:rPr lang="en-US" sz="1800" i="1">
                  <a:latin typeface="Times New Roman" pitchFamily="18" charset="0"/>
                </a:rPr>
                <a:t>t</a:t>
              </a:r>
            </a:p>
            <a:p>
              <a:pPr>
                <a:lnSpc>
                  <a:spcPct val="110000"/>
                </a:lnSpc>
                <a:tabLst>
                  <a:tab pos="444500" algn="ctr"/>
                  <a:tab pos="1524000" algn="ctr"/>
                </a:tabLst>
              </a:pPr>
              <a:r>
                <a:rPr lang="en-US" sz="1800"/>
                <a:t>	ES	EF</a:t>
              </a:r>
            </a:p>
            <a:p>
              <a:pPr>
                <a:lnSpc>
                  <a:spcPct val="110000"/>
                </a:lnSpc>
                <a:tabLst>
                  <a:tab pos="444500" algn="ctr"/>
                  <a:tab pos="1524000" algn="ctr"/>
                </a:tabLst>
              </a:pPr>
              <a:r>
                <a:rPr lang="en-US" sz="1800"/>
                <a:t>	LS	LF</a:t>
              </a:r>
            </a:p>
          </p:txBody>
        </p:sp>
        <p:sp>
          <p:nvSpPr>
            <p:cNvPr id="70" name="Rectangle 7"/>
            <p:cNvSpPr>
              <a:spLocks noChangeArrowheads="1"/>
            </p:cNvSpPr>
            <p:nvPr/>
          </p:nvSpPr>
          <p:spPr bwMode="auto">
            <a:xfrm>
              <a:off x="1176" y="1501"/>
              <a:ext cx="1232" cy="59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8"/>
            <p:cNvSpPr>
              <a:spLocks noChangeShapeType="1"/>
            </p:cNvSpPr>
            <p:nvPr/>
          </p:nvSpPr>
          <p:spPr bwMode="auto">
            <a:xfrm>
              <a:off x="1174" y="1699"/>
              <a:ext cx="12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9"/>
            <p:cNvSpPr>
              <a:spLocks noChangeShapeType="1"/>
            </p:cNvSpPr>
            <p:nvPr/>
          </p:nvSpPr>
          <p:spPr bwMode="auto">
            <a:xfrm>
              <a:off x="1175" y="1889"/>
              <a:ext cx="12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576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87</a:t>
            </a:fld>
            <a:endParaRPr lang="en-US" dirty="0"/>
          </a:p>
        </p:txBody>
      </p:sp>
      <p:pic>
        <p:nvPicPr>
          <p:cNvPr id="6152" name="Picture 8" descr="https://ars.els-cdn.com/content/image/3-s2.0-B9780128243398000195-f19-32-978012824339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304800"/>
            <a:ext cx="448627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https://ars.els-cdn.com/content/image/3-s2.0-B9780128243398000195-f19-33-978012824339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352800"/>
            <a:ext cx="48482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72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88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677248"/>
              </p:ext>
            </p:extLst>
          </p:nvPr>
        </p:nvGraphicFramePr>
        <p:xfrm>
          <a:off x="505326" y="1447800"/>
          <a:ext cx="7904036" cy="36576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976009"/>
                <a:gridCol w="1976009"/>
                <a:gridCol w="1976009"/>
                <a:gridCol w="1976009"/>
              </a:tblGrid>
              <a:tr h="365760">
                <a:tc>
                  <a:txBody>
                    <a:bodyPr/>
                    <a:lstStyle/>
                    <a:p>
                      <a:pPr marL="6477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</a:t>
                      </a:r>
                      <a:r>
                        <a:rPr lang="en-US" sz="2400" b="1" spc="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v</a:t>
                      </a:r>
                      <a:r>
                        <a:rPr lang="en-US" sz="2400" b="1" spc="-1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</a:t>
                      </a:r>
                      <a:r>
                        <a:rPr lang="en-US" sz="2400" b="1" spc="-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</a:t>
                      </a:r>
                      <a:r>
                        <a:rPr lang="en-US" sz="2400" b="1" spc="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</a:t>
                      </a:r>
                      <a:r>
                        <a:rPr lang="en-US" sz="2400" b="1" spc="-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</a:t>
                      </a:r>
                      <a:r>
                        <a:rPr lang="en-US" sz="2400" b="1" spc="5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ess</a:t>
                      </a:r>
                      <a:r>
                        <a:rPr lang="en-US" sz="2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spc="5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Successor </a:t>
                      </a:r>
                      <a:endParaRPr lang="en-US" sz="2400" b="1" kern="1200" spc="5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spc="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</a:t>
                      </a:r>
                      <a:r>
                        <a:rPr lang="en-US" sz="2400" b="1" spc="-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 (We</a:t>
                      </a:r>
                      <a:r>
                        <a:rPr lang="en-US" sz="2400" b="1" spc="-5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ks)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3375" marR="3340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A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5920" marR="3797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5920" marR="3797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6550" marR="3359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B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6235" marR="35814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6235" marR="35814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E,G,I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6090" marR="46609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pc="5" dirty="0" smtClean="0">
                          <a:effectLst/>
                          <a:latin typeface="+mn-lt"/>
                          <a:ea typeface="Calibri" panose="020F0502020204030204" pitchFamily="34" charset="0"/>
                        </a:rPr>
                        <a:t>6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7820" marR="33655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C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5275" marR="2978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5275" marR="29781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F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6090" marR="46609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pc="5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30200" marR="33147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D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5920" marR="3797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75920" marR="37973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G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6090" marR="46609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spc="5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E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H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F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I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G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B,D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H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340995" marR="3403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I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B,F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4005" marR="2959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4190" marR="506095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dirty="0" smtClean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</a:t>
                      </a:r>
                      <a:endParaRPr lang="en-US" sz="22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03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A9D5F3"/>
      </a:accent1>
      <a:accent2>
        <a:srgbClr val="84C3ED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11604</TotalTime>
  <Words>3827</Words>
  <Application>Microsoft Office PowerPoint</Application>
  <PresentationFormat>On-screen Show (4:3)</PresentationFormat>
  <Paragraphs>962</Paragraphs>
  <Slides>88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96" baseType="lpstr">
      <vt:lpstr>Arial</vt:lpstr>
      <vt:lpstr>Calibri</vt:lpstr>
      <vt:lpstr>Calibri Light</vt:lpstr>
      <vt:lpstr>Times New Roman</vt:lpstr>
      <vt:lpstr>Wingdings</vt:lpstr>
      <vt:lpstr>Retrospect</vt:lpstr>
      <vt:lpstr>Document</vt:lpstr>
      <vt:lpstr>Chart</vt:lpstr>
      <vt:lpstr>Software Project Scheduling</vt:lpstr>
      <vt:lpstr>Project Time Management-Activity Planning</vt:lpstr>
      <vt:lpstr>Activity Planning – Activity + Planning </vt:lpstr>
      <vt:lpstr>PowerPoint Presentation</vt:lpstr>
      <vt:lpstr>Activity and its  sub activities  for event planner system</vt:lpstr>
      <vt:lpstr>Why defining activities in a project is important?</vt:lpstr>
      <vt:lpstr>  Defining Activity List  By creating an activity list for a project, you are ensuring proper functioning and the systematic progress of your project.</vt:lpstr>
      <vt:lpstr> Five-time management processes of the Activity list as per the PMBOK® guide:</vt:lpstr>
      <vt:lpstr>The benefit of Project scheduling Below figure presents task/activity sequencing involving dependencies of tasks and when those tasks should take place</vt:lpstr>
      <vt:lpstr>Activity sequencing after activities are defined</vt:lpstr>
      <vt:lpstr>Benefits of stating start and end date of  each activity </vt:lpstr>
      <vt:lpstr>Benefit of activity scheduling</vt:lpstr>
      <vt:lpstr>Objectives of Activity Planning</vt:lpstr>
      <vt:lpstr>Objectives of Activity Planning (contd.)</vt:lpstr>
      <vt:lpstr>Objectives of Activity Planning (contd.)</vt:lpstr>
      <vt:lpstr>The purpose of plan shifts at each successive iteration of the project</vt:lpstr>
      <vt:lpstr>Project Schedule</vt:lpstr>
      <vt:lpstr>Project Schedule (Contd.)</vt:lpstr>
      <vt:lpstr>Activity Planning at step 4 and 5 </vt:lpstr>
      <vt:lpstr>PowerPoint Presentation</vt:lpstr>
      <vt:lpstr>PowerPoint Presentation</vt:lpstr>
      <vt:lpstr>Project and its activities</vt:lpstr>
      <vt:lpstr>Identifying Activities</vt:lpstr>
      <vt:lpstr>Activity Based Approach</vt:lpstr>
      <vt:lpstr>Product Based Approach</vt:lpstr>
      <vt:lpstr>Hybrid Approach</vt:lpstr>
      <vt:lpstr>Work Breakdown Structure (WBS)</vt:lpstr>
      <vt:lpstr>WBS </vt:lpstr>
      <vt:lpstr>Hierarchical Visualization of the WBS</vt:lpstr>
      <vt:lpstr>PowerPoint Presentation</vt:lpstr>
      <vt:lpstr>Why useful ?</vt:lpstr>
      <vt:lpstr>PowerPoint Presentation</vt:lpstr>
      <vt:lpstr>PowerPoint Presentation</vt:lpstr>
      <vt:lpstr>PowerPoint Presentation</vt:lpstr>
      <vt:lpstr>PowerPoint Presentation</vt:lpstr>
      <vt:lpstr>Process Based WBS</vt:lpstr>
      <vt:lpstr>Hybrid WBS: both of Process and product based WBS</vt:lpstr>
      <vt:lpstr>To what level of depth WBS needs to show????</vt:lpstr>
      <vt:lpstr>WBS Summary</vt:lpstr>
      <vt:lpstr>PowerPoint Presentation</vt:lpstr>
      <vt:lpstr>PowerPoint Presentation</vt:lpstr>
      <vt:lpstr>PowerPoint Presentation</vt:lpstr>
      <vt:lpstr>WBS online shopping store</vt:lpstr>
      <vt:lpstr>Scheduling Fundamentals</vt:lpstr>
      <vt:lpstr>Gantt Charts</vt:lpstr>
      <vt:lpstr>Gantt Charts</vt:lpstr>
      <vt:lpstr>Network Diagram</vt:lpstr>
      <vt:lpstr>Critical path method (CPM)</vt:lpstr>
      <vt:lpstr>CPM</vt:lpstr>
      <vt:lpstr>Constructing Network Model</vt:lpstr>
      <vt:lpstr>Constructing Network Model</vt:lpstr>
      <vt:lpstr>Constructing Network Model</vt:lpstr>
      <vt:lpstr>CPM</vt:lpstr>
      <vt:lpstr>Ways of Finding Critical Path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CPM – Critical Path Method</vt:lpstr>
      <vt:lpstr>Calculate processing times for each activity.</vt:lpstr>
      <vt:lpstr>CPM – Critical Path Method</vt:lpstr>
      <vt:lpstr>CPM – Critical Path Method</vt:lpstr>
      <vt:lpstr>CPM – Critical Path Method</vt:lpstr>
      <vt:lpstr>Solution</vt:lpstr>
      <vt:lpstr>Program Evaluation and Review Technique (PERT)</vt:lpstr>
      <vt:lpstr>Program Evaluation and Review Technique (PERT)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CPM vs PERT</vt:lpstr>
      <vt:lpstr>Terminology Of The Networking Technique</vt:lpstr>
      <vt:lpstr>Slack/Float</vt:lpstr>
      <vt:lpstr>Precedence Diagram Method (PDM)</vt:lpstr>
      <vt:lpstr>PowerPoint Presentation</vt:lpstr>
      <vt:lpstr>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Microsoft account</cp:lastModifiedBy>
  <cp:revision>963</cp:revision>
  <dcterms:created xsi:type="dcterms:W3CDTF">2022-08-07T01:15:18Z</dcterms:created>
  <dcterms:modified xsi:type="dcterms:W3CDTF">2023-12-12T04:40:04Z</dcterms:modified>
</cp:coreProperties>
</file>