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notesSlides/notesSlide13.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notesSlides/notesSlide14.xml" ContentType="application/vnd.openxmlformats-officedocument.presentationml.notesSlide+xml"/>
  <Override PartName="/ppt/theme/themeOverride7.xml" ContentType="application/vnd.openxmlformats-officedocument.themeOverride+xml"/>
  <Override PartName="/ppt/theme/themeOverride8.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705" r:id="rId2"/>
  </p:sldMasterIdLst>
  <p:notesMasterIdLst>
    <p:notesMasterId r:id="rId101"/>
  </p:notesMasterIdLst>
  <p:sldIdLst>
    <p:sldId id="256" r:id="rId3"/>
    <p:sldId id="383" r:id="rId4"/>
    <p:sldId id="384" r:id="rId5"/>
    <p:sldId id="435" r:id="rId6"/>
    <p:sldId id="387" r:id="rId7"/>
    <p:sldId id="388" r:id="rId8"/>
    <p:sldId id="389" r:id="rId9"/>
    <p:sldId id="391" r:id="rId10"/>
    <p:sldId id="399" r:id="rId11"/>
    <p:sldId id="392" r:id="rId12"/>
    <p:sldId id="278" r:id="rId13"/>
    <p:sldId id="259" r:id="rId14"/>
    <p:sldId id="269" r:id="rId15"/>
    <p:sldId id="280" r:id="rId16"/>
    <p:sldId id="270" r:id="rId17"/>
    <p:sldId id="279" r:id="rId18"/>
    <p:sldId id="393" r:id="rId19"/>
    <p:sldId id="394" r:id="rId20"/>
    <p:sldId id="390" r:id="rId21"/>
    <p:sldId id="404" r:id="rId22"/>
    <p:sldId id="272" r:id="rId23"/>
    <p:sldId id="273" r:id="rId24"/>
    <p:sldId id="431" r:id="rId25"/>
    <p:sldId id="283" r:id="rId26"/>
    <p:sldId id="397" r:id="rId27"/>
    <p:sldId id="405" r:id="rId28"/>
    <p:sldId id="406" r:id="rId29"/>
    <p:sldId id="276" r:id="rId30"/>
    <p:sldId id="396" r:id="rId31"/>
    <p:sldId id="400" r:id="rId32"/>
    <p:sldId id="402" r:id="rId33"/>
    <p:sldId id="274" r:id="rId34"/>
    <p:sldId id="403" r:id="rId35"/>
    <p:sldId id="432" r:id="rId36"/>
    <p:sldId id="433" r:id="rId37"/>
    <p:sldId id="434" r:id="rId38"/>
    <p:sldId id="407" r:id="rId39"/>
    <p:sldId id="408" r:id="rId40"/>
    <p:sldId id="436" r:id="rId41"/>
    <p:sldId id="437" r:id="rId42"/>
    <p:sldId id="439" r:id="rId43"/>
    <p:sldId id="443" r:id="rId44"/>
    <p:sldId id="440" r:id="rId45"/>
    <p:sldId id="441" r:id="rId46"/>
    <p:sldId id="442" r:id="rId47"/>
    <p:sldId id="428" r:id="rId48"/>
    <p:sldId id="429" r:id="rId49"/>
    <p:sldId id="430" r:id="rId50"/>
    <p:sldId id="410" r:id="rId51"/>
    <p:sldId id="454" r:id="rId52"/>
    <p:sldId id="455" r:id="rId53"/>
    <p:sldId id="479" r:id="rId54"/>
    <p:sldId id="456" r:id="rId55"/>
    <p:sldId id="457" r:id="rId56"/>
    <p:sldId id="458" r:id="rId57"/>
    <p:sldId id="459" r:id="rId58"/>
    <p:sldId id="419" r:id="rId59"/>
    <p:sldId id="426" r:id="rId60"/>
    <p:sldId id="420" r:id="rId61"/>
    <p:sldId id="422" r:id="rId62"/>
    <p:sldId id="421" r:id="rId63"/>
    <p:sldId id="424" r:id="rId64"/>
    <p:sldId id="452" r:id="rId65"/>
    <p:sldId id="460" r:id="rId66"/>
    <p:sldId id="447" r:id="rId67"/>
    <p:sldId id="448" r:id="rId68"/>
    <p:sldId id="453" r:id="rId69"/>
    <p:sldId id="480" r:id="rId70"/>
    <p:sldId id="481" r:id="rId71"/>
    <p:sldId id="482" r:id="rId72"/>
    <p:sldId id="462" r:id="rId73"/>
    <p:sldId id="466" r:id="rId74"/>
    <p:sldId id="463" r:id="rId75"/>
    <p:sldId id="464" r:id="rId76"/>
    <p:sldId id="465" r:id="rId77"/>
    <p:sldId id="449" r:id="rId78"/>
    <p:sldId id="451" r:id="rId79"/>
    <p:sldId id="450" r:id="rId80"/>
    <p:sldId id="467" r:id="rId81"/>
    <p:sldId id="468" r:id="rId82"/>
    <p:sldId id="469" r:id="rId83"/>
    <p:sldId id="470" r:id="rId84"/>
    <p:sldId id="483" r:id="rId85"/>
    <p:sldId id="471" r:id="rId86"/>
    <p:sldId id="472" r:id="rId87"/>
    <p:sldId id="473" r:id="rId88"/>
    <p:sldId id="474" r:id="rId89"/>
    <p:sldId id="475" r:id="rId90"/>
    <p:sldId id="477" r:id="rId91"/>
    <p:sldId id="476" r:id="rId92"/>
    <p:sldId id="478" r:id="rId93"/>
    <p:sldId id="484" r:id="rId94"/>
    <p:sldId id="485" r:id="rId95"/>
    <p:sldId id="486" r:id="rId96"/>
    <p:sldId id="487" r:id="rId97"/>
    <p:sldId id="488" r:id="rId98"/>
    <p:sldId id="489" r:id="rId99"/>
    <p:sldId id="461" r:id="rId10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0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750" autoAdjust="0"/>
  </p:normalViewPr>
  <p:slideViewPr>
    <p:cSldViewPr>
      <p:cViewPr varScale="1">
        <p:scale>
          <a:sx n="34" d="100"/>
          <a:sy n="34" d="100"/>
        </p:scale>
        <p:origin x="416"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598602-0560-4791-93EC-3BF081516261}" type="datetimeFigureOut">
              <a:rPr lang="en-US" smtClean="0"/>
              <a:t>10/18/2022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88E1D-6BDD-4280-B096-4D15059FE1C4}" type="slidenum">
              <a:rPr lang="en-US" smtClean="0"/>
              <a:t>‹#›</a:t>
            </a:fld>
            <a:endParaRPr lang="en-US"/>
          </a:p>
        </p:txBody>
      </p:sp>
    </p:spTree>
    <p:extLst>
      <p:ext uri="{BB962C8B-B14F-4D97-AF65-F5344CB8AC3E}">
        <p14:creationId xmlns:p14="http://schemas.microsoft.com/office/powerpoint/2010/main" val="4186589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M.Sc. Computer Engineering,</a:t>
            </a:r>
            <a:r>
              <a:rPr lang="en-US" baseline="0" dirty="0" smtClean="0"/>
              <a:t> </a:t>
            </a:r>
            <a:r>
              <a:rPr lang="en-US" dirty="0" smtClean="0"/>
              <a:t>Computer System and Knowledge Engineering</a:t>
            </a:r>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a:t>
            </a:fld>
            <a:endParaRPr lang="en-US"/>
          </a:p>
        </p:txBody>
      </p:sp>
    </p:spTree>
    <p:extLst>
      <p:ext uri="{BB962C8B-B14F-4D97-AF65-F5344CB8AC3E}">
        <p14:creationId xmlns:p14="http://schemas.microsoft.com/office/powerpoint/2010/main" val="355287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8</a:t>
            </a:fld>
            <a:endParaRPr lang="en-US"/>
          </a:p>
        </p:txBody>
      </p:sp>
    </p:spTree>
    <p:extLst>
      <p:ext uri="{BB962C8B-B14F-4D97-AF65-F5344CB8AC3E}">
        <p14:creationId xmlns:p14="http://schemas.microsoft.com/office/powerpoint/2010/main" val="1432703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9</a:t>
            </a:fld>
            <a:endParaRPr lang="en-US"/>
          </a:p>
        </p:txBody>
      </p:sp>
    </p:spTree>
    <p:extLst>
      <p:ext uri="{BB962C8B-B14F-4D97-AF65-F5344CB8AC3E}">
        <p14:creationId xmlns:p14="http://schemas.microsoft.com/office/powerpoint/2010/main" val="3266905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Project Management Institute (PMI) is the leading professional association for project management, and the authority for a growing global community of millions of project professionals and individuals who use project management skills</a:t>
            </a:r>
          </a:p>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10</a:t>
            </a:fld>
            <a:endParaRPr lang="en-US"/>
          </a:p>
        </p:txBody>
      </p:sp>
    </p:spTree>
    <p:extLst>
      <p:ext uri="{BB962C8B-B14F-4D97-AF65-F5344CB8AC3E}">
        <p14:creationId xmlns:p14="http://schemas.microsoft.com/office/powerpoint/2010/main" val="1402667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16</a:t>
            </a:fld>
            <a:endParaRPr lang="en-US"/>
          </a:p>
        </p:txBody>
      </p:sp>
    </p:spTree>
    <p:extLst>
      <p:ext uri="{BB962C8B-B14F-4D97-AF65-F5344CB8AC3E}">
        <p14:creationId xmlns:p14="http://schemas.microsoft.com/office/powerpoint/2010/main" val="1485354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eaLnBrk="1" hangingPunct="1">
              <a:buFontTx/>
              <a:buAutoNum type="arabicPeriod"/>
            </a:pPr>
            <a:r>
              <a:rPr lang="en-GB" altLang="en-US" dirty="0" smtClean="0"/>
              <a:t>Often you see something like ‘feasibility study’ being put as the first stage of development life cycle, and indeed it might be. However, the outcome of the feasibility study might be not to carry out the proposed project. Planning of the project should therefore take place after the feasibility study (or as a part of the feasibility study perhaps). Clearly the feasibility study itself might need a plan.</a:t>
            </a:r>
          </a:p>
          <a:p>
            <a:pPr marL="228600" indent="-228600" eaLnBrk="1" hangingPunct="1">
              <a:buFontTx/>
              <a:buAutoNum type="arabicPeriod"/>
            </a:pPr>
            <a:r>
              <a:rPr lang="en-GB" altLang="en-US" dirty="0" smtClean="0"/>
              <a:t>All plans are to some extent provisional and subject to change. The key point is that the evolving plan allows us to </a:t>
            </a:r>
            <a:r>
              <a:rPr lang="en-GB" altLang="en-US" i="1" dirty="0" smtClean="0"/>
              <a:t>control</a:t>
            </a:r>
            <a:r>
              <a:rPr lang="en-GB" altLang="en-US" dirty="0" smtClean="0"/>
              <a:t> the project.</a:t>
            </a:r>
          </a:p>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17</a:t>
            </a:fld>
            <a:endParaRPr lang="en-US"/>
          </a:p>
        </p:txBody>
      </p:sp>
    </p:spTree>
    <p:extLst>
      <p:ext uri="{BB962C8B-B14F-4D97-AF65-F5344CB8AC3E}">
        <p14:creationId xmlns:p14="http://schemas.microsoft.com/office/powerpoint/2010/main" val="1981608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19</a:t>
            </a:fld>
            <a:endParaRPr lang="en-US"/>
          </a:p>
        </p:txBody>
      </p:sp>
    </p:spTree>
    <p:extLst>
      <p:ext uri="{BB962C8B-B14F-4D97-AF65-F5344CB8AC3E}">
        <p14:creationId xmlns:p14="http://schemas.microsoft.com/office/powerpoint/2010/main" val="1077133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20</a:t>
            </a:fld>
            <a:endParaRPr lang="en-US"/>
          </a:p>
        </p:txBody>
      </p:sp>
    </p:spTree>
    <p:extLst>
      <p:ext uri="{BB962C8B-B14F-4D97-AF65-F5344CB8AC3E}">
        <p14:creationId xmlns:p14="http://schemas.microsoft.com/office/powerpoint/2010/main" val="2538682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21</a:t>
            </a:fld>
            <a:endParaRPr lang="en-US"/>
          </a:p>
        </p:txBody>
      </p:sp>
    </p:spTree>
    <p:extLst>
      <p:ext uri="{BB962C8B-B14F-4D97-AF65-F5344CB8AC3E}">
        <p14:creationId xmlns:p14="http://schemas.microsoft.com/office/powerpoint/2010/main" val="345969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22</a:t>
            </a:fld>
            <a:endParaRPr lang="en-US"/>
          </a:p>
        </p:txBody>
      </p:sp>
    </p:spTree>
    <p:extLst>
      <p:ext uri="{BB962C8B-B14F-4D97-AF65-F5344CB8AC3E}">
        <p14:creationId xmlns:p14="http://schemas.microsoft.com/office/powerpoint/2010/main" val="1961174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25</a:t>
            </a:fld>
            <a:endParaRPr lang="en-US"/>
          </a:p>
        </p:txBody>
      </p:sp>
    </p:spTree>
    <p:extLst>
      <p:ext uri="{BB962C8B-B14F-4D97-AF65-F5344CB8AC3E}">
        <p14:creationId xmlns:p14="http://schemas.microsoft.com/office/powerpoint/2010/main" val="1274765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28</a:t>
            </a:fld>
            <a:endParaRPr lang="en-US"/>
          </a:p>
        </p:txBody>
      </p:sp>
    </p:spTree>
    <p:extLst>
      <p:ext uri="{BB962C8B-B14F-4D97-AF65-F5344CB8AC3E}">
        <p14:creationId xmlns:p14="http://schemas.microsoft.com/office/powerpoint/2010/main" val="4368131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30</a:t>
            </a:fld>
            <a:endParaRPr lang="en-US"/>
          </a:p>
        </p:txBody>
      </p:sp>
    </p:spTree>
    <p:extLst>
      <p:ext uri="{BB962C8B-B14F-4D97-AF65-F5344CB8AC3E}">
        <p14:creationId xmlns:p14="http://schemas.microsoft.com/office/powerpoint/2010/main" val="3545525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E288E1D-6BDD-4280-B096-4D15059FE1C4}" type="slidenum">
              <a:rPr lang="en-US" smtClean="0"/>
              <a:t>36</a:t>
            </a:fld>
            <a:endParaRPr lang="en-US"/>
          </a:p>
        </p:txBody>
      </p:sp>
    </p:spTree>
    <p:extLst>
      <p:ext uri="{BB962C8B-B14F-4D97-AF65-F5344CB8AC3E}">
        <p14:creationId xmlns:p14="http://schemas.microsoft.com/office/powerpoint/2010/main" val="4884647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39</a:t>
            </a:fld>
            <a:endParaRPr lang="en-US"/>
          </a:p>
        </p:txBody>
      </p:sp>
    </p:spTree>
    <p:extLst>
      <p:ext uri="{BB962C8B-B14F-4D97-AF65-F5344CB8AC3E}">
        <p14:creationId xmlns:p14="http://schemas.microsoft.com/office/powerpoint/2010/main" val="2416903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40</a:t>
            </a:fld>
            <a:endParaRPr lang="en-US"/>
          </a:p>
        </p:txBody>
      </p:sp>
    </p:spTree>
    <p:extLst>
      <p:ext uri="{BB962C8B-B14F-4D97-AF65-F5344CB8AC3E}">
        <p14:creationId xmlns:p14="http://schemas.microsoft.com/office/powerpoint/2010/main" val="1006942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41</a:t>
            </a:fld>
            <a:endParaRPr lang="en-US"/>
          </a:p>
        </p:txBody>
      </p:sp>
    </p:spTree>
    <p:extLst>
      <p:ext uri="{BB962C8B-B14F-4D97-AF65-F5344CB8AC3E}">
        <p14:creationId xmlns:p14="http://schemas.microsoft.com/office/powerpoint/2010/main" val="12258540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42</a:t>
            </a:fld>
            <a:endParaRPr lang="en-US"/>
          </a:p>
        </p:txBody>
      </p:sp>
    </p:spTree>
    <p:extLst>
      <p:ext uri="{BB962C8B-B14F-4D97-AF65-F5344CB8AC3E}">
        <p14:creationId xmlns:p14="http://schemas.microsoft.com/office/powerpoint/2010/main" val="32601089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4p’s</a:t>
            </a:r>
          </a:p>
          <a:p>
            <a:r>
              <a:rPr lang="en-US" sz="1200" b="0" i="0" kern="1200" dirty="0" smtClean="0">
                <a:solidFill>
                  <a:schemeClr val="tx1"/>
                </a:solidFill>
                <a:effectLst/>
                <a:latin typeface="+mn-lt"/>
                <a:ea typeface="+mn-ea"/>
                <a:cs typeface="+mn-cs"/>
              </a:rPr>
              <a:t>1. People</a:t>
            </a:r>
          </a:p>
          <a:p>
            <a:r>
              <a:rPr lang="en-US" sz="1200" b="0" i="0" kern="1200" dirty="0" smtClean="0">
                <a:solidFill>
                  <a:schemeClr val="tx1"/>
                </a:solidFill>
                <a:effectLst/>
                <a:latin typeface="+mn-lt"/>
                <a:ea typeface="+mn-ea"/>
                <a:cs typeface="+mn-cs"/>
              </a:rPr>
              <a:t>2. Product</a:t>
            </a:r>
          </a:p>
          <a:p>
            <a:r>
              <a:rPr lang="en-US" sz="1200" b="0" i="0" kern="1200" dirty="0" smtClean="0">
                <a:solidFill>
                  <a:schemeClr val="tx1"/>
                </a:solidFill>
                <a:effectLst/>
                <a:latin typeface="+mn-lt"/>
                <a:ea typeface="+mn-ea"/>
                <a:cs typeface="+mn-cs"/>
              </a:rPr>
              <a:t>3. Process</a:t>
            </a:r>
          </a:p>
          <a:p>
            <a:r>
              <a:rPr lang="en-US" sz="1200" b="0" i="0" kern="1200" dirty="0" smtClean="0">
                <a:solidFill>
                  <a:schemeClr val="tx1"/>
                </a:solidFill>
                <a:effectLst/>
                <a:latin typeface="+mn-lt"/>
                <a:ea typeface="+mn-ea"/>
                <a:cs typeface="+mn-cs"/>
              </a:rPr>
              <a:t>4. Project</a:t>
            </a:r>
          </a:p>
        </p:txBody>
      </p:sp>
      <p:sp>
        <p:nvSpPr>
          <p:cNvPr id="4" name="Slide Number Placeholder 3"/>
          <p:cNvSpPr>
            <a:spLocks noGrp="1"/>
          </p:cNvSpPr>
          <p:nvPr>
            <p:ph type="sldNum" sz="quarter" idx="10"/>
          </p:nvPr>
        </p:nvSpPr>
        <p:spPr/>
        <p:txBody>
          <a:bodyPr/>
          <a:lstStyle/>
          <a:p>
            <a:fld id="{3E288E1D-6BDD-4280-B096-4D15059FE1C4}" type="slidenum">
              <a:rPr lang="en-US" smtClean="0"/>
              <a:t>46</a:t>
            </a:fld>
            <a:endParaRPr lang="en-US"/>
          </a:p>
        </p:txBody>
      </p:sp>
    </p:spTree>
    <p:extLst>
      <p:ext uri="{BB962C8B-B14F-4D97-AF65-F5344CB8AC3E}">
        <p14:creationId xmlns:p14="http://schemas.microsoft.com/office/powerpoint/2010/main" val="17709982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48</a:t>
            </a:fld>
            <a:endParaRPr lang="en-US"/>
          </a:p>
        </p:txBody>
      </p:sp>
    </p:spTree>
    <p:extLst>
      <p:ext uri="{BB962C8B-B14F-4D97-AF65-F5344CB8AC3E}">
        <p14:creationId xmlns:p14="http://schemas.microsoft.com/office/powerpoint/2010/main" val="2435558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Project Management Body of Knowledge is PMI's flagship publication and is a fundamental resource for effective project</a:t>
            </a:r>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49</a:t>
            </a:fld>
            <a:endParaRPr lang="en-US"/>
          </a:p>
        </p:txBody>
      </p:sp>
    </p:spTree>
    <p:extLst>
      <p:ext uri="{BB962C8B-B14F-4D97-AF65-F5344CB8AC3E}">
        <p14:creationId xmlns:p14="http://schemas.microsoft.com/office/powerpoint/2010/main" val="1034690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Project Management Body of Knowledge is PMI's flagship publication and is a fundamental resource for effective project</a:t>
            </a:r>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50</a:t>
            </a:fld>
            <a:endParaRPr lang="en-US"/>
          </a:p>
        </p:txBody>
      </p:sp>
    </p:spTree>
    <p:extLst>
      <p:ext uri="{BB962C8B-B14F-4D97-AF65-F5344CB8AC3E}">
        <p14:creationId xmlns:p14="http://schemas.microsoft.com/office/powerpoint/2010/main" val="20698793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65</a:t>
            </a:fld>
            <a:endParaRPr lang="en-US"/>
          </a:p>
        </p:txBody>
      </p:sp>
    </p:spTree>
    <p:extLst>
      <p:ext uri="{BB962C8B-B14F-4D97-AF65-F5344CB8AC3E}">
        <p14:creationId xmlns:p14="http://schemas.microsoft.com/office/powerpoint/2010/main" val="3988098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66</a:t>
            </a:fld>
            <a:endParaRPr lang="en-US"/>
          </a:p>
        </p:txBody>
      </p:sp>
    </p:spTree>
    <p:extLst>
      <p:ext uri="{BB962C8B-B14F-4D97-AF65-F5344CB8AC3E}">
        <p14:creationId xmlns:p14="http://schemas.microsoft.com/office/powerpoint/2010/main" val="41590741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67</a:t>
            </a:fld>
            <a:endParaRPr lang="en-US"/>
          </a:p>
        </p:txBody>
      </p:sp>
    </p:spTree>
    <p:extLst>
      <p:ext uri="{BB962C8B-B14F-4D97-AF65-F5344CB8AC3E}">
        <p14:creationId xmlns:p14="http://schemas.microsoft.com/office/powerpoint/2010/main" val="4573099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smtClean="0"/>
              <a:t>A program is a group of related projects, subsidiary programs, and program activities that are managed in a coordinated manner to obtain benefits not available from managing them individually.</a:t>
            </a:r>
            <a:endParaRPr lang="en-GB" altLang="en-US" dirty="0" smtClean="0"/>
          </a:p>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72</a:t>
            </a:fld>
            <a:endParaRPr lang="en-US"/>
          </a:p>
        </p:txBody>
      </p:sp>
    </p:spTree>
    <p:extLst>
      <p:ext uri="{BB962C8B-B14F-4D97-AF65-F5344CB8AC3E}">
        <p14:creationId xmlns:p14="http://schemas.microsoft.com/office/powerpoint/2010/main" val="2077709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3979550-49F5-4D54-8D94-28B6417AB07E}" type="datetime1">
              <a:rPr lang="en-US" smtClean="0"/>
              <a:t>10/18/2022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199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679909F-E391-41D4-99F3-A46FCF205911}" type="datetime1">
              <a:rPr lang="en-US" smtClean="0"/>
              <a:t>10/18/2022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833194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3DE518-4A31-45CA-9F4D-6998DB722AA7}" type="datetime1">
              <a:rPr lang="en-US" smtClean="0"/>
              <a:t>10/18/2022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066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0D641D7-1DA5-4ABA-A873-538CF799C223}" type="datetime1">
              <a:rPr lang="en-US" smtClean="0"/>
              <a:t>10/18/2022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13809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C4FE552-72DD-4E95-9B67-0C58B91F5B4A}" type="datetime1">
              <a:rPr lang="en-US" smtClean="0"/>
              <a:t>10/18/2022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613409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1008796"/>
          </a:xfrm>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D70CAC3F-9F1B-4F48-9ED9-97FA5F52A21B}" type="datetime1">
              <a:rPr lang="en-US" smtClean="0"/>
              <a:t>10/18/2022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5CE4F79-B2B3-4E4E-AB5D-F771515B9CEF}" type="slidenum">
              <a:rPr lang="en-US" smtClean="0"/>
              <a:t>‹#›</a:t>
            </a:fld>
            <a:endParaRPr lang="en-US" dirty="0"/>
          </a:p>
        </p:txBody>
      </p:sp>
      <p:sp>
        <p:nvSpPr>
          <p:cNvPr id="6" name="Content Placeholder 2"/>
          <p:cNvSpPr>
            <a:spLocks noGrp="1"/>
          </p:cNvSpPr>
          <p:nvPr>
            <p:ph idx="1"/>
          </p:nvPr>
        </p:nvSpPr>
        <p:spPr>
          <a:xfrm>
            <a:off x="822959" y="1447800"/>
            <a:ext cx="7543801"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1944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t>10/18/2022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69166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2359510B-10AB-4292-A034-2EB896680AA6}" type="datetime1">
              <a:rPr lang="en-US" smtClean="0"/>
              <a:t>10/18/2022</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5CE4F79-B2B3-4E4E-AB5D-F771515B9CEF}" type="slidenum">
              <a:rPr lang="en-US" smtClean="0"/>
              <a:t>‹#›</a:t>
            </a:fld>
            <a:endParaRPr lang="en-US" dirty="0"/>
          </a:p>
        </p:txBody>
      </p:sp>
    </p:spTree>
    <p:extLst>
      <p:ext uri="{BB962C8B-B14F-4D97-AF65-F5344CB8AC3E}">
        <p14:creationId xmlns:p14="http://schemas.microsoft.com/office/powerpoint/2010/main" val="242952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810EAE-0385-4561-A874-9E6690348668}" type="datetime1">
              <a:rPr lang="en-US" smtClean="0"/>
              <a:t>10/18/2022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69972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968438"/>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01289" y="1845734"/>
            <a:ext cx="7543801" cy="4023360"/>
          </a:xfrm>
        </p:spPr>
        <p:txBody>
          <a:bodyPr vert="eaVert" lIns="45720" tIns="0" rIns="45720" bIns="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BB96BBD4-4307-4CFD-A576-0267476722D2}" type="datetime1">
              <a:rPr lang="en-US" smtClean="0"/>
              <a:t>10/18/2022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123204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B154C7-31C5-4EF4-922A-15855A49AD05}" type="datetime1">
              <a:rPr lang="en-US" smtClean="0"/>
              <a:t>10/18/2022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433690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t>10/18/2022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29497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80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t>10/18/2022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3474532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t>10/18/2022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07707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863085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61378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052138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768317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671385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91569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716319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61166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224685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442576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891163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155863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2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93201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3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744836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4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913719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5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099218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7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702195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8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091146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9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124357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10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22224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11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17253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12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765375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13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78195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14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0087484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15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540736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440629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17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383902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18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2509679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19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5378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20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668015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21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450631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22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0409455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23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708832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24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685388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25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242352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userDrawn="1">
  <p:cSld name="2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0834680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27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8011318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28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987475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userDrawn="1">
  <p:cSld name="29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665352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30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675164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31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007188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32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474988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33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422362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userDrawn="1">
  <p:cSld name="34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77168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35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3874700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3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5417410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37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5161313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38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8754944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39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1375313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40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8325319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userDrawn="1">
  <p:cSld name="41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0948232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42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4505687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43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894888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userDrawn="1">
  <p:cSld name="44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860544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45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3152528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4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8990012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userDrawn="1">
  <p:cSld name="47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246782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48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9311789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49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6629896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50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0652578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51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09421036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52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3216006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53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2966404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54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1535509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55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5206238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5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8879559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57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35311591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58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8151040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59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2485742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60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153886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61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4339764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62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8054359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63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216423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userDrawn="1">
  <p:cSld name="64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4421959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65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9500697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userDrawn="1">
  <p:cSld name="6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0464522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67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8525932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68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6004539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userDrawn="1">
  <p:cSld name="69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1350082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70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3125732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userDrawn="1">
  <p:cSld name="71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5946803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userDrawn="1">
  <p:cSld name="72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07876853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73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08848070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userDrawn="1">
  <p:cSld name="74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2971877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75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9935748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7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6203812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userDrawn="1">
  <p:cSld name="77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5935146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userDrawn="1">
  <p:cSld name="78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0089071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userDrawn="1">
  <p:cSld name="79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solidFill>
                  <a:prstClr val="black">
                    <a:tint val="75000"/>
                  </a:prstClr>
                </a:solidFill>
              </a:rPr>
              <a:pPr/>
              <a:t>10/18/2022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7411408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userDrawn="1">
  <p:cSld name="80_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t>10/18/2022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9311917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81_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t>10/18/2022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3034598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userDrawn="1">
  <p:cSld name="82_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t>10/18/2022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36822863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6_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t>10/18/2022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7632809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83_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t>10/18/2022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8414792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userDrawn="1">
  <p:cSld name="84_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D3453F-C2A3-45C7-8B84-6505A6328CD9}" type="datetime1">
              <a:rPr lang="en-US" smtClean="0"/>
              <a:t>10/18/2022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98838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0.xml"/><Relationship Id="rId21" Type="http://schemas.openxmlformats.org/officeDocument/2006/relationships/slideLayout" Target="../slideLayouts/slideLayout35.xml"/><Relationship Id="rId42" Type="http://schemas.openxmlformats.org/officeDocument/2006/relationships/slideLayout" Target="../slideLayouts/slideLayout56.xml"/><Relationship Id="rId47" Type="http://schemas.openxmlformats.org/officeDocument/2006/relationships/slideLayout" Target="../slideLayouts/slideLayout61.xml"/><Relationship Id="rId63" Type="http://schemas.openxmlformats.org/officeDocument/2006/relationships/slideLayout" Target="../slideLayouts/slideLayout77.xml"/><Relationship Id="rId68" Type="http://schemas.openxmlformats.org/officeDocument/2006/relationships/slideLayout" Target="../slideLayouts/slideLayout82.xml"/><Relationship Id="rId84" Type="http://schemas.openxmlformats.org/officeDocument/2006/relationships/slideLayout" Target="../slideLayouts/slideLayout98.xml"/><Relationship Id="rId89" Type="http://schemas.openxmlformats.org/officeDocument/2006/relationships/slideLayout" Target="../slideLayouts/slideLayout103.xml"/><Relationship Id="rId16" Type="http://schemas.openxmlformats.org/officeDocument/2006/relationships/slideLayout" Target="../slideLayouts/slideLayout30.xml"/><Relationship Id="rId11" Type="http://schemas.openxmlformats.org/officeDocument/2006/relationships/slideLayout" Target="../slideLayouts/slideLayout25.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53" Type="http://schemas.openxmlformats.org/officeDocument/2006/relationships/slideLayout" Target="../slideLayouts/slideLayout67.xml"/><Relationship Id="rId58" Type="http://schemas.openxmlformats.org/officeDocument/2006/relationships/slideLayout" Target="../slideLayouts/slideLayout72.xml"/><Relationship Id="rId74" Type="http://schemas.openxmlformats.org/officeDocument/2006/relationships/slideLayout" Target="../slideLayouts/slideLayout88.xml"/><Relationship Id="rId79" Type="http://schemas.openxmlformats.org/officeDocument/2006/relationships/slideLayout" Target="../slideLayouts/slideLayout93.xml"/><Relationship Id="rId5" Type="http://schemas.openxmlformats.org/officeDocument/2006/relationships/slideLayout" Target="../slideLayouts/slideLayout19.xml"/><Relationship Id="rId90" Type="http://schemas.openxmlformats.org/officeDocument/2006/relationships/slideLayout" Target="../slideLayouts/slideLayout104.xml"/><Relationship Id="rId95" Type="http://schemas.openxmlformats.org/officeDocument/2006/relationships/slideLayout" Target="../slideLayouts/slideLayout109.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43" Type="http://schemas.openxmlformats.org/officeDocument/2006/relationships/slideLayout" Target="../slideLayouts/slideLayout57.xml"/><Relationship Id="rId48" Type="http://schemas.openxmlformats.org/officeDocument/2006/relationships/slideLayout" Target="../slideLayouts/slideLayout62.xml"/><Relationship Id="rId64" Type="http://schemas.openxmlformats.org/officeDocument/2006/relationships/slideLayout" Target="../slideLayouts/slideLayout78.xml"/><Relationship Id="rId69" Type="http://schemas.openxmlformats.org/officeDocument/2006/relationships/slideLayout" Target="../slideLayouts/slideLayout83.xml"/><Relationship Id="rId8" Type="http://schemas.openxmlformats.org/officeDocument/2006/relationships/slideLayout" Target="../slideLayouts/slideLayout22.xml"/><Relationship Id="rId51" Type="http://schemas.openxmlformats.org/officeDocument/2006/relationships/slideLayout" Target="../slideLayouts/slideLayout65.xml"/><Relationship Id="rId72" Type="http://schemas.openxmlformats.org/officeDocument/2006/relationships/slideLayout" Target="../slideLayouts/slideLayout86.xml"/><Relationship Id="rId80" Type="http://schemas.openxmlformats.org/officeDocument/2006/relationships/slideLayout" Target="../slideLayouts/slideLayout94.xml"/><Relationship Id="rId85" Type="http://schemas.openxmlformats.org/officeDocument/2006/relationships/slideLayout" Target="../slideLayouts/slideLayout99.xml"/><Relationship Id="rId93" Type="http://schemas.openxmlformats.org/officeDocument/2006/relationships/slideLayout" Target="../slideLayouts/slideLayout107.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46" Type="http://schemas.openxmlformats.org/officeDocument/2006/relationships/slideLayout" Target="../slideLayouts/slideLayout60.xml"/><Relationship Id="rId59" Type="http://schemas.openxmlformats.org/officeDocument/2006/relationships/slideLayout" Target="../slideLayouts/slideLayout73.xml"/><Relationship Id="rId67" Type="http://schemas.openxmlformats.org/officeDocument/2006/relationships/slideLayout" Target="../slideLayouts/slideLayout81.xml"/><Relationship Id="rId20" Type="http://schemas.openxmlformats.org/officeDocument/2006/relationships/slideLayout" Target="../slideLayouts/slideLayout34.xml"/><Relationship Id="rId41" Type="http://schemas.openxmlformats.org/officeDocument/2006/relationships/slideLayout" Target="../slideLayouts/slideLayout55.xml"/><Relationship Id="rId54" Type="http://schemas.openxmlformats.org/officeDocument/2006/relationships/slideLayout" Target="../slideLayouts/slideLayout68.xml"/><Relationship Id="rId62" Type="http://schemas.openxmlformats.org/officeDocument/2006/relationships/slideLayout" Target="../slideLayouts/slideLayout76.xml"/><Relationship Id="rId70" Type="http://schemas.openxmlformats.org/officeDocument/2006/relationships/slideLayout" Target="../slideLayouts/slideLayout84.xml"/><Relationship Id="rId75" Type="http://schemas.openxmlformats.org/officeDocument/2006/relationships/slideLayout" Target="../slideLayouts/slideLayout89.xml"/><Relationship Id="rId83" Type="http://schemas.openxmlformats.org/officeDocument/2006/relationships/slideLayout" Target="../slideLayouts/slideLayout97.xml"/><Relationship Id="rId88" Type="http://schemas.openxmlformats.org/officeDocument/2006/relationships/slideLayout" Target="../slideLayouts/slideLayout102.xml"/><Relationship Id="rId91" Type="http://schemas.openxmlformats.org/officeDocument/2006/relationships/slideLayout" Target="../slideLayouts/slideLayout105.xml"/><Relationship Id="rId9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49" Type="http://schemas.openxmlformats.org/officeDocument/2006/relationships/slideLayout" Target="../slideLayouts/slideLayout63.xml"/><Relationship Id="rId57" Type="http://schemas.openxmlformats.org/officeDocument/2006/relationships/slideLayout" Target="../slideLayouts/slideLayout71.xml"/><Relationship Id="rId10" Type="http://schemas.openxmlformats.org/officeDocument/2006/relationships/slideLayout" Target="../slideLayouts/slideLayout24.xml"/><Relationship Id="rId31" Type="http://schemas.openxmlformats.org/officeDocument/2006/relationships/slideLayout" Target="../slideLayouts/slideLayout45.xml"/><Relationship Id="rId44" Type="http://schemas.openxmlformats.org/officeDocument/2006/relationships/slideLayout" Target="../slideLayouts/slideLayout58.xml"/><Relationship Id="rId52" Type="http://schemas.openxmlformats.org/officeDocument/2006/relationships/slideLayout" Target="../slideLayouts/slideLayout66.xml"/><Relationship Id="rId60" Type="http://schemas.openxmlformats.org/officeDocument/2006/relationships/slideLayout" Target="../slideLayouts/slideLayout74.xml"/><Relationship Id="rId65" Type="http://schemas.openxmlformats.org/officeDocument/2006/relationships/slideLayout" Target="../slideLayouts/slideLayout79.xml"/><Relationship Id="rId73" Type="http://schemas.openxmlformats.org/officeDocument/2006/relationships/slideLayout" Target="../slideLayouts/slideLayout87.xml"/><Relationship Id="rId78" Type="http://schemas.openxmlformats.org/officeDocument/2006/relationships/slideLayout" Target="../slideLayouts/slideLayout92.xml"/><Relationship Id="rId81" Type="http://schemas.openxmlformats.org/officeDocument/2006/relationships/slideLayout" Target="../slideLayouts/slideLayout95.xml"/><Relationship Id="rId86" Type="http://schemas.openxmlformats.org/officeDocument/2006/relationships/slideLayout" Target="../slideLayouts/slideLayout100.xml"/><Relationship Id="rId94" Type="http://schemas.openxmlformats.org/officeDocument/2006/relationships/slideLayout" Target="../slideLayouts/slideLayout108.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9" Type="http://schemas.openxmlformats.org/officeDocument/2006/relationships/slideLayout" Target="../slideLayouts/slideLayout53.xml"/><Relationship Id="rId34" Type="http://schemas.openxmlformats.org/officeDocument/2006/relationships/slideLayout" Target="../slideLayouts/slideLayout48.xml"/><Relationship Id="rId50" Type="http://schemas.openxmlformats.org/officeDocument/2006/relationships/slideLayout" Target="../slideLayouts/slideLayout64.xml"/><Relationship Id="rId55" Type="http://schemas.openxmlformats.org/officeDocument/2006/relationships/slideLayout" Target="../slideLayouts/slideLayout69.xml"/><Relationship Id="rId76" Type="http://schemas.openxmlformats.org/officeDocument/2006/relationships/slideLayout" Target="../slideLayouts/slideLayout90.xml"/><Relationship Id="rId7" Type="http://schemas.openxmlformats.org/officeDocument/2006/relationships/slideLayout" Target="../slideLayouts/slideLayout21.xml"/><Relationship Id="rId71" Type="http://schemas.openxmlformats.org/officeDocument/2006/relationships/slideLayout" Target="../slideLayouts/slideLayout85.xml"/><Relationship Id="rId92" Type="http://schemas.openxmlformats.org/officeDocument/2006/relationships/slideLayout" Target="../slideLayouts/slideLayout106.xml"/><Relationship Id="rId2" Type="http://schemas.openxmlformats.org/officeDocument/2006/relationships/slideLayout" Target="../slideLayouts/slideLayout16.xml"/><Relationship Id="rId29" Type="http://schemas.openxmlformats.org/officeDocument/2006/relationships/slideLayout" Target="../slideLayouts/slideLayout43.xml"/><Relationship Id="rId24" Type="http://schemas.openxmlformats.org/officeDocument/2006/relationships/slideLayout" Target="../slideLayouts/slideLayout38.xml"/><Relationship Id="rId40" Type="http://schemas.openxmlformats.org/officeDocument/2006/relationships/slideLayout" Target="../slideLayouts/slideLayout54.xml"/><Relationship Id="rId45" Type="http://schemas.openxmlformats.org/officeDocument/2006/relationships/slideLayout" Target="../slideLayouts/slideLayout59.xml"/><Relationship Id="rId66" Type="http://schemas.openxmlformats.org/officeDocument/2006/relationships/slideLayout" Target="../slideLayouts/slideLayout80.xml"/><Relationship Id="rId87" Type="http://schemas.openxmlformats.org/officeDocument/2006/relationships/slideLayout" Target="../slideLayouts/slideLayout101.xml"/><Relationship Id="rId61" Type="http://schemas.openxmlformats.org/officeDocument/2006/relationships/slideLayout" Target="../slideLayouts/slideLayout75.xml"/><Relationship Id="rId82" Type="http://schemas.openxmlformats.org/officeDocument/2006/relationships/slideLayout" Target="../slideLayouts/slideLayout96.xml"/><Relationship Id="rId19" Type="http://schemas.openxmlformats.org/officeDocument/2006/relationships/slideLayout" Target="../slideLayouts/slideLayout33.xml"/><Relationship Id="rId14" Type="http://schemas.openxmlformats.org/officeDocument/2006/relationships/slideLayout" Target="../slideLayouts/slideLayout28.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56" Type="http://schemas.openxmlformats.org/officeDocument/2006/relationships/slideLayout" Target="../slideLayouts/slideLayout70.xml"/><Relationship Id="rId77"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086C7208-D119-420F-B4A3-530E9F38FBFC}" type="datetime1">
              <a:rPr lang="en-US" smtClean="0"/>
              <a:t>10/18/2022</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E5CE4F79-B2B3-4E4E-AB5D-F771515B9CEF}" type="slidenum">
              <a:rPr lang="en-US" smtClean="0"/>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45213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9B67598-FC4D-41B0-970E-C028EE0A7692}" type="datetimeFigureOut">
              <a:rPr lang="en-US" smtClean="0">
                <a:solidFill>
                  <a:prstClr val="black">
                    <a:tint val="75000"/>
                  </a:prstClr>
                </a:solidFill>
              </a:rPr>
              <a:pPr/>
              <a:t>10/18/2022</a:t>
            </a:fld>
            <a:endParaRPr lang="en-US">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C6A7DF5-4202-42DE-AB64-A2DDDD57CF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92026436"/>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 id="2147483735" r:id="rId29"/>
    <p:sldLayoutId id="2147483736" r:id="rId30"/>
    <p:sldLayoutId id="2147483737" r:id="rId31"/>
    <p:sldLayoutId id="2147483738" r:id="rId32"/>
    <p:sldLayoutId id="2147483739" r:id="rId33"/>
    <p:sldLayoutId id="2147483740" r:id="rId34"/>
    <p:sldLayoutId id="2147483741" r:id="rId35"/>
    <p:sldLayoutId id="2147483742" r:id="rId36"/>
    <p:sldLayoutId id="2147483743" r:id="rId37"/>
    <p:sldLayoutId id="2147483744" r:id="rId38"/>
    <p:sldLayoutId id="2147483745" r:id="rId39"/>
    <p:sldLayoutId id="2147483746" r:id="rId40"/>
    <p:sldLayoutId id="2147483747" r:id="rId41"/>
    <p:sldLayoutId id="2147483748" r:id="rId42"/>
    <p:sldLayoutId id="2147483749" r:id="rId43"/>
    <p:sldLayoutId id="2147483750" r:id="rId44"/>
    <p:sldLayoutId id="2147483751" r:id="rId45"/>
    <p:sldLayoutId id="2147483752" r:id="rId46"/>
    <p:sldLayoutId id="2147483753" r:id="rId47"/>
    <p:sldLayoutId id="2147483754" r:id="rId48"/>
    <p:sldLayoutId id="2147483755" r:id="rId49"/>
    <p:sldLayoutId id="2147483756" r:id="rId50"/>
    <p:sldLayoutId id="2147483757" r:id="rId51"/>
    <p:sldLayoutId id="2147483758" r:id="rId52"/>
    <p:sldLayoutId id="2147483759" r:id="rId53"/>
    <p:sldLayoutId id="2147483760" r:id="rId54"/>
    <p:sldLayoutId id="2147483761" r:id="rId55"/>
    <p:sldLayoutId id="2147483762" r:id="rId56"/>
    <p:sldLayoutId id="2147483763" r:id="rId57"/>
    <p:sldLayoutId id="2147483764" r:id="rId58"/>
    <p:sldLayoutId id="2147483765" r:id="rId59"/>
    <p:sldLayoutId id="2147483766" r:id="rId60"/>
    <p:sldLayoutId id="2147483767" r:id="rId61"/>
    <p:sldLayoutId id="2147483768" r:id="rId62"/>
    <p:sldLayoutId id="2147483769" r:id="rId63"/>
    <p:sldLayoutId id="2147483770" r:id="rId64"/>
    <p:sldLayoutId id="2147483771" r:id="rId65"/>
    <p:sldLayoutId id="2147483772" r:id="rId66"/>
    <p:sldLayoutId id="2147483773" r:id="rId67"/>
    <p:sldLayoutId id="2147483774" r:id="rId68"/>
    <p:sldLayoutId id="2147483775" r:id="rId69"/>
    <p:sldLayoutId id="2147483776" r:id="rId70"/>
    <p:sldLayoutId id="2147483777" r:id="rId71"/>
    <p:sldLayoutId id="2147483778" r:id="rId72"/>
    <p:sldLayoutId id="2147483779" r:id="rId73"/>
    <p:sldLayoutId id="2147483780" r:id="rId74"/>
    <p:sldLayoutId id="2147483781" r:id="rId75"/>
    <p:sldLayoutId id="2147483782" r:id="rId76"/>
    <p:sldLayoutId id="2147483783" r:id="rId77"/>
    <p:sldLayoutId id="2147483784" r:id="rId78"/>
    <p:sldLayoutId id="2147483785" r:id="rId79"/>
    <p:sldLayoutId id="2147483786" r:id="rId80"/>
    <p:sldLayoutId id="2147483787" r:id="rId81"/>
    <p:sldLayoutId id="2147483788" r:id="rId82"/>
    <p:sldLayoutId id="2147483789" r:id="rId83"/>
    <p:sldLayoutId id="2147483790" r:id="rId84"/>
    <p:sldLayoutId id="2147483791" r:id="rId85"/>
    <p:sldLayoutId id="2147483792" r:id="rId86"/>
    <p:sldLayoutId id="2147483793" r:id="rId87"/>
    <p:sldLayoutId id="2147483794" r:id="rId88"/>
    <p:sldLayoutId id="2147483795" r:id="rId89"/>
    <p:sldLayoutId id="2147483796" r:id="rId90"/>
    <p:sldLayoutId id="2147483797" r:id="rId91"/>
    <p:sldLayoutId id="2147483798" r:id="rId92"/>
    <p:sldLayoutId id="2147483799" r:id="rId93"/>
    <p:sldLayoutId id="2147483800" r:id="rId94"/>
    <p:sldLayoutId id="2147483801" r:id="rId95"/>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ubhash@achsnepal.edu.np"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6.xml"/><Relationship Id="rId1" Type="http://schemas.openxmlformats.org/officeDocument/2006/relationships/themeOverride" Target="../theme/themeOverride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05.xml"/><Relationship Id="rId1" Type="http://schemas.openxmlformats.org/officeDocument/2006/relationships/themeOverride" Target="../theme/themeOverride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04.xml"/><Relationship Id="rId1" Type="http://schemas.openxmlformats.org/officeDocument/2006/relationships/themeOverride" Target="../theme/themeOverride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04.xml"/><Relationship Id="rId1" Type="http://schemas.openxmlformats.org/officeDocument/2006/relationships/themeOverride" Target="../theme/themeOverride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04.xml"/><Relationship Id="rId1" Type="http://schemas.openxmlformats.org/officeDocument/2006/relationships/themeOverride" Target="../theme/themeOverride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4.xml"/><Relationship Id="rId1" Type="http://schemas.openxmlformats.org/officeDocument/2006/relationships/themeOverride" Target="../theme/themeOverride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8.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0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7.xml"/></Relationships>
</file>

<file path=ppt/slides/_rels/slide8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0.xml.rels><?xml version="1.0" encoding="UTF-8" standalone="yes"?>
<Relationships xmlns="http://schemas.openxmlformats.org/package/2006/relationships"><Relationship Id="rId2" Type="http://schemas.openxmlformats.org/officeDocument/2006/relationships/hyperlink" Target="https://www.wrike.com/project-management-guide/faq/what-is-a-roadmap-in-project-management/" TargetMode="External"/><Relationship Id="rId1" Type="http://schemas.openxmlformats.org/officeDocument/2006/relationships/slideLayout" Target="../slideLayouts/slideLayout2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8.xml"/></Relationships>
</file>

<file path=ppt/slides/_rels/slide9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10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1</a:t>
            </a:fld>
            <a:endParaRPr lang="en-US" dirty="0"/>
          </a:p>
        </p:txBody>
      </p:sp>
      <p:sp>
        <p:nvSpPr>
          <p:cNvPr id="2" name="Title 1"/>
          <p:cNvSpPr>
            <a:spLocks noGrp="1"/>
          </p:cNvSpPr>
          <p:nvPr>
            <p:ph type="ctrTitle"/>
          </p:nvPr>
        </p:nvSpPr>
        <p:spPr>
          <a:xfrm>
            <a:off x="838200" y="1143000"/>
            <a:ext cx="7467600" cy="1581150"/>
          </a:xfrm>
        </p:spPr>
        <p:txBody>
          <a:bodyPr>
            <a:normAutofit/>
          </a:bodyPr>
          <a:lstStyle/>
          <a:p>
            <a:r>
              <a:rPr lang="en-US" sz="4400" b="1" smtClean="0">
                <a:latin typeface="+mn-lt"/>
              </a:rPr>
              <a:t>Software Project Management</a:t>
            </a:r>
            <a:endParaRPr lang="en-US" sz="4400" b="1" dirty="0">
              <a:latin typeface="+mn-lt"/>
            </a:endParaRPr>
          </a:p>
        </p:txBody>
      </p:sp>
      <p:sp>
        <p:nvSpPr>
          <p:cNvPr id="3" name="Subtitle 2"/>
          <p:cNvSpPr>
            <a:spLocks noGrp="1"/>
          </p:cNvSpPr>
          <p:nvPr>
            <p:ph type="subTitle" idx="4294967295"/>
          </p:nvPr>
        </p:nvSpPr>
        <p:spPr>
          <a:xfrm>
            <a:off x="865563" y="2877468"/>
            <a:ext cx="7543800" cy="1143000"/>
          </a:xfrm>
        </p:spPr>
        <p:txBody>
          <a:bodyPr>
            <a:normAutofit/>
          </a:bodyPr>
          <a:lstStyle/>
          <a:p>
            <a:pPr>
              <a:lnSpc>
                <a:spcPct val="100000"/>
              </a:lnSpc>
              <a:spcBef>
                <a:spcPts val="0"/>
              </a:spcBef>
              <a:spcAft>
                <a:spcPts val="0"/>
              </a:spcAft>
            </a:pPr>
            <a:r>
              <a:rPr lang="en-US" sz="2000" b="1" smtClean="0">
                <a:latin typeface="+mn-lt"/>
              </a:rPr>
              <a:t>Subhash Paudel</a:t>
            </a:r>
          </a:p>
          <a:p>
            <a:pPr>
              <a:lnSpc>
                <a:spcPct val="100000"/>
              </a:lnSpc>
              <a:spcBef>
                <a:spcPts val="0"/>
              </a:spcBef>
              <a:spcAft>
                <a:spcPts val="0"/>
              </a:spcAft>
            </a:pPr>
            <a:r>
              <a:rPr lang="en-US" b="1" smtClean="0"/>
              <a:t>MSCSKE, IOE, Pulchowk Campus</a:t>
            </a:r>
          </a:p>
          <a:p>
            <a:pPr>
              <a:lnSpc>
                <a:spcPct val="100000"/>
              </a:lnSpc>
              <a:spcBef>
                <a:spcPts val="0"/>
              </a:spcBef>
              <a:spcAft>
                <a:spcPts val="0"/>
              </a:spcAft>
            </a:pPr>
            <a:r>
              <a:rPr lang="en-US" b="1" smtClean="0">
                <a:hlinkClick r:id="rId3"/>
              </a:rPr>
              <a:t>subhash@achsnepal.edu.np</a:t>
            </a:r>
            <a:endParaRPr lang="en-US" sz="2000" b="1" dirty="0">
              <a:latin typeface="+mn-lt"/>
            </a:endParaRPr>
          </a:p>
        </p:txBody>
      </p:sp>
    </p:spTree>
    <p:extLst>
      <p:ext uri="{BB962C8B-B14F-4D97-AF65-F5344CB8AC3E}">
        <p14:creationId xmlns:p14="http://schemas.microsoft.com/office/powerpoint/2010/main" val="9464505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a:t>
            </a:fld>
            <a:endParaRPr lang="en-US" dirty="0"/>
          </a:p>
        </p:txBody>
      </p:sp>
      <p:sp>
        <p:nvSpPr>
          <p:cNvPr id="3" name="Title 2"/>
          <p:cNvSpPr>
            <a:spLocks noGrp="1"/>
          </p:cNvSpPr>
          <p:nvPr>
            <p:ph type="title"/>
          </p:nvPr>
        </p:nvSpPr>
        <p:spPr/>
        <p:txBody>
          <a:bodyPr/>
          <a:lstStyle/>
          <a:p>
            <a:r>
              <a:rPr lang="en-US" dirty="0"/>
              <a:t>Course Description</a:t>
            </a:r>
          </a:p>
        </p:txBody>
      </p:sp>
      <p:sp>
        <p:nvSpPr>
          <p:cNvPr id="4" name="Text Placeholder 3"/>
          <p:cNvSpPr>
            <a:spLocks noGrp="1"/>
          </p:cNvSpPr>
          <p:nvPr>
            <p:ph type="body" sz="quarter" idx="13"/>
          </p:nvPr>
        </p:nvSpPr>
        <p:spPr/>
        <p:txBody>
          <a:bodyPr/>
          <a:lstStyle/>
          <a:p>
            <a:r>
              <a:rPr lang="en-US" b="1" dirty="0" smtClean="0"/>
              <a:t>Course Code</a:t>
            </a:r>
            <a:r>
              <a:rPr lang="en-US" dirty="0" smtClean="0"/>
              <a:t>: CACS407</a:t>
            </a:r>
          </a:p>
          <a:p>
            <a:r>
              <a:rPr lang="en-US" b="1" dirty="0" smtClean="0"/>
              <a:t>Year/Semester</a:t>
            </a:r>
            <a:r>
              <a:rPr lang="en-US" dirty="0" smtClean="0"/>
              <a:t>: IV/VII</a:t>
            </a:r>
          </a:p>
          <a:p>
            <a:endParaRPr lang="en-US" dirty="0"/>
          </a:p>
          <a:p>
            <a:r>
              <a:rPr lang="en-US" b="1" dirty="0" smtClean="0"/>
              <a:t>Theory</a:t>
            </a:r>
            <a:r>
              <a:rPr lang="en-US" dirty="0" smtClean="0"/>
              <a:t>: 3 Hours</a:t>
            </a:r>
          </a:p>
          <a:p>
            <a:r>
              <a:rPr lang="en-US" b="1" dirty="0" smtClean="0"/>
              <a:t>Practical</a:t>
            </a:r>
            <a:r>
              <a:rPr lang="en-US" dirty="0" smtClean="0"/>
              <a:t>: 2 Hours</a:t>
            </a:r>
            <a:endParaRPr lang="en-US" dirty="0"/>
          </a:p>
        </p:txBody>
      </p:sp>
    </p:spTree>
    <p:extLst>
      <p:ext uri="{BB962C8B-B14F-4D97-AF65-F5344CB8AC3E}">
        <p14:creationId xmlns:p14="http://schemas.microsoft.com/office/powerpoint/2010/main" val="30429340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a:t>
            </a:fld>
            <a:endParaRPr lang="en-US" dirty="0"/>
          </a:p>
        </p:txBody>
      </p:sp>
      <p:pic>
        <p:nvPicPr>
          <p:cNvPr id="7" name="Picture 6"/>
          <p:cNvPicPr>
            <a:picLocks noChangeAspect="1"/>
          </p:cNvPicPr>
          <p:nvPr/>
        </p:nvPicPr>
        <p:blipFill>
          <a:blip r:embed="rId2"/>
          <a:stretch>
            <a:fillRect/>
          </a:stretch>
        </p:blipFill>
        <p:spPr>
          <a:xfrm>
            <a:off x="228600" y="152400"/>
            <a:ext cx="4343400" cy="6130324"/>
          </a:xfrm>
          <a:prstGeom prst="rect">
            <a:avLst/>
          </a:prstGeom>
        </p:spPr>
      </p:pic>
      <p:pic>
        <p:nvPicPr>
          <p:cNvPr id="8" name="Picture 7"/>
          <p:cNvPicPr>
            <a:picLocks noChangeAspect="1"/>
          </p:cNvPicPr>
          <p:nvPr/>
        </p:nvPicPr>
        <p:blipFill>
          <a:blip r:embed="rId3"/>
          <a:stretch>
            <a:fillRect/>
          </a:stretch>
        </p:blipFill>
        <p:spPr>
          <a:xfrm>
            <a:off x="4572000" y="0"/>
            <a:ext cx="4081652" cy="5943600"/>
          </a:xfrm>
          <a:prstGeom prst="rect">
            <a:avLst/>
          </a:prstGeom>
        </p:spPr>
      </p:pic>
    </p:spTree>
    <p:extLst>
      <p:ext uri="{BB962C8B-B14F-4D97-AF65-F5344CB8AC3E}">
        <p14:creationId xmlns:p14="http://schemas.microsoft.com/office/powerpoint/2010/main" val="1967404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4</a:t>
            </a:fld>
            <a:endParaRPr lang="en-US" dirty="0"/>
          </a:p>
        </p:txBody>
      </p:sp>
      <p:sp>
        <p:nvSpPr>
          <p:cNvPr id="5" name="Oval 4"/>
          <p:cNvSpPr/>
          <p:nvPr/>
        </p:nvSpPr>
        <p:spPr>
          <a:xfrm>
            <a:off x="306400" y="1840881"/>
            <a:ext cx="2078529" cy="14998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Project</a:t>
            </a:r>
            <a:endParaRPr lang="en-US" dirty="0"/>
          </a:p>
        </p:txBody>
      </p:sp>
      <p:sp>
        <p:nvSpPr>
          <p:cNvPr id="6" name="Oval 5"/>
          <p:cNvSpPr/>
          <p:nvPr/>
        </p:nvSpPr>
        <p:spPr>
          <a:xfrm>
            <a:off x="449766" y="3962400"/>
            <a:ext cx="2078529" cy="1773044"/>
          </a:xfrm>
          <a:prstGeom prst="ellipse">
            <a:avLst/>
          </a:prstGeom>
          <a:solidFill>
            <a:srgbClr val="A0FC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Management</a:t>
            </a:r>
            <a:endParaRPr lang="en-US" dirty="0">
              <a:ln w="0"/>
              <a:solidFill>
                <a:schemeClr val="tx1"/>
              </a:solidFill>
              <a:effectLst>
                <a:outerShdw blurRad="38100" dist="19050" dir="2700000" algn="tl" rotWithShape="0">
                  <a:schemeClr val="dk1">
                    <a:alpha val="40000"/>
                  </a:schemeClr>
                </a:outerShdw>
              </a:effectLst>
            </a:endParaRPr>
          </a:p>
        </p:txBody>
      </p:sp>
      <p:sp>
        <p:nvSpPr>
          <p:cNvPr id="7" name="Oval 6"/>
          <p:cNvSpPr/>
          <p:nvPr/>
        </p:nvSpPr>
        <p:spPr>
          <a:xfrm>
            <a:off x="6864234" y="171231"/>
            <a:ext cx="1905000" cy="1447799"/>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Program</a:t>
            </a:r>
            <a:endParaRPr lang="en-US" dirty="0"/>
          </a:p>
        </p:txBody>
      </p:sp>
      <p:sp>
        <p:nvSpPr>
          <p:cNvPr id="8" name="Oval 7"/>
          <p:cNvSpPr/>
          <p:nvPr/>
        </p:nvSpPr>
        <p:spPr>
          <a:xfrm>
            <a:off x="6717925" y="3935452"/>
            <a:ext cx="2051309" cy="16002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Project Management</a:t>
            </a:r>
            <a:endParaRPr lang="en-US" dirty="0">
              <a:ln w="0"/>
              <a:solidFill>
                <a:schemeClr val="tx1"/>
              </a:solidFill>
              <a:effectLst>
                <a:outerShdw blurRad="38100" dist="19050" dir="2700000" algn="tl" rotWithShape="0">
                  <a:schemeClr val="dk1">
                    <a:alpha val="40000"/>
                  </a:schemeClr>
                </a:outerShdw>
              </a:effectLst>
            </a:endParaRPr>
          </a:p>
        </p:txBody>
      </p:sp>
      <p:sp>
        <p:nvSpPr>
          <p:cNvPr id="9" name="Oval 8"/>
          <p:cNvSpPr/>
          <p:nvPr/>
        </p:nvSpPr>
        <p:spPr>
          <a:xfrm>
            <a:off x="5770972" y="2182288"/>
            <a:ext cx="1717457" cy="129540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Software</a:t>
            </a:r>
            <a:endParaRPr lang="en-US" dirty="0"/>
          </a:p>
        </p:txBody>
      </p:sp>
      <p:sp>
        <p:nvSpPr>
          <p:cNvPr id="10" name="Oval 9"/>
          <p:cNvSpPr/>
          <p:nvPr/>
        </p:nvSpPr>
        <p:spPr>
          <a:xfrm>
            <a:off x="3219062" y="3214340"/>
            <a:ext cx="2521364" cy="160391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Software </a:t>
            </a:r>
          </a:p>
          <a:p>
            <a:pPr algn="ctr"/>
            <a:r>
              <a:rPr lang="en-US" dirty="0" smtClean="0">
                <a:ln w="0"/>
                <a:solidFill>
                  <a:schemeClr val="tx1"/>
                </a:solidFill>
                <a:effectLst>
                  <a:outerShdw blurRad="38100" dist="19050" dir="2700000" algn="tl" rotWithShape="0">
                    <a:schemeClr val="dk1">
                      <a:alpha val="40000"/>
                    </a:schemeClr>
                  </a:outerShdw>
                </a:effectLst>
              </a:rPr>
              <a:t>Project Management</a:t>
            </a:r>
            <a:endParaRPr lang="en-US" dirty="0">
              <a:ln w="0"/>
              <a:solidFill>
                <a:schemeClr val="tx1"/>
              </a:solidFill>
              <a:effectLst>
                <a:outerShdw blurRad="38100" dist="19050" dir="2700000" algn="tl" rotWithShape="0">
                  <a:schemeClr val="dk1">
                    <a:alpha val="40000"/>
                  </a:schemeClr>
                </a:outerShdw>
              </a:effectLst>
            </a:endParaRPr>
          </a:p>
        </p:txBody>
      </p:sp>
      <p:sp>
        <p:nvSpPr>
          <p:cNvPr id="11" name="Oval 10"/>
          <p:cNvSpPr/>
          <p:nvPr/>
        </p:nvSpPr>
        <p:spPr>
          <a:xfrm>
            <a:off x="1669566" y="323629"/>
            <a:ext cx="1717457" cy="129540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Jobs</a:t>
            </a:r>
            <a:endParaRPr lang="en-US" dirty="0"/>
          </a:p>
        </p:txBody>
      </p:sp>
      <p:sp>
        <p:nvSpPr>
          <p:cNvPr id="12" name="Oval 11"/>
          <p:cNvSpPr/>
          <p:nvPr/>
        </p:nvSpPr>
        <p:spPr>
          <a:xfrm>
            <a:off x="3968066" y="571280"/>
            <a:ext cx="2051309" cy="16002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Business Operations</a:t>
            </a: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237884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5</a:t>
            </a:fld>
            <a:endParaRPr lang="en-US" dirty="0"/>
          </a:p>
        </p:txBody>
      </p:sp>
      <p:sp>
        <p:nvSpPr>
          <p:cNvPr id="3" name="Title 2"/>
          <p:cNvSpPr>
            <a:spLocks noGrp="1"/>
          </p:cNvSpPr>
          <p:nvPr>
            <p:ph type="title"/>
          </p:nvPr>
        </p:nvSpPr>
        <p:spPr/>
        <p:txBody>
          <a:bodyPr/>
          <a:lstStyle/>
          <a:p>
            <a:r>
              <a:rPr lang="en-US" dirty="0" smtClean="0"/>
              <a:t>Introduction</a:t>
            </a:r>
            <a:endParaRPr lang="en-US" dirty="0"/>
          </a:p>
        </p:txBody>
      </p:sp>
      <p:sp>
        <p:nvSpPr>
          <p:cNvPr id="4" name="Text Placeholder 3"/>
          <p:cNvSpPr>
            <a:spLocks noGrp="1"/>
          </p:cNvSpPr>
          <p:nvPr>
            <p:ph type="body" sz="quarter" idx="13"/>
          </p:nvPr>
        </p:nvSpPr>
        <p:spPr/>
        <p:txBody>
          <a:bodyPr/>
          <a:lstStyle/>
          <a:p>
            <a:r>
              <a:rPr lang="en-US" sz="2800" dirty="0" smtClean="0"/>
              <a:t>A </a:t>
            </a:r>
            <a:r>
              <a:rPr lang="en-US" sz="2800" dirty="0"/>
              <a:t>project is a sequence of </a:t>
            </a:r>
            <a:r>
              <a:rPr lang="en-US" sz="2800" u="sng" dirty="0"/>
              <a:t>unique</a:t>
            </a:r>
            <a:r>
              <a:rPr lang="en-US" sz="2800" dirty="0"/>
              <a:t>, </a:t>
            </a:r>
            <a:r>
              <a:rPr lang="en-US" sz="2800" u="sng" dirty="0"/>
              <a:t>complex</a:t>
            </a:r>
            <a:r>
              <a:rPr lang="en-US" sz="2800" dirty="0"/>
              <a:t>, and </a:t>
            </a:r>
            <a:r>
              <a:rPr lang="en-US" sz="2800" u="sng" dirty="0"/>
              <a:t>connected activities </a:t>
            </a:r>
            <a:r>
              <a:rPr lang="en-US" sz="2800" dirty="0"/>
              <a:t>having </a:t>
            </a:r>
            <a:r>
              <a:rPr lang="en-US" sz="2800" u="sng" dirty="0"/>
              <a:t>one goal or purpose</a:t>
            </a:r>
            <a:r>
              <a:rPr lang="en-US" sz="2800" dirty="0"/>
              <a:t> and that must be completed by a </a:t>
            </a:r>
            <a:r>
              <a:rPr lang="en-US" sz="2800" u="sng" dirty="0"/>
              <a:t>specific time</a:t>
            </a:r>
            <a:r>
              <a:rPr lang="en-US" sz="2800" dirty="0"/>
              <a:t>, </a:t>
            </a:r>
            <a:r>
              <a:rPr lang="en-US" sz="2800" u="sng" dirty="0"/>
              <a:t>within budget</a:t>
            </a:r>
            <a:r>
              <a:rPr lang="en-US" sz="2800" dirty="0"/>
              <a:t>, </a:t>
            </a:r>
            <a:r>
              <a:rPr lang="en-US" sz="2800" u="sng" dirty="0"/>
              <a:t>according to specification </a:t>
            </a:r>
            <a:r>
              <a:rPr lang="en-US" sz="2800" dirty="0" smtClean="0"/>
              <a:t>and </a:t>
            </a:r>
            <a:r>
              <a:rPr lang="en-US" sz="2800" u="sng" dirty="0"/>
              <a:t>clearly specified </a:t>
            </a:r>
            <a:r>
              <a:rPr lang="en-US" sz="2800" u="sng" dirty="0" smtClean="0"/>
              <a:t>constraints</a:t>
            </a:r>
          </a:p>
          <a:p>
            <a:endParaRPr lang="en-US" dirty="0"/>
          </a:p>
          <a:p>
            <a:endParaRPr lang="en-US" dirty="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5128"/>
          <a:stretch/>
        </p:blipFill>
        <p:spPr bwMode="auto">
          <a:xfrm>
            <a:off x="432620" y="3695700"/>
            <a:ext cx="7239000" cy="2324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30266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6</a:t>
            </a:fld>
            <a:endParaRPr lang="en-US" dirty="0"/>
          </a:p>
        </p:txBody>
      </p:sp>
      <p:sp>
        <p:nvSpPr>
          <p:cNvPr id="3" name="Title 2"/>
          <p:cNvSpPr>
            <a:spLocks noGrp="1"/>
          </p:cNvSpPr>
          <p:nvPr>
            <p:ph type="title"/>
          </p:nvPr>
        </p:nvSpPr>
        <p:spPr/>
        <p:txBody>
          <a:bodyPr/>
          <a:lstStyle/>
          <a:p>
            <a:r>
              <a:rPr lang="en-US" dirty="0"/>
              <a:t>What is Project</a:t>
            </a:r>
          </a:p>
        </p:txBody>
      </p:sp>
      <p:sp>
        <p:nvSpPr>
          <p:cNvPr id="4" name="Text Placeholder 3"/>
          <p:cNvSpPr>
            <a:spLocks noGrp="1"/>
          </p:cNvSpPr>
          <p:nvPr>
            <p:ph type="body" sz="quarter" idx="13"/>
          </p:nvPr>
        </p:nvSpPr>
        <p:spPr/>
        <p:txBody>
          <a:bodyPr>
            <a:noAutofit/>
          </a:bodyPr>
          <a:lstStyle/>
          <a:p>
            <a:r>
              <a:rPr lang="en-US" sz="2800" dirty="0" smtClean="0"/>
              <a:t>Projects </a:t>
            </a:r>
            <a:r>
              <a:rPr lang="en-US" sz="2800" dirty="0"/>
              <a:t>are </a:t>
            </a:r>
            <a:r>
              <a:rPr lang="en-US" sz="2800" dirty="0" smtClean="0"/>
              <a:t>different from business </a:t>
            </a:r>
            <a:r>
              <a:rPr lang="en-US" sz="2800" dirty="0"/>
              <a:t>operations, in terms of uniqueness, </a:t>
            </a:r>
            <a:r>
              <a:rPr lang="en-US" sz="2800" dirty="0" smtClean="0"/>
              <a:t>timescale, budget, resources, risk </a:t>
            </a:r>
            <a:r>
              <a:rPr lang="en-US" sz="2800" dirty="0"/>
              <a:t>and change.</a:t>
            </a:r>
          </a:p>
          <a:p>
            <a:pPr lvl="1">
              <a:buClrTx/>
              <a:buFont typeface="Arial" panose="020B0604020202020204" pitchFamily="34" charset="0"/>
              <a:buChar char="•"/>
            </a:pPr>
            <a:r>
              <a:rPr lang="en-US" sz="2400" u="sng" dirty="0" smtClean="0"/>
              <a:t>Uniqueness</a:t>
            </a:r>
            <a:r>
              <a:rPr lang="en-US" sz="2400" u="sng" dirty="0"/>
              <a:t>:</a:t>
            </a:r>
            <a:r>
              <a:rPr lang="en-US" sz="2400" dirty="0"/>
              <a:t> Every project is different from the last, whereas operational activities </a:t>
            </a:r>
            <a:r>
              <a:rPr lang="en-US" sz="2400" dirty="0" smtClean="0"/>
              <a:t>typically involve </a:t>
            </a:r>
            <a:r>
              <a:rPr lang="en-US" sz="2400" dirty="0"/>
              <a:t>repetitive (if not identical) processes.</a:t>
            </a:r>
          </a:p>
          <a:p>
            <a:pPr lvl="1">
              <a:buClrTx/>
              <a:buFont typeface="Arial" panose="020B0604020202020204" pitchFamily="34" charset="0"/>
              <a:buChar char="•"/>
            </a:pPr>
            <a:r>
              <a:rPr lang="en-US" sz="2400" u="sng" dirty="0" smtClean="0"/>
              <a:t>Timescale</a:t>
            </a:r>
            <a:r>
              <a:rPr lang="en-US" sz="2400" u="sng" dirty="0"/>
              <a:t>: </a:t>
            </a:r>
            <a:r>
              <a:rPr lang="en-US" sz="2400" dirty="0"/>
              <a:t>A project has clearly specified start and end dates within which deliverables </a:t>
            </a:r>
            <a:r>
              <a:rPr lang="en-US" sz="2400" dirty="0" smtClean="0"/>
              <a:t>are produced </a:t>
            </a:r>
            <a:r>
              <a:rPr lang="en-US" sz="2400" dirty="0"/>
              <a:t>to meet the customer’s requirements</a:t>
            </a:r>
            <a:r>
              <a:rPr lang="en-US" sz="2400" dirty="0" smtClean="0"/>
              <a:t>.</a:t>
            </a:r>
          </a:p>
          <a:p>
            <a:pPr lvl="1">
              <a:buClrTx/>
              <a:buFont typeface="Arial" panose="020B0604020202020204" pitchFamily="34" charset="0"/>
              <a:buChar char="•"/>
            </a:pPr>
            <a:r>
              <a:rPr lang="en-US" sz="2400" u="sng" dirty="0"/>
              <a:t>Budget: </a:t>
            </a:r>
            <a:r>
              <a:rPr lang="en-US" sz="2400" dirty="0"/>
              <a:t>A project has a maximum limit to the expenditure within the deliverables must </a:t>
            </a:r>
            <a:r>
              <a:rPr lang="en-US" sz="2400" dirty="0" smtClean="0"/>
              <a:t>be produced</a:t>
            </a:r>
            <a:r>
              <a:rPr lang="en-US" sz="2400" dirty="0"/>
              <a:t>, to meet the customer’s requirement.</a:t>
            </a:r>
          </a:p>
          <a:p>
            <a:pPr lvl="1">
              <a:buFont typeface="Arial" panose="020B0604020202020204" pitchFamily="34" charset="0"/>
              <a:buChar char="•"/>
            </a:pPr>
            <a:endParaRPr lang="en-US" sz="2400" dirty="0"/>
          </a:p>
        </p:txBody>
      </p:sp>
    </p:spTree>
    <p:extLst>
      <p:ext uri="{BB962C8B-B14F-4D97-AF65-F5344CB8AC3E}">
        <p14:creationId xmlns:p14="http://schemas.microsoft.com/office/powerpoint/2010/main" val="40126871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7</a:t>
            </a:fld>
            <a:endParaRPr lang="en-US" dirty="0"/>
          </a:p>
        </p:txBody>
      </p:sp>
      <p:sp>
        <p:nvSpPr>
          <p:cNvPr id="3" name="Title 2"/>
          <p:cNvSpPr>
            <a:spLocks noGrp="1"/>
          </p:cNvSpPr>
          <p:nvPr>
            <p:ph type="title"/>
          </p:nvPr>
        </p:nvSpPr>
        <p:spPr/>
        <p:txBody>
          <a:bodyPr/>
          <a:lstStyle/>
          <a:p>
            <a:r>
              <a:rPr lang="en-US" dirty="0"/>
              <a:t>What is Project</a:t>
            </a:r>
          </a:p>
        </p:txBody>
      </p:sp>
      <p:sp>
        <p:nvSpPr>
          <p:cNvPr id="4" name="Text Placeholder 3"/>
          <p:cNvSpPr>
            <a:spLocks noGrp="1"/>
          </p:cNvSpPr>
          <p:nvPr>
            <p:ph type="body" sz="quarter" idx="13"/>
          </p:nvPr>
        </p:nvSpPr>
        <p:spPr/>
        <p:txBody>
          <a:bodyPr/>
          <a:lstStyle/>
          <a:p>
            <a:pPr lvl="1">
              <a:buClrTx/>
              <a:buFont typeface="Arial" panose="020B0604020202020204" pitchFamily="34" charset="0"/>
              <a:buChar char="•"/>
            </a:pPr>
            <a:r>
              <a:rPr lang="en-US" sz="2400" u="sng" dirty="0" smtClean="0"/>
              <a:t>Resources</a:t>
            </a:r>
            <a:r>
              <a:rPr lang="en-US" sz="2400" u="sng" dirty="0"/>
              <a:t>: </a:t>
            </a:r>
            <a:r>
              <a:rPr lang="en-US" sz="2400" dirty="0"/>
              <a:t>A project is allocated a specified amount of labor, equipment and materials at </a:t>
            </a:r>
            <a:r>
              <a:rPr lang="en-US" sz="2400" dirty="0" smtClean="0"/>
              <a:t>the start</a:t>
            </a:r>
            <a:r>
              <a:rPr lang="en-US" sz="2400" dirty="0"/>
              <a:t>.</a:t>
            </a:r>
          </a:p>
          <a:p>
            <a:pPr lvl="1">
              <a:buClrTx/>
              <a:buFont typeface="Arial" panose="020B0604020202020204" pitchFamily="34" charset="0"/>
              <a:buChar char="•"/>
            </a:pPr>
            <a:r>
              <a:rPr lang="en-US" sz="2400" u="sng" dirty="0"/>
              <a:t>Risk: </a:t>
            </a:r>
            <a:r>
              <a:rPr lang="en-US" sz="2400" dirty="0"/>
              <a:t>A project entails uncertainty and therefore carries business risk.</a:t>
            </a:r>
          </a:p>
          <a:p>
            <a:pPr lvl="1">
              <a:buClrTx/>
              <a:buFont typeface="Arial" panose="020B0604020202020204" pitchFamily="34" charset="0"/>
              <a:buChar char="•"/>
            </a:pPr>
            <a:r>
              <a:rPr lang="en-US" sz="2400" u="sng" dirty="0"/>
              <a:t>Change: </a:t>
            </a:r>
            <a:r>
              <a:rPr lang="en-US" sz="2400" dirty="0"/>
              <a:t>The purpose of a project is typically to improve an organization through </a:t>
            </a:r>
            <a:r>
              <a:rPr lang="en-US" sz="2400" dirty="0" smtClean="0"/>
              <a:t>the implementation </a:t>
            </a:r>
            <a:r>
              <a:rPr lang="en-US" sz="2400" dirty="0"/>
              <a:t>of business change.</a:t>
            </a:r>
          </a:p>
          <a:p>
            <a:endParaRPr lang="en-US" dirty="0"/>
          </a:p>
        </p:txBody>
      </p:sp>
    </p:spTree>
    <p:extLst>
      <p:ext uri="{BB962C8B-B14F-4D97-AF65-F5344CB8AC3E}">
        <p14:creationId xmlns:p14="http://schemas.microsoft.com/office/powerpoint/2010/main" val="5117734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8</a:t>
            </a:fld>
            <a:endParaRPr lang="en-US" dirty="0"/>
          </a:p>
        </p:txBody>
      </p:sp>
      <p:sp>
        <p:nvSpPr>
          <p:cNvPr id="3" name="Title 2"/>
          <p:cNvSpPr>
            <a:spLocks noGrp="1"/>
          </p:cNvSpPr>
          <p:nvPr>
            <p:ph type="title"/>
          </p:nvPr>
        </p:nvSpPr>
        <p:spPr/>
        <p:txBody>
          <a:bodyPr/>
          <a:lstStyle/>
          <a:p>
            <a:r>
              <a:rPr lang="en-US" dirty="0" smtClean="0"/>
              <a:t>Characteristics of Project</a:t>
            </a:r>
            <a:endParaRPr lang="en-US" dirty="0"/>
          </a:p>
        </p:txBody>
      </p:sp>
      <p:sp>
        <p:nvSpPr>
          <p:cNvPr id="4" name="Text Placeholder 3"/>
          <p:cNvSpPr>
            <a:spLocks noGrp="1"/>
          </p:cNvSpPr>
          <p:nvPr>
            <p:ph type="body" sz="quarter" idx="13"/>
          </p:nvPr>
        </p:nvSpPr>
        <p:spPr>
          <a:xfrm>
            <a:off x="457201" y="1295400"/>
            <a:ext cx="8381999" cy="4648200"/>
          </a:xfrm>
        </p:spPr>
        <p:txBody>
          <a:bodyPr>
            <a:noAutofit/>
          </a:bodyPr>
          <a:lstStyle/>
          <a:p>
            <a:pPr lvl="1">
              <a:buClrTx/>
              <a:buFont typeface="Arial" panose="020B0604020202020204" pitchFamily="34" charset="0"/>
              <a:buChar char="•"/>
            </a:pPr>
            <a:r>
              <a:rPr lang="en-US" sz="2400" dirty="0"/>
              <a:t>Non routine tasks are involved</a:t>
            </a:r>
          </a:p>
          <a:p>
            <a:pPr lvl="1">
              <a:buClrTx/>
              <a:buFont typeface="Arial" panose="020B0604020202020204" pitchFamily="34" charset="0"/>
              <a:buChar char="•"/>
            </a:pPr>
            <a:r>
              <a:rPr lang="en-US" sz="2400" dirty="0"/>
              <a:t>Planning is required</a:t>
            </a:r>
          </a:p>
          <a:p>
            <a:pPr lvl="1">
              <a:buClrTx/>
              <a:buFont typeface="Arial" panose="020B0604020202020204" pitchFamily="34" charset="0"/>
              <a:buChar char="•"/>
            </a:pPr>
            <a:r>
              <a:rPr lang="en-US" sz="2400" dirty="0"/>
              <a:t>Specific objectives are to be met or specified product is to be created </a:t>
            </a:r>
          </a:p>
          <a:p>
            <a:pPr lvl="1">
              <a:buClrTx/>
              <a:buFont typeface="Arial" panose="020B0604020202020204" pitchFamily="34" charset="0"/>
              <a:buChar char="•"/>
            </a:pPr>
            <a:r>
              <a:rPr lang="en-US" sz="2400" dirty="0"/>
              <a:t>The project has a pre‐determined time span</a:t>
            </a:r>
          </a:p>
          <a:p>
            <a:pPr lvl="1">
              <a:buClrTx/>
              <a:buFont typeface="Arial" panose="020B0604020202020204" pitchFamily="34" charset="0"/>
              <a:buChar char="•"/>
            </a:pPr>
            <a:r>
              <a:rPr lang="en-US" sz="2400" dirty="0"/>
              <a:t>Work is carried out for someone other than yourself </a:t>
            </a:r>
          </a:p>
          <a:p>
            <a:pPr lvl="1">
              <a:buClrTx/>
              <a:buFont typeface="Arial" panose="020B0604020202020204" pitchFamily="34" charset="0"/>
              <a:buChar char="•"/>
            </a:pPr>
            <a:r>
              <a:rPr lang="en-US" sz="2400" dirty="0"/>
              <a:t>Work involves several specialism </a:t>
            </a:r>
          </a:p>
          <a:p>
            <a:pPr lvl="1">
              <a:buClrTx/>
              <a:buFont typeface="Arial" panose="020B0604020202020204" pitchFamily="34" charset="0"/>
              <a:buChar char="•"/>
            </a:pPr>
            <a:r>
              <a:rPr lang="en-US" sz="2400" dirty="0"/>
              <a:t>Work is carried out in several phases </a:t>
            </a:r>
          </a:p>
          <a:p>
            <a:pPr lvl="1">
              <a:buClrTx/>
              <a:buFont typeface="Arial" panose="020B0604020202020204" pitchFamily="34" charset="0"/>
              <a:buChar char="•"/>
            </a:pPr>
            <a:r>
              <a:rPr lang="en-US" sz="2400" dirty="0"/>
              <a:t>The resources that are available for use on the project are constrained </a:t>
            </a:r>
          </a:p>
          <a:p>
            <a:pPr lvl="1">
              <a:buClrTx/>
              <a:buFont typeface="Arial" panose="020B0604020202020204" pitchFamily="34" charset="0"/>
              <a:buChar char="•"/>
            </a:pPr>
            <a:r>
              <a:rPr lang="en-US" sz="2400" dirty="0"/>
              <a:t>The project is large or complex</a:t>
            </a:r>
          </a:p>
        </p:txBody>
      </p:sp>
    </p:spTree>
    <p:extLst>
      <p:ext uri="{BB962C8B-B14F-4D97-AF65-F5344CB8AC3E}">
        <p14:creationId xmlns:p14="http://schemas.microsoft.com/office/powerpoint/2010/main" val="3471751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9</a:t>
            </a:fld>
            <a:endParaRPr lang="en-US" dirty="0"/>
          </a:p>
        </p:txBody>
      </p:sp>
      <p:sp>
        <p:nvSpPr>
          <p:cNvPr id="3" name="Title 2"/>
          <p:cNvSpPr>
            <a:spLocks noGrp="1"/>
          </p:cNvSpPr>
          <p:nvPr>
            <p:ph type="title"/>
          </p:nvPr>
        </p:nvSpPr>
        <p:spPr/>
        <p:txBody>
          <a:bodyPr/>
          <a:lstStyle/>
          <a:p>
            <a:r>
              <a:rPr lang="en-US" dirty="0"/>
              <a:t>Characteristics of Project</a:t>
            </a:r>
          </a:p>
        </p:txBody>
      </p:sp>
      <p:pic>
        <p:nvPicPr>
          <p:cNvPr id="5" name="Picture 4"/>
          <p:cNvPicPr>
            <a:picLocks noChangeAspect="1"/>
          </p:cNvPicPr>
          <p:nvPr/>
        </p:nvPicPr>
        <p:blipFill>
          <a:blip r:embed="rId3"/>
          <a:stretch>
            <a:fillRect/>
          </a:stretch>
        </p:blipFill>
        <p:spPr>
          <a:xfrm>
            <a:off x="1228724" y="1828800"/>
            <a:ext cx="6686550" cy="2524125"/>
          </a:xfrm>
          <a:prstGeom prst="rect">
            <a:avLst/>
          </a:prstGeom>
        </p:spPr>
      </p:pic>
      <p:sp>
        <p:nvSpPr>
          <p:cNvPr id="4" name="Text Placeholder 3"/>
          <p:cNvSpPr>
            <a:spLocks noGrp="1"/>
          </p:cNvSpPr>
          <p:nvPr>
            <p:ph type="body" sz="quarter" idx="13"/>
          </p:nvPr>
        </p:nvSpPr>
        <p:spPr>
          <a:xfrm>
            <a:off x="2628900" y="4853285"/>
            <a:ext cx="3886199" cy="465798"/>
          </a:xfrm>
        </p:spPr>
        <p:txBody>
          <a:bodyPr>
            <a:normAutofit/>
          </a:bodyPr>
          <a:lstStyle/>
          <a:p>
            <a:r>
              <a:rPr lang="en-US" b="1" dirty="0" smtClean="0"/>
              <a:t>Fig: Job Vs Project vs Research</a:t>
            </a:r>
            <a:endParaRPr lang="en-US" b="1" dirty="0"/>
          </a:p>
        </p:txBody>
      </p:sp>
    </p:spTree>
    <p:extLst>
      <p:ext uri="{BB962C8B-B14F-4D97-AF65-F5344CB8AC3E}">
        <p14:creationId xmlns:p14="http://schemas.microsoft.com/office/powerpoint/2010/main" val="21827869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10</a:t>
            </a:fld>
            <a:endParaRPr lang="en-US" dirty="0"/>
          </a:p>
        </p:txBody>
      </p:sp>
      <p:sp>
        <p:nvSpPr>
          <p:cNvPr id="3" name="Title 2"/>
          <p:cNvSpPr>
            <a:spLocks noGrp="1"/>
          </p:cNvSpPr>
          <p:nvPr>
            <p:ph type="title"/>
          </p:nvPr>
        </p:nvSpPr>
        <p:spPr/>
        <p:txBody>
          <a:bodyPr/>
          <a:lstStyle/>
          <a:p>
            <a:r>
              <a:rPr lang="en-US"/>
              <a:t>PMI Definition</a:t>
            </a:r>
            <a:endParaRPr lang="en-US" dirty="0"/>
          </a:p>
        </p:txBody>
      </p:sp>
      <p:sp>
        <p:nvSpPr>
          <p:cNvPr id="4" name="Text Placeholder 3"/>
          <p:cNvSpPr>
            <a:spLocks noGrp="1"/>
          </p:cNvSpPr>
          <p:nvPr>
            <p:ph type="body" sz="quarter" idx="13"/>
          </p:nvPr>
        </p:nvSpPr>
        <p:spPr/>
        <p:txBody>
          <a:bodyPr/>
          <a:lstStyle/>
          <a:p>
            <a:pPr>
              <a:buClrTx/>
              <a:buFont typeface="Arial" panose="020B0604020202020204" pitchFamily="34" charset="0"/>
              <a:buChar char="•"/>
            </a:pPr>
            <a:r>
              <a:rPr lang="en-US" dirty="0"/>
              <a:t>PMI defines Project as a </a:t>
            </a:r>
            <a:r>
              <a:rPr lang="en-US" u="sng" dirty="0"/>
              <a:t>temporary endeavor </a:t>
            </a:r>
            <a:r>
              <a:rPr lang="en-US" dirty="0"/>
              <a:t>undertaken to create a unique product, service, or result.</a:t>
            </a:r>
          </a:p>
          <a:p>
            <a:pPr>
              <a:buClrTx/>
              <a:buFont typeface="Arial" panose="020B0604020202020204" pitchFamily="34" charset="0"/>
              <a:buChar char="•"/>
            </a:pPr>
            <a:r>
              <a:rPr lang="en-US" dirty="0"/>
              <a:t>Projects are undertaken to </a:t>
            </a:r>
            <a:r>
              <a:rPr lang="en-US" sz="4400" dirty="0"/>
              <a:t>fulfill objectives </a:t>
            </a:r>
            <a:r>
              <a:rPr lang="en-US" sz="4400" dirty="0">
                <a:solidFill>
                  <a:srgbClr val="00B050"/>
                </a:solidFill>
              </a:rPr>
              <a:t>by producing deliverables.</a:t>
            </a:r>
            <a:endParaRPr lang="en-US" dirty="0">
              <a:solidFill>
                <a:srgbClr val="00B050"/>
              </a:solidFill>
            </a:endParaRPr>
          </a:p>
          <a:p>
            <a:endParaRPr lang="en-US" dirty="0"/>
          </a:p>
        </p:txBody>
      </p:sp>
    </p:spTree>
    <p:extLst>
      <p:ext uri="{BB962C8B-B14F-4D97-AF65-F5344CB8AC3E}">
        <p14:creationId xmlns:p14="http://schemas.microsoft.com/office/powerpoint/2010/main" val="22695779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11</a:t>
            </a:fld>
            <a:endParaRPr lang="en-US" dirty="0"/>
          </a:p>
        </p:txBody>
      </p:sp>
      <p:sp>
        <p:nvSpPr>
          <p:cNvPr id="2" name="Title 1"/>
          <p:cNvSpPr>
            <a:spLocks noGrp="1"/>
          </p:cNvSpPr>
          <p:nvPr>
            <p:ph type="title"/>
          </p:nvPr>
        </p:nvSpPr>
        <p:spPr>
          <a:xfrm>
            <a:off x="457200" y="293096"/>
            <a:ext cx="8229600" cy="639762"/>
          </a:xfrm>
        </p:spPr>
        <p:txBody>
          <a:bodyPr>
            <a:noAutofit/>
          </a:bodyPr>
          <a:lstStyle/>
          <a:p>
            <a:r>
              <a:rPr lang="en-US" b="1" dirty="0"/>
              <a:t>Temporary </a:t>
            </a:r>
            <a:r>
              <a:rPr lang="en-US" b="1" dirty="0" smtClean="0"/>
              <a:t>endeavor</a:t>
            </a:r>
            <a:endParaRPr lang="en-US" dirty="0"/>
          </a:p>
        </p:txBody>
      </p:sp>
      <p:sp>
        <p:nvSpPr>
          <p:cNvPr id="3" name="Content Placeholder 2"/>
          <p:cNvSpPr>
            <a:spLocks noGrp="1"/>
          </p:cNvSpPr>
          <p:nvPr>
            <p:ph type="body" sz="quarter" idx="13"/>
          </p:nvPr>
        </p:nvSpPr>
        <p:spPr>
          <a:xfrm>
            <a:off x="457200" y="1022567"/>
            <a:ext cx="8229600" cy="5257800"/>
          </a:xfrm>
        </p:spPr>
        <p:txBody>
          <a:bodyPr>
            <a:normAutofit/>
          </a:bodyPr>
          <a:lstStyle/>
          <a:p>
            <a:pPr>
              <a:buClrTx/>
              <a:buFont typeface="Arial" panose="020B0604020202020204" pitchFamily="34" charset="0"/>
              <a:buChar char="•"/>
            </a:pPr>
            <a:r>
              <a:rPr lang="en-US" b="1" dirty="0" smtClean="0">
                <a:solidFill>
                  <a:srgbClr val="00B050"/>
                </a:solidFill>
              </a:rPr>
              <a:t>The </a:t>
            </a:r>
            <a:r>
              <a:rPr lang="en-US" b="1" dirty="0">
                <a:solidFill>
                  <a:srgbClr val="00B050"/>
                </a:solidFill>
              </a:rPr>
              <a:t>temporary nature of projects indicates that a project has a definite beginning and end.</a:t>
            </a:r>
          </a:p>
          <a:p>
            <a:pPr>
              <a:buClrTx/>
              <a:buFont typeface="Arial" panose="020B0604020202020204" pitchFamily="34" charset="0"/>
              <a:buChar char="•"/>
            </a:pPr>
            <a:r>
              <a:rPr lang="en-US" dirty="0">
                <a:solidFill>
                  <a:srgbClr val="FF0000"/>
                </a:solidFill>
              </a:rPr>
              <a:t>Temporary does not necessarily mean a project has a short duration</a:t>
            </a:r>
            <a:r>
              <a:rPr lang="en-US" dirty="0"/>
              <a:t>. </a:t>
            </a:r>
            <a:r>
              <a:rPr lang="en-US" b="1" dirty="0"/>
              <a:t>The end of the project is reached when </a:t>
            </a:r>
            <a:r>
              <a:rPr lang="en-US" b="1" dirty="0" smtClean="0"/>
              <a:t>one or </a:t>
            </a:r>
            <a:r>
              <a:rPr lang="en-US" b="1" dirty="0"/>
              <a:t>more of the following is true:</a:t>
            </a:r>
          </a:p>
          <a:p>
            <a:pPr lvl="1">
              <a:buClrTx/>
              <a:buFont typeface="Arial" panose="020B0604020202020204" pitchFamily="34" charset="0"/>
              <a:buChar char="•"/>
            </a:pPr>
            <a:r>
              <a:rPr lang="en-US" dirty="0" smtClean="0"/>
              <a:t>The </a:t>
            </a:r>
            <a:r>
              <a:rPr lang="en-US" dirty="0"/>
              <a:t>project’s objectives have been achieved;</a:t>
            </a:r>
          </a:p>
          <a:p>
            <a:pPr lvl="1">
              <a:buClrTx/>
              <a:buFont typeface="Arial" panose="020B0604020202020204" pitchFamily="34" charset="0"/>
              <a:buChar char="•"/>
            </a:pPr>
            <a:r>
              <a:rPr lang="en-US" dirty="0" smtClean="0"/>
              <a:t>The </a:t>
            </a:r>
            <a:r>
              <a:rPr lang="en-US" dirty="0"/>
              <a:t>objectives will not or cannot be met;</a:t>
            </a:r>
          </a:p>
          <a:p>
            <a:pPr lvl="1">
              <a:buClrTx/>
              <a:buFont typeface="Arial" panose="020B0604020202020204" pitchFamily="34" charset="0"/>
              <a:buChar char="•"/>
            </a:pPr>
            <a:r>
              <a:rPr lang="en-US" dirty="0" smtClean="0"/>
              <a:t>Funding </a:t>
            </a:r>
            <a:r>
              <a:rPr lang="en-US" dirty="0"/>
              <a:t>is exhausted or no longer available for allocation to the project;</a:t>
            </a:r>
          </a:p>
          <a:p>
            <a:pPr lvl="1">
              <a:buClrTx/>
              <a:buFont typeface="Arial" panose="020B0604020202020204" pitchFamily="34" charset="0"/>
              <a:buChar char="•"/>
            </a:pPr>
            <a:r>
              <a:rPr lang="en-US" dirty="0" smtClean="0"/>
              <a:t>The </a:t>
            </a:r>
            <a:r>
              <a:rPr lang="en-US" dirty="0"/>
              <a:t>need for the project no longer exists (e.g., the customer no longer wants the project completed, a </a:t>
            </a:r>
            <a:r>
              <a:rPr lang="en-US" dirty="0" smtClean="0"/>
              <a:t>change in </a:t>
            </a:r>
            <a:r>
              <a:rPr lang="en-US" dirty="0"/>
              <a:t>strategy or priority ends the project, the organizational management provides direction to end the project);</a:t>
            </a:r>
          </a:p>
          <a:p>
            <a:pPr lvl="1">
              <a:buClrTx/>
              <a:buFont typeface="Arial" panose="020B0604020202020204" pitchFamily="34" charset="0"/>
              <a:buChar char="•"/>
            </a:pPr>
            <a:r>
              <a:rPr lang="en-US" dirty="0"/>
              <a:t>T</a:t>
            </a:r>
            <a:r>
              <a:rPr lang="en-US" dirty="0" smtClean="0"/>
              <a:t>he </a:t>
            </a:r>
            <a:r>
              <a:rPr lang="en-US" dirty="0"/>
              <a:t>human or physical resources are no longer available; or</a:t>
            </a:r>
          </a:p>
          <a:p>
            <a:pPr lvl="1">
              <a:buClrTx/>
              <a:buFont typeface="Arial" panose="020B0604020202020204" pitchFamily="34" charset="0"/>
              <a:buChar char="•"/>
            </a:pPr>
            <a:r>
              <a:rPr lang="en-US" dirty="0" smtClean="0"/>
              <a:t>The </a:t>
            </a:r>
            <a:r>
              <a:rPr lang="en-US" dirty="0"/>
              <a:t>project is terminated for legal cause or convenience.</a:t>
            </a:r>
          </a:p>
          <a:p>
            <a:pPr>
              <a:buClrTx/>
              <a:buFont typeface="Arial" panose="020B0604020202020204" pitchFamily="34" charset="0"/>
              <a:buChar char="•"/>
            </a:pPr>
            <a:r>
              <a:rPr lang="en-US" b="1" u="sng" dirty="0">
                <a:solidFill>
                  <a:srgbClr val="0070C0"/>
                </a:solidFill>
              </a:rPr>
              <a:t>Projects are temporary, but their deliverables may exist beyond the end of the project</a:t>
            </a:r>
            <a:r>
              <a:rPr lang="en-US" b="1" dirty="0">
                <a:solidFill>
                  <a:srgbClr val="0070C0"/>
                </a:solidFill>
              </a:rPr>
              <a:t>. Projects may </a:t>
            </a:r>
            <a:r>
              <a:rPr lang="en-US" b="1" dirty="0" smtClean="0">
                <a:solidFill>
                  <a:srgbClr val="0070C0"/>
                </a:solidFill>
              </a:rPr>
              <a:t>produce deliverables </a:t>
            </a:r>
            <a:r>
              <a:rPr lang="en-US" b="1" dirty="0">
                <a:solidFill>
                  <a:srgbClr val="0070C0"/>
                </a:solidFill>
              </a:rPr>
              <a:t>of a social, economic, material, or environmental nature. For example, a project to build a </a:t>
            </a:r>
            <a:r>
              <a:rPr lang="en-US" b="1" dirty="0" smtClean="0">
                <a:solidFill>
                  <a:srgbClr val="0070C0"/>
                </a:solidFill>
              </a:rPr>
              <a:t>national monument </a:t>
            </a:r>
            <a:r>
              <a:rPr lang="en-US" b="1" dirty="0">
                <a:solidFill>
                  <a:srgbClr val="0070C0"/>
                </a:solidFill>
              </a:rPr>
              <a:t>will create a deliverable expected to last for centuries</a:t>
            </a:r>
            <a:r>
              <a:rPr lang="en-US" dirty="0"/>
              <a:t>.</a:t>
            </a:r>
          </a:p>
        </p:txBody>
      </p:sp>
    </p:spTree>
    <p:extLst>
      <p:ext uri="{BB962C8B-B14F-4D97-AF65-F5344CB8AC3E}">
        <p14:creationId xmlns:p14="http://schemas.microsoft.com/office/powerpoint/2010/main" val="16144932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12</a:t>
            </a:fld>
            <a:endParaRPr lang="en-US" dirty="0"/>
          </a:p>
        </p:txBody>
      </p:sp>
      <p:sp>
        <p:nvSpPr>
          <p:cNvPr id="2" name="Title 1"/>
          <p:cNvSpPr>
            <a:spLocks noGrp="1"/>
          </p:cNvSpPr>
          <p:nvPr>
            <p:ph type="title"/>
          </p:nvPr>
        </p:nvSpPr>
        <p:spPr>
          <a:xfrm>
            <a:off x="457200" y="228600"/>
            <a:ext cx="7543800" cy="1449387"/>
          </a:xfrm>
        </p:spPr>
        <p:txBody>
          <a:bodyPr>
            <a:noAutofit/>
          </a:bodyPr>
          <a:lstStyle/>
          <a:p>
            <a:r>
              <a:rPr lang="en-US" sz="3200" u="sng" dirty="0">
                <a:solidFill>
                  <a:srgbClr val="00B050"/>
                </a:solidFill>
              </a:rPr>
              <a:t>Fulfillment of project objectives</a:t>
            </a:r>
            <a:r>
              <a:rPr lang="en-US" sz="3200" dirty="0">
                <a:solidFill>
                  <a:srgbClr val="00B050"/>
                </a:solidFill>
              </a:rPr>
              <a:t> </a:t>
            </a:r>
            <a:r>
              <a:rPr lang="en-US" sz="3200" dirty="0"/>
              <a:t>may produce</a:t>
            </a:r>
            <a:r>
              <a:rPr lang="en-US" sz="3200" dirty="0">
                <a:solidFill>
                  <a:srgbClr val="00B050"/>
                </a:solidFill>
              </a:rPr>
              <a:t> </a:t>
            </a:r>
            <a:r>
              <a:rPr lang="en-US" sz="3200" u="sng" dirty="0">
                <a:solidFill>
                  <a:srgbClr val="00B050"/>
                </a:solidFill>
              </a:rPr>
              <a:t>one or more of the following deliverables:</a:t>
            </a:r>
            <a:r>
              <a:rPr lang="en-US" sz="2800" dirty="0">
                <a:solidFill>
                  <a:srgbClr val="00B050"/>
                </a:solidFill>
              </a:rPr>
              <a:t/>
            </a:r>
            <a:br>
              <a:rPr lang="en-US" sz="2800" dirty="0">
                <a:solidFill>
                  <a:srgbClr val="00B050"/>
                </a:solidFill>
              </a:rPr>
            </a:br>
            <a:endParaRPr lang="en-US" sz="2800" dirty="0">
              <a:solidFill>
                <a:srgbClr val="00B050"/>
              </a:solidFill>
            </a:endParaRPr>
          </a:p>
        </p:txBody>
      </p:sp>
      <p:sp>
        <p:nvSpPr>
          <p:cNvPr id="3" name="Content Placeholder 2"/>
          <p:cNvSpPr>
            <a:spLocks noGrp="1"/>
          </p:cNvSpPr>
          <p:nvPr>
            <p:ph type="body" sz="quarter" idx="13"/>
          </p:nvPr>
        </p:nvSpPr>
        <p:spPr>
          <a:xfrm>
            <a:off x="609600" y="1677987"/>
            <a:ext cx="7924800" cy="4418013"/>
          </a:xfrm>
        </p:spPr>
        <p:txBody>
          <a:bodyPr>
            <a:normAutofit/>
          </a:bodyPr>
          <a:lstStyle/>
          <a:p>
            <a:pPr>
              <a:buClrTx/>
              <a:buFont typeface="Arial" panose="020B0604020202020204" pitchFamily="34" charset="0"/>
              <a:buChar char="•"/>
            </a:pPr>
            <a:r>
              <a:rPr lang="en-US" b="1" dirty="0" smtClean="0">
                <a:solidFill>
                  <a:srgbClr val="FF0000"/>
                </a:solidFill>
              </a:rPr>
              <a:t>A </a:t>
            </a:r>
            <a:r>
              <a:rPr lang="en-US" b="1" dirty="0">
                <a:solidFill>
                  <a:srgbClr val="FF0000"/>
                </a:solidFill>
              </a:rPr>
              <a:t>unique product </a:t>
            </a:r>
            <a:r>
              <a:rPr lang="en-US" dirty="0"/>
              <a:t>that can be either a component of another item, an enhancement or correction to an </a:t>
            </a:r>
            <a:r>
              <a:rPr lang="en-US" dirty="0" smtClean="0"/>
              <a:t>item, or </a:t>
            </a:r>
            <a:r>
              <a:rPr lang="en-US" dirty="0"/>
              <a:t>a new end item in itself (e.g., the correction of a defect in an end item</a:t>
            </a:r>
            <a:r>
              <a:rPr lang="en-US" dirty="0" smtClean="0"/>
              <a:t>)</a:t>
            </a:r>
            <a:endParaRPr lang="en-US" dirty="0"/>
          </a:p>
          <a:p>
            <a:pPr>
              <a:buClrTx/>
              <a:buFont typeface="Arial" panose="020B0604020202020204" pitchFamily="34" charset="0"/>
              <a:buChar char="•"/>
            </a:pPr>
            <a:r>
              <a:rPr lang="en-US" dirty="0" smtClean="0">
                <a:solidFill>
                  <a:srgbClr val="FF0000"/>
                </a:solidFill>
              </a:rPr>
              <a:t>A </a:t>
            </a:r>
            <a:r>
              <a:rPr lang="en-US" dirty="0">
                <a:solidFill>
                  <a:srgbClr val="FF0000"/>
                </a:solidFill>
              </a:rPr>
              <a:t>unique service </a:t>
            </a:r>
            <a:r>
              <a:rPr lang="en-US" dirty="0"/>
              <a:t>or a capability to perform a service (e.g., a business function that supports </a:t>
            </a:r>
            <a:r>
              <a:rPr lang="en-US" dirty="0" smtClean="0"/>
              <a:t>production or </a:t>
            </a:r>
            <a:r>
              <a:rPr lang="en-US" dirty="0"/>
              <a:t>distribution</a:t>
            </a:r>
            <a:r>
              <a:rPr lang="en-US" dirty="0" smtClean="0"/>
              <a:t>)</a:t>
            </a:r>
            <a:endParaRPr lang="en-US" dirty="0"/>
          </a:p>
          <a:p>
            <a:pPr>
              <a:buClrTx/>
              <a:buFont typeface="Arial" panose="020B0604020202020204" pitchFamily="34" charset="0"/>
              <a:buChar char="•"/>
            </a:pPr>
            <a:r>
              <a:rPr lang="en-US" dirty="0" smtClean="0">
                <a:solidFill>
                  <a:srgbClr val="FF0000"/>
                </a:solidFill>
              </a:rPr>
              <a:t>A </a:t>
            </a:r>
            <a:r>
              <a:rPr lang="en-US" dirty="0">
                <a:solidFill>
                  <a:srgbClr val="FF0000"/>
                </a:solidFill>
              </a:rPr>
              <a:t>unique result</a:t>
            </a:r>
            <a:r>
              <a:rPr lang="en-US" dirty="0"/>
              <a:t>, such as an outcome or document (e.g., a research project that develops knowledge that </a:t>
            </a:r>
            <a:r>
              <a:rPr lang="en-US" dirty="0" smtClean="0"/>
              <a:t>can be </a:t>
            </a:r>
            <a:r>
              <a:rPr lang="en-US" dirty="0"/>
              <a:t>used to determine whether a trend exists or a new process will benefit </a:t>
            </a:r>
            <a:r>
              <a:rPr lang="en-US" dirty="0" smtClean="0"/>
              <a:t>society)</a:t>
            </a:r>
          </a:p>
          <a:p>
            <a:pPr>
              <a:buClrTx/>
              <a:buFont typeface="Arial" panose="020B0604020202020204" pitchFamily="34" charset="0"/>
              <a:buChar char="•"/>
            </a:pPr>
            <a:r>
              <a:rPr lang="en-US" dirty="0" smtClean="0">
                <a:solidFill>
                  <a:srgbClr val="FF0000"/>
                </a:solidFill>
              </a:rPr>
              <a:t>A </a:t>
            </a:r>
            <a:r>
              <a:rPr lang="en-US" dirty="0">
                <a:solidFill>
                  <a:srgbClr val="FF0000"/>
                </a:solidFill>
              </a:rPr>
              <a:t>unique combination of one or more products, services, or results</a:t>
            </a:r>
            <a:r>
              <a:rPr lang="en-US" dirty="0"/>
              <a:t> (e.g., a software application, its </a:t>
            </a:r>
            <a:r>
              <a:rPr lang="en-US" dirty="0" smtClean="0"/>
              <a:t>associated documentation</a:t>
            </a:r>
            <a:r>
              <a:rPr lang="en-US" dirty="0"/>
              <a:t>, and help desk services).</a:t>
            </a:r>
          </a:p>
        </p:txBody>
      </p:sp>
    </p:spTree>
    <p:extLst>
      <p:ext uri="{BB962C8B-B14F-4D97-AF65-F5344CB8AC3E}">
        <p14:creationId xmlns:p14="http://schemas.microsoft.com/office/powerpoint/2010/main" val="36946999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13</a:t>
            </a:fld>
            <a:endParaRPr lang="en-US" dirty="0"/>
          </a:p>
        </p:txBody>
      </p:sp>
      <p:sp>
        <p:nvSpPr>
          <p:cNvPr id="2" name="Title 1"/>
          <p:cNvSpPr>
            <a:spLocks noGrp="1"/>
          </p:cNvSpPr>
          <p:nvPr>
            <p:ph type="title"/>
          </p:nvPr>
        </p:nvSpPr>
        <p:spPr>
          <a:xfrm>
            <a:off x="609600" y="287338"/>
            <a:ext cx="8534400" cy="1449387"/>
          </a:xfrm>
        </p:spPr>
        <p:txBody>
          <a:bodyPr>
            <a:normAutofit fontScale="90000"/>
          </a:bodyPr>
          <a:lstStyle/>
          <a:p>
            <a:r>
              <a:rPr lang="en-US" dirty="0" smtClean="0"/>
              <a:t>Projects are Progressively Elaborated with Repetitive elements</a:t>
            </a:r>
            <a:endParaRPr lang="en-US" dirty="0"/>
          </a:p>
        </p:txBody>
      </p:sp>
      <p:sp>
        <p:nvSpPr>
          <p:cNvPr id="3" name="Content Placeholder 2"/>
          <p:cNvSpPr>
            <a:spLocks noGrp="1"/>
          </p:cNvSpPr>
          <p:nvPr>
            <p:ph type="body" sz="quarter" idx="13"/>
          </p:nvPr>
        </p:nvSpPr>
        <p:spPr>
          <a:xfrm>
            <a:off x="615537" y="1905000"/>
            <a:ext cx="7793825" cy="4343400"/>
          </a:xfrm>
        </p:spPr>
        <p:txBody>
          <a:bodyPr>
            <a:normAutofit/>
          </a:bodyPr>
          <a:lstStyle/>
          <a:p>
            <a:pPr>
              <a:buClrTx/>
              <a:buFont typeface="Arial" panose="020B0604020202020204" pitchFamily="34" charset="0"/>
              <a:buChar char="•"/>
            </a:pPr>
            <a:r>
              <a:rPr lang="en-US" sz="2400" dirty="0"/>
              <a:t>Repetitive elements may be present in some project deliverables and activities. </a:t>
            </a:r>
            <a:endParaRPr lang="en-US" sz="2400" dirty="0" smtClean="0"/>
          </a:p>
          <a:p>
            <a:pPr>
              <a:buClrTx/>
              <a:buFont typeface="Arial" panose="020B0604020202020204" pitchFamily="34" charset="0"/>
              <a:buChar char="•"/>
            </a:pPr>
            <a:r>
              <a:rPr lang="en-US" sz="2400" dirty="0" smtClean="0">
                <a:solidFill>
                  <a:srgbClr val="FF0000"/>
                </a:solidFill>
              </a:rPr>
              <a:t>But this </a:t>
            </a:r>
            <a:r>
              <a:rPr lang="en-US" sz="2400" dirty="0">
                <a:solidFill>
                  <a:srgbClr val="FF0000"/>
                </a:solidFill>
              </a:rPr>
              <a:t>repetition does not </a:t>
            </a:r>
            <a:r>
              <a:rPr lang="en-US" sz="2400" dirty="0" smtClean="0">
                <a:solidFill>
                  <a:srgbClr val="FF0000"/>
                </a:solidFill>
              </a:rPr>
              <a:t>change the </a:t>
            </a:r>
            <a:r>
              <a:rPr lang="en-US" sz="2400" dirty="0">
                <a:solidFill>
                  <a:srgbClr val="FF0000"/>
                </a:solidFill>
              </a:rPr>
              <a:t>fundamental and unique characteristics of the project work. </a:t>
            </a:r>
            <a:endParaRPr lang="en-US" sz="2400" dirty="0" smtClean="0">
              <a:solidFill>
                <a:srgbClr val="FF0000"/>
              </a:solidFill>
            </a:endParaRPr>
          </a:p>
          <a:p>
            <a:pPr>
              <a:buClrTx/>
              <a:buFont typeface="Arial" panose="020B0604020202020204" pitchFamily="34" charset="0"/>
              <a:buChar char="•"/>
            </a:pPr>
            <a:r>
              <a:rPr lang="en-US" sz="2400" dirty="0" smtClean="0"/>
              <a:t>For </a:t>
            </a:r>
            <a:r>
              <a:rPr lang="en-US" sz="2400" dirty="0"/>
              <a:t>example, office buildings can be </a:t>
            </a:r>
            <a:r>
              <a:rPr lang="en-US" sz="2400" dirty="0" smtClean="0"/>
              <a:t>constructed with </a:t>
            </a:r>
            <a:r>
              <a:rPr lang="en-US" sz="2400" dirty="0"/>
              <a:t>the same or similar materials and by the same or different teams. </a:t>
            </a:r>
            <a:r>
              <a:rPr lang="en-US" sz="2400" dirty="0">
                <a:solidFill>
                  <a:srgbClr val="FF0000"/>
                </a:solidFill>
              </a:rPr>
              <a:t>However, each building project </a:t>
            </a:r>
            <a:r>
              <a:rPr lang="en-US" sz="2400" dirty="0" smtClean="0">
                <a:solidFill>
                  <a:srgbClr val="FF0000"/>
                </a:solidFill>
              </a:rPr>
              <a:t>remains unique </a:t>
            </a:r>
            <a:r>
              <a:rPr lang="en-US" sz="2400" dirty="0">
                <a:solidFill>
                  <a:srgbClr val="FF0000"/>
                </a:solidFill>
              </a:rPr>
              <a:t>in key characteristics (e.g., location, design, environment, situation, people involved).</a:t>
            </a:r>
          </a:p>
        </p:txBody>
      </p:sp>
    </p:spTree>
    <p:extLst>
      <p:ext uri="{BB962C8B-B14F-4D97-AF65-F5344CB8AC3E}">
        <p14:creationId xmlns:p14="http://schemas.microsoft.com/office/powerpoint/2010/main" val="21125505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5CE4F79-B2B3-4E4E-AB5D-F771515B9CEF}" type="slidenum">
              <a:rPr lang="en-US" smtClean="0"/>
              <a:t>14</a:t>
            </a:fld>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794164"/>
            <a:ext cx="7543800" cy="4483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6"/>
          <p:cNvSpPr>
            <a:spLocks noGrp="1"/>
          </p:cNvSpPr>
          <p:nvPr>
            <p:ph type="title"/>
          </p:nvPr>
        </p:nvSpPr>
        <p:spPr>
          <a:xfrm>
            <a:off x="457200" y="536415"/>
            <a:ext cx="8381999" cy="1066800"/>
          </a:xfrm>
        </p:spPr>
        <p:txBody>
          <a:bodyPr>
            <a:normAutofit fontScale="90000"/>
          </a:bodyPr>
          <a:lstStyle/>
          <a:p>
            <a:r>
              <a:rPr lang="en-US" dirty="0"/>
              <a:t>What Projects do to an organization?</a:t>
            </a:r>
            <a:r>
              <a:rPr lang="en-US" dirty="0">
                <a:sym typeface="Wingdings" pitchFamily="2" charset="2"/>
              </a:rPr>
              <a:t></a:t>
            </a:r>
            <a:r>
              <a:rPr lang="en-US" dirty="0"/>
              <a:t>Projects drive change</a:t>
            </a:r>
          </a:p>
        </p:txBody>
      </p:sp>
    </p:spTree>
    <p:extLst>
      <p:ext uri="{BB962C8B-B14F-4D97-AF65-F5344CB8AC3E}">
        <p14:creationId xmlns:p14="http://schemas.microsoft.com/office/powerpoint/2010/main" val="1001224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15</a:t>
            </a:fld>
            <a:endParaRPr lang="en-US" dirty="0"/>
          </a:p>
        </p:txBody>
      </p:sp>
      <p:sp>
        <p:nvSpPr>
          <p:cNvPr id="3" name="Content Placeholder 2"/>
          <p:cNvSpPr>
            <a:spLocks noGrp="1"/>
          </p:cNvSpPr>
          <p:nvPr>
            <p:ph type="body" sz="quarter" idx="13"/>
          </p:nvPr>
        </p:nvSpPr>
        <p:spPr>
          <a:xfrm>
            <a:off x="304800" y="1477963"/>
            <a:ext cx="8382000" cy="4876800"/>
          </a:xfrm>
        </p:spPr>
        <p:txBody>
          <a:bodyPr>
            <a:noAutofit/>
          </a:bodyPr>
          <a:lstStyle/>
          <a:p>
            <a:pPr>
              <a:buClrTx/>
              <a:buFont typeface="Arial" panose="020B0604020202020204" pitchFamily="34" charset="0"/>
              <a:buChar char="•"/>
            </a:pPr>
            <a:r>
              <a:rPr lang="en-US" sz="2400" dirty="0"/>
              <a:t>Projects drive change in organizations. From a business perspective, </a:t>
            </a:r>
            <a:r>
              <a:rPr lang="en-US" sz="2400" b="1" dirty="0">
                <a:solidFill>
                  <a:srgbClr val="00B050"/>
                </a:solidFill>
              </a:rPr>
              <a:t>a project is aimed at moving an organization from one state to another state in order to achieve a specific objective</a:t>
            </a:r>
            <a:r>
              <a:rPr lang="en-US" sz="2400" dirty="0"/>
              <a:t> </a:t>
            </a:r>
            <a:r>
              <a:rPr lang="en-US" sz="2400" dirty="0" smtClean="0"/>
              <a:t>(</a:t>
            </a:r>
            <a:r>
              <a:rPr lang="en-US" sz="2400" dirty="0" smtClean="0">
                <a:solidFill>
                  <a:schemeClr val="tx1"/>
                </a:solidFill>
              </a:rPr>
              <a:t>figure 1-1 previous slide</a:t>
            </a:r>
            <a:r>
              <a:rPr lang="en-US" sz="2400" dirty="0" smtClean="0">
                <a:solidFill>
                  <a:srgbClr val="00B050"/>
                </a:solidFill>
              </a:rPr>
              <a:t>)</a:t>
            </a:r>
            <a:r>
              <a:rPr lang="en-US" sz="2400" dirty="0" smtClean="0"/>
              <a:t>.</a:t>
            </a:r>
            <a:endParaRPr lang="en-US" sz="2400" dirty="0"/>
          </a:p>
          <a:p>
            <a:pPr>
              <a:buClrTx/>
              <a:buFont typeface="Arial" panose="020B0604020202020204" pitchFamily="34" charset="0"/>
              <a:buChar char="•"/>
            </a:pPr>
            <a:r>
              <a:rPr lang="en-US" sz="2400" dirty="0"/>
              <a:t>Before the project begins, the organization is commonly referred to as being in the current state. The desired result of the change driven by the project is described as the future state.</a:t>
            </a:r>
          </a:p>
          <a:p>
            <a:pPr>
              <a:buClrTx/>
              <a:buFont typeface="Arial" panose="020B0604020202020204" pitchFamily="34" charset="0"/>
              <a:buChar char="•"/>
            </a:pPr>
            <a:r>
              <a:rPr lang="en-US" sz="2400" dirty="0"/>
              <a:t>For some projects, this may involve creating a transition state where multiple steps are made along a continuum to achieve the future state. </a:t>
            </a:r>
          </a:p>
          <a:p>
            <a:pPr>
              <a:buClrTx/>
              <a:buFont typeface="Arial" panose="020B0604020202020204" pitchFamily="34" charset="0"/>
              <a:buChar char="•"/>
            </a:pPr>
            <a:r>
              <a:rPr lang="en-US" sz="2400" dirty="0"/>
              <a:t>The </a:t>
            </a:r>
            <a:r>
              <a:rPr lang="en-US" sz="2400" b="1" dirty="0">
                <a:solidFill>
                  <a:srgbClr val="00B050"/>
                </a:solidFill>
              </a:rPr>
              <a:t>successful completion of a project results in the organization moving to the future state and achieving the specific objective.</a:t>
            </a:r>
          </a:p>
        </p:txBody>
      </p:sp>
      <p:sp>
        <p:nvSpPr>
          <p:cNvPr id="7" name="Title 6"/>
          <p:cNvSpPr>
            <a:spLocks noGrp="1"/>
          </p:cNvSpPr>
          <p:nvPr>
            <p:ph type="title"/>
          </p:nvPr>
        </p:nvSpPr>
        <p:spPr>
          <a:xfrm>
            <a:off x="304801" y="228600"/>
            <a:ext cx="8381999" cy="1066800"/>
          </a:xfrm>
        </p:spPr>
        <p:txBody>
          <a:bodyPr>
            <a:normAutofit fontScale="90000"/>
          </a:bodyPr>
          <a:lstStyle/>
          <a:p>
            <a:r>
              <a:rPr lang="en-US" dirty="0"/>
              <a:t>What Projects do to an organization?</a:t>
            </a:r>
            <a:r>
              <a:rPr lang="en-US" dirty="0">
                <a:sym typeface="Wingdings" pitchFamily="2" charset="2"/>
              </a:rPr>
              <a:t></a:t>
            </a:r>
            <a:r>
              <a:rPr lang="en-US" dirty="0"/>
              <a:t>Projects drive change</a:t>
            </a:r>
          </a:p>
        </p:txBody>
      </p:sp>
    </p:spTree>
    <p:extLst>
      <p:ext uri="{BB962C8B-B14F-4D97-AF65-F5344CB8AC3E}">
        <p14:creationId xmlns:p14="http://schemas.microsoft.com/office/powerpoint/2010/main" val="1328504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16</a:t>
            </a:fld>
            <a:endParaRPr lang="en-US" dirty="0"/>
          </a:p>
        </p:txBody>
      </p:sp>
      <p:sp>
        <p:nvSpPr>
          <p:cNvPr id="2" name="Title 1"/>
          <p:cNvSpPr>
            <a:spLocks noGrp="1"/>
          </p:cNvSpPr>
          <p:nvPr>
            <p:ph type="title"/>
          </p:nvPr>
        </p:nvSpPr>
        <p:spPr>
          <a:xfrm>
            <a:off x="304800" y="76200"/>
            <a:ext cx="8229600" cy="1096962"/>
          </a:xfrm>
        </p:spPr>
        <p:txBody>
          <a:bodyPr>
            <a:noAutofit/>
          </a:bodyPr>
          <a:lstStyle/>
          <a:p>
            <a:r>
              <a:rPr lang="en-US" sz="4000" b="1" dirty="0"/>
              <a:t>Projects enable business value creation</a:t>
            </a:r>
            <a:endParaRPr lang="en-US" sz="4000" dirty="0"/>
          </a:p>
        </p:txBody>
      </p:sp>
      <p:sp>
        <p:nvSpPr>
          <p:cNvPr id="3" name="Content Placeholder 2"/>
          <p:cNvSpPr>
            <a:spLocks noGrp="1"/>
          </p:cNvSpPr>
          <p:nvPr>
            <p:ph type="body" sz="quarter" idx="13"/>
          </p:nvPr>
        </p:nvSpPr>
        <p:spPr>
          <a:xfrm>
            <a:off x="457200" y="1295400"/>
            <a:ext cx="8534400" cy="4800600"/>
          </a:xfrm>
        </p:spPr>
        <p:txBody>
          <a:bodyPr>
            <a:noAutofit/>
          </a:bodyPr>
          <a:lstStyle/>
          <a:p>
            <a:pPr>
              <a:buClrTx/>
              <a:buFont typeface="Arial" panose="020B0604020202020204" pitchFamily="34" charset="0"/>
              <a:buChar char="•"/>
            </a:pPr>
            <a:r>
              <a:rPr lang="en-US" sz="2400" b="1" dirty="0"/>
              <a:t>Business value in projects refers to the </a:t>
            </a:r>
            <a:r>
              <a:rPr lang="en-US" sz="2400" b="1" dirty="0">
                <a:solidFill>
                  <a:srgbClr val="00B050"/>
                </a:solidFill>
              </a:rPr>
              <a:t>benefit that the results of a specific project provide to its stakeholders</a:t>
            </a:r>
            <a:r>
              <a:rPr lang="en-US" sz="2400" dirty="0">
                <a:solidFill>
                  <a:srgbClr val="00B050"/>
                </a:solidFill>
              </a:rPr>
              <a:t>. </a:t>
            </a:r>
            <a:r>
              <a:rPr lang="en-US" sz="2400" dirty="0"/>
              <a:t>The benefit from projects may be tangible, intangible, or both.</a:t>
            </a:r>
          </a:p>
          <a:p>
            <a:pPr>
              <a:buClrTx/>
              <a:buFont typeface="Arial" panose="020B0604020202020204" pitchFamily="34" charset="0"/>
              <a:buChar char="•"/>
            </a:pPr>
            <a:r>
              <a:rPr lang="en-US" sz="2400" b="1" dirty="0"/>
              <a:t>Examples of tangible elements include:</a:t>
            </a:r>
          </a:p>
          <a:p>
            <a:pPr lvl="1">
              <a:buClrTx/>
              <a:buFont typeface="Arial" panose="020B0604020202020204" pitchFamily="34" charset="0"/>
              <a:buChar char="•"/>
            </a:pPr>
            <a:r>
              <a:rPr lang="en-US" sz="2000" dirty="0"/>
              <a:t>1. Monetary assets,  2. Stockholder equity, 3. Market share.</a:t>
            </a:r>
          </a:p>
          <a:p>
            <a:pPr>
              <a:buClrTx/>
              <a:buFont typeface="Arial" panose="020B0604020202020204" pitchFamily="34" charset="0"/>
              <a:buChar char="•"/>
            </a:pPr>
            <a:r>
              <a:rPr lang="en-US" sz="2400" b="1" dirty="0"/>
              <a:t>Examples of intangible elements include:</a:t>
            </a:r>
          </a:p>
          <a:p>
            <a:pPr lvl="1">
              <a:buClrTx/>
              <a:buFont typeface="Arial" panose="020B0604020202020204" pitchFamily="34" charset="0"/>
              <a:buChar char="•"/>
            </a:pPr>
            <a:r>
              <a:rPr lang="en-US" sz="2000" dirty="0"/>
              <a:t>Goodwill,</a:t>
            </a:r>
          </a:p>
          <a:p>
            <a:pPr lvl="1">
              <a:buClrTx/>
              <a:buFont typeface="Arial" panose="020B0604020202020204" pitchFamily="34" charset="0"/>
              <a:buChar char="•"/>
            </a:pPr>
            <a:r>
              <a:rPr lang="en-US" sz="2000" dirty="0"/>
              <a:t>Brand recognition,</a:t>
            </a:r>
          </a:p>
          <a:p>
            <a:pPr lvl="1">
              <a:buClrTx/>
              <a:buFont typeface="Arial" panose="020B0604020202020204" pitchFamily="34" charset="0"/>
              <a:buChar char="•"/>
            </a:pPr>
            <a:r>
              <a:rPr lang="en-US" sz="2000" dirty="0"/>
              <a:t>Public benefit,</a:t>
            </a:r>
          </a:p>
          <a:p>
            <a:pPr lvl="1">
              <a:buClrTx/>
              <a:buFont typeface="Arial" panose="020B0604020202020204" pitchFamily="34" charset="0"/>
              <a:buChar char="•"/>
            </a:pPr>
            <a:r>
              <a:rPr lang="en-US" sz="2000" dirty="0"/>
              <a:t>Trademarks,</a:t>
            </a:r>
          </a:p>
          <a:p>
            <a:pPr lvl="1">
              <a:buClrTx/>
              <a:buFont typeface="Arial" panose="020B0604020202020204" pitchFamily="34" charset="0"/>
              <a:buChar char="•"/>
            </a:pPr>
            <a:r>
              <a:rPr lang="en-US" sz="2000" dirty="0"/>
              <a:t>Strategic alignment, </a:t>
            </a:r>
            <a:r>
              <a:rPr lang="en-US" sz="2000" dirty="0" smtClean="0"/>
              <a:t>and </a:t>
            </a:r>
          </a:p>
          <a:p>
            <a:pPr lvl="1">
              <a:buClrTx/>
              <a:buFont typeface="Arial" panose="020B0604020202020204" pitchFamily="34" charset="0"/>
              <a:buChar char="•"/>
            </a:pPr>
            <a:r>
              <a:rPr lang="en-US" sz="2000" dirty="0" smtClean="0"/>
              <a:t>Reputation</a:t>
            </a:r>
            <a:r>
              <a:rPr lang="en-US" sz="2000" dirty="0"/>
              <a:t>.</a:t>
            </a:r>
          </a:p>
          <a:p>
            <a:endParaRPr lang="en-US" sz="1600" dirty="0"/>
          </a:p>
        </p:txBody>
      </p:sp>
    </p:spTree>
    <p:extLst>
      <p:ext uri="{BB962C8B-B14F-4D97-AF65-F5344CB8AC3E}">
        <p14:creationId xmlns:p14="http://schemas.microsoft.com/office/powerpoint/2010/main" val="42269438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17</a:t>
            </a:fld>
            <a:endParaRPr lang="en-US" dirty="0"/>
          </a:p>
        </p:txBody>
      </p:sp>
      <p:sp>
        <p:nvSpPr>
          <p:cNvPr id="3" name="Title 2"/>
          <p:cNvSpPr>
            <a:spLocks noGrp="1"/>
          </p:cNvSpPr>
          <p:nvPr>
            <p:ph type="title"/>
          </p:nvPr>
        </p:nvSpPr>
        <p:spPr/>
        <p:txBody>
          <a:bodyPr/>
          <a:lstStyle/>
          <a:p>
            <a:r>
              <a:rPr lang="en-US" dirty="0" smtClean="0"/>
              <a:t>Software Project</a:t>
            </a:r>
            <a:endParaRPr lang="en-US" dirty="0"/>
          </a:p>
        </p:txBody>
      </p:sp>
      <p:sp>
        <p:nvSpPr>
          <p:cNvPr id="4" name="Text Placeholder 3"/>
          <p:cNvSpPr>
            <a:spLocks noGrp="1"/>
          </p:cNvSpPr>
          <p:nvPr>
            <p:ph type="body" sz="quarter" idx="13"/>
          </p:nvPr>
        </p:nvSpPr>
        <p:spPr>
          <a:xfrm>
            <a:off x="457201" y="1227716"/>
            <a:ext cx="8381999" cy="4495800"/>
          </a:xfrm>
        </p:spPr>
        <p:txBody>
          <a:bodyPr>
            <a:normAutofit/>
          </a:bodyPr>
          <a:lstStyle/>
          <a:p>
            <a:pPr>
              <a:buClrTx/>
              <a:buFont typeface="Arial" panose="020B0604020202020204" pitchFamily="34" charset="0"/>
              <a:buChar char="•"/>
            </a:pPr>
            <a:r>
              <a:rPr lang="en-US" sz="2400" dirty="0" smtClean="0"/>
              <a:t>A </a:t>
            </a:r>
            <a:r>
              <a:rPr lang="en-US" sz="2400" dirty="0"/>
              <a:t>Software Project is the complete procedure of software development from requirement gathering to testing and maintenance, carried out according to the execution methodologies, in a specified period of time to achieve intended software product. </a:t>
            </a:r>
          </a:p>
        </p:txBody>
      </p:sp>
      <p:pic>
        <p:nvPicPr>
          <p:cNvPr id="5" name="Picture 4"/>
          <p:cNvPicPr>
            <a:picLocks noChangeAspect="1"/>
          </p:cNvPicPr>
          <p:nvPr/>
        </p:nvPicPr>
        <p:blipFill>
          <a:blip r:embed="rId3"/>
          <a:stretch>
            <a:fillRect/>
          </a:stretch>
        </p:blipFill>
        <p:spPr>
          <a:xfrm>
            <a:off x="1066800" y="3048000"/>
            <a:ext cx="6477000" cy="3107029"/>
          </a:xfrm>
          <a:prstGeom prst="rect">
            <a:avLst/>
          </a:prstGeom>
        </p:spPr>
      </p:pic>
    </p:spTree>
    <p:extLst>
      <p:ext uri="{BB962C8B-B14F-4D97-AF65-F5344CB8AC3E}">
        <p14:creationId xmlns:p14="http://schemas.microsoft.com/office/powerpoint/2010/main" val="22708649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18</a:t>
            </a:fld>
            <a:endParaRPr lang="en-US" dirty="0"/>
          </a:p>
        </p:txBody>
      </p:sp>
      <p:sp>
        <p:nvSpPr>
          <p:cNvPr id="3" name="Title 2"/>
          <p:cNvSpPr>
            <a:spLocks noGrp="1"/>
          </p:cNvSpPr>
          <p:nvPr>
            <p:ph type="title"/>
          </p:nvPr>
        </p:nvSpPr>
        <p:spPr/>
        <p:txBody>
          <a:bodyPr/>
          <a:lstStyle/>
          <a:p>
            <a:r>
              <a:rPr lang="en-US" dirty="0" smtClean="0"/>
              <a:t>Software Project Lifecycle</a:t>
            </a:r>
            <a:endParaRPr lang="en-US" dirty="0"/>
          </a:p>
        </p:txBody>
      </p:sp>
      <p:pic>
        <p:nvPicPr>
          <p:cNvPr id="6" name="Picture 5"/>
          <p:cNvPicPr>
            <a:picLocks noChangeAspect="1"/>
          </p:cNvPicPr>
          <p:nvPr/>
        </p:nvPicPr>
        <p:blipFill>
          <a:blip r:embed="rId2"/>
          <a:stretch>
            <a:fillRect/>
          </a:stretch>
        </p:blipFill>
        <p:spPr>
          <a:xfrm>
            <a:off x="0" y="1066800"/>
            <a:ext cx="9124950" cy="4886325"/>
          </a:xfrm>
          <a:prstGeom prst="rect">
            <a:avLst/>
          </a:prstGeom>
        </p:spPr>
      </p:pic>
    </p:spTree>
    <p:extLst>
      <p:ext uri="{BB962C8B-B14F-4D97-AF65-F5344CB8AC3E}">
        <p14:creationId xmlns:p14="http://schemas.microsoft.com/office/powerpoint/2010/main" val="39966631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19</a:t>
            </a:fld>
            <a:endParaRPr lang="en-US" dirty="0"/>
          </a:p>
        </p:txBody>
      </p:sp>
      <p:sp>
        <p:nvSpPr>
          <p:cNvPr id="3" name="Title 2"/>
          <p:cNvSpPr>
            <a:spLocks noGrp="1"/>
          </p:cNvSpPr>
          <p:nvPr>
            <p:ph type="title"/>
          </p:nvPr>
        </p:nvSpPr>
        <p:spPr/>
        <p:txBody>
          <a:bodyPr/>
          <a:lstStyle/>
          <a:p>
            <a:r>
              <a:rPr lang="en-US" dirty="0"/>
              <a:t>Software Projects vs. Other Types</a:t>
            </a:r>
          </a:p>
        </p:txBody>
      </p:sp>
      <p:sp>
        <p:nvSpPr>
          <p:cNvPr id="4" name="Text Placeholder 3"/>
          <p:cNvSpPr>
            <a:spLocks noGrp="1"/>
          </p:cNvSpPr>
          <p:nvPr>
            <p:ph type="body" sz="quarter" idx="13"/>
          </p:nvPr>
        </p:nvSpPr>
        <p:spPr/>
        <p:txBody>
          <a:bodyPr>
            <a:normAutofit fontScale="92500"/>
          </a:bodyPr>
          <a:lstStyle/>
          <a:p>
            <a:pPr>
              <a:buClrTx/>
              <a:buFont typeface="Arial" panose="020B0604020202020204" pitchFamily="34" charset="0"/>
              <a:buChar char="•"/>
            </a:pPr>
            <a:r>
              <a:rPr lang="en-US" sz="2400" b="1" dirty="0"/>
              <a:t>The major difference between a software project and a construction project </a:t>
            </a:r>
            <a:r>
              <a:rPr lang="en-US" sz="2400" b="1" dirty="0">
                <a:solidFill>
                  <a:srgbClr val="FF0000"/>
                </a:solidFill>
              </a:rPr>
              <a:t>is that with a construction project the customer knows what they want</a:t>
            </a:r>
            <a:r>
              <a:rPr lang="en-US" sz="2400" b="1" dirty="0"/>
              <a:t>:</a:t>
            </a:r>
            <a:r>
              <a:rPr lang="en-US" sz="2400" dirty="0"/>
              <a:t> a house, a factory, a bridge. Or even if it something that has never been </a:t>
            </a:r>
            <a:r>
              <a:rPr lang="en-US" sz="2400" dirty="0" smtClean="0"/>
              <a:t>built </a:t>
            </a:r>
            <a:r>
              <a:rPr lang="en-US" sz="2400" dirty="0"/>
              <a:t>before like a stealth aircraft at least they know the features that they want and how to describe those features.</a:t>
            </a:r>
          </a:p>
          <a:p>
            <a:pPr>
              <a:buClrTx/>
              <a:buFont typeface="Arial" panose="020B0604020202020204" pitchFamily="34" charset="0"/>
              <a:buChar char="•"/>
            </a:pPr>
            <a:r>
              <a:rPr lang="en-US" sz="2400" b="1" dirty="0"/>
              <a:t>Software is different. The customer doesn't know exactly what they want the software to achieve, what is possible or the full set of features that they need. They need to be shown. </a:t>
            </a:r>
            <a:r>
              <a:rPr lang="en-US" sz="2400" b="1" dirty="0">
                <a:solidFill>
                  <a:srgbClr val="FF0000"/>
                </a:solidFill>
              </a:rPr>
              <a:t>It is actually seeing the software in action that crystallizes in their mind what they want it to achieve.</a:t>
            </a:r>
            <a:endParaRPr lang="en-US" sz="2400" dirty="0">
              <a:solidFill>
                <a:srgbClr val="FF0000"/>
              </a:solidFill>
            </a:endParaRPr>
          </a:p>
          <a:p>
            <a:pPr>
              <a:buClrTx/>
              <a:buFont typeface="Arial" panose="020B0604020202020204" pitchFamily="34" charset="0"/>
              <a:buChar char="•"/>
            </a:pPr>
            <a:r>
              <a:rPr lang="en-US" sz="2400" b="1" dirty="0"/>
              <a:t>It is easier for the customer to conceptualize physical products than software ones</a:t>
            </a:r>
            <a:r>
              <a:rPr lang="en-US" sz="2400" dirty="0"/>
              <a:t>. And managing projects for a hardware product requires much less ongoing iteration than software projects.</a:t>
            </a:r>
          </a:p>
          <a:p>
            <a:pPr marL="0" indent="0">
              <a:buClrTx/>
              <a:buNone/>
            </a:pPr>
            <a:endParaRPr lang="en-US" sz="2000" dirty="0"/>
          </a:p>
        </p:txBody>
      </p:sp>
    </p:spTree>
    <p:extLst>
      <p:ext uri="{BB962C8B-B14F-4D97-AF65-F5344CB8AC3E}">
        <p14:creationId xmlns:p14="http://schemas.microsoft.com/office/powerpoint/2010/main" val="14474121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20</a:t>
            </a:fld>
            <a:endParaRPr lang="en-US" dirty="0"/>
          </a:p>
        </p:txBody>
      </p:sp>
      <p:sp>
        <p:nvSpPr>
          <p:cNvPr id="3" name="Title 2"/>
          <p:cNvSpPr>
            <a:spLocks noGrp="1"/>
          </p:cNvSpPr>
          <p:nvPr>
            <p:ph type="title"/>
          </p:nvPr>
        </p:nvSpPr>
        <p:spPr/>
        <p:txBody>
          <a:bodyPr/>
          <a:lstStyle/>
          <a:p>
            <a:r>
              <a:rPr lang="en-US" dirty="0"/>
              <a:t>Software Projects vs. Other Types</a:t>
            </a:r>
          </a:p>
        </p:txBody>
      </p:sp>
      <p:sp>
        <p:nvSpPr>
          <p:cNvPr id="4" name="Text Placeholder 3"/>
          <p:cNvSpPr>
            <a:spLocks noGrp="1"/>
          </p:cNvSpPr>
          <p:nvPr>
            <p:ph type="body" sz="quarter" idx="13"/>
          </p:nvPr>
        </p:nvSpPr>
        <p:spPr/>
        <p:txBody>
          <a:bodyPr>
            <a:normAutofit/>
          </a:bodyPr>
          <a:lstStyle/>
          <a:p>
            <a:pPr>
              <a:buClrTx/>
              <a:buFont typeface="Arial" panose="020B0604020202020204" pitchFamily="34" charset="0"/>
              <a:buChar char="•"/>
            </a:pPr>
            <a:r>
              <a:rPr lang="en-US" sz="2400" dirty="0" smtClean="0"/>
              <a:t>The </a:t>
            </a:r>
            <a:r>
              <a:rPr lang="en-US" sz="2400" dirty="0"/>
              <a:t>product of software project have certain characteristics which make them </a:t>
            </a:r>
            <a:r>
              <a:rPr lang="en-US" sz="2400" dirty="0" smtClean="0"/>
              <a:t>different</a:t>
            </a:r>
          </a:p>
          <a:p>
            <a:pPr lvl="1">
              <a:buClrTx/>
              <a:buFont typeface="Arial" panose="020B0604020202020204" pitchFamily="34" charset="0"/>
              <a:buChar char="•"/>
            </a:pPr>
            <a:r>
              <a:rPr lang="en-US" sz="2000" b="1" dirty="0" smtClean="0">
                <a:solidFill>
                  <a:schemeClr val="bg2">
                    <a:lumMod val="50000"/>
                  </a:schemeClr>
                </a:solidFill>
              </a:rPr>
              <a:t>Invisibility</a:t>
            </a:r>
            <a:r>
              <a:rPr lang="en-US" sz="2000" dirty="0"/>
              <a:t>: When a physical artifact such a bridge or road is being constructed the progress being made can actually be seen. With software, progress is not immediately </a:t>
            </a:r>
            <a:r>
              <a:rPr lang="en-US" sz="2000" dirty="0" smtClean="0"/>
              <a:t>visible.</a:t>
            </a:r>
          </a:p>
          <a:p>
            <a:pPr lvl="1">
              <a:buClrTx/>
              <a:buFont typeface="Arial" panose="020B0604020202020204" pitchFamily="34" charset="0"/>
              <a:buChar char="•"/>
            </a:pPr>
            <a:r>
              <a:rPr lang="en-US" sz="2000" b="1" dirty="0" smtClean="0">
                <a:solidFill>
                  <a:schemeClr val="bg2">
                    <a:lumMod val="50000"/>
                  </a:schemeClr>
                </a:solidFill>
              </a:rPr>
              <a:t>Complexity</a:t>
            </a:r>
            <a:r>
              <a:rPr lang="en-US" sz="2000" dirty="0"/>
              <a:t>: Per dollar, pound or euro spent, software products contain more complexity than other engineered </a:t>
            </a:r>
            <a:r>
              <a:rPr lang="en-US" sz="2000" dirty="0" smtClean="0"/>
              <a:t>artifacts.</a:t>
            </a:r>
          </a:p>
          <a:p>
            <a:pPr lvl="1">
              <a:buClrTx/>
              <a:buFont typeface="Arial" panose="020B0604020202020204" pitchFamily="34" charset="0"/>
              <a:buChar char="•"/>
            </a:pPr>
            <a:r>
              <a:rPr lang="en-US" sz="2000" b="1" dirty="0" smtClean="0">
                <a:solidFill>
                  <a:schemeClr val="bg2">
                    <a:lumMod val="50000"/>
                  </a:schemeClr>
                </a:solidFill>
              </a:rPr>
              <a:t>Conformity</a:t>
            </a:r>
            <a:r>
              <a:rPr lang="en-US" sz="2000" dirty="0"/>
              <a:t>: The traditional engineer is usually working with physical systems and physical </a:t>
            </a:r>
            <a:r>
              <a:rPr lang="en-US" sz="2000" dirty="0" smtClean="0"/>
              <a:t>materials like </a:t>
            </a:r>
            <a:r>
              <a:rPr lang="en-US" sz="2000" dirty="0"/>
              <a:t>cement and steel. These systems </a:t>
            </a:r>
            <a:r>
              <a:rPr lang="en-US" sz="2000" dirty="0" smtClean="0"/>
              <a:t>can </a:t>
            </a:r>
            <a:r>
              <a:rPr lang="en-US" sz="2000" dirty="0"/>
              <a:t>have some complexity </a:t>
            </a:r>
            <a:r>
              <a:rPr lang="en-US" sz="2000" dirty="0" smtClean="0"/>
              <a:t>but </a:t>
            </a:r>
            <a:r>
              <a:rPr lang="en-US" sz="2000" dirty="0"/>
              <a:t>are governed by physical laws that are consistent. Software developers have to confirm to the requirements of human clients that certainly keeps on </a:t>
            </a:r>
            <a:r>
              <a:rPr lang="en-US" sz="2000" dirty="0" smtClean="0"/>
              <a:t>fluctuating.</a:t>
            </a:r>
          </a:p>
          <a:p>
            <a:pPr lvl="1">
              <a:buClrTx/>
              <a:buFont typeface="Arial" panose="020B0604020202020204" pitchFamily="34" charset="0"/>
              <a:buChar char="•"/>
            </a:pPr>
            <a:r>
              <a:rPr lang="en-US" sz="2000" b="1" dirty="0" smtClean="0">
                <a:solidFill>
                  <a:schemeClr val="bg2">
                    <a:lumMod val="50000"/>
                  </a:schemeClr>
                </a:solidFill>
              </a:rPr>
              <a:t>Flexibility</a:t>
            </a:r>
            <a:r>
              <a:rPr lang="en-US" sz="2000" dirty="0"/>
              <a:t>: The ease with which software can be changed is usually seen as one of its strengths. Software systems are subject to a high degree of change.</a:t>
            </a:r>
          </a:p>
        </p:txBody>
      </p:sp>
    </p:spTree>
    <p:extLst>
      <p:ext uri="{BB962C8B-B14F-4D97-AF65-F5344CB8AC3E}">
        <p14:creationId xmlns:p14="http://schemas.microsoft.com/office/powerpoint/2010/main" val="20896492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21</a:t>
            </a:fld>
            <a:endParaRPr lang="en-US" dirty="0"/>
          </a:p>
        </p:txBody>
      </p:sp>
      <p:sp>
        <p:nvSpPr>
          <p:cNvPr id="2" name="Title 1"/>
          <p:cNvSpPr>
            <a:spLocks noGrp="1"/>
          </p:cNvSpPr>
          <p:nvPr>
            <p:ph type="title"/>
          </p:nvPr>
        </p:nvSpPr>
        <p:spPr>
          <a:xfrm>
            <a:off x="381990" y="229342"/>
            <a:ext cx="8458200" cy="1084262"/>
          </a:xfrm>
        </p:spPr>
        <p:txBody>
          <a:bodyPr>
            <a:normAutofit/>
          </a:bodyPr>
          <a:lstStyle/>
          <a:p>
            <a:r>
              <a:rPr lang="en-US" dirty="0"/>
              <a:t>Examples of projects </a:t>
            </a:r>
            <a:r>
              <a:rPr lang="en-US" sz="1800" dirty="0"/>
              <a:t>include but are not limited to</a:t>
            </a:r>
            <a:r>
              <a:rPr lang="en-US" sz="1800" dirty="0" smtClean="0"/>
              <a:t>:</a:t>
            </a:r>
            <a:endParaRPr lang="en-US" dirty="0"/>
          </a:p>
        </p:txBody>
      </p:sp>
      <p:sp>
        <p:nvSpPr>
          <p:cNvPr id="3" name="Content Placeholder 2"/>
          <p:cNvSpPr>
            <a:spLocks noGrp="1"/>
          </p:cNvSpPr>
          <p:nvPr>
            <p:ph type="body" sz="quarter" idx="13"/>
          </p:nvPr>
        </p:nvSpPr>
        <p:spPr>
          <a:xfrm>
            <a:off x="457200" y="1524000"/>
            <a:ext cx="8382000" cy="4724400"/>
          </a:xfrm>
        </p:spPr>
        <p:txBody>
          <a:bodyPr>
            <a:noAutofit/>
          </a:bodyPr>
          <a:lstStyle/>
          <a:p>
            <a:pPr>
              <a:buClrTx/>
              <a:buFont typeface="Arial" panose="020B0604020202020204" pitchFamily="34" charset="0"/>
              <a:buChar char="•"/>
            </a:pPr>
            <a:r>
              <a:rPr lang="en-US" sz="2400" dirty="0"/>
              <a:t>Constructing a building.</a:t>
            </a:r>
          </a:p>
          <a:p>
            <a:pPr>
              <a:buClrTx/>
              <a:buFont typeface="Arial" panose="020B0604020202020204" pitchFamily="34" charset="0"/>
              <a:buChar char="•"/>
            </a:pPr>
            <a:r>
              <a:rPr lang="en-US" sz="2400" dirty="0"/>
              <a:t>Developing a new pharmaceutical compound for market,</a:t>
            </a:r>
          </a:p>
          <a:p>
            <a:pPr>
              <a:buClrTx/>
              <a:buFont typeface="Arial" panose="020B0604020202020204" pitchFamily="34" charset="0"/>
              <a:buChar char="•"/>
            </a:pPr>
            <a:r>
              <a:rPr lang="en-US" sz="2400" dirty="0"/>
              <a:t>Expanding a tour guide service,</a:t>
            </a:r>
          </a:p>
          <a:p>
            <a:pPr>
              <a:buClrTx/>
              <a:buFont typeface="Arial" panose="020B0604020202020204" pitchFamily="34" charset="0"/>
              <a:buChar char="•"/>
            </a:pPr>
            <a:r>
              <a:rPr lang="en-US" sz="2400" dirty="0"/>
              <a:t>Merging two organizations,</a:t>
            </a:r>
          </a:p>
          <a:p>
            <a:pPr>
              <a:buClrTx/>
              <a:buFont typeface="Arial" panose="020B0604020202020204" pitchFamily="34" charset="0"/>
              <a:buChar char="•"/>
            </a:pPr>
            <a:r>
              <a:rPr lang="en-US" sz="2400" dirty="0"/>
              <a:t>Improving a business process within an organization,</a:t>
            </a:r>
          </a:p>
          <a:p>
            <a:pPr>
              <a:buClrTx/>
              <a:buFont typeface="Arial" panose="020B0604020202020204" pitchFamily="34" charset="0"/>
              <a:buChar char="•"/>
            </a:pPr>
            <a:r>
              <a:rPr lang="en-US" sz="2400" dirty="0"/>
              <a:t>Acquiring and installing a new computer hardware system for use in an organization,</a:t>
            </a:r>
          </a:p>
          <a:p>
            <a:pPr>
              <a:buClrTx/>
              <a:buFont typeface="Arial" panose="020B0604020202020204" pitchFamily="34" charset="0"/>
              <a:buChar char="•"/>
            </a:pPr>
            <a:r>
              <a:rPr lang="en-US" sz="2400" dirty="0"/>
              <a:t>Exploring for oil in a region,</a:t>
            </a:r>
          </a:p>
          <a:p>
            <a:pPr>
              <a:buClrTx/>
              <a:buFont typeface="Arial" panose="020B0604020202020204" pitchFamily="34" charset="0"/>
              <a:buChar char="•"/>
            </a:pPr>
            <a:r>
              <a:rPr lang="en-US" sz="2400" dirty="0"/>
              <a:t>Modifying a computer software program used in an organization,</a:t>
            </a:r>
          </a:p>
          <a:p>
            <a:pPr>
              <a:buClrTx/>
              <a:buFont typeface="Arial" panose="020B0604020202020204" pitchFamily="34" charset="0"/>
              <a:buChar char="•"/>
            </a:pPr>
            <a:r>
              <a:rPr lang="en-US" sz="2400" dirty="0"/>
              <a:t>Conducting research to develop a new manufacturing process</a:t>
            </a:r>
          </a:p>
        </p:txBody>
      </p:sp>
    </p:spTree>
    <p:extLst>
      <p:ext uri="{BB962C8B-B14F-4D97-AF65-F5344CB8AC3E}">
        <p14:creationId xmlns:p14="http://schemas.microsoft.com/office/powerpoint/2010/main" val="30047490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22</a:t>
            </a:fld>
            <a:endParaRPr lang="en-US" dirty="0"/>
          </a:p>
        </p:txBody>
      </p:sp>
      <p:sp>
        <p:nvSpPr>
          <p:cNvPr id="2" name="Title 1"/>
          <p:cNvSpPr>
            <a:spLocks noGrp="1"/>
          </p:cNvSpPr>
          <p:nvPr>
            <p:ph type="title"/>
          </p:nvPr>
        </p:nvSpPr>
        <p:spPr>
          <a:xfrm>
            <a:off x="533400" y="304800"/>
            <a:ext cx="7543800" cy="1169864"/>
          </a:xfrm>
        </p:spPr>
        <p:txBody>
          <a:bodyPr/>
          <a:lstStyle/>
          <a:p>
            <a:r>
              <a:rPr lang="en-US" dirty="0" smtClean="0"/>
              <a:t>Examples of Software Projects</a:t>
            </a:r>
            <a:endParaRPr lang="en-US" dirty="0"/>
          </a:p>
        </p:txBody>
      </p:sp>
      <p:sp>
        <p:nvSpPr>
          <p:cNvPr id="3" name="Content Placeholder 2"/>
          <p:cNvSpPr>
            <a:spLocks noGrp="1"/>
          </p:cNvSpPr>
          <p:nvPr>
            <p:ph type="body" sz="quarter" idx="13"/>
          </p:nvPr>
        </p:nvSpPr>
        <p:spPr>
          <a:xfrm>
            <a:off x="685800" y="1752600"/>
            <a:ext cx="7543800" cy="4022725"/>
          </a:xfrm>
        </p:spPr>
        <p:txBody>
          <a:bodyPr/>
          <a:lstStyle/>
          <a:p>
            <a:pPr>
              <a:buClrTx/>
              <a:buFont typeface="Arial" panose="020B0604020202020204" pitchFamily="34" charset="0"/>
              <a:buChar char="•"/>
            </a:pPr>
            <a:r>
              <a:rPr lang="en-US" dirty="0" smtClean="0"/>
              <a:t>A </a:t>
            </a:r>
            <a:r>
              <a:rPr lang="en-US" dirty="0"/>
              <a:t>small software development team adds a new feature to an internal </a:t>
            </a:r>
            <a:r>
              <a:rPr lang="en-US" dirty="0" smtClean="0"/>
              <a:t>software application </a:t>
            </a:r>
            <a:r>
              <a:rPr lang="en-US" dirty="0"/>
              <a:t>for the finance </a:t>
            </a:r>
            <a:r>
              <a:rPr lang="en-US" dirty="0" smtClean="0"/>
              <a:t>department</a:t>
            </a:r>
          </a:p>
          <a:p>
            <a:pPr>
              <a:buClrTx/>
              <a:buFont typeface="Arial" panose="020B0604020202020204" pitchFamily="34" charset="0"/>
              <a:buChar char="•"/>
            </a:pPr>
            <a:r>
              <a:rPr lang="en-US" dirty="0"/>
              <a:t>A company develops a new system to increase sales force productivity and </a:t>
            </a:r>
            <a:r>
              <a:rPr lang="en-US" dirty="0" smtClean="0"/>
              <a:t>customer relationship management</a:t>
            </a:r>
          </a:p>
          <a:p>
            <a:pPr>
              <a:buClrTx/>
              <a:buFont typeface="Arial" panose="020B0604020202020204" pitchFamily="34" charset="0"/>
              <a:buChar char="•"/>
            </a:pPr>
            <a:r>
              <a:rPr lang="en-US" dirty="0"/>
              <a:t>A government group develops a system to track </a:t>
            </a:r>
            <a:r>
              <a:rPr lang="en-US" dirty="0" err="1"/>
              <a:t>C</a:t>
            </a:r>
            <a:r>
              <a:rPr lang="en-US" dirty="0" err="1" smtClean="0"/>
              <a:t>ovid</a:t>
            </a:r>
            <a:r>
              <a:rPr lang="en-US" dirty="0" smtClean="0"/>
              <a:t> immunizations</a:t>
            </a:r>
          </a:p>
          <a:p>
            <a:pPr>
              <a:buClrTx/>
              <a:buFont typeface="Arial" panose="020B0604020202020204" pitchFamily="34" charset="0"/>
              <a:buChar char="•"/>
            </a:pPr>
            <a:r>
              <a:rPr lang="en-US" dirty="0" smtClean="0"/>
              <a:t>Social Media</a:t>
            </a:r>
          </a:p>
          <a:p>
            <a:pPr>
              <a:buClrTx/>
              <a:buFont typeface="Arial" panose="020B0604020202020204" pitchFamily="34" charset="0"/>
              <a:buChar char="•"/>
            </a:pPr>
            <a:r>
              <a:rPr lang="en-US" dirty="0" smtClean="0"/>
              <a:t>e-Commerce</a:t>
            </a:r>
          </a:p>
          <a:p>
            <a:pPr>
              <a:buClrTx/>
              <a:buFont typeface="Arial" panose="020B0604020202020204" pitchFamily="34" charset="0"/>
              <a:buChar char="•"/>
            </a:pPr>
            <a:endParaRPr lang="en-US" dirty="0"/>
          </a:p>
        </p:txBody>
      </p:sp>
    </p:spTree>
    <p:extLst>
      <p:ext uri="{BB962C8B-B14F-4D97-AF65-F5344CB8AC3E}">
        <p14:creationId xmlns:p14="http://schemas.microsoft.com/office/powerpoint/2010/main" val="25687932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23</a:t>
            </a:fld>
            <a:endParaRPr lang="en-US" dirty="0"/>
          </a:p>
        </p:txBody>
      </p:sp>
      <p:sp>
        <p:nvSpPr>
          <p:cNvPr id="2" name="Title 1"/>
          <p:cNvSpPr>
            <a:spLocks noGrp="1"/>
          </p:cNvSpPr>
          <p:nvPr>
            <p:ph type="title"/>
          </p:nvPr>
        </p:nvSpPr>
        <p:spPr>
          <a:xfrm>
            <a:off x="342900" y="335568"/>
            <a:ext cx="8229600" cy="715962"/>
          </a:xfrm>
        </p:spPr>
        <p:txBody>
          <a:bodyPr>
            <a:noAutofit/>
          </a:bodyPr>
          <a:lstStyle/>
          <a:p>
            <a:r>
              <a:rPr lang="en-US" sz="3600" b="1" dirty="0"/>
              <a:t>Project Initiation </a:t>
            </a:r>
            <a:r>
              <a:rPr lang="en-US" sz="3600" b="1" dirty="0" smtClean="0"/>
              <a:t>Context- </a:t>
            </a:r>
            <a:r>
              <a:rPr lang="en-US" sz="3600" b="1" dirty="0" smtClean="0">
                <a:solidFill>
                  <a:srgbClr val="FF0000"/>
                </a:solidFill>
              </a:rPr>
              <a:t>what factors make the organization/someone start a project</a:t>
            </a:r>
            <a:endParaRPr lang="en-US" sz="3600" dirty="0">
              <a:solidFill>
                <a:srgbClr val="FF0000"/>
              </a:solidFill>
            </a:endParaRPr>
          </a:p>
        </p:txBody>
      </p:sp>
      <p:sp>
        <p:nvSpPr>
          <p:cNvPr id="3" name="Content Placeholder 2"/>
          <p:cNvSpPr>
            <a:spLocks noGrp="1"/>
          </p:cNvSpPr>
          <p:nvPr>
            <p:ph type="body" sz="quarter" idx="13"/>
          </p:nvPr>
        </p:nvSpPr>
        <p:spPr>
          <a:xfrm>
            <a:off x="342900" y="1337950"/>
            <a:ext cx="8229600" cy="4830763"/>
          </a:xfrm>
        </p:spPr>
        <p:txBody>
          <a:bodyPr>
            <a:normAutofit/>
          </a:bodyPr>
          <a:lstStyle/>
          <a:p>
            <a:pPr>
              <a:buClrTx/>
              <a:buFont typeface="Arial" panose="020B0604020202020204" pitchFamily="34" charset="0"/>
              <a:buChar char="•"/>
            </a:pPr>
            <a:r>
              <a:rPr lang="en-US" sz="2000" dirty="0"/>
              <a:t>Organizational leaders initiate projects in response to factors acting upon their organizations. </a:t>
            </a:r>
            <a:endParaRPr lang="en-US" sz="2000" dirty="0" smtClean="0"/>
          </a:p>
          <a:p>
            <a:pPr>
              <a:buClrTx/>
              <a:buFont typeface="Arial" panose="020B0604020202020204" pitchFamily="34" charset="0"/>
              <a:buChar char="•"/>
            </a:pPr>
            <a:r>
              <a:rPr lang="en-US" sz="2000" b="1" dirty="0" smtClean="0"/>
              <a:t>four </a:t>
            </a:r>
            <a:r>
              <a:rPr lang="en-US" sz="2000" b="1" dirty="0"/>
              <a:t>fundamental categories for these factors, which illustrate the context of a </a:t>
            </a:r>
            <a:r>
              <a:rPr lang="en-US" sz="2000" b="1" dirty="0" smtClean="0"/>
              <a:t>project initiation</a:t>
            </a:r>
            <a:endParaRPr lang="en-US" sz="2000" b="1"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875" y="2725452"/>
            <a:ext cx="7543800" cy="3588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91403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84582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E5CE4F79-B2B3-4E4E-AB5D-F771515B9CEF}" type="slidenum">
              <a:rPr lang="en-US" smtClean="0"/>
              <a:t>24</a:t>
            </a:fld>
            <a:endParaRPr lang="en-US" dirty="0"/>
          </a:p>
        </p:txBody>
      </p:sp>
    </p:spTree>
    <p:extLst>
      <p:ext uri="{BB962C8B-B14F-4D97-AF65-F5344CB8AC3E}">
        <p14:creationId xmlns:p14="http://schemas.microsoft.com/office/powerpoint/2010/main" val="37651863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25</a:t>
            </a:fld>
            <a:endParaRPr lang="en-US" dirty="0"/>
          </a:p>
        </p:txBody>
      </p:sp>
      <p:sp>
        <p:nvSpPr>
          <p:cNvPr id="3" name="Title 2"/>
          <p:cNvSpPr>
            <a:spLocks noGrp="1"/>
          </p:cNvSpPr>
          <p:nvPr>
            <p:ph type="title"/>
          </p:nvPr>
        </p:nvSpPr>
        <p:spPr/>
        <p:txBody>
          <a:bodyPr/>
          <a:lstStyle/>
          <a:p>
            <a:r>
              <a:rPr lang="en-US" dirty="0" smtClean="0"/>
              <a:t>What is Management</a:t>
            </a:r>
            <a:endParaRPr lang="en-US" dirty="0"/>
          </a:p>
        </p:txBody>
      </p:sp>
      <p:sp>
        <p:nvSpPr>
          <p:cNvPr id="4" name="Text Placeholder 3"/>
          <p:cNvSpPr>
            <a:spLocks noGrp="1"/>
          </p:cNvSpPr>
          <p:nvPr>
            <p:ph type="body" sz="quarter" idx="13"/>
          </p:nvPr>
        </p:nvSpPr>
        <p:spPr>
          <a:xfrm>
            <a:off x="457201" y="1371600"/>
            <a:ext cx="8381999" cy="4572000"/>
          </a:xfrm>
        </p:spPr>
        <p:txBody>
          <a:bodyPr/>
          <a:lstStyle/>
          <a:p>
            <a:r>
              <a:rPr lang="en-US" sz="2800" dirty="0"/>
              <a:t>It has been suggested that management involves the following activities: </a:t>
            </a:r>
            <a:endParaRPr lang="en-US" sz="2800" dirty="0" smtClean="0"/>
          </a:p>
          <a:p>
            <a:pPr lvl="1">
              <a:buClrTx/>
              <a:buFont typeface="Arial" panose="020B0604020202020204" pitchFamily="34" charset="0"/>
              <a:buChar char="•"/>
            </a:pPr>
            <a:r>
              <a:rPr lang="en-US" sz="2400" dirty="0" smtClean="0"/>
              <a:t>Planning </a:t>
            </a:r>
            <a:r>
              <a:rPr lang="en-US" sz="2400" dirty="0"/>
              <a:t>– Deciding what is to be done </a:t>
            </a:r>
            <a:endParaRPr lang="en-US" sz="2400" dirty="0" smtClean="0"/>
          </a:p>
          <a:p>
            <a:pPr lvl="1">
              <a:buClrTx/>
              <a:buFont typeface="Arial" panose="020B0604020202020204" pitchFamily="34" charset="0"/>
              <a:buChar char="•"/>
            </a:pPr>
            <a:r>
              <a:rPr lang="en-US" sz="2400" dirty="0" smtClean="0"/>
              <a:t>Organization </a:t>
            </a:r>
            <a:r>
              <a:rPr lang="en-US" sz="2400" dirty="0"/>
              <a:t>– making </a:t>
            </a:r>
            <a:r>
              <a:rPr lang="en-US" sz="2400" dirty="0" smtClean="0"/>
              <a:t>arrangements</a:t>
            </a:r>
          </a:p>
          <a:p>
            <a:pPr lvl="1">
              <a:buClrTx/>
              <a:buFont typeface="Arial" panose="020B0604020202020204" pitchFamily="34" charset="0"/>
              <a:buChar char="•"/>
            </a:pPr>
            <a:r>
              <a:rPr lang="en-US" sz="2400" dirty="0" smtClean="0"/>
              <a:t>Staffing </a:t>
            </a:r>
            <a:r>
              <a:rPr lang="en-US" sz="2400" dirty="0"/>
              <a:t>– selecting the right people for the job </a:t>
            </a:r>
            <a:endParaRPr lang="en-US" sz="2400" dirty="0" smtClean="0"/>
          </a:p>
          <a:p>
            <a:pPr lvl="1">
              <a:buClrTx/>
              <a:buFont typeface="Arial" panose="020B0604020202020204" pitchFamily="34" charset="0"/>
              <a:buChar char="•"/>
            </a:pPr>
            <a:r>
              <a:rPr lang="en-US" sz="2400" dirty="0" smtClean="0"/>
              <a:t>Directing </a:t>
            </a:r>
            <a:r>
              <a:rPr lang="en-US" sz="2400" dirty="0"/>
              <a:t>– giving </a:t>
            </a:r>
            <a:r>
              <a:rPr lang="en-US" sz="2400" dirty="0" smtClean="0"/>
              <a:t>instructions</a:t>
            </a:r>
          </a:p>
          <a:p>
            <a:pPr lvl="1">
              <a:buClrTx/>
              <a:buFont typeface="Arial" panose="020B0604020202020204" pitchFamily="34" charset="0"/>
              <a:buChar char="•"/>
            </a:pPr>
            <a:r>
              <a:rPr lang="en-US" sz="2400" dirty="0"/>
              <a:t>Monitoring</a:t>
            </a:r>
            <a:r>
              <a:rPr lang="en-US" sz="2400" dirty="0" smtClean="0"/>
              <a:t> </a:t>
            </a:r>
            <a:r>
              <a:rPr lang="en-US" sz="2400" dirty="0"/>
              <a:t>– checking on progress </a:t>
            </a:r>
            <a:endParaRPr lang="en-US" sz="2400" dirty="0" smtClean="0"/>
          </a:p>
          <a:p>
            <a:pPr lvl="1">
              <a:buClrTx/>
              <a:buFont typeface="Arial" panose="020B0604020202020204" pitchFamily="34" charset="0"/>
              <a:buChar char="•"/>
            </a:pPr>
            <a:r>
              <a:rPr lang="en-US" sz="2400" dirty="0" smtClean="0"/>
              <a:t>Controlling </a:t>
            </a:r>
            <a:r>
              <a:rPr lang="en-US" sz="2400" dirty="0"/>
              <a:t>– taking action to remedy hold-ups </a:t>
            </a:r>
            <a:endParaRPr lang="en-US" sz="2400" dirty="0" smtClean="0"/>
          </a:p>
          <a:p>
            <a:pPr lvl="1">
              <a:buClrTx/>
              <a:buFont typeface="Arial" panose="020B0604020202020204" pitchFamily="34" charset="0"/>
              <a:buChar char="•"/>
            </a:pPr>
            <a:r>
              <a:rPr lang="en-US" sz="2400" dirty="0" smtClean="0"/>
              <a:t>Innovating </a:t>
            </a:r>
            <a:r>
              <a:rPr lang="en-US" sz="2400" dirty="0"/>
              <a:t>– coming up with new solutions </a:t>
            </a:r>
            <a:endParaRPr lang="en-US" sz="2400" dirty="0" smtClean="0"/>
          </a:p>
          <a:p>
            <a:pPr lvl="1">
              <a:buClrTx/>
              <a:buFont typeface="Arial" panose="020B0604020202020204" pitchFamily="34" charset="0"/>
              <a:buChar char="•"/>
            </a:pPr>
            <a:r>
              <a:rPr lang="en-US" sz="2400" dirty="0" smtClean="0"/>
              <a:t>Representing </a:t>
            </a:r>
            <a:r>
              <a:rPr lang="en-US" sz="2400" dirty="0"/>
              <a:t>– liaising with clients, users, developer, suppliers and other stakeholders</a:t>
            </a:r>
          </a:p>
        </p:txBody>
      </p:sp>
    </p:spTree>
    <p:extLst>
      <p:ext uri="{BB962C8B-B14F-4D97-AF65-F5344CB8AC3E}">
        <p14:creationId xmlns:p14="http://schemas.microsoft.com/office/powerpoint/2010/main" val="3746701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Control</a:t>
            </a:r>
            <a:endParaRPr lang="en-US" dirty="0"/>
          </a:p>
        </p:txBody>
      </p:sp>
      <p:sp>
        <p:nvSpPr>
          <p:cNvPr id="3" name="Text Placeholder 2"/>
          <p:cNvSpPr>
            <a:spLocks noGrp="1"/>
          </p:cNvSpPr>
          <p:nvPr>
            <p:ph type="body" sz="quarter" idx="13"/>
          </p:nvPr>
        </p:nvSpPr>
        <p:spPr/>
        <p:txBody>
          <a:bodyPr>
            <a:normAutofit/>
          </a:bodyPr>
          <a:lstStyle/>
          <a:p>
            <a:pPr>
              <a:buClrTx/>
              <a:buFont typeface="Arial" panose="020B0604020202020204" pitchFamily="34" charset="0"/>
              <a:buChar char="•"/>
            </a:pPr>
            <a:r>
              <a:rPr lang="en-US" sz="2800" dirty="0"/>
              <a:t>Management, in general, involves setting objectives for a system and then monitoring the performance of the system</a:t>
            </a:r>
            <a:r>
              <a:rPr lang="en-US" sz="2800" dirty="0" smtClean="0"/>
              <a:t>.</a:t>
            </a:r>
          </a:p>
          <a:p>
            <a:pPr lvl="1">
              <a:buClrTx/>
              <a:buFont typeface="Arial" panose="020B0604020202020204" pitchFamily="34" charset="0"/>
              <a:buChar char="•"/>
            </a:pPr>
            <a:r>
              <a:rPr lang="en-US" sz="2400" dirty="0"/>
              <a:t>This will involve the local managers in data collection. </a:t>
            </a:r>
          </a:p>
          <a:p>
            <a:pPr lvl="1">
              <a:buClrTx/>
              <a:buFont typeface="Arial" panose="020B0604020202020204" pitchFamily="34" charset="0"/>
              <a:buChar char="•"/>
            </a:pPr>
            <a:r>
              <a:rPr lang="en-US" sz="2400" dirty="0" smtClean="0"/>
              <a:t>data </a:t>
            </a:r>
            <a:r>
              <a:rPr lang="en-US" sz="2400" dirty="0"/>
              <a:t>processing will be needed to transform this raw data into useful information</a:t>
            </a:r>
          </a:p>
        </p:txBody>
      </p:sp>
    </p:spTree>
    <p:extLst>
      <p:ext uri="{BB962C8B-B14F-4D97-AF65-F5344CB8AC3E}">
        <p14:creationId xmlns:p14="http://schemas.microsoft.com/office/powerpoint/2010/main" val="3478550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27</a:t>
            </a:fld>
            <a:endParaRPr lang="en-US" dirty="0"/>
          </a:p>
        </p:txBody>
      </p:sp>
      <p:sp>
        <p:nvSpPr>
          <p:cNvPr id="3" name="Title 2"/>
          <p:cNvSpPr>
            <a:spLocks noGrp="1"/>
          </p:cNvSpPr>
          <p:nvPr>
            <p:ph type="title"/>
          </p:nvPr>
        </p:nvSpPr>
        <p:spPr/>
        <p:txBody>
          <a:bodyPr/>
          <a:lstStyle/>
          <a:p>
            <a:r>
              <a:rPr lang="en-US" dirty="0" smtClean="0"/>
              <a:t>Management Control</a:t>
            </a:r>
            <a:endParaRPr lang="en-US" dirty="0"/>
          </a:p>
        </p:txBody>
      </p:sp>
      <p:pic>
        <p:nvPicPr>
          <p:cNvPr id="5" name="Picture 4"/>
          <p:cNvPicPr>
            <a:picLocks noChangeAspect="1"/>
          </p:cNvPicPr>
          <p:nvPr/>
        </p:nvPicPr>
        <p:blipFill>
          <a:blip r:embed="rId2"/>
          <a:stretch>
            <a:fillRect/>
          </a:stretch>
        </p:blipFill>
        <p:spPr>
          <a:xfrm>
            <a:off x="457202" y="942340"/>
            <a:ext cx="8182604" cy="4772660"/>
          </a:xfrm>
          <a:prstGeom prst="rect">
            <a:avLst/>
          </a:prstGeom>
        </p:spPr>
      </p:pic>
      <p:sp>
        <p:nvSpPr>
          <p:cNvPr id="6" name="TextBox 5"/>
          <p:cNvSpPr txBox="1"/>
          <p:nvPr/>
        </p:nvSpPr>
        <p:spPr>
          <a:xfrm>
            <a:off x="3388721" y="5718061"/>
            <a:ext cx="2518959" cy="369332"/>
          </a:xfrm>
          <a:prstGeom prst="rect">
            <a:avLst/>
          </a:prstGeom>
          <a:noFill/>
        </p:spPr>
        <p:txBody>
          <a:bodyPr wrap="none" rtlCol="0">
            <a:spAutoFit/>
          </a:bodyPr>
          <a:lstStyle/>
          <a:p>
            <a:r>
              <a:rPr lang="en-US" dirty="0"/>
              <a:t>Fig: Project Control Cycle</a:t>
            </a:r>
          </a:p>
        </p:txBody>
      </p:sp>
    </p:spTree>
    <p:extLst>
      <p:ext uri="{BB962C8B-B14F-4D97-AF65-F5344CB8AC3E}">
        <p14:creationId xmlns:p14="http://schemas.microsoft.com/office/powerpoint/2010/main" val="2288120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28</a:t>
            </a:fld>
            <a:endParaRPr lang="en-US" dirty="0"/>
          </a:p>
        </p:txBody>
      </p:sp>
      <p:sp>
        <p:nvSpPr>
          <p:cNvPr id="2" name="Title 1"/>
          <p:cNvSpPr>
            <a:spLocks noGrp="1"/>
          </p:cNvSpPr>
          <p:nvPr>
            <p:ph type="title"/>
          </p:nvPr>
        </p:nvSpPr>
        <p:spPr>
          <a:xfrm>
            <a:off x="362841" y="354548"/>
            <a:ext cx="8323959" cy="1105993"/>
          </a:xfrm>
        </p:spPr>
        <p:txBody>
          <a:bodyPr>
            <a:noAutofit/>
          </a:bodyPr>
          <a:lstStyle/>
          <a:p>
            <a:r>
              <a:rPr lang="en-US" dirty="0" smtClean="0"/>
              <a:t>Project Management</a:t>
            </a:r>
            <a:endParaRPr lang="en-US" dirty="0"/>
          </a:p>
        </p:txBody>
      </p:sp>
      <p:sp>
        <p:nvSpPr>
          <p:cNvPr id="3" name="Content Placeholder 2"/>
          <p:cNvSpPr>
            <a:spLocks noGrp="1"/>
          </p:cNvSpPr>
          <p:nvPr>
            <p:ph type="body" sz="quarter" idx="13"/>
          </p:nvPr>
        </p:nvSpPr>
        <p:spPr>
          <a:xfrm>
            <a:off x="457199" y="1828800"/>
            <a:ext cx="7982841" cy="4297363"/>
          </a:xfrm>
        </p:spPr>
        <p:txBody>
          <a:bodyPr>
            <a:normAutofit/>
          </a:bodyPr>
          <a:lstStyle/>
          <a:p>
            <a:pPr>
              <a:buClrTx/>
              <a:buFont typeface="Arial" panose="020B0604020202020204" pitchFamily="34" charset="0"/>
              <a:buChar char="•"/>
            </a:pPr>
            <a:r>
              <a:rPr lang="en-US" b="1" dirty="0" smtClean="0"/>
              <a:t>Project </a:t>
            </a:r>
            <a:r>
              <a:rPr lang="en-US" b="1" dirty="0"/>
              <a:t>management is </a:t>
            </a:r>
            <a:r>
              <a:rPr lang="en-US" b="1" u="sng" dirty="0">
                <a:solidFill>
                  <a:srgbClr val="0070C0"/>
                </a:solidFill>
              </a:rPr>
              <a:t>the application of knowledge, skills, tools, and techniques to project activities</a:t>
            </a:r>
            <a:r>
              <a:rPr lang="en-US" b="1" dirty="0">
                <a:solidFill>
                  <a:srgbClr val="0070C0"/>
                </a:solidFill>
              </a:rPr>
              <a:t> </a:t>
            </a:r>
            <a:r>
              <a:rPr lang="en-US" sz="3600" b="1" dirty="0" smtClean="0">
                <a:solidFill>
                  <a:srgbClr val="00B050"/>
                </a:solidFill>
                <a:sym typeface="Wingdings" pitchFamily="2" charset="2"/>
              </a:rPr>
              <a:t>  </a:t>
            </a:r>
            <a:r>
              <a:rPr lang="en-US" sz="3600" b="1" dirty="0" smtClean="0">
                <a:solidFill>
                  <a:srgbClr val="00B050"/>
                </a:solidFill>
              </a:rPr>
              <a:t>to </a:t>
            </a:r>
            <a:r>
              <a:rPr lang="en-US" sz="3600" b="1" dirty="0">
                <a:solidFill>
                  <a:srgbClr val="00B050"/>
                </a:solidFill>
              </a:rPr>
              <a:t>meet </a:t>
            </a:r>
            <a:r>
              <a:rPr lang="en-US" sz="3600" b="1" dirty="0" smtClean="0">
                <a:solidFill>
                  <a:srgbClr val="00B050"/>
                </a:solidFill>
              </a:rPr>
              <a:t>the project requirements</a:t>
            </a:r>
            <a:r>
              <a:rPr lang="en-US" sz="3600" dirty="0" smtClean="0"/>
              <a:t>.</a:t>
            </a:r>
            <a:endParaRPr lang="en-US" dirty="0" smtClean="0"/>
          </a:p>
          <a:p>
            <a:pPr>
              <a:buClrTx/>
              <a:buFont typeface="Arial" panose="020B0604020202020204" pitchFamily="34" charset="0"/>
              <a:buChar char="•"/>
            </a:pPr>
            <a:r>
              <a:rPr lang="en-US" dirty="0" smtClean="0"/>
              <a:t>accomplished </a:t>
            </a:r>
            <a:r>
              <a:rPr lang="en-US" dirty="0"/>
              <a:t>through the appropriate application and integration of </a:t>
            </a:r>
            <a:r>
              <a:rPr lang="en-US" dirty="0" smtClean="0"/>
              <a:t>the project </a:t>
            </a:r>
            <a:r>
              <a:rPr lang="en-US" dirty="0"/>
              <a:t>management processes identified for the project. </a:t>
            </a:r>
            <a:endParaRPr lang="en-US" dirty="0" smtClean="0"/>
          </a:p>
          <a:p>
            <a:pPr>
              <a:buClrTx/>
              <a:buFont typeface="Arial" panose="020B0604020202020204" pitchFamily="34" charset="0"/>
              <a:buChar char="•"/>
            </a:pPr>
            <a:r>
              <a:rPr lang="en-US" dirty="0" smtClean="0"/>
              <a:t>Project </a:t>
            </a:r>
            <a:r>
              <a:rPr lang="en-US" dirty="0"/>
              <a:t>management enables organizations to execute </a:t>
            </a:r>
            <a:r>
              <a:rPr lang="en-US" dirty="0" smtClean="0"/>
              <a:t>projects effectively </a:t>
            </a:r>
            <a:r>
              <a:rPr lang="en-US" dirty="0"/>
              <a:t>and efficiently.</a:t>
            </a:r>
          </a:p>
        </p:txBody>
      </p:sp>
    </p:spTree>
    <p:extLst>
      <p:ext uri="{BB962C8B-B14F-4D97-AF65-F5344CB8AC3E}">
        <p14:creationId xmlns:p14="http://schemas.microsoft.com/office/powerpoint/2010/main" val="503730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29</a:t>
            </a:fld>
            <a:endParaRPr lang="en-US" dirty="0"/>
          </a:p>
        </p:txBody>
      </p:sp>
      <p:sp>
        <p:nvSpPr>
          <p:cNvPr id="3" name="Title 2"/>
          <p:cNvSpPr>
            <a:spLocks noGrp="1"/>
          </p:cNvSpPr>
          <p:nvPr>
            <p:ph type="title"/>
          </p:nvPr>
        </p:nvSpPr>
        <p:spPr/>
        <p:txBody>
          <a:bodyPr/>
          <a:lstStyle/>
          <a:p>
            <a:r>
              <a:rPr lang="en-US" dirty="0" smtClean="0"/>
              <a:t>Project Management</a:t>
            </a:r>
            <a:endParaRPr lang="en-US" dirty="0"/>
          </a:p>
        </p:txBody>
      </p:sp>
      <p:sp>
        <p:nvSpPr>
          <p:cNvPr id="4" name="Text Placeholder 3"/>
          <p:cNvSpPr>
            <a:spLocks noGrp="1"/>
          </p:cNvSpPr>
          <p:nvPr>
            <p:ph type="body" sz="quarter" idx="13"/>
          </p:nvPr>
        </p:nvSpPr>
        <p:spPr>
          <a:xfrm>
            <a:off x="457201" y="1447800"/>
            <a:ext cx="3581399" cy="4495800"/>
          </a:xfrm>
        </p:spPr>
        <p:txBody>
          <a:bodyPr/>
          <a:lstStyle/>
          <a:p>
            <a:pPr>
              <a:buClrTx/>
              <a:buFont typeface="Arial" panose="020B0604020202020204" pitchFamily="34" charset="0"/>
              <a:buChar char="•"/>
            </a:pPr>
            <a:r>
              <a:rPr lang="en-US" dirty="0"/>
              <a:t>Projects must be delivered on </a:t>
            </a:r>
            <a:r>
              <a:rPr lang="en-US" dirty="0" smtClean="0"/>
              <a:t>time.</a:t>
            </a:r>
          </a:p>
          <a:p>
            <a:pPr>
              <a:buClrTx/>
              <a:buFont typeface="Arial" panose="020B0604020202020204" pitchFamily="34" charset="0"/>
              <a:buChar char="•"/>
            </a:pPr>
            <a:r>
              <a:rPr lang="en-US" dirty="0" smtClean="0"/>
              <a:t>Projects </a:t>
            </a:r>
            <a:r>
              <a:rPr lang="en-US" dirty="0"/>
              <a:t>must be delivered within the cost that was estimated for the project </a:t>
            </a:r>
            <a:r>
              <a:rPr lang="en-US" dirty="0" smtClean="0"/>
              <a:t>initially.</a:t>
            </a:r>
          </a:p>
          <a:p>
            <a:pPr>
              <a:buClrTx/>
              <a:buFont typeface="Arial" panose="020B0604020202020204" pitchFamily="34" charset="0"/>
              <a:buChar char="•"/>
            </a:pPr>
            <a:r>
              <a:rPr lang="en-US" dirty="0" smtClean="0"/>
              <a:t>Projects </a:t>
            </a:r>
            <a:r>
              <a:rPr lang="en-US" dirty="0"/>
              <a:t>must satisfy the scope of the work agreed upon before starting the </a:t>
            </a:r>
            <a:r>
              <a:rPr lang="en-US" dirty="0" smtClean="0"/>
              <a:t>project.</a:t>
            </a:r>
          </a:p>
          <a:p>
            <a:pPr>
              <a:buClrTx/>
              <a:buFont typeface="Arial" panose="020B0604020202020204" pitchFamily="34" charset="0"/>
              <a:buChar char="•"/>
            </a:pPr>
            <a:r>
              <a:rPr lang="en-US" dirty="0" smtClean="0"/>
              <a:t>Deliverables </a:t>
            </a:r>
            <a:r>
              <a:rPr lang="en-US" dirty="0"/>
              <a:t>of the project must meet customer’s quality requirements</a:t>
            </a:r>
          </a:p>
        </p:txBody>
      </p:sp>
      <p:pic>
        <p:nvPicPr>
          <p:cNvPr id="5" name="Picture 4"/>
          <p:cNvPicPr>
            <a:picLocks noChangeAspect="1"/>
          </p:cNvPicPr>
          <p:nvPr/>
        </p:nvPicPr>
        <p:blipFill>
          <a:blip r:embed="rId2"/>
          <a:stretch>
            <a:fillRect/>
          </a:stretch>
        </p:blipFill>
        <p:spPr>
          <a:xfrm>
            <a:off x="4191000" y="1600200"/>
            <a:ext cx="4495800" cy="3810000"/>
          </a:xfrm>
          <a:prstGeom prst="rect">
            <a:avLst/>
          </a:prstGeom>
        </p:spPr>
      </p:pic>
    </p:spTree>
    <p:extLst>
      <p:ext uri="{BB962C8B-B14F-4D97-AF65-F5344CB8AC3E}">
        <p14:creationId xmlns:p14="http://schemas.microsoft.com/office/powerpoint/2010/main" val="4174565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30</a:t>
            </a:fld>
            <a:endParaRPr lang="en-US" dirty="0"/>
          </a:p>
        </p:txBody>
      </p:sp>
      <p:sp>
        <p:nvSpPr>
          <p:cNvPr id="3" name="Title 2"/>
          <p:cNvSpPr>
            <a:spLocks noGrp="1"/>
          </p:cNvSpPr>
          <p:nvPr>
            <p:ph type="title"/>
          </p:nvPr>
        </p:nvSpPr>
        <p:spPr/>
        <p:txBody>
          <a:bodyPr>
            <a:normAutofit/>
          </a:bodyPr>
          <a:lstStyle/>
          <a:p>
            <a:r>
              <a:rPr lang="en-US" sz="4800" dirty="0" smtClean="0"/>
              <a:t>Software Project Management</a:t>
            </a:r>
            <a:endParaRPr lang="en-US" sz="4800" dirty="0"/>
          </a:p>
        </p:txBody>
      </p:sp>
      <p:sp>
        <p:nvSpPr>
          <p:cNvPr id="4" name="Text Placeholder 3"/>
          <p:cNvSpPr>
            <a:spLocks noGrp="1"/>
          </p:cNvSpPr>
          <p:nvPr>
            <p:ph type="body" sz="quarter" idx="13"/>
          </p:nvPr>
        </p:nvSpPr>
        <p:spPr/>
        <p:txBody>
          <a:bodyPr>
            <a:normAutofit/>
          </a:bodyPr>
          <a:lstStyle/>
          <a:p>
            <a:pPr>
              <a:buClrTx/>
              <a:buFont typeface="Arial" panose="020B0604020202020204" pitchFamily="34" charset="0"/>
              <a:buChar char="•"/>
            </a:pPr>
            <a:r>
              <a:rPr lang="en-US" sz="2400" dirty="0"/>
              <a:t>Software project management is the art and science of planning and leading </a:t>
            </a:r>
            <a:r>
              <a:rPr lang="en-US" sz="2400" dirty="0" smtClean="0"/>
              <a:t>software</a:t>
            </a:r>
            <a:endParaRPr lang="en-US" sz="2400" dirty="0"/>
          </a:p>
          <a:p>
            <a:pPr>
              <a:buClrTx/>
              <a:buFont typeface="Arial" panose="020B0604020202020204" pitchFamily="34" charset="0"/>
              <a:buChar char="•"/>
            </a:pPr>
            <a:r>
              <a:rPr lang="en-US" sz="2400" dirty="0" smtClean="0"/>
              <a:t>It </a:t>
            </a:r>
            <a:r>
              <a:rPr lang="en-US" sz="2400" dirty="0"/>
              <a:t>is the process of managing, allocating and timing resources to develop computer software that meets requirements. </a:t>
            </a:r>
          </a:p>
          <a:p>
            <a:pPr>
              <a:buClrTx/>
              <a:buFont typeface="Arial" panose="020B0604020202020204" pitchFamily="34" charset="0"/>
              <a:buChar char="•"/>
            </a:pPr>
            <a:r>
              <a:rPr lang="en-US" sz="2400" dirty="0" smtClean="0"/>
              <a:t>In </a:t>
            </a:r>
            <a:r>
              <a:rPr lang="en-US" sz="2400" dirty="0"/>
              <a:t>Software Project </a:t>
            </a:r>
            <a:r>
              <a:rPr lang="en-US" sz="2400" dirty="0" smtClean="0"/>
              <a:t>Management the </a:t>
            </a:r>
            <a:r>
              <a:rPr lang="en-US" sz="2400" dirty="0"/>
              <a:t>end users and developers need to know the length, duration and cost of the project. </a:t>
            </a:r>
          </a:p>
          <a:p>
            <a:pPr>
              <a:buClrTx/>
              <a:buFont typeface="Arial" panose="020B0604020202020204" pitchFamily="34" charset="0"/>
              <a:buChar char="•"/>
            </a:pPr>
            <a:r>
              <a:rPr lang="en-US" sz="2400" dirty="0" smtClean="0"/>
              <a:t>It </a:t>
            </a:r>
            <a:r>
              <a:rPr lang="en-US" sz="2400" dirty="0"/>
              <a:t>is sub-discipline of project management in which software projects are planned, implemented , monitored and </a:t>
            </a:r>
            <a:r>
              <a:rPr lang="en-US" sz="2400" dirty="0" smtClean="0"/>
              <a:t>controlled</a:t>
            </a:r>
          </a:p>
        </p:txBody>
      </p:sp>
    </p:spTree>
    <p:extLst>
      <p:ext uri="{BB962C8B-B14F-4D97-AF65-F5344CB8AC3E}">
        <p14:creationId xmlns:p14="http://schemas.microsoft.com/office/powerpoint/2010/main" val="369243694"/>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31</a:t>
            </a:fld>
            <a:endParaRPr lang="en-US" dirty="0"/>
          </a:p>
        </p:txBody>
      </p:sp>
      <p:sp>
        <p:nvSpPr>
          <p:cNvPr id="3" name="Title 2"/>
          <p:cNvSpPr>
            <a:spLocks noGrp="1"/>
          </p:cNvSpPr>
          <p:nvPr>
            <p:ph type="title"/>
          </p:nvPr>
        </p:nvSpPr>
        <p:spPr>
          <a:xfrm>
            <a:off x="228601" y="286605"/>
            <a:ext cx="8839200" cy="856395"/>
          </a:xfrm>
        </p:spPr>
        <p:txBody>
          <a:bodyPr>
            <a:noAutofit/>
          </a:bodyPr>
          <a:lstStyle/>
          <a:p>
            <a:r>
              <a:rPr lang="en-US" sz="4400" dirty="0" smtClean="0"/>
              <a:t>Software Project Management Tasks</a:t>
            </a:r>
            <a:endParaRPr lang="en-US" sz="4400" dirty="0"/>
          </a:p>
        </p:txBody>
      </p:sp>
      <p:sp>
        <p:nvSpPr>
          <p:cNvPr id="4" name="Text Placeholder 3"/>
          <p:cNvSpPr>
            <a:spLocks noGrp="1"/>
          </p:cNvSpPr>
          <p:nvPr>
            <p:ph type="body" sz="quarter" idx="13"/>
          </p:nvPr>
        </p:nvSpPr>
        <p:spPr/>
        <p:txBody>
          <a:bodyPr/>
          <a:lstStyle/>
          <a:p>
            <a:r>
              <a:rPr lang="en-US" dirty="0" smtClean="0"/>
              <a:t>Problem </a:t>
            </a:r>
            <a:r>
              <a:rPr lang="en-US" dirty="0"/>
              <a:t>Identification </a:t>
            </a:r>
            <a:endParaRPr lang="en-US" dirty="0" smtClean="0"/>
          </a:p>
          <a:p>
            <a:r>
              <a:rPr lang="en-US" dirty="0" smtClean="0"/>
              <a:t>Problem </a:t>
            </a:r>
            <a:r>
              <a:rPr lang="en-US" dirty="0"/>
              <a:t>Definition </a:t>
            </a:r>
            <a:endParaRPr lang="en-US" dirty="0" smtClean="0"/>
          </a:p>
          <a:p>
            <a:r>
              <a:rPr lang="en-US" dirty="0" smtClean="0"/>
              <a:t>Project </a:t>
            </a:r>
            <a:r>
              <a:rPr lang="en-US" dirty="0"/>
              <a:t>Planning </a:t>
            </a:r>
            <a:endParaRPr lang="en-US" dirty="0" smtClean="0"/>
          </a:p>
          <a:p>
            <a:r>
              <a:rPr lang="en-US" dirty="0" smtClean="0"/>
              <a:t> </a:t>
            </a:r>
            <a:r>
              <a:rPr lang="en-US" dirty="0"/>
              <a:t>Project Organization </a:t>
            </a:r>
            <a:endParaRPr lang="en-US" dirty="0" smtClean="0"/>
          </a:p>
          <a:p>
            <a:r>
              <a:rPr lang="en-US" dirty="0" smtClean="0"/>
              <a:t> </a:t>
            </a:r>
            <a:r>
              <a:rPr lang="en-US" dirty="0"/>
              <a:t>Resource Allocation </a:t>
            </a:r>
            <a:endParaRPr lang="en-US" dirty="0" smtClean="0"/>
          </a:p>
          <a:p>
            <a:r>
              <a:rPr lang="en-US" dirty="0" smtClean="0"/>
              <a:t> </a:t>
            </a:r>
            <a:r>
              <a:rPr lang="en-US" dirty="0"/>
              <a:t>Project Scheduling </a:t>
            </a:r>
            <a:endParaRPr lang="en-US" dirty="0" smtClean="0"/>
          </a:p>
          <a:p>
            <a:r>
              <a:rPr lang="en-US" dirty="0" smtClean="0"/>
              <a:t> </a:t>
            </a:r>
            <a:r>
              <a:rPr lang="en-US" dirty="0"/>
              <a:t>Tracking , Reporting and Controlling </a:t>
            </a:r>
            <a:endParaRPr lang="en-US" dirty="0" smtClean="0"/>
          </a:p>
          <a:p>
            <a:r>
              <a:rPr lang="en-US" dirty="0" smtClean="0"/>
              <a:t> Project </a:t>
            </a:r>
            <a:r>
              <a:rPr lang="en-US" dirty="0"/>
              <a:t>Termination</a:t>
            </a:r>
          </a:p>
        </p:txBody>
      </p:sp>
    </p:spTree>
    <p:extLst>
      <p:ext uri="{BB962C8B-B14F-4D97-AF65-F5344CB8AC3E}">
        <p14:creationId xmlns:p14="http://schemas.microsoft.com/office/powerpoint/2010/main" val="3262969075"/>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381000"/>
            <a:ext cx="8629143"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E5CE4F79-B2B3-4E4E-AB5D-F771515B9CEF}" type="slidenum">
              <a:rPr lang="en-US" smtClean="0"/>
              <a:t>32</a:t>
            </a:fld>
            <a:endParaRPr lang="en-US" dirty="0"/>
          </a:p>
        </p:txBody>
      </p:sp>
    </p:spTree>
    <p:extLst>
      <p:ext uri="{BB962C8B-B14F-4D97-AF65-F5344CB8AC3E}">
        <p14:creationId xmlns:p14="http://schemas.microsoft.com/office/powerpoint/2010/main" val="3289484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33</a:t>
            </a:fld>
            <a:endParaRPr lang="en-US" dirty="0"/>
          </a:p>
        </p:txBody>
      </p:sp>
      <p:sp>
        <p:nvSpPr>
          <p:cNvPr id="3" name="Title 2"/>
          <p:cNvSpPr>
            <a:spLocks noGrp="1"/>
          </p:cNvSpPr>
          <p:nvPr>
            <p:ph type="title"/>
          </p:nvPr>
        </p:nvSpPr>
        <p:spPr/>
        <p:txBody>
          <a:bodyPr>
            <a:normAutofit/>
          </a:bodyPr>
          <a:lstStyle/>
          <a:p>
            <a:r>
              <a:rPr lang="en-US" sz="4800" dirty="0"/>
              <a:t>Project Success and Failure</a:t>
            </a:r>
          </a:p>
        </p:txBody>
      </p:sp>
      <p:sp>
        <p:nvSpPr>
          <p:cNvPr id="4" name="Text Placeholder 3"/>
          <p:cNvSpPr>
            <a:spLocks noGrp="1"/>
          </p:cNvSpPr>
          <p:nvPr>
            <p:ph type="body" sz="quarter" idx="13"/>
          </p:nvPr>
        </p:nvSpPr>
        <p:spPr>
          <a:xfrm>
            <a:off x="457201" y="1295400"/>
            <a:ext cx="8381999" cy="5029200"/>
          </a:xfrm>
        </p:spPr>
        <p:txBody>
          <a:bodyPr>
            <a:noAutofit/>
          </a:bodyPr>
          <a:lstStyle/>
          <a:p>
            <a:pPr>
              <a:buClrTx/>
              <a:buFont typeface="Arial" panose="020B0604020202020204" pitchFamily="34" charset="0"/>
              <a:buChar char="•"/>
            </a:pPr>
            <a:r>
              <a:rPr lang="en-US" sz="2400" dirty="0"/>
              <a:t>We can distinguish between project objectives and business </a:t>
            </a:r>
            <a:r>
              <a:rPr lang="en-US" sz="2400" dirty="0" smtClean="0"/>
              <a:t>objectives. The </a:t>
            </a:r>
            <a:r>
              <a:rPr lang="en-US" sz="2400" dirty="0"/>
              <a:t>project objectives are the targets that the project team is expected to achieve. </a:t>
            </a:r>
            <a:endParaRPr lang="en-US" sz="2400" dirty="0" smtClean="0"/>
          </a:p>
          <a:p>
            <a:pPr>
              <a:buClrTx/>
              <a:buFont typeface="Arial" panose="020B0604020202020204" pitchFamily="34" charset="0"/>
              <a:buChar char="•"/>
            </a:pPr>
            <a:r>
              <a:rPr lang="en-US" sz="2400" dirty="0" smtClean="0"/>
              <a:t>In </a:t>
            </a:r>
            <a:r>
              <a:rPr lang="en-US" sz="2400" dirty="0"/>
              <a:t>the case of software projects, they can usually be summarized as delivering: </a:t>
            </a:r>
            <a:endParaRPr lang="en-US" sz="2400" dirty="0" smtClean="0"/>
          </a:p>
          <a:p>
            <a:pPr lvl="1">
              <a:buClrTx/>
              <a:buFont typeface="Arial" panose="020B0604020202020204" pitchFamily="34" charset="0"/>
              <a:buChar char="•"/>
            </a:pPr>
            <a:r>
              <a:rPr lang="en-US" sz="2000" dirty="0" smtClean="0"/>
              <a:t>The </a:t>
            </a:r>
            <a:r>
              <a:rPr lang="en-US" sz="2000" dirty="0"/>
              <a:t>agreed functionality </a:t>
            </a:r>
            <a:endParaRPr lang="en-US" sz="2000" dirty="0" smtClean="0"/>
          </a:p>
          <a:p>
            <a:pPr lvl="1">
              <a:buClrTx/>
              <a:buFont typeface="Arial" panose="020B0604020202020204" pitchFamily="34" charset="0"/>
              <a:buChar char="•"/>
            </a:pPr>
            <a:r>
              <a:rPr lang="en-US" sz="2000" dirty="0"/>
              <a:t>T</a:t>
            </a:r>
            <a:r>
              <a:rPr lang="en-US" sz="2000" dirty="0" smtClean="0"/>
              <a:t>o </a:t>
            </a:r>
            <a:r>
              <a:rPr lang="en-US" sz="2000" dirty="0"/>
              <a:t>the required level of quality </a:t>
            </a:r>
            <a:endParaRPr lang="en-US" sz="2000" dirty="0" smtClean="0"/>
          </a:p>
          <a:p>
            <a:pPr lvl="1">
              <a:buClrTx/>
              <a:buFont typeface="Arial" panose="020B0604020202020204" pitchFamily="34" charset="0"/>
              <a:buChar char="•"/>
            </a:pPr>
            <a:r>
              <a:rPr lang="en-US" sz="2000" dirty="0" smtClean="0"/>
              <a:t>On </a:t>
            </a:r>
            <a:r>
              <a:rPr lang="en-US" sz="2000" dirty="0"/>
              <a:t>time </a:t>
            </a:r>
            <a:endParaRPr lang="en-US" sz="2000" dirty="0" smtClean="0"/>
          </a:p>
          <a:p>
            <a:pPr lvl="1">
              <a:buClrTx/>
              <a:buFont typeface="Arial" panose="020B0604020202020204" pitchFamily="34" charset="0"/>
              <a:buChar char="•"/>
            </a:pPr>
            <a:r>
              <a:rPr lang="en-US" sz="2000" dirty="0" smtClean="0"/>
              <a:t>Within </a:t>
            </a:r>
            <a:r>
              <a:rPr lang="en-US" sz="2000" dirty="0"/>
              <a:t>budget </a:t>
            </a:r>
            <a:endParaRPr lang="en-US" sz="2000" dirty="0" smtClean="0"/>
          </a:p>
          <a:p>
            <a:pPr>
              <a:buClrTx/>
              <a:buFont typeface="Arial" panose="020B0604020202020204" pitchFamily="34" charset="0"/>
              <a:buChar char="•"/>
            </a:pPr>
            <a:r>
              <a:rPr lang="en-US" sz="2400" dirty="0" smtClean="0"/>
              <a:t>We </a:t>
            </a:r>
            <a:r>
              <a:rPr lang="en-US" sz="2400" dirty="0"/>
              <a:t>have seen that in business terms it can generally be said that a project is a success if the value of benefits exceeds the costs. </a:t>
            </a:r>
            <a:endParaRPr lang="en-US" sz="2400" dirty="0" smtClean="0"/>
          </a:p>
          <a:p>
            <a:pPr>
              <a:buClrTx/>
              <a:buFont typeface="Arial" panose="020B0604020202020204" pitchFamily="34" charset="0"/>
              <a:buChar char="•"/>
            </a:pPr>
            <a:r>
              <a:rPr lang="en-US" sz="2400" dirty="0" smtClean="0"/>
              <a:t>Customer </a:t>
            </a:r>
            <a:r>
              <a:rPr lang="en-US" sz="2400" dirty="0"/>
              <a:t>Relationships can also be built over a number of projects. </a:t>
            </a:r>
          </a:p>
        </p:txBody>
      </p:sp>
    </p:spTree>
    <p:extLst>
      <p:ext uri="{BB962C8B-B14F-4D97-AF65-F5344CB8AC3E}">
        <p14:creationId xmlns:p14="http://schemas.microsoft.com/office/powerpoint/2010/main" val="2859274707"/>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34</a:t>
            </a:fld>
            <a:endParaRPr lang="en-US" dirty="0"/>
          </a:p>
        </p:txBody>
      </p:sp>
      <p:sp>
        <p:nvSpPr>
          <p:cNvPr id="3" name="Title 2"/>
          <p:cNvSpPr>
            <a:spLocks noGrp="1"/>
          </p:cNvSpPr>
          <p:nvPr>
            <p:ph type="title"/>
          </p:nvPr>
        </p:nvSpPr>
        <p:spPr/>
        <p:txBody>
          <a:bodyPr>
            <a:normAutofit/>
          </a:bodyPr>
          <a:lstStyle/>
          <a:p>
            <a:r>
              <a:rPr lang="en-US" sz="4000" dirty="0">
                <a:solidFill>
                  <a:srgbClr val="FF0000"/>
                </a:solidFill>
              </a:rPr>
              <a:t>Problems with Software Projects</a:t>
            </a:r>
          </a:p>
        </p:txBody>
      </p:sp>
      <p:sp>
        <p:nvSpPr>
          <p:cNvPr id="4" name="Text Placeholder 3"/>
          <p:cNvSpPr>
            <a:spLocks noGrp="1"/>
          </p:cNvSpPr>
          <p:nvPr>
            <p:ph type="body" sz="quarter" idx="13"/>
          </p:nvPr>
        </p:nvSpPr>
        <p:spPr>
          <a:xfrm>
            <a:off x="457201" y="1295400"/>
            <a:ext cx="8381999" cy="5029200"/>
          </a:xfrm>
        </p:spPr>
        <p:txBody>
          <a:bodyPr>
            <a:noAutofit/>
          </a:bodyPr>
          <a:lstStyle/>
          <a:p>
            <a:r>
              <a:rPr lang="en-US" sz="2400" dirty="0"/>
              <a:t>Poor estimates and </a:t>
            </a:r>
            <a:r>
              <a:rPr lang="en-US" sz="2400" dirty="0" smtClean="0"/>
              <a:t>plans</a:t>
            </a:r>
          </a:p>
          <a:p>
            <a:r>
              <a:rPr lang="en-US" sz="2400" dirty="0" smtClean="0"/>
              <a:t> </a:t>
            </a:r>
            <a:r>
              <a:rPr lang="en-US" sz="2400" dirty="0"/>
              <a:t>Lack of quality and standards </a:t>
            </a:r>
            <a:endParaRPr lang="en-US" sz="2400" dirty="0" smtClean="0"/>
          </a:p>
          <a:p>
            <a:r>
              <a:rPr lang="en-US" sz="2400" dirty="0" smtClean="0"/>
              <a:t>Lack </a:t>
            </a:r>
            <a:r>
              <a:rPr lang="en-US" sz="2400" dirty="0"/>
              <a:t>of technique to make progress visible </a:t>
            </a:r>
            <a:endParaRPr lang="en-US" sz="2400" dirty="0" smtClean="0"/>
          </a:p>
          <a:p>
            <a:r>
              <a:rPr lang="en-US" sz="2400" dirty="0" smtClean="0"/>
              <a:t>Lack </a:t>
            </a:r>
            <a:r>
              <a:rPr lang="en-US" sz="2400" dirty="0"/>
              <a:t>of knowledge of work (Domain) </a:t>
            </a:r>
            <a:endParaRPr lang="en-US" sz="2400" dirty="0" smtClean="0"/>
          </a:p>
          <a:p>
            <a:r>
              <a:rPr lang="en-US" sz="2400" dirty="0" smtClean="0"/>
              <a:t>Lack </a:t>
            </a:r>
            <a:r>
              <a:rPr lang="en-US" sz="2400" dirty="0"/>
              <a:t>of documentation </a:t>
            </a:r>
            <a:endParaRPr lang="en-US" sz="2400" dirty="0" smtClean="0"/>
          </a:p>
          <a:p>
            <a:r>
              <a:rPr lang="en-US" sz="2400" dirty="0" smtClean="0"/>
              <a:t>Necessary </a:t>
            </a:r>
            <a:r>
              <a:rPr lang="en-US" sz="2400" dirty="0"/>
              <a:t>hardware not deployed in time </a:t>
            </a:r>
            <a:endParaRPr lang="en-US" sz="2400" dirty="0" smtClean="0"/>
          </a:p>
          <a:p>
            <a:r>
              <a:rPr lang="en-US" sz="2400" dirty="0" smtClean="0"/>
              <a:t>Communication </a:t>
            </a:r>
            <a:r>
              <a:rPr lang="en-US" sz="2400" dirty="0"/>
              <a:t>gap </a:t>
            </a:r>
            <a:endParaRPr lang="en-US" sz="2400" dirty="0" smtClean="0"/>
          </a:p>
          <a:p>
            <a:r>
              <a:rPr lang="en-US" sz="2400" dirty="0" smtClean="0"/>
              <a:t>Lack </a:t>
            </a:r>
            <a:r>
              <a:rPr lang="en-US" sz="2400" dirty="0"/>
              <a:t>of motivation, commitment </a:t>
            </a:r>
          </a:p>
          <a:p>
            <a:r>
              <a:rPr lang="en-US" sz="2400" dirty="0" smtClean="0"/>
              <a:t>Changing </a:t>
            </a:r>
            <a:r>
              <a:rPr lang="en-US" sz="2400" dirty="0"/>
              <a:t>software environment </a:t>
            </a:r>
            <a:endParaRPr lang="en-US" sz="2400" dirty="0" smtClean="0"/>
          </a:p>
          <a:p>
            <a:r>
              <a:rPr lang="en-US" sz="2400" dirty="0" smtClean="0"/>
              <a:t>Training</a:t>
            </a:r>
            <a:endParaRPr lang="en-US" sz="2400" dirty="0"/>
          </a:p>
        </p:txBody>
      </p:sp>
    </p:spTree>
    <p:extLst>
      <p:ext uri="{BB962C8B-B14F-4D97-AF65-F5344CB8AC3E}">
        <p14:creationId xmlns:p14="http://schemas.microsoft.com/office/powerpoint/2010/main" val="2245108200"/>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35</a:t>
            </a:fld>
            <a:endParaRPr lang="en-US" dirty="0"/>
          </a:p>
        </p:txBody>
      </p:sp>
      <p:sp>
        <p:nvSpPr>
          <p:cNvPr id="3" name="Title 2"/>
          <p:cNvSpPr>
            <a:spLocks noGrp="1"/>
          </p:cNvSpPr>
          <p:nvPr>
            <p:ph type="title"/>
          </p:nvPr>
        </p:nvSpPr>
        <p:spPr/>
        <p:txBody>
          <a:bodyPr>
            <a:normAutofit/>
          </a:bodyPr>
          <a:lstStyle/>
          <a:p>
            <a:r>
              <a:rPr lang="en-US" sz="4400" dirty="0" smtClean="0">
                <a:solidFill>
                  <a:srgbClr val="FF0000"/>
                </a:solidFill>
              </a:rPr>
              <a:t>Why Projects Fail</a:t>
            </a:r>
            <a:endParaRPr lang="en-US" sz="4400" dirty="0">
              <a:solidFill>
                <a:srgbClr val="FF0000"/>
              </a:solidFill>
            </a:endParaRPr>
          </a:p>
        </p:txBody>
      </p:sp>
      <p:sp>
        <p:nvSpPr>
          <p:cNvPr id="4" name="Text Placeholder 3"/>
          <p:cNvSpPr>
            <a:spLocks noGrp="1"/>
          </p:cNvSpPr>
          <p:nvPr>
            <p:ph type="body" sz="quarter" idx="13"/>
          </p:nvPr>
        </p:nvSpPr>
        <p:spPr>
          <a:xfrm>
            <a:off x="457201" y="1295400"/>
            <a:ext cx="8381999" cy="5029200"/>
          </a:xfrm>
        </p:spPr>
        <p:txBody>
          <a:bodyPr>
            <a:noAutofit/>
          </a:bodyPr>
          <a:lstStyle/>
          <a:p>
            <a:pPr>
              <a:lnSpc>
                <a:spcPct val="80000"/>
              </a:lnSpc>
            </a:pPr>
            <a:r>
              <a:rPr lang="en-GB" altLang="en-US" sz="2800" dirty="0" smtClean="0"/>
              <a:t>An </a:t>
            </a:r>
            <a:r>
              <a:rPr lang="en-GB" altLang="en-US" sz="2800" dirty="0"/>
              <a:t>unrealistic Deadlines is established</a:t>
            </a:r>
          </a:p>
          <a:p>
            <a:pPr>
              <a:lnSpc>
                <a:spcPct val="80000"/>
              </a:lnSpc>
            </a:pPr>
            <a:r>
              <a:rPr lang="en-GB" altLang="en-US" sz="2800" dirty="0" smtClean="0"/>
              <a:t>Changing </a:t>
            </a:r>
            <a:r>
              <a:rPr lang="en-GB" altLang="en-US" sz="2800" dirty="0"/>
              <a:t>Customer Requirements</a:t>
            </a:r>
          </a:p>
          <a:p>
            <a:pPr>
              <a:lnSpc>
                <a:spcPct val="80000"/>
              </a:lnSpc>
            </a:pPr>
            <a:r>
              <a:rPr lang="en-GB" altLang="en-US" sz="2800" dirty="0" smtClean="0"/>
              <a:t>An </a:t>
            </a:r>
            <a:r>
              <a:rPr lang="en-GB" altLang="en-US" sz="2800" dirty="0"/>
              <a:t>honest underestimate of effort</a:t>
            </a:r>
          </a:p>
          <a:p>
            <a:pPr>
              <a:lnSpc>
                <a:spcPct val="80000"/>
              </a:lnSpc>
            </a:pPr>
            <a:r>
              <a:rPr lang="en-GB" altLang="en-US" sz="2800" dirty="0" smtClean="0"/>
              <a:t>Predictable </a:t>
            </a:r>
            <a:r>
              <a:rPr lang="en-GB" altLang="en-US" sz="2800" dirty="0"/>
              <a:t>and/ or unpredictable risks</a:t>
            </a:r>
          </a:p>
          <a:p>
            <a:pPr>
              <a:lnSpc>
                <a:spcPct val="80000"/>
              </a:lnSpc>
            </a:pPr>
            <a:r>
              <a:rPr lang="en-GB" altLang="en-US" sz="2800" dirty="0" smtClean="0"/>
              <a:t>Miscommunication </a:t>
            </a:r>
            <a:r>
              <a:rPr lang="en-GB" altLang="en-US" sz="2800" dirty="0"/>
              <a:t>among project staff</a:t>
            </a:r>
          </a:p>
          <a:p>
            <a:pPr>
              <a:lnSpc>
                <a:spcPct val="80000"/>
              </a:lnSpc>
            </a:pPr>
            <a:r>
              <a:rPr lang="en-GB" altLang="en-US" sz="2800" dirty="0" smtClean="0"/>
              <a:t>Failure </a:t>
            </a:r>
            <a:r>
              <a:rPr lang="en-GB" altLang="en-US" sz="2800" dirty="0"/>
              <a:t>in Project Management practice</a:t>
            </a:r>
          </a:p>
        </p:txBody>
      </p:sp>
    </p:spTree>
    <p:extLst>
      <p:ext uri="{BB962C8B-B14F-4D97-AF65-F5344CB8AC3E}">
        <p14:creationId xmlns:p14="http://schemas.microsoft.com/office/powerpoint/2010/main" val="3564145418"/>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36</a:t>
            </a:fld>
            <a:endParaRPr lang="en-US" dirty="0"/>
          </a:p>
        </p:txBody>
      </p:sp>
      <p:sp>
        <p:nvSpPr>
          <p:cNvPr id="3" name="Title 2"/>
          <p:cNvSpPr>
            <a:spLocks noGrp="1"/>
          </p:cNvSpPr>
          <p:nvPr>
            <p:ph type="title"/>
          </p:nvPr>
        </p:nvSpPr>
        <p:spPr/>
        <p:txBody>
          <a:bodyPr vert="horz" lIns="91440" tIns="45720" rIns="91440" bIns="45720" rtlCol="0" anchor="ctr">
            <a:noAutofit/>
          </a:bodyPr>
          <a:lstStyle/>
          <a:p>
            <a:r>
              <a:rPr lang="en-US" sz="4400" dirty="0" smtClean="0">
                <a:solidFill>
                  <a:srgbClr val="00B050"/>
                </a:solidFill>
              </a:rPr>
              <a:t>Avoiding Project Failure</a:t>
            </a:r>
            <a:endParaRPr lang="en-US" sz="4400" dirty="0">
              <a:solidFill>
                <a:srgbClr val="00B050"/>
              </a:solidFill>
            </a:endParaRPr>
          </a:p>
        </p:txBody>
      </p:sp>
      <p:sp>
        <p:nvSpPr>
          <p:cNvPr id="4" name="Text Placeholder 3"/>
          <p:cNvSpPr>
            <a:spLocks noGrp="1"/>
          </p:cNvSpPr>
          <p:nvPr>
            <p:ph type="body" sz="quarter" idx="13"/>
          </p:nvPr>
        </p:nvSpPr>
        <p:spPr>
          <a:xfrm>
            <a:off x="457201" y="1066800"/>
            <a:ext cx="8381999" cy="5257800"/>
          </a:xfrm>
        </p:spPr>
        <p:txBody>
          <a:bodyPr>
            <a:noAutofit/>
          </a:bodyPr>
          <a:lstStyle/>
          <a:p>
            <a:pPr>
              <a:lnSpc>
                <a:spcPct val="80000"/>
              </a:lnSpc>
            </a:pPr>
            <a:r>
              <a:rPr lang="en-GB" altLang="en-US" sz="3200" dirty="0" smtClean="0"/>
              <a:t>Project </a:t>
            </a:r>
            <a:r>
              <a:rPr lang="en-GB" altLang="en-US" sz="3200" dirty="0"/>
              <a:t>Managers and Software Engineers must:-</a:t>
            </a:r>
          </a:p>
          <a:p>
            <a:pPr lvl="1">
              <a:lnSpc>
                <a:spcPct val="80000"/>
              </a:lnSpc>
            </a:pPr>
            <a:r>
              <a:rPr lang="en-GB" altLang="en-US" sz="2800" dirty="0" smtClean="0"/>
              <a:t>Heed </a:t>
            </a:r>
            <a:r>
              <a:rPr lang="en-GB" altLang="en-US" sz="2800" dirty="0"/>
              <a:t>a set of common warning signs</a:t>
            </a:r>
          </a:p>
          <a:p>
            <a:pPr lvl="1">
              <a:lnSpc>
                <a:spcPct val="80000"/>
              </a:lnSpc>
            </a:pPr>
            <a:r>
              <a:rPr lang="en-GB" altLang="en-US" sz="2800" dirty="0" smtClean="0"/>
              <a:t>Understand </a:t>
            </a:r>
            <a:r>
              <a:rPr lang="en-GB" altLang="en-US" sz="2800" dirty="0"/>
              <a:t>the Critical Success Factor (CFS) that </a:t>
            </a:r>
            <a:r>
              <a:rPr lang="en-GB" altLang="en-US" sz="2800" dirty="0" smtClean="0"/>
              <a:t>lead </a:t>
            </a:r>
            <a:r>
              <a:rPr lang="en-GB" altLang="en-US" sz="2800" dirty="0"/>
              <a:t>to good Project Management</a:t>
            </a:r>
          </a:p>
          <a:p>
            <a:pPr lvl="1">
              <a:lnSpc>
                <a:spcPct val="80000"/>
              </a:lnSpc>
            </a:pPr>
            <a:r>
              <a:rPr lang="en-GB" altLang="en-US" sz="2800" dirty="0" smtClean="0"/>
              <a:t>Develop </a:t>
            </a:r>
            <a:r>
              <a:rPr lang="en-GB" altLang="en-US" sz="2800" dirty="0"/>
              <a:t>a common sense approach for </a:t>
            </a:r>
            <a:r>
              <a:rPr lang="en-GB" altLang="en-US" sz="2800" dirty="0" smtClean="0"/>
              <a:t>Planning</a:t>
            </a:r>
            <a:r>
              <a:rPr lang="en-GB" altLang="en-US" sz="2800" dirty="0"/>
              <a:t>, Monitoring and controlling a Project</a:t>
            </a:r>
            <a:r>
              <a:rPr lang="en-GB" altLang="en-US" sz="2800" dirty="0" smtClean="0"/>
              <a:t>.</a:t>
            </a:r>
          </a:p>
          <a:p>
            <a:pPr>
              <a:lnSpc>
                <a:spcPct val="80000"/>
              </a:lnSpc>
            </a:pPr>
            <a:r>
              <a:rPr lang="en-US" sz="3200" dirty="0">
                <a:sym typeface="Wingdings" pitchFamily="2" charset="2"/>
              </a:rPr>
              <a:t>Management  characteristics key to successful </a:t>
            </a:r>
            <a:r>
              <a:rPr lang="en-US" sz="3200" dirty="0" smtClean="0">
                <a:sym typeface="Wingdings" pitchFamily="2" charset="2"/>
              </a:rPr>
              <a:t>projects</a:t>
            </a:r>
          </a:p>
          <a:p>
            <a:pPr lvl="1"/>
            <a:r>
              <a:rPr lang="en-US" sz="2900" dirty="0"/>
              <a:t>Think yourself, list them</a:t>
            </a:r>
          </a:p>
          <a:p>
            <a:pPr lvl="1"/>
            <a:r>
              <a:rPr lang="en-US" sz="2900" dirty="0"/>
              <a:t>Then discuss with your friend</a:t>
            </a:r>
          </a:p>
          <a:p>
            <a:pPr lvl="1"/>
            <a:r>
              <a:rPr lang="en-US" sz="2900" dirty="0"/>
              <a:t>List them and give reason why you think they are important for project success? </a:t>
            </a:r>
            <a:endParaRPr lang="en-US" sz="2900" dirty="0" smtClean="0">
              <a:sym typeface="Wingdings" pitchFamily="2" charset="2"/>
            </a:endParaRPr>
          </a:p>
          <a:p>
            <a:pPr lvl="1">
              <a:lnSpc>
                <a:spcPct val="80000"/>
              </a:lnSpc>
            </a:pPr>
            <a:endParaRPr lang="en-US" altLang="en-US" sz="2800" u="sng" dirty="0"/>
          </a:p>
        </p:txBody>
      </p:sp>
    </p:spTree>
    <p:extLst>
      <p:ext uri="{BB962C8B-B14F-4D97-AF65-F5344CB8AC3E}">
        <p14:creationId xmlns:p14="http://schemas.microsoft.com/office/powerpoint/2010/main" val="514311415"/>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37</a:t>
            </a:fld>
            <a:endParaRPr lang="en-US" dirty="0"/>
          </a:p>
        </p:txBody>
      </p:sp>
      <p:sp>
        <p:nvSpPr>
          <p:cNvPr id="2" name="Title 1"/>
          <p:cNvSpPr>
            <a:spLocks noGrp="1"/>
          </p:cNvSpPr>
          <p:nvPr>
            <p:ph type="title"/>
          </p:nvPr>
        </p:nvSpPr>
        <p:spPr>
          <a:xfrm>
            <a:off x="457202" y="152400"/>
            <a:ext cx="8381999" cy="966146"/>
          </a:xfrm>
        </p:spPr>
        <p:txBody>
          <a:bodyPr>
            <a:noAutofit/>
          </a:bodyPr>
          <a:lstStyle/>
          <a:p>
            <a:r>
              <a:rPr lang="en-US" sz="2800" dirty="0">
                <a:solidFill>
                  <a:srgbClr val="00B050"/>
                </a:solidFill>
              </a:rPr>
              <a:t>Effective project management helps individuals, groups, and public and private organizations to</a:t>
            </a:r>
            <a:r>
              <a:rPr lang="en-US" sz="2800" dirty="0" smtClean="0">
                <a:solidFill>
                  <a:srgbClr val="00B050"/>
                </a:solidFill>
              </a:rPr>
              <a:t>:</a:t>
            </a:r>
            <a:endParaRPr lang="en-US" sz="2800" dirty="0">
              <a:solidFill>
                <a:srgbClr val="00B050"/>
              </a:solidFill>
            </a:endParaRPr>
          </a:p>
        </p:txBody>
      </p:sp>
      <p:sp>
        <p:nvSpPr>
          <p:cNvPr id="3" name="Content Placeholder 2"/>
          <p:cNvSpPr>
            <a:spLocks noGrp="1"/>
          </p:cNvSpPr>
          <p:nvPr>
            <p:ph type="body" sz="quarter" idx="13"/>
          </p:nvPr>
        </p:nvSpPr>
        <p:spPr>
          <a:xfrm>
            <a:off x="609600" y="1447800"/>
            <a:ext cx="8229601" cy="4495800"/>
          </a:xfrm>
        </p:spPr>
        <p:txBody>
          <a:bodyPr>
            <a:normAutofit fontScale="92500" lnSpcReduction="10000"/>
          </a:bodyPr>
          <a:lstStyle/>
          <a:p>
            <a:pPr>
              <a:buClrTx/>
              <a:buFont typeface="Arial" panose="020B0604020202020204" pitchFamily="34" charset="0"/>
              <a:buChar char="•"/>
            </a:pPr>
            <a:r>
              <a:rPr lang="en-US" dirty="0" smtClean="0"/>
              <a:t>Meet </a:t>
            </a:r>
            <a:r>
              <a:rPr lang="en-US" dirty="0"/>
              <a:t>business objectives;</a:t>
            </a:r>
          </a:p>
          <a:p>
            <a:pPr>
              <a:buClrTx/>
              <a:buFont typeface="Arial" panose="020B0604020202020204" pitchFamily="34" charset="0"/>
              <a:buChar char="•"/>
            </a:pPr>
            <a:r>
              <a:rPr lang="en-US" dirty="0" smtClean="0"/>
              <a:t>Satisfy </a:t>
            </a:r>
            <a:r>
              <a:rPr lang="en-US" dirty="0"/>
              <a:t>stakeholder expectations;</a:t>
            </a:r>
          </a:p>
          <a:p>
            <a:pPr>
              <a:buClrTx/>
              <a:buFont typeface="Arial" panose="020B0604020202020204" pitchFamily="34" charset="0"/>
              <a:buChar char="•"/>
            </a:pPr>
            <a:r>
              <a:rPr lang="en-US" dirty="0" smtClean="0"/>
              <a:t>Be </a:t>
            </a:r>
            <a:r>
              <a:rPr lang="en-US" dirty="0"/>
              <a:t>more predictable;</a:t>
            </a:r>
          </a:p>
          <a:p>
            <a:pPr>
              <a:buClrTx/>
              <a:buFont typeface="Arial" panose="020B0604020202020204" pitchFamily="34" charset="0"/>
              <a:buChar char="•"/>
            </a:pPr>
            <a:r>
              <a:rPr lang="en-US" dirty="0" smtClean="0"/>
              <a:t>Increase </a:t>
            </a:r>
            <a:r>
              <a:rPr lang="en-US" dirty="0"/>
              <a:t>chances of success;</a:t>
            </a:r>
          </a:p>
          <a:p>
            <a:pPr>
              <a:buClrTx/>
              <a:buFont typeface="Arial" panose="020B0604020202020204" pitchFamily="34" charset="0"/>
              <a:buChar char="•"/>
            </a:pPr>
            <a:r>
              <a:rPr lang="en-US" dirty="0" smtClean="0"/>
              <a:t>Deliver </a:t>
            </a:r>
            <a:r>
              <a:rPr lang="en-US" dirty="0"/>
              <a:t>the right products at the right time;</a:t>
            </a:r>
          </a:p>
          <a:p>
            <a:pPr>
              <a:buClrTx/>
              <a:buFont typeface="Arial" panose="020B0604020202020204" pitchFamily="34" charset="0"/>
              <a:buChar char="•"/>
            </a:pPr>
            <a:r>
              <a:rPr lang="en-US" dirty="0" smtClean="0"/>
              <a:t>Resolve </a:t>
            </a:r>
            <a:r>
              <a:rPr lang="en-US" dirty="0"/>
              <a:t>problems and issues;</a:t>
            </a:r>
          </a:p>
          <a:p>
            <a:pPr>
              <a:buClrTx/>
              <a:buFont typeface="Arial" panose="020B0604020202020204" pitchFamily="34" charset="0"/>
              <a:buChar char="•"/>
            </a:pPr>
            <a:r>
              <a:rPr lang="en-US" dirty="0" smtClean="0"/>
              <a:t>Respond </a:t>
            </a:r>
            <a:r>
              <a:rPr lang="en-US" dirty="0"/>
              <a:t>to risks in a timely manner;</a:t>
            </a:r>
          </a:p>
          <a:p>
            <a:pPr>
              <a:buClrTx/>
              <a:buFont typeface="Arial" panose="020B0604020202020204" pitchFamily="34" charset="0"/>
              <a:buChar char="•"/>
            </a:pPr>
            <a:r>
              <a:rPr lang="en-US" dirty="0" smtClean="0"/>
              <a:t>Optimize </a:t>
            </a:r>
            <a:r>
              <a:rPr lang="en-US" dirty="0"/>
              <a:t>the use of organizational resources;</a:t>
            </a:r>
          </a:p>
          <a:p>
            <a:pPr>
              <a:buClrTx/>
              <a:buFont typeface="Arial" panose="020B0604020202020204" pitchFamily="34" charset="0"/>
              <a:buChar char="•"/>
            </a:pPr>
            <a:r>
              <a:rPr lang="en-US" dirty="0" smtClean="0"/>
              <a:t>Identify</a:t>
            </a:r>
            <a:r>
              <a:rPr lang="en-US" dirty="0"/>
              <a:t>, recover, or terminate failing projects;</a:t>
            </a:r>
          </a:p>
          <a:p>
            <a:pPr>
              <a:buClrTx/>
              <a:buFont typeface="Arial" panose="020B0604020202020204" pitchFamily="34" charset="0"/>
              <a:buChar char="•"/>
            </a:pPr>
            <a:r>
              <a:rPr lang="en-US" dirty="0" smtClean="0"/>
              <a:t>Manage </a:t>
            </a:r>
            <a:r>
              <a:rPr lang="en-US" dirty="0"/>
              <a:t>constraints (e.g., scope, quality, schedule, costs, resources);</a:t>
            </a:r>
          </a:p>
          <a:p>
            <a:pPr>
              <a:buClrTx/>
              <a:buFont typeface="Arial" panose="020B0604020202020204" pitchFamily="34" charset="0"/>
              <a:buChar char="•"/>
            </a:pPr>
            <a:r>
              <a:rPr lang="en-US" dirty="0" smtClean="0"/>
              <a:t>Balance </a:t>
            </a:r>
            <a:r>
              <a:rPr lang="en-US" dirty="0"/>
              <a:t>the influence of constraints on the project (e.g., increased scope may increase cost or schedule); and</a:t>
            </a:r>
          </a:p>
          <a:p>
            <a:pPr>
              <a:buClrTx/>
              <a:buFont typeface="Arial" panose="020B0604020202020204" pitchFamily="34" charset="0"/>
              <a:buChar char="•"/>
            </a:pPr>
            <a:r>
              <a:rPr lang="en-US" dirty="0" smtClean="0"/>
              <a:t>Manage </a:t>
            </a:r>
            <a:r>
              <a:rPr lang="en-US" dirty="0"/>
              <a:t>change in a better manner</a:t>
            </a:r>
          </a:p>
        </p:txBody>
      </p:sp>
    </p:spTree>
    <p:extLst>
      <p:ext uri="{BB962C8B-B14F-4D97-AF65-F5344CB8AC3E}">
        <p14:creationId xmlns:p14="http://schemas.microsoft.com/office/powerpoint/2010/main" val="3542494424"/>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38</a:t>
            </a:fld>
            <a:endParaRPr lang="en-US" dirty="0"/>
          </a:p>
        </p:txBody>
      </p:sp>
      <p:sp>
        <p:nvSpPr>
          <p:cNvPr id="2" name="Title 1"/>
          <p:cNvSpPr>
            <a:spLocks noGrp="1"/>
          </p:cNvSpPr>
          <p:nvPr>
            <p:ph type="title"/>
          </p:nvPr>
        </p:nvSpPr>
        <p:spPr>
          <a:xfrm>
            <a:off x="457201" y="533400"/>
            <a:ext cx="8381999" cy="585146"/>
          </a:xfrm>
        </p:spPr>
        <p:txBody>
          <a:bodyPr>
            <a:noAutofit/>
          </a:bodyPr>
          <a:lstStyle/>
          <a:p>
            <a:r>
              <a:rPr lang="en-US" sz="2800" dirty="0">
                <a:solidFill>
                  <a:srgbClr val="FF0000"/>
                </a:solidFill>
              </a:rPr>
              <a:t>Poorly managed projects or the absence of project management may result in</a:t>
            </a:r>
            <a:r>
              <a:rPr lang="en-US" sz="2800" dirty="0" smtClean="0">
                <a:solidFill>
                  <a:srgbClr val="FF0000"/>
                </a:solidFill>
              </a:rPr>
              <a:t>:</a:t>
            </a:r>
            <a:endParaRPr lang="en-US" sz="2800" dirty="0">
              <a:solidFill>
                <a:srgbClr val="FF0000"/>
              </a:solidFill>
            </a:endParaRPr>
          </a:p>
        </p:txBody>
      </p:sp>
      <p:sp>
        <p:nvSpPr>
          <p:cNvPr id="3" name="Content Placeholder 2"/>
          <p:cNvSpPr>
            <a:spLocks noGrp="1"/>
          </p:cNvSpPr>
          <p:nvPr>
            <p:ph type="body" sz="quarter" idx="13"/>
          </p:nvPr>
        </p:nvSpPr>
        <p:spPr>
          <a:xfrm>
            <a:off x="609600" y="1447800"/>
            <a:ext cx="8229601" cy="4495800"/>
          </a:xfrm>
        </p:spPr>
        <p:txBody>
          <a:bodyPr>
            <a:normAutofit/>
          </a:bodyPr>
          <a:lstStyle/>
          <a:p>
            <a:pPr>
              <a:buClrTx/>
              <a:buFont typeface="Arial" panose="020B0604020202020204" pitchFamily="34" charset="0"/>
              <a:buChar char="•"/>
            </a:pPr>
            <a:r>
              <a:rPr lang="en-US" dirty="0" smtClean="0"/>
              <a:t>Missed </a:t>
            </a:r>
            <a:r>
              <a:rPr lang="en-US" dirty="0"/>
              <a:t>deadlines,</a:t>
            </a:r>
          </a:p>
          <a:p>
            <a:pPr>
              <a:buClrTx/>
              <a:buFont typeface="Arial" panose="020B0604020202020204" pitchFamily="34" charset="0"/>
              <a:buChar char="•"/>
            </a:pPr>
            <a:r>
              <a:rPr lang="en-US" dirty="0" smtClean="0"/>
              <a:t>Cost </a:t>
            </a:r>
            <a:r>
              <a:rPr lang="en-US" dirty="0"/>
              <a:t>overruns,</a:t>
            </a:r>
          </a:p>
          <a:p>
            <a:pPr>
              <a:buClrTx/>
              <a:buFont typeface="Arial" panose="020B0604020202020204" pitchFamily="34" charset="0"/>
              <a:buChar char="•"/>
            </a:pPr>
            <a:r>
              <a:rPr lang="en-US" dirty="0" smtClean="0"/>
              <a:t>Poor </a:t>
            </a:r>
            <a:r>
              <a:rPr lang="en-US" dirty="0"/>
              <a:t>quality,</a:t>
            </a:r>
          </a:p>
          <a:p>
            <a:pPr>
              <a:buClrTx/>
              <a:buFont typeface="Arial" panose="020B0604020202020204" pitchFamily="34" charset="0"/>
              <a:buChar char="•"/>
            </a:pPr>
            <a:r>
              <a:rPr lang="en-US" dirty="0" smtClean="0"/>
              <a:t>Rework</a:t>
            </a:r>
            <a:r>
              <a:rPr lang="en-US" dirty="0"/>
              <a:t>,</a:t>
            </a:r>
          </a:p>
          <a:p>
            <a:pPr>
              <a:buClrTx/>
              <a:buFont typeface="Arial" panose="020B0604020202020204" pitchFamily="34" charset="0"/>
              <a:buChar char="•"/>
            </a:pPr>
            <a:r>
              <a:rPr lang="en-US" dirty="0" smtClean="0"/>
              <a:t>Uncontrolled </a:t>
            </a:r>
            <a:r>
              <a:rPr lang="en-US" dirty="0"/>
              <a:t>expansion of the project,</a:t>
            </a:r>
          </a:p>
          <a:p>
            <a:pPr>
              <a:buClrTx/>
              <a:buFont typeface="Arial" panose="020B0604020202020204" pitchFamily="34" charset="0"/>
              <a:buChar char="•"/>
            </a:pPr>
            <a:r>
              <a:rPr lang="en-US" dirty="0" smtClean="0"/>
              <a:t>Loss </a:t>
            </a:r>
            <a:r>
              <a:rPr lang="en-US" dirty="0"/>
              <a:t>of reputation for the organization,</a:t>
            </a:r>
          </a:p>
          <a:p>
            <a:pPr>
              <a:buClrTx/>
              <a:buFont typeface="Arial" panose="020B0604020202020204" pitchFamily="34" charset="0"/>
              <a:buChar char="•"/>
            </a:pPr>
            <a:r>
              <a:rPr lang="en-US" dirty="0" smtClean="0"/>
              <a:t>Unsatisfied </a:t>
            </a:r>
            <a:r>
              <a:rPr lang="en-US" dirty="0"/>
              <a:t>stakeholders, and</a:t>
            </a:r>
          </a:p>
          <a:p>
            <a:pPr>
              <a:buClrTx/>
              <a:buFont typeface="Arial" panose="020B0604020202020204" pitchFamily="34" charset="0"/>
              <a:buChar char="•"/>
            </a:pPr>
            <a:r>
              <a:rPr lang="en-US" dirty="0" smtClean="0"/>
              <a:t>Failure </a:t>
            </a:r>
            <a:r>
              <a:rPr lang="en-US" dirty="0"/>
              <a:t>in achieving the objectives for which the project was undertaken.</a:t>
            </a:r>
          </a:p>
        </p:txBody>
      </p:sp>
    </p:spTree>
    <p:extLst>
      <p:ext uri="{BB962C8B-B14F-4D97-AF65-F5344CB8AC3E}">
        <p14:creationId xmlns:p14="http://schemas.microsoft.com/office/powerpoint/2010/main" val="1638619156"/>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dirty="0" smtClean="0"/>
              <a:t>4 </a:t>
            </a:r>
            <a:r>
              <a:rPr lang="en-US" sz="4800" dirty="0"/>
              <a:t>Ps of </a:t>
            </a:r>
            <a:r>
              <a:rPr lang="en-US" sz="4800" dirty="0" smtClean="0"/>
              <a:t>Software Project Management</a:t>
            </a:r>
            <a:endParaRPr lang="en-US" sz="4400" dirty="0"/>
          </a:p>
        </p:txBody>
      </p:sp>
      <p:pic>
        <p:nvPicPr>
          <p:cNvPr id="4" name="Picture 3"/>
          <p:cNvPicPr>
            <a:picLocks noChangeAspect="1"/>
          </p:cNvPicPr>
          <p:nvPr/>
        </p:nvPicPr>
        <p:blipFill>
          <a:blip r:embed="rId3"/>
          <a:stretch>
            <a:fillRect/>
          </a:stretch>
        </p:blipFill>
        <p:spPr>
          <a:xfrm>
            <a:off x="3800475" y="1417320"/>
            <a:ext cx="5191125" cy="4095750"/>
          </a:xfrm>
          <a:prstGeom prst="rect">
            <a:avLst/>
          </a:prstGeom>
        </p:spPr>
      </p:pic>
      <p:sp>
        <p:nvSpPr>
          <p:cNvPr id="3" name="Text Placeholder 2"/>
          <p:cNvSpPr>
            <a:spLocks noGrp="1"/>
          </p:cNvSpPr>
          <p:nvPr>
            <p:ph type="body" sz="quarter" idx="13"/>
          </p:nvPr>
        </p:nvSpPr>
        <p:spPr>
          <a:xfrm>
            <a:off x="457203" y="1447800"/>
            <a:ext cx="3505198" cy="4495800"/>
          </a:xfrm>
        </p:spPr>
        <p:txBody>
          <a:bodyPr>
            <a:normAutofit/>
          </a:bodyPr>
          <a:lstStyle/>
          <a:p>
            <a:pPr fontAlgn="auto"/>
            <a:r>
              <a:rPr lang="en-US" sz="2800" dirty="0" smtClean="0"/>
              <a:t>Without </a:t>
            </a:r>
            <a:r>
              <a:rPr lang="en-US" sz="2800" dirty="0"/>
              <a:t>them, the planning and execution phases of your project are very vulnerable to threats and roadblocks. To be more exact, it will be much more difficult for the team to achieve the project’s objectives.</a:t>
            </a:r>
            <a:endParaRPr lang="en-US" sz="4000" dirty="0" smtClean="0"/>
          </a:p>
          <a:p>
            <a:endParaRPr lang="en-US" sz="3200" dirty="0"/>
          </a:p>
        </p:txBody>
      </p:sp>
    </p:spTree>
    <p:extLst>
      <p:ext uri="{BB962C8B-B14F-4D97-AF65-F5344CB8AC3E}">
        <p14:creationId xmlns:p14="http://schemas.microsoft.com/office/powerpoint/2010/main" val="26556559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People</a:t>
            </a:r>
            <a:endParaRPr lang="en-US" sz="4400" dirty="0"/>
          </a:p>
        </p:txBody>
      </p:sp>
      <p:sp>
        <p:nvSpPr>
          <p:cNvPr id="3" name="Text Placeholder 2"/>
          <p:cNvSpPr>
            <a:spLocks noGrp="1"/>
          </p:cNvSpPr>
          <p:nvPr>
            <p:ph type="body" sz="quarter" idx="13"/>
          </p:nvPr>
        </p:nvSpPr>
        <p:spPr>
          <a:xfrm>
            <a:off x="457203" y="1447800"/>
            <a:ext cx="8381998" cy="4495800"/>
          </a:xfrm>
        </p:spPr>
        <p:txBody>
          <a:bodyPr>
            <a:normAutofit/>
          </a:bodyPr>
          <a:lstStyle/>
          <a:p>
            <a:r>
              <a:rPr lang="en-US" sz="2800" dirty="0"/>
              <a:t>the most important factor in success of software</a:t>
            </a:r>
            <a:br>
              <a:rPr lang="en-US" sz="2800" dirty="0"/>
            </a:br>
            <a:r>
              <a:rPr lang="en-US" sz="2800" dirty="0"/>
              <a:t>project.</a:t>
            </a:r>
          </a:p>
          <a:p>
            <a:r>
              <a:rPr lang="en-US" sz="2800" dirty="0"/>
              <a:t>Companies That sensibly manage their investment</a:t>
            </a:r>
            <a:br>
              <a:rPr lang="en-US" sz="2800" dirty="0"/>
            </a:br>
            <a:r>
              <a:rPr lang="en-US" sz="2800" dirty="0"/>
              <a:t>in people will prosper in the long run .</a:t>
            </a:r>
          </a:p>
          <a:p>
            <a:r>
              <a:rPr lang="en-US" sz="2800" dirty="0"/>
              <a:t>Cultivation of motivated and highly skilled</a:t>
            </a:r>
            <a:br>
              <a:rPr lang="en-US" sz="2800" dirty="0"/>
            </a:br>
            <a:r>
              <a:rPr lang="en-US" sz="2800" dirty="0"/>
              <a:t>software people has always been important for</a:t>
            </a:r>
            <a:br>
              <a:rPr lang="en-US" sz="2800" dirty="0"/>
            </a:br>
            <a:r>
              <a:rPr lang="en-US" sz="2800" dirty="0"/>
              <a:t>software organizations.</a:t>
            </a:r>
          </a:p>
          <a:p>
            <a:r>
              <a:rPr lang="en-US" sz="2800" dirty="0"/>
              <a:t>The people-factor is so important that has</a:t>
            </a:r>
            <a:br>
              <a:rPr lang="en-US" sz="2800" dirty="0"/>
            </a:br>
            <a:r>
              <a:rPr lang="en-US" sz="2800" dirty="0"/>
              <a:t>developed People Management Capability Maturity</a:t>
            </a:r>
            <a:br>
              <a:rPr lang="en-US" sz="2800" dirty="0"/>
            </a:br>
            <a:r>
              <a:rPr lang="en-US" sz="2800" dirty="0"/>
              <a:t>Model (PM-CMM).</a:t>
            </a:r>
          </a:p>
          <a:p>
            <a:endParaRPr lang="en-US" sz="3200" dirty="0"/>
          </a:p>
        </p:txBody>
      </p:sp>
    </p:spTree>
    <p:extLst>
      <p:ext uri="{BB962C8B-B14F-4D97-AF65-F5344CB8AC3E}">
        <p14:creationId xmlns:p14="http://schemas.microsoft.com/office/powerpoint/2010/main" val="1219714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PM-CMM</a:t>
            </a:r>
            <a:endParaRPr lang="en-US" sz="4400" dirty="0"/>
          </a:p>
        </p:txBody>
      </p:sp>
      <p:sp>
        <p:nvSpPr>
          <p:cNvPr id="3" name="Text Placeholder 2"/>
          <p:cNvSpPr>
            <a:spLocks noGrp="1"/>
          </p:cNvSpPr>
          <p:nvPr>
            <p:ph type="body" sz="quarter" idx="13"/>
          </p:nvPr>
        </p:nvSpPr>
        <p:spPr>
          <a:xfrm>
            <a:off x="457203" y="1219200"/>
            <a:ext cx="8381998" cy="4724400"/>
          </a:xfrm>
        </p:spPr>
        <p:txBody>
          <a:bodyPr>
            <a:normAutofit fontScale="77500" lnSpcReduction="20000"/>
          </a:bodyPr>
          <a:lstStyle/>
          <a:p>
            <a:r>
              <a:rPr lang="en-US" sz="2800" dirty="0" smtClean="0"/>
              <a:t>Developed by the </a:t>
            </a:r>
            <a:r>
              <a:rPr lang="en-US" sz="2800" dirty="0"/>
              <a:t>Software Engineering Institute (SEI)</a:t>
            </a:r>
          </a:p>
          <a:p>
            <a:pPr lvl="1"/>
            <a:r>
              <a:rPr lang="en-US" sz="2500" dirty="0" smtClean="0"/>
              <a:t>In </a:t>
            </a:r>
            <a:r>
              <a:rPr lang="en-US" sz="2500" dirty="0"/>
              <a:t>simple words - to enhance the </a:t>
            </a:r>
            <a:r>
              <a:rPr lang="en-US" sz="2500" dirty="0" smtClean="0"/>
              <a:t>peoples capabilities through personnel </a:t>
            </a:r>
            <a:r>
              <a:rPr lang="en-US" sz="2500" dirty="0"/>
              <a:t>development</a:t>
            </a:r>
          </a:p>
          <a:p>
            <a:r>
              <a:rPr lang="en-US" sz="2800" dirty="0"/>
              <a:t>Organizations that achieve high levels </a:t>
            </a:r>
            <a:r>
              <a:rPr lang="en-US" sz="2800" dirty="0" smtClean="0"/>
              <a:t>of maturity </a:t>
            </a:r>
            <a:r>
              <a:rPr lang="en-US" sz="2800" dirty="0"/>
              <a:t>in PM-CMM have a higher likelihood </a:t>
            </a:r>
            <a:r>
              <a:rPr lang="en-US" sz="2800" dirty="0" smtClean="0"/>
              <a:t>of implementing </a:t>
            </a:r>
            <a:r>
              <a:rPr lang="en-US" sz="2800" dirty="0"/>
              <a:t>effective software engineering</a:t>
            </a:r>
            <a:br>
              <a:rPr lang="en-US" sz="2800" dirty="0"/>
            </a:br>
            <a:r>
              <a:rPr lang="en-US" sz="2800" dirty="0"/>
              <a:t>practices</a:t>
            </a:r>
          </a:p>
          <a:p>
            <a:r>
              <a:rPr lang="en-US" sz="3200" dirty="0"/>
              <a:t>Key Practice Areas of PM-CMM</a:t>
            </a:r>
          </a:p>
          <a:p>
            <a:pPr lvl="1"/>
            <a:r>
              <a:rPr lang="en-US" sz="2900" dirty="0"/>
              <a:t>Recruiting</a:t>
            </a:r>
          </a:p>
          <a:p>
            <a:pPr lvl="1"/>
            <a:r>
              <a:rPr lang="en-US" sz="2900" dirty="0"/>
              <a:t>Selection</a:t>
            </a:r>
          </a:p>
          <a:p>
            <a:pPr lvl="1"/>
            <a:r>
              <a:rPr lang="en-US" sz="2900" dirty="0"/>
              <a:t>Performance Management</a:t>
            </a:r>
          </a:p>
          <a:p>
            <a:pPr lvl="1"/>
            <a:r>
              <a:rPr lang="en-US" sz="2900" dirty="0"/>
              <a:t>Training</a:t>
            </a:r>
          </a:p>
          <a:p>
            <a:pPr lvl="1"/>
            <a:r>
              <a:rPr lang="en-US" sz="2900" dirty="0"/>
              <a:t>Compensation</a:t>
            </a:r>
          </a:p>
          <a:p>
            <a:pPr lvl="1"/>
            <a:r>
              <a:rPr lang="en-US" sz="2900" dirty="0"/>
              <a:t>Career development</a:t>
            </a:r>
          </a:p>
          <a:p>
            <a:pPr lvl="1"/>
            <a:r>
              <a:rPr lang="en-US" sz="2900" dirty="0"/>
              <a:t>Organization and work design</a:t>
            </a:r>
          </a:p>
          <a:p>
            <a:pPr lvl="1"/>
            <a:r>
              <a:rPr lang="en-US" sz="2900" dirty="0"/>
              <a:t>Team/culture development</a:t>
            </a:r>
          </a:p>
          <a:p>
            <a:endParaRPr lang="en-US" sz="3200" dirty="0"/>
          </a:p>
        </p:txBody>
      </p:sp>
    </p:spTree>
    <p:extLst>
      <p:ext uri="{BB962C8B-B14F-4D97-AF65-F5344CB8AC3E}">
        <p14:creationId xmlns:p14="http://schemas.microsoft.com/office/powerpoint/2010/main" val="5179204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People Involved in SPM</a:t>
            </a:r>
            <a:r>
              <a:rPr lang="en-US" sz="4400" dirty="0" smtClean="0"/>
              <a:t> </a:t>
            </a:r>
            <a:endParaRPr lang="en-US" sz="4400" dirty="0"/>
          </a:p>
        </p:txBody>
      </p:sp>
      <p:sp>
        <p:nvSpPr>
          <p:cNvPr id="3" name="Text Placeholder 2"/>
          <p:cNvSpPr>
            <a:spLocks noGrp="1"/>
          </p:cNvSpPr>
          <p:nvPr>
            <p:ph type="body" sz="quarter" idx="13"/>
          </p:nvPr>
        </p:nvSpPr>
        <p:spPr>
          <a:xfrm>
            <a:off x="457203" y="1447800"/>
            <a:ext cx="8381998" cy="4495800"/>
          </a:xfrm>
        </p:spPr>
        <p:txBody>
          <a:bodyPr>
            <a:normAutofit fontScale="92500" lnSpcReduction="10000"/>
          </a:bodyPr>
          <a:lstStyle/>
          <a:p>
            <a:r>
              <a:rPr lang="en-US" sz="2800" dirty="0" smtClean="0"/>
              <a:t>Stakeholders are all </a:t>
            </a:r>
            <a:r>
              <a:rPr lang="en-US" sz="2800" dirty="0"/>
              <a:t>the people involved in the </a:t>
            </a:r>
            <a:r>
              <a:rPr lang="en-US" sz="2800" dirty="0" smtClean="0"/>
              <a:t>project and they can be categorized as</a:t>
            </a:r>
            <a:endParaRPr lang="en-US" sz="2800" dirty="0"/>
          </a:p>
          <a:p>
            <a:pPr lvl="1"/>
            <a:r>
              <a:rPr lang="en-US" sz="2500" dirty="0"/>
              <a:t>Senior Managers: they define business issues that often have</a:t>
            </a:r>
            <a:br>
              <a:rPr lang="en-US" sz="2500" dirty="0"/>
            </a:br>
            <a:r>
              <a:rPr lang="en-US" sz="2500" dirty="0"/>
              <a:t>significant influence on business</a:t>
            </a:r>
          </a:p>
          <a:p>
            <a:pPr lvl="1"/>
            <a:r>
              <a:rPr lang="en-US" sz="2500" dirty="0"/>
              <a:t>Project (technical) managers: they must plan, motivate, organize and control the practitioners who do software work</a:t>
            </a:r>
          </a:p>
          <a:p>
            <a:pPr lvl="1"/>
            <a:r>
              <a:rPr lang="en-US" sz="2500" dirty="0"/>
              <a:t>Practitioners(IT Professionals, System Analysts, Team Leader): They deliver the technical skills necessary to engineer a product or application</a:t>
            </a:r>
          </a:p>
          <a:p>
            <a:pPr lvl="1"/>
            <a:r>
              <a:rPr lang="en-US" sz="2500" dirty="0"/>
              <a:t>Customers: They specify the requirements for the software to</a:t>
            </a:r>
            <a:br>
              <a:rPr lang="en-US" sz="2500" dirty="0"/>
            </a:br>
            <a:r>
              <a:rPr lang="en-US" sz="2500" dirty="0"/>
              <a:t>be engineered</a:t>
            </a:r>
          </a:p>
          <a:p>
            <a:pPr lvl="1"/>
            <a:r>
              <a:rPr lang="en-US" sz="2500" dirty="0"/>
              <a:t>End Users: They interact with the software after it is released for production </a:t>
            </a:r>
            <a:r>
              <a:rPr lang="en-US" sz="2500" dirty="0" smtClean="0"/>
              <a:t>use</a:t>
            </a:r>
            <a:endParaRPr lang="en-US" sz="2900" dirty="0"/>
          </a:p>
          <a:p>
            <a:endParaRPr lang="en-US" sz="2800" dirty="0" smtClean="0"/>
          </a:p>
        </p:txBody>
      </p:sp>
    </p:spTree>
    <p:extLst>
      <p:ext uri="{BB962C8B-B14F-4D97-AF65-F5344CB8AC3E}">
        <p14:creationId xmlns:p14="http://schemas.microsoft.com/office/powerpoint/2010/main" val="40744903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Product</a:t>
            </a:r>
            <a:endParaRPr lang="en-US" dirty="0"/>
          </a:p>
        </p:txBody>
      </p:sp>
      <p:sp>
        <p:nvSpPr>
          <p:cNvPr id="3" name="Text Placeholder 2"/>
          <p:cNvSpPr>
            <a:spLocks noGrp="1"/>
          </p:cNvSpPr>
          <p:nvPr>
            <p:ph type="body" sz="quarter" idx="13"/>
          </p:nvPr>
        </p:nvSpPr>
        <p:spPr>
          <a:xfrm>
            <a:off x="457202" y="1219200"/>
            <a:ext cx="8381999" cy="4724400"/>
          </a:xfrm>
        </p:spPr>
        <p:txBody>
          <a:bodyPr>
            <a:normAutofit lnSpcReduction="10000"/>
          </a:bodyPr>
          <a:lstStyle/>
          <a:p>
            <a:r>
              <a:rPr lang="en-US" dirty="0"/>
              <a:t>The product and the problem it is intended </a:t>
            </a:r>
            <a:r>
              <a:rPr lang="en-US" dirty="0" smtClean="0"/>
              <a:t>to solve </a:t>
            </a:r>
            <a:r>
              <a:rPr lang="en-US" dirty="0"/>
              <a:t>must be examined at very beginning of </a:t>
            </a:r>
            <a:r>
              <a:rPr lang="en-US" dirty="0" smtClean="0"/>
              <a:t>the software </a:t>
            </a:r>
            <a:r>
              <a:rPr lang="en-US" dirty="0"/>
              <a:t>project.</a:t>
            </a:r>
          </a:p>
          <a:p>
            <a:r>
              <a:rPr lang="en-US" dirty="0"/>
              <a:t>The scope of product must be established </a:t>
            </a:r>
            <a:r>
              <a:rPr lang="en-US" dirty="0" smtClean="0"/>
              <a:t>and bounded. </a:t>
            </a:r>
          </a:p>
          <a:p>
            <a:r>
              <a:rPr lang="en-US" dirty="0" smtClean="0"/>
              <a:t>Bounded </a:t>
            </a:r>
            <a:r>
              <a:rPr lang="en-US" dirty="0"/>
              <a:t>scope </a:t>
            </a:r>
            <a:r>
              <a:rPr lang="en-US" dirty="0" smtClean="0"/>
              <a:t>means establishing </a:t>
            </a:r>
            <a:r>
              <a:rPr lang="en-US" dirty="0"/>
              <a:t>quantitative data like no. </a:t>
            </a:r>
            <a:r>
              <a:rPr lang="en-US" dirty="0" smtClean="0"/>
              <a:t>of simultaneous </a:t>
            </a:r>
            <a:r>
              <a:rPr lang="en-US" dirty="0"/>
              <a:t>users, max. allowable response </a:t>
            </a:r>
            <a:r>
              <a:rPr lang="en-US" dirty="0" smtClean="0"/>
              <a:t>time. etc</a:t>
            </a:r>
            <a:r>
              <a:rPr lang="en-US" dirty="0"/>
              <a:t>.</a:t>
            </a:r>
          </a:p>
          <a:p>
            <a:r>
              <a:rPr lang="en-US" dirty="0"/>
              <a:t>Constraints and </a:t>
            </a:r>
            <a:r>
              <a:rPr lang="en-US" dirty="0" smtClean="0"/>
              <a:t>limitations</a:t>
            </a:r>
          </a:p>
          <a:p>
            <a:r>
              <a:rPr lang="en-US" dirty="0" smtClean="0"/>
              <a:t>The product </a:t>
            </a:r>
            <a:r>
              <a:rPr lang="en-US" dirty="0"/>
              <a:t>doesn’t necessarily refer to a physical product. It is simply whatever represents the goal of the project. </a:t>
            </a:r>
            <a:endParaRPr lang="en-US" dirty="0" smtClean="0"/>
          </a:p>
          <a:p>
            <a:pPr lvl="1"/>
            <a:r>
              <a:rPr lang="en-US" dirty="0" smtClean="0"/>
              <a:t>For example, The </a:t>
            </a:r>
            <a:r>
              <a:rPr lang="en-US" dirty="0"/>
              <a:t>development of a marketing strategy or </a:t>
            </a:r>
            <a:r>
              <a:rPr lang="en-US" dirty="0" smtClean="0"/>
              <a:t>campaign, </a:t>
            </a:r>
            <a:r>
              <a:rPr lang="en-US" dirty="0"/>
              <a:t>or the realization of a new business division.</a:t>
            </a:r>
          </a:p>
          <a:p>
            <a:r>
              <a:rPr lang="en-US" dirty="0"/>
              <a:t>The resources, materials, quality, and everything else that defines the development of the project belong to the P of product. </a:t>
            </a:r>
            <a:endParaRPr lang="en-US" dirty="0" smtClean="0"/>
          </a:p>
          <a:p>
            <a:r>
              <a:rPr lang="en-US" dirty="0" smtClean="0"/>
              <a:t>Having </a:t>
            </a:r>
            <a:r>
              <a:rPr lang="en-US" dirty="0"/>
              <a:t>a profound understanding of all the elements related to the product will help the project manager to define and control the deliverables throughout the project life cycle. </a:t>
            </a:r>
          </a:p>
          <a:p>
            <a:endParaRPr lang="en-US" dirty="0"/>
          </a:p>
        </p:txBody>
      </p:sp>
    </p:spTree>
    <p:extLst>
      <p:ext uri="{BB962C8B-B14F-4D97-AF65-F5344CB8AC3E}">
        <p14:creationId xmlns:p14="http://schemas.microsoft.com/office/powerpoint/2010/main" val="19332538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dirty="0" smtClean="0"/>
              <a:t>Process</a:t>
            </a:r>
            <a:endParaRPr lang="en-US" dirty="0"/>
          </a:p>
        </p:txBody>
      </p:sp>
      <p:sp>
        <p:nvSpPr>
          <p:cNvPr id="3" name="Text Placeholder 2"/>
          <p:cNvSpPr>
            <a:spLocks noGrp="1"/>
          </p:cNvSpPr>
          <p:nvPr>
            <p:ph type="body" sz="quarter" idx="13"/>
          </p:nvPr>
        </p:nvSpPr>
        <p:spPr>
          <a:xfrm>
            <a:off x="457202" y="1295400"/>
            <a:ext cx="8381999" cy="4648200"/>
          </a:xfrm>
        </p:spPr>
        <p:txBody>
          <a:bodyPr/>
          <a:lstStyle/>
          <a:p>
            <a:r>
              <a:rPr lang="en-US" dirty="0" smtClean="0"/>
              <a:t>Methodology the </a:t>
            </a:r>
            <a:r>
              <a:rPr lang="en-US" dirty="0"/>
              <a:t>team will follow in order to produce the </a:t>
            </a:r>
            <a:r>
              <a:rPr lang="en-US" dirty="0" smtClean="0"/>
              <a:t>product</a:t>
            </a:r>
          </a:p>
          <a:p>
            <a:r>
              <a:rPr lang="en-US" dirty="0"/>
              <a:t> </a:t>
            </a:r>
            <a:r>
              <a:rPr lang="en-US" dirty="0" smtClean="0"/>
              <a:t>Product </a:t>
            </a:r>
            <a:r>
              <a:rPr lang="en-US" dirty="0"/>
              <a:t>is what they will deliver, the process focuses on how they will deliver it</a:t>
            </a:r>
            <a:r>
              <a:rPr lang="en-US" dirty="0" smtClean="0"/>
              <a:t>.</a:t>
            </a:r>
          </a:p>
          <a:p>
            <a:r>
              <a:rPr lang="en-US" dirty="0"/>
              <a:t>This involves the exact tasks and activities that need to be completed, as well as </a:t>
            </a:r>
            <a:r>
              <a:rPr lang="en-US" dirty="0" smtClean="0"/>
              <a:t>putting </a:t>
            </a:r>
            <a:r>
              <a:rPr lang="en-US" dirty="0"/>
              <a:t>a specific project management methodology in place. </a:t>
            </a:r>
            <a:endParaRPr lang="en-US" dirty="0" smtClean="0"/>
          </a:p>
          <a:p>
            <a:r>
              <a:rPr lang="en-US" dirty="0"/>
              <a:t>A way to optimize and accelerate the process is to implement project management software. </a:t>
            </a:r>
            <a:endParaRPr lang="en-US" dirty="0" smtClean="0"/>
          </a:p>
          <a:p>
            <a:r>
              <a:rPr lang="en-US" dirty="0" smtClean="0"/>
              <a:t>One </a:t>
            </a:r>
            <a:r>
              <a:rPr lang="en-US" dirty="0"/>
              <a:t>of the major benefits is always having a visual representation of how the process is outlined, and how it’s progressing.</a:t>
            </a:r>
          </a:p>
        </p:txBody>
      </p:sp>
    </p:spTree>
    <p:extLst>
      <p:ext uri="{BB962C8B-B14F-4D97-AF65-F5344CB8AC3E}">
        <p14:creationId xmlns:p14="http://schemas.microsoft.com/office/powerpoint/2010/main" val="21619034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dirty="0" smtClean="0"/>
              <a:t>Project</a:t>
            </a:r>
            <a:endParaRPr lang="en-US" dirty="0"/>
          </a:p>
        </p:txBody>
      </p:sp>
      <p:sp>
        <p:nvSpPr>
          <p:cNvPr id="3" name="Text Placeholder 2"/>
          <p:cNvSpPr>
            <a:spLocks noGrp="1"/>
          </p:cNvSpPr>
          <p:nvPr>
            <p:ph type="body" sz="quarter" idx="13"/>
          </p:nvPr>
        </p:nvSpPr>
        <p:spPr>
          <a:xfrm>
            <a:off x="457202" y="1295400"/>
            <a:ext cx="8381999" cy="4648200"/>
          </a:xfrm>
        </p:spPr>
        <p:txBody>
          <a:bodyPr>
            <a:normAutofit lnSpcReduction="10000"/>
          </a:bodyPr>
          <a:lstStyle/>
          <a:p>
            <a:r>
              <a:rPr lang="en-US" dirty="0" smtClean="0"/>
              <a:t>In this all </a:t>
            </a:r>
            <a:r>
              <a:rPr lang="en-US" dirty="0"/>
              <a:t>of the emphasis on the importance of the project manager. </a:t>
            </a:r>
            <a:endParaRPr lang="en-US" dirty="0" smtClean="0"/>
          </a:p>
          <a:p>
            <a:r>
              <a:rPr lang="en-US" dirty="0"/>
              <a:t>The project manager coordinates and controls the whole project through its life cycle, maintaining an overview at all </a:t>
            </a:r>
            <a:r>
              <a:rPr lang="en-US" dirty="0" smtClean="0"/>
              <a:t>times</a:t>
            </a:r>
          </a:p>
          <a:p>
            <a:r>
              <a:rPr lang="en-US" dirty="0"/>
              <a:t>Closely monitoring everything, the project manager makes sure that all team members have the data and resources they need to keep the project moving forward. They guide the team in other ways too, by keeping them motivated and holding them accountable.</a:t>
            </a:r>
          </a:p>
          <a:p>
            <a:r>
              <a:rPr lang="en-US" dirty="0"/>
              <a:t>Every little update or activity is overseen by the project manager, who deals with obstacles and keeps track of the budget and deliverables every step of the way</a:t>
            </a:r>
            <a:r>
              <a:rPr lang="en-US" dirty="0" smtClean="0"/>
              <a:t>.</a:t>
            </a:r>
          </a:p>
          <a:p>
            <a:r>
              <a:rPr lang="en-US" dirty="0"/>
              <a:t>checking on cost and budget, and making sure that the project stays on track with the given deadlines</a:t>
            </a:r>
          </a:p>
          <a:p>
            <a:r>
              <a:rPr lang="en-US" dirty="0"/>
              <a:t>Ultimately, the P for project can be defined as the structure or framework that is governed by the project manager in order to achieve the project’s objectives. </a:t>
            </a:r>
          </a:p>
          <a:p>
            <a:endParaRPr lang="en-US" dirty="0"/>
          </a:p>
        </p:txBody>
      </p:sp>
    </p:spTree>
    <p:extLst>
      <p:ext uri="{BB962C8B-B14F-4D97-AF65-F5344CB8AC3E}">
        <p14:creationId xmlns:p14="http://schemas.microsoft.com/office/powerpoint/2010/main" val="18865486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5 Ps of Management</a:t>
            </a:r>
          </a:p>
        </p:txBody>
      </p:sp>
      <p:pic>
        <p:nvPicPr>
          <p:cNvPr id="4" name="Picture 3"/>
          <p:cNvPicPr>
            <a:picLocks noChangeAspect="1"/>
          </p:cNvPicPr>
          <p:nvPr/>
        </p:nvPicPr>
        <p:blipFill rotWithShape="1">
          <a:blip r:embed="rId3"/>
          <a:srcRect l="17098" t="-1" r="18423" b="7936"/>
          <a:stretch/>
        </p:blipFill>
        <p:spPr>
          <a:xfrm>
            <a:off x="5410200" y="1752600"/>
            <a:ext cx="3200400" cy="3314700"/>
          </a:xfrm>
          <a:prstGeom prst="rect">
            <a:avLst/>
          </a:prstGeom>
        </p:spPr>
      </p:pic>
      <p:sp>
        <p:nvSpPr>
          <p:cNvPr id="3" name="Text Placeholder 2"/>
          <p:cNvSpPr>
            <a:spLocks noGrp="1"/>
          </p:cNvSpPr>
          <p:nvPr>
            <p:ph type="body" sz="quarter" idx="13"/>
          </p:nvPr>
        </p:nvSpPr>
        <p:spPr>
          <a:xfrm>
            <a:off x="457202" y="1371600"/>
            <a:ext cx="4952998" cy="4495800"/>
          </a:xfrm>
        </p:spPr>
        <p:txBody>
          <a:bodyPr>
            <a:normAutofit fontScale="40000" lnSpcReduction="20000"/>
          </a:bodyPr>
          <a:lstStyle/>
          <a:p>
            <a:r>
              <a:rPr lang="en-US" sz="5000" dirty="0"/>
              <a:t>Management is not about functions, but rather it is about the process of achieving organizational goals and creating value.</a:t>
            </a:r>
          </a:p>
          <a:p>
            <a:r>
              <a:rPr lang="en-US" sz="5000" dirty="0" smtClean="0"/>
              <a:t>Globally competition </a:t>
            </a:r>
            <a:r>
              <a:rPr lang="en-US" sz="5000" dirty="0"/>
              <a:t>is based on </a:t>
            </a:r>
            <a:r>
              <a:rPr lang="en-US" sz="5000" dirty="0" smtClean="0"/>
              <a:t>knowledge and the </a:t>
            </a:r>
            <a:r>
              <a:rPr lang="en-US" sz="5000" dirty="0"/>
              <a:t>environment is changing rapidly. </a:t>
            </a:r>
            <a:endParaRPr lang="en-US" sz="5000" dirty="0" smtClean="0"/>
          </a:p>
          <a:p>
            <a:r>
              <a:rPr lang="en-US" sz="5000" dirty="0" smtClean="0"/>
              <a:t>Employees</a:t>
            </a:r>
            <a:r>
              <a:rPr lang="en-US" sz="5000" dirty="0"/>
              <a:t>, suppliers, and shareholders have more knowledge and information than ever before, and there is, therefore, a need for a framework which enables managers to make decisions which lead to value creation</a:t>
            </a:r>
            <a:r>
              <a:rPr lang="en-US" sz="5000" dirty="0" smtClean="0"/>
              <a:t>.</a:t>
            </a:r>
          </a:p>
          <a:p>
            <a:r>
              <a:rPr lang="en-US" sz="5000" dirty="0" smtClean="0"/>
              <a:t> </a:t>
            </a:r>
            <a:r>
              <a:rPr lang="en-US" sz="5000" dirty="0"/>
              <a:t>The 5 P’s of management provide such a </a:t>
            </a:r>
            <a:r>
              <a:rPr lang="en-US" sz="5000" dirty="0" smtClean="0"/>
              <a:t>framework which are:</a:t>
            </a:r>
            <a:endParaRPr lang="en-US" sz="5000" dirty="0"/>
          </a:p>
          <a:p>
            <a:pPr marL="685800" lvl="1" indent="-342900">
              <a:buFont typeface="+mj-lt"/>
              <a:buAutoNum type="arabicPeriod"/>
            </a:pPr>
            <a:r>
              <a:rPr lang="en-US" sz="4500" dirty="0"/>
              <a:t>Plan</a:t>
            </a:r>
          </a:p>
          <a:p>
            <a:pPr marL="685800" lvl="1" indent="-342900">
              <a:buFont typeface="+mj-lt"/>
              <a:buAutoNum type="arabicPeriod"/>
            </a:pPr>
            <a:r>
              <a:rPr lang="en-US" sz="4500" dirty="0"/>
              <a:t>Process</a:t>
            </a:r>
          </a:p>
          <a:p>
            <a:pPr marL="685800" lvl="1" indent="-342900">
              <a:buFont typeface="+mj-lt"/>
              <a:buAutoNum type="arabicPeriod"/>
            </a:pPr>
            <a:r>
              <a:rPr lang="en-US" sz="4500" dirty="0"/>
              <a:t>People</a:t>
            </a:r>
          </a:p>
          <a:p>
            <a:pPr marL="685800" lvl="1" indent="-342900">
              <a:buFont typeface="+mj-lt"/>
              <a:buAutoNum type="arabicPeriod"/>
            </a:pPr>
            <a:r>
              <a:rPr lang="en-US" sz="4500" dirty="0"/>
              <a:t>Possessions</a:t>
            </a:r>
          </a:p>
          <a:p>
            <a:pPr marL="685800" lvl="1" indent="-342900">
              <a:buFont typeface="+mj-lt"/>
              <a:buAutoNum type="arabicPeriod"/>
            </a:pPr>
            <a:r>
              <a:rPr lang="en-US" sz="4500" dirty="0"/>
              <a:t>Profits</a:t>
            </a:r>
          </a:p>
          <a:p>
            <a:endParaRPr lang="en-US" dirty="0"/>
          </a:p>
        </p:txBody>
      </p:sp>
    </p:spTree>
    <p:extLst>
      <p:ext uri="{BB962C8B-B14F-4D97-AF65-F5344CB8AC3E}">
        <p14:creationId xmlns:p14="http://schemas.microsoft.com/office/powerpoint/2010/main" val="4913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5 Ps of Management</a:t>
            </a:r>
            <a:endParaRPr lang="en-US" sz="4400" dirty="0"/>
          </a:p>
        </p:txBody>
      </p:sp>
      <p:sp>
        <p:nvSpPr>
          <p:cNvPr id="3" name="Text Placeholder 2"/>
          <p:cNvSpPr>
            <a:spLocks noGrp="1"/>
          </p:cNvSpPr>
          <p:nvPr>
            <p:ph type="body" sz="quarter" idx="13"/>
          </p:nvPr>
        </p:nvSpPr>
        <p:spPr/>
        <p:txBody>
          <a:bodyPr>
            <a:normAutofit/>
          </a:bodyPr>
          <a:lstStyle/>
          <a:p>
            <a:pPr fontAlgn="auto"/>
            <a:r>
              <a:rPr lang="en-US" b="1" dirty="0" smtClean="0"/>
              <a:t>Plan: </a:t>
            </a:r>
          </a:p>
          <a:p>
            <a:pPr lvl="1"/>
            <a:r>
              <a:rPr lang="en-US" dirty="0" smtClean="0"/>
              <a:t>The </a:t>
            </a:r>
            <a:r>
              <a:rPr lang="en-US" dirty="0"/>
              <a:t>managers do not have the opportunity of making decisions under a background of certainty. </a:t>
            </a:r>
            <a:endParaRPr lang="en-US" dirty="0" smtClean="0"/>
          </a:p>
          <a:p>
            <a:pPr lvl="1"/>
            <a:r>
              <a:rPr lang="en-US" dirty="0" smtClean="0"/>
              <a:t>Planning </a:t>
            </a:r>
            <a:r>
              <a:rPr lang="en-US" dirty="0"/>
              <a:t>involves setting clear and realistic goals, organizing business activity based on the revenues forecast, formulating strategies, preparing budgets, and implementing strategies, and evaluation and control systems.</a:t>
            </a:r>
          </a:p>
          <a:p>
            <a:pPr fontAlgn="auto"/>
            <a:r>
              <a:rPr lang="en-US" b="1" dirty="0" smtClean="0"/>
              <a:t>Process: </a:t>
            </a:r>
          </a:p>
          <a:p>
            <a:pPr lvl="1"/>
            <a:r>
              <a:rPr lang="en-US" dirty="0" smtClean="0"/>
              <a:t>includes </a:t>
            </a:r>
            <a:r>
              <a:rPr lang="en-US" dirty="0"/>
              <a:t>both business process and operational process. </a:t>
            </a:r>
            <a:endParaRPr lang="en-US" dirty="0" smtClean="0"/>
          </a:p>
          <a:p>
            <a:pPr lvl="1"/>
            <a:r>
              <a:rPr lang="en-US" dirty="0" smtClean="0"/>
              <a:t>The </a:t>
            </a:r>
            <a:r>
              <a:rPr lang="en-US" dirty="0"/>
              <a:t>business process is based on the business model of the firm. The business process guides the firm in generating revenues, managing costs, and generating profits. </a:t>
            </a:r>
            <a:endParaRPr lang="en-US" dirty="0" smtClean="0"/>
          </a:p>
          <a:p>
            <a:pPr lvl="1"/>
            <a:r>
              <a:rPr lang="en-US" dirty="0" smtClean="0"/>
              <a:t>An </a:t>
            </a:r>
            <a:r>
              <a:rPr lang="en-US" dirty="0"/>
              <a:t>operational process consists of multiple inputs, outputs, and processes that result in an organizational output (product or service). In the operational process, inputs arise from all the basic business functions, including marketing, finance, operations management, human resources, and technology as required. Managers select the appropriate inputs and process modules necessary for </a:t>
            </a:r>
            <a:r>
              <a:rPr lang="en-US" dirty="0" smtClean="0"/>
              <a:t>the</a:t>
            </a:r>
            <a:endParaRPr lang="en-US" dirty="0"/>
          </a:p>
        </p:txBody>
      </p:sp>
    </p:spTree>
    <p:extLst>
      <p:ext uri="{BB962C8B-B14F-4D97-AF65-F5344CB8AC3E}">
        <p14:creationId xmlns:p14="http://schemas.microsoft.com/office/powerpoint/2010/main" val="36903097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5 Ps of Management</a:t>
            </a:r>
            <a:endParaRPr lang="en-US" sz="4400" dirty="0"/>
          </a:p>
        </p:txBody>
      </p:sp>
      <p:sp>
        <p:nvSpPr>
          <p:cNvPr id="3" name="Text Placeholder 2"/>
          <p:cNvSpPr>
            <a:spLocks noGrp="1"/>
          </p:cNvSpPr>
          <p:nvPr>
            <p:ph type="body" sz="quarter" idx="13"/>
          </p:nvPr>
        </p:nvSpPr>
        <p:spPr/>
        <p:txBody>
          <a:bodyPr>
            <a:normAutofit/>
          </a:bodyPr>
          <a:lstStyle/>
          <a:p>
            <a:pPr fontAlgn="auto"/>
            <a:r>
              <a:rPr lang="en-US" sz="2800" b="1" dirty="0" smtClean="0"/>
              <a:t>People</a:t>
            </a:r>
            <a:r>
              <a:rPr lang="en-US" sz="2800" dirty="0" smtClean="0"/>
              <a:t>: </a:t>
            </a:r>
          </a:p>
          <a:p>
            <a:pPr lvl="1"/>
            <a:r>
              <a:rPr lang="en-US" sz="2400" dirty="0" smtClean="0"/>
              <a:t>include employees</a:t>
            </a:r>
            <a:r>
              <a:rPr lang="en-US" sz="2400" dirty="0"/>
              <a:t>, suppliers, customers, and shareholders. </a:t>
            </a:r>
          </a:p>
          <a:p>
            <a:pPr fontAlgn="auto"/>
            <a:r>
              <a:rPr lang="en-US" sz="2800" b="1" dirty="0" smtClean="0"/>
              <a:t>Possessions</a:t>
            </a:r>
            <a:r>
              <a:rPr lang="en-US" sz="2800" dirty="0" smtClean="0"/>
              <a:t>: </a:t>
            </a:r>
          </a:p>
          <a:p>
            <a:pPr lvl="1"/>
            <a:r>
              <a:rPr lang="en-US" sz="2400" dirty="0" smtClean="0"/>
              <a:t>include </a:t>
            </a:r>
            <a:r>
              <a:rPr lang="en-US" sz="2400" dirty="0"/>
              <a:t>assets and capital. </a:t>
            </a:r>
            <a:endParaRPr lang="en-US" sz="2400" dirty="0" smtClean="0"/>
          </a:p>
          <a:p>
            <a:pPr lvl="1"/>
            <a:r>
              <a:rPr lang="en-US" sz="2400" dirty="0" smtClean="0"/>
              <a:t>Organization </a:t>
            </a:r>
            <a:r>
              <a:rPr lang="en-US" sz="2400" dirty="0"/>
              <a:t>capital includes human capital, intellectual capital, economic capital, and marketing capital. </a:t>
            </a:r>
            <a:endParaRPr lang="en-US" sz="2400" dirty="0" smtClean="0"/>
          </a:p>
          <a:p>
            <a:r>
              <a:rPr lang="en-US" sz="2800" b="1" dirty="0" smtClean="0"/>
              <a:t>Profits</a:t>
            </a:r>
            <a:r>
              <a:rPr lang="en-US" sz="2800" dirty="0" smtClean="0"/>
              <a:t>: </a:t>
            </a:r>
          </a:p>
          <a:p>
            <a:pPr lvl="1"/>
            <a:r>
              <a:rPr lang="en-US" sz="2400" dirty="0" smtClean="0"/>
              <a:t>Managers </a:t>
            </a:r>
            <a:r>
              <a:rPr lang="en-US" sz="2400" dirty="0"/>
              <a:t>adopt management processes which have the potential of generating long-term profits. </a:t>
            </a:r>
            <a:endParaRPr lang="en-US" sz="2400" dirty="0" smtClean="0"/>
          </a:p>
          <a:p>
            <a:pPr lvl="1"/>
            <a:r>
              <a:rPr lang="en-US" sz="2400" dirty="0" smtClean="0"/>
              <a:t>Managers </a:t>
            </a:r>
            <a:r>
              <a:rPr lang="en-US" sz="2400" dirty="0"/>
              <a:t>evaluate organizational performance with both qualitative and quantitative measures.</a:t>
            </a:r>
          </a:p>
          <a:p>
            <a:endParaRPr lang="en-US" dirty="0"/>
          </a:p>
        </p:txBody>
      </p:sp>
    </p:spTree>
    <p:extLst>
      <p:ext uri="{BB962C8B-B14F-4D97-AF65-F5344CB8AC3E}">
        <p14:creationId xmlns:p14="http://schemas.microsoft.com/office/powerpoint/2010/main" val="31527214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49</a:t>
            </a:fld>
            <a:endParaRPr lang="en-US" dirty="0"/>
          </a:p>
        </p:txBody>
      </p:sp>
      <p:sp>
        <p:nvSpPr>
          <p:cNvPr id="2" name="Title 1"/>
          <p:cNvSpPr>
            <a:spLocks noGrp="1"/>
          </p:cNvSpPr>
          <p:nvPr>
            <p:ph type="title"/>
          </p:nvPr>
        </p:nvSpPr>
        <p:spPr>
          <a:xfrm>
            <a:off x="457202" y="548450"/>
            <a:ext cx="8381999" cy="585146"/>
          </a:xfrm>
        </p:spPr>
        <p:txBody>
          <a:bodyPr>
            <a:noAutofit/>
          </a:bodyPr>
          <a:lstStyle/>
          <a:p>
            <a:r>
              <a:rPr lang="en-US" sz="4800" dirty="0" smtClean="0"/>
              <a:t>SPM Process</a:t>
            </a:r>
            <a:endParaRPr lang="en-US" sz="2800" dirty="0"/>
          </a:p>
        </p:txBody>
      </p:sp>
      <p:pic>
        <p:nvPicPr>
          <p:cNvPr id="5" name="Picture 4"/>
          <p:cNvPicPr>
            <a:picLocks noChangeAspect="1"/>
          </p:cNvPicPr>
          <p:nvPr/>
        </p:nvPicPr>
        <p:blipFill>
          <a:blip r:embed="rId3"/>
          <a:stretch>
            <a:fillRect/>
          </a:stretch>
        </p:blipFill>
        <p:spPr>
          <a:xfrm>
            <a:off x="3733800" y="1239861"/>
            <a:ext cx="5334000" cy="4911678"/>
          </a:xfrm>
          <a:prstGeom prst="rect">
            <a:avLst/>
          </a:prstGeom>
        </p:spPr>
      </p:pic>
      <p:sp>
        <p:nvSpPr>
          <p:cNvPr id="3" name="Content Placeholder 2"/>
          <p:cNvSpPr>
            <a:spLocks noGrp="1"/>
          </p:cNvSpPr>
          <p:nvPr>
            <p:ph type="body" sz="quarter" idx="13"/>
          </p:nvPr>
        </p:nvSpPr>
        <p:spPr>
          <a:xfrm>
            <a:off x="457203" y="1447800"/>
            <a:ext cx="5029198" cy="4495800"/>
          </a:xfrm>
        </p:spPr>
        <p:txBody>
          <a:bodyPr>
            <a:normAutofit/>
          </a:bodyPr>
          <a:lstStyle/>
          <a:p>
            <a:r>
              <a:rPr lang="en-US" sz="2800" dirty="0" smtClean="0"/>
              <a:t>PM Lifecycle- </a:t>
            </a:r>
            <a:r>
              <a:rPr lang="en-US" sz="2800" dirty="0"/>
              <a:t>Every Project requires a series of processes to complete its objective. </a:t>
            </a:r>
          </a:p>
          <a:p>
            <a:r>
              <a:rPr lang="en-US" sz="2800" dirty="0" smtClean="0"/>
              <a:t>PMBOK  breaks the process of managing a project into 5 stages: </a:t>
            </a:r>
          </a:p>
          <a:p>
            <a:pPr marL="685800" lvl="1" indent="-342900">
              <a:buFont typeface="+mj-lt"/>
              <a:buAutoNum type="arabicPeriod"/>
            </a:pPr>
            <a:r>
              <a:rPr lang="en-US" sz="2400" dirty="0" smtClean="0"/>
              <a:t>Project Initiation</a:t>
            </a:r>
          </a:p>
          <a:p>
            <a:pPr marL="685800" lvl="1" indent="-342900">
              <a:buFont typeface="+mj-lt"/>
              <a:buAutoNum type="arabicPeriod"/>
            </a:pPr>
            <a:r>
              <a:rPr lang="en-US" sz="2400" dirty="0" smtClean="0"/>
              <a:t>Project Planning</a:t>
            </a:r>
          </a:p>
          <a:p>
            <a:pPr marL="685800" lvl="1" indent="-342900">
              <a:buFont typeface="+mj-lt"/>
              <a:buAutoNum type="arabicPeriod"/>
            </a:pPr>
            <a:r>
              <a:rPr lang="en-US" sz="2400" dirty="0" smtClean="0"/>
              <a:t>Executing</a:t>
            </a:r>
          </a:p>
          <a:p>
            <a:pPr marL="685800" lvl="1" indent="-342900">
              <a:buFont typeface="+mj-lt"/>
              <a:buAutoNum type="arabicPeriod"/>
            </a:pPr>
            <a:r>
              <a:rPr lang="en-US" sz="2400" dirty="0" smtClean="0"/>
              <a:t>Monitoring and Control</a:t>
            </a:r>
          </a:p>
          <a:p>
            <a:pPr marL="685800" lvl="1" indent="-342900">
              <a:buFont typeface="+mj-lt"/>
              <a:buAutoNum type="arabicPeriod"/>
            </a:pPr>
            <a:r>
              <a:rPr lang="en-US" sz="2400" dirty="0" smtClean="0"/>
              <a:t>Closing</a:t>
            </a:r>
          </a:p>
          <a:p>
            <a:pPr marL="685800" lvl="1" indent="-342900">
              <a:buFont typeface="+mj-lt"/>
              <a:buAutoNum type="arabicPeriod"/>
            </a:pPr>
            <a:endParaRPr lang="en-US" b="1" dirty="0" smtClean="0"/>
          </a:p>
        </p:txBody>
      </p:sp>
    </p:spTree>
    <p:extLst>
      <p:ext uri="{BB962C8B-B14F-4D97-AF65-F5344CB8AC3E}">
        <p14:creationId xmlns:p14="http://schemas.microsoft.com/office/powerpoint/2010/main" val="28915794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50</a:t>
            </a:fld>
            <a:endParaRPr lang="en-US" dirty="0"/>
          </a:p>
        </p:txBody>
      </p:sp>
      <p:sp>
        <p:nvSpPr>
          <p:cNvPr id="2" name="Title 1"/>
          <p:cNvSpPr>
            <a:spLocks noGrp="1"/>
          </p:cNvSpPr>
          <p:nvPr>
            <p:ph type="title"/>
          </p:nvPr>
        </p:nvSpPr>
        <p:spPr>
          <a:xfrm>
            <a:off x="457202" y="459799"/>
            <a:ext cx="8381999" cy="585146"/>
          </a:xfrm>
        </p:spPr>
        <p:txBody>
          <a:bodyPr>
            <a:noAutofit/>
          </a:bodyPr>
          <a:lstStyle/>
          <a:p>
            <a:r>
              <a:rPr lang="en-US" sz="4800" dirty="0"/>
              <a:t>1. Project Initiation</a:t>
            </a:r>
            <a:endParaRPr lang="en-US" sz="2800" dirty="0"/>
          </a:p>
        </p:txBody>
      </p:sp>
      <p:sp>
        <p:nvSpPr>
          <p:cNvPr id="3" name="Content Placeholder 2"/>
          <p:cNvSpPr>
            <a:spLocks noGrp="1"/>
          </p:cNvSpPr>
          <p:nvPr>
            <p:ph type="body" sz="quarter" idx="13"/>
          </p:nvPr>
        </p:nvSpPr>
        <p:spPr/>
        <p:txBody>
          <a:bodyPr>
            <a:normAutofit/>
          </a:bodyPr>
          <a:lstStyle/>
          <a:p>
            <a:r>
              <a:rPr lang="en-US" sz="2800" dirty="0" smtClean="0"/>
              <a:t>During </a:t>
            </a:r>
            <a:r>
              <a:rPr lang="en-US" sz="2800" dirty="0"/>
              <a:t>this phase, </a:t>
            </a:r>
            <a:r>
              <a:rPr lang="en-US" sz="2800" b="1" dirty="0">
                <a:solidFill>
                  <a:srgbClr val="0070C0"/>
                </a:solidFill>
              </a:rPr>
              <a:t>the project is conceptualized, and feasibility is determined</a:t>
            </a:r>
            <a:r>
              <a:rPr lang="en-US" sz="2800" dirty="0"/>
              <a:t>. </a:t>
            </a:r>
            <a:r>
              <a:rPr lang="en-US" sz="2800" dirty="0" smtClean="0"/>
              <a:t>some </a:t>
            </a:r>
            <a:r>
              <a:rPr lang="en-US" sz="2800" dirty="0"/>
              <a:t>activities </a:t>
            </a:r>
            <a:r>
              <a:rPr lang="en-US" sz="2800" dirty="0" smtClean="0"/>
              <a:t> </a:t>
            </a:r>
            <a:r>
              <a:rPr lang="en-US" sz="2800" dirty="0"/>
              <a:t>performed during this process </a:t>
            </a:r>
            <a:r>
              <a:rPr lang="en-US" sz="2800" dirty="0" smtClean="0"/>
              <a:t>include:</a:t>
            </a:r>
          </a:p>
          <a:p>
            <a:pPr lvl="1"/>
            <a:r>
              <a:rPr lang="en-US" sz="2400" dirty="0" smtClean="0"/>
              <a:t> </a:t>
            </a:r>
            <a:r>
              <a:rPr lang="en-US" sz="2400" dirty="0"/>
              <a:t>defining the project goal</a:t>
            </a:r>
            <a:r>
              <a:rPr lang="en-US" sz="2400" dirty="0" smtClean="0"/>
              <a:t>;</a:t>
            </a:r>
          </a:p>
          <a:p>
            <a:pPr lvl="1"/>
            <a:r>
              <a:rPr lang="en-US" sz="2400" dirty="0" smtClean="0"/>
              <a:t> </a:t>
            </a:r>
            <a:r>
              <a:rPr lang="en-US" sz="2400" dirty="0"/>
              <a:t>defining the project scope; </a:t>
            </a:r>
            <a:endParaRPr lang="en-US" sz="2400" dirty="0" smtClean="0"/>
          </a:p>
          <a:p>
            <a:pPr lvl="1"/>
            <a:r>
              <a:rPr lang="en-US" sz="2400" dirty="0" smtClean="0"/>
              <a:t>identifying </a:t>
            </a:r>
            <a:r>
              <a:rPr lang="en-US" sz="2400" dirty="0"/>
              <a:t>the project manager and the key stakeholders</a:t>
            </a:r>
            <a:r>
              <a:rPr lang="en-US" sz="2400" dirty="0" smtClean="0"/>
              <a:t>;</a:t>
            </a:r>
          </a:p>
          <a:p>
            <a:pPr lvl="1"/>
            <a:r>
              <a:rPr lang="en-US" sz="2400" dirty="0" smtClean="0"/>
              <a:t> </a:t>
            </a:r>
            <a:r>
              <a:rPr lang="en-US" sz="2400" dirty="0"/>
              <a:t>identifying potential risks</a:t>
            </a:r>
            <a:r>
              <a:rPr lang="en-US" sz="2400" dirty="0" smtClean="0"/>
              <a:t>,</a:t>
            </a:r>
          </a:p>
          <a:p>
            <a:pPr lvl="1"/>
            <a:r>
              <a:rPr lang="en-US" sz="2400" dirty="0" smtClean="0"/>
              <a:t> </a:t>
            </a:r>
            <a:r>
              <a:rPr lang="en-US" sz="2400" dirty="0"/>
              <a:t>and producing an estimated budget and timeline.</a:t>
            </a:r>
            <a:endParaRPr lang="en-US" sz="2400" dirty="0" smtClean="0"/>
          </a:p>
          <a:p>
            <a:endParaRPr lang="en-US" dirty="0"/>
          </a:p>
        </p:txBody>
      </p:sp>
    </p:spTree>
    <p:extLst>
      <p:ext uri="{BB962C8B-B14F-4D97-AF65-F5344CB8AC3E}">
        <p14:creationId xmlns:p14="http://schemas.microsoft.com/office/powerpoint/2010/main" val="39960701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51</a:t>
            </a:fld>
            <a:endParaRPr lang="en-US" dirty="0"/>
          </a:p>
        </p:txBody>
      </p:sp>
      <p:sp>
        <p:nvSpPr>
          <p:cNvPr id="2" name="Title 1"/>
          <p:cNvSpPr>
            <a:spLocks noGrp="1"/>
          </p:cNvSpPr>
          <p:nvPr>
            <p:ph type="title"/>
          </p:nvPr>
        </p:nvSpPr>
        <p:spPr/>
        <p:txBody>
          <a:bodyPr>
            <a:normAutofit/>
          </a:bodyPr>
          <a:lstStyle/>
          <a:p>
            <a:r>
              <a:rPr lang="en-US" sz="4800" b="1" dirty="0" smtClean="0"/>
              <a:t>2. Project Planning</a:t>
            </a:r>
            <a:endParaRPr lang="en-US" sz="4800" dirty="0"/>
          </a:p>
        </p:txBody>
      </p:sp>
      <p:sp>
        <p:nvSpPr>
          <p:cNvPr id="3" name="Content Placeholder 2"/>
          <p:cNvSpPr>
            <a:spLocks noGrp="1"/>
          </p:cNvSpPr>
          <p:nvPr>
            <p:ph type="body" sz="quarter" idx="13"/>
          </p:nvPr>
        </p:nvSpPr>
        <p:spPr/>
        <p:txBody>
          <a:bodyPr>
            <a:normAutofit/>
          </a:bodyPr>
          <a:lstStyle/>
          <a:p>
            <a:r>
              <a:rPr lang="en-US" dirty="0"/>
              <a:t>T</a:t>
            </a:r>
            <a:r>
              <a:rPr lang="en-US" dirty="0" smtClean="0"/>
              <a:t>he </a:t>
            </a:r>
            <a:r>
              <a:rPr lang="en-US" dirty="0"/>
              <a:t>project manager will create a blueprint to guide the entire project from </a:t>
            </a:r>
            <a:r>
              <a:rPr lang="en-US" dirty="0" smtClean="0"/>
              <a:t>initiation </a:t>
            </a:r>
            <a:r>
              <a:rPr lang="en-US" dirty="0"/>
              <a:t>through completion. </a:t>
            </a:r>
            <a:endParaRPr lang="en-US" dirty="0" smtClean="0"/>
          </a:p>
          <a:p>
            <a:r>
              <a:rPr lang="en-US" dirty="0" smtClean="0"/>
              <a:t>This </a:t>
            </a:r>
            <a:r>
              <a:rPr lang="en-US" dirty="0"/>
              <a:t>blueprint will map </a:t>
            </a:r>
            <a:r>
              <a:rPr lang="en-US" dirty="0" smtClean="0"/>
              <a:t>out:</a:t>
            </a:r>
          </a:p>
          <a:p>
            <a:pPr lvl="1"/>
            <a:r>
              <a:rPr lang="en-US" b="1" dirty="0" smtClean="0"/>
              <a:t>the </a:t>
            </a:r>
            <a:r>
              <a:rPr lang="en-US" b="1" dirty="0"/>
              <a:t>project’s </a:t>
            </a:r>
            <a:r>
              <a:rPr lang="en-US" b="1" dirty="0" smtClean="0"/>
              <a:t>scope</a:t>
            </a:r>
          </a:p>
          <a:p>
            <a:pPr lvl="1"/>
            <a:r>
              <a:rPr lang="en-US" b="1" dirty="0" smtClean="0"/>
              <a:t>resources </a:t>
            </a:r>
            <a:r>
              <a:rPr lang="en-US" b="1" dirty="0"/>
              <a:t>required to create the </a:t>
            </a:r>
            <a:r>
              <a:rPr lang="en-US" b="1" dirty="0" smtClean="0"/>
              <a:t>deliverables</a:t>
            </a:r>
          </a:p>
          <a:p>
            <a:pPr lvl="1"/>
            <a:r>
              <a:rPr lang="en-US" b="1" dirty="0" smtClean="0"/>
              <a:t>estimated </a:t>
            </a:r>
            <a:r>
              <a:rPr lang="en-US" b="1" dirty="0"/>
              <a:t>time and financial </a:t>
            </a:r>
            <a:r>
              <a:rPr lang="en-US" b="1" dirty="0" smtClean="0"/>
              <a:t>commitments</a:t>
            </a:r>
          </a:p>
          <a:p>
            <a:pPr lvl="1"/>
            <a:r>
              <a:rPr lang="en-US" b="1" dirty="0" smtClean="0"/>
              <a:t>communication </a:t>
            </a:r>
            <a:r>
              <a:rPr lang="en-US" b="1" dirty="0"/>
              <a:t>strategy to ensure stakeholders are kept up to date and </a:t>
            </a:r>
            <a:r>
              <a:rPr lang="en-US" b="1" dirty="0" smtClean="0"/>
              <a:t>involved</a:t>
            </a:r>
          </a:p>
          <a:p>
            <a:pPr lvl="1"/>
            <a:r>
              <a:rPr lang="en-US" b="1" dirty="0" smtClean="0"/>
              <a:t>execution plan</a:t>
            </a:r>
          </a:p>
          <a:p>
            <a:pPr lvl="1"/>
            <a:r>
              <a:rPr lang="en-US" b="1" dirty="0" smtClean="0"/>
              <a:t>and </a:t>
            </a:r>
            <a:r>
              <a:rPr lang="en-US" b="1" dirty="0"/>
              <a:t>proposal for ongoing </a:t>
            </a:r>
            <a:r>
              <a:rPr lang="en-US" b="1" dirty="0" smtClean="0"/>
              <a:t>maintenance</a:t>
            </a:r>
          </a:p>
          <a:p>
            <a:pPr marL="0" indent="0">
              <a:buNone/>
            </a:pPr>
            <a:r>
              <a:rPr lang="en-US" dirty="0" smtClean="0"/>
              <a:t> </a:t>
            </a:r>
            <a:r>
              <a:rPr lang="en-US" dirty="0" smtClean="0">
                <a:solidFill>
                  <a:srgbClr val="FF0000"/>
                </a:solidFill>
              </a:rPr>
              <a:t>***If </a:t>
            </a:r>
            <a:r>
              <a:rPr lang="en-US" dirty="0">
                <a:solidFill>
                  <a:srgbClr val="FF0000"/>
                </a:solidFill>
              </a:rPr>
              <a:t>the project has not yet been approved, this blueprint will serve as a critical part of the pitch</a:t>
            </a:r>
            <a:r>
              <a:rPr lang="en-US" dirty="0" smtClean="0">
                <a:solidFill>
                  <a:srgbClr val="FF0000"/>
                </a:solidFill>
              </a:rPr>
              <a:t>. </a:t>
            </a:r>
          </a:p>
          <a:p>
            <a:pPr marL="0" indent="0">
              <a:buNone/>
            </a:pPr>
            <a:r>
              <a:rPr lang="en-US" sz="2550" b="1" dirty="0">
                <a:solidFill>
                  <a:srgbClr val="FF0000"/>
                </a:solidFill>
              </a:rPr>
              <a:t>!!!!  Documentation important </a:t>
            </a:r>
          </a:p>
        </p:txBody>
      </p:sp>
    </p:spTree>
    <p:extLst>
      <p:ext uri="{BB962C8B-B14F-4D97-AF65-F5344CB8AC3E}">
        <p14:creationId xmlns:p14="http://schemas.microsoft.com/office/powerpoint/2010/main" val="16476213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381999" cy="780195"/>
          </a:xfrm>
        </p:spPr>
        <p:txBody>
          <a:bodyPr/>
          <a:lstStyle/>
          <a:p>
            <a:r>
              <a:rPr lang="en-US" sz="4800" dirty="0" smtClean="0"/>
              <a:t>2. Project Planning</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066800"/>
            <a:ext cx="7315200" cy="5255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44483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53</a:t>
            </a:fld>
            <a:endParaRPr lang="en-US" dirty="0"/>
          </a:p>
        </p:txBody>
      </p:sp>
      <p:sp>
        <p:nvSpPr>
          <p:cNvPr id="2" name="Title 1"/>
          <p:cNvSpPr>
            <a:spLocks noGrp="1"/>
          </p:cNvSpPr>
          <p:nvPr>
            <p:ph type="title"/>
          </p:nvPr>
        </p:nvSpPr>
        <p:spPr/>
        <p:txBody>
          <a:bodyPr>
            <a:normAutofit/>
          </a:bodyPr>
          <a:lstStyle/>
          <a:p>
            <a:r>
              <a:rPr lang="en-US" sz="4800" dirty="0" smtClean="0"/>
              <a:t>3.</a:t>
            </a:r>
            <a:r>
              <a:rPr lang="en-US" sz="4800" b="1" dirty="0"/>
              <a:t> </a:t>
            </a:r>
            <a:r>
              <a:rPr lang="en-US" sz="4800" b="1" dirty="0" smtClean="0"/>
              <a:t>Executing</a:t>
            </a:r>
            <a:endParaRPr lang="en-US" sz="4800" dirty="0"/>
          </a:p>
        </p:txBody>
      </p:sp>
      <p:sp>
        <p:nvSpPr>
          <p:cNvPr id="3" name="Content Placeholder 2"/>
          <p:cNvSpPr>
            <a:spLocks noGrp="1"/>
          </p:cNvSpPr>
          <p:nvPr>
            <p:ph type="body" sz="quarter" idx="13"/>
          </p:nvPr>
        </p:nvSpPr>
        <p:spPr/>
        <p:txBody>
          <a:bodyPr>
            <a:normAutofit/>
          </a:bodyPr>
          <a:lstStyle/>
          <a:p>
            <a:r>
              <a:rPr lang="en-US" dirty="0" smtClean="0"/>
              <a:t>During </a:t>
            </a:r>
            <a:r>
              <a:rPr lang="en-US" dirty="0"/>
              <a:t>this phase, the project manager will </a:t>
            </a:r>
            <a:r>
              <a:rPr lang="en-US" b="1" dirty="0"/>
              <a:t>conduct the procurement required for the project and staff the team</a:t>
            </a:r>
            <a:r>
              <a:rPr lang="en-US" dirty="0"/>
              <a:t>. </a:t>
            </a:r>
            <a:endParaRPr lang="en-US" dirty="0" smtClean="0"/>
          </a:p>
          <a:p>
            <a:r>
              <a:rPr lang="en-US" dirty="0" smtClean="0"/>
              <a:t>Execution </a:t>
            </a:r>
            <a:r>
              <a:rPr lang="en-US" dirty="0"/>
              <a:t>of the project objectives requires effective management of the team members on the ground. </a:t>
            </a:r>
            <a:endParaRPr lang="en-US" dirty="0" smtClean="0"/>
          </a:p>
          <a:p>
            <a:r>
              <a:rPr lang="en-US" dirty="0" smtClean="0"/>
              <a:t>PMs </a:t>
            </a:r>
            <a:r>
              <a:rPr lang="en-US" dirty="0"/>
              <a:t>are responsible for </a:t>
            </a:r>
            <a:r>
              <a:rPr lang="en-US" b="1" dirty="0"/>
              <a:t>delegating and overseeing the work on the project while maintaining good relationships with all team members and keeping the entire project on time and budget</a:t>
            </a:r>
            <a:r>
              <a:rPr lang="en-US" dirty="0"/>
              <a:t>. </a:t>
            </a:r>
            <a:endParaRPr lang="en-US" dirty="0" smtClean="0"/>
          </a:p>
          <a:p>
            <a:r>
              <a:rPr lang="en-US" dirty="0" smtClean="0"/>
              <a:t>The </a:t>
            </a:r>
            <a:r>
              <a:rPr lang="en-US" dirty="0"/>
              <a:t>PM must, therefore, be highly organized and an exceptional leader. </a:t>
            </a:r>
            <a:r>
              <a:rPr lang="en-US" dirty="0" smtClean="0"/>
              <a:t>That’s </a:t>
            </a:r>
            <a:r>
              <a:rPr lang="en-US" dirty="0"/>
              <a:t>because they’ll </a:t>
            </a:r>
            <a:r>
              <a:rPr lang="en-US" b="1" dirty="0"/>
              <a:t>need to address team concerns and issues that arise along the way, requiring frequent and open communication with all team members and stakeholders</a:t>
            </a:r>
            <a:r>
              <a:rPr lang="en-US" dirty="0"/>
              <a:t>.</a:t>
            </a:r>
          </a:p>
        </p:txBody>
      </p:sp>
    </p:spTree>
    <p:extLst>
      <p:ext uri="{BB962C8B-B14F-4D97-AF65-F5344CB8AC3E}">
        <p14:creationId xmlns:p14="http://schemas.microsoft.com/office/powerpoint/2010/main" val="164430588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54</a:t>
            </a:fld>
            <a:endParaRPr lang="en-US" dirty="0"/>
          </a:p>
        </p:txBody>
      </p:sp>
      <p:sp>
        <p:nvSpPr>
          <p:cNvPr id="2" name="Title 1"/>
          <p:cNvSpPr>
            <a:spLocks noGrp="1"/>
          </p:cNvSpPr>
          <p:nvPr>
            <p:ph type="title"/>
          </p:nvPr>
        </p:nvSpPr>
        <p:spPr/>
        <p:txBody>
          <a:bodyPr>
            <a:normAutofit/>
          </a:bodyPr>
          <a:lstStyle/>
          <a:p>
            <a:r>
              <a:rPr lang="en-US" sz="4800" dirty="0" smtClean="0"/>
              <a:t>4. </a:t>
            </a:r>
            <a:r>
              <a:rPr lang="en-US" sz="4800" b="1" dirty="0"/>
              <a:t>Monitoring and </a:t>
            </a:r>
            <a:r>
              <a:rPr lang="en-US" sz="4800" b="1" dirty="0" smtClean="0"/>
              <a:t>control</a:t>
            </a:r>
            <a:endParaRPr lang="en-US" sz="4800" dirty="0"/>
          </a:p>
        </p:txBody>
      </p:sp>
      <p:sp>
        <p:nvSpPr>
          <p:cNvPr id="3" name="Content Placeholder 2"/>
          <p:cNvSpPr>
            <a:spLocks noGrp="1"/>
          </p:cNvSpPr>
          <p:nvPr>
            <p:ph type="body" sz="quarter" idx="13"/>
          </p:nvPr>
        </p:nvSpPr>
        <p:spPr/>
        <p:txBody>
          <a:bodyPr>
            <a:normAutofit/>
          </a:bodyPr>
          <a:lstStyle/>
          <a:p>
            <a:r>
              <a:rPr lang="en-US" dirty="0" smtClean="0"/>
              <a:t>Project managers </a:t>
            </a:r>
            <a:r>
              <a:rPr lang="en-US" dirty="0"/>
              <a:t>will closely measure the project's progress to ensure it is developing properly</a:t>
            </a:r>
            <a:r>
              <a:rPr lang="en-US" dirty="0" smtClean="0"/>
              <a:t>.</a:t>
            </a:r>
          </a:p>
          <a:p>
            <a:r>
              <a:rPr lang="en-US" dirty="0" smtClean="0"/>
              <a:t> </a:t>
            </a:r>
            <a:r>
              <a:rPr lang="en-US" dirty="0"/>
              <a:t>Documentation such as data collection and verbal and written status reports may be used. </a:t>
            </a:r>
            <a:endParaRPr lang="en-US" dirty="0" smtClean="0"/>
          </a:p>
          <a:p>
            <a:r>
              <a:rPr lang="en-US" dirty="0" smtClean="0"/>
              <a:t>Monitoring </a:t>
            </a:r>
            <a:r>
              <a:rPr lang="en-US" dirty="0"/>
              <a:t>and controlling are closely related to project planning.  </a:t>
            </a:r>
            <a:r>
              <a:rPr lang="en-US" dirty="0" smtClean="0">
                <a:solidFill>
                  <a:srgbClr val="FF0000"/>
                </a:solidFill>
              </a:rPr>
              <a:t>While </a:t>
            </a:r>
            <a:r>
              <a:rPr lang="en-US" dirty="0">
                <a:solidFill>
                  <a:srgbClr val="FF0000"/>
                </a:solidFill>
              </a:rPr>
              <a:t>planning determines what is to be done</a:t>
            </a:r>
            <a:r>
              <a:rPr lang="en-US" dirty="0"/>
              <a:t>, </a:t>
            </a:r>
            <a:r>
              <a:rPr lang="en-US" dirty="0">
                <a:solidFill>
                  <a:srgbClr val="00B050"/>
                </a:solidFill>
              </a:rPr>
              <a:t>monitoring and controlling establish how well it has been </a:t>
            </a:r>
            <a:r>
              <a:rPr lang="en-US" dirty="0" smtClean="0">
                <a:solidFill>
                  <a:srgbClr val="00B050"/>
                </a:solidFill>
              </a:rPr>
              <a:t>done</a:t>
            </a:r>
            <a:r>
              <a:rPr lang="en-US" dirty="0" smtClean="0"/>
              <a:t> </a:t>
            </a:r>
          </a:p>
          <a:p>
            <a:r>
              <a:rPr lang="en-US" u="sng" dirty="0" smtClean="0"/>
              <a:t>Monitoring </a:t>
            </a:r>
            <a:r>
              <a:rPr lang="en-US" u="sng" dirty="0"/>
              <a:t>will detect any necessary corrective action or change in the project to keep the project on track</a:t>
            </a:r>
            <a:r>
              <a:rPr lang="en-US" u="sng" dirty="0" smtClean="0"/>
              <a:t>.</a:t>
            </a:r>
            <a:endParaRPr lang="en-US" dirty="0"/>
          </a:p>
        </p:txBody>
      </p:sp>
    </p:spTree>
    <p:extLst>
      <p:ext uri="{BB962C8B-B14F-4D97-AF65-F5344CB8AC3E}">
        <p14:creationId xmlns:p14="http://schemas.microsoft.com/office/powerpoint/2010/main" val="221799797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55</a:t>
            </a:fld>
            <a:endParaRPr lang="en-US" dirty="0"/>
          </a:p>
        </p:txBody>
      </p:sp>
      <p:sp>
        <p:nvSpPr>
          <p:cNvPr id="2" name="Title 1"/>
          <p:cNvSpPr>
            <a:spLocks noGrp="1"/>
          </p:cNvSpPr>
          <p:nvPr>
            <p:ph type="title"/>
          </p:nvPr>
        </p:nvSpPr>
        <p:spPr/>
        <p:txBody>
          <a:bodyPr/>
          <a:lstStyle/>
          <a:p>
            <a:r>
              <a:rPr lang="en-US" sz="4800" b="1" dirty="0" smtClean="0"/>
              <a:t>5.Closing</a:t>
            </a:r>
            <a:endParaRPr lang="en-US" dirty="0"/>
          </a:p>
        </p:txBody>
      </p:sp>
      <p:sp>
        <p:nvSpPr>
          <p:cNvPr id="3" name="Content Placeholder 2"/>
          <p:cNvSpPr>
            <a:spLocks noGrp="1"/>
          </p:cNvSpPr>
          <p:nvPr>
            <p:ph type="body" sz="quarter" idx="13"/>
          </p:nvPr>
        </p:nvSpPr>
        <p:spPr/>
        <p:txBody>
          <a:bodyPr>
            <a:normAutofit/>
          </a:bodyPr>
          <a:lstStyle/>
          <a:p>
            <a:r>
              <a:rPr lang="en-US" dirty="0" smtClean="0"/>
              <a:t>The </a:t>
            </a:r>
            <a:r>
              <a:rPr lang="en-US" dirty="0"/>
              <a:t>closing process group occurs </a:t>
            </a:r>
            <a:r>
              <a:rPr lang="en-US" b="1" dirty="0"/>
              <a:t>once the project deliverables have been produced and the stakeholders validate and approve them</a:t>
            </a:r>
            <a:r>
              <a:rPr lang="en-US" dirty="0"/>
              <a:t>. </a:t>
            </a:r>
            <a:endParaRPr lang="en-US" dirty="0" smtClean="0"/>
          </a:p>
          <a:p>
            <a:r>
              <a:rPr lang="en-US" dirty="0" smtClean="0"/>
              <a:t>During </a:t>
            </a:r>
            <a:r>
              <a:rPr lang="en-US" dirty="0"/>
              <a:t>this </a:t>
            </a:r>
            <a:r>
              <a:rPr lang="en-US" dirty="0" smtClean="0"/>
              <a:t>phase, the </a:t>
            </a:r>
            <a:r>
              <a:rPr lang="en-US" dirty="0"/>
              <a:t>project manager will </a:t>
            </a:r>
            <a:r>
              <a:rPr lang="en-US" b="1" dirty="0"/>
              <a:t>close </a:t>
            </a:r>
            <a:r>
              <a:rPr lang="en-US" b="1" dirty="0" smtClean="0"/>
              <a:t>contracts </a:t>
            </a:r>
            <a:r>
              <a:rPr lang="en-US" b="1" dirty="0"/>
              <a:t>with suppliers, external vendors, consultants, and other third-party providers</a:t>
            </a:r>
            <a:r>
              <a:rPr lang="en-US" dirty="0" smtClean="0"/>
              <a:t>.</a:t>
            </a:r>
          </a:p>
          <a:p>
            <a:r>
              <a:rPr lang="en-US" dirty="0" smtClean="0"/>
              <a:t> </a:t>
            </a:r>
            <a:r>
              <a:rPr lang="en-US" dirty="0"/>
              <a:t>All </a:t>
            </a:r>
            <a:r>
              <a:rPr lang="en-US" b="1" dirty="0"/>
              <a:t>documentation will be archived, and a final project report will be produced.</a:t>
            </a:r>
            <a:r>
              <a:rPr lang="en-US" dirty="0"/>
              <a:t> </a:t>
            </a:r>
            <a:endParaRPr lang="en-US" dirty="0" smtClean="0"/>
          </a:p>
          <a:p>
            <a:r>
              <a:rPr lang="en-US" dirty="0" smtClean="0"/>
              <a:t>Further</a:t>
            </a:r>
            <a:r>
              <a:rPr lang="en-US" dirty="0"/>
              <a:t>, the final part of the project plan — the plan for troubleshooting and maintenance — will kick into place.</a:t>
            </a:r>
          </a:p>
        </p:txBody>
      </p:sp>
    </p:spTree>
    <p:extLst>
      <p:ext uri="{BB962C8B-B14F-4D97-AF65-F5344CB8AC3E}">
        <p14:creationId xmlns:p14="http://schemas.microsoft.com/office/powerpoint/2010/main" val="36147975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114800" y="1447800"/>
            <a:ext cx="4791074" cy="449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56</a:t>
            </a:fld>
            <a:endParaRPr lang="en-US" dirty="0"/>
          </a:p>
        </p:txBody>
      </p:sp>
      <p:sp>
        <p:nvSpPr>
          <p:cNvPr id="2" name="Title 1"/>
          <p:cNvSpPr>
            <a:spLocks noGrp="1"/>
          </p:cNvSpPr>
          <p:nvPr>
            <p:ph type="title"/>
          </p:nvPr>
        </p:nvSpPr>
        <p:spPr/>
        <p:txBody>
          <a:bodyPr>
            <a:noAutofit/>
          </a:bodyPr>
          <a:lstStyle/>
          <a:p>
            <a:r>
              <a:rPr lang="en-US" sz="3200" dirty="0" smtClean="0"/>
              <a:t>The Triple Constraint Of Project</a:t>
            </a:r>
            <a:br>
              <a:rPr lang="en-US" sz="3200" dirty="0" smtClean="0"/>
            </a:br>
            <a:r>
              <a:rPr lang="en-US" sz="3200" dirty="0" smtClean="0"/>
              <a:t>(</a:t>
            </a:r>
            <a:r>
              <a:rPr lang="en-US" sz="2400" dirty="0" smtClean="0"/>
              <a:t>Project Management Triangle/ Iron Triangle/ Quality Triangle)</a:t>
            </a:r>
            <a:endParaRPr lang="en-US" sz="2400" dirty="0"/>
          </a:p>
        </p:txBody>
      </p:sp>
      <p:sp>
        <p:nvSpPr>
          <p:cNvPr id="3" name="Content Placeholder 2"/>
          <p:cNvSpPr>
            <a:spLocks noGrp="1"/>
          </p:cNvSpPr>
          <p:nvPr>
            <p:ph type="body" sz="quarter" idx="13"/>
          </p:nvPr>
        </p:nvSpPr>
        <p:spPr>
          <a:xfrm>
            <a:off x="457203" y="1447800"/>
            <a:ext cx="2895598" cy="4495800"/>
          </a:xfrm>
        </p:spPr>
        <p:txBody>
          <a:bodyPr>
            <a:normAutofit lnSpcReduction="10000"/>
          </a:bodyPr>
          <a:lstStyle/>
          <a:p>
            <a:r>
              <a:rPr lang="en-US" dirty="0" smtClean="0"/>
              <a:t>A </a:t>
            </a:r>
            <a:r>
              <a:rPr lang="en-US" dirty="0"/>
              <a:t>project is </a:t>
            </a:r>
            <a:r>
              <a:rPr lang="en-US" dirty="0" smtClean="0"/>
              <a:t>limited </a:t>
            </a:r>
            <a:r>
              <a:rPr lang="en-US" dirty="0"/>
              <a:t>in different ways by its scope, time, and cost goals. </a:t>
            </a:r>
            <a:r>
              <a:rPr lang="en-US" dirty="0" smtClean="0"/>
              <a:t>These limitations </a:t>
            </a:r>
            <a:r>
              <a:rPr lang="en-US" dirty="0"/>
              <a:t>are </a:t>
            </a:r>
            <a:r>
              <a:rPr lang="en-US" dirty="0" smtClean="0"/>
              <a:t>as </a:t>
            </a:r>
            <a:r>
              <a:rPr lang="en-US" dirty="0"/>
              <a:t>the </a:t>
            </a:r>
            <a:r>
              <a:rPr lang="en-US" b="1" dirty="0"/>
              <a:t>triple constraint</a:t>
            </a:r>
            <a:r>
              <a:rPr lang="en-US" dirty="0" smtClean="0"/>
              <a:t>.</a:t>
            </a:r>
          </a:p>
          <a:p>
            <a:r>
              <a:rPr lang="en-US" dirty="0" smtClean="0"/>
              <a:t> </a:t>
            </a:r>
            <a:r>
              <a:rPr lang="en-US" b="1" dirty="0">
                <a:solidFill>
                  <a:srgbClr val="00B050"/>
                </a:solidFill>
              </a:rPr>
              <a:t>To create </a:t>
            </a:r>
            <a:r>
              <a:rPr lang="en-US" b="1" dirty="0" smtClean="0">
                <a:solidFill>
                  <a:srgbClr val="00B050"/>
                </a:solidFill>
              </a:rPr>
              <a:t>a successful </a:t>
            </a:r>
            <a:r>
              <a:rPr lang="en-US" b="1" dirty="0">
                <a:solidFill>
                  <a:srgbClr val="00B050"/>
                </a:solidFill>
              </a:rPr>
              <a:t>project, a project manager must consider scope, time, and cost and balance these </a:t>
            </a:r>
            <a:r>
              <a:rPr lang="en-US" b="1" dirty="0" smtClean="0">
                <a:solidFill>
                  <a:srgbClr val="00B050"/>
                </a:solidFill>
              </a:rPr>
              <a:t>three often-competing </a:t>
            </a:r>
            <a:r>
              <a:rPr lang="en-US" b="1" dirty="0">
                <a:solidFill>
                  <a:srgbClr val="00B050"/>
                </a:solidFill>
              </a:rPr>
              <a:t>goals. </a:t>
            </a:r>
            <a:r>
              <a:rPr lang="en-US" dirty="0" smtClean="0"/>
              <a:t>A Project Manager must </a:t>
            </a:r>
            <a:r>
              <a:rPr lang="en-US" dirty="0"/>
              <a:t>consider the following</a:t>
            </a:r>
            <a:r>
              <a:rPr lang="en-US" dirty="0" smtClean="0"/>
              <a:t>:</a:t>
            </a:r>
          </a:p>
        </p:txBody>
      </p:sp>
      <p:sp>
        <p:nvSpPr>
          <p:cNvPr id="6" name="Isosceles Triangle 5"/>
          <p:cNvSpPr/>
          <p:nvPr/>
        </p:nvSpPr>
        <p:spPr>
          <a:xfrm>
            <a:off x="4667250" y="1676400"/>
            <a:ext cx="3257550" cy="263524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ln w="0"/>
                <a:solidFill>
                  <a:schemeClr val="tx1"/>
                </a:solidFill>
                <a:effectLst>
                  <a:outerShdw blurRad="38100" dist="19050" dir="2700000" algn="tl" rotWithShape="0">
                    <a:schemeClr val="dk1">
                      <a:alpha val="40000"/>
                    </a:schemeClr>
                  </a:outerShdw>
                </a:effectLst>
              </a:rPr>
              <a:t>Quality</a:t>
            </a:r>
            <a:endParaRPr lang="en-US" b="1" dirty="0"/>
          </a:p>
        </p:txBody>
      </p:sp>
      <p:sp>
        <p:nvSpPr>
          <p:cNvPr id="7" name="TextBox 6"/>
          <p:cNvSpPr txBox="1"/>
          <p:nvPr/>
        </p:nvSpPr>
        <p:spPr>
          <a:xfrm>
            <a:off x="4648201" y="2800290"/>
            <a:ext cx="1276350" cy="400110"/>
          </a:xfrm>
          <a:prstGeom prst="rect">
            <a:avLst/>
          </a:prstGeom>
          <a:noFill/>
        </p:spPr>
        <p:txBody>
          <a:bodyPr wrap="square" rtlCol="0">
            <a:spAutoFit/>
          </a:bodyPr>
          <a:lstStyle/>
          <a:p>
            <a:r>
              <a:rPr lang="en-US" sz="2000" dirty="0" smtClean="0"/>
              <a:t>Time</a:t>
            </a:r>
            <a:endParaRPr lang="en-US" dirty="0"/>
          </a:p>
        </p:txBody>
      </p:sp>
      <p:sp>
        <p:nvSpPr>
          <p:cNvPr id="8" name="TextBox 7"/>
          <p:cNvSpPr txBox="1"/>
          <p:nvPr/>
        </p:nvSpPr>
        <p:spPr>
          <a:xfrm>
            <a:off x="7629524" y="2800290"/>
            <a:ext cx="1276350" cy="400110"/>
          </a:xfrm>
          <a:prstGeom prst="rect">
            <a:avLst/>
          </a:prstGeom>
          <a:noFill/>
        </p:spPr>
        <p:txBody>
          <a:bodyPr wrap="square" rtlCol="0">
            <a:spAutoFit/>
          </a:bodyPr>
          <a:lstStyle/>
          <a:p>
            <a:r>
              <a:rPr lang="en-US" sz="2000" b="1" dirty="0" smtClean="0"/>
              <a:t>Cost</a:t>
            </a:r>
            <a:endParaRPr lang="en-US" b="1" dirty="0"/>
          </a:p>
        </p:txBody>
      </p:sp>
      <p:sp>
        <p:nvSpPr>
          <p:cNvPr id="9" name="TextBox 8"/>
          <p:cNvSpPr txBox="1"/>
          <p:nvPr/>
        </p:nvSpPr>
        <p:spPr>
          <a:xfrm>
            <a:off x="5261104" y="4390936"/>
            <a:ext cx="2362200" cy="400110"/>
          </a:xfrm>
          <a:prstGeom prst="rect">
            <a:avLst/>
          </a:prstGeom>
          <a:noFill/>
        </p:spPr>
        <p:txBody>
          <a:bodyPr wrap="square" rtlCol="0">
            <a:spAutoFit/>
          </a:bodyPr>
          <a:lstStyle/>
          <a:p>
            <a:r>
              <a:rPr lang="en-US" sz="2000" b="1" dirty="0" smtClean="0"/>
              <a:t>Scope/ Requirement</a:t>
            </a:r>
            <a:endParaRPr lang="en-US" b="1" dirty="0"/>
          </a:p>
        </p:txBody>
      </p:sp>
      <p:sp>
        <p:nvSpPr>
          <p:cNvPr id="11" name="TextBox 10"/>
          <p:cNvSpPr txBox="1"/>
          <p:nvPr/>
        </p:nvSpPr>
        <p:spPr>
          <a:xfrm>
            <a:off x="4527678" y="5081596"/>
            <a:ext cx="3829051" cy="707886"/>
          </a:xfrm>
          <a:prstGeom prst="rect">
            <a:avLst/>
          </a:prstGeom>
          <a:noFill/>
        </p:spPr>
        <p:txBody>
          <a:bodyPr wrap="square" rtlCol="0">
            <a:spAutoFit/>
          </a:bodyPr>
          <a:lstStyle/>
          <a:p>
            <a:r>
              <a:rPr lang="en-US" sz="2000" b="1" dirty="0" smtClean="0"/>
              <a:t>Fig: </a:t>
            </a:r>
            <a:r>
              <a:rPr lang="en-US" sz="2000" dirty="0"/>
              <a:t>Project Management Triangle/ Iron Triangle/ Quality Triangle</a:t>
            </a:r>
            <a:r>
              <a:rPr lang="en-US" sz="2000" b="1" dirty="0" smtClean="0"/>
              <a:t> </a:t>
            </a:r>
            <a:endParaRPr lang="en-US" b="1" dirty="0"/>
          </a:p>
        </p:txBody>
      </p:sp>
    </p:spTree>
    <p:extLst>
      <p:ext uri="{BB962C8B-B14F-4D97-AF65-F5344CB8AC3E}">
        <p14:creationId xmlns:p14="http://schemas.microsoft.com/office/powerpoint/2010/main" val="937095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57</a:t>
            </a:fld>
            <a:endParaRPr lang="en-US" dirty="0"/>
          </a:p>
        </p:txBody>
      </p:sp>
      <p:sp>
        <p:nvSpPr>
          <p:cNvPr id="2" name="Title 1"/>
          <p:cNvSpPr>
            <a:spLocks noGrp="1"/>
          </p:cNvSpPr>
          <p:nvPr>
            <p:ph type="title"/>
          </p:nvPr>
        </p:nvSpPr>
        <p:spPr>
          <a:xfrm>
            <a:off x="457202" y="634948"/>
            <a:ext cx="8381999" cy="780195"/>
          </a:xfrm>
        </p:spPr>
        <p:txBody>
          <a:bodyPr>
            <a:normAutofit fontScale="90000"/>
          </a:bodyPr>
          <a:lstStyle/>
          <a:p>
            <a:r>
              <a:rPr lang="en-US" sz="4400" dirty="0"/>
              <a:t>1</a:t>
            </a:r>
            <a:r>
              <a:rPr lang="en-US" sz="4400" dirty="0" smtClean="0"/>
              <a:t>. Project Triple Constraints </a:t>
            </a:r>
            <a:r>
              <a:rPr lang="en-US" sz="4400" dirty="0" smtClean="0">
                <a:sym typeface="Wingdings" pitchFamily="2" charset="2"/>
              </a:rPr>
              <a:t></a:t>
            </a:r>
            <a:r>
              <a:rPr lang="en-US" sz="4400" b="1" i="1" dirty="0" smtClean="0"/>
              <a:t>Scope</a:t>
            </a:r>
            <a:r>
              <a:rPr lang="en-US" sz="4400" b="1" dirty="0" smtClean="0"/>
              <a:t>: </a:t>
            </a:r>
            <a:r>
              <a:rPr lang="en-US" b="1" dirty="0" smtClean="0"/>
              <a:t/>
            </a:r>
            <a:br>
              <a:rPr lang="en-US" b="1" dirty="0" smtClean="0"/>
            </a:br>
            <a:endParaRPr lang="en-US" dirty="0"/>
          </a:p>
        </p:txBody>
      </p:sp>
      <p:sp>
        <p:nvSpPr>
          <p:cNvPr id="3" name="Content Placeholder 2"/>
          <p:cNvSpPr>
            <a:spLocks noGrp="1"/>
          </p:cNvSpPr>
          <p:nvPr>
            <p:ph type="body" sz="quarter" idx="13"/>
          </p:nvPr>
        </p:nvSpPr>
        <p:spPr/>
        <p:txBody>
          <a:bodyPr>
            <a:normAutofit/>
          </a:bodyPr>
          <a:lstStyle/>
          <a:p>
            <a:r>
              <a:rPr lang="en-US" sz="2400" dirty="0" smtClean="0">
                <a:solidFill>
                  <a:srgbClr val="FF0000"/>
                </a:solidFill>
              </a:rPr>
              <a:t>What </a:t>
            </a:r>
            <a:r>
              <a:rPr lang="en-US" sz="2400" dirty="0">
                <a:solidFill>
                  <a:srgbClr val="FF0000"/>
                </a:solidFill>
              </a:rPr>
              <a:t>work will be done as part of the project?</a:t>
            </a:r>
            <a:r>
              <a:rPr lang="en-US" sz="2400" dirty="0"/>
              <a:t> </a:t>
            </a:r>
            <a:endParaRPr lang="en-US" sz="2400" dirty="0" smtClean="0"/>
          </a:p>
          <a:p>
            <a:r>
              <a:rPr lang="en-US" sz="2400" dirty="0" smtClean="0"/>
              <a:t>What </a:t>
            </a:r>
            <a:r>
              <a:rPr lang="en-US" sz="2400" dirty="0"/>
              <a:t>unique product, service, or result does the customer or sponsor expect from the project? </a:t>
            </a:r>
            <a:endParaRPr lang="en-US" sz="2400" dirty="0" smtClean="0"/>
          </a:p>
          <a:p>
            <a:r>
              <a:rPr lang="en-US" sz="2400" dirty="0" smtClean="0"/>
              <a:t>How </a:t>
            </a:r>
            <a:r>
              <a:rPr lang="en-US" sz="2400" dirty="0"/>
              <a:t>will the scope be verified?</a:t>
            </a:r>
          </a:p>
        </p:txBody>
      </p:sp>
    </p:spTree>
    <p:extLst>
      <p:ext uri="{BB962C8B-B14F-4D97-AF65-F5344CB8AC3E}">
        <p14:creationId xmlns:p14="http://schemas.microsoft.com/office/powerpoint/2010/main" val="11731276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58</a:t>
            </a:fld>
            <a:endParaRPr lang="en-US" dirty="0"/>
          </a:p>
        </p:txBody>
      </p:sp>
      <p:sp>
        <p:nvSpPr>
          <p:cNvPr id="2" name="Title 1"/>
          <p:cNvSpPr>
            <a:spLocks noGrp="1"/>
          </p:cNvSpPr>
          <p:nvPr>
            <p:ph type="title"/>
          </p:nvPr>
        </p:nvSpPr>
        <p:spPr>
          <a:xfrm>
            <a:off x="457202" y="644951"/>
            <a:ext cx="8381999" cy="780195"/>
          </a:xfrm>
        </p:spPr>
        <p:txBody>
          <a:bodyPr>
            <a:normAutofit fontScale="90000"/>
          </a:bodyPr>
          <a:lstStyle/>
          <a:p>
            <a:r>
              <a:rPr lang="en-US" sz="4400" dirty="0" smtClean="0"/>
              <a:t>2. Project Triple Constraints </a:t>
            </a:r>
            <a:r>
              <a:rPr lang="en-US" sz="4400" dirty="0" smtClean="0">
                <a:sym typeface="Wingdings" pitchFamily="2" charset="2"/>
              </a:rPr>
              <a:t></a:t>
            </a:r>
            <a:r>
              <a:rPr lang="en-US" sz="4400" b="1" i="1" dirty="0" smtClean="0"/>
              <a:t>Time</a:t>
            </a:r>
            <a:r>
              <a:rPr lang="en-US" sz="4400" b="1" dirty="0" smtClean="0"/>
              <a:t>: </a:t>
            </a:r>
            <a:r>
              <a:rPr lang="en-US" b="1" dirty="0" smtClean="0"/>
              <a:t/>
            </a:r>
            <a:br>
              <a:rPr lang="en-US" b="1" dirty="0" smtClean="0"/>
            </a:br>
            <a:endParaRPr lang="en-US" dirty="0"/>
          </a:p>
        </p:txBody>
      </p:sp>
      <p:sp>
        <p:nvSpPr>
          <p:cNvPr id="3" name="Content Placeholder 2"/>
          <p:cNvSpPr>
            <a:spLocks noGrp="1"/>
          </p:cNvSpPr>
          <p:nvPr>
            <p:ph type="body" sz="quarter" idx="13"/>
          </p:nvPr>
        </p:nvSpPr>
        <p:spPr/>
        <p:txBody>
          <a:bodyPr>
            <a:normAutofit/>
          </a:bodyPr>
          <a:lstStyle/>
          <a:p>
            <a:r>
              <a:rPr lang="en-US" sz="2400" dirty="0" smtClean="0"/>
              <a:t>How </a:t>
            </a:r>
            <a:r>
              <a:rPr lang="en-US" sz="2400" dirty="0"/>
              <a:t>long should it take to complete the project? </a:t>
            </a:r>
            <a:endParaRPr lang="en-US" sz="2400" dirty="0" smtClean="0"/>
          </a:p>
          <a:p>
            <a:r>
              <a:rPr lang="en-US" sz="2400" dirty="0" smtClean="0"/>
              <a:t>What </a:t>
            </a:r>
            <a:r>
              <a:rPr lang="en-US" sz="2400" dirty="0"/>
              <a:t>is the project schedule</a:t>
            </a:r>
            <a:r>
              <a:rPr lang="en-US" sz="2400" dirty="0" smtClean="0"/>
              <a:t>?</a:t>
            </a:r>
          </a:p>
          <a:p>
            <a:r>
              <a:rPr lang="en-US" sz="2400" dirty="0" smtClean="0"/>
              <a:t>How will the </a:t>
            </a:r>
            <a:r>
              <a:rPr lang="en-US" sz="2400" dirty="0"/>
              <a:t>team track actual schedule performance? </a:t>
            </a:r>
            <a:endParaRPr lang="en-US" sz="2400" dirty="0" smtClean="0"/>
          </a:p>
          <a:p>
            <a:r>
              <a:rPr lang="en-US" sz="2400" dirty="0" smtClean="0"/>
              <a:t>Who </a:t>
            </a:r>
            <a:r>
              <a:rPr lang="en-US" sz="2400" dirty="0"/>
              <a:t>can approve changes to the schedule</a:t>
            </a:r>
            <a:r>
              <a:rPr lang="en-US" sz="2400" dirty="0" smtClean="0"/>
              <a:t>?</a:t>
            </a:r>
            <a:endParaRPr lang="en-US" sz="2400" dirty="0"/>
          </a:p>
        </p:txBody>
      </p:sp>
    </p:spTree>
    <p:extLst>
      <p:ext uri="{BB962C8B-B14F-4D97-AF65-F5344CB8AC3E}">
        <p14:creationId xmlns:p14="http://schemas.microsoft.com/office/powerpoint/2010/main" val="8577772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59</a:t>
            </a:fld>
            <a:endParaRPr lang="en-US" dirty="0"/>
          </a:p>
        </p:txBody>
      </p:sp>
      <p:sp>
        <p:nvSpPr>
          <p:cNvPr id="2" name="Title 1"/>
          <p:cNvSpPr>
            <a:spLocks noGrp="1"/>
          </p:cNvSpPr>
          <p:nvPr>
            <p:ph type="title"/>
          </p:nvPr>
        </p:nvSpPr>
        <p:spPr>
          <a:xfrm>
            <a:off x="483921" y="461229"/>
            <a:ext cx="8381999" cy="780195"/>
          </a:xfrm>
        </p:spPr>
        <p:txBody>
          <a:bodyPr>
            <a:normAutofit fontScale="90000"/>
          </a:bodyPr>
          <a:lstStyle/>
          <a:p>
            <a:r>
              <a:rPr lang="en-US" sz="4900" dirty="0" smtClean="0"/>
              <a:t>3. </a:t>
            </a:r>
            <a:r>
              <a:rPr lang="en-US" sz="4900" dirty="0"/>
              <a:t>Project Triple Constraints </a:t>
            </a:r>
            <a:r>
              <a:rPr lang="en-US" sz="4900" dirty="0" smtClean="0">
                <a:sym typeface="Wingdings" pitchFamily="2" charset="2"/>
              </a:rPr>
              <a:t></a:t>
            </a:r>
            <a:r>
              <a:rPr lang="en-US" sz="4900" b="1" i="1" dirty="0" smtClean="0">
                <a:sym typeface="Wingdings" pitchFamily="2" charset="2"/>
              </a:rPr>
              <a:t>Cost</a:t>
            </a:r>
            <a:r>
              <a:rPr lang="en-US" b="1" dirty="0"/>
              <a:t/>
            </a:r>
            <a:br>
              <a:rPr lang="en-US" b="1" dirty="0"/>
            </a:br>
            <a:endParaRPr lang="en-US" dirty="0"/>
          </a:p>
        </p:txBody>
      </p:sp>
      <p:sp>
        <p:nvSpPr>
          <p:cNvPr id="3" name="Content Placeholder 2"/>
          <p:cNvSpPr>
            <a:spLocks noGrp="1"/>
          </p:cNvSpPr>
          <p:nvPr>
            <p:ph type="body" sz="quarter" idx="13"/>
          </p:nvPr>
        </p:nvSpPr>
        <p:spPr/>
        <p:txBody>
          <a:bodyPr/>
          <a:lstStyle/>
          <a:p>
            <a:r>
              <a:rPr lang="en-US" sz="2400" dirty="0" smtClean="0"/>
              <a:t>What </a:t>
            </a:r>
            <a:r>
              <a:rPr lang="en-US" sz="2400" dirty="0"/>
              <a:t>should it cost to complete the project? </a:t>
            </a:r>
            <a:endParaRPr lang="en-US" sz="2400" dirty="0" smtClean="0"/>
          </a:p>
          <a:p>
            <a:r>
              <a:rPr lang="en-US" sz="2400" dirty="0" smtClean="0"/>
              <a:t>What </a:t>
            </a:r>
            <a:r>
              <a:rPr lang="en-US" sz="2400" dirty="0"/>
              <a:t>is the </a:t>
            </a:r>
            <a:r>
              <a:rPr lang="en-US" sz="2400" dirty="0" smtClean="0"/>
              <a:t>project’s </a:t>
            </a:r>
            <a:r>
              <a:rPr lang="en-US" sz="2400" dirty="0"/>
              <a:t>budget</a:t>
            </a:r>
            <a:r>
              <a:rPr lang="en-US" sz="2400" dirty="0" smtClean="0"/>
              <a:t>?</a:t>
            </a:r>
          </a:p>
          <a:p>
            <a:r>
              <a:rPr lang="en-US" sz="2400" dirty="0" smtClean="0"/>
              <a:t>How </a:t>
            </a:r>
            <a:r>
              <a:rPr lang="en-US" sz="2400" dirty="0"/>
              <a:t>will costs be tracked</a:t>
            </a:r>
            <a:r>
              <a:rPr lang="en-US" sz="2400" dirty="0" smtClean="0"/>
              <a:t>?</a:t>
            </a:r>
          </a:p>
          <a:p>
            <a:r>
              <a:rPr lang="en-US" sz="2400" dirty="0" smtClean="0"/>
              <a:t>Who </a:t>
            </a:r>
            <a:r>
              <a:rPr lang="en-US" sz="2400" dirty="0"/>
              <a:t>can authorize changes to the budget?</a:t>
            </a:r>
          </a:p>
          <a:p>
            <a:endParaRPr lang="en-US" dirty="0"/>
          </a:p>
        </p:txBody>
      </p:sp>
    </p:spTree>
    <p:extLst>
      <p:ext uri="{BB962C8B-B14F-4D97-AF65-F5344CB8AC3E}">
        <p14:creationId xmlns:p14="http://schemas.microsoft.com/office/powerpoint/2010/main" val="40340779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60</a:t>
            </a:fld>
            <a:endParaRPr lang="en-US" dirty="0"/>
          </a:p>
        </p:txBody>
      </p:sp>
      <p:sp>
        <p:nvSpPr>
          <p:cNvPr id="2" name="Title 1"/>
          <p:cNvSpPr>
            <a:spLocks noGrp="1"/>
          </p:cNvSpPr>
          <p:nvPr>
            <p:ph type="title"/>
          </p:nvPr>
        </p:nvSpPr>
        <p:spPr/>
        <p:txBody>
          <a:bodyPr>
            <a:normAutofit/>
          </a:bodyPr>
          <a:lstStyle/>
          <a:p>
            <a:r>
              <a:rPr lang="en-US" sz="4400" dirty="0" smtClean="0"/>
              <a:t>On Managing Triple Constraints</a:t>
            </a:r>
            <a:endParaRPr lang="en-US" sz="4400" dirty="0"/>
          </a:p>
        </p:txBody>
      </p:sp>
      <p:sp>
        <p:nvSpPr>
          <p:cNvPr id="3" name="Content Placeholder 2"/>
          <p:cNvSpPr>
            <a:spLocks noGrp="1"/>
          </p:cNvSpPr>
          <p:nvPr>
            <p:ph type="body" sz="quarter" idx="13"/>
          </p:nvPr>
        </p:nvSpPr>
        <p:spPr>
          <a:xfrm>
            <a:off x="457202" y="1295400"/>
            <a:ext cx="8381999" cy="4648200"/>
          </a:xfrm>
        </p:spPr>
        <p:txBody>
          <a:bodyPr>
            <a:normAutofit/>
          </a:bodyPr>
          <a:lstStyle/>
          <a:p>
            <a:r>
              <a:rPr lang="en-US" dirty="0">
                <a:solidFill>
                  <a:srgbClr val="00B050"/>
                </a:solidFill>
              </a:rPr>
              <a:t>Managing the triple constraint involves making trade-offs between scope, time, and cost </a:t>
            </a:r>
            <a:r>
              <a:rPr lang="en-US" dirty="0" smtClean="0">
                <a:solidFill>
                  <a:srgbClr val="00B050"/>
                </a:solidFill>
              </a:rPr>
              <a:t>goals for </a:t>
            </a:r>
            <a:r>
              <a:rPr lang="en-US" dirty="0">
                <a:solidFill>
                  <a:srgbClr val="00B050"/>
                </a:solidFill>
              </a:rPr>
              <a:t>a project. </a:t>
            </a:r>
            <a:endParaRPr lang="en-US" dirty="0" smtClean="0">
              <a:solidFill>
                <a:srgbClr val="00B050"/>
              </a:solidFill>
            </a:endParaRPr>
          </a:p>
          <a:p>
            <a:r>
              <a:rPr lang="en-US" dirty="0" smtClean="0"/>
              <a:t>For </a:t>
            </a:r>
            <a:r>
              <a:rPr lang="en-US" dirty="0"/>
              <a:t>example, you might need to increase the budget for a project to meet scope </a:t>
            </a:r>
            <a:r>
              <a:rPr lang="en-US" dirty="0" smtClean="0"/>
              <a:t>and time </a:t>
            </a:r>
            <a:r>
              <a:rPr lang="en-US" dirty="0"/>
              <a:t>goals. </a:t>
            </a:r>
            <a:endParaRPr lang="en-US" dirty="0" smtClean="0"/>
          </a:p>
          <a:p>
            <a:r>
              <a:rPr lang="en-US" dirty="0" smtClean="0"/>
              <a:t>Alternatively</a:t>
            </a:r>
            <a:r>
              <a:rPr lang="en-US" dirty="0"/>
              <a:t>, you might have to reduce the scope of a project to meet time and </a:t>
            </a:r>
            <a:r>
              <a:rPr lang="en-US" dirty="0" smtClean="0"/>
              <a:t>cost goals</a:t>
            </a:r>
            <a:r>
              <a:rPr lang="en-US" dirty="0"/>
              <a:t>. </a:t>
            </a:r>
            <a:endParaRPr lang="en-US" dirty="0" smtClean="0"/>
          </a:p>
          <a:p>
            <a:r>
              <a:rPr lang="en-US" dirty="0" smtClean="0">
                <a:solidFill>
                  <a:srgbClr val="FF0000"/>
                </a:solidFill>
              </a:rPr>
              <a:t>!!!  </a:t>
            </a:r>
            <a:r>
              <a:rPr lang="en-US" dirty="0" err="1" smtClean="0">
                <a:solidFill>
                  <a:srgbClr val="FF0000"/>
                </a:solidFill>
              </a:rPr>
              <a:t>Vvy</a:t>
            </a:r>
            <a:r>
              <a:rPr lang="en-US" dirty="0" smtClean="0">
                <a:solidFill>
                  <a:srgbClr val="FF0000"/>
                </a:solidFill>
              </a:rPr>
              <a:t> imp </a:t>
            </a:r>
            <a:r>
              <a:rPr lang="en-US" dirty="0" smtClean="0">
                <a:solidFill>
                  <a:srgbClr val="FF0000"/>
                </a:solidFill>
                <a:sym typeface="Wingdings" pitchFamily="2" charset="2"/>
              </a:rPr>
              <a:t></a:t>
            </a:r>
            <a:r>
              <a:rPr lang="en-US" dirty="0" smtClean="0"/>
              <a:t>Experienced </a:t>
            </a:r>
            <a:r>
              <a:rPr lang="en-US" dirty="0"/>
              <a:t>project managers know that you must decide which aspect of the </a:t>
            </a:r>
            <a:r>
              <a:rPr lang="en-US" dirty="0" smtClean="0"/>
              <a:t>triple constraint </a:t>
            </a:r>
            <a:r>
              <a:rPr lang="en-US" dirty="0"/>
              <a:t>is most important. </a:t>
            </a:r>
            <a:endParaRPr lang="en-US" dirty="0" smtClean="0"/>
          </a:p>
          <a:p>
            <a:r>
              <a:rPr lang="en-US" dirty="0" smtClean="0"/>
              <a:t>If </a:t>
            </a:r>
            <a:r>
              <a:rPr lang="en-US" dirty="0"/>
              <a:t>time is most important, you must often change the initial </a:t>
            </a:r>
            <a:r>
              <a:rPr lang="en-US" dirty="0" smtClean="0"/>
              <a:t>scope and/or </a:t>
            </a:r>
            <a:r>
              <a:rPr lang="en-US" dirty="0"/>
              <a:t>cost goals to meet the schedule. </a:t>
            </a:r>
            <a:endParaRPr lang="en-US" dirty="0" smtClean="0"/>
          </a:p>
          <a:p>
            <a:r>
              <a:rPr lang="en-US" dirty="0" smtClean="0"/>
              <a:t>If </a:t>
            </a:r>
            <a:r>
              <a:rPr lang="en-US" dirty="0"/>
              <a:t>scope goals are most important, you may need to </a:t>
            </a:r>
            <a:r>
              <a:rPr lang="en-US" dirty="0" smtClean="0"/>
              <a:t>adjust time </a:t>
            </a:r>
            <a:r>
              <a:rPr lang="en-US" dirty="0"/>
              <a:t>and/or cost goals.</a:t>
            </a:r>
          </a:p>
        </p:txBody>
      </p:sp>
    </p:spTree>
    <p:extLst>
      <p:ext uri="{BB962C8B-B14F-4D97-AF65-F5344CB8AC3E}">
        <p14:creationId xmlns:p14="http://schemas.microsoft.com/office/powerpoint/2010/main" val="15129718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81000"/>
            <a:ext cx="7441342" cy="5796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E5CE4F79-B2B3-4E4E-AB5D-F771515B9CEF}" type="slidenum">
              <a:rPr lang="en-US" smtClean="0"/>
              <a:t>61</a:t>
            </a:fld>
            <a:endParaRPr lang="en-US" dirty="0"/>
          </a:p>
        </p:txBody>
      </p:sp>
    </p:spTree>
    <p:extLst>
      <p:ext uri="{BB962C8B-B14F-4D97-AF65-F5344CB8AC3E}">
        <p14:creationId xmlns:p14="http://schemas.microsoft.com/office/powerpoint/2010/main" val="7082222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62</a:t>
            </a:fld>
            <a:endParaRPr lang="en-US" dirty="0"/>
          </a:p>
        </p:txBody>
      </p:sp>
      <p:sp>
        <p:nvSpPr>
          <p:cNvPr id="2" name="Title 1"/>
          <p:cNvSpPr>
            <a:spLocks noGrp="1"/>
          </p:cNvSpPr>
          <p:nvPr>
            <p:ph type="title"/>
          </p:nvPr>
        </p:nvSpPr>
        <p:spPr/>
        <p:txBody>
          <a:bodyPr>
            <a:noAutofit/>
          </a:bodyPr>
          <a:lstStyle/>
          <a:p>
            <a:r>
              <a:rPr lang="en-US" sz="3600" dirty="0" smtClean="0"/>
              <a:t>What if triple constraints  are met </a:t>
            </a:r>
            <a:r>
              <a:rPr lang="en-US" sz="3600" dirty="0" smtClean="0">
                <a:solidFill>
                  <a:srgbClr val="FF0000"/>
                </a:solidFill>
              </a:rPr>
              <a:t>but customers aren’t satisfied?? </a:t>
            </a:r>
            <a:endParaRPr lang="en-US" sz="3600" dirty="0">
              <a:solidFill>
                <a:srgbClr val="FF0000"/>
              </a:solidFill>
            </a:endParaRPr>
          </a:p>
        </p:txBody>
      </p:sp>
      <p:sp>
        <p:nvSpPr>
          <p:cNvPr id="3" name="Content Placeholder 2"/>
          <p:cNvSpPr>
            <a:spLocks noGrp="1"/>
          </p:cNvSpPr>
          <p:nvPr>
            <p:ph type="body" sz="quarter" idx="13"/>
          </p:nvPr>
        </p:nvSpPr>
        <p:spPr/>
        <p:txBody>
          <a:bodyPr>
            <a:normAutofit lnSpcReduction="10000"/>
          </a:bodyPr>
          <a:lstStyle/>
          <a:p>
            <a:r>
              <a:rPr lang="en-US" dirty="0"/>
              <a:t>Quality </a:t>
            </a:r>
            <a:r>
              <a:rPr lang="en-US" dirty="0" smtClean="0"/>
              <a:t>is often </a:t>
            </a:r>
            <a:r>
              <a:rPr lang="en-US" dirty="0"/>
              <a:t>a key factor in projects, as is customer or sponsor satisfaction. </a:t>
            </a:r>
            <a:endParaRPr lang="en-US" dirty="0" smtClean="0"/>
          </a:p>
          <a:p>
            <a:r>
              <a:rPr lang="en-US" dirty="0" smtClean="0"/>
              <a:t>Some </a:t>
            </a:r>
            <a:r>
              <a:rPr lang="en-US" dirty="0"/>
              <a:t>people, in fact, </a:t>
            </a:r>
            <a:r>
              <a:rPr lang="en-US" dirty="0" smtClean="0"/>
              <a:t>refer to </a:t>
            </a:r>
            <a:r>
              <a:rPr lang="en-US" dirty="0"/>
              <a:t>the </a:t>
            </a:r>
            <a:r>
              <a:rPr lang="en-US" i="1" dirty="0"/>
              <a:t>quadruple constraint </a:t>
            </a:r>
            <a:r>
              <a:rPr lang="en-US" dirty="0"/>
              <a:t>of project management, which includes quality as well as </a:t>
            </a:r>
            <a:r>
              <a:rPr lang="en-US" dirty="0" smtClean="0"/>
              <a:t>scope, time</a:t>
            </a:r>
            <a:r>
              <a:rPr lang="en-US" dirty="0"/>
              <a:t>, and cost. </a:t>
            </a:r>
            <a:endParaRPr lang="en-US" dirty="0" smtClean="0"/>
          </a:p>
          <a:p>
            <a:r>
              <a:rPr lang="en-US" dirty="0" smtClean="0"/>
              <a:t>Others </a:t>
            </a:r>
            <a:r>
              <a:rPr lang="en-US" dirty="0"/>
              <a:t>believe that quality considerations, including customer satisfaction, </a:t>
            </a:r>
            <a:r>
              <a:rPr lang="en-US" dirty="0" smtClean="0"/>
              <a:t>must be </a:t>
            </a:r>
            <a:r>
              <a:rPr lang="en-US" dirty="0"/>
              <a:t>inherent in setting the scope, time, and cost goals of a project. </a:t>
            </a:r>
            <a:endParaRPr lang="en-US" dirty="0" smtClean="0"/>
          </a:p>
          <a:p>
            <a:r>
              <a:rPr lang="en-US" dirty="0" smtClean="0"/>
              <a:t>A </a:t>
            </a:r>
            <a:r>
              <a:rPr lang="en-US" dirty="0"/>
              <a:t>project team may </a:t>
            </a:r>
            <a:r>
              <a:rPr lang="en-US" dirty="0" smtClean="0"/>
              <a:t>meet scope</a:t>
            </a:r>
            <a:r>
              <a:rPr lang="en-US" dirty="0"/>
              <a:t>, time, and cost goals but fail to meet quality standards or satisfy their sponsor, if they </a:t>
            </a:r>
            <a:r>
              <a:rPr lang="en-US" dirty="0" smtClean="0"/>
              <a:t>have not </a:t>
            </a:r>
            <a:r>
              <a:rPr lang="en-US" dirty="0"/>
              <a:t>adequately addressed these concerns. </a:t>
            </a:r>
            <a:endParaRPr lang="en-US" dirty="0" smtClean="0"/>
          </a:p>
          <a:p>
            <a:r>
              <a:rPr lang="en-US" b="1" dirty="0" smtClean="0"/>
              <a:t>How </a:t>
            </a:r>
            <a:r>
              <a:rPr lang="en-US" b="1" dirty="0"/>
              <a:t>can you avoid the problems that occur when </a:t>
            </a:r>
            <a:r>
              <a:rPr lang="en-US" b="1" dirty="0" smtClean="0"/>
              <a:t>you meet </a:t>
            </a:r>
            <a:r>
              <a:rPr lang="en-US" b="1" dirty="0"/>
              <a:t>scope, time, and cost goals, but lose sight of quality or customer satisfaction</a:t>
            </a:r>
            <a:r>
              <a:rPr lang="en-US" b="1" dirty="0" smtClean="0"/>
              <a:t>?  </a:t>
            </a:r>
            <a:r>
              <a:rPr lang="en-US" b="1" dirty="0" smtClean="0">
                <a:sym typeface="Wingdings" pitchFamily="2" charset="2"/>
              </a:rPr>
              <a:t></a:t>
            </a:r>
            <a:r>
              <a:rPr lang="en-US" b="1" dirty="0" smtClean="0"/>
              <a:t> </a:t>
            </a:r>
            <a:r>
              <a:rPr lang="en-US" dirty="0"/>
              <a:t>The answer is</a:t>
            </a:r>
          </a:p>
          <a:p>
            <a:r>
              <a:rPr lang="en-US" b="1" i="1" dirty="0"/>
              <a:t>good project management, which includes more than meeting the triple constraint.</a:t>
            </a:r>
            <a:endParaRPr lang="en-US" dirty="0"/>
          </a:p>
        </p:txBody>
      </p:sp>
    </p:spTree>
    <p:extLst>
      <p:ext uri="{BB962C8B-B14F-4D97-AF65-F5344CB8AC3E}">
        <p14:creationId xmlns:p14="http://schemas.microsoft.com/office/powerpoint/2010/main" val="34419666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6607"/>
            <a:ext cx="8534401" cy="780195"/>
          </a:xfrm>
        </p:spPr>
        <p:txBody>
          <a:bodyPr>
            <a:normAutofit/>
          </a:bodyPr>
          <a:lstStyle/>
          <a:p>
            <a:r>
              <a:rPr lang="en-US" sz="4400" dirty="0" smtClean="0"/>
              <a:t>Project Manager Duties</a:t>
            </a:r>
            <a:endParaRPr lang="en-US" sz="4000" dirty="0"/>
          </a:p>
        </p:txBody>
      </p:sp>
      <p:sp>
        <p:nvSpPr>
          <p:cNvPr id="3" name="Text Placeholder 2"/>
          <p:cNvSpPr>
            <a:spLocks noGrp="1"/>
          </p:cNvSpPr>
          <p:nvPr>
            <p:ph type="body" sz="quarter" idx="13"/>
          </p:nvPr>
        </p:nvSpPr>
        <p:spPr>
          <a:xfrm>
            <a:off x="533400" y="1295400"/>
            <a:ext cx="8382000" cy="4800600"/>
          </a:xfrm>
        </p:spPr>
        <p:txBody>
          <a:bodyPr>
            <a:noAutofit/>
          </a:bodyPr>
          <a:lstStyle/>
          <a:p>
            <a:r>
              <a:rPr lang="en-US" sz="2800" dirty="0" smtClean="0"/>
              <a:t>Developing </a:t>
            </a:r>
            <a:r>
              <a:rPr lang="en-US" sz="2800" dirty="0"/>
              <a:t>a software project plan</a:t>
            </a:r>
          </a:p>
          <a:p>
            <a:r>
              <a:rPr lang="en-US" sz="2800" dirty="0"/>
              <a:t>Manage deliverables according to the software project plan</a:t>
            </a:r>
          </a:p>
          <a:p>
            <a:r>
              <a:rPr lang="en-US" sz="2800" dirty="0"/>
              <a:t>Recruiting software project staff</a:t>
            </a:r>
          </a:p>
          <a:p>
            <a:r>
              <a:rPr lang="en-US" sz="2800" dirty="0"/>
              <a:t>Leading and managing the software project team</a:t>
            </a:r>
          </a:p>
          <a:p>
            <a:r>
              <a:rPr lang="en-US" sz="2800" dirty="0"/>
              <a:t>Determining the methodology used on the project</a:t>
            </a:r>
          </a:p>
          <a:p>
            <a:r>
              <a:rPr lang="en-US" sz="2800" dirty="0"/>
              <a:t>Establishing a project schedule and determine </a:t>
            </a:r>
            <a:r>
              <a:rPr lang="en-US" sz="2800" dirty="0" smtClean="0"/>
              <a:t>each phase</a:t>
            </a:r>
            <a:endParaRPr lang="en-US" sz="2800" dirty="0"/>
          </a:p>
          <a:p>
            <a:r>
              <a:rPr lang="en-US" sz="2800" dirty="0"/>
              <a:t>Assigning tasks to project team members</a:t>
            </a:r>
          </a:p>
          <a:p>
            <a:r>
              <a:rPr lang="en-US" sz="2800" dirty="0"/>
              <a:t>Providing regular updates to senior management</a:t>
            </a:r>
          </a:p>
        </p:txBody>
      </p:sp>
    </p:spTree>
    <p:extLst>
      <p:ext uri="{BB962C8B-B14F-4D97-AF65-F5344CB8AC3E}">
        <p14:creationId xmlns:p14="http://schemas.microsoft.com/office/powerpoint/2010/main" val="15017611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6607"/>
            <a:ext cx="8534401" cy="780195"/>
          </a:xfrm>
        </p:spPr>
        <p:txBody>
          <a:bodyPr>
            <a:normAutofit/>
          </a:bodyPr>
          <a:lstStyle/>
          <a:p>
            <a:r>
              <a:rPr lang="en-US" sz="4400" dirty="0" smtClean="0"/>
              <a:t>Project Manager Duties</a:t>
            </a:r>
            <a:endParaRPr lang="en-US" sz="4000" dirty="0"/>
          </a:p>
        </p:txBody>
      </p:sp>
      <p:pic>
        <p:nvPicPr>
          <p:cNvPr id="5" name="Picture 4"/>
          <p:cNvPicPr>
            <a:picLocks noChangeAspect="1"/>
          </p:cNvPicPr>
          <p:nvPr/>
        </p:nvPicPr>
        <p:blipFill>
          <a:blip r:embed="rId2"/>
          <a:stretch>
            <a:fillRect/>
          </a:stretch>
        </p:blipFill>
        <p:spPr>
          <a:xfrm>
            <a:off x="383032" y="1295400"/>
            <a:ext cx="8682736" cy="4952997"/>
          </a:xfrm>
          <a:prstGeom prst="rect">
            <a:avLst/>
          </a:prstGeom>
        </p:spPr>
      </p:pic>
    </p:spTree>
    <p:extLst>
      <p:ext uri="{BB962C8B-B14F-4D97-AF65-F5344CB8AC3E}">
        <p14:creationId xmlns:p14="http://schemas.microsoft.com/office/powerpoint/2010/main" val="37325872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dirty="0"/>
              <a:t>Characteristics of a effective project managers</a:t>
            </a:r>
            <a:endParaRPr lang="en-US" sz="4400" dirty="0"/>
          </a:p>
        </p:txBody>
      </p:sp>
      <p:sp>
        <p:nvSpPr>
          <p:cNvPr id="3" name="Text Placeholder 2"/>
          <p:cNvSpPr>
            <a:spLocks noGrp="1"/>
          </p:cNvSpPr>
          <p:nvPr>
            <p:ph type="body" sz="quarter" idx="13"/>
          </p:nvPr>
        </p:nvSpPr>
        <p:spPr>
          <a:xfrm>
            <a:off x="457203" y="1447800"/>
            <a:ext cx="8381998" cy="4495800"/>
          </a:xfrm>
        </p:spPr>
        <p:txBody>
          <a:bodyPr>
            <a:normAutofit/>
          </a:bodyPr>
          <a:lstStyle/>
          <a:p>
            <a:r>
              <a:rPr lang="en-US" sz="2800" dirty="0" smtClean="0"/>
              <a:t>Competent practitioners often make poor team leaders as they lack the right mix of skills</a:t>
            </a:r>
          </a:p>
          <a:p>
            <a:r>
              <a:rPr lang="en-US" sz="2800" dirty="0" smtClean="0"/>
              <a:t>MOI Model of leadership (Jerry Weinberg)</a:t>
            </a:r>
          </a:p>
          <a:p>
            <a:pPr lvl="1"/>
            <a:r>
              <a:rPr lang="en-US" sz="2500" dirty="0" smtClean="0"/>
              <a:t>Motivation</a:t>
            </a:r>
          </a:p>
          <a:p>
            <a:pPr lvl="2"/>
            <a:r>
              <a:rPr lang="en-US" sz="2200" dirty="0" smtClean="0"/>
              <a:t>Encourage technical people (by push or pull) to produce</a:t>
            </a:r>
          </a:p>
          <a:p>
            <a:pPr lvl="1"/>
            <a:r>
              <a:rPr lang="en-US" sz="2500" dirty="0" smtClean="0"/>
              <a:t>Organization</a:t>
            </a:r>
          </a:p>
          <a:p>
            <a:pPr lvl="2"/>
            <a:r>
              <a:rPr lang="en-US" sz="2200" dirty="0" smtClean="0"/>
              <a:t>Apply, improve processes efficiently </a:t>
            </a:r>
          </a:p>
          <a:p>
            <a:pPr lvl="1"/>
            <a:r>
              <a:rPr lang="en-US" sz="2500" dirty="0" smtClean="0"/>
              <a:t>Ideas or Innovation</a:t>
            </a:r>
          </a:p>
          <a:p>
            <a:pPr lvl="2"/>
            <a:r>
              <a:rPr lang="en-US" sz="2200" dirty="0" smtClean="0"/>
              <a:t>Make people feel creative</a:t>
            </a:r>
          </a:p>
          <a:p>
            <a:pPr lvl="2"/>
            <a:r>
              <a:rPr lang="en-US" sz="2200" dirty="0" smtClean="0"/>
              <a:t>Be Creative</a:t>
            </a:r>
          </a:p>
        </p:txBody>
      </p:sp>
    </p:spTree>
    <p:extLst>
      <p:ext uri="{BB962C8B-B14F-4D97-AF65-F5344CB8AC3E}">
        <p14:creationId xmlns:p14="http://schemas.microsoft.com/office/powerpoint/2010/main" val="10648706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dirty="0"/>
              <a:t>Characteristics of a effective project managers</a:t>
            </a:r>
          </a:p>
        </p:txBody>
      </p:sp>
      <p:sp>
        <p:nvSpPr>
          <p:cNvPr id="3" name="Text Placeholder 2"/>
          <p:cNvSpPr>
            <a:spLocks noGrp="1"/>
          </p:cNvSpPr>
          <p:nvPr>
            <p:ph type="body" sz="quarter" idx="13"/>
          </p:nvPr>
        </p:nvSpPr>
        <p:spPr>
          <a:xfrm>
            <a:off x="457203" y="1447800"/>
            <a:ext cx="8381998" cy="4495800"/>
          </a:xfrm>
        </p:spPr>
        <p:txBody>
          <a:bodyPr>
            <a:normAutofit fontScale="92500" lnSpcReduction="20000"/>
          </a:bodyPr>
          <a:lstStyle/>
          <a:p>
            <a:r>
              <a:rPr lang="en-US" sz="2800" dirty="0" smtClean="0"/>
              <a:t>Problem </a:t>
            </a:r>
            <a:r>
              <a:rPr lang="en-US" sz="2800" dirty="0"/>
              <a:t>Solving</a:t>
            </a:r>
          </a:p>
          <a:p>
            <a:pPr lvl="1"/>
            <a:r>
              <a:rPr lang="en-US" sz="2500" dirty="0" smtClean="0"/>
              <a:t>Diagnostic</a:t>
            </a:r>
            <a:endParaRPr lang="en-US" sz="2500" dirty="0"/>
          </a:p>
          <a:p>
            <a:pPr lvl="1"/>
            <a:r>
              <a:rPr lang="en-US" sz="2500" dirty="0" smtClean="0"/>
              <a:t>Skill </a:t>
            </a:r>
            <a:r>
              <a:rPr lang="en-US" sz="2500" dirty="0"/>
              <a:t>to solve</a:t>
            </a:r>
          </a:p>
          <a:p>
            <a:pPr lvl="1"/>
            <a:r>
              <a:rPr lang="en-US" sz="2500" dirty="0"/>
              <a:t>Ability to design  solution</a:t>
            </a:r>
          </a:p>
          <a:p>
            <a:r>
              <a:rPr lang="en-US" sz="2800" dirty="0" smtClean="0"/>
              <a:t>Managerial  </a:t>
            </a:r>
            <a:r>
              <a:rPr lang="en-US" sz="2800" dirty="0"/>
              <a:t>Identity</a:t>
            </a:r>
          </a:p>
          <a:p>
            <a:pPr lvl="1"/>
            <a:r>
              <a:rPr lang="en-US" sz="2500" dirty="0" smtClean="0"/>
              <a:t>Control </a:t>
            </a:r>
            <a:r>
              <a:rPr lang="en-US" sz="2500" dirty="0"/>
              <a:t>the project</a:t>
            </a:r>
          </a:p>
          <a:p>
            <a:r>
              <a:rPr lang="en-US" sz="2800" dirty="0" smtClean="0"/>
              <a:t>Achievement</a:t>
            </a:r>
            <a:endParaRPr lang="en-US" sz="2800" dirty="0"/>
          </a:p>
          <a:p>
            <a:pPr lvl="1"/>
            <a:r>
              <a:rPr lang="en-US" sz="2500" dirty="0" smtClean="0"/>
              <a:t>Reward  </a:t>
            </a:r>
            <a:r>
              <a:rPr lang="en-US" sz="2500" dirty="0"/>
              <a:t>Initiative</a:t>
            </a:r>
          </a:p>
          <a:p>
            <a:pPr lvl="1"/>
            <a:r>
              <a:rPr lang="en-US" sz="2500" dirty="0"/>
              <a:t>Encourage Controlled  risk taking</a:t>
            </a:r>
          </a:p>
          <a:p>
            <a:r>
              <a:rPr lang="en-US" sz="2800" dirty="0" smtClean="0"/>
              <a:t>Influence </a:t>
            </a:r>
            <a:r>
              <a:rPr lang="en-US" sz="2800" dirty="0"/>
              <a:t>and team building</a:t>
            </a:r>
          </a:p>
          <a:p>
            <a:pPr lvl="1"/>
            <a:r>
              <a:rPr lang="en-US" sz="2500" dirty="0" smtClean="0"/>
              <a:t>Influence </a:t>
            </a:r>
            <a:r>
              <a:rPr lang="en-US" sz="2500" dirty="0"/>
              <a:t>the team</a:t>
            </a:r>
          </a:p>
          <a:p>
            <a:pPr lvl="1"/>
            <a:r>
              <a:rPr lang="en-US" sz="2500" dirty="0" smtClean="0"/>
              <a:t>Read </a:t>
            </a:r>
            <a:r>
              <a:rPr lang="en-US" sz="2500" dirty="0"/>
              <a:t>people's  mind and respond according to their needs</a:t>
            </a:r>
          </a:p>
          <a:p>
            <a:pPr lvl="1"/>
            <a:r>
              <a:rPr lang="en-US" sz="2500" dirty="0" smtClean="0"/>
              <a:t>Be </a:t>
            </a:r>
            <a:r>
              <a:rPr lang="en-US" sz="2500" dirty="0"/>
              <a:t>controlled  in stress  situations </a:t>
            </a:r>
          </a:p>
          <a:p>
            <a:endParaRPr lang="en-US" sz="2800" dirty="0"/>
          </a:p>
        </p:txBody>
      </p:sp>
    </p:spTree>
    <p:extLst>
      <p:ext uri="{BB962C8B-B14F-4D97-AF65-F5344CB8AC3E}">
        <p14:creationId xmlns:p14="http://schemas.microsoft.com/office/powerpoint/2010/main" val="5773052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dirty="0"/>
              <a:t>Characteristics of a effective project managers</a:t>
            </a:r>
          </a:p>
        </p:txBody>
      </p:sp>
      <p:sp>
        <p:nvSpPr>
          <p:cNvPr id="3" name="Text Placeholder 2"/>
          <p:cNvSpPr>
            <a:spLocks noGrp="1"/>
          </p:cNvSpPr>
          <p:nvPr>
            <p:ph type="body" sz="quarter" idx="13"/>
          </p:nvPr>
        </p:nvSpPr>
        <p:spPr>
          <a:xfrm>
            <a:off x="457203" y="1447800"/>
            <a:ext cx="8381998" cy="4495800"/>
          </a:xfrm>
        </p:spPr>
        <p:txBody>
          <a:bodyPr>
            <a:normAutofit/>
          </a:bodyPr>
          <a:lstStyle/>
          <a:p>
            <a:r>
              <a:rPr lang="en-US" sz="2800" dirty="0" smtClean="0"/>
              <a:t>Project Managers should set objectives SMART</a:t>
            </a:r>
          </a:p>
          <a:p>
            <a:pPr lvl="1"/>
            <a:r>
              <a:rPr lang="en-US" sz="2400" dirty="0" smtClean="0"/>
              <a:t>Specific: clearly defined not vague </a:t>
            </a:r>
          </a:p>
          <a:p>
            <a:pPr lvl="1"/>
            <a:r>
              <a:rPr lang="en-US" sz="2400" dirty="0" smtClean="0"/>
              <a:t>Measurable: project achievement can be measured, compared and controlled</a:t>
            </a:r>
          </a:p>
          <a:p>
            <a:pPr lvl="1"/>
            <a:r>
              <a:rPr lang="en-US" sz="2400" dirty="0" smtClean="0"/>
              <a:t>Acceptable: by all the members of the team, agreed goal raise the sense and commitment</a:t>
            </a:r>
          </a:p>
          <a:p>
            <a:pPr lvl="1"/>
            <a:r>
              <a:rPr lang="en-US" sz="2400" dirty="0" smtClean="0"/>
              <a:t>Realistic: considering the given possible resources, experience, knowledge and time available</a:t>
            </a:r>
          </a:p>
          <a:p>
            <a:pPr lvl="1"/>
            <a:r>
              <a:rPr lang="en-US" sz="2400" dirty="0" smtClean="0"/>
              <a:t>Time frame: if there is no time to complete the process it will never be completed</a:t>
            </a:r>
            <a:endParaRPr lang="en-US" sz="2400" dirty="0"/>
          </a:p>
        </p:txBody>
      </p:sp>
    </p:spTree>
    <p:extLst>
      <p:ext uri="{BB962C8B-B14F-4D97-AF65-F5344CB8AC3E}">
        <p14:creationId xmlns:p14="http://schemas.microsoft.com/office/powerpoint/2010/main" val="3421105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SPM must </a:t>
            </a:r>
            <a:r>
              <a:rPr lang="en-US" sz="4800" dirty="0"/>
              <a:t>be experts in</a:t>
            </a:r>
          </a:p>
        </p:txBody>
      </p:sp>
      <p:sp>
        <p:nvSpPr>
          <p:cNvPr id="3" name="Text Placeholder 2"/>
          <p:cNvSpPr>
            <a:spLocks noGrp="1"/>
          </p:cNvSpPr>
          <p:nvPr>
            <p:ph type="body" sz="quarter" idx="13"/>
          </p:nvPr>
        </p:nvSpPr>
        <p:spPr/>
        <p:txBody>
          <a:bodyPr>
            <a:normAutofit/>
          </a:bodyPr>
          <a:lstStyle/>
          <a:p>
            <a:pPr marL="457200" indent="-457200">
              <a:buFont typeface="+mj-lt"/>
              <a:buAutoNum type="arabicPeriod"/>
            </a:pPr>
            <a:r>
              <a:rPr lang="en-US" sz="2400" dirty="0" smtClean="0"/>
              <a:t>Risk management </a:t>
            </a:r>
            <a:endParaRPr lang="en-US" sz="2400" dirty="0"/>
          </a:p>
          <a:p>
            <a:pPr marL="457200" indent="-457200">
              <a:buFont typeface="+mj-lt"/>
              <a:buAutoNum type="arabicPeriod"/>
            </a:pPr>
            <a:r>
              <a:rPr lang="en-US" sz="2400" dirty="0" smtClean="0"/>
              <a:t>And </a:t>
            </a:r>
            <a:r>
              <a:rPr lang="en-US" sz="2400" b="1" dirty="0"/>
              <a:t>contingency planning </a:t>
            </a:r>
            <a:r>
              <a:rPr lang="en-US" sz="2400" dirty="0"/>
              <a:t>to ensure progress in the face of roadblocks or changes</a:t>
            </a:r>
            <a:r>
              <a:rPr lang="en-US" sz="2400" dirty="0" smtClean="0"/>
              <a:t>.</a:t>
            </a:r>
            <a:endParaRPr lang="en-US" sz="2400" dirty="0"/>
          </a:p>
        </p:txBody>
      </p:sp>
    </p:spTree>
    <p:extLst>
      <p:ext uri="{BB962C8B-B14F-4D97-AF65-F5344CB8AC3E}">
        <p14:creationId xmlns:p14="http://schemas.microsoft.com/office/powerpoint/2010/main" val="16006985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Contingency Plan</a:t>
            </a:r>
            <a:endParaRPr lang="en-US" sz="4800" dirty="0"/>
          </a:p>
        </p:txBody>
      </p:sp>
      <p:sp>
        <p:nvSpPr>
          <p:cNvPr id="3" name="Text Placeholder 2"/>
          <p:cNvSpPr>
            <a:spLocks noGrp="1"/>
          </p:cNvSpPr>
          <p:nvPr>
            <p:ph type="body" sz="quarter" idx="13"/>
          </p:nvPr>
        </p:nvSpPr>
        <p:spPr/>
        <p:txBody>
          <a:bodyPr>
            <a:normAutofit/>
          </a:bodyPr>
          <a:lstStyle/>
          <a:p>
            <a:r>
              <a:rPr lang="en-US" sz="2400" b="1" dirty="0"/>
              <a:t>a plan for a “what if” scenario that could ruin your project or business.</a:t>
            </a:r>
          </a:p>
          <a:p>
            <a:r>
              <a:rPr lang="en-US" sz="2400" b="1" dirty="0"/>
              <a:t>a contingency is all about expecting the unexpected and preparing to deal with worst-case scenarios ahead of time</a:t>
            </a:r>
            <a:r>
              <a:rPr lang="en-US" sz="2400" b="1" dirty="0" smtClean="0"/>
              <a:t>.</a:t>
            </a:r>
          </a:p>
          <a:p>
            <a:r>
              <a:rPr lang="en-US" sz="2400" b="1" dirty="0" smtClean="0"/>
              <a:t>The </a:t>
            </a:r>
            <a:r>
              <a:rPr lang="en-US" sz="2400" b="1" dirty="0"/>
              <a:t>vast majority of failed projects and bankrupt companies had a plan and followed it. </a:t>
            </a:r>
          </a:p>
          <a:p>
            <a:r>
              <a:rPr lang="en-US" sz="2400" dirty="0">
                <a:solidFill>
                  <a:srgbClr val="FF0000"/>
                </a:solidFill>
              </a:rPr>
              <a:t>So why do these projects and companies end up failing?</a:t>
            </a:r>
          </a:p>
          <a:p>
            <a:r>
              <a:rPr lang="en-US" sz="2400" dirty="0"/>
              <a:t>Due to uncertain nature  of the real world unexpected things happen that companies don’t plan for, and many fail to adapt in time</a:t>
            </a:r>
            <a:r>
              <a:rPr lang="en-US" sz="2400" dirty="0" smtClean="0"/>
              <a:t>.</a:t>
            </a:r>
          </a:p>
          <a:p>
            <a:endParaRPr lang="en-US" sz="2400" dirty="0">
              <a:solidFill>
                <a:srgbClr val="FF0000"/>
              </a:solidFill>
            </a:endParaRPr>
          </a:p>
        </p:txBody>
      </p:sp>
    </p:spTree>
    <p:extLst>
      <p:ext uri="{BB962C8B-B14F-4D97-AF65-F5344CB8AC3E}">
        <p14:creationId xmlns:p14="http://schemas.microsoft.com/office/powerpoint/2010/main" val="38281918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Contingency Plan </a:t>
            </a:r>
            <a:endParaRPr lang="en-US" sz="4800" dirty="0"/>
          </a:p>
        </p:txBody>
      </p:sp>
      <p:sp>
        <p:nvSpPr>
          <p:cNvPr id="3" name="Text Placeholder 2"/>
          <p:cNvSpPr>
            <a:spLocks noGrp="1"/>
          </p:cNvSpPr>
          <p:nvPr>
            <p:ph type="body" sz="quarter" idx="13"/>
          </p:nvPr>
        </p:nvSpPr>
        <p:spPr/>
        <p:txBody>
          <a:bodyPr>
            <a:normAutofit lnSpcReduction="10000"/>
          </a:bodyPr>
          <a:lstStyle/>
          <a:p>
            <a:r>
              <a:rPr lang="en-US" b="1" dirty="0"/>
              <a:t>To back up all website data in case a website gets hacked.</a:t>
            </a:r>
            <a:r>
              <a:rPr lang="en-US" dirty="0"/>
              <a:t> </a:t>
            </a:r>
          </a:p>
          <a:p>
            <a:r>
              <a:rPr lang="en-US" dirty="0"/>
              <a:t>If this scenario happens, it’s easy to restore the data after regaining access and changing passwords.</a:t>
            </a:r>
          </a:p>
          <a:p>
            <a:r>
              <a:rPr lang="en-US" dirty="0"/>
              <a:t>If you haven’t done contingency Plan then or Not prepared? </a:t>
            </a:r>
            <a:r>
              <a:rPr lang="en-US" dirty="0">
                <a:sym typeface="Wingdings" pitchFamily="2" charset="2"/>
              </a:rPr>
              <a:t></a:t>
            </a:r>
            <a:r>
              <a:rPr lang="en-US" dirty="0">
                <a:solidFill>
                  <a:srgbClr val="FF0000"/>
                </a:solidFill>
              </a:rPr>
              <a:t>The team might have to recreate the entire website from memory. That’s a significant expense and can mean several extra days (or weeks!) of downtime.</a:t>
            </a:r>
          </a:p>
          <a:p>
            <a:r>
              <a:rPr lang="en-US" dirty="0"/>
              <a:t>A contingency plan deals with eventualities like the above. </a:t>
            </a:r>
            <a:r>
              <a:rPr lang="en-US" sz="2400" b="1" dirty="0"/>
              <a:t>But, it’s about managing and lowering risk and setting up for speedy disaster recovery</a:t>
            </a:r>
            <a:r>
              <a:rPr lang="en-US" sz="2400" b="1" dirty="0" smtClean="0"/>
              <a:t>.</a:t>
            </a:r>
            <a:endParaRPr lang="en-US" sz="1600" dirty="0" smtClean="0"/>
          </a:p>
          <a:p>
            <a:r>
              <a:rPr lang="en-US" dirty="0" smtClean="0"/>
              <a:t>A </a:t>
            </a:r>
            <a:r>
              <a:rPr lang="en-US" dirty="0"/>
              <a:t>few years ago, people would have brushed off companies that prepared for global pandemics and government lockdowns</a:t>
            </a:r>
          </a:p>
          <a:p>
            <a:r>
              <a:rPr lang="en-US" dirty="0"/>
              <a:t>But it all paid off for them in this time of crisis.</a:t>
            </a:r>
          </a:p>
          <a:p>
            <a:r>
              <a:rPr lang="en-US" b="1" dirty="0">
                <a:solidFill>
                  <a:srgbClr val="FF0000"/>
                </a:solidFill>
              </a:rPr>
              <a:t>Compare the case with </a:t>
            </a:r>
            <a:r>
              <a:rPr lang="en-US" b="1" dirty="0" err="1">
                <a:solidFill>
                  <a:srgbClr val="FF0000"/>
                </a:solidFill>
              </a:rPr>
              <a:t>Sarathi</a:t>
            </a:r>
            <a:r>
              <a:rPr lang="en-US" b="1" dirty="0">
                <a:solidFill>
                  <a:srgbClr val="FF0000"/>
                </a:solidFill>
              </a:rPr>
              <a:t> app in </a:t>
            </a:r>
            <a:r>
              <a:rPr lang="en-US" b="1" dirty="0" err="1">
                <a:solidFill>
                  <a:srgbClr val="FF0000"/>
                </a:solidFill>
              </a:rPr>
              <a:t>kathmandu</a:t>
            </a:r>
            <a:r>
              <a:rPr lang="en-US" b="1" dirty="0">
                <a:solidFill>
                  <a:srgbClr val="FF0000"/>
                </a:solidFill>
              </a:rPr>
              <a:t>, </a:t>
            </a:r>
            <a:r>
              <a:rPr lang="en-US" dirty="0"/>
              <a:t>it failed why</a:t>
            </a:r>
            <a:r>
              <a:rPr lang="en-US" dirty="0" smtClean="0"/>
              <a:t>????</a:t>
            </a:r>
          </a:p>
          <a:p>
            <a:endParaRPr lang="en-US" dirty="0" smtClean="0"/>
          </a:p>
          <a:p>
            <a:pPr marL="0" indent="0">
              <a:buNone/>
            </a:pPr>
            <a:endParaRPr lang="en-US" dirty="0"/>
          </a:p>
          <a:p>
            <a:endParaRPr lang="en-US" dirty="0"/>
          </a:p>
        </p:txBody>
      </p:sp>
    </p:spTree>
    <p:extLst>
      <p:ext uri="{BB962C8B-B14F-4D97-AF65-F5344CB8AC3E}">
        <p14:creationId xmlns:p14="http://schemas.microsoft.com/office/powerpoint/2010/main" val="39572501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Project Vs Program Vs Portfolio</a:t>
            </a:r>
            <a:endParaRPr lang="en-US" sz="4000" dirty="0"/>
          </a:p>
        </p:txBody>
      </p:sp>
      <p:sp>
        <p:nvSpPr>
          <p:cNvPr id="3" name="Text Placeholder 2"/>
          <p:cNvSpPr>
            <a:spLocks noGrp="1"/>
          </p:cNvSpPr>
          <p:nvPr>
            <p:ph type="body" sz="quarter" idx="13"/>
          </p:nvPr>
        </p:nvSpPr>
        <p:spPr/>
        <p:txBody>
          <a:bodyPr>
            <a:normAutofit/>
          </a:bodyPr>
          <a:lstStyle/>
          <a:p>
            <a:r>
              <a:rPr lang="en-US" sz="2400" dirty="0"/>
              <a:t>A </a:t>
            </a:r>
            <a:r>
              <a:rPr lang="en-US" sz="2400" b="1" dirty="0"/>
              <a:t>project</a:t>
            </a:r>
            <a:r>
              <a:rPr lang="en-US" sz="2400" dirty="0"/>
              <a:t> is a temporary endeavor undertaken by a company or organization (such as the creation of a new product, service, or result)</a:t>
            </a:r>
          </a:p>
          <a:p>
            <a:r>
              <a:rPr lang="en-US" sz="2400" dirty="0"/>
              <a:t>A </a:t>
            </a:r>
            <a:r>
              <a:rPr lang="en-US" sz="2400" b="1" dirty="0"/>
              <a:t>program</a:t>
            </a:r>
            <a:r>
              <a:rPr lang="en-US" sz="2400" dirty="0"/>
              <a:t> is a group of projects that are similar or related to one another, and which are often managed and coordinated as a group instead of independently</a:t>
            </a:r>
          </a:p>
          <a:p>
            <a:r>
              <a:rPr lang="en-US" sz="2400" dirty="0"/>
              <a:t>A </a:t>
            </a:r>
            <a:r>
              <a:rPr lang="en-US" sz="2400" b="1" dirty="0"/>
              <a:t>portfolio</a:t>
            </a:r>
            <a:r>
              <a:rPr lang="en-US" sz="2400" dirty="0"/>
              <a:t> is a group of different programs and/or projects within the same organization, which may be related or unrelated to one another</a:t>
            </a:r>
          </a:p>
        </p:txBody>
      </p:sp>
    </p:spTree>
    <p:extLst>
      <p:ext uri="{BB962C8B-B14F-4D97-AF65-F5344CB8AC3E}">
        <p14:creationId xmlns:p14="http://schemas.microsoft.com/office/powerpoint/2010/main" val="35329421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72</a:t>
            </a:fld>
            <a:endParaRPr lang="en-US" dirty="0"/>
          </a:p>
        </p:txBody>
      </p:sp>
      <p:pic>
        <p:nvPicPr>
          <p:cNvPr id="7" name="Content Placeholder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76663" y="1042005"/>
            <a:ext cx="7632700" cy="5246687"/>
          </a:xfrm>
          <a:prstGeom prst="rect">
            <a:avLst/>
          </a:prstGeom>
        </p:spPr>
      </p:pic>
      <p:sp>
        <p:nvSpPr>
          <p:cNvPr id="2" name="Title 1"/>
          <p:cNvSpPr>
            <a:spLocks noGrp="1"/>
          </p:cNvSpPr>
          <p:nvPr>
            <p:ph type="title"/>
          </p:nvPr>
        </p:nvSpPr>
        <p:spPr>
          <a:xfrm>
            <a:off x="304800" y="240496"/>
            <a:ext cx="8229600" cy="715962"/>
          </a:xfrm>
        </p:spPr>
        <p:txBody>
          <a:bodyPr>
            <a:noAutofit/>
          </a:bodyPr>
          <a:lstStyle/>
          <a:p>
            <a:r>
              <a:rPr lang="en-US" sz="3600" b="1" dirty="0" smtClean="0"/>
              <a:t>Project Vs Program Vs Portfolio Management</a:t>
            </a:r>
            <a:endParaRPr lang="en-US" sz="3600" dirty="0">
              <a:solidFill>
                <a:srgbClr val="FF0000"/>
              </a:solidFill>
            </a:endParaRPr>
          </a:p>
        </p:txBody>
      </p:sp>
    </p:spTree>
    <p:extLst>
      <p:ext uri="{BB962C8B-B14F-4D97-AF65-F5344CB8AC3E}">
        <p14:creationId xmlns:p14="http://schemas.microsoft.com/office/powerpoint/2010/main" val="188951470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Project Manager Vs Program Manager Vs Portfolio Manager</a:t>
            </a:r>
            <a:endParaRPr lang="en-US" sz="4000" dirty="0"/>
          </a:p>
        </p:txBody>
      </p:sp>
      <p:sp>
        <p:nvSpPr>
          <p:cNvPr id="3" name="Text Placeholder 2"/>
          <p:cNvSpPr>
            <a:spLocks noGrp="1"/>
          </p:cNvSpPr>
          <p:nvPr>
            <p:ph type="body" sz="quarter" idx="13"/>
          </p:nvPr>
        </p:nvSpPr>
        <p:spPr/>
        <p:txBody>
          <a:bodyPr>
            <a:normAutofit/>
          </a:bodyPr>
          <a:lstStyle/>
          <a:p>
            <a:r>
              <a:rPr lang="en-US" sz="2400" dirty="0" smtClean="0"/>
              <a:t>Project </a:t>
            </a:r>
            <a:r>
              <a:rPr lang="en-US" sz="2400" dirty="0"/>
              <a:t>managers might provide updates on how current projects are doing or how successful finished projects were to program managers.</a:t>
            </a:r>
          </a:p>
          <a:p>
            <a:r>
              <a:rPr lang="en-US" sz="2400" dirty="0"/>
              <a:t>Program managers may oversee a team of project managers, providing guidance and instructions on how to best set up or coordinate a project.</a:t>
            </a:r>
          </a:p>
          <a:p>
            <a:r>
              <a:rPr lang="en-US" sz="2400" dirty="0"/>
              <a:t>Portfolio managers may meet with program managers and project managers to align projects with large-scale objectives and provide key performance </a:t>
            </a:r>
            <a:r>
              <a:rPr lang="en-US" sz="2400" dirty="0" smtClean="0"/>
              <a:t>metrics</a:t>
            </a:r>
            <a:endParaRPr lang="en-US" sz="2400" dirty="0"/>
          </a:p>
        </p:txBody>
      </p:sp>
    </p:spTree>
    <p:extLst>
      <p:ext uri="{BB962C8B-B14F-4D97-AF65-F5344CB8AC3E}">
        <p14:creationId xmlns:p14="http://schemas.microsoft.com/office/powerpoint/2010/main" val="38430734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Characteristics of Program Manager</a:t>
            </a:r>
            <a:endParaRPr lang="en-US" sz="4000" dirty="0"/>
          </a:p>
        </p:txBody>
      </p:sp>
      <p:sp>
        <p:nvSpPr>
          <p:cNvPr id="3" name="Text Placeholder 2"/>
          <p:cNvSpPr>
            <a:spLocks noGrp="1"/>
          </p:cNvSpPr>
          <p:nvPr>
            <p:ph type="body" sz="quarter" idx="13"/>
          </p:nvPr>
        </p:nvSpPr>
        <p:spPr/>
        <p:txBody>
          <a:bodyPr>
            <a:noAutofit/>
          </a:bodyPr>
          <a:lstStyle/>
          <a:p>
            <a:r>
              <a:rPr lang="en-US" sz="1600" dirty="0"/>
              <a:t>Program management is not simply managing multiple projects—it’s a bit more strategic than </a:t>
            </a:r>
            <a:r>
              <a:rPr lang="en-US" sz="1600" dirty="0" smtClean="0"/>
              <a:t>that.</a:t>
            </a:r>
          </a:p>
          <a:p>
            <a:r>
              <a:rPr lang="en-US" sz="1600" dirty="0" smtClean="0"/>
              <a:t>The </a:t>
            </a:r>
            <a:r>
              <a:rPr lang="en-US" sz="1600" dirty="0"/>
              <a:t>program manager also doesn’t micromanage those projects; he or she is helping ensure that the right work is moving between the right projects at the right points in time.</a:t>
            </a:r>
          </a:p>
          <a:p>
            <a:r>
              <a:rPr lang="en-US" sz="1600" dirty="0"/>
              <a:t>The program manager focuses, throughout the program, on the business benefits, starting very early at its inception by looking at what benefits can be realized and then making that happen.</a:t>
            </a:r>
          </a:p>
          <a:p>
            <a:r>
              <a:rPr lang="en-US" sz="1600" dirty="0" smtClean="0"/>
              <a:t>The </a:t>
            </a:r>
            <a:r>
              <a:rPr lang="en-US" sz="1600" dirty="0"/>
              <a:t>role of the program manager is to ensure that the benefits intended are met by validating that the correct projects are included in the program. Any project not providing value to the benefits is then realigned or removed from the program.</a:t>
            </a:r>
          </a:p>
          <a:p>
            <a:r>
              <a:rPr lang="en-US" sz="1600" dirty="0"/>
              <a:t>The program manager is responsible for overseeing the dependencies between projects and creating program-level plans to accomplish this.</a:t>
            </a:r>
          </a:p>
          <a:p>
            <a:r>
              <a:rPr lang="en-US" sz="1600" dirty="0" smtClean="0"/>
              <a:t>The </a:t>
            </a:r>
            <a:r>
              <a:rPr lang="en-US" sz="1600" dirty="0"/>
              <a:t>program manager is focused on benefits realization—rather, knowing the benefits that can be accomplished from this collection of projects and focusing on achieving them. The program manager is also working to manage organizational change and ensure that the benefits are not only transitioned to operations, but that processes are in place to sustain these benefits.</a:t>
            </a:r>
          </a:p>
          <a:p>
            <a:r>
              <a:rPr lang="en-US" sz="1600" dirty="0"/>
              <a:t>Since the role of program management is to ensure that projects are aligned to the business strategy, as the strategy changes, the program manager also needs to communicate with the project teams so that they are aware of the changes and what needs to be done about them.</a:t>
            </a:r>
          </a:p>
        </p:txBody>
      </p:sp>
    </p:spTree>
    <p:extLst>
      <p:ext uri="{BB962C8B-B14F-4D97-AF65-F5344CB8AC3E}">
        <p14:creationId xmlns:p14="http://schemas.microsoft.com/office/powerpoint/2010/main" val="14783429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Characteristics of Portfolio Manager</a:t>
            </a:r>
            <a:endParaRPr lang="en-US" sz="4000" dirty="0"/>
          </a:p>
        </p:txBody>
      </p:sp>
      <p:sp>
        <p:nvSpPr>
          <p:cNvPr id="3" name="Text Placeholder 2"/>
          <p:cNvSpPr>
            <a:spLocks noGrp="1"/>
          </p:cNvSpPr>
          <p:nvPr>
            <p:ph type="body" sz="quarter" idx="13"/>
          </p:nvPr>
        </p:nvSpPr>
        <p:spPr>
          <a:xfrm>
            <a:off x="457202" y="1066802"/>
            <a:ext cx="8381999" cy="5181598"/>
          </a:xfrm>
        </p:spPr>
        <p:txBody>
          <a:bodyPr>
            <a:noAutofit/>
          </a:bodyPr>
          <a:lstStyle/>
          <a:p>
            <a:r>
              <a:rPr lang="en-US" sz="1600" dirty="0"/>
              <a:t>Portfolio management is the centralized management of one or more portfolios to achieve an organization’s strategic objectives.</a:t>
            </a:r>
          </a:p>
          <a:p>
            <a:r>
              <a:rPr lang="en-US" sz="1600" dirty="0"/>
              <a:t>Within organizations, the reality is often that resources are limited, whether it’s </a:t>
            </a:r>
            <a:r>
              <a:rPr lang="en-US" sz="1600" dirty="0" smtClean="0"/>
              <a:t>cost, </a:t>
            </a:r>
            <a:r>
              <a:rPr lang="en-US" sz="1600" dirty="0"/>
              <a:t>people, space, or equipment. Based on the organization’s strategy, there are several projects and programs that could be done; it just needs to be decided which are the right ones and in what order they should be completed.</a:t>
            </a:r>
          </a:p>
          <a:p>
            <a:r>
              <a:rPr lang="en-US" sz="1600" dirty="0"/>
              <a:t>It’s critical to look not only at programs and projects at the individual level, but also holistically to know how these align with the organization’s overarching goals.</a:t>
            </a:r>
          </a:p>
          <a:p>
            <a:r>
              <a:rPr lang="en-US" sz="1600" dirty="0"/>
              <a:t>At the same time, it’s important to consider a level of balance in the portfolio. The organization “needs to keep the lights on,” while also developing new opportunities. Some risk needs to be taken, but the portfolio should not be so risky that everything could be lost within a period of time.</a:t>
            </a:r>
          </a:p>
          <a:p>
            <a:r>
              <a:rPr lang="en-US" sz="1600" dirty="0"/>
              <a:t>Beyond prioritizing and selecting projects and programs, portfolio management is balancing the portfolio so that the right projects and programs are selected and implemented. Monitoring and controlling is key to the process, since portfolio composition is not a one-time decision. Evaluations should be conducted in some regular cadence. It may be decided that a project’s priority becomes lower and others move into its place. A project could be temporarily moved out of the portfolio or permanently moved out of what that portfolio entails.</a:t>
            </a:r>
          </a:p>
          <a:p>
            <a:r>
              <a:rPr lang="en-US" sz="1600" dirty="0"/>
              <a:t>This is done to ensure projects align with an organization’s strategies, goals, and objectives. It may also be the case that, as we get into performing a project or program, we find it no longer aligns, causing a reprioritization of all projects and programs in the portfolio.</a:t>
            </a:r>
          </a:p>
        </p:txBody>
      </p:sp>
    </p:spTree>
    <p:extLst>
      <p:ext uri="{BB962C8B-B14F-4D97-AF65-F5344CB8AC3E}">
        <p14:creationId xmlns:p14="http://schemas.microsoft.com/office/powerpoint/2010/main" val="2665745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W5HH P</a:t>
            </a:r>
            <a:r>
              <a:rPr lang="en-US" sz="4800" dirty="0" smtClean="0"/>
              <a:t>rinciple</a:t>
            </a:r>
            <a:endParaRPr lang="en-US" sz="4800" dirty="0"/>
          </a:p>
        </p:txBody>
      </p:sp>
      <p:sp>
        <p:nvSpPr>
          <p:cNvPr id="3" name="Text Placeholder 2"/>
          <p:cNvSpPr>
            <a:spLocks noGrp="1"/>
          </p:cNvSpPr>
          <p:nvPr>
            <p:ph type="body" sz="quarter" idx="13"/>
          </p:nvPr>
        </p:nvSpPr>
        <p:spPr/>
        <p:txBody>
          <a:bodyPr>
            <a:normAutofit/>
          </a:bodyPr>
          <a:lstStyle/>
          <a:p>
            <a:r>
              <a:rPr lang="en-US" sz="2400" dirty="0" smtClean="0"/>
              <a:t>Excellent </a:t>
            </a:r>
            <a:r>
              <a:rPr lang="en-US" sz="2400" b="1" dirty="0"/>
              <a:t>planning outline </a:t>
            </a:r>
            <a:r>
              <a:rPr lang="en-US" sz="2400" dirty="0"/>
              <a:t>for project managers and software  </a:t>
            </a:r>
            <a:r>
              <a:rPr lang="en-US" sz="2400" dirty="0" smtClean="0"/>
              <a:t>team</a:t>
            </a:r>
          </a:p>
          <a:p>
            <a:r>
              <a:rPr lang="en-US" sz="2400" dirty="0" smtClean="0"/>
              <a:t>Applicable </a:t>
            </a:r>
            <a:r>
              <a:rPr lang="en-US" sz="2400" dirty="0"/>
              <a:t>to all sizes of software </a:t>
            </a:r>
            <a:r>
              <a:rPr lang="en-US" sz="2400" dirty="0" smtClean="0"/>
              <a:t>projects</a:t>
            </a:r>
            <a:endParaRPr lang="en-US" sz="2400" dirty="0"/>
          </a:p>
          <a:p>
            <a:r>
              <a:rPr lang="en-US" sz="2400" dirty="0" smtClean="0"/>
              <a:t>It </a:t>
            </a:r>
            <a:r>
              <a:rPr lang="en-US" sz="2400" dirty="0"/>
              <a:t>is an approach to address</a:t>
            </a:r>
          </a:p>
          <a:p>
            <a:pPr lvl="1"/>
            <a:r>
              <a:rPr lang="en-US" sz="2400" dirty="0" smtClean="0"/>
              <a:t>project </a:t>
            </a:r>
            <a:r>
              <a:rPr lang="en-US" sz="2400" dirty="0"/>
              <a:t>objectives</a:t>
            </a:r>
          </a:p>
          <a:p>
            <a:pPr lvl="1"/>
            <a:r>
              <a:rPr lang="en-US" sz="2400" dirty="0" smtClean="0"/>
              <a:t>Milestones </a:t>
            </a:r>
            <a:r>
              <a:rPr lang="en-US" sz="2400" dirty="0"/>
              <a:t>&amp; schedule </a:t>
            </a:r>
            <a:endParaRPr lang="en-US" sz="2400" dirty="0" smtClean="0"/>
          </a:p>
          <a:p>
            <a:pPr lvl="1"/>
            <a:r>
              <a:rPr lang="en-US" sz="2400" dirty="0" smtClean="0"/>
              <a:t>Responsibilities</a:t>
            </a:r>
            <a:endParaRPr lang="en-US" sz="2400" dirty="0"/>
          </a:p>
          <a:p>
            <a:pPr lvl="1"/>
            <a:r>
              <a:rPr lang="en-US" sz="2400" dirty="0" smtClean="0"/>
              <a:t>Management </a:t>
            </a:r>
            <a:r>
              <a:rPr lang="en-US" sz="2400" dirty="0"/>
              <a:t>&amp; technical </a:t>
            </a:r>
            <a:r>
              <a:rPr lang="en-US" sz="2400" dirty="0" smtClean="0"/>
              <a:t>approaches</a:t>
            </a:r>
          </a:p>
          <a:p>
            <a:pPr lvl="1"/>
            <a:r>
              <a:rPr lang="en-US" sz="2400" dirty="0" smtClean="0"/>
              <a:t>Required resources</a:t>
            </a:r>
            <a:endParaRPr lang="en-US" sz="2400" dirty="0"/>
          </a:p>
        </p:txBody>
      </p:sp>
    </p:spTree>
    <p:extLst>
      <p:ext uri="{BB962C8B-B14F-4D97-AF65-F5344CB8AC3E}">
        <p14:creationId xmlns:p14="http://schemas.microsoft.com/office/powerpoint/2010/main" val="31072297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W5HH</a:t>
            </a:r>
            <a:r>
              <a:rPr lang="en-US" dirty="0"/>
              <a:t> </a:t>
            </a:r>
            <a:r>
              <a:rPr lang="en-US" sz="4800" dirty="0" smtClean="0"/>
              <a:t>Principle</a:t>
            </a:r>
            <a:endParaRPr lang="en-US" sz="4800" dirty="0"/>
          </a:p>
        </p:txBody>
      </p:sp>
      <p:sp>
        <p:nvSpPr>
          <p:cNvPr id="3" name="Text Placeholder 2"/>
          <p:cNvSpPr>
            <a:spLocks noGrp="1"/>
          </p:cNvSpPr>
          <p:nvPr>
            <p:ph type="body" sz="quarter" idx="13"/>
          </p:nvPr>
        </p:nvSpPr>
        <p:spPr/>
        <p:txBody>
          <a:bodyPr>
            <a:normAutofit lnSpcReduction="10000"/>
          </a:bodyPr>
          <a:lstStyle/>
          <a:p>
            <a:r>
              <a:rPr lang="en-US" sz="2400" b="1" dirty="0"/>
              <a:t>Why </a:t>
            </a:r>
            <a:r>
              <a:rPr lang="en-US" sz="2400" dirty="0"/>
              <a:t>is the system being develop</a:t>
            </a:r>
            <a:r>
              <a:rPr lang="en-US" sz="2400" dirty="0" smtClean="0"/>
              <a:t>?</a:t>
            </a:r>
            <a:endParaRPr lang="en-US" sz="2400" dirty="0"/>
          </a:p>
          <a:p>
            <a:pPr lvl="1"/>
            <a:r>
              <a:rPr lang="en-US" sz="2400" dirty="0" smtClean="0"/>
              <a:t>Answer </a:t>
            </a:r>
            <a:r>
              <a:rPr lang="en-US" sz="2400" dirty="0"/>
              <a:t>to this questions help assess validity of business reason for the software  work.</a:t>
            </a:r>
          </a:p>
          <a:p>
            <a:pPr lvl="1"/>
            <a:r>
              <a:rPr lang="en-US" sz="2400" dirty="0"/>
              <a:t> </a:t>
            </a:r>
            <a:r>
              <a:rPr lang="en-US" sz="2400" dirty="0" smtClean="0"/>
              <a:t>It </a:t>
            </a:r>
            <a:r>
              <a:rPr lang="en-US" sz="2400" dirty="0"/>
              <a:t>answers if the business purpose justifies the expenditure of people, time and money</a:t>
            </a:r>
          </a:p>
          <a:p>
            <a:r>
              <a:rPr lang="en-US" sz="2400" b="1" dirty="0"/>
              <a:t>What </a:t>
            </a:r>
            <a:r>
              <a:rPr lang="en-US" sz="2400" dirty="0"/>
              <a:t>will be done?</a:t>
            </a:r>
          </a:p>
          <a:p>
            <a:pPr lvl="1"/>
            <a:r>
              <a:rPr lang="en-US" sz="2400" dirty="0" smtClean="0"/>
              <a:t>Answer </a:t>
            </a:r>
            <a:r>
              <a:rPr lang="en-US" sz="2400" dirty="0"/>
              <a:t>to this question establishes the task set required for </a:t>
            </a:r>
            <a:r>
              <a:rPr lang="en-US" sz="2400" dirty="0" smtClean="0"/>
              <a:t>project</a:t>
            </a:r>
            <a:endParaRPr lang="en-US" sz="2400" dirty="0"/>
          </a:p>
          <a:p>
            <a:r>
              <a:rPr lang="en-US" sz="2400" b="1" dirty="0"/>
              <a:t>When</a:t>
            </a:r>
            <a:r>
              <a:rPr lang="en-US" sz="2400" dirty="0"/>
              <a:t> will it be done?</a:t>
            </a:r>
          </a:p>
          <a:p>
            <a:pPr lvl="1"/>
            <a:r>
              <a:rPr lang="en-US" sz="2400" dirty="0"/>
              <a:t> </a:t>
            </a:r>
            <a:r>
              <a:rPr lang="en-US" sz="2400" dirty="0" smtClean="0"/>
              <a:t>Answer </a:t>
            </a:r>
            <a:r>
              <a:rPr lang="en-US" sz="2400" dirty="0"/>
              <a:t>to this question helps the team establish a project schedule by identifying when tasks have to be conducted and when milestones are to be </a:t>
            </a:r>
            <a:r>
              <a:rPr lang="en-US" sz="2400" dirty="0" smtClean="0"/>
              <a:t>reached</a:t>
            </a:r>
            <a:r>
              <a:rPr lang="en-US" dirty="0"/>
              <a:t/>
            </a:r>
            <a:br>
              <a:rPr lang="en-US" dirty="0"/>
            </a:br>
            <a:endParaRPr lang="en-US" dirty="0"/>
          </a:p>
        </p:txBody>
      </p:sp>
    </p:spTree>
    <p:extLst>
      <p:ext uri="{BB962C8B-B14F-4D97-AF65-F5344CB8AC3E}">
        <p14:creationId xmlns:p14="http://schemas.microsoft.com/office/powerpoint/2010/main" val="37055289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W5HH </a:t>
            </a:r>
            <a:r>
              <a:rPr lang="en-US" sz="4800" dirty="0" smtClean="0"/>
              <a:t>Principle</a:t>
            </a:r>
            <a:endParaRPr lang="en-US" sz="4800" dirty="0"/>
          </a:p>
        </p:txBody>
      </p:sp>
      <p:sp>
        <p:nvSpPr>
          <p:cNvPr id="3" name="Text Placeholder 2"/>
          <p:cNvSpPr>
            <a:spLocks noGrp="1"/>
          </p:cNvSpPr>
          <p:nvPr>
            <p:ph type="body" sz="quarter" idx="13"/>
          </p:nvPr>
        </p:nvSpPr>
        <p:spPr/>
        <p:txBody>
          <a:bodyPr>
            <a:normAutofit/>
          </a:bodyPr>
          <a:lstStyle/>
          <a:p>
            <a:r>
              <a:rPr lang="en-US" b="1" dirty="0"/>
              <a:t>Who</a:t>
            </a:r>
            <a:r>
              <a:rPr lang="en-US" dirty="0"/>
              <a:t>  is responsible for a function ?</a:t>
            </a:r>
          </a:p>
          <a:p>
            <a:pPr lvl="1"/>
            <a:r>
              <a:rPr lang="en-US" dirty="0" smtClean="0"/>
              <a:t>Answer </a:t>
            </a:r>
            <a:r>
              <a:rPr lang="en-US" dirty="0"/>
              <a:t>to this question establishes roles and responsibility of each team member</a:t>
            </a:r>
          </a:p>
          <a:p>
            <a:r>
              <a:rPr lang="en-US" b="1" dirty="0"/>
              <a:t>Where</a:t>
            </a:r>
            <a:r>
              <a:rPr lang="en-US" dirty="0"/>
              <a:t>  are they organizationally  located  ?</a:t>
            </a:r>
          </a:p>
          <a:p>
            <a:pPr lvl="1"/>
            <a:r>
              <a:rPr lang="en-US" dirty="0" smtClean="0"/>
              <a:t>Answer </a:t>
            </a:r>
            <a:r>
              <a:rPr lang="en-US" dirty="0"/>
              <a:t>to this question indicates that all roles and responsibilities are not limited to the software  team itself, the customers, users and stakeholders also have responsibilities.</a:t>
            </a:r>
          </a:p>
          <a:p>
            <a:r>
              <a:rPr lang="en-US" b="1" dirty="0"/>
              <a:t>How </a:t>
            </a:r>
            <a:r>
              <a:rPr lang="en-US" dirty="0"/>
              <a:t>will be job done technically and managerially ?</a:t>
            </a:r>
          </a:p>
          <a:p>
            <a:pPr lvl="1"/>
            <a:r>
              <a:rPr lang="en-US" dirty="0"/>
              <a:t> </a:t>
            </a:r>
            <a:r>
              <a:rPr lang="en-US" dirty="0" smtClean="0"/>
              <a:t>Once </a:t>
            </a:r>
            <a:r>
              <a:rPr lang="en-US" dirty="0"/>
              <a:t>product scope is establishes, a technical and management strategy  must be defined for it.</a:t>
            </a:r>
          </a:p>
          <a:p>
            <a:r>
              <a:rPr lang="en-US" b="1" dirty="0" smtClean="0"/>
              <a:t>How </a:t>
            </a:r>
            <a:r>
              <a:rPr lang="en-US" dirty="0"/>
              <a:t>much of each  resource  is needed  ?</a:t>
            </a:r>
          </a:p>
          <a:p>
            <a:pPr lvl="1"/>
            <a:r>
              <a:rPr lang="en-US" dirty="0" smtClean="0"/>
              <a:t>Answer </a:t>
            </a:r>
            <a:r>
              <a:rPr lang="en-US" dirty="0"/>
              <a:t>to this question is derived by developing estimates based on answers to earlier questions</a:t>
            </a:r>
            <a:r>
              <a:rPr lang="en-US" dirty="0" smtClean="0"/>
              <a:t>.</a:t>
            </a:r>
            <a:r>
              <a:rPr lang="en-US" dirty="0"/>
              <a:t/>
            </a:r>
            <a:br>
              <a:rPr lang="en-US" dirty="0"/>
            </a:br>
            <a:endParaRPr lang="en-US" dirty="0"/>
          </a:p>
        </p:txBody>
      </p:sp>
    </p:spTree>
    <p:extLst>
      <p:ext uri="{BB962C8B-B14F-4D97-AF65-F5344CB8AC3E}">
        <p14:creationId xmlns:p14="http://schemas.microsoft.com/office/powerpoint/2010/main" val="7793954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dirty="0" smtClean="0"/>
              <a:t>Software Project Failure Case</a:t>
            </a:r>
            <a:endParaRPr lang="en-US" dirty="0"/>
          </a:p>
        </p:txBody>
      </p:sp>
      <p:sp>
        <p:nvSpPr>
          <p:cNvPr id="3" name="Text Placeholder 2"/>
          <p:cNvSpPr>
            <a:spLocks noGrp="1"/>
          </p:cNvSpPr>
          <p:nvPr>
            <p:ph type="body" sz="quarter" idx="13"/>
          </p:nvPr>
        </p:nvSpPr>
        <p:spPr/>
        <p:txBody>
          <a:bodyPr>
            <a:normAutofit fontScale="92500" lnSpcReduction="10000"/>
          </a:bodyPr>
          <a:lstStyle/>
          <a:p>
            <a:r>
              <a:rPr lang="en-US" b="1" dirty="0"/>
              <a:t>Software Failure </a:t>
            </a:r>
            <a:r>
              <a:rPr lang="en-US" b="1" dirty="0">
                <a:sym typeface="Wingdings"/>
              </a:rPr>
              <a:t></a:t>
            </a:r>
            <a:r>
              <a:rPr lang="en-US" b="1" dirty="0"/>
              <a:t> </a:t>
            </a:r>
            <a:r>
              <a:rPr lang="en-US" b="1" u="sng" dirty="0">
                <a:solidFill>
                  <a:srgbClr val="FF0000"/>
                </a:solidFill>
              </a:rPr>
              <a:t>A failure that occurs when the user perceives that the software has ceased to deliver the expected result with respect to the specification input values</a:t>
            </a:r>
            <a:r>
              <a:rPr lang="en-US" b="1" dirty="0"/>
              <a:t>. The user may need to identify the severity of the levels of failures such as catastrophic, critical, major or minor, depending on their impact on the system</a:t>
            </a:r>
            <a:endParaRPr lang="en-US" dirty="0"/>
          </a:p>
          <a:p>
            <a:r>
              <a:rPr lang="en-US" b="1" dirty="0" smtClean="0"/>
              <a:t>Software Related Failures :</a:t>
            </a:r>
          </a:p>
          <a:p>
            <a:pPr lvl="1"/>
            <a:r>
              <a:rPr lang="en-US" sz="2000" b="1" dirty="0" smtClean="0"/>
              <a:t>Programming errors</a:t>
            </a:r>
          </a:p>
          <a:p>
            <a:pPr lvl="2"/>
            <a:r>
              <a:rPr lang="en-US" sz="1600" dirty="0" smtClean="0"/>
              <a:t>Error such as incorrect storage size can be catastrophic</a:t>
            </a:r>
          </a:p>
          <a:p>
            <a:pPr lvl="1"/>
            <a:r>
              <a:rPr lang="en-US" sz="2000" b="1" dirty="0" smtClean="0"/>
              <a:t>Passive failures</a:t>
            </a:r>
          </a:p>
          <a:p>
            <a:pPr lvl="2"/>
            <a:r>
              <a:rPr lang="en-US" sz="1600" dirty="0" smtClean="0"/>
              <a:t>Software, node and link failures can cut off sub-system</a:t>
            </a:r>
          </a:p>
          <a:p>
            <a:pPr lvl="1"/>
            <a:r>
              <a:rPr lang="en-US" sz="2000" b="1" dirty="0" smtClean="0"/>
              <a:t>Active failures</a:t>
            </a:r>
          </a:p>
          <a:p>
            <a:pPr lvl="2"/>
            <a:r>
              <a:rPr lang="en-US" sz="1600" dirty="0" smtClean="0"/>
              <a:t>Faulty software can interfere with other sub-system</a:t>
            </a:r>
          </a:p>
          <a:p>
            <a:pPr lvl="1"/>
            <a:r>
              <a:rPr lang="en-US" sz="2000" b="1" dirty="0" smtClean="0"/>
              <a:t>Byzantine failures</a:t>
            </a:r>
          </a:p>
          <a:p>
            <a:pPr lvl="2"/>
            <a:r>
              <a:rPr lang="en-US" sz="1600" dirty="0" smtClean="0"/>
              <a:t>“Byzantine </a:t>
            </a:r>
            <a:r>
              <a:rPr lang="en-US" sz="1600" dirty="0"/>
              <a:t>generals </a:t>
            </a:r>
            <a:r>
              <a:rPr lang="en-US" sz="1600" dirty="0" smtClean="0"/>
              <a:t>problem” developed </a:t>
            </a:r>
            <a:r>
              <a:rPr lang="en-US" sz="1600" dirty="0"/>
              <a:t>to describe a situation in which, in order to avoid catastrophic failure of the system, the system's actors must agree on a concerted strategy, but some of these actors are </a:t>
            </a:r>
            <a:r>
              <a:rPr lang="en-US" sz="1600" dirty="0" smtClean="0"/>
              <a:t>unreliable</a:t>
            </a:r>
          </a:p>
          <a:p>
            <a:pPr lvl="2"/>
            <a:r>
              <a:rPr lang="en-US" sz="1600" dirty="0" smtClean="0"/>
              <a:t>Malicious agents can actively interfere with system operation</a:t>
            </a:r>
          </a:p>
          <a:p>
            <a:pPr lvl="2"/>
            <a:endParaRPr lang="en-US" b="1" dirty="0"/>
          </a:p>
        </p:txBody>
      </p:sp>
    </p:spTree>
    <p:extLst>
      <p:ext uri="{BB962C8B-B14F-4D97-AF65-F5344CB8AC3E}">
        <p14:creationId xmlns:p14="http://schemas.microsoft.com/office/powerpoint/2010/main" val="30659618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81000"/>
            <a:ext cx="7864592"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77952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28600"/>
            <a:ext cx="7924800" cy="5925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36095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381999" cy="1161195"/>
          </a:xfrm>
        </p:spPr>
        <p:txBody>
          <a:bodyPr>
            <a:noAutofit/>
          </a:bodyPr>
          <a:lstStyle/>
          <a:p>
            <a:r>
              <a:rPr lang="en-US" sz="4800" dirty="0"/>
              <a:t>Denver Airport Automated system for luggage travel and transfer-Project Failure </a:t>
            </a:r>
            <a:r>
              <a:rPr lang="en-US" sz="4800" dirty="0" smtClean="0"/>
              <a:t>Case</a:t>
            </a:r>
            <a:endParaRPr lang="en-US" sz="4400" dirty="0"/>
          </a:p>
        </p:txBody>
      </p:sp>
      <p:sp>
        <p:nvSpPr>
          <p:cNvPr id="3" name="Text Placeholder 2"/>
          <p:cNvSpPr>
            <a:spLocks noGrp="1"/>
          </p:cNvSpPr>
          <p:nvPr>
            <p:ph type="body" sz="quarter" idx="13"/>
          </p:nvPr>
        </p:nvSpPr>
        <p:spPr>
          <a:xfrm>
            <a:off x="457202" y="2514600"/>
            <a:ext cx="8381999" cy="3429000"/>
          </a:xfrm>
        </p:spPr>
        <p:txBody>
          <a:bodyPr>
            <a:normAutofit fontScale="92500" lnSpcReduction="10000"/>
          </a:bodyPr>
          <a:lstStyle/>
          <a:p>
            <a:r>
              <a:rPr lang="en-US" sz="2400" dirty="0" smtClean="0"/>
              <a:t>Denver airport started at 1990 and opened at 1995</a:t>
            </a:r>
          </a:p>
          <a:p>
            <a:r>
              <a:rPr lang="en-US" sz="2400" dirty="0" smtClean="0"/>
              <a:t>Goal </a:t>
            </a:r>
            <a:r>
              <a:rPr lang="en-US" sz="2400" dirty="0"/>
              <a:t>–replace manual labor with fully automated baggage </a:t>
            </a:r>
            <a:r>
              <a:rPr lang="en-US" sz="2400" dirty="0" smtClean="0"/>
              <a:t>system</a:t>
            </a:r>
          </a:p>
          <a:p>
            <a:r>
              <a:rPr lang="en-US" sz="2400" dirty="0"/>
              <a:t>System at a glance: </a:t>
            </a:r>
            <a:endParaRPr lang="en-US" sz="2400" dirty="0" smtClean="0"/>
          </a:p>
          <a:p>
            <a:pPr lvl="1"/>
            <a:r>
              <a:rPr lang="en-US" dirty="0"/>
              <a:t>Covering a land area of 140 Km2 </a:t>
            </a:r>
          </a:p>
          <a:p>
            <a:pPr lvl="1"/>
            <a:r>
              <a:rPr lang="en-US" dirty="0" smtClean="0"/>
              <a:t>88 </a:t>
            </a:r>
            <a:r>
              <a:rPr lang="en-US" dirty="0"/>
              <a:t>airport gates in 3 concourses </a:t>
            </a:r>
            <a:endParaRPr lang="en-US" dirty="0" smtClean="0"/>
          </a:p>
          <a:p>
            <a:pPr lvl="1"/>
            <a:r>
              <a:rPr lang="en-US" dirty="0" smtClean="0"/>
              <a:t>17 </a:t>
            </a:r>
            <a:r>
              <a:rPr lang="en-US" dirty="0"/>
              <a:t>miles of track and 5 miles of conveyor belts </a:t>
            </a:r>
          </a:p>
          <a:p>
            <a:pPr lvl="1"/>
            <a:r>
              <a:rPr lang="en-US" dirty="0" smtClean="0"/>
              <a:t>3,100 </a:t>
            </a:r>
            <a:r>
              <a:rPr lang="en-US" dirty="0"/>
              <a:t>standard carts + 450 oversized carts </a:t>
            </a:r>
          </a:p>
          <a:p>
            <a:pPr lvl="1"/>
            <a:r>
              <a:rPr lang="en-US" dirty="0" smtClean="0"/>
              <a:t>14 </a:t>
            </a:r>
            <a:r>
              <a:rPr lang="en-US" dirty="0"/>
              <a:t>million feet of wiring </a:t>
            </a:r>
            <a:r>
              <a:rPr lang="en-US" dirty="0" smtClean="0"/>
              <a:t> </a:t>
            </a:r>
          </a:p>
          <a:p>
            <a:pPr lvl="1"/>
            <a:r>
              <a:rPr lang="en-US" dirty="0" smtClean="0"/>
              <a:t>Network </a:t>
            </a:r>
            <a:r>
              <a:rPr lang="en-US" dirty="0"/>
              <a:t>of more than 100 PC’s to control flow of carts </a:t>
            </a:r>
          </a:p>
          <a:p>
            <a:pPr lvl="1"/>
            <a:r>
              <a:rPr lang="en-US" dirty="0" smtClean="0"/>
              <a:t>5,000 </a:t>
            </a:r>
            <a:r>
              <a:rPr lang="en-US" dirty="0"/>
              <a:t>electric motors </a:t>
            </a:r>
          </a:p>
          <a:p>
            <a:pPr lvl="1"/>
            <a:r>
              <a:rPr lang="en-US" dirty="0" smtClean="0"/>
              <a:t>2,700 </a:t>
            </a:r>
            <a:r>
              <a:rPr lang="en-US" dirty="0"/>
              <a:t>photo cells, 400 radio receivers and 59 laser arrays </a:t>
            </a:r>
            <a:endParaRPr lang="en-US" dirty="0" smtClean="0"/>
          </a:p>
          <a:p>
            <a:endParaRPr lang="en-US" dirty="0"/>
          </a:p>
        </p:txBody>
      </p:sp>
    </p:spTree>
    <p:extLst>
      <p:ext uri="{BB962C8B-B14F-4D97-AF65-F5344CB8AC3E}">
        <p14:creationId xmlns:p14="http://schemas.microsoft.com/office/powerpoint/2010/main" val="12523552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381999" cy="1161195"/>
          </a:xfrm>
        </p:spPr>
        <p:txBody>
          <a:bodyPr>
            <a:noAutofit/>
          </a:bodyPr>
          <a:lstStyle/>
          <a:p>
            <a:r>
              <a:rPr lang="en-US" sz="4800" dirty="0"/>
              <a:t>Denver Airport Automated system for luggage travel and transfer-Project Failure </a:t>
            </a:r>
            <a:r>
              <a:rPr lang="en-US" sz="4800" dirty="0" smtClean="0"/>
              <a:t>Case</a:t>
            </a:r>
            <a:endParaRPr lang="en-US" sz="4400" dirty="0"/>
          </a:p>
        </p:txBody>
      </p:sp>
      <p:sp>
        <p:nvSpPr>
          <p:cNvPr id="3" name="Text Placeholder 2"/>
          <p:cNvSpPr>
            <a:spLocks noGrp="1"/>
          </p:cNvSpPr>
          <p:nvPr>
            <p:ph type="body" sz="quarter" idx="13"/>
          </p:nvPr>
        </p:nvSpPr>
        <p:spPr>
          <a:xfrm>
            <a:off x="457202" y="2514600"/>
            <a:ext cx="8381999" cy="3429000"/>
          </a:xfrm>
        </p:spPr>
        <p:txBody>
          <a:bodyPr>
            <a:normAutofit/>
          </a:bodyPr>
          <a:lstStyle/>
          <a:p>
            <a:pPr marL="0" indent="0">
              <a:buNone/>
            </a:pPr>
            <a:r>
              <a:rPr lang="en-US" sz="2400" dirty="0">
                <a:solidFill>
                  <a:srgbClr val="FF0000"/>
                </a:solidFill>
              </a:rPr>
              <a:t>At the end of the project  instead of fully functioning automated system we got into a serious problem:</a:t>
            </a:r>
          </a:p>
          <a:p>
            <a:r>
              <a:rPr lang="en-US" sz="2400" dirty="0"/>
              <a:t>16 months past the deadline</a:t>
            </a:r>
          </a:p>
          <a:p>
            <a:r>
              <a:rPr lang="en-US" sz="2400" dirty="0"/>
              <a:t>$560 million over budget</a:t>
            </a:r>
          </a:p>
          <a:p>
            <a:r>
              <a:rPr lang="en-US" sz="2400" dirty="0"/>
              <a:t>Performed just a fraction of </a:t>
            </a:r>
            <a:r>
              <a:rPr lang="en-US" sz="2400" dirty="0" smtClean="0"/>
              <a:t>automation</a:t>
            </a:r>
          </a:p>
          <a:p>
            <a:r>
              <a:rPr lang="en-US" sz="2400" dirty="0" smtClean="0"/>
              <a:t>Closure on 2005</a:t>
            </a:r>
            <a:endParaRPr lang="en-US" sz="2400" dirty="0"/>
          </a:p>
          <a:p>
            <a:endParaRPr lang="en-US" dirty="0"/>
          </a:p>
        </p:txBody>
      </p:sp>
    </p:spTree>
    <p:extLst>
      <p:ext uri="{BB962C8B-B14F-4D97-AF65-F5344CB8AC3E}">
        <p14:creationId xmlns:p14="http://schemas.microsoft.com/office/powerpoint/2010/main" val="11674950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Reasons For Its Failure</a:t>
            </a:r>
            <a:endParaRPr lang="en-US" sz="4800" dirty="0"/>
          </a:p>
        </p:txBody>
      </p:sp>
      <p:sp>
        <p:nvSpPr>
          <p:cNvPr id="3" name="Text Placeholder 2"/>
          <p:cNvSpPr>
            <a:spLocks noGrp="1"/>
          </p:cNvSpPr>
          <p:nvPr>
            <p:ph type="body" sz="quarter" idx="13"/>
          </p:nvPr>
        </p:nvSpPr>
        <p:spPr/>
        <p:txBody>
          <a:bodyPr>
            <a:normAutofit/>
          </a:bodyPr>
          <a:lstStyle/>
          <a:p>
            <a:r>
              <a:rPr lang="en-US" sz="2400" dirty="0"/>
              <a:t>Lack Proper Communication</a:t>
            </a:r>
          </a:p>
          <a:p>
            <a:r>
              <a:rPr lang="en-US" sz="2400" dirty="0"/>
              <a:t>Adding extra project features and hence added more to   complexity while the project was already complex</a:t>
            </a:r>
          </a:p>
          <a:p>
            <a:r>
              <a:rPr lang="en-US" sz="2400" dirty="0"/>
              <a:t>Poor Project Definitions – Project goals, objectives and </a:t>
            </a:r>
            <a:r>
              <a:rPr lang="en-US" sz="2400" dirty="0" smtClean="0"/>
              <a:t>limitations</a:t>
            </a:r>
          </a:p>
          <a:p>
            <a:endParaRPr lang="en-US" dirty="0"/>
          </a:p>
        </p:txBody>
      </p:sp>
    </p:spTree>
    <p:extLst>
      <p:ext uri="{BB962C8B-B14F-4D97-AF65-F5344CB8AC3E}">
        <p14:creationId xmlns:p14="http://schemas.microsoft.com/office/powerpoint/2010/main" val="28725045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Reasons For Its </a:t>
            </a:r>
            <a:r>
              <a:rPr lang="en-US" sz="4400" dirty="0" smtClean="0"/>
              <a:t>Failure (contd..)</a:t>
            </a:r>
            <a:endParaRPr lang="en-US" sz="4000" dirty="0"/>
          </a:p>
        </p:txBody>
      </p:sp>
      <p:sp>
        <p:nvSpPr>
          <p:cNvPr id="3" name="Text Placeholder 2"/>
          <p:cNvSpPr>
            <a:spLocks noGrp="1"/>
          </p:cNvSpPr>
          <p:nvPr>
            <p:ph type="body" sz="quarter" idx="13"/>
          </p:nvPr>
        </p:nvSpPr>
        <p:spPr/>
        <p:txBody>
          <a:bodyPr/>
          <a:lstStyle/>
          <a:p>
            <a:pPr marL="0" indent="0">
              <a:buNone/>
            </a:pPr>
            <a:r>
              <a:rPr lang="en-US" sz="2000" b="1" dirty="0"/>
              <a:t>Stakeholder Politics, Unrealistic and unarticulated Project goals , Project complexity, unrealistic </a:t>
            </a:r>
            <a:r>
              <a:rPr lang="en-US" sz="2000" b="1" dirty="0" smtClean="0"/>
              <a:t>deadlines</a:t>
            </a:r>
          </a:p>
          <a:p>
            <a:pPr marL="0" indent="0">
              <a:buNone/>
            </a:pPr>
            <a:endParaRPr lang="en-US" sz="2400" b="1" dirty="0"/>
          </a:p>
          <a:p>
            <a:r>
              <a:rPr lang="en-US" sz="2400" dirty="0"/>
              <a:t>The city of Denver did a feasibility study </a:t>
            </a:r>
            <a:r>
              <a:rPr lang="en-US" sz="2400" dirty="0">
                <a:solidFill>
                  <a:srgbClr val="FF0000"/>
                </a:solidFill>
              </a:rPr>
              <a:t>which stated the project was to complex </a:t>
            </a:r>
            <a:r>
              <a:rPr lang="en-US" sz="2400" dirty="0"/>
              <a:t>but the city decided to carry out anyway</a:t>
            </a:r>
          </a:p>
          <a:p>
            <a:r>
              <a:rPr lang="en-US" sz="2400" dirty="0"/>
              <a:t>A similar  project was built in Munich taking 2 complete years followed by 6 months 24/7 testing prior to actual lunch but this project was due to open in little over two years </a:t>
            </a:r>
            <a:r>
              <a:rPr lang="en-US" sz="2400" dirty="0">
                <a:solidFill>
                  <a:srgbClr val="FF0000"/>
                </a:solidFill>
                <a:sym typeface="Wingdings" pitchFamily="2" charset="2"/>
              </a:rPr>
              <a:t>finishing a complicated project in shorter time</a:t>
            </a:r>
            <a:r>
              <a:rPr lang="en-US" sz="2400" dirty="0">
                <a:solidFill>
                  <a:srgbClr val="FF0000"/>
                </a:solidFill>
              </a:rPr>
              <a:t> </a:t>
            </a:r>
          </a:p>
          <a:p>
            <a:r>
              <a:rPr lang="en-US" sz="2400" dirty="0"/>
              <a:t>One of the project bidder estimated the project of 4 years </a:t>
            </a:r>
            <a:r>
              <a:rPr lang="en-US" sz="2400" dirty="0">
                <a:solidFill>
                  <a:srgbClr val="FF0000"/>
                </a:solidFill>
              </a:rPr>
              <a:t>but the concern was ignored with a deadline of 2 years</a:t>
            </a:r>
          </a:p>
          <a:p>
            <a:pPr marL="0" indent="0">
              <a:buNone/>
            </a:pPr>
            <a:endParaRPr lang="en-US" sz="2000" b="1" dirty="0" smtClean="0"/>
          </a:p>
          <a:p>
            <a:pPr marL="0" indent="0">
              <a:buNone/>
            </a:pPr>
            <a:endParaRPr lang="en-US" b="1" dirty="0"/>
          </a:p>
        </p:txBody>
      </p:sp>
    </p:spTree>
    <p:extLst>
      <p:ext uri="{BB962C8B-B14F-4D97-AF65-F5344CB8AC3E}">
        <p14:creationId xmlns:p14="http://schemas.microsoft.com/office/powerpoint/2010/main" val="19387975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Reasons For Its Failure (contd..)</a:t>
            </a:r>
            <a:endParaRPr lang="en-US" dirty="0"/>
          </a:p>
        </p:txBody>
      </p:sp>
      <p:sp>
        <p:nvSpPr>
          <p:cNvPr id="3" name="Text Placeholder 2"/>
          <p:cNvSpPr>
            <a:spLocks noGrp="1"/>
          </p:cNvSpPr>
          <p:nvPr>
            <p:ph type="body" sz="quarter" idx="13"/>
          </p:nvPr>
        </p:nvSpPr>
        <p:spPr/>
        <p:txBody>
          <a:bodyPr/>
          <a:lstStyle/>
          <a:p>
            <a:pPr marL="0" indent="0">
              <a:buNone/>
            </a:pPr>
            <a:r>
              <a:rPr lang="en-US" b="1" dirty="0"/>
              <a:t>Poor Communication and elimination of key stake holder</a:t>
            </a:r>
            <a:endParaRPr lang="en-US" b="1" dirty="0" smtClean="0"/>
          </a:p>
          <a:p>
            <a:endParaRPr lang="en-US" dirty="0"/>
          </a:p>
          <a:p>
            <a:r>
              <a:rPr lang="en-US" dirty="0" smtClean="0"/>
              <a:t>Even </a:t>
            </a:r>
            <a:r>
              <a:rPr lang="en-US" dirty="0"/>
              <a:t>though software team and the Airport project management team were involved, the key stakeholders </a:t>
            </a:r>
            <a:r>
              <a:rPr lang="en-US" u="sng" dirty="0">
                <a:solidFill>
                  <a:srgbClr val="FF0000"/>
                </a:solidFill>
              </a:rPr>
              <a:t>i.e. airlines official  affected by the outcome weren’t bought into discussion during project planning phase</a:t>
            </a:r>
          </a:p>
          <a:p>
            <a:r>
              <a:rPr lang="en-US" dirty="0"/>
              <a:t>Effect</a:t>
            </a:r>
            <a:r>
              <a:rPr lang="en-US" dirty="0">
                <a:sym typeface="Wingdings" pitchFamily="2" charset="2"/>
              </a:rPr>
              <a:t> the airlines staffs (key stakeholders) were asked at last, for their opinions and they required major changes from the project team  adding ski requirement racks, different way of handling oversized luggage </a:t>
            </a:r>
            <a:r>
              <a:rPr lang="en-US" dirty="0" err="1">
                <a:sym typeface="Wingdings" pitchFamily="2" charset="2"/>
              </a:rPr>
              <a:t>etc</a:t>
            </a:r>
            <a:r>
              <a:rPr lang="en-US" dirty="0">
                <a:sym typeface="Wingdings" pitchFamily="2" charset="2"/>
              </a:rPr>
              <a:t> </a:t>
            </a:r>
          </a:p>
          <a:p>
            <a:endParaRPr lang="en-US" dirty="0"/>
          </a:p>
        </p:txBody>
      </p:sp>
    </p:spTree>
    <p:extLst>
      <p:ext uri="{BB962C8B-B14F-4D97-AF65-F5344CB8AC3E}">
        <p14:creationId xmlns:p14="http://schemas.microsoft.com/office/powerpoint/2010/main" val="22968181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Reasons For Its Failure (contd..)</a:t>
            </a:r>
            <a:endParaRPr lang="en-US" dirty="0"/>
          </a:p>
        </p:txBody>
      </p:sp>
      <p:sp>
        <p:nvSpPr>
          <p:cNvPr id="3" name="Text Placeholder 2"/>
          <p:cNvSpPr>
            <a:spLocks noGrp="1"/>
          </p:cNvSpPr>
          <p:nvPr>
            <p:ph type="body" sz="quarter" idx="13"/>
          </p:nvPr>
        </p:nvSpPr>
        <p:spPr/>
        <p:txBody>
          <a:bodyPr>
            <a:normAutofit fontScale="92500" lnSpcReduction="10000"/>
          </a:bodyPr>
          <a:lstStyle/>
          <a:p>
            <a:pPr marL="0" indent="0">
              <a:buNone/>
            </a:pPr>
            <a:r>
              <a:rPr lang="en-US" b="1" dirty="0"/>
              <a:t>No early communication between key stakeholders </a:t>
            </a:r>
            <a:endParaRPr lang="en-US" b="1" dirty="0" smtClean="0"/>
          </a:p>
          <a:p>
            <a:pPr marL="0" indent="0">
              <a:buNone/>
            </a:pPr>
            <a:endParaRPr lang="en-US" dirty="0" smtClean="0"/>
          </a:p>
          <a:p>
            <a:r>
              <a:rPr lang="en-US" dirty="0"/>
              <a:t>Once the airlines were finally asked for their opinions, </a:t>
            </a:r>
            <a:r>
              <a:rPr lang="en-US" b="1" dirty="0"/>
              <a:t>they required major changes </a:t>
            </a:r>
            <a:r>
              <a:rPr lang="en-US" dirty="0"/>
              <a:t>from the project team: adding ski equipment racks, different handling for oversized luggage, and separate maintenance tracks for broken carts. The requests required major redesign on portions of the project — some of which had already been "completed." But these requests were not optional features for the airlines, and the project team was forced to redo their work.</a:t>
            </a:r>
          </a:p>
          <a:p>
            <a:r>
              <a:rPr lang="en-US" dirty="0"/>
              <a:t>By waiting to approach stakeholders, the project team </a:t>
            </a:r>
            <a:r>
              <a:rPr lang="en-US" b="1" dirty="0"/>
              <a:t>wasted time and money</a:t>
            </a:r>
            <a:r>
              <a:rPr lang="en-US" dirty="0"/>
              <a:t>. </a:t>
            </a:r>
            <a:r>
              <a:rPr lang="en-US" dirty="0">
                <a:solidFill>
                  <a:srgbClr val="FF0000"/>
                </a:solidFill>
              </a:rPr>
              <a:t>Had they approached the airlines right away, they would have been able to incorporate these requests into early project plans.</a:t>
            </a:r>
            <a:r>
              <a:rPr lang="en-US" dirty="0"/>
              <a:t> </a:t>
            </a:r>
            <a:r>
              <a:rPr lang="en-US" dirty="0">
                <a:solidFill>
                  <a:srgbClr val="00B050"/>
                </a:solidFill>
              </a:rPr>
              <a:t>They would have shaved off months of extra labor if they didn't have to redo completed work; not overshooting their deadline by 16 months would have saved them a good chunk of the extra $560 million spent. </a:t>
            </a:r>
          </a:p>
          <a:p>
            <a:r>
              <a:rPr lang="en-US" dirty="0"/>
              <a:t>It is essential that we include stakeholders from Day 1 to avoid wasting time and money. Don't make the same mistake of waiting until halfway through a project to collect vital requirements.</a:t>
            </a:r>
          </a:p>
          <a:p>
            <a:endParaRPr lang="en-US" dirty="0"/>
          </a:p>
        </p:txBody>
      </p:sp>
    </p:spTree>
    <p:extLst>
      <p:ext uri="{BB962C8B-B14F-4D97-AF65-F5344CB8AC3E}">
        <p14:creationId xmlns:p14="http://schemas.microsoft.com/office/powerpoint/2010/main" val="4209532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solidFill>
                  <a:srgbClr val="000000"/>
                </a:solidFill>
              </a:rPr>
              <a:t>Reasons For Its Failure (contd..)</a:t>
            </a:r>
            <a:endParaRPr lang="en-US" dirty="0"/>
          </a:p>
        </p:txBody>
      </p:sp>
      <p:sp>
        <p:nvSpPr>
          <p:cNvPr id="3" name="Text Placeholder 2"/>
          <p:cNvSpPr>
            <a:spLocks noGrp="1"/>
          </p:cNvSpPr>
          <p:nvPr>
            <p:ph type="body" sz="quarter" idx="13"/>
          </p:nvPr>
        </p:nvSpPr>
        <p:spPr/>
        <p:txBody>
          <a:bodyPr>
            <a:normAutofit/>
          </a:bodyPr>
          <a:lstStyle/>
          <a:p>
            <a:pPr marL="0" indent="0">
              <a:buNone/>
            </a:pPr>
            <a:r>
              <a:rPr lang="en-US" b="1" dirty="0"/>
              <a:t>all-at-once "Big Bang" rollout</a:t>
            </a:r>
            <a:r>
              <a:rPr lang="en-US" dirty="0"/>
              <a:t> </a:t>
            </a:r>
            <a:endParaRPr lang="en-US" dirty="0" smtClean="0"/>
          </a:p>
          <a:p>
            <a:pPr marL="0" indent="0">
              <a:buNone/>
            </a:pPr>
            <a:endParaRPr lang="en-US" dirty="0" smtClean="0"/>
          </a:p>
          <a:p>
            <a:r>
              <a:rPr lang="en-US" b="1" dirty="0"/>
              <a:t>all-at-once "Big Bang" rollout</a:t>
            </a:r>
            <a:r>
              <a:rPr lang="en-US" dirty="0"/>
              <a:t> to all three concourses, </a:t>
            </a:r>
            <a:r>
              <a:rPr lang="en-US" dirty="0">
                <a:solidFill>
                  <a:srgbClr val="00B050"/>
                </a:solidFill>
              </a:rPr>
              <a:t>as opposed to slower, incremental rollout.</a:t>
            </a:r>
          </a:p>
          <a:p>
            <a:r>
              <a:rPr lang="en-US" b="1" dirty="0"/>
              <a:t>The team </a:t>
            </a:r>
            <a:r>
              <a:rPr lang="en-US" b="1" u="sng" dirty="0"/>
              <a:t>should have tested the new automated system in sections</a:t>
            </a:r>
            <a:r>
              <a:rPr lang="en-US" dirty="0"/>
              <a:t> </a:t>
            </a:r>
            <a:r>
              <a:rPr lang="en-US" dirty="0">
                <a:sym typeface="Wingdings" pitchFamily="2" charset="2"/>
              </a:rPr>
              <a:t></a:t>
            </a:r>
            <a:r>
              <a:rPr lang="en-US" dirty="0"/>
              <a:t>to make sure it would work before implementing it throughout the rest of the airport.</a:t>
            </a:r>
          </a:p>
          <a:p>
            <a:r>
              <a:rPr lang="en-US" dirty="0"/>
              <a:t>The best way to get big results is to </a:t>
            </a:r>
            <a:r>
              <a:rPr lang="en-US" dirty="0">
                <a:solidFill>
                  <a:srgbClr val="00B050"/>
                </a:solidFill>
              </a:rPr>
              <a:t>first ensure you can </a:t>
            </a:r>
            <a:r>
              <a:rPr lang="en-US" b="1" dirty="0">
                <a:solidFill>
                  <a:srgbClr val="00B050"/>
                </a:solidFill>
              </a:rPr>
              <a:t>create a successful minimal viable product</a:t>
            </a:r>
            <a:r>
              <a:rPr lang="en-US" dirty="0"/>
              <a:t>. </a:t>
            </a:r>
            <a:r>
              <a:rPr lang="en-US" b="1" dirty="0"/>
              <a:t>Once your MVP works well, repeat the process on a larger playing ground, slowly scaling efforts until you reach the end goal</a:t>
            </a:r>
            <a:endParaRPr lang="en-US" b="1" dirty="0">
              <a:solidFill>
                <a:srgbClr val="00B050"/>
              </a:solidFill>
            </a:endParaRPr>
          </a:p>
          <a:p>
            <a:endParaRPr lang="en-US" dirty="0"/>
          </a:p>
        </p:txBody>
      </p:sp>
    </p:spTree>
    <p:extLst>
      <p:ext uri="{BB962C8B-B14F-4D97-AF65-F5344CB8AC3E}">
        <p14:creationId xmlns:p14="http://schemas.microsoft.com/office/powerpoint/2010/main" val="128651790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533400"/>
            <a:ext cx="8381999" cy="780195"/>
          </a:xfrm>
        </p:spPr>
        <p:txBody>
          <a:bodyPr>
            <a:noAutofit/>
          </a:bodyPr>
          <a:lstStyle/>
          <a:p>
            <a:r>
              <a:rPr lang="en-US" sz="4800" dirty="0"/>
              <a:t>Summary Denver Airport Luggage Automation system Failure</a:t>
            </a:r>
          </a:p>
        </p:txBody>
      </p:sp>
      <p:sp>
        <p:nvSpPr>
          <p:cNvPr id="3" name="Text Placeholder 2"/>
          <p:cNvSpPr>
            <a:spLocks noGrp="1"/>
          </p:cNvSpPr>
          <p:nvPr>
            <p:ph type="body" sz="quarter" idx="13"/>
          </p:nvPr>
        </p:nvSpPr>
        <p:spPr>
          <a:xfrm>
            <a:off x="457202" y="1905000"/>
            <a:ext cx="8381999" cy="4038600"/>
          </a:xfrm>
        </p:spPr>
        <p:txBody>
          <a:bodyPr>
            <a:normAutofit/>
          </a:bodyPr>
          <a:lstStyle/>
          <a:p>
            <a:pPr marL="0" indent="0">
              <a:buNone/>
            </a:pPr>
            <a:r>
              <a:rPr lang="en-US" b="1" dirty="0"/>
              <a:t>Contributing factors :</a:t>
            </a:r>
          </a:p>
          <a:p>
            <a:r>
              <a:rPr lang="en-US" sz="2000" dirty="0"/>
              <a:t>Underestimation of complexity.</a:t>
            </a:r>
          </a:p>
          <a:p>
            <a:r>
              <a:rPr lang="en-US" sz="2000" dirty="0"/>
              <a:t>Complex architecture.</a:t>
            </a:r>
          </a:p>
          <a:p>
            <a:r>
              <a:rPr lang="en-US" sz="2000" dirty="0"/>
              <a:t>Changes in requirements.</a:t>
            </a:r>
          </a:p>
          <a:p>
            <a:r>
              <a:rPr lang="en-US" sz="2000" dirty="0"/>
              <a:t>Underestimation of schedule and budget.  </a:t>
            </a:r>
          </a:p>
          <a:p>
            <a:r>
              <a:rPr lang="en-US" sz="2000" dirty="0"/>
              <a:t>Dismissal of advice from experts</a:t>
            </a:r>
          </a:p>
          <a:p>
            <a:r>
              <a:rPr lang="en-US" sz="2000" dirty="0"/>
              <a:t>Failure to build in backup or recovery process to handle </a:t>
            </a:r>
            <a:r>
              <a:rPr lang="en-US" sz="2000" dirty="0" smtClean="0"/>
              <a:t>situations</a:t>
            </a:r>
            <a:endParaRPr lang="en-US" dirty="0"/>
          </a:p>
          <a:p>
            <a:endParaRPr lang="en-US" dirty="0"/>
          </a:p>
        </p:txBody>
      </p:sp>
    </p:spTree>
    <p:extLst>
      <p:ext uri="{BB962C8B-B14F-4D97-AF65-F5344CB8AC3E}">
        <p14:creationId xmlns:p14="http://schemas.microsoft.com/office/powerpoint/2010/main" val="10857369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Lesson Learned</a:t>
            </a:r>
            <a:endParaRPr lang="en-US" sz="4800" dirty="0"/>
          </a:p>
        </p:txBody>
      </p:sp>
      <p:sp>
        <p:nvSpPr>
          <p:cNvPr id="3" name="Text Placeholder 2"/>
          <p:cNvSpPr>
            <a:spLocks noGrp="1"/>
          </p:cNvSpPr>
          <p:nvPr>
            <p:ph type="body" sz="quarter" idx="13"/>
          </p:nvPr>
        </p:nvSpPr>
        <p:spPr/>
        <p:txBody>
          <a:bodyPr>
            <a:normAutofit fontScale="92500"/>
          </a:bodyPr>
          <a:lstStyle/>
          <a:p>
            <a:r>
              <a:rPr lang="en-US" b="1" dirty="0"/>
              <a:t>Minimum Viable Product</a:t>
            </a:r>
            <a:r>
              <a:rPr lang="en-US" dirty="0"/>
              <a:t>. It is </a:t>
            </a:r>
            <a:r>
              <a:rPr lang="en-US" b="1" dirty="0">
                <a:solidFill>
                  <a:srgbClr val="FF0000"/>
                </a:solidFill>
              </a:rPr>
              <a:t>the smallest number of features that need to be developed in order to push your product or service to your early adopters.</a:t>
            </a:r>
          </a:p>
          <a:p>
            <a:r>
              <a:rPr lang="en-US" b="1" dirty="0"/>
              <a:t>Focus all your time, energy, and money</a:t>
            </a:r>
            <a:r>
              <a:rPr lang="en-US" dirty="0"/>
              <a:t> on developing just your MVP, and nothing else. Yes, that means </a:t>
            </a:r>
            <a:r>
              <a:rPr lang="en-US" b="1" dirty="0"/>
              <a:t>your product or service won't be completely evolved to fulfill all your dreams or the product </a:t>
            </a:r>
            <a:r>
              <a:rPr lang="en-US" b="1" dirty="0">
                <a:hlinkClick r:id="rId2"/>
              </a:rPr>
              <a:t>roadmap</a:t>
            </a:r>
            <a:r>
              <a:rPr lang="en-US" b="1" dirty="0"/>
              <a:t>, but it will be functional. </a:t>
            </a:r>
            <a:r>
              <a:rPr lang="en-US" u="sng" dirty="0"/>
              <a:t>With it, you can start learning and earning  — learning about customers' needs as they interact with your MVP, and earning money to expand upon the rest of your ideas.</a:t>
            </a:r>
          </a:p>
          <a:p>
            <a:r>
              <a:rPr lang="en-US" b="1" u="sng" dirty="0"/>
              <a:t>If your resources are going into developing an extra feature beyond the MVP ("It's just a little thing, it won't take much!") you are wasting time, manpower, and money.</a:t>
            </a:r>
            <a:r>
              <a:rPr lang="en-US" dirty="0"/>
              <a:t> </a:t>
            </a:r>
            <a:r>
              <a:rPr lang="en-US" dirty="0">
                <a:solidFill>
                  <a:srgbClr val="FF0000"/>
                </a:solidFill>
              </a:rPr>
              <a:t>And you could be setting yourself up as the next failed startup. Every second and every dollar counts.</a:t>
            </a:r>
          </a:p>
          <a:p>
            <a:r>
              <a:rPr lang="en-US" dirty="0"/>
              <a:t>You'll have time to expand upon the rest of your ideas later, but for now, </a:t>
            </a:r>
            <a:r>
              <a:rPr lang="en-US" b="1" dirty="0"/>
              <a:t>speed is essential</a:t>
            </a:r>
            <a:r>
              <a:rPr lang="en-US" dirty="0"/>
              <a:t>. Focus on getting something out there so that you can move on to the next step: improving your product through validated learning.</a:t>
            </a:r>
          </a:p>
          <a:p>
            <a:endParaRPr lang="en-US" dirty="0"/>
          </a:p>
        </p:txBody>
      </p:sp>
    </p:spTree>
    <p:extLst>
      <p:ext uri="{BB962C8B-B14F-4D97-AF65-F5344CB8AC3E}">
        <p14:creationId xmlns:p14="http://schemas.microsoft.com/office/powerpoint/2010/main" val="339700538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Lesson Learned</a:t>
            </a:r>
            <a:endParaRPr lang="en-US" sz="4800" dirty="0"/>
          </a:p>
        </p:txBody>
      </p:sp>
      <p:sp>
        <p:nvSpPr>
          <p:cNvPr id="3" name="Text Placeholder 2"/>
          <p:cNvSpPr>
            <a:spLocks noGrp="1"/>
          </p:cNvSpPr>
          <p:nvPr>
            <p:ph type="body" sz="quarter" idx="13"/>
          </p:nvPr>
        </p:nvSpPr>
        <p:spPr/>
        <p:txBody>
          <a:bodyPr>
            <a:normAutofit/>
          </a:bodyPr>
          <a:lstStyle/>
          <a:p>
            <a:r>
              <a:rPr lang="en-US" sz="2800" dirty="0">
                <a:solidFill>
                  <a:srgbClr val="FF0000"/>
                </a:solidFill>
              </a:rPr>
              <a:t>!!! Next time you're working on a project, remember these three lessons and avoid facing the same fate as Denver International Airport</a:t>
            </a:r>
            <a:r>
              <a:rPr lang="en-US" sz="2800" dirty="0" smtClean="0">
                <a:solidFill>
                  <a:srgbClr val="FF0000"/>
                </a:solidFill>
              </a:rPr>
              <a:t>:</a:t>
            </a:r>
          </a:p>
          <a:p>
            <a:endParaRPr lang="en-US" sz="2800" b="1" dirty="0" smtClean="0"/>
          </a:p>
          <a:p>
            <a:pPr marL="685800" lvl="1" indent="-342900">
              <a:buFont typeface="+mj-lt"/>
              <a:buAutoNum type="arabicPeriod"/>
            </a:pPr>
            <a:r>
              <a:rPr lang="en-US" sz="2400" b="1" dirty="0" smtClean="0"/>
              <a:t>Watch </a:t>
            </a:r>
            <a:r>
              <a:rPr lang="en-US" sz="2400" b="1" dirty="0"/>
              <a:t>for red flags, and heed the warnings of </a:t>
            </a:r>
            <a:r>
              <a:rPr lang="en-US" sz="2400" b="1" dirty="0" smtClean="0"/>
              <a:t>experts.</a:t>
            </a:r>
          </a:p>
          <a:p>
            <a:pPr marL="685800" lvl="1" indent="-342900">
              <a:buFont typeface="+mj-lt"/>
              <a:buAutoNum type="arabicPeriod"/>
            </a:pPr>
            <a:r>
              <a:rPr lang="en-US" sz="2400" b="1" dirty="0" smtClean="0"/>
              <a:t>Involve </a:t>
            </a:r>
            <a:r>
              <a:rPr lang="en-US" sz="2400" b="1" dirty="0"/>
              <a:t>all project stakeholders from Day </a:t>
            </a:r>
            <a:r>
              <a:rPr lang="en-US" sz="2400" b="1" dirty="0" smtClean="0"/>
              <a:t>1.</a:t>
            </a:r>
          </a:p>
          <a:p>
            <a:pPr marL="685800" lvl="1" indent="-342900">
              <a:buFont typeface="+mj-lt"/>
              <a:buAutoNum type="arabicPeriod"/>
            </a:pPr>
            <a:r>
              <a:rPr lang="en-US" sz="2400" b="1" dirty="0" smtClean="0"/>
              <a:t>Take </a:t>
            </a:r>
            <a:r>
              <a:rPr lang="en-US" sz="2400" b="1" dirty="0"/>
              <a:t>small steps to successfully reach the end goal</a:t>
            </a:r>
            <a:r>
              <a:rPr lang="en-US" sz="2400" b="1" dirty="0" smtClean="0"/>
              <a:t>.</a:t>
            </a:r>
          </a:p>
          <a:p>
            <a:pPr marL="685800" lvl="1" indent="-342900">
              <a:buFont typeface="+mj-lt"/>
              <a:buAutoNum type="arabicPeriod"/>
            </a:pPr>
            <a:endParaRPr lang="en-US" sz="2400" dirty="0"/>
          </a:p>
          <a:p>
            <a:r>
              <a:rPr lang="en-US" sz="2800" dirty="0"/>
              <a:t> </a:t>
            </a:r>
            <a:r>
              <a:rPr lang="en-US" sz="2800" dirty="0">
                <a:solidFill>
                  <a:srgbClr val="00B050"/>
                </a:solidFill>
              </a:rPr>
              <a:t>Good luck on your next projects and next flights! </a:t>
            </a:r>
            <a:r>
              <a:rPr lang="en-US" sz="2800" dirty="0">
                <a:solidFill>
                  <a:srgbClr val="00B050"/>
                </a:solidFill>
                <a:sym typeface="Wingdings" pitchFamily="2" charset="2"/>
              </a:rPr>
              <a:t>  </a:t>
            </a:r>
            <a:endParaRPr lang="en-US" sz="2800" dirty="0">
              <a:solidFill>
                <a:srgbClr val="00B050"/>
              </a:solidFill>
            </a:endParaRPr>
          </a:p>
          <a:p>
            <a:endParaRPr lang="en-US" dirty="0"/>
          </a:p>
        </p:txBody>
      </p:sp>
    </p:spTree>
    <p:extLst>
      <p:ext uri="{BB962C8B-B14F-4D97-AF65-F5344CB8AC3E}">
        <p14:creationId xmlns:p14="http://schemas.microsoft.com/office/powerpoint/2010/main" val="116104505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t>Some</a:t>
            </a:r>
            <a:r>
              <a:rPr lang="en-US" sz="4000" dirty="0" smtClean="0"/>
              <a:t> Examples of Software Failure</a:t>
            </a:r>
            <a:endParaRPr lang="en-US" dirty="0"/>
          </a:p>
        </p:txBody>
      </p:sp>
      <p:sp>
        <p:nvSpPr>
          <p:cNvPr id="3" name="Text Placeholder 2"/>
          <p:cNvSpPr>
            <a:spLocks noGrp="1"/>
          </p:cNvSpPr>
          <p:nvPr>
            <p:ph type="body" sz="quarter" idx="13"/>
          </p:nvPr>
        </p:nvSpPr>
        <p:spPr/>
        <p:txBody>
          <a:bodyPr>
            <a:normAutofit/>
          </a:bodyPr>
          <a:lstStyle/>
          <a:p>
            <a:r>
              <a:rPr lang="en-US" b="1" dirty="0"/>
              <a:t>Case #1: St. Mary’s Mercy Hospital</a:t>
            </a:r>
          </a:p>
          <a:p>
            <a:r>
              <a:rPr lang="en-US" dirty="0"/>
              <a:t>Imagine waking up one day, checking your mailbox an receiving a letter from your hospital saying you died. Well, that is precisely what happened to 8500 people who received treatment between Oct 25 and Dec 11 at St. Mary’s Mercy Hospital. So what happened? It turns out the hospital had recently upgraded its patient-management software system. However, a mapping error in the software resulted in the system assigning a code of 20 (which means “expired”) instead of 01 which meant the patient had been discharged. But that is not all. The erroneous data was not only sent to the patients but also to insurance companies and the local Social Security Office. It is not clear how [2</a:t>
            </a:r>
            <a:r>
              <a:rPr lang="en-US" dirty="0" smtClean="0"/>
              <a:t>]</a:t>
            </a:r>
            <a:endParaRPr lang="en-US" dirty="0"/>
          </a:p>
        </p:txBody>
      </p:sp>
    </p:spTree>
    <p:extLst>
      <p:ext uri="{BB962C8B-B14F-4D97-AF65-F5344CB8AC3E}">
        <p14:creationId xmlns:p14="http://schemas.microsoft.com/office/powerpoint/2010/main" val="34133486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Some </a:t>
            </a:r>
            <a:r>
              <a:rPr lang="en-US" sz="4400" dirty="0" smtClean="0"/>
              <a:t>Examples </a:t>
            </a:r>
            <a:r>
              <a:rPr lang="en-US" sz="4400" dirty="0"/>
              <a:t>of Software Failure</a:t>
            </a:r>
            <a:endParaRPr lang="en-US" sz="4000" dirty="0"/>
          </a:p>
        </p:txBody>
      </p:sp>
      <p:sp>
        <p:nvSpPr>
          <p:cNvPr id="3" name="Text Placeholder 2"/>
          <p:cNvSpPr>
            <a:spLocks noGrp="1"/>
          </p:cNvSpPr>
          <p:nvPr>
            <p:ph type="body" sz="quarter" idx="13"/>
          </p:nvPr>
        </p:nvSpPr>
        <p:spPr/>
        <p:txBody>
          <a:bodyPr>
            <a:normAutofit/>
          </a:bodyPr>
          <a:lstStyle/>
          <a:p>
            <a:r>
              <a:rPr lang="en-US" b="1" dirty="0"/>
              <a:t>Case #2: National Health Service</a:t>
            </a:r>
          </a:p>
          <a:p>
            <a:r>
              <a:rPr lang="en-US" dirty="0"/>
              <a:t>I don’t know what is worse: Not taking your medicines at all or taking the wrong medication. Either way, at least 300,000 heart patients were given the wrong drug or advise as a result of a software fault. So, what happened? In the year 2016, it was discovered that the clinical computer system </a:t>
            </a:r>
            <a:r>
              <a:rPr lang="en-US" dirty="0" err="1"/>
              <a:t>SystmOne</a:t>
            </a:r>
            <a:r>
              <a:rPr lang="en-US" dirty="0"/>
              <a:t> had an error that since 2009 had been miscalculating patient’s risk of heart attack. As a result, many patients suffered heart attacks or strokes since they were told they were at low-risk, while other suffered from the side-effects of taking unnecessary medication [3</a:t>
            </a:r>
            <a:r>
              <a:rPr lang="en-US" dirty="0" smtClean="0"/>
              <a:t>].</a:t>
            </a:r>
            <a:endParaRPr lang="en-US" dirty="0"/>
          </a:p>
        </p:txBody>
      </p:sp>
    </p:spTree>
    <p:extLst>
      <p:ext uri="{BB962C8B-B14F-4D97-AF65-F5344CB8AC3E}">
        <p14:creationId xmlns:p14="http://schemas.microsoft.com/office/powerpoint/2010/main" val="319779446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Some </a:t>
            </a:r>
            <a:r>
              <a:rPr lang="en-US" sz="4400" dirty="0" smtClean="0"/>
              <a:t>Examples </a:t>
            </a:r>
            <a:r>
              <a:rPr lang="en-US" sz="4400" dirty="0"/>
              <a:t>of Software Failure</a:t>
            </a:r>
            <a:endParaRPr lang="en-US" sz="4000" dirty="0"/>
          </a:p>
        </p:txBody>
      </p:sp>
      <p:sp>
        <p:nvSpPr>
          <p:cNvPr id="3" name="Text Placeholder 2"/>
          <p:cNvSpPr>
            <a:spLocks noGrp="1"/>
          </p:cNvSpPr>
          <p:nvPr>
            <p:ph type="body" sz="quarter" idx="13"/>
          </p:nvPr>
        </p:nvSpPr>
        <p:spPr/>
        <p:txBody>
          <a:bodyPr>
            <a:normAutofit/>
          </a:bodyPr>
          <a:lstStyle/>
          <a:p>
            <a:r>
              <a:rPr lang="en-US" b="1" dirty="0"/>
              <a:t>Case #3: Air Traffic Control in LA Airport</a:t>
            </a:r>
          </a:p>
          <a:p>
            <a:r>
              <a:rPr lang="en-US" dirty="0"/>
              <a:t>The air traffic control has the important responsibility of informing aircraft pilots about relevant information regarding weather, routes, the distance between other airplanes, and more. Failing to communicate with aircraft pilots promptly could result in catastrophe. On September 14, 2004, at 5 P.M. air traffic control at the LA airport lost voice communication with approximately 400 airplanes being tracked in the southwestern United States and many planes were headed towards each other. So what happened? The primary voice communication system shut down unexpectedly. To top it off the backup system failed a few minutes after it was turned on. The cause of the error was that the communication system had an internal timer that ticks off in milliseconds. After it reached zero, it could not time itself so it would shut down. The outage affected 800 flights across the country [4].</a:t>
            </a:r>
          </a:p>
          <a:p>
            <a:endParaRPr lang="en-US" dirty="0"/>
          </a:p>
        </p:txBody>
      </p:sp>
    </p:spTree>
    <p:extLst>
      <p:ext uri="{BB962C8B-B14F-4D97-AF65-F5344CB8AC3E}">
        <p14:creationId xmlns:p14="http://schemas.microsoft.com/office/powerpoint/2010/main" val="224620878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Some </a:t>
            </a:r>
            <a:r>
              <a:rPr lang="en-US" sz="4400" dirty="0" smtClean="0"/>
              <a:t>Examples </a:t>
            </a:r>
            <a:r>
              <a:rPr lang="en-US" sz="4400" dirty="0"/>
              <a:t>of Software Failure</a:t>
            </a:r>
            <a:endParaRPr lang="en-US" sz="4000" dirty="0"/>
          </a:p>
        </p:txBody>
      </p:sp>
      <p:sp>
        <p:nvSpPr>
          <p:cNvPr id="3" name="Text Placeholder 2"/>
          <p:cNvSpPr>
            <a:spLocks noGrp="1"/>
          </p:cNvSpPr>
          <p:nvPr>
            <p:ph type="body" sz="quarter" idx="13"/>
          </p:nvPr>
        </p:nvSpPr>
        <p:spPr/>
        <p:txBody>
          <a:bodyPr/>
          <a:lstStyle/>
          <a:p>
            <a:r>
              <a:rPr lang="en-US" b="1" dirty="0"/>
              <a:t>Case #4: Toyota</a:t>
            </a:r>
          </a:p>
          <a:p>
            <a:r>
              <a:rPr lang="en-US" dirty="0"/>
              <a:t>In the mid-2000’s many Toyota drivers were reporting that their car was accelerating without them touching the pedal. After a series of accidents, which lead to investigations, investigators discovered that software errors were the cause of the unintended acceleration. In this case, there was a series of things wrong with the software installed in Toyota cars: Memory corruption, wrong memory handling, disabling safety systems, systems with single points of failure, and thousands of global variables. Toyota recalled millions of vehicles and Toyota’s stock price decreased 20% a month after the cause of the problem was discovered. This case demonstrates the consequences of not giving enough attention to good programming practices and testing as a result of wanting to launch the product.</a:t>
            </a:r>
          </a:p>
          <a:p>
            <a:endParaRPr lang="en-US" dirty="0"/>
          </a:p>
          <a:p>
            <a:endParaRPr lang="en-US" dirty="0"/>
          </a:p>
          <a:p>
            <a:endParaRPr lang="en-US" dirty="0"/>
          </a:p>
        </p:txBody>
      </p:sp>
    </p:spTree>
    <p:extLst>
      <p:ext uri="{BB962C8B-B14F-4D97-AF65-F5344CB8AC3E}">
        <p14:creationId xmlns:p14="http://schemas.microsoft.com/office/powerpoint/2010/main" val="38084724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96</a:t>
            </a:fld>
            <a:endParaRPr lang="en-US" dirty="0"/>
          </a:p>
        </p:txBody>
      </p:sp>
      <p:sp>
        <p:nvSpPr>
          <p:cNvPr id="3" name="Title 2"/>
          <p:cNvSpPr>
            <a:spLocks noGrp="1"/>
          </p:cNvSpPr>
          <p:nvPr>
            <p:ph type="title"/>
          </p:nvPr>
        </p:nvSpPr>
        <p:spPr/>
        <p:txBody>
          <a:bodyPr/>
          <a:lstStyle/>
          <a:p>
            <a:r>
              <a:rPr lang="en-US" dirty="0" smtClean="0"/>
              <a:t>Why Do Project Fail</a:t>
            </a:r>
            <a:endParaRPr lang="en-US" dirty="0"/>
          </a:p>
        </p:txBody>
      </p:sp>
      <p:pic>
        <p:nvPicPr>
          <p:cNvPr id="5" name="Content Placeholder 5" descr="project-failure-sml_jiscinfonet.ac.uk_.png"/>
          <p:cNvPicPr>
            <a:picLocks noChangeAspect="1"/>
          </p:cNvPicPr>
          <p:nvPr/>
        </p:nvPicPr>
        <p:blipFill>
          <a:blip r:embed="rId2" cstate="print"/>
          <a:srcRect/>
          <a:stretch>
            <a:fillRect/>
          </a:stretch>
        </p:blipFill>
        <p:spPr>
          <a:xfrm>
            <a:off x="609600" y="1234576"/>
            <a:ext cx="7521677" cy="5027938"/>
          </a:xfrm>
          <a:prstGeom prst="rect">
            <a:avLst/>
          </a:prstGeom>
        </p:spPr>
      </p:pic>
    </p:spTree>
    <p:extLst>
      <p:ext uri="{BB962C8B-B14F-4D97-AF65-F5344CB8AC3E}">
        <p14:creationId xmlns:p14="http://schemas.microsoft.com/office/powerpoint/2010/main" val="21745320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97</a:t>
            </a:fld>
            <a:endParaRPr lang="en-US" dirty="0"/>
          </a:p>
        </p:txBody>
      </p:sp>
      <p:sp>
        <p:nvSpPr>
          <p:cNvPr id="3" name="Title 2"/>
          <p:cNvSpPr>
            <a:spLocks noGrp="1"/>
          </p:cNvSpPr>
          <p:nvPr>
            <p:ph type="title"/>
          </p:nvPr>
        </p:nvSpPr>
        <p:spPr/>
        <p:txBody>
          <a:bodyPr/>
          <a:lstStyle/>
          <a:p>
            <a:r>
              <a:rPr lang="en-US" dirty="0" smtClean="0"/>
              <a:t>Why Do Project Fail</a:t>
            </a:r>
            <a:endParaRPr lang="en-US" dirty="0"/>
          </a:p>
        </p:txBody>
      </p:sp>
      <p:pic>
        <p:nvPicPr>
          <p:cNvPr id="5" name="Content Placeholder 4" descr="3260585819-project_management.jpg"/>
          <p:cNvPicPr>
            <a:picLocks noGrp="1" noChangeAspect="1"/>
          </p:cNvPicPr>
          <p:nvPr>
            <p:ph sz="quarter" idx="4294967295"/>
          </p:nvPr>
        </p:nvPicPr>
        <p:blipFill>
          <a:blip r:embed="rId2" cstate="print"/>
          <a:srcRect/>
          <a:stretch>
            <a:fillRect/>
          </a:stretch>
        </p:blipFill>
        <p:spPr>
          <a:xfrm>
            <a:off x="838200" y="1144836"/>
            <a:ext cx="7848600" cy="5314950"/>
          </a:xfrm>
        </p:spPr>
      </p:pic>
      <p:pic>
        <p:nvPicPr>
          <p:cNvPr id="6" name="Content Placeholder 4" descr="3260585819-project_management.jpg"/>
          <p:cNvPicPr>
            <a:picLocks noGrp="1" noChangeAspect="1"/>
          </p:cNvPicPr>
          <p:nvPr>
            <p:ph sz="quarter" idx="4294967295"/>
          </p:nvPr>
        </p:nvPicPr>
        <p:blipFill>
          <a:blip r:embed="rId2" cstate="print"/>
          <a:srcRect/>
          <a:stretch>
            <a:fillRect/>
          </a:stretch>
        </p:blipFill>
        <p:spPr>
          <a:xfrm>
            <a:off x="838200" y="1143794"/>
            <a:ext cx="7848600" cy="5314950"/>
          </a:xfrm>
        </p:spPr>
      </p:pic>
      <p:pic>
        <p:nvPicPr>
          <p:cNvPr id="8" name="Picture 7"/>
          <p:cNvPicPr>
            <a:picLocks noChangeAspect="1"/>
          </p:cNvPicPr>
          <p:nvPr/>
        </p:nvPicPr>
        <p:blipFill>
          <a:blip r:embed="rId3"/>
          <a:stretch>
            <a:fillRect/>
          </a:stretch>
        </p:blipFill>
        <p:spPr>
          <a:xfrm>
            <a:off x="457201" y="1054070"/>
            <a:ext cx="7619999" cy="5162890"/>
          </a:xfrm>
          <a:prstGeom prst="rect">
            <a:avLst/>
          </a:prstGeom>
        </p:spPr>
      </p:pic>
    </p:spTree>
    <p:extLst>
      <p:ext uri="{BB962C8B-B14F-4D97-AF65-F5344CB8AC3E}">
        <p14:creationId xmlns:p14="http://schemas.microsoft.com/office/powerpoint/2010/main" val="11470137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Questions ???</a:t>
            </a:r>
            <a:endParaRPr lang="en-US" dirty="0"/>
          </a:p>
        </p:txBody>
      </p:sp>
      <p:sp>
        <p:nvSpPr>
          <p:cNvPr id="3" name="Text Placeholder 2"/>
          <p:cNvSpPr>
            <a:spLocks noGrp="1"/>
          </p:cNvSpPr>
          <p:nvPr>
            <p:ph type="body" sz="quarter" idx="13"/>
          </p:nvPr>
        </p:nvSpPr>
        <p:spPr/>
        <p:txBody>
          <a:bodyPr>
            <a:normAutofit lnSpcReduction="10000"/>
          </a:bodyPr>
          <a:lstStyle/>
          <a:p>
            <a:r>
              <a:rPr lang="en-US" dirty="0" smtClean="0"/>
              <a:t>Why </a:t>
            </a:r>
            <a:r>
              <a:rPr lang="en-US" dirty="0"/>
              <a:t>is there a new or renewed interest in the field of project management? </a:t>
            </a:r>
            <a:endParaRPr lang="en-US" dirty="0" smtClean="0"/>
          </a:p>
          <a:p>
            <a:r>
              <a:rPr lang="en-US" dirty="0" smtClean="0"/>
              <a:t>What </a:t>
            </a:r>
            <a:r>
              <a:rPr lang="en-US" dirty="0"/>
              <a:t>is a project, and what are its main attributes? How is a project different from what most people do in their day-to-day jobs? What is the triple constraint? </a:t>
            </a:r>
            <a:endParaRPr lang="en-US" dirty="0" smtClean="0"/>
          </a:p>
          <a:p>
            <a:r>
              <a:rPr lang="en-US" dirty="0" smtClean="0"/>
              <a:t>What </a:t>
            </a:r>
            <a:r>
              <a:rPr lang="en-US" dirty="0"/>
              <a:t>is project management? Briefly describe the project management framework, providing examples of stakeholders, knowledge areas, tools and techniques, and project success factors. </a:t>
            </a:r>
            <a:endParaRPr lang="en-US" dirty="0" smtClean="0"/>
          </a:p>
          <a:p>
            <a:r>
              <a:rPr lang="en-US" dirty="0" smtClean="0"/>
              <a:t>What are 3Ps of Project Management ? Briefly describe them.</a:t>
            </a:r>
          </a:p>
          <a:p>
            <a:r>
              <a:rPr lang="en-US" dirty="0" smtClean="0"/>
              <a:t>Discuss </a:t>
            </a:r>
            <a:r>
              <a:rPr lang="en-US" dirty="0"/>
              <a:t>the relationship between project, program, and portfolio Management and their contribution to enterprise success. </a:t>
            </a:r>
            <a:endParaRPr lang="en-US" dirty="0" smtClean="0"/>
          </a:p>
          <a:p>
            <a:r>
              <a:rPr lang="en-US" dirty="0" smtClean="0"/>
              <a:t>What </a:t>
            </a:r>
            <a:r>
              <a:rPr lang="en-US" dirty="0"/>
              <a:t>are the roles of the </a:t>
            </a:r>
            <a:r>
              <a:rPr lang="en-US" dirty="0" smtClean="0"/>
              <a:t>project, program, and portfolio managers</a:t>
            </a:r>
            <a:r>
              <a:rPr lang="en-US" dirty="0"/>
              <a:t>? What are suggested skills for project managers? What additional skills do program and portfolio managers need?</a:t>
            </a:r>
          </a:p>
        </p:txBody>
      </p:sp>
    </p:spTree>
    <p:extLst>
      <p:ext uri="{BB962C8B-B14F-4D97-AF65-F5344CB8AC3E}">
        <p14:creationId xmlns:p14="http://schemas.microsoft.com/office/powerpoint/2010/main" val="989986201"/>
      </p:ext>
    </p:extLst>
  </p:cSld>
  <p:clrMapOvr>
    <a:masterClrMapping/>
  </p:clrMapOvr>
</p:sld>
</file>

<file path=ppt/theme/theme1.xml><?xml version="1.0" encoding="utf-8"?>
<a:theme xmlns:a="http://schemas.openxmlformats.org/drawingml/2006/main" name="Retrospect">
  <a:themeElements>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2.xml><?xml version="1.0" encoding="utf-8"?>
<a:themeOverride xmlns:a="http://schemas.openxmlformats.org/drawingml/2006/main">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3.xml><?xml version="1.0" encoding="utf-8"?>
<a:themeOverride xmlns:a="http://schemas.openxmlformats.org/drawingml/2006/main">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4.xml><?xml version="1.0" encoding="utf-8"?>
<a:themeOverride xmlns:a="http://schemas.openxmlformats.org/drawingml/2006/main">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5.xml><?xml version="1.0" encoding="utf-8"?>
<a:themeOverride xmlns:a="http://schemas.openxmlformats.org/drawingml/2006/main">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6.xml><?xml version="1.0" encoding="utf-8"?>
<a:themeOverride xmlns:a="http://schemas.openxmlformats.org/drawingml/2006/main">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7.xml><?xml version="1.0" encoding="utf-8"?>
<a:themeOverride xmlns:a="http://schemas.openxmlformats.org/drawingml/2006/main">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8.xml><?xml version="1.0" encoding="utf-8"?>
<a:themeOverride xmlns:a="http://schemas.openxmlformats.org/drawingml/2006/main">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2810</TotalTime>
  <Words>6909</Words>
  <Application>Microsoft Office PowerPoint</Application>
  <PresentationFormat>On-screen Show (4:3)</PresentationFormat>
  <Paragraphs>664</Paragraphs>
  <Slides>98</Slides>
  <Notes>26</Notes>
  <HiddenSlides>2</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98</vt:i4>
      </vt:variant>
    </vt:vector>
  </HeadingPairs>
  <TitlesOfParts>
    <vt:vector size="104" baseType="lpstr">
      <vt:lpstr>Arial</vt:lpstr>
      <vt:lpstr>Calibri</vt:lpstr>
      <vt:lpstr>Calibri Light</vt:lpstr>
      <vt:lpstr>Wingdings</vt:lpstr>
      <vt:lpstr>Retrospect</vt:lpstr>
      <vt:lpstr>Office Theme</vt:lpstr>
      <vt:lpstr>Software Project Management</vt:lpstr>
      <vt:lpstr>Course Description</vt:lpstr>
      <vt:lpstr>PowerPoint Presentation</vt:lpstr>
      <vt:lpstr>PowerPoint Presentation</vt:lpstr>
      <vt:lpstr>Introduction</vt:lpstr>
      <vt:lpstr>What is Project</vt:lpstr>
      <vt:lpstr>What is Project</vt:lpstr>
      <vt:lpstr>Characteristics of Project</vt:lpstr>
      <vt:lpstr>Characteristics of Project</vt:lpstr>
      <vt:lpstr>PMI Definition</vt:lpstr>
      <vt:lpstr>Temporary endeavor</vt:lpstr>
      <vt:lpstr>Fulfillment of project objectives may produce one or more of the following deliverables: </vt:lpstr>
      <vt:lpstr>Projects are Progressively Elaborated with Repetitive elements</vt:lpstr>
      <vt:lpstr>What Projects do to an organization?Projects drive change</vt:lpstr>
      <vt:lpstr>What Projects do to an organization?Projects drive change</vt:lpstr>
      <vt:lpstr>Projects enable business value creation</vt:lpstr>
      <vt:lpstr>Software Project</vt:lpstr>
      <vt:lpstr>Software Project Lifecycle</vt:lpstr>
      <vt:lpstr>Software Projects vs. Other Types</vt:lpstr>
      <vt:lpstr>Software Projects vs. Other Types</vt:lpstr>
      <vt:lpstr>Examples of projects include but are not limited to:</vt:lpstr>
      <vt:lpstr>Examples of Software Projects</vt:lpstr>
      <vt:lpstr>Project Initiation Context- what factors make the organization/someone start a project</vt:lpstr>
      <vt:lpstr>PowerPoint Presentation</vt:lpstr>
      <vt:lpstr>What is Management</vt:lpstr>
      <vt:lpstr>Management Control</vt:lpstr>
      <vt:lpstr>Management Control</vt:lpstr>
      <vt:lpstr>Project Management</vt:lpstr>
      <vt:lpstr>Project Management</vt:lpstr>
      <vt:lpstr>Software Project Management</vt:lpstr>
      <vt:lpstr>Software Project Management Tasks</vt:lpstr>
      <vt:lpstr>PowerPoint Presentation</vt:lpstr>
      <vt:lpstr>Project Success and Failure</vt:lpstr>
      <vt:lpstr>Problems with Software Projects</vt:lpstr>
      <vt:lpstr>Why Projects Fail</vt:lpstr>
      <vt:lpstr>Avoiding Project Failure</vt:lpstr>
      <vt:lpstr>Effective project management helps individuals, groups, and public and private organizations to:</vt:lpstr>
      <vt:lpstr>Poorly managed projects or the absence of project management may result in:</vt:lpstr>
      <vt:lpstr>4 Ps of Software Project Management</vt:lpstr>
      <vt:lpstr>People</vt:lpstr>
      <vt:lpstr>PM-CMM</vt:lpstr>
      <vt:lpstr>People Involved in SPM </vt:lpstr>
      <vt:lpstr>Product</vt:lpstr>
      <vt:lpstr>Process</vt:lpstr>
      <vt:lpstr>Project</vt:lpstr>
      <vt:lpstr>5 Ps of Management</vt:lpstr>
      <vt:lpstr>5 Ps of Management</vt:lpstr>
      <vt:lpstr>5 Ps of Management</vt:lpstr>
      <vt:lpstr>SPM Process</vt:lpstr>
      <vt:lpstr>1. Project Initiation</vt:lpstr>
      <vt:lpstr>2. Project Planning</vt:lpstr>
      <vt:lpstr>2. Project Planning</vt:lpstr>
      <vt:lpstr>3. Executing</vt:lpstr>
      <vt:lpstr>4. Monitoring and control</vt:lpstr>
      <vt:lpstr>5.Closing</vt:lpstr>
      <vt:lpstr>The Triple Constraint Of Project (Project Management Triangle/ Iron Triangle/ Quality Triangle)</vt:lpstr>
      <vt:lpstr>1. Project Triple Constraints Scope:  </vt:lpstr>
      <vt:lpstr>2. Project Triple Constraints Time:  </vt:lpstr>
      <vt:lpstr>3. Project Triple Constraints Cost </vt:lpstr>
      <vt:lpstr>On Managing Triple Constraints</vt:lpstr>
      <vt:lpstr>PowerPoint Presentation</vt:lpstr>
      <vt:lpstr>What if triple constraints  are met but customers aren’t satisfied?? </vt:lpstr>
      <vt:lpstr>Project Manager Duties</vt:lpstr>
      <vt:lpstr>Project Manager Duties</vt:lpstr>
      <vt:lpstr>Characteristics of a effective project managers</vt:lpstr>
      <vt:lpstr>Characteristics of a effective project managers</vt:lpstr>
      <vt:lpstr>Characteristics of a effective project managers</vt:lpstr>
      <vt:lpstr>SPM must be experts in</vt:lpstr>
      <vt:lpstr>Contingency Plan</vt:lpstr>
      <vt:lpstr>Contingency Plan </vt:lpstr>
      <vt:lpstr>Project Vs Program Vs Portfolio</vt:lpstr>
      <vt:lpstr>Project Vs Program Vs Portfolio Management</vt:lpstr>
      <vt:lpstr>Project Manager Vs Program Manager Vs Portfolio Manager</vt:lpstr>
      <vt:lpstr>Characteristics of Program Manager</vt:lpstr>
      <vt:lpstr>Characteristics of Portfolio Manager</vt:lpstr>
      <vt:lpstr>W5HH Principle</vt:lpstr>
      <vt:lpstr>W5HH Principle</vt:lpstr>
      <vt:lpstr>W5HH Principle</vt:lpstr>
      <vt:lpstr>Software Project Failure Case</vt:lpstr>
      <vt:lpstr>PowerPoint Presentation</vt:lpstr>
      <vt:lpstr>PowerPoint Presentation</vt:lpstr>
      <vt:lpstr>Denver Airport Automated system for luggage travel and transfer-Project Failure Case</vt:lpstr>
      <vt:lpstr>Denver Airport Automated system for luggage travel and transfer-Project Failure Case</vt:lpstr>
      <vt:lpstr>Reasons For Its Failure</vt:lpstr>
      <vt:lpstr>Reasons For Its Failure (contd..)</vt:lpstr>
      <vt:lpstr>Reasons For Its Failure (contd..)</vt:lpstr>
      <vt:lpstr>Reasons For Its Failure (contd..)</vt:lpstr>
      <vt:lpstr>Reasons For Its Failure (contd..)</vt:lpstr>
      <vt:lpstr>Summary Denver Airport Luggage Automation system Failure</vt:lpstr>
      <vt:lpstr>Lesson Learned</vt:lpstr>
      <vt:lpstr>Lesson Learned</vt:lpstr>
      <vt:lpstr>Some Examples of Software Failure</vt:lpstr>
      <vt:lpstr>Some Examples of Software Failure</vt:lpstr>
      <vt:lpstr>Some Examples of Software Failure</vt:lpstr>
      <vt:lpstr>Some Examples of Software Failure</vt:lpstr>
      <vt:lpstr>Why Do Project Fail</vt:lpstr>
      <vt:lpstr>Why Do Project Fail</vt:lpstr>
      <vt:lpstr>Questions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Microsoft account</cp:lastModifiedBy>
  <cp:revision>684</cp:revision>
  <dcterms:created xsi:type="dcterms:W3CDTF">2022-08-07T01:15:18Z</dcterms:created>
  <dcterms:modified xsi:type="dcterms:W3CDTF">2022-10-18T13:50:21Z</dcterms:modified>
</cp:coreProperties>
</file>