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2"/>
  </p:notesMasterIdLst>
  <p:sldIdLst>
    <p:sldId id="256" r:id="rId2"/>
    <p:sldId id="257" r:id="rId3"/>
    <p:sldId id="371" r:id="rId4"/>
    <p:sldId id="369" r:id="rId5"/>
    <p:sldId id="376" r:id="rId6"/>
    <p:sldId id="377" r:id="rId7"/>
    <p:sldId id="261" r:id="rId8"/>
    <p:sldId id="262" r:id="rId9"/>
    <p:sldId id="259" r:id="rId10"/>
    <p:sldId id="260" r:id="rId11"/>
    <p:sldId id="370" r:id="rId12"/>
    <p:sldId id="264" r:id="rId13"/>
    <p:sldId id="265" r:id="rId14"/>
    <p:sldId id="266" r:id="rId15"/>
    <p:sldId id="267" r:id="rId16"/>
    <p:sldId id="268" r:id="rId17"/>
    <p:sldId id="372" r:id="rId18"/>
    <p:sldId id="269" r:id="rId19"/>
    <p:sldId id="271" r:id="rId20"/>
    <p:sldId id="272" r:id="rId21"/>
    <p:sldId id="274" r:id="rId22"/>
    <p:sldId id="373" r:id="rId23"/>
    <p:sldId id="275" r:id="rId24"/>
    <p:sldId id="276" r:id="rId25"/>
    <p:sldId id="277" r:id="rId26"/>
    <p:sldId id="278" r:id="rId27"/>
    <p:sldId id="374" r:id="rId28"/>
    <p:sldId id="375" r:id="rId29"/>
    <p:sldId id="280" r:id="rId30"/>
    <p:sldId id="281" r:id="rId31"/>
    <p:sldId id="282" r:id="rId32"/>
    <p:sldId id="283" r:id="rId33"/>
    <p:sldId id="284" r:id="rId34"/>
    <p:sldId id="285" r:id="rId35"/>
    <p:sldId id="279" r:id="rId36"/>
    <p:sldId id="286" r:id="rId37"/>
    <p:sldId id="287" r:id="rId38"/>
    <p:sldId id="288" r:id="rId39"/>
    <p:sldId id="291" r:id="rId40"/>
    <p:sldId id="378" r:id="rId41"/>
    <p:sldId id="293" r:id="rId42"/>
    <p:sldId id="290" r:id="rId43"/>
    <p:sldId id="292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FC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97" autoAdjust="0"/>
    <p:restoredTop sz="66884" autoAdjust="0"/>
  </p:normalViewPr>
  <p:slideViewPr>
    <p:cSldViewPr>
      <p:cViewPr varScale="1">
        <p:scale>
          <a:sx n="46" d="100"/>
          <a:sy n="46" d="100"/>
        </p:scale>
        <p:origin x="200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680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98602-0560-4791-93EC-3BF081516261}" type="datetimeFigureOut">
              <a:rPr lang="en-US" smtClean="0"/>
              <a:t>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288E1D-6BDD-4280-B096-4D15059FE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89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M.Sc. Computer Engineering,</a:t>
            </a:r>
            <a:r>
              <a:rPr lang="en-US" baseline="0" dirty="0" smtClean="0"/>
              <a:t> </a:t>
            </a:r>
            <a:r>
              <a:rPr lang="en-US" dirty="0" smtClean="0"/>
              <a:t>Computer System and Knowledge Engineering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873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Where ???</a:t>
            </a:r>
          </a:p>
          <a:p>
            <a:r>
              <a:rPr lang="en-US" dirty="0" smtClean="0"/>
              <a:t>HOW ???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83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900" b="1" dirty="0" smtClean="0"/>
              <a:t>identifying which project proposals are worth implementation;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 smtClean="0"/>
              <a:t>assessing the amount of risk of failure that a potential project has;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 smtClean="0"/>
              <a:t>deciding how to share limited resources, including staff time and finance, between projects </a:t>
            </a:r>
            <a:r>
              <a:rPr lang="en-US" sz="900" dirty="0" smtClean="0"/>
              <a:t>– one problem can be that too many projects are started given the resources available so that inevitably some projects will miss planned completion dates;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being aware of the dependencies between projects, especially where several projects need to be completed for an organization to reap benefits;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b="1" dirty="0" smtClean="0"/>
              <a:t>ensuring that projects do not duplicate work;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900" dirty="0" smtClean="0"/>
              <a:t>ensuring that necessary developments have not been inadvertently been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491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21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5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96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7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913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288E1D-6BDD-4280-B096-4D15059FE1C4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625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0DDFC-83D1-4D3D-9835-8D97B423CF88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9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2FCD1-2787-48DC-86CB-DE641A80E625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194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C0FD-B30F-4E0E-8A73-21C9C64649EE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4066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96EA2-5665-4ACB-8B80-650818173596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80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53130-5DDD-49A6-B8AE-337B3C493C83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0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1008796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5C325-79AB-4911-8BA2-D8B007D0DD1A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22959" y="1447800"/>
            <a:ext cx="7543801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44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65220-16C0-4609-BF42-E630FA57F234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86605"/>
            <a:ext cx="8381999" cy="78019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6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34A58131-4C4D-4FA9-B9FC-1CFC94DF23DF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52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3077A-1EF4-43C9-ACCA-D93C9B7F64D2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97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6843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1289" y="1845734"/>
            <a:ext cx="7543801" cy="4023360"/>
          </a:xfrm>
        </p:spPr>
        <p:txBody>
          <a:bodyPr vert="eaVert" lIns="45720" tIns="0" rIns="45720" bIns="0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1F57E-8296-45AF-842F-5750147EEE78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20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C29B-475C-4248-8BBB-9E7BC8F95896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690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8CA5-D83D-4046-8574-759C09E41F2B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86607"/>
            <a:ext cx="8381999" cy="78019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2" y="1447800"/>
            <a:ext cx="8381999" cy="4495800"/>
          </a:xfrm>
        </p:spPr>
        <p:txBody>
          <a:bodyPr/>
          <a:lstStyle>
            <a:lvl1pPr marL="91440" indent="-91440">
              <a:buClrTx/>
              <a:buFont typeface="Arial" panose="020B0604020202020204" pitchFamily="34" charset="0"/>
              <a:buChar char="•"/>
              <a:defRPr/>
            </a:lvl1pPr>
            <a:lvl2pPr marL="384048" indent="-182880">
              <a:buClrTx/>
              <a:buFont typeface="Arial" panose="020B0604020202020204" pitchFamily="34" charset="0"/>
              <a:buChar char="•"/>
              <a:defRPr/>
            </a:lvl2pPr>
            <a:lvl3pPr marL="566928" indent="-182880">
              <a:buClrTx/>
              <a:buFont typeface="Arial" panose="020B0604020202020204" pitchFamily="34" charset="0"/>
              <a:buChar char="•"/>
              <a:defRPr/>
            </a:lvl3pPr>
            <a:lvl4pPr marL="749808" indent="-182880">
              <a:buClrTx/>
              <a:buFont typeface="Arial" panose="020B0604020202020204" pitchFamily="34" charset="0"/>
              <a:buChar char="•"/>
              <a:defRPr/>
            </a:lvl4pPr>
            <a:lvl5pPr marL="932688" indent="-182880">
              <a:buClrTx/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70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71544" y="6173786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51E02-2DE6-4E49-B716-6B277249D2D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1/17/2024</a:t>
            </a:fld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173787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2620F-2723-4C1D-A0D6-2D78DF04BBE5}" type="slidenum">
              <a:rPr lang="en-MY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MY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353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347" y="274638"/>
            <a:ext cx="8229307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703610" y="1981200"/>
            <a:ext cx="3799495" cy="4114800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3827" y="1981200"/>
            <a:ext cx="3799495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01675" y="6104965"/>
            <a:ext cx="1900238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8E6985-44D3-4AB4-9BF5-64ABE08BB98F}" type="datetime1">
              <a:rPr lang="en-US" smtClean="0"/>
              <a:t>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65475" y="6248400"/>
            <a:ext cx="28130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42087" y="6096000"/>
            <a:ext cx="1900237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09A845-B5D7-4212-A085-B80A81F92D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15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3453F-C2A3-45C7-8B84-6505A6328CD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1/17/2024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86607"/>
            <a:ext cx="8381999" cy="780195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457202" y="1447800"/>
            <a:ext cx="8381999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4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AEF1DE-E42D-40C9-B850-0FD6C5C40B0D}" type="datetime1">
              <a:rPr lang="en-US" smtClean="0"/>
              <a:t>1/17/2024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5CE4F79-B2B3-4E4E-AB5D-F771515B9CEF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452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4" r:id="rId12"/>
    <p:sldLayoutId id="2147483705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ubhash@achsnepal.edu.np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238250"/>
            <a:ext cx="7543800" cy="1581150"/>
          </a:xfrm>
        </p:spPr>
        <p:txBody>
          <a:bodyPr>
            <a:normAutofit/>
          </a:bodyPr>
          <a:lstStyle/>
          <a:p>
            <a:r>
              <a:rPr lang="en-US" sz="4400" b="1" dirty="0" smtClean="0">
                <a:latin typeface="+mn-lt"/>
              </a:rPr>
              <a:t>Software Evaluation and Costing</a:t>
            </a:r>
            <a:endParaRPr lang="en-US" sz="44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65563" y="2877468"/>
            <a:ext cx="7543800" cy="11430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 smtClean="0">
                <a:latin typeface="+mn-lt"/>
              </a:rPr>
              <a:t>Subhash Paudel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/>
              <a:t>MSCSKE, IOE, Pulchowk Campus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smtClean="0">
                <a:hlinkClick r:id="rId3"/>
              </a:rPr>
              <a:t>subhash@achsnepal.edu.np</a:t>
            </a:r>
            <a:endParaRPr lang="en-US" sz="2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645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Evaluation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high level assessment of the </a:t>
            </a:r>
            <a:r>
              <a:rPr lang="en-US" sz="2800" dirty="0" smtClean="0"/>
              <a:t>project </a:t>
            </a:r>
          </a:p>
          <a:p>
            <a:pPr lvl="1"/>
            <a:r>
              <a:rPr lang="en-US" sz="2400" dirty="0" smtClean="0"/>
              <a:t>to </a:t>
            </a:r>
            <a:r>
              <a:rPr lang="en-US" sz="2400" dirty="0"/>
              <a:t>see whether it is worthwhile to proceed with the </a:t>
            </a:r>
            <a:r>
              <a:rPr lang="en-US" sz="2400" dirty="0" smtClean="0"/>
              <a:t>project</a:t>
            </a:r>
            <a:endParaRPr lang="en-US" sz="2400" dirty="0"/>
          </a:p>
          <a:p>
            <a:pPr lvl="1"/>
            <a:r>
              <a:rPr lang="en-US" sz="2400" dirty="0"/>
              <a:t>to see whether the project will fit in the strategic planning of the whole organization</a:t>
            </a:r>
            <a:endParaRPr lang="en-US" sz="2400" dirty="0" smtClean="0"/>
          </a:p>
          <a:p>
            <a:r>
              <a:rPr lang="en-US" sz="2800" b="1" dirty="0"/>
              <a:t>Project Evaluation </a:t>
            </a:r>
            <a:r>
              <a:rPr lang="en-US" sz="2800" dirty="0">
                <a:sym typeface="Wingdings" pitchFamily="2" charset="2"/>
              </a:rPr>
              <a:t>Gives answers to </a:t>
            </a:r>
            <a:br>
              <a:rPr lang="en-US" sz="2800" dirty="0">
                <a:sym typeface="Wingdings" pitchFamily="2" charset="2"/>
              </a:rPr>
            </a:br>
            <a:r>
              <a:rPr lang="en-US" sz="2800" dirty="0">
                <a:sym typeface="Wingdings" pitchFamily="2" charset="2"/>
              </a:rPr>
              <a:t>1. </a:t>
            </a:r>
            <a:r>
              <a:rPr lang="en-US" sz="2800" dirty="0" smtClean="0">
                <a:solidFill>
                  <a:srgbClr val="FF0000"/>
                </a:solidFill>
                <a:sym typeface="Wingdings" pitchFamily="2" charset="2"/>
              </a:rPr>
              <a:t>whether a project is worth undertaking or not</a:t>
            </a:r>
            <a:r>
              <a:rPr lang="en-US" sz="2800" dirty="0" smtClean="0">
                <a:sym typeface="Wingdings" pitchFamily="2" charset="2"/>
              </a:rPr>
              <a:t> </a:t>
            </a:r>
            <a:br>
              <a:rPr lang="en-US" sz="2800" dirty="0" smtClean="0">
                <a:sym typeface="Wingdings" pitchFamily="2" charset="2"/>
              </a:rPr>
            </a:br>
            <a:r>
              <a:rPr lang="en-US" sz="2800" dirty="0" smtClean="0">
                <a:sym typeface="Wingdings" pitchFamily="2" charset="2"/>
              </a:rPr>
              <a:t>2. what factors are important in selecting or rejecting a project proposal before project </a:t>
            </a:r>
            <a:r>
              <a:rPr lang="en-US" sz="2800" dirty="0">
                <a:sym typeface="Wingdings" pitchFamily="2" charset="2"/>
              </a:rPr>
              <a:t>is started</a:t>
            </a:r>
            <a:r>
              <a:rPr lang="en-US" sz="2800" dirty="0" smtClean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23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Evaluation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686799" cy="4495800"/>
          </a:xfrm>
        </p:spPr>
        <p:txBody>
          <a:bodyPr>
            <a:normAutofit/>
          </a:bodyPr>
          <a:lstStyle/>
          <a:p>
            <a:r>
              <a:rPr lang="en-US" sz="3200" dirty="0"/>
              <a:t>At the project level, </a:t>
            </a:r>
            <a:r>
              <a:rPr lang="en-US" sz="3200" b="1" dirty="0"/>
              <a:t>evaluation </a:t>
            </a:r>
            <a:r>
              <a:rPr lang="en-US" sz="3200" b="1" dirty="0" smtClean="0"/>
              <a:t>involves processes</a:t>
            </a:r>
            <a:r>
              <a:rPr lang="en-US" sz="3200" dirty="0" smtClean="0">
                <a:sym typeface="Wingdings" pitchFamily="2" charset="2"/>
              </a:rPr>
              <a:t></a:t>
            </a:r>
            <a:r>
              <a:rPr lang="en-US" sz="3200" dirty="0" smtClean="0"/>
              <a:t> </a:t>
            </a:r>
          </a:p>
          <a:p>
            <a:pPr lvl="1"/>
            <a:r>
              <a:rPr lang="en-US" sz="2800" dirty="0"/>
              <a:t>Discussing a viable evaluation plan with stakeholders;</a:t>
            </a:r>
          </a:p>
          <a:p>
            <a:pPr lvl="1"/>
            <a:r>
              <a:rPr lang="en-US" sz="2800" dirty="0"/>
              <a:t>D</a:t>
            </a:r>
            <a:r>
              <a:rPr lang="en-US" sz="2800" dirty="0" smtClean="0"/>
              <a:t>esigning </a:t>
            </a:r>
            <a:r>
              <a:rPr lang="en-US" sz="2800" dirty="0"/>
              <a:t>and planning the evaluation; </a:t>
            </a:r>
            <a:endParaRPr lang="en-US" sz="2800" dirty="0" smtClean="0"/>
          </a:p>
          <a:p>
            <a:pPr lvl="1"/>
            <a:r>
              <a:rPr lang="en-US" sz="2800" dirty="0" smtClean="0"/>
              <a:t>collecting</a:t>
            </a:r>
            <a:r>
              <a:rPr lang="en-US" sz="2800" dirty="0"/>
              <a:t>, identifying and analyzing information and evidence</a:t>
            </a:r>
            <a:r>
              <a:rPr lang="en-US" sz="2800" dirty="0" smtClean="0"/>
              <a:t>;</a:t>
            </a:r>
          </a:p>
          <a:p>
            <a:pPr lvl="1"/>
            <a:r>
              <a:rPr lang="en-US" sz="2800" dirty="0" smtClean="0"/>
              <a:t>Distributing </a:t>
            </a:r>
            <a:r>
              <a:rPr lang="en-US" sz="2800" dirty="0"/>
              <a:t>the findings to describe or understand the project and/or to make </a:t>
            </a:r>
            <a:r>
              <a:rPr lang="en-US" sz="2800" dirty="0" smtClean="0"/>
              <a:t>project related </a:t>
            </a:r>
            <a:r>
              <a:rPr lang="en-US" sz="2800" dirty="0"/>
              <a:t>decisions. 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557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Project Evaluation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Always perform </a:t>
            </a:r>
            <a:r>
              <a:rPr lang="en-US" sz="2800" b="1" dirty="0"/>
              <a:t>5W1H/W5H </a:t>
            </a:r>
            <a:r>
              <a:rPr lang="en-US" sz="2800" dirty="0">
                <a:solidFill>
                  <a:srgbClr val="FF0000"/>
                </a:solidFill>
              </a:rPr>
              <a:t>questions and its answers</a:t>
            </a:r>
            <a:endParaRPr lang="en-US" sz="2800" b="1" dirty="0"/>
          </a:p>
          <a:p>
            <a:pPr lvl="1"/>
            <a:r>
              <a:rPr lang="en-US" sz="2400" dirty="0"/>
              <a:t>Why?</a:t>
            </a:r>
          </a:p>
          <a:p>
            <a:pPr lvl="1"/>
            <a:r>
              <a:rPr lang="en-US" sz="2400" dirty="0"/>
              <a:t>What?</a:t>
            </a:r>
          </a:p>
          <a:p>
            <a:pPr lvl="1"/>
            <a:r>
              <a:rPr lang="en-US" sz="2400" dirty="0"/>
              <a:t>When?</a:t>
            </a:r>
          </a:p>
          <a:p>
            <a:pPr lvl="1"/>
            <a:r>
              <a:rPr lang="en-US" sz="2400" dirty="0"/>
              <a:t>Who?</a:t>
            </a:r>
          </a:p>
          <a:p>
            <a:pPr lvl="1"/>
            <a:r>
              <a:rPr lang="en-US" sz="2400" dirty="0"/>
              <a:t>Where?</a:t>
            </a:r>
          </a:p>
          <a:p>
            <a:pPr lvl="1"/>
            <a:r>
              <a:rPr lang="en-US" sz="2400" dirty="0"/>
              <a:t>How?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244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5W1H/W5H </a:t>
            </a:r>
            <a:r>
              <a:rPr lang="en-US" sz="4800" dirty="0" smtClean="0"/>
              <a:t>Principle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Why </a:t>
            </a:r>
            <a:r>
              <a:rPr lang="en-US" sz="2400" dirty="0"/>
              <a:t>is the system being develop</a:t>
            </a:r>
            <a:r>
              <a:rPr lang="en-US" sz="2400" dirty="0" smtClean="0"/>
              <a:t>?</a:t>
            </a:r>
            <a:endParaRPr lang="en-US" sz="2400" dirty="0"/>
          </a:p>
          <a:p>
            <a:pPr lvl="1"/>
            <a:r>
              <a:rPr lang="en-US" sz="2400" dirty="0" smtClean="0"/>
              <a:t>Answer </a:t>
            </a:r>
            <a:r>
              <a:rPr lang="en-US" sz="2400" dirty="0"/>
              <a:t>to this questions help assess validity of business reason for the software  work.</a:t>
            </a:r>
          </a:p>
          <a:p>
            <a:pPr lvl="1"/>
            <a:r>
              <a:rPr lang="en-US" sz="2400" dirty="0"/>
              <a:t> </a:t>
            </a:r>
            <a:r>
              <a:rPr lang="en-US" sz="2400" dirty="0" smtClean="0"/>
              <a:t>It </a:t>
            </a:r>
            <a:r>
              <a:rPr lang="en-US" sz="2400" dirty="0"/>
              <a:t>answers if the business purpose justifies the expenditure of people, time and money</a:t>
            </a:r>
          </a:p>
          <a:p>
            <a:r>
              <a:rPr lang="en-US" sz="2400" b="1" dirty="0"/>
              <a:t>What </a:t>
            </a:r>
            <a:r>
              <a:rPr lang="en-US" sz="2400" dirty="0"/>
              <a:t>will be done?</a:t>
            </a:r>
          </a:p>
          <a:p>
            <a:pPr lvl="1"/>
            <a:r>
              <a:rPr lang="en-US" sz="2400" dirty="0" smtClean="0"/>
              <a:t>Answer </a:t>
            </a:r>
            <a:r>
              <a:rPr lang="en-US" sz="2400" dirty="0"/>
              <a:t>to this question establishes the task set required for </a:t>
            </a:r>
            <a:r>
              <a:rPr lang="en-US" sz="2400" dirty="0" smtClean="0"/>
              <a:t>project</a:t>
            </a:r>
            <a:endParaRPr lang="en-US" sz="2400" dirty="0"/>
          </a:p>
          <a:p>
            <a:r>
              <a:rPr lang="en-US" sz="2400" b="1" dirty="0"/>
              <a:t>When</a:t>
            </a:r>
            <a:r>
              <a:rPr lang="en-US" sz="2400" dirty="0"/>
              <a:t> will it be done?</a:t>
            </a:r>
          </a:p>
          <a:p>
            <a:pPr lvl="1"/>
            <a:r>
              <a:rPr lang="en-US" sz="2400" dirty="0"/>
              <a:t> </a:t>
            </a:r>
            <a:r>
              <a:rPr lang="en-US" sz="2400" dirty="0" smtClean="0"/>
              <a:t>Answer </a:t>
            </a:r>
            <a:r>
              <a:rPr lang="en-US" sz="2400" dirty="0"/>
              <a:t>to this question helps the team establish a project schedule by identifying when tasks have to be conducted and when milestones are to be </a:t>
            </a:r>
            <a:r>
              <a:rPr lang="en-US" sz="2400" dirty="0" smtClean="0"/>
              <a:t>reached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7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5W1H/W5H </a:t>
            </a:r>
            <a:r>
              <a:rPr lang="en-US" sz="4800" dirty="0" smtClean="0"/>
              <a:t>Principle</a:t>
            </a:r>
            <a:endParaRPr lang="en-US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400" b="1" dirty="0"/>
              <a:t>Who</a:t>
            </a:r>
            <a:r>
              <a:rPr lang="en-US" sz="2400" dirty="0"/>
              <a:t>  is responsible for a function ?</a:t>
            </a:r>
          </a:p>
          <a:p>
            <a:pPr lvl="1"/>
            <a:r>
              <a:rPr lang="en-US" sz="2000" dirty="0" smtClean="0"/>
              <a:t>Answer </a:t>
            </a:r>
            <a:r>
              <a:rPr lang="en-US" sz="2000" dirty="0"/>
              <a:t>to this question establishes roles and responsibility of each team member</a:t>
            </a:r>
          </a:p>
          <a:p>
            <a:r>
              <a:rPr lang="en-US" sz="2400" b="1" dirty="0"/>
              <a:t>Where</a:t>
            </a:r>
            <a:r>
              <a:rPr lang="en-US" sz="2400" dirty="0"/>
              <a:t>  are they organizationally  located  ?</a:t>
            </a:r>
          </a:p>
          <a:p>
            <a:pPr lvl="1"/>
            <a:r>
              <a:rPr lang="en-US" sz="2000" dirty="0" smtClean="0"/>
              <a:t>Answer </a:t>
            </a:r>
            <a:r>
              <a:rPr lang="en-US" sz="2000" dirty="0"/>
              <a:t>to this question indicates that all roles and responsibilities are not limited to the software  team itself, the customers, users and stakeholders also have responsibilities.</a:t>
            </a:r>
          </a:p>
          <a:p>
            <a:r>
              <a:rPr lang="en-US" sz="2400" b="1" dirty="0"/>
              <a:t>How </a:t>
            </a:r>
            <a:r>
              <a:rPr lang="en-US" sz="2400" dirty="0"/>
              <a:t>will be job done technically and managerially ?</a:t>
            </a:r>
          </a:p>
          <a:p>
            <a:pPr lvl="1"/>
            <a:r>
              <a:rPr lang="en-US" sz="2000" dirty="0"/>
              <a:t> </a:t>
            </a:r>
            <a:r>
              <a:rPr lang="en-US" sz="2000" dirty="0" smtClean="0"/>
              <a:t>Once </a:t>
            </a:r>
            <a:r>
              <a:rPr lang="en-US" sz="2000" dirty="0"/>
              <a:t>product scope is establishes, a technical and management strategy  must be defined for it.</a:t>
            </a:r>
          </a:p>
          <a:p>
            <a:r>
              <a:rPr lang="en-US" sz="2400" b="1" dirty="0" smtClean="0"/>
              <a:t>How </a:t>
            </a:r>
            <a:r>
              <a:rPr lang="en-US" sz="2400" dirty="0"/>
              <a:t>much of each  resource  is needed  ?</a:t>
            </a:r>
          </a:p>
          <a:p>
            <a:pPr lvl="1"/>
            <a:r>
              <a:rPr lang="en-US" sz="2000" dirty="0" smtClean="0"/>
              <a:t>Answer </a:t>
            </a:r>
            <a:r>
              <a:rPr lang="en-US" sz="2000" dirty="0"/>
              <a:t>to this question is derived by developing estimates based on answers to earlier questions</a:t>
            </a:r>
            <a:r>
              <a:rPr lang="en-US" sz="2000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55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6615"/>
            <a:ext cx="8381999" cy="780195"/>
          </a:xfrm>
        </p:spPr>
        <p:txBody>
          <a:bodyPr>
            <a:noAutofit/>
          </a:bodyPr>
          <a:lstStyle/>
          <a:p>
            <a:r>
              <a:rPr lang="en-US" dirty="0"/>
              <a:t>Project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371600"/>
            <a:ext cx="8381999" cy="48768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sz="5000" b="1" dirty="0" smtClean="0"/>
              <a:t>What is Project Evaluation ??</a:t>
            </a:r>
          </a:p>
          <a:p>
            <a:pPr lvl="1"/>
            <a:r>
              <a:rPr lang="en-US" sz="4800" dirty="0" smtClean="0"/>
              <a:t>A </a:t>
            </a:r>
            <a:r>
              <a:rPr lang="en-US" sz="4800" dirty="0"/>
              <a:t>high level assessment of the </a:t>
            </a:r>
            <a:r>
              <a:rPr lang="en-US" sz="4800" dirty="0" smtClean="0"/>
              <a:t>project</a:t>
            </a:r>
            <a:r>
              <a:rPr lang="en-US" sz="4800" dirty="0"/>
              <a:t> </a:t>
            </a:r>
            <a:r>
              <a:rPr lang="en-US" sz="4800" dirty="0" smtClean="0"/>
              <a:t>to </a:t>
            </a:r>
            <a:r>
              <a:rPr lang="en-US" sz="4800" dirty="0"/>
              <a:t>see whether it is worthwhile to proceed with the </a:t>
            </a:r>
            <a:r>
              <a:rPr lang="en-US" sz="4800" dirty="0" smtClean="0"/>
              <a:t>project</a:t>
            </a:r>
            <a:r>
              <a:rPr lang="en-US" sz="4800" dirty="0"/>
              <a:t> </a:t>
            </a:r>
            <a:endParaRPr lang="en-US" sz="4800" dirty="0" smtClean="0"/>
          </a:p>
          <a:p>
            <a:pPr lvl="1"/>
            <a:r>
              <a:rPr lang="en-US" sz="4800" dirty="0" smtClean="0">
                <a:solidFill>
                  <a:srgbClr val="FF0000"/>
                </a:solidFill>
              </a:rPr>
              <a:t>to </a:t>
            </a:r>
            <a:r>
              <a:rPr lang="en-US" sz="4800" dirty="0">
                <a:solidFill>
                  <a:srgbClr val="FF0000"/>
                </a:solidFill>
              </a:rPr>
              <a:t>see whether the </a:t>
            </a:r>
            <a:r>
              <a:rPr lang="en-US" sz="4800" u="sng" dirty="0">
                <a:solidFill>
                  <a:srgbClr val="FF0000"/>
                </a:solidFill>
              </a:rPr>
              <a:t>project will fit in the strategic planning of the whole </a:t>
            </a:r>
            <a:r>
              <a:rPr lang="en-US" sz="4800" u="sng" dirty="0" smtClean="0">
                <a:solidFill>
                  <a:srgbClr val="FF0000"/>
                </a:solidFill>
              </a:rPr>
              <a:t>organization </a:t>
            </a:r>
            <a:endParaRPr lang="en-US" sz="4800" dirty="0" smtClean="0">
              <a:solidFill>
                <a:srgbClr val="FF0000"/>
              </a:solidFill>
            </a:endParaRPr>
          </a:p>
          <a:p>
            <a:r>
              <a:rPr lang="en-US" sz="5000" b="1" dirty="0" smtClean="0"/>
              <a:t>Why Project Evaluation ??</a:t>
            </a:r>
            <a:endParaRPr lang="en-US" sz="5000" dirty="0" smtClean="0">
              <a:effectLst/>
            </a:endParaRPr>
          </a:p>
          <a:p>
            <a:pPr lvl="1"/>
            <a:r>
              <a:rPr lang="en-US" sz="4800" dirty="0" smtClean="0"/>
              <a:t>Want </a:t>
            </a:r>
            <a:r>
              <a:rPr lang="en-US" sz="4800" dirty="0"/>
              <a:t>to decide whether a project can proceed before it is too </a:t>
            </a:r>
            <a:r>
              <a:rPr lang="en-US" sz="4800" dirty="0" smtClean="0"/>
              <a:t>late</a:t>
            </a:r>
            <a:r>
              <a:rPr lang="en-US" sz="4800" dirty="0"/>
              <a:t> </a:t>
            </a:r>
            <a:endParaRPr lang="en-US" sz="4800" dirty="0" smtClean="0">
              <a:effectLst/>
            </a:endParaRPr>
          </a:p>
          <a:p>
            <a:pPr lvl="1"/>
            <a:r>
              <a:rPr lang="en-US" sz="4800" b="1" dirty="0">
                <a:solidFill>
                  <a:srgbClr val="FF0000"/>
                </a:solidFill>
              </a:rPr>
              <a:t>Want to decide which of the several alternative projects has a better success rate, a higher turnover, a </a:t>
            </a:r>
            <a:r>
              <a:rPr lang="en-US" sz="4800" b="1" dirty="0" smtClean="0">
                <a:solidFill>
                  <a:srgbClr val="FF0000"/>
                </a:solidFill>
              </a:rPr>
              <a:t>higher rate of return</a:t>
            </a:r>
          </a:p>
          <a:p>
            <a:pPr lvl="1"/>
            <a:r>
              <a:rPr lang="en-US" sz="4800" b="1" dirty="0" smtClean="0"/>
              <a:t>Given three projects A,B,C </a:t>
            </a:r>
            <a:r>
              <a:rPr lang="en-US" sz="4800" b="1" dirty="0" smtClean="0">
                <a:sym typeface="Wingdings" pitchFamily="2" charset="2"/>
              </a:rPr>
              <a:t></a:t>
            </a:r>
            <a:r>
              <a:rPr lang="en-US" sz="4800" b="1" dirty="0" smtClean="0"/>
              <a:t> not all projects can be taken by a particular organization , need to choose one among three, how and by what criteria??</a:t>
            </a:r>
          </a:p>
          <a:p>
            <a:pPr lvl="1"/>
            <a:r>
              <a:rPr lang="en-US" sz="4800" dirty="0"/>
              <a:t>Is it desirable to carry out the development and operation of the software system</a:t>
            </a:r>
            <a:endParaRPr lang="en-US" sz="4800" b="1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4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/>
              <a:t>Who is Responsible for Project Evaluation</a:t>
            </a:r>
          </a:p>
          <a:p>
            <a:pPr lvl="1"/>
            <a:r>
              <a:rPr lang="en-US" sz="2400" dirty="0" smtClean="0"/>
              <a:t>Senior management</a:t>
            </a:r>
            <a:endParaRPr lang="en-US" sz="2400" dirty="0" smtClean="0">
              <a:effectLst/>
            </a:endParaRPr>
          </a:p>
          <a:p>
            <a:pPr lvl="1"/>
            <a:r>
              <a:rPr lang="en-US" sz="2400" dirty="0"/>
              <a:t>Project </a:t>
            </a:r>
            <a:r>
              <a:rPr lang="en-US" sz="2400" dirty="0" smtClean="0"/>
              <a:t>manager/coordinator</a:t>
            </a:r>
            <a:endParaRPr lang="en-US" sz="2400" dirty="0" smtClean="0">
              <a:effectLst/>
            </a:endParaRPr>
          </a:p>
          <a:p>
            <a:pPr lvl="1"/>
            <a:r>
              <a:rPr lang="en-US" sz="2400" dirty="0"/>
              <a:t>Team </a:t>
            </a:r>
            <a:r>
              <a:rPr lang="en-US" sz="2400" dirty="0" smtClean="0"/>
              <a:t>leader</a:t>
            </a:r>
          </a:p>
          <a:p>
            <a:r>
              <a:rPr lang="en-US" sz="2800" b="1" dirty="0" smtClean="0"/>
              <a:t>When is project evaluation done?</a:t>
            </a:r>
            <a:endParaRPr lang="en-US" sz="2800" dirty="0"/>
          </a:p>
          <a:p>
            <a:pPr lvl="1"/>
            <a:r>
              <a:rPr lang="en-US" sz="2400" dirty="0" smtClean="0"/>
              <a:t>Usually </a:t>
            </a:r>
            <a:r>
              <a:rPr lang="en-US" sz="2400" dirty="0"/>
              <a:t>at the beginning of the project e.g. Step 0 </a:t>
            </a:r>
            <a:r>
              <a:rPr lang="en-US" sz="2400" dirty="0" smtClean="0"/>
              <a:t>of Step Wise Framework</a:t>
            </a:r>
          </a:p>
          <a:p>
            <a:pPr lvl="1"/>
            <a:endParaRPr lang="en-US" sz="2400" dirty="0"/>
          </a:p>
          <a:p>
            <a:pPr marL="201168" lvl="1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b="1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948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Project Portfolio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 smtClean="0"/>
              <a:t>Any organization has limited resource and it is in its best interest to select a project that’s matches the organization’s goal and mission for the greater good  and benefit  of it and towards the society</a:t>
            </a:r>
          </a:p>
          <a:p>
            <a:r>
              <a:rPr lang="en-US" sz="2400" dirty="0" smtClean="0"/>
              <a:t>Google favors  a search engine  project while cisco prefers internet and hardware related projects  </a:t>
            </a:r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 Why????</a:t>
            </a:r>
            <a:endParaRPr lang="en-US" sz="2400" dirty="0" smtClean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59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61912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sz="5300" b="1" dirty="0" smtClean="0"/>
              <a:t>Project Portfolio Management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Autofit/>
          </a:bodyPr>
          <a:lstStyle/>
          <a:p>
            <a:r>
              <a:rPr lang="en-US" b="1" dirty="0" smtClean="0"/>
              <a:t>Portfolio project management provides an overview of all the projects that an organization is undertaking or is considering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 Why </a:t>
            </a:r>
            <a:r>
              <a:rPr lang="en-US" b="1" dirty="0" smtClean="0">
                <a:sym typeface="Wingdings" pitchFamily="2" charset="2"/>
              </a:rPr>
              <a:t> </a:t>
            </a:r>
            <a:r>
              <a:rPr lang="en-US" b="1" dirty="0" smtClean="0"/>
              <a:t>It prioritizes the allocation of resources to projects and decides which new projects should be accepted and which existing ones should be dropped.   </a:t>
            </a:r>
            <a:r>
              <a:rPr lang="en-US" b="1" dirty="0" smtClean="0">
                <a:solidFill>
                  <a:srgbClr val="FF0000"/>
                </a:solidFill>
              </a:rPr>
              <a:t>(Project evaluation and its deciding criteria)</a:t>
            </a:r>
          </a:p>
          <a:p>
            <a:r>
              <a:rPr lang="en-US" b="1" dirty="0" smtClean="0"/>
              <a:t>The concerns of project portfolio management include:</a:t>
            </a:r>
          </a:p>
          <a:p>
            <a:pPr lvl="1"/>
            <a:r>
              <a:rPr lang="en-US" b="1" dirty="0" smtClean="0"/>
              <a:t> identifying which project proposals are worth implementation;</a:t>
            </a:r>
          </a:p>
          <a:p>
            <a:pPr lvl="1"/>
            <a:r>
              <a:rPr lang="en-US" b="1" dirty="0" smtClean="0"/>
              <a:t>assessing the amount of risk of failure that a potential project has;</a:t>
            </a:r>
          </a:p>
          <a:p>
            <a:pPr lvl="1"/>
            <a:r>
              <a:rPr lang="en-US" b="1" dirty="0" smtClean="0"/>
              <a:t>deciding how to share limited resources, including staff time and finance, between projects </a:t>
            </a:r>
            <a:r>
              <a:rPr lang="en-US" dirty="0" smtClean="0"/>
              <a:t>– one problem can be that too many projects are started given the resources available so that inevitably some projects will miss planned completion dates;</a:t>
            </a:r>
          </a:p>
          <a:p>
            <a:pPr lvl="1"/>
            <a:r>
              <a:rPr lang="en-US" dirty="0" smtClean="0"/>
              <a:t>being aware of the dependencies between projects, especially where several projects need to be completed for an organization to reap benefits;</a:t>
            </a:r>
          </a:p>
          <a:p>
            <a:pPr lvl="1"/>
            <a:r>
              <a:rPr lang="en-US" b="1" dirty="0" smtClean="0"/>
              <a:t>ensuring that projects do not duplicate work;</a:t>
            </a:r>
          </a:p>
          <a:p>
            <a:pPr lvl="1"/>
            <a:r>
              <a:rPr lang="en-US" dirty="0" smtClean="0"/>
              <a:t>ensuring that necessary developments have not been inadvertently been missed.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47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z="2600" b="1" dirty="0"/>
              <a:t>What Assessment  are performed for project evaluation  / accepting or rejecting a project ?</a:t>
            </a:r>
          </a:p>
          <a:p>
            <a:pPr lvl="1"/>
            <a:r>
              <a:rPr lang="en-US" sz="2400" dirty="0" smtClean="0"/>
              <a:t>Strategic assessment</a:t>
            </a:r>
            <a:endParaRPr lang="en-US" sz="2400" dirty="0" smtClean="0">
              <a:effectLst/>
            </a:endParaRPr>
          </a:p>
          <a:p>
            <a:pPr lvl="1"/>
            <a:r>
              <a:rPr lang="en-US" sz="2400" dirty="0"/>
              <a:t>Technical </a:t>
            </a:r>
            <a:r>
              <a:rPr lang="en-US" sz="2400" dirty="0" smtClean="0"/>
              <a:t>assessment</a:t>
            </a:r>
            <a:endParaRPr lang="en-US" sz="2400" dirty="0" smtClean="0">
              <a:effectLst/>
            </a:endParaRPr>
          </a:p>
          <a:p>
            <a:pPr lvl="1"/>
            <a:r>
              <a:rPr lang="en-US" sz="2400" dirty="0"/>
              <a:t>Economic </a:t>
            </a:r>
            <a:r>
              <a:rPr lang="en-US" sz="2400" dirty="0" smtClean="0"/>
              <a:t>assessment</a:t>
            </a:r>
          </a:p>
          <a:p>
            <a:r>
              <a:rPr lang="en-US" sz="2600" b="1" dirty="0"/>
              <a:t>How </a:t>
            </a:r>
            <a:r>
              <a:rPr lang="en-US" sz="2600" b="1" dirty="0" smtClean="0"/>
              <a:t>project evaluation (Economic </a:t>
            </a:r>
            <a:r>
              <a:rPr lang="en-US" sz="2600" b="1" dirty="0"/>
              <a:t>and </a:t>
            </a:r>
            <a:r>
              <a:rPr lang="en-US" sz="2600" b="1" dirty="0" smtClean="0"/>
              <a:t>risk Assessments) are </a:t>
            </a:r>
            <a:r>
              <a:rPr lang="en-US" sz="2600" b="1" dirty="0"/>
              <a:t>performed</a:t>
            </a:r>
            <a:r>
              <a:rPr lang="en-US" sz="2600" b="1" dirty="0" smtClean="0"/>
              <a:t>?</a:t>
            </a:r>
            <a:endParaRPr lang="en-US" sz="2600" b="1" dirty="0"/>
          </a:p>
          <a:p>
            <a:pPr lvl="1"/>
            <a:r>
              <a:rPr lang="en-US" sz="2400" dirty="0" smtClean="0"/>
              <a:t>Cost-benefit </a:t>
            </a:r>
            <a:r>
              <a:rPr lang="en-US" sz="2400" dirty="0"/>
              <a:t>analysis</a:t>
            </a:r>
          </a:p>
          <a:p>
            <a:pPr lvl="1"/>
            <a:r>
              <a:rPr lang="en-US" sz="2400" dirty="0"/>
              <a:t>Cash flow forecasting </a:t>
            </a:r>
          </a:p>
          <a:p>
            <a:pPr lvl="1"/>
            <a:r>
              <a:rPr lang="en-US" sz="2400" dirty="0"/>
              <a:t>Cost-benefit evaluation techniques</a:t>
            </a:r>
          </a:p>
          <a:p>
            <a:pPr lvl="1"/>
            <a:r>
              <a:rPr lang="en-US" sz="2400" dirty="0"/>
              <a:t>Risk </a:t>
            </a:r>
            <a:r>
              <a:rPr lang="en-US" sz="2400" dirty="0" smtClean="0"/>
              <a:t>analysis</a:t>
            </a:r>
            <a:endParaRPr lang="en-US" sz="2400" dirty="0" smtClean="0">
              <a:effectLst/>
            </a:endParaRPr>
          </a:p>
          <a:p>
            <a:endParaRPr lang="en-US" b="1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0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17251"/>
            <a:ext cx="8381999" cy="838200"/>
          </a:xfrm>
        </p:spPr>
        <p:txBody>
          <a:bodyPr>
            <a:noAutofit/>
          </a:bodyPr>
          <a:lstStyle/>
          <a:p>
            <a:r>
              <a:rPr lang="en-US" dirty="0" smtClean="0"/>
              <a:t>Strategic </a:t>
            </a:r>
            <a:r>
              <a:rPr lang="en-US" dirty="0"/>
              <a:t>Assessment 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724400"/>
          </a:xfrm>
        </p:spPr>
        <p:txBody>
          <a:bodyPr>
            <a:normAutofit/>
          </a:bodyPr>
          <a:lstStyle/>
          <a:p>
            <a:r>
              <a:rPr lang="en-US" b="1" dirty="0" smtClean="0"/>
              <a:t>Used </a:t>
            </a:r>
            <a:r>
              <a:rPr lang="en-US" b="1" dirty="0"/>
              <a:t>to assess whether a project fits in the </a:t>
            </a:r>
            <a:r>
              <a:rPr lang="en-US" b="1" i="1" dirty="0"/>
              <a:t>long-term goal</a:t>
            </a:r>
            <a:r>
              <a:rPr lang="en-US" b="1" dirty="0"/>
              <a:t> of the </a:t>
            </a:r>
            <a:r>
              <a:rPr lang="en-US" b="1" dirty="0" smtClean="0"/>
              <a:t>organization</a:t>
            </a:r>
            <a:r>
              <a:rPr lang="en-US" b="1" dirty="0"/>
              <a:t> </a:t>
            </a:r>
            <a:endParaRPr lang="en-US" b="1" dirty="0" smtClean="0">
              <a:effectLst/>
            </a:endParaRPr>
          </a:p>
          <a:p>
            <a:r>
              <a:rPr lang="en-US" dirty="0"/>
              <a:t>Usually carried out by senior </a:t>
            </a:r>
            <a:r>
              <a:rPr lang="en-US" dirty="0" smtClean="0"/>
              <a:t>management</a:t>
            </a:r>
            <a:endParaRPr lang="en-US" dirty="0" smtClean="0">
              <a:effectLst/>
            </a:endParaRPr>
          </a:p>
          <a:p>
            <a:r>
              <a:rPr lang="en-US" dirty="0"/>
              <a:t>Needs a strategic plan that clearly defines the objectives of the </a:t>
            </a:r>
            <a:r>
              <a:rPr lang="en-US" dirty="0" smtClean="0"/>
              <a:t>organization</a:t>
            </a:r>
            <a:endParaRPr lang="en-US" dirty="0" smtClean="0">
              <a:effectLst/>
            </a:endParaRPr>
          </a:p>
          <a:p>
            <a:r>
              <a:rPr lang="en-US" u="sng" dirty="0">
                <a:solidFill>
                  <a:srgbClr val="FF0000"/>
                </a:solidFill>
              </a:rPr>
              <a:t>Evaluates individual projects against the strategic plan or the overall business objectives </a:t>
            </a:r>
            <a:r>
              <a:rPr lang="en-US" u="sng" dirty="0" err="1">
                <a:solidFill>
                  <a:srgbClr val="FF0000"/>
                </a:solidFill>
              </a:rPr>
              <a:t>Programme</a:t>
            </a:r>
            <a:r>
              <a:rPr lang="en-US" u="sng" dirty="0">
                <a:solidFill>
                  <a:srgbClr val="FF0000"/>
                </a:solidFill>
              </a:rPr>
              <a:t> </a:t>
            </a:r>
            <a:r>
              <a:rPr lang="en-US" u="sng" dirty="0" smtClean="0">
                <a:solidFill>
                  <a:srgbClr val="FF0000"/>
                </a:solidFill>
              </a:rPr>
              <a:t>management</a:t>
            </a:r>
          </a:p>
          <a:p>
            <a:r>
              <a:rPr lang="en-US" b="1" dirty="0" smtClean="0"/>
              <a:t>For example </a:t>
            </a:r>
            <a:r>
              <a:rPr lang="en-US" b="1" dirty="0" smtClean="0">
                <a:sym typeface="Wingdings" pitchFamily="2" charset="2"/>
              </a:rPr>
              <a:t></a:t>
            </a:r>
            <a:endParaRPr lang="en-US" b="1" dirty="0" smtClean="0"/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What projects do </a:t>
            </a:r>
            <a:r>
              <a:rPr lang="en-US" sz="2000" dirty="0" err="1" smtClean="0">
                <a:solidFill>
                  <a:srgbClr val="0070C0"/>
                </a:solidFill>
              </a:rPr>
              <a:t>facebook</a:t>
            </a:r>
            <a:r>
              <a:rPr lang="en-US" sz="2000" dirty="0" smtClean="0">
                <a:solidFill>
                  <a:srgbClr val="0070C0"/>
                </a:solidFill>
              </a:rPr>
              <a:t> prefer </a:t>
            </a:r>
            <a:r>
              <a:rPr lang="en-US" sz="2000" dirty="0" err="1" smtClean="0">
                <a:solidFill>
                  <a:srgbClr val="0070C0"/>
                </a:solidFill>
              </a:rPr>
              <a:t>vs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google</a:t>
            </a:r>
            <a:r>
              <a:rPr lang="en-US" sz="2000" dirty="0" smtClean="0">
                <a:solidFill>
                  <a:srgbClr val="0070C0"/>
                </a:solidFill>
              </a:rPr>
              <a:t> and why???</a:t>
            </a:r>
          </a:p>
          <a:p>
            <a:pPr lvl="1"/>
            <a:r>
              <a:rPr lang="en-US" sz="2000" dirty="0" smtClean="0">
                <a:solidFill>
                  <a:srgbClr val="0070C0"/>
                </a:solidFill>
              </a:rPr>
              <a:t>What projects do e-</a:t>
            </a:r>
            <a:r>
              <a:rPr lang="en-US" sz="2000" dirty="0" err="1" smtClean="0">
                <a:solidFill>
                  <a:srgbClr val="0070C0"/>
                </a:solidFill>
              </a:rPr>
              <a:t>sewa</a:t>
            </a:r>
            <a:r>
              <a:rPr lang="en-US" sz="2000" dirty="0" smtClean="0">
                <a:solidFill>
                  <a:srgbClr val="0070C0"/>
                </a:solidFill>
              </a:rPr>
              <a:t> prefer </a:t>
            </a:r>
            <a:r>
              <a:rPr lang="en-US" sz="2000" dirty="0" err="1" smtClean="0">
                <a:solidFill>
                  <a:srgbClr val="0070C0"/>
                </a:solidFill>
              </a:rPr>
              <a:t>vs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 err="1" smtClean="0">
                <a:solidFill>
                  <a:srgbClr val="0070C0"/>
                </a:solidFill>
              </a:rPr>
              <a:t>fusemachines</a:t>
            </a:r>
            <a:r>
              <a:rPr lang="en-US" sz="2000" dirty="0" smtClean="0">
                <a:solidFill>
                  <a:srgbClr val="0070C0"/>
                </a:solidFill>
              </a:rPr>
              <a:t>  and why???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endParaRPr lang="en-US" sz="2000" u="sng" dirty="0" smtClean="0">
              <a:solidFill>
                <a:srgbClr val="FF0000"/>
              </a:solidFill>
            </a:endParaRPr>
          </a:p>
          <a:p>
            <a:pPr lvl="1"/>
            <a:r>
              <a:rPr lang="en-US" sz="2000" dirty="0"/>
              <a:t>suitable for projects developed for use in the organization Portfolio </a:t>
            </a:r>
            <a:r>
              <a:rPr lang="en-US" sz="2000" dirty="0" smtClean="0"/>
              <a:t>management</a:t>
            </a:r>
            <a:r>
              <a:rPr lang="en-US" sz="2000" dirty="0"/>
              <a:t> </a:t>
            </a:r>
            <a:endParaRPr lang="en-US" sz="2000" dirty="0" smtClean="0">
              <a:effectLst/>
            </a:endParaRPr>
          </a:p>
          <a:p>
            <a:pPr lvl="1"/>
            <a:r>
              <a:rPr lang="en-US" sz="2000" dirty="0"/>
              <a:t>suitable for project developed for other companies by software houses</a:t>
            </a:r>
            <a:endParaRPr lang="en-US" sz="2000" dirty="0" smtClean="0">
              <a:effectLst/>
            </a:endParaRPr>
          </a:p>
          <a:p>
            <a:endParaRPr lang="en-US" dirty="0" smtClean="0"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16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 smtClean="0"/>
              <a:t>Technical </a:t>
            </a:r>
            <a:r>
              <a:rPr lang="en-US" b="1" dirty="0"/>
              <a:t>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19200"/>
            <a:ext cx="8381999" cy="4724400"/>
          </a:xfrm>
        </p:spPr>
        <p:txBody>
          <a:bodyPr>
            <a:noAutofit/>
          </a:bodyPr>
          <a:lstStyle/>
          <a:p>
            <a:r>
              <a:rPr lang="en-US" dirty="0" smtClean="0"/>
              <a:t>In this assessment  a project is selected based on whether the organization has sufficient hardware and software </a:t>
            </a:r>
            <a:r>
              <a:rPr lang="en-US" dirty="0" smtClean="0">
                <a:solidFill>
                  <a:srgbClr val="0070C0"/>
                </a:solidFill>
              </a:rPr>
              <a:t>resources</a:t>
            </a:r>
            <a:r>
              <a:rPr lang="en-US" dirty="0" smtClean="0"/>
              <a:t> for that particular project???</a:t>
            </a:r>
          </a:p>
          <a:p>
            <a:pPr marL="0" indent="0">
              <a:buNone/>
            </a:pPr>
            <a:r>
              <a:rPr lang="en-US" b="1" i="1" dirty="0" smtClean="0">
                <a:solidFill>
                  <a:srgbClr val="FF0000"/>
                </a:solidFill>
              </a:rPr>
              <a:t>Note: resources not only means materials, they also mean people associated with it , experts </a:t>
            </a:r>
            <a:r>
              <a:rPr lang="en-US" b="1" i="1" dirty="0" err="1" smtClean="0">
                <a:solidFill>
                  <a:srgbClr val="FF0000"/>
                </a:solidFill>
              </a:rPr>
              <a:t>etc</a:t>
            </a:r>
            <a:r>
              <a:rPr lang="en-US" b="1" i="1" dirty="0" smtClean="0">
                <a:solidFill>
                  <a:srgbClr val="FF0000"/>
                </a:solidFill>
              </a:rPr>
              <a:t> </a:t>
            </a:r>
            <a:endParaRPr lang="en-US" i="1" dirty="0" smtClean="0"/>
          </a:p>
          <a:p>
            <a:r>
              <a:rPr lang="en-US" dirty="0" smtClean="0"/>
              <a:t>Technical </a:t>
            </a:r>
            <a:r>
              <a:rPr lang="en-US" dirty="0"/>
              <a:t>assessment of a proposed system </a:t>
            </a:r>
            <a:r>
              <a:rPr lang="en-US" b="1" dirty="0"/>
              <a:t>consists of evaluating whether the required </a:t>
            </a:r>
            <a:r>
              <a:rPr lang="en-US" b="1" dirty="0" smtClean="0"/>
              <a:t>project functionality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can be </a:t>
            </a:r>
            <a:r>
              <a:rPr lang="en-US" dirty="0">
                <a:solidFill>
                  <a:srgbClr val="FF0000"/>
                </a:solidFill>
              </a:rPr>
              <a:t>achieved with current affordable </a:t>
            </a:r>
            <a:r>
              <a:rPr lang="en-US" dirty="0" smtClean="0">
                <a:solidFill>
                  <a:srgbClr val="FF0000"/>
                </a:solidFill>
              </a:rPr>
              <a:t>technologies of an organization????</a:t>
            </a:r>
            <a:r>
              <a:rPr lang="en-US" dirty="0" smtClean="0"/>
              <a:t>. </a:t>
            </a:r>
          </a:p>
          <a:p>
            <a:r>
              <a:rPr lang="en-US" dirty="0" smtClean="0"/>
              <a:t>Organizational </a:t>
            </a:r>
            <a:r>
              <a:rPr lang="en-US" dirty="0"/>
              <a:t>policy, </a:t>
            </a:r>
            <a:r>
              <a:rPr lang="en-US" b="1" dirty="0"/>
              <a:t>aimed at providing a </a:t>
            </a:r>
            <a:r>
              <a:rPr lang="en-US" b="1" dirty="0" smtClean="0"/>
              <a:t>consistent</a:t>
            </a:r>
            <a:r>
              <a:rPr lang="en-US" dirty="0" smtClean="0"/>
              <a:t> hardware/software </a:t>
            </a:r>
            <a:r>
              <a:rPr lang="en-US" dirty="0"/>
              <a:t>infrastructure, </a:t>
            </a:r>
            <a:r>
              <a:rPr lang="en-US" dirty="0">
                <a:solidFill>
                  <a:srgbClr val="FF0000"/>
                </a:solidFill>
              </a:rPr>
              <a:t>is likely to limit the technical solutions considered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/>
              <a:t> </a:t>
            </a:r>
            <a:r>
              <a:rPr lang="en-US" b="1" dirty="0"/>
              <a:t>The costs of </a:t>
            </a:r>
            <a:r>
              <a:rPr lang="en-US" b="1" dirty="0" smtClean="0"/>
              <a:t>the technology </a:t>
            </a:r>
            <a:r>
              <a:rPr lang="en-US" b="1" dirty="0"/>
              <a:t>adopted must be taken into account in the </a:t>
            </a:r>
            <a:r>
              <a:rPr lang="en-US" b="1" dirty="0" smtClean="0"/>
              <a:t>cost–benefit </a:t>
            </a:r>
            <a:r>
              <a:rPr lang="en-US" b="1" dirty="0"/>
              <a:t>analysis</a:t>
            </a:r>
            <a:r>
              <a:rPr lang="en-US" b="1" dirty="0" smtClean="0"/>
              <a:t>. </a:t>
            </a:r>
            <a:r>
              <a:rPr lang="en-US" b="1" dirty="0" smtClean="0">
                <a:sym typeface="Wingdings" pitchFamily="2" charset="2"/>
              </a:rPr>
              <a:t></a:t>
            </a:r>
            <a:endParaRPr lang="en-US" b="1" dirty="0" smtClean="0"/>
          </a:p>
          <a:p>
            <a:r>
              <a:rPr lang="en-US" dirty="0" smtClean="0"/>
              <a:t>i.e. When technical assessment is done need to ask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if the organization takes a particular project then would the organization’s  available  technology  or newly bought technology benefit the company or will drive to  loss or neither profit nor loss???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05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Cost–benefit </a:t>
            </a:r>
            <a:r>
              <a:rPr lang="en-US" b="1" dirty="0"/>
              <a:t>analysis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19200"/>
            <a:ext cx="8381999" cy="4724400"/>
          </a:xfrm>
        </p:spPr>
        <p:txBody>
          <a:bodyPr>
            <a:noAutofit/>
          </a:bodyPr>
          <a:lstStyle/>
          <a:p>
            <a:r>
              <a:rPr lang="en-US" sz="2800" dirty="0" smtClean="0"/>
              <a:t>Your IT company has offer for 5 projects  where </a:t>
            </a:r>
            <a:r>
              <a:rPr lang="en-US" sz="2800" dirty="0"/>
              <a:t>the estimated </a:t>
            </a:r>
            <a:r>
              <a:rPr lang="en-US" sz="2800" dirty="0" smtClean="0"/>
              <a:t>benefits </a:t>
            </a:r>
            <a:r>
              <a:rPr lang="en-US" sz="2800" dirty="0"/>
              <a:t>will exceed the estimated </a:t>
            </a:r>
            <a:r>
              <a:rPr lang="en-US" sz="2800" dirty="0" smtClean="0"/>
              <a:t>costs</a:t>
            </a:r>
          </a:p>
          <a:p>
            <a:r>
              <a:rPr lang="en-US" sz="2800" dirty="0" smtClean="0"/>
              <a:t>Answer the following:</a:t>
            </a:r>
          </a:p>
          <a:p>
            <a:pPr lvl="1"/>
            <a:r>
              <a:rPr lang="en-US" sz="2400" dirty="0" smtClean="0"/>
              <a:t>Will you take all of them?</a:t>
            </a:r>
          </a:p>
          <a:p>
            <a:pPr lvl="1"/>
            <a:r>
              <a:rPr lang="en-US" sz="2400" dirty="0" smtClean="0"/>
              <a:t>Some of them or just one of them </a:t>
            </a:r>
          </a:p>
          <a:p>
            <a:pPr lvl="1"/>
            <a:r>
              <a:rPr lang="en-US" sz="2400" dirty="0" smtClean="0"/>
              <a:t>And what matters  in choosing those projects????</a:t>
            </a:r>
          </a:p>
          <a:p>
            <a:pPr lvl="2"/>
            <a:r>
              <a:rPr lang="en-US" sz="2200" dirty="0" smtClean="0"/>
              <a:t>Decide </a:t>
            </a:r>
            <a:r>
              <a:rPr lang="en-US" sz="2200" dirty="0"/>
              <a:t>if the proposed project is the best of several </a:t>
            </a:r>
            <a:r>
              <a:rPr lang="en-US" sz="2200" dirty="0" smtClean="0"/>
              <a:t>options because  </a:t>
            </a:r>
            <a:r>
              <a:rPr lang="en-US" sz="2200" dirty="0"/>
              <a:t>n</a:t>
            </a:r>
            <a:r>
              <a:rPr lang="en-US" sz="2200" dirty="0" smtClean="0"/>
              <a:t>ot </a:t>
            </a:r>
            <a:r>
              <a:rPr lang="en-US" sz="2200" dirty="0"/>
              <a:t>all projects </a:t>
            </a:r>
            <a:r>
              <a:rPr lang="en-US" sz="2200" dirty="0" smtClean="0"/>
              <a:t>can be </a:t>
            </a:r>
            <a:r>
              <a:rPr lang="en-US" sz="2200" dirty="0"/>
              <a:t>undertaken at any one time </a:t>
            </a:r>
            <a:r>
              <a:rPr lang="en-US" sz="2200" dirty="0" smtClean="0">
                <a:solidFill>
                  <a:srgbClr val="FF0000"/>
                </a:solidFill>
              </a:rPr>
              <a:t>(why you can’t take all of them???)</a:t>
            </a:r>
          </a:p>
          <a:p>
            <a:pPr lvl="2"/>
            <a:r>
              <a:rPr lang="en-US" sz="2200" dirty="0" smtClean="0"/>
              <a:t>and</a:t>
            </a:r>
            <a:r>
              <a:rPr lang="en-US" sz="2200" dirty="0"/>
              <a:t>, in any case, the most valuable projects should </a:t>
            </a:r>
            <a:r>
              <a:rPr lang="en-US" sz="2200" dirty="0" smtClean="0"/>
              <a:t>get most </a:t>
            </a:r>
            <a:r>
              <a:rPr lang="en-US" sz="2200" dirty="0"/>
              <a:t>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70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667605"/>
            <a:ext cx="8381999" cy="780195"/>
          </a:xfrm>
        </p:spPr>
        <p:txBody>
          <a:bodyPr>
            <a:noAutofit/>
          </a:bodyPr>
          <a:lstStyle/>
          <a:p>
            <a:r>
              <a:rPr lang="en-US" dirty="0" smtClean="0"/>
              <a:t>Cost–benefit </a:t>
            </a:r>
            <a:r>
              <a:rPr lang="en-US" dirty="0"/>
              <a:t>analysis comprises two steps: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0070C0"/>
                </a:solidFill>
              </a:rPr>
              <a:t>Step 1 .    </a:t>
            </a:r>
            <a:r>
              <a:rPr lang="en-US" sz="2400" b="1" dirty="0" smtClean="0"/>
              <a:t>It means identifying </a:t>
            </a:r>
            <a:r>
              <a:rPr lang="en-US" sz="2400" b="1" dirty="0"/>
              <a:t>all of the costs and </a:t>
            </a:r>
            <a:r>
              <a:rPr lang="en-US" sz="2400" b="1" dirty="0" smtClean="0"/>
              <a:t>benefits </a:t>
            </a:r>
            <a:r>
              <a:rPr lang="en-US" sz="2400" b="1" dirty="0"/>
              <a:t>of carrying out the project and operating the delivered </a:t>
            </a:r>
            <a:r>
              <a:rPr lang="en-US" sz="2400" b="1" dirty="0" smtClean="0"/>
              <a:t>application.  These include :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Development </a:t>
            </a:r>
            <a:r>
              <a:rPr lang="en-US" sz="2000" dirty="0"/>
              <a:t>costs</a:t>
            </a:r>
            <a:r>
              <a:rPr lang="en-US" sz="2000" dirty="0" smtClean="0"/>
              <a:t>,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the </a:t>
            </a:r>
            <a:r>
              <a:rPr lang="en-US" sz="2000" dirty="0"/>
              <a:t>operating </a:t>
            </a:r>
            <a:r>
              <a:rPr lang="en-US" sz="2000" dirty="0" smtClean="0"/>
              <a:t>costs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and </a:t>
            </a:r>
            <a:r>
              <a:rPr lang="en-US" sz="2000" dirty="0"/>
              <a:t>the </a:t>
            </a:r>
            <a:r>
              <a:rPr lang="en-US" sz="2000" dirty="0" smtClean="0"/>
              <a:t>benefits </a:t>
            </a:r>
            <a:r>
              <a:rPr lang="en-US" sz="2000" dirty="0"/>
              <a:t>expected from the </a:t>
            </a:r>
            <a:r>
              <a:rPr lang="en-US" sz="2000" dirty="0" smtClean="0"/>
              <a:t>new system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Direct benefits</a:t>
            </a:r>
            <a:endParaRPr lang="en-US" sz="2000" dirty="0"/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Assessable </a:t>
            </a:r>
            <a:r>
              <a:rPr lang="en-US" sz="2000" dirty="0"/>
              <a:t>indirect </a:t>
            </a:r>
            <a:r>
              <a:rPr lang="en-US" sz="2000" dirty="0" smtClean="0"/>
              <a:t>benefits</a:t>
            </a:r>
          </a:p>
          <a:p>
            <a:pPr marL="544068" lvl="1" indent="-342900">
              <a:buFont typeface="+mj-lt"/>
              <a:buAutoNum type="arabicPeriod"/>
            </a:pPr>
            <a:r>
              <a:rPr lang="en-US" sz="2000" dirty="0" smtClean="0"/>
              <a:t>Intangible benefits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Note </a:t>
            </a:r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sz="2400" dirty="0" smtClean="0">
                <a:sym typeface="Wingdings" pitchFamily="2" charset="2"/>
              </a:rPr>
              <a:t>imagine yourself as a project manager and think in such cases for project acceptance or refusal when you have 5 projects and which two of them would you chose and how do you allocate resources for them. Discuss ???</a:t>
            </a:r>
            <a:endParaRPr lang="en-US" sz="2400" dirty="0"/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11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Step </a:t>
            </a:r>
            <a:r>
              <a:rPr lang="en-US" b="1" dirty="0" smtClean="0">
                <a:solidFill>
                  <a:srgbClr val="0070C0"/>
                </a:solidFill>
              </a:rPr>
              <a:t>2.</a:t>
            </a:r>
          </a:p>
          <a:p>
            <a:r>
              <a:rPr lang="en-US" dirty="0" smtClean="0"/>
              <a:t>Express </a:t>
            </a:r>
            <a:r>
              <a:rPr lang="en-US" dirty="0"/>
              <a:t>these costs and </a:t>
            </a:r>
            <a:r>
              <a:rPr lang="en-US" dirty="0" smtClean="0"/>
              <a:t>benefits </a:t>
            </a:r>
            <a:r>
              <a:rPr lang="en-US" dirty="0"/>
              <a:t>in common </a:t>
            </a:r>
            <a:r>
              <a:rPr lang="en-US" dirty="0" smtClean="0"/>
              <a:t>units. </a:t>
            </a:r>
          </a:p>
          <a:p>
            <a:r>
              <a:rPr lang="en-US" dirty="0" smtClean="0"/>
              <a:t>must </a:t>
            </a:r>
            <a:r>
              <a:rPr lang="en-US" dirty="0"/>
              <a:t>express </a:t>
            </a:r>
            <a:r>
              <a:rPr lang="en-US" dirty="0" smtClean="0"/>
              <a:t>each </a:t>
            </a:r>
            <a:r>
              <a:rPr lang="en-US" b="1" dirty="0" smtClean="0"/>
              <a:t>cost, benefit </a:t>
            </a:r>
            <a:r>
              <a:rPr lang="en-US" dirty="0" smtClean="0"/>
              <a:t>in terms of money </a:t>
            </a:r>
            <a:r>
              <a:rPr lang="en-US" b="1" dirty="0" smtClean="0"/>
              <a:t>– </a:t>
            </a:r>
            <a:r>
              <a:rPr lang="en-US" b="1" dirty="0"/>
              <a:t>and </a:t>
            </a:r>
            <a:r>
              <a:rPr lang="en-US" b="1" dirty="0" smtClean="0"/>
              <a:t>the net benefit as difference of the two</a:t>
            </a:r>
          </a:p>
          <a:p>
            <a:pPr lvl="1"/>
            <a:r>
              <a:rPr lang="en-US" dirty="0"/>
              <a:t>Net benefit = Total benefit - Total cost</a:t>
            </a:r>
          </a:p>
          <a:p>
            <a:r>
              <a:rPr lang="en-US" dirty="0">
                <a:solidFill>
                  <a:srgbClr val="FF0000"/>
                </a:solidFill>
              </a:rPr>
              <a:t>Most direct costs </a:t>
            </a:r>
            <a:r>
              <a:rPr lang="en-US" dirty="0" smtClean="0">
                <a:solidFill>
                  <a:srgbClr val="FF0000"/>
                </a:solidFill>
              </a:rPr>
              <a:t>can </a:t>
            </a:r>
            <a:r>
              <a:rPr lang="en-US" dirty="0">
                <a:solidFill>
                  <a:srgbClr val="FF0000"/>
                </a:solidFill>
              </a:rPr>
              <a:t>be categorized as:</a:t>
            </a:r>
          </a:p>
          <a:p>
            <a:pPr lvl="1"/>
            <a:r>
              <a:rPr lang="en-US" b="1" dirty="0"/>
              <a:t>development costs </a:t>
            </a:r>
            <a:r>
              <a:rPr lang="en-US" dirty="0"/>
              <a:t>including development staff costs;</a:t>
            </a:r>
          </a:p>
          <a:p>
            <a:pPr lvl="1"/>
            <a:r>
              <a:rPr lang="en-US" b="1" dirty="0" smtClean="0"/>
              <a:t>setup costs </a:t>
            </a:r>
            <a:r>
              <a:rPr lang="en-US" dirty="0" smtClean="0"/>
              <a:t>consisting </a:t>
            </a:r>
            <a:r>
              <a:rPr lang="en-US" dirty="0"/>
              <a:t>of the costs of putting the system into place, mainly of </a:t>
            </a:r>
            <a:r>
              <a:rPr lang="en-US" dirty="0" smtClean="0"/>
              <a:t>any new </a:t>
            </a:r>
            <a:r>
              <a:rPr lang="en-US" dirty="0"/>
              <a:t>hardware but also including the costs of </a:t>
            </a:r>
            <a:r>
              <a:rPr lang="en-US" dirty="0" smtClean="0"/>
              <a:t>file </a:t>
            </a:r>
            <a:r>
              <a:rPr lang="en-US" dirty="0"/>
              <a:t>conversion, recruitment and </a:t>
            </a:r>
            <a:r>
              <a:rPr lang="en-US" dirty="0" smtClean="0"/>
              <a:t>staff training</a:t>
            </a:r>
            <a:r>
              <a:rPr lang="en-US" dirty="0"/>
              <a:t>;</a:t>
            </a:r>
          </a:p>
          <a:p>
            <a:pPr lvl="1"/>
            <a:r>
              <a:rPr lang="en-US" b="1" dirty="0" smtClean="0"/>
              <a:t>operational </a:t>
            </a:r>
            <a:r>
              <a:rPr lang="en-US" b="1" dirty="0"/>
              <a:t>costs </a:t>
            </a:r>
            <a:r>
              <a:rPr lang="en-US" dirty="0"/>
              <a:t>relating to operating the system after installation.</a:t>
            </a:r>
            <a:r>
              <a:rPr lang="en-US" b="1" dirty="0" smtClean="0">
                <a:solidFill>
                  <a:srgbClr val="0070C0"/>
                </a:solidFill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42913" y="667605"/>
            <a:ext cx="8381999" cy="7801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Cost–benefit analysis comprises two steps: (contd.)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9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Benefits can </a:t>
            </a:r>
            <a:r>
              <a:rPr lang="en-US" sz="2800" dirty="0">
                <a:solidFill>
                  <a:srgbClr val="FF0000"/>
                </a:solidFill>
              </a:rPr>
              <a:t>be categorized as:</a:t>
            </a:r>
          </a:p>
          <a:p>
            <a:pPr lvl="1"/>
            <a:r>
              <a:rPr lang="en-US" sz="2400" b="1" dirty="0" smtClean="0"/>
              <a:t>Direct Benefits i</a:t>
            </a:r>
            <a:r>
              <a:rPr lang="en-US" sz="2400" dirty="0" smtClean="0"/>
              <a:t>t </a:t>
            </a:r>
            <a:r>
              <a:rPr lang="en-US" sz="2400" dirty="0"/>
              <a:t>is directly obtained by making use of/operating the system. </a:t>
            </a:r>
            <a:endParaRPr lang="en-US" sz="2400" dirty="0" smtClean="0"/>
          </a:p>
          <a:p>
            <a:pPr lvl="2"/>
            <a:r>
              <a:rPr lang="en-US" sz="2000" dirty="0" smtClean="0"/>
              <a:t>Cost </a:t>
            </a:r>
            <a:r>
              <a:rPr lang="en-US" sz="2000" dirty="0"/>
              <a:t>savings (e.g., less staff, less paper, quicker turnaround) </a:t>
            </a:r>
            <a:endParaRPr lang="en-US" sz="2000" dirty="0" smtClean="0"/>
          </a:p>
          <a:p>
            <a:pPr lvl="2"/>
            <a:r>
              <a:rPr lang="en-US" sz="2000" dirty="0" smtClean="0"/>
              <a:t>Money </a:t>
            </a:r>
            <a:r>
              <a:rPr lang="en-US" sz="2000" dirty="0"/>
              <a:t>generation (e.g., new revenue stream, new markets) </a:t>
            </a:r>
            <a:endParaRPr lang="en-US" sz="2000" dirty="0" smtClean="0"/>
          </a:p>
          <a:p>
            <a:pPr lvl="1"/>
            <a:r>
              <a:rPr lang="en-US" sz="2400" b="1" dirty="0" smtClean="0"/>
              <a:t>Assessable indirect benefits </a:t>
            </a:r>
            <a:r>
              <a:rPr lang="en-US" sz="2400" dirty="0"/>
              <a:t>these benefits are obtained due to updating / upgrading the performance of current system. It is also referred as “secondary benefits</a:t>
            </a:r>
            <a:r>
              <a:rPr lang="en-US" sz="2400" dirty="0" smtClean="0"/>
              <a:t>”.</a:t>
            </a:r>
          </a:p>
          <a:p>
            <a:pPr lvl="1"/>
            <a:r>
              <a:rPr lang="en-US" sz="2400" b="1" dirty="0" smtClean="0"/>
              <a:t>Intangible benefits </a:t>
            </a:r>
            <a:r>
              <a:rPr lang="en-US" sz="2400" dirty="0"/>
              <a:t>these benefits are longer term, difficult to quantify. It is also referred as “indirect benefits”. Example: enhanced job interest leads reduction of staff turnover, in turn leads lower recruitment costs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42913" y="667605"/>
            <a:ext cx="8381999" cy="78019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b="1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Cost–benefit analysis comprises two steps: (contd.)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671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Cash Flow Forecast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cash </a:t>
            </a:r>
            <a:r>
              <a:rPr lang="en-US" sz="2400" b="1" dirty="0" smtClean="0"/>
              <a:t>flow </a:t>
            </a:r>
            <a:r>
              <a:rPr lang="en-US" sz="2400" b="1" dirty="0"/>
              <a:t>forecast </a:t>
            </a:r>
            <a:r>
              <a:rPr lang="en-US" sz="2400" b="1" dirty="0" smtClean="0"/>
              <a:t>indicates </a:t>
            </a:r>
            <a:r>
              <a:rPr lang="en-US" sz="2400" b="1" dirty="0"/>
              <a:t>when expenditure and income will take </a:t>
            </a:r>
            <a:r>
              <a:rPr lang="en-US" sz="2400" b="1" dirty="0" smtClean="0"/>
              <a:t>place.</a:t>
            </a:r>
            <a:r>
              <a:rPr lang="en-US" sz="2400" b="1" dirty="0"/>
              <a:t> </a:t>
            </a:r>
            <a:r>
              <a:rPr lang="en-US" sz="2400" dirty="0"/>
              <a:t>Its equally important as cost benefit analysis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Why the timing factor  is important in cash flow forecast ??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Cash flow considerations</a:t>
            </a:r>
          </a:p>
          <a:p>
            <a:pPr lvl="1"/>
            <a:r>
              <a:rPr lang="en-US" sz="2000" dirty="0" smtClean="0"/>
              <a:t>Is </a:t>
            </a:r>
            <a:r>
              <a:rPr lang="en-US" sz="2000" dirty="0"/>
              <a:t>initial funding for the project available?</a:t>
            </a:r>
          </a:p>
          <a:p>
            <a:pPr lvl="1"/>
            <a:r>
              <a:rPr lang="en-US" sz="2000" dirty="0" smtClean="0"/>
              <a:t>Is </a:t>
            </a:r>
            <a:r>
              <a:rPr lang="en-US" sz="2000" dirty="0"/>
              <a:t>timing of incoming/outgoing cash flow in line with financial plans?</a:t>
            </a:r>
          </a:p>
          <a:p>
            <a:pPr lvl="1"/>
            <a:r>
              <a:rPr lang="en-US" sz="2000" dirty="0" smtClean="0"/>
              <a:t>If </a:t>
            </a:r>
            <a:r>
              <a:rPr lang="en-US" sz="2000" dirty="0"/>
              <a:t>cash flow is critical, forecasting should be done quarterly or monthly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Project managers need </a:t>
            </a:r>
            <a:r>
              <a:rPr lang="en-US" sz="2000" dirty="0"/>
              <a:t>to know that development expenditure must either be  from the company’s own resources or by borrowing.</a:t>
            </a:r>
          </a:p>
          <a:p>
            <a:pPr lvl="1"/>
            <a:r>
              <a:rPr lang="en-US" sz="2000" dirty="0"/>
              <a:t>A forecast is needed of when expenditure (such as the payment of salaries) and any income are to be expected.</a:t>
            </a:r>
          </a:p>
          <a:p>
            <a:endParaRPr lang="en-US" sz="2400" dirty="0" smtClean="0">
              <a:solidFill>
                <a:srgbClr val="FF0000"/>
              </a:solidFill>
            </a:endParaRP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774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Cash Flow </a:t>
            </a:r>
            <a:r>
              <a:rPr lang="en-US" dirty="0" smtClean="0"/>
              <a:t>Forecast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4958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Observe during the project’s lifecycle and the final outcome and think  at which stage are there positive and negative </a:t>
            </a:r>
            <a:r>
              <a:rPr lang="en-US" sz="2400" dirty="0" smtClean="0"/>
              <a:t>cash flows  </a:t>
            </a:r>
            <a:endParaRPr lang="en-US" sz="2400" dirty="0"/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 smtClean="0">
              <a:solidFill>
                <a:srgbClr val="FF0000"/>
              </a:solidFill>
            </a:endParaRP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Typically </a:t>
            </a:r>
            <a:r>
              <a:rPr lang="en-US" dirty="0">
                <a:solidFill>
                  <a:srgbClr val="FF0000"/>
                </a:solidFill>
              </a:rPr>
              <a:t>products generate </a:t>
            </a:r>
            <a:r>
              <a:rPr lang="en-US" dirty="0" smtClean="0">
                <a:solidFill>
                  <a:srgbClr val="FF0000"/>
                </a:solidFill>
              </a:rPr>
              <a:t>a </a:t>
            </a:r>
            <a:r>
              <a:rPr lang="en-US" dirty="0"/>
              <a:t>outgoing </a:t>
            </a:r>
            <a:r>
              <a:rPr lang="en-US" dirty="0" smtClean="0"/>
              <a:t>payments/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negative cash flow during their development </a:t>
            </a:r>
            <a:r>
              <a:rPr lang="en-US" dirty="0">
                <a:solidFill>
                  <a:srgbClr val="00B050"/>
                </a:solidFill>
              </a:rPr>
              <a:t>followed by a positive cash </a:t>
            </a:r>
            <a:r>
              <a:rPr lang="en-US" dirty="0" smtClean="0">
                <a:solidFill>
                  <a:srgbClr val="00B050"/>
                </a:solidFill>
              </a:rPr>
              <a:t>flow/ </a:t>
            </a:r>
            <a:r>
              <a:rPr lang="en-US" dirty="0" smtClean="0"/>
              <a:t>incoming </a:t>
            </a:r>
            <a:r>
              <a:rPr lang="en-US" dirty="0"/>
              <a:t>payments </a:t>
            </a:r>
            <a:r>
              <a:rPr lang="en-US" dirty="0" smtClean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over their operating life.</a:t>
            </a:r>
          </a:p>
          <a:p>
            <a:r>
              <a:rPr lang="en-US" dirty="0" smtClean="0"/>
              <a:t>There </a:t>
            </a:r>
            <a:r>
              <a:rPr lang="en-US" dirty="0"/>
              <a:t>might be additional costs at the end of the project life 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86000"/>
            <a:ext cx="5867400" cy="2024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17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Cash Flow Forecast </a:t>
            </a:r>
            <a:r>
              <a:rPr lang="en-US" dirty="0" smtClean="0"/>
              <a:t>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400" dirty="0" smtClean="0"/>
              <a:t>need </a:t>
            </a:r>
            <a:r>
              <a:rPr lang="en-US" sz="3400" dirty="0"/>
              <a:t>to spend </a:t>
            </a:r>
            <a:r>
              <a:rPr lang="en-US" sz="3400" dirty="0" smtClean="0"/>
              <a:t>money</a:t>
            </a:r>
            <a:r>
              <a:rPr lang="en-US" sz="3400" dirty="0"/>
              <a:t> </a:t>
            </a:r>
            <a:r>
              <a:rPr lang="en-US" sz="3400" dirty="0" smtClean="0"/>
              <a:t>in  staff wages,</a:t>
            </a:r>
            <a:r>
              <a:rPr lang="en-US" sz="3400" dirty="0"/>
              <a:t> </a:t>
            </a:r>
            <a:r>
              <a:rPr lang="en-US" sz="3400" dirty="0" smtClean="0"/>
              <a:t>during </a:t>
            </a:r>
            <a:r>
              <a:rPr lang="en-US" sz="3400" dirty="0"/>
              <a:t>a project’s development </a:t>
            </a:r>
            <a:r>
              <a:rPr lang="en-US" sz="3400" dirty="0" smtClean="0"/>
              <a:t>. </a:t>
            </a:r>
            <a:r>
              <a:rPr lang="en-US" sz="3400" b="1" dirty="0" smtClean="0"/>
              <a:t>Such </a:t>
            </a:r>
            <a:r>
              <a:rPr lang="en-US" sz="3400" b="1" dirty="0"/>
              <a:t>expenditure cannot wait until </a:t>
            </a:r>
            <a:r>
              <a:rPr lang="en-US" sz="3400" b="1" dirty="0">
                <a:solidFill>
                  <a:srgbClr val="FF0000"/>
                </a:solidFill>
              </a:rPr>
              <a:t>income is received (either from using </a:t>
            </a:r>
            <a:r>
              <a:rPr lang="en-US" sz="3400" b="1" dirty="0" smtClean="0">
                <a:solidFill>
                  <a:srgbClr val="FF0000"/>
                </a:solidFill>
              </a:rPr>
              <a:t>software developed </a:t>
            </a:r>
            <a:r>
              <a:rPr lang="en-US" sz="3400" b="1" dirty="0">
                <a:solidFill>
                  <a:srgbClr val="FF0000"/>
                </a:solidFill>
              </a:rPr>
              <a:t>in-house use or from selling it)</a:t>
            </a:r>
            <a:r>
              <a:rPr lang="en-US" sz="3400" dirty="0"/>
              <a:t>. </a:t>
            </a:r>
            <a:endParaRPr lang="en-US" sz="3400" dirty="0" smtClean="0"/>
          </a:p>
          <a:p>
            <a:r>
              <a:rPr lang="en-US" sz="3400" b="1" dirty="0" smtClean="0"/>
              <a:t>A </a:t>
            </a:r>
            <a:r>
              <a:rPr lang="en-US" sz="3400" b="1" dirty="0"/>
              <a:t>forecast is needed of when </a:t>
            </a:r>
            <a:r>
              <a:rPr lang="en-US" sz="3400" b="1" dirty="0" smtClean="0"/>
              <a:t>expenditure(such </a:t>
            </a:r>
            <a:r>
              <a:rPr lang="en-US" sz="3400" b="1" dirty="0"/>
              <a:t>as the payment of </a:t>
            </a:r>
            <a:r>
              <a:rPr lang="en-US" sz="3400" b="1" dirty="0" smtClean="0"/>
              <a:t>salaries) </a:t>
            </a:r>
            <a:r>
              <a:rPr lang="en-US" sz="3400" b="1" dirty="0"/>
              <a:t>and </a:t>
            </a:r>
            <a:r>
              <a:rPr lang="en-US" sz="3400" b="1" dirty="0" smtClean="0"/>
              <a:t>any income </a:t>
            </a:r>
            <a:r>
              <a:rPr lang="en-US" sz="3400" b="1" dirty="0"/>
              <a:t>are to be expected</a:t>
            </a:r>
            <a:r>
              <a:rPr lang="en-US" sz="3400" b="1" dirty="0" smtClean="0"/>
              <a:t>.</a:t>
            </a:r>
          </a:p>
          <a:p>
            <a:r>
              <a:rPr lang="en-US" sz="3400" dirty="0">
                <a:solidFill>
                  <a:srgbClr val="FF0000"/>
                </a:solidFill>
              </a:rPr>
              <a:t>Accurate forecast is not </a:t>
            </a:r>
            <a:r>
              <a:rPr lang="en-US" sz="3400" dirty="0" smtClean="0">
                <a:solidFill>
                  <a:srgbClr val="FF0000"/>
                </a:solidFill>
              </a:rPr>
              <a:t>easy</a:t>
            </a:r>
            <a:r>
              <a:rPr lang="en-US" sz="3400" dirty="0"/>
              <a:t> </a:t>
            </a:r>
            <a:r>
              <a:rPr lang="en-US" sz="3400" dirty="0" smtClean="0"/>
              <a:t> because </a:t>
            </a:r>
          </a:p>
          <a:p>
            <a:pPr lvl="1"/>
            <a:r>
              <a:rPr lang="en-US" sz="3200" dirty="0" smtClean="0"/>
              <a:t>it </a:t>
            </a:r>
            <a:r>
              <a:rPr lang="en-US" sz="3200" dirty="0"/>
              <a:t>is done early in the project’s </a:t>
            </a:r>
            <a:r>
              <a:rPr lang="en-US" sz="3200" dirty="0" smtClean="0"/>
              <a:t>life cycle </a:t>
            </a:r>
            <a:r>
              <a:rPr lang="en-US" sz="3200" dirty="0"/>
              <a:t>(at least before any </a:t>
            </a:r>
            <a:r>
              <a:rPr lang="en-US" sz="3200" dirty="0" smtClean="0"/>
              <a:t>significant </a:t>
            </a:r>
            <a:r>
              <a:rPr lang="en-US" sz="3200" dirty="0"/>
              <a:t>expenditure is committed) </a:t>
            </a:r>
            <a:endParaRPr lang="en-US" sz="3200" dirty="0" smtClean="0"/>
          </a:p>
          <a:p>
            <a:pPr lvl="1"/>
            <a:r>
              <a:rPr lang="en-US" sz="3200" dirty="0" smtClean="0"/>
              <a:t>and </a:t>
            </a:r>
            <a:r>
              <a:rPr lang="en-US" sz="3200" dirty="0"/>
              <a:t>many items </a:t>
            </a:r>
            <a:r>
              <a:rPr lang="en-US" sz="3200" dirty="0" smtClean="0"/>
              <a:t>to be </a:t>
            </a:r>
            <a:r>
              <a:rPr lang="en-US" sz="3200" dirty="0"/>
              <a:t>estimated (particularly the </a:t>
            </a:r>
            <a:r>
              <a:rPr lang="en-US" sz="3200" dirty="0" smtClean="0"/>
              <a:t>benefits </a:t>
            </a:r>
            <a:r>
              <a:rPr lang="en-US" sz="3200" dirty="0"/>
              <a:t>of using software) might be some years in </a:t>
            </a:r>
            <a:r>
              <a:rPr lang="en-US" sz="3200" dirty="0" smtClean="0"/>
              <a:t>the future</a:t>
            </a:r>
            <a:r>
              <a:rPr lang="en-US" sz="3200" dirty="0"/>
              <a:t>.</a:t>
            </a:r>
          </a:p>
          <a:p>
            <a:pPr lvl="1"/>
            <a:r>
              <a:rPr lang="en-US" sz="3200" dirty="0"/>
              <a:t>Need to revise the forecast from time to time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58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20585" y="1066800"/>
            <a:ext cx="8381999" cy="5181600"/>
          </a:xfrm>
        </p:spPr>
        <p:txBody>
          <a:bodyPr>
            <a:normAutofit fontScale="70000" lnSpcReduction="20000"/>
          </a:bodyPr>
          <a:lstStyle/>
          <a:p>
            <a:r>
              <a:rPr lang="en-US" sz="2800" dirty="0"/>
              <a:t>Cost benefit Evaluation mainly consider </a:t>
            </a:r>
          </a:p>
          <a:p>
            <a:pPr lvl="1"/>
            <a:r>
              <a:rPr lang="en-US" sz="2800" dirty="0"/>
              <a:t>The timing of the costs and benefits</a:t>
            </a:r>
          </a:p>
          <a:p>
            <a:pPr lvl="1"/>
            <a:r>
              <a:rPr lang="en-US" sz="2800" dirty="0"/>
              <a:t>The benefits relative to the size of the </a:t>
            </a:r>
            <a:r>
              <a:rPr lang="en-US" sz="2800" dirty="0" smtClean="0"/>
              <a:t>investment</a:t>
            </a:r>
          </a:p>
          <a:p>
            <a:pPr marL="0" indent="0">
              <a:buNone/>
            </a:pPr>
            <a:r>
              <a:rPr lang="en-US" sz="2800" dirty="0" smtClean="0"/>
              <a:t>Four project cash flow projections – figures are end of year totals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 smtClean="0"/>
          </a:p>
          <a:p>
            <a:endParaRPr lang="en-US" sz="2400" dirty="0" smtClean="0"/>
          </a:p>
          <a:p>
            <a:r>
              <a:rPr lang="en-US" sz="2800" dirty="0" smtClean="0"/>
              <a:t>Consider the above project cash flow estimates for four projects 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Negative values represent expenditure and positive values income</a:t>
            </a:r>
            <a:r>
              <a:rPr lang="en-US" sz="2800" dirty="0" smtClean="0"/>
              <a:t>.</a:t>
            </a:r>
          </a:p>
          <a:p>
            <a:r>
              <a:rPr lang="en-US" sz="2800" b="1" dirty="0" smtClean="0"/>
              <a:t>Rank the four projects in order of financial desirability and make a note of your reasons.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657" y="2347355"/>
            <a:ext cx="7348799" cy="2607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3657" y="274094"/>
            <a:ext cx="8381999" cy="780195"/>
          </a:xfrm>
        </p:spPr>
        <p:txBody>
          <a:bodyPr/>
          <a:lstStyle/>
          <a:p>
            <a:r>
              <a:rPr lang="en-US" dirty="0" smtClean="0"/>
              <a:t>Cost Benefit Evaluation techniques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2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Benefit Evaluation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Evaluation techniques for </a:t>
            </a:r>
            <a:r>
              <a:rPr lang="en-US" sz="3200" dirty="0"/>
              <a:t>comparing projects on the basis of their cash </a:t>
            </a:r>
            <a:r>
              <a:rPr lang="en-US" sz="3200" dirty="0" smtClean="0"/>
              <a:t>flow forecasts are: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2800" dirty="0" smtClean="0"/>
              <a:t>Net Profit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2800" dirty="0" smtClean="0"/>
              <a:t>Pay Back period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2800" dirty="0" smtClean="0"/>
              <a:t>ROI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2800" dirty="0" smtClean="0"/>
              <a:t>NPV</a:t>
            </a:r>
          </a:p>
          <a:p>
            <a:pPr marL="726948" lvl="2" indent="-342900">
              <a:buFont typeface="+mj-lt"/>
              <a:buAutoNum type="arabicPeriod"/>
            </a:pPr>
            <a:r>
              <a:rPr lang="en-US" sz="2800" dirty="0" smtClean="0"/>
              <a:t>IRR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67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1. Net Profit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Difference between total cost and total </a:t>
            </a:r>
            <a:r>
              <a:rPr lang="en-US" sz="2800" dirty="0" smtClean="0"/>
              <a:t>income</a:t>
            </a:r>
          </a:p>
          <a:p>
            <a:r>
              <a:rPr lang="en-US" sz="2800" dirty="0"/>
              <a:t>Cash </a:t>
            </a:r>
            <a:r>
              <a:rPr lang="en-US" sz="2800" dirty="0" smtClean="0"/>
              <a:t>flows </a:t>
            </a:r>
            <a:r>
              <a:rPr lang="en-US" sz="2800" dirty="0"/>
              <a:t>take </a:t>
            </a:r>
            <a:r>
              <a:rPr lang="en-US" sz="2800" dirty="0" smtClean="0"/>
              <a:t>place at </a:t>
            </a:r>
            <a:r>
              <a:rPr lang="en-US" sz="2800" dirty="0"/>
              <a:t>the end of </a:t>
            </a:r>
            <a:r>
              <a:rPr lang="en-US" sz="2800" dirty="0" smtClean="0"/>
              <a:t>each year.</a:t>
            </a:r>
          </a:p>
          <a:p>
            <a:r>
              <a:rPr lang="en-US" sz="2800" dirty="0" smtClean="0"/>
              <a:t> </a:t>
            </a:r>
            <a:r>
              <a:rPr lang="en-US" sz="2800" dirty="0">
                <a:solidFill>
                  <a:srgbClr val="FF0000"/>
                </a:solidFill>
              </a:rPr>
              <a:t>The year 0 </a:t>
            </a:r>
            <a:r>
              <a:rPr lang="en-US" sz="2800" dirty="0" smtClean="0">
                <a:solidFill>
                  <a:srgbClr val="FF0000"/>
                </a:solidFill>
              </a:rPr>
              <a:t>represents the </a:t>
            </a:r>
            <a:r>
              <a:rPr lang="en-US" sz="2800" dirty="0">
                <a:solidFill>
                  <a:srgbClr val="FF0000"/>
                </a:solidFill>
              </a:rPr>
              <a:t>initial </a:t>
            </a:r>
            <a:r>
              <a:rPr lang="en-US" sz="2800" dirty="0" smtClean="0">
                <a:solidFill>
                  <a:srgbClr val="FF0000"/>
                </a:solidFill>
              </a:rPr>
              <a:t>investment made </a:t>
            </a:r>
            <a:r>
              <a:rPr lang="en-US" sz="2800" dirty="0">
                <a:solidFill>
                  <a:srgbClr val="FF0000"/>
                </a:solidFill>
              </a:rPr>
              <a:t>at the </a:t>
            </a:r>
            <a:r>
              <a:rPr lang="en-US" sz="2800" dirty="0" smtClean="0">
                <a:solidFill>
                  <a:srgbClr val="FF0000"/>
                </a:solidFill>
              </a:rPr>
              <a:t>start of </a:t>
            </a:r>
            <a:r>
              <a:rPr lang="en-US" sz="2800" dirty="0">
                <a:solidFill>
                  <a:srgbClr val="FF0000"/>
                </a:solidFill>
              </a:rPr>
              <a:t>the project</a:t>
            </a:r>
            <a:r>
              <a:rPr lang="en-US" sz="2800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sz="2800" dirty="0" smtClean="0">
                <a:solidFill>
                  <a:srgbClr val="00B050"/>
                </a:solidFill>
              </a:rPr>
              <a:t>Also called Net income or net earnings</a:t>
            </a:r>
          </a:p>
          <a:p>
            <a:r>
              <a:rPr lang="en-US" sz="2800" dirty="0" smtClean="0"/>
              <a:t> Net </a:t>
            </a:r>
            <a:r>
              <a:rPr lang="en-US" sz="2800" dirty="0"/>
              <a:t>profit=total costs-total incomes</a:t>
            </a:r>
            <a:endParaRPr lang="en-US" sz="2800" dirty="0" smtClean="0">
              <a:solidFill>
                <a:srgbClr val="00B050"/>
              </a:solidFill>
            </a:endParaRPr>
          </a:p>
          <a:p>
            <a:r>
              <a:rPr lang="en-US" sz="2800" dirty="0" smtClean="0"/>
              <a:t> </a:t>
            </a:r>
            <a:r>
              <a:rPr lang="en-US" sz="2800" b="1" u="sng" dirty="0"/>
              <a:t>Pros:</a:t>
            </a:r>
            <a:r>
              <a:rPr lang="en-US" sz="2800" dirty="0"/>
              <a:t> </a:t>
            </a:r>
            <a:endParaRPr lang="en-US" sz="2800" dirty="0" smtClean="0"/>
          </a:p>
          <a:p>
            <a:pPr lvl="1"/>
            <a:r>
              <a:rPr lang="en-US" sz="2600" dirty="0" smtClean="0"/>
              <a:t>Easy </a:t>
            </a:r>
            <a:r>
              <a:rPr lang="en-US" sz="2600" dirty="0"/>
              <a:t>to </a:t>
            </a:r>
            <a:r>
              <a:rPr lang="en-US" sz="2600" dirty="0" smtClean="0"/>
              <a:t>calculate</a:t>
            </a:r>
            <a:endParaRPr lang="en-US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12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600200"/>
            <a:ext cx="7086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381000"/>
            <a:ext cx="8381999" cy="5943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 smtClean="0"/>
              <a:t>Cons</a:t>
            </a:r>
            <a:r>
              <a:rPr lang="en-US" sz="2400" b="1" u="sng" dirty="0"/>
              <a:t>:</a:t>
            </a:r>
          </a:p>
          <a:p>
            <a:pPr lvl="1"/>
            <a:r>
              <a:rPr lang="en-US" dirty="0"/>
              <a:t>Does not show profit relative to size investment (e.g., consider Project 2)</a:t>
            </a:r>
          </a:p>
          <a:p>
            <a:pPr lvl="1"/>
            <a:r>
              <a:rPr lang="en-US" dirty="0"/>
              <a:t>Does not consider timing of payments (e.g., compare Projects 1 and 3) Not very useful other than for "back of envelope" </a:t>
            </a:r>
            <a:r>
              <a:rPr lang="en-US" dirty="0" smtClean="0"/>
              <a:t>evaluations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 smtClean="0">
                <a:solidFill>
                  <a:srgbClr val="FF0000"/>
                </a:solidFill>
              </a:rPr>
              <a:t>Project </a:t>
            </a:r>
            <a:r>
              <a:rPr lang="en-US" sz="1800" dirty="0">
                <a:solidFill>
                  <a:srgbClr val="FF0000"/>
                </a:solidFill>
              </a:rPr>
              <a:t>2 </a:t>
            </a:r>
            <a:r>
              <a:rPr lang="en-US" sz="1800" dirty="0" smtClean="0">
                <a:solidFill>
                  <a:srgbClr val="FF0000"/>
                </a:solidFill>
              </a:rPr>
              <a:t>shows </a:t>
            </a:r>
            <a:r>
              <a:rPr lang="en-US" sz="1800" dirty="0">
                <a:solidFill>
                  <a:srgbClr val="FF0000"/>
                </a:solidFill>
              </a:rPr>
              <a:t>the greatest net </a:t>
            </a:r>
            <a:r>
              <a:rPr lang="en-US" sz="1800" dirty="0" smtClean="0">
                <a:solidFill>
                  <a:srgbClr val="FF0000"/>
                </a:solidFill>
              </a:rPr>
              <a:t>profit </a:t>
            </a:r>
            <a:r>
              <a:rPr lang="en-US" sz="1800" dirty="0">
                <a:solidFill>
                  <a:srgbClr val="FF0000"/>
                </a:solidFill>
              </a:rPr>
              <a:t>but this is at the expense of a large investment.</a:t>
            </a:r>
          </a:p>
          <a:p>
            <a:r>
              <a:rPr lang="en-US" sz="1800" b="1" dirty="0"/>
              <a:t>Indeed, if we had £1 m to invest, we might undertake all of the other three projects and obtain an even </a:t>
            </a:r>
            <a:r>
              <a:rPr lang="en-US" sz="1800" b="1" dirty="0" smtClean="0"/>
              <a:t>greater net profit</a:t>
            </a:r>
            <a:r>
              <a:rPr lang="en-US" sz="1800" b="1" dirty="0"/>
              <a:t>.</a:t>
            </a:r>
            <a:r>
              <a:rPr lang="en-US" sz="1800" dirty="0"/>
              <a:t> </a:t>
            </a:r>
            <a:endParaRPr lang="en-US" sz="1800" dirty="0" smtClean="0"/>
          </a:p>
          <a:p>
            <a:r>
              <a:rPr lang="en-US" sz="1800" dirty="0" smtClean="0"/>
              <a:t>Note </a:t>
            </a:r>
            <a:r>
              <a:rPr lang="en-US" sz="1800" dirty="0"/>
              <a:t>also that all projects contain an element of risk and we might not be prepared to risk £1 m</a:t>
            </a:r>
            <a:r>
              <a:rPr lang="en-US" sz="1800" dirty="0" smtClean="0"/>
              <a:t>.  </a:t>
            </a:r>
            <a:r>
              <a:rPr lang="en-US" sz="1800" b="1" dirty="0" smtClean="0"/>
              <a:t>So Project 2 is not our 1</a:t>
            </a:r>
            <a:r>
              <a:rPr lang="en-US" sz="1800" b="1" baseline="30000" dirty="0" smtClean="0"/>
              <a:t>st</a:t>
            </a:r>
            <a:r>
              <a:rPr lang="en-US" sz="1800" b="1" dirty="0" smtClean="0"/>
              <a:t> choice</a:t>
            </a:r>
            <a:endParaRPr lang="en-US" sz="1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59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457200"/>
            <a:ext cx="8381999" cy="5486400"/>
          </a:xfrm>
        </p:spPr>
        <p:txBody>
          <a:bodyPr>
            <a:noAutofit/>
          </a:bodyPr>
          <a:lstStyle/>
          <a:p>
            <a:r>
              <a:rPr lang="en-US" sz="1600" b="1" dirty="0" smtClean="0"/>
              <a:t>Net Profit Analysis of projects 1 </a:t>
            </a:r>
            <a:r>
              <a:rPr lang="en-US" sz="1600" b="1" dirty="0" err="1" smtClean="0"/>
              <a:t>vs</a:t>
            </a:r>
            <a:r>
              <a:rPr lang="en-US" sz="1600" b="1" dirty="0" smtClean="0"/>
              <a:t> 3</a:t>
            </a:r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endParaRPr lang="en-US" sz="1200" dirty="0"/>
          </a:p>
          <a:p>
            <a:endParaRPr lang="en-US" sz="1200" dirty="0" smtClean="0"/>
          </a:p>
          <a:p>
            <a:pPr marL="0" indent="0">
              <a:buNone/>
            </a:pPr>
            <a:endParaRPr lang="en-US" sz="1200" dirty="0" smtClean="0"/>
          </a:p>
          <a:p>
            <a:r>
              <a:rPr lang="en-US" sz="1400" dirty="0" smtClean="0"/>
              <a:t>Projects </a:t>
            </a:r>
            <a:r>
              <a:rPr lang="en-US" sz="1400" dirty="0"/>
              <a:t>1 and 3 each have a net </a:t>
            </a:r>
            <a:r>
              <a:rPr lang="en-US" sz="1400" dirty="0" smtClean="0"/>
              <a:t>profit </a:t>
            </a:r>
            <a:r>
              <a:rPr lang="en-US" sz="1400" dirty="0"/>
              <a:t>of £50,000 and </a:t>
            </a:r>
            <a:r>
              <a:rPr lang="en-US" sz="1400" b="1" dirty="0"/>
              <a:t>therefore, according to </a:t>
            </a:r>
            <a:r>
              <a:rPr lang="en-US" sz="1400" b="1" dirty="0" smtClean="0"/>
              <a:t>this selection </a:t>
            </a:r>
            <a:r>
              <a:rPr lang="en-US" sz="1400" b="1" dirty="0"/>
              <a:t>criterion, would be equally preferable.</a:t>
            </a:r>
            <a:r>
              <a:rPr lang="en-US" sz="1400" dirty="0"/>
              <a:t> </a:t>
            </a:r>
            <a:endParaRPr lang="en-US" sz="1400" dirty="0" smtClean="0"/>
          </a:p>
          <a:p>
            <a:r>
              <a:rPr lang="en-US" sz="1400" dirty="0" smtClean="0">
                <a:solidFill>
                  <a:srgbClr val="FF0000"/>
                </a:solidFill>
              </a:rPr>
              <a:t>But the </a:t>
            </a:r>
            <a:r>
              <a:rPr lang="en-US" sz="1400" dirty="0">
                <a:solidFill>
                  <a:srgbClr val="FF0000"/>
                </a:solidFill>
              </a:rPr>
              <a:t>bulk of the income occurs </a:t>
            </a:r>
            <a:r>
              <a:rPr lang="en-US" sz="1400" dirty="0" smtClean="0">
                <a:solidFill>
                  <a:srgbClr val="FF0000"/>
                </a:solidFill>
              </a:rPr>
              <a:t>late in </a:t>
            </a:r>
            <a:r>
              <a:rPr lang="en-US" sz="1400" dirty="0">
                <a:solidFill>
                  <a:srgbClr val="FF0000"/>
                </a:solidFill>
              </a:rPr>
              <a:t>the life of project 1, whereas project 3 returns a steady income throughout its life.</a:t>
            </a:r>
          </a:p>
          <a:p>
            <a:r>
              <a:rPr lang="en-US" sz="1400" b="1" dirty="0"/>
              <a:t>Having to wait for a return has the disadvantage that the investment must be </a:t>
            </a:r>
            <a:r>
              <a:rPr lang="en-US" sz="1400" b="1" dirty="0" smtClean="0"/>
              <a:t>funded for </a:t>
            </a:r>
            <a:r>
              <a:rPr lang="en-US" sz="1400" b="1" dirty="0"/>
              <a:t>longer</a:t>
            </a:r>
            <a:r>
              <a:rPr lang="en-US" sz="1400" b="1" dirty="0" smtClean="0"/>
              <a:t>.</a:t>
            </a:r>
          </a:p>
          <a:p>
            <a:r>
              <a:rPr lang="en-US" sz="1400" dirty="0" smtClean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Add to that the fact that, other things being equal, estimates in the </a:t>
            </a:r>
            <a:r>
              <a:rPr lang="en-US" sz="1400" dirty="0" smtClean="0">
                <a:solidFill>
                  <a:srgbClr val="FF0000"/>
                </a:solidFill>
              </a:rPr>
              <a:t>more distant </a:t>
            </a:r>
            <a:r>
              <a:rPr lang="en-US" sz="1400" dirty="0">
                <a:solidFill>
                  <a:srgbClr val="FF0000"/>
                </a:solidFill>
              </a:rPr>
              <a:t>future are less reliable than short-term </a:t>
            </a:r>
            <a:r>
              <a:rPr lang="en-US" sz="1400" dirty="0" smtClean="0">
                <a:solidFill>
                  <a:srgbClr val="FF0000"/>
                </a:solidFill>
              </a:rPr>
              <a:t>estimates</a:t>
            </a:r>
          </a:p>
          <a:p>
            <a:r>
              <a:rPr lang="en-US" sz="1050" dirty="0" smtClean="0"/>
              <a:t> </a:t>
            </a:r>
            <a:r>
              <a:rPr lang="en-US" sz="1800" b="1" dirty="0"/>
              <a:t>and we can see that the two projects are not </a:t>
            </a:r>
            <a:r>
              <a:rPr lang="en-US" sz="1800" b="1" dirty="0" smtClean="0"/>
              <a:t>equally preferable.</a:t>
            </a:r>
          </a:p>
          <a:p>
            <a:r>
              <a:rPr lang="en-US" sz="1400" dirty="0" smtClean="0"/>
              <a:t>Hence we choose Project 3 over 1  and  ranking is  </a:t>
            </a:r>
            <a:r>
              <a:rPr lang="en-US" sz="1600" b="1" dirty="0" smtClean="0"/>
              <a:t>3&gt;1&gt;4&gt;2</a:t>
            </a:r>
            <a:endParaRPr lang="en-US" sz="16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353" y="838200"/>
            <a:ext cx="7239000" cy="2415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2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Payback Period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payback period is the time taken to recover the initial investment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It is the length of time required for cumulative incoming returns to equal the cumulative costs of an investment </a:t>
            </a:r>
            <a:endParaRPr lang="en-US" sz="2400" dirty="0" smtClean="0"/>
          </a:p>
          <a:p>
            <a:r>
              <a:rPr lang="en-US" sz="2400" dirty="0"/>
              <a:t>The payback period is expressed in years and fractions of </a:t>
            </a:r>
            <a:r>
              <a:rPr lang="en-US" sz="2400" dirty="0" smtClean="0"/>
              <a:t>years</a:t>
            </a:r>
          </a:p>
          <a:p>
            <a:r>
              <a:rPr lang="en-US" sz="2400" dirty="0" smtClean="0"/>
              <a:t> if investment </a:t>
            </a:r>
            <a:r>
              <a:rPr lang="en-US" sz="2400" dirty="0"/>
              <a:t>$300,000 </a:t>
            </a:r>
            <a:r>
              <a:rPr lang="en-US" sz="2400" dirty="0" smtClean="0"/>
              <a:t>, </a:t>
            </a:r>
            <a:r>
              <a:rPr lang="en-US" sz="2400" dirty="0"/>
              <a:t>and </a:t>
            </a:r>
            <a:r>
              <a:rPr lang="en-US" sz="2400" dirty="0" smtClean="0"/>
              <a:t>cash </a:t>
            </a:r>
            <a:r>
              <a:rPr lang="en-US" sz="2400" dirty="0"/>
              <a:t>flow of $100,000 per year, then the payback period is 3.0 years </a:t>
            </a:r>
            <a:endParaRPr lang="en-US" sz="2400" dirty="0" smtClean="0"/>
          </a:p>
          <a:p>
            <a:r>
              <a:rPr lang="en-US" sz="2400" dirty="0" smtClean="0"/>
              <a:t>Normally</a:t>
            </a:r>
            <a:r>
              <a:rPr lang="en-US" sz="2400" dirty="0"/>
              <a:t>, the </a:t>
            </a:r>
            <a:r>
              <a:rPr lang="en-US" sz="2400" dirty="0" smtClean="0"/>
              <a:t>project with </a:t>
            </a:r>
            <a:r>
              <a:rPr lang="en-US" sz="2400" dirty="0"/>
              <a:t>the shortest payback period will be </a:t>
            </a:r>
            <a:r>
              <a:rPr lang="en-US" sz="2400" dirty="0" smtClean="0"/>
              <a:t>chosen</a:t>
            </a:r>
            <a:endParaRPr lang="en-US" sz="24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897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41516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Payback Period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27</a:t>
            </a:fld>
            <a:endParaRPr lang="en-US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899017"/>
              </p:ext>
            </p:extLst>
          </p:nvPr>
        </p:nvGraphicFramePr>
        <p:xfrm>
          <a:off x="441367" y="1447800"/>
          <a:ext cx="8093033" cy="474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6" name="Document" r:id="rId3" imgW="7095913" imgH="4162159" progId="Word.Document.12">
                  <p:embed/>
                </p:oleObj>
              </mc:Choice>
              <mc:Fallback>
                <p:oleObj name="Document" r:id="rId3" imgW="7095913" imgH="41621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367" y="1447800"/>
                        <a:ext cx="8093033" cy="4747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4649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Payback Period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Project1 =10,000+10,000+10,000+20,000+1, 00,000=1, </a:t>
            </a:r>
            <a:r>
              <a:rPr lang="en-US" dirty="0" smtClean="0"/>
              <a:t>50,000</a:t>
            </a:r>
            <a:endParaRPr lang="en-US" dirty="0"/>
          </a:p>
          <a:p>
            <a:r>
              <a:rPr lang="en-US" dirty="0"/>
              <a:t>Project 2= </a:t>
            </a:r>
            <a:r>
              <a:rPr lang="en-US" dirty="0" smtClean="0"/>
              <a:t>2,00,000+2,00,000+2,00,000+2,00,000+3,00,000=11,000,00</a:t>
            </a:r>
            <a:endParaRPr lang="en-US" dirty="0"/>
          </a:p>
          <a:p>
            <a:r>
              <a:rPr lang="en-US" dirty="0"/>
              <a:t>Project 3= 30,000+30,000+30,000+30,000 + 75,000 =</a:t>
            </a:r>
            <a:r>
              <a:rPr lang="en-US" dirty="0" smtClean="0"/>
              <a:t>1,95,000</a:t>
            </a:r>
            <a:endParaRPr lang="en-US" dirty="0"/>
          </a:p>
          <a:p>
            <a:r>
              <a:rPr lang="en-US" i="1" dirty="0"/>
              <a:t>Average Net profit for project 1 per year is </a:t>
            </a:r>
            <a:r>
              <a:rPr lang="en-US" i="1" dirty="0" smtClean="0"/>
              <a:t>30,000</a:t>
            </a:r>
            <a:endParaRPr lang="en-US" dirty="0"/>
          </a:p>
          <a:p>
            <a:r>
              <a:rPr lang="en-US" i="1" dirty="0"/>
              <a:t>Average Net profit for project 2 per year is </a:t>
            </a:r>
            <a:r>
              <a:rPr lang="en-US" i="1" dirty="0" smtClean="0"/>
              <a:t>2,20,000</a:t>
            </a:r>
            <a:endParaRPr lang="en-US" dirty="0"/>
          </a:p>
          <a:p>
            <a:r>
              <a:rPr lang="en-US" i="1" dirty="0"/>
              <a:t>Average Net profit for project 3 per year is 39,000</a:t>
            </a:r>
            <a:endParaRPr lang="en-US" dirty="0"/>
          </a:p>
          <a:p>
            <a:r>
              <a:rPr lang="en-US" b="1" dirty="0"/>
              <a:t>Pay Back Period</a:t>
            </a:r>
            <a:r>
              <a:rPr lang="en-US" b="1" dirty="0" smtClean="0"/>
              <a:t>:</a:t>
            </a:r>
            <a:endParaRPr lang="en-US" dirty="0"/>
          </a:p>
          <a:p>
            <a:pPr lvl="1"/>
            <a:r>
              <a:rPr lang="en-US" dirty="0"/>
              <a:t>Project 1: 1,00,000/30,000 =3.33 yrs. </a:t>
            </a:r>
            <a:endParaRPr lang="en-US" dirty="0" smtClean="0"/>
          </a:p>
          <a:p>
            <a:pPr lvl="1"/>
            <a:r>
              <a:rPr lang="en-US" dirty="0" smtClean="0"/>
              <a:t>Project </a:t>
            </a:r>
            <a:r>
              <a:rPr lang="en-US" dirty="0"/>
              <a:t>2: 10,00,000/2,20,000=4.5 </a:t>
            </a:r>
            <a:r>
              <a:rPr lang="en-US" dirty="0" err="1"/>
              <a:t>yrs</a:t>
            </a:r>
            <a:r>
              <a:rPr lang="en-US" dirty="0"/>
              <a:t> </a:t>
            </a:r>
            <a:endParaRPr lang="en-US" dirty="0" smtClean="0"/>
          </a:p>
          <a:p>
            <a:pPr lvl="1"/>
            <a:r>
              <a:rPr lang="en-US" dirty="0" smtClean="0"/>
              <a:t>Project </a:t>
            </a:r>
            <a:r>
              <a:rPr lang="en-US" dirty="0"/>
              <a:t>3: 1,20,000/39,000= 3.07 yrs.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92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Qns</a:t>
            </a:r>
            <a:r>
              <a:rPr lang="en-US" sz="3200" dirty="0"/>
              <a:t> type 1 – </a:t>
            </a:r>
            <a:r>
              <a:rPr lang="en-US" sz="3200" dirty="0">
                <a:solidFill>
                  <a:srgbClr val="FF0000"/>
                </a:solidFill>
              </a:rPr>
              <a:t>equal cash inflow over the years</a:t>
            </a:r>
            <a:r>
              <a:rPr lang="en-US" sz="3200" dirty="0"/>
              <a:t/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990600"/>
            <a:ext cx="8096250" cy="503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841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Soln</a:t>
            </a:r>
            <a:r>
              <a:rPr lang="en-US" dirty="0"/>
              <a:t> -</a:t>
            </a:r>
            <a:r>
              <a:rPr lang="en-US" dirty="0">
                <a:solidFill>
                  <a:srgbClr val="FF0000"/>
                </a:solidFill>
              </a:rPr>
              <a:t> equal cash inflow over the years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204" y="1295400"/>
            <a:ext cx="8234071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658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1516"/>
            <a:ext cx="8381999" cy="1075898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Imp such </a:t>
            </a:r>
            <a:r>
              <a:rPr lang="en-US" sz="3200" dirty="0" err="1">
                <a:solidFill>
                  <a:srgbClr val="FF0000"/>
                </a:solidFill>
              </a:rPr>
              <a:t>qns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3200" dirty="0" err="1">
                <a:solidFill>
                  <a:srgbClr val="FF0000"/>
                </a:solidFill>
              </a:rPr>
              <a:t>Qns</a:t>
            </a:r>
            <a:r>
              <a:rPr lang="en-US" sz="3200" dirty="0">
                <a:solidFill>
                  <a:srgbClr val="FF0000"/>
                </a:solidFill>
              </a:rPr>
              <a:t> type 2</a:t>
            </a:r>
            <a:r>
              <a:rPr lang="en-US" sz="3200" dirty="0"/>
              <a:t> – when cash inflow are unequal and the added value don’t match the outflow /outlay sum over the exact years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2133600"/>
            <a:ext cx="8381999" cy="38100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Calculate the payback period for a project which require a cash outlay of 20k and generate the cash inflow of 8k, 7k, 4k and 3k</a:t>
            </a:r>
          </a:p>
          <a:p>
            <a:pPr marL="0" indent="0">
              <a:buNone/>
            </a:pPr>
            <a:r>
              <a:rPr lang="en-US" sz="2800" u="sng" dirty="0" smtClean="0"/>
              <a:t>Solution</a:t>
            </a:r>
          </a:p>
          <a:p>
            <a:pPr lvl="1"/>
            <a:r>
              <a:rPr lang="en-US" sz="2400" dirty="0" smtClean="0"/>
              <a:t>Cash inflow for the first 3 years = 8k+7k+4k=19k</a:t>
            </a:r>
          </a:p>
          <a:p>
            <a:pPr lvl="1"/>
            <a:r>
              <a:rPr lang="en-US" sz="2400" dirty="0" smtClean="0"/>
              <a:t>In the fourth year amount need to recover =20k-19k =1 k</a:t>
            </a:r>
          </a:p>
          <a:p>
            <a:pPr lvl="1"/>
            <a:r>
              <a:rPr lang="en-US" sz="2400" dirty="0" smtClean="0"/>
              <a:t>Actual cash inflow in the fourth year =3 k</a:t>
            </a:r>
          </a:p>
          <a:p>
            <a:pPr lvl="1"/>
            <a:r>
              <a:rPr lang="en-US" sz="2400" dirty="0"/>
              <a:t> </a:t>
            </a:r>
            <a:r>
              <a:rPr lang="en-US" sz="2400" dirty="0" smtClean="0"/>
              <a:t>so payback period = 3 years + (1k /3k) * 12 months = 3 years 4 months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51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17716"/>
            <a:ext cx="8381999" cy="780195"/>
          </a:xfrm>
        </p:spPr>
        <p:txBody>
          <a:bodyPr>
            <a:noAutofit/>
          </a:bodyPr>
          <a:lstStyle/>
          <a:p>
            <a:r>
              <a:rPr lang="en-US" sz="2800" dirty="0" smtClean="0"/>
              <a:t>Exercise </a:t>
            </a:r>
            <a:r>
              <a:rPr lang="en-US" sz="2800" dirty="0" smtClean="0">
                <a:sym typeface="Wingdings" pitchFamily="2" charset="2"/>
              </a:rPr>
              <a:t></a:t>
            </a:r>
            <a:r>
              <a:rPr lang="en-US" sz="2800" dirty="0" smtClean="0"/>
              <a:t>Consider </a:t>
            </a:r>
            <a:r>
              <a:rPr lang="en-US" sz="2800" dirty="0"/>
              <a:t>the four project cash </a:t>
            </a:r>
            <a:r>
              <a:rPr lang="en-US" sz="2800" dirty="0" smtClean="0"/>
              <a:t>flows </a:t>
            </a:r>
            <a:r>
              <a:rPr lang="en-US" sz="2800" dirty="0"/>
              <a:t>given in Table </a:t>
            </a:r>
            <a:r>
              <a:rPr lang="en-US" sz="2800" dirty="0" smtClean="0"/>
              <a:t>and </a:t>
            </a:r>
            <a:r>
              <a:rPr lang="en-US" sz="2800" dirty="0"/>
              <a:t>calculate the payback period for each of</a:t>
            </a:r>
            <a:br>
              <a:rPr lang="en-US" sz="2800" dirty="0"/>
            </a:br>
            <a:r>
              <a:rPr lang="en-US" sz="2800" dirty="0" smtClean="0"/>
              <a:t>them and rank them according to payback periods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837896"/>
            <a:ext cx="8381999" cy="4105703"/>
          </a:xfrm>
        </p:spPr>
        <p:txBody>
          <a:bodyPr>
            <a:normAutofit/>
          </a:bodyPr>
          <a:lstStyle/>
          <a:p>
            <a:r>
              <a:rPr lang="en-US" dirty="0"/>
              <a:t>the cash </a:t>
            </a:r>
            <a:r>
              <a:rPr lang="en-US" dirty="0" smtClean="0"/>
              <a:t>flows take </a:t>
            </a:r>
            <a:r>
              <a:rPr lang="en-US" dirty="0"/>
              <a:t>place at the end of each year.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38" y="2438400"/>
            <a:ext cx="7793182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1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Answer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payback periods for each of the projects will occur during the year indicated: </a:t>
            </a:r>
          </a:p>
          <a:p>
            <a:r>
              <a:rPr lang="en-US" dirty="0"/>
              <a:t>project 1, </a:t>
            </a:r>
            <a:r>
              <a:rPr lang="en-US" dirty="0" smtClean="0"/>
              <a:t>4 year 6 months;</a:t>
            </a:r>
            <a:endParaRPr lang="en-US" dirty="0"/>
          </a:p>
          <a:p>
            <a:r>
              <a:rPr lang="en-US" dirty="0" smtClean="0"/>
              <a:t>project </a:t>
            </a:r>
            <a:r>
              <a:rPr lang="en-US" dirty="0"/>
              <a:t>2, </a:t>
            </a:r>
            <a:r>
              <a:rPr lang="en-US" dirty="0" smtClean="0"/>
              <a:t>4 year 8 months; </a:t>
            </a:r>
            <a:endParaRPr lang="en-US" dirty="0"/>
          </a:p>
          <a:p>
            <a:r>
              <a:rPr lang="en-US" dirty="0"/>
              <a:t>project 3, </a:t>
            </a:r>
            <a:r>
              <a:rPr lang="en-US" dirty="0" smtClean="0"/>
              <a:t>3 year 4 months </a:t>
            </a:r>
            <a:endParaRPr lang="en-US" dirty="0"/>
          </a:p>
          <a:p>
            <a:r>
              <a:rPr lang="en-US" dirty="0"/>
              <a:t>and project 4, </a:t>
            </a:r>
            <a:r>
              <a:rPr lang="en-US" dirty="0" smtClean="0"/>
              <a:t>4 years.</a:t>
            </a:r>
            <a:endParaRPr lang="en-US" dirty="0"/>
          </a:p>
          <a:p>
            <a:r>
              <a:rPr lang="en-US" b="1" dirty="0"/>
              <a:t>We would therefore </a:t>
            </a:r>
            <a:r>
              <a:rPr lang="en-US" b="1" dirty="0" err="1"/>
              <a:t>favour</a:t>
            </a:r>
            <a:r>
              <a:rPr lang="en-US" b="1" dirty="0"/>
              <a:t> project 3 </a:t>
            </a:r>
            <a:r>
              <a:rPr lang="en-US" b="1" dirty="0" smtClean="0"/>
              <a:t>over </a:t>
            </a:r>
            <a:r>
              <a:rPr lang="en-US" b="1" dirty="0"/>
              <a:t>the other </a:t>
            </a:r>
            <a:r>
              <a:rPr lang="en-US" b="1" dirty="0" smtClean="0"/>
              <a:t>three.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08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Payback Period Advantage and disadvantage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Advantage </a:t>
            </a:r>
            <a:r>
              <a:rPr lang="en-US" b="1" dirty="0">
                <a:sym typeface="Wingdings" pitchFamily="2" charset="2"/>
              </a:rPr>
              <a:t></a:t>
            </a:r>
            <a:r>
              <a:rPr lang="en-US" dirty="0"/>
              <a:t> simple to calculate and is not particularly sensitive to small forecasting errors. </a:t>
            </a:r>
          </a:p>
          <a:p>
            <a:r>
              <a:rPr lang="en-US" dirty="0">
                <a:solidFill>
                  <a:srgbClr val="FF0000"/>
                </a:solidFill>
              </a:rPr>
              <a:t>Disadvantage </a:t>
            </a:r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dirty="0"/>
              <a:t>ignores the overall profitability of the project – in fact, it totally ignores any income (or expenditure) once the project has broken even. </a:t>
            </a:r>
          </a:p>
          <a:p>
            <a:r>
              <a:rPr lang="en-US" dirty="0">
                <a:solidFill>
                  <a:srgbClr val="FF0000"/>
                </a:solidFill>
              </a:rPr>
              <a:t>Thus the fact that projects 2 and 4 are, overall, more profitable than project 3 is </a:t>
            </a:r>
            <a:r>
              <a:rPr lang="en-US" dirty="0" smtClean="0">
                <a:solidFill>
                  <a:srgbClr val="FF0000"/>
                </a:solidFill>
              </a:rPr>
              <a:t>ignored</a:t>
            </a:r>
            <a:r>
              <a:rPr lang="en-US" dirty="0" smtClean="0"/>
              <a:t>. See the table for this reasoning and analysis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970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41516"/>
            <a:ext cx="8381999" cy="780195"/>
          </a:xfrm>
        </p:spPr>
        <p:txBody>
          <a:bodyPr>
            <a:normAutofit/>
          </a:bodyPr>
          <a:lstStyle/>
          <a:p>
            <a:r>
              <a:rPr lang="en-US" dirty="0" smtClean="0"/>
              <a:t>Payback Period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u="sng" dirty="0" smtClean="0"/>
              <a:t>Project Selection Rule:</a:t>
            </a:r>
            <a:r>
              <a:rPr lang="en-US" dirty="0" smtClean="0"/>
              <a:t> Payback period is less than the maximum payback period set up by the management select the project</a:t>
            </a:r>
          </a:p>
          <a:p>
            <a:r>
              <a:rPr lang="en-US" b="1" u="sng" dirty="0" smtClean="0"/>
              <a:t>Pros</a:t>
            </a:r>
            <a:r>
              <a:rPr lang="en-US" b="1" u="sng" dirty="0"/>
              <a:t>:</a:t>
            </a:r>
            <a:endParaRPr lang="en-US" b="1" u="sng" dirty="0" smtClean="0"/>
          </a:p>
          <a:p>
            <a:pPr lvl="1"/>
            <a:r>
              <a:rPr lang="en-US" dirty="0" smtClean="0"/>
              <a:t>simple </a:t>
            </a:r>
            <a:r>
              <a:rPr lang="en-US" dirty="0"/>
              <a:t>and easy to calculate.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also a seriously flawed method of evaluating investments </a:t>
            </a:r>
            <a:endParaRPr lang="en-US" dirty="0" smtClean="0"/>
          </a:p>
          <a:p>
            <a:r>
              <a:rPr lang="en-US" b="1" u="sng" dirty="0" smtClean="0"/>
              <a:t>Cons:</a:t>
            </a:r>
            <a:endParaRPr lang="en-US" b="1" u="sng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attaches no value to cash flows after the end of the payback period.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makes no adjustments for risk.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is not directly related to wealth </a:t>
            </a:r>
            <a:r>
              <a:rPr lang="en-US" dirty="0" smtClean="0"/>
              <a:t>maximization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ignores the time value of </a:t>
            </a:r>
            <a:r>
              <a:rPr lang="en-US" dirty="0" smtClean="0"/>
              <a:t>money.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"cut off" period is arbitrary. 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ignores any benefits that occur after the payback period and, therefore, does not measure profitability.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3868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62402"/>
            <a:ext cx="8381999" cy="780195"/>
          </a:xfrm>
        </p:spPr>
        <p:txBody>
          <a:bodyPr>
            <a:noAutofit/>
          </a:bodyPr>
          <a:lstStyle/>
          <a:p>
            <a:r>
              <a:rPr lang="en-US" sz="4000" b="1" dirty="0" smtClean="0"/>
              <a:t>3. </a:t>
            </a:r>
            <a:r>
              <a:rPr lang="en-US" sz="4000" b="1" dirty="0"/>
              <a:t>Return on </a:t>
            </a:r>
            <a:r>
              <a:rPr lang="en-US" sz="4000" b="1" dirty="0" smtClean="0"/>
              <a:t>investment(ROI)/</a:t>
            </a:r>
            <a:r>
              <a:rPr lang="en-US" sz="4000" b="1" dirty="0"/>
              <a:t>A</a:t>
            </a:r>
            <a:r>
              <a:rPr lang="en-US" sz="4000" b="1" dirty="0" smtClean="0"/>
              <a:t>ccounting </a:t>
            </a:r>
            <a:r>
              <a:rPr lang="en-US" sz="4000" b="1" dirty="0"/>
              <a:t>rate of return (ARR)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/>
          <a:lstStyle/>
          <a:p>
            <a:r>
              <a:rPr lang="en-US" sz="2200" dirty="0"/>
              <a:t>provides a way </a:t>
            </a:r>
            <a:r>
              <a:rPr lang="en-US" sz="2200" dirty="0" smtClean="0"/>
              <a:t>of comparing </a:t>
            </a:r>
            <a:r>
              <a:rPr lang="en-US" sz="2200" dirty="0"/>
              <a:t>the net </a:t>
            </a:r>
            <a:r>
              <a:rPr lang="en-US" sz="2200" dirty="0" smtClean="0"/>
              <a:t>profitability </a:t>
            </a:r>
            <a:r>
              <a:rPr lang="en-US" sz="2200" dirty="0"/>
              <a:t>to the investment </a:t>
            </a:r>
            <a:r>
              <a:rPr lang="en-US" sz="2200" dirty="0" smtClean="0"/>
              <a:t>required</a:t>
            </a:r>
          </a:p>
          <a:p>
            <a:r>
              <a:rPr lang="en-US" sz="2200" dirty="0"/>
              <a:t>A performance measure used to evaluate the efficiency of an investment </a:t>
            </a:r>
            <a:endParaRPr lang="en-US" sz="2200" dirty="0" smtClean="0"/>
          </a:p>
          <a:p>
            <a:r>
              <a:rPr lang="en-US" sz="2200" dirty="0" smtClean="0"/>
              <a:t>Project with highest ROI is selected or preferred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240474"/>
            <a:ext cx="3505200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495800"/>
            <a:ext cx="6934200" cy="159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5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65316"/>
            <a:ext cx="8381999" cy="780195"/>
          </a:xfrm>
        </p:spPr>
        <p:txBody>
          <a:bodyPr>
            <a:noAutofit/>
          </a:bodyPr>
          <a:lstStyle/>
          <a:p>
            <a:r>
              <a:rPr lang="en-US" sz="2800" dirty="0"/>
              <a:t>Calculate the ROI for each of the other projects shown in Table </a:t>
            </a:r>
            <a:r>
              <a:rPr lang="en-US" sz="2800" dirty="0" smtClean="0"/>
              <a:t>and </a:t>
            </a:r>
            <a:r>
              <a:rPr lang="en-US" sz="2800" b="1" dirty="0">
                <a:solidFill>
                  <a:srgbClr val="FF0000"/>
                </a:solidFill>
              </a:rPr>
              <a:t>decide which, on the basis of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this criterion, is the most worthwhile.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sz="2400" dirty="0" smtClean="0"/>
              <a:t>The </a:t>
            </a:r>
            <a:r>
              <a:rPr lang="en-US" sz="2400" dirty="0"/>
              <a:t>return on investments for each of the projects is – project 1: 10%, project 2: 2%, project 3: 10% </a:t>
            </a:r>
            <a:r>
              <a:rPr lang="en-US" sz="2400" dirty="0" smtClean="0"/>
              <a:t>and project </a:t>
            </a:r>
            <a:r>
              <a:rPr lang="en-US" sz="2400" dirty="0"/>
              <a:t>4: 12.5%. </a:t>
            </a:r>
            <a:endParaRPr lang="en-US" sz="2400" dirty="0" smtClean="0"/>
          </a:p>
          <a:p>
            <a:r>
              <a:rPr lang="en-US" sz="2400" dirty="0" smtClean="0"/>
              <a:t>Project </a:t>
            </a:r>
            <a:r>
              <a:rPr lang="en-US" sz="2400" dirty="0"/>
              <a:t>4 therefore stands out as being the most </a:t>
            </a:r>
            <a:r>
              <a:rPr lang="en-US" sz="2400" dirty="0" smtClean="0"/>
              <a:t>beneficial </a:t>
            </a:r>
            <a:r>
              <a:rPr lang="en-US" sz="2400" dirty="0"/>
              <a:t>as it earns the highest return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4&gt;3&gt;1&gt;2</a:t>
            </a:r>
            <a:endParaRPr lang="en-US" sz="24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71600"/>
            <a:ext cx="7792889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092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721" y="541516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ROI/ARR Advantages and Disadvantages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Pros </a:t>
            </a:r>
            <a:r>
              <a:rPr lang="en-US" sz="2800" dirty="0" smtClean="0">
                <a:sym typeface="Wingdings" pitchFamily="2" charset="2"/>
              </a:rPr>
              <a:t> </a:t>
            </a:r>
            <a:r>
              <a:rPr lang="en-US" sz="2800" dirty="0" smtClean="0"/>
              <a:t>The </a:t>
            </a:r>
            <a:r>
              <a:rPr lang="en-US" sz="2800" dirty="0"/>
              <a:t>return on investment provides a simple, easy-to-calculate measure of return on capital. </a:t>
            </a:r>
            <a:endParaRPr lang="en-US" sz="2800" dirty="0" smtClean="0"/>
          </a:p>
          <a:p>
            <a:r>
              <a:rPr lang="en-US" sz="2800" dirty="0" smtClean="0">
                <a:solidFill>
                  <a:srgbClr val="FF0000"/>
                </a:solidFill>
              </a:rPr>
              <a:t>Cons </a:t>
            </a:r>
            <a:r>
              <a:rPr lang="en-US" sz="2800" dirty="0" smtClean="0">
                <a:solidFill>
                  <a:srgbClr val="FF0000"/>
                </a:solidFill>
                <a:sym typeface="Wingdings" pitchFamily="2" charset="2"/>
              </a:rPr>
              <a:t>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sz="2800" dirty="0" smtClean="0"/>
              <a:t>it </a:t>
            </a:r>
            <a:r>
              <a:rPr lang="en-US" sz="2800" dirty="0"/>
              <a:t>suffers from two severe disadvantages. </a:t>
            </a:r>
            <a:endParaRPr lang="en-US" sz="2800" dirty="0" smtClean="0"/>
          </a:p>
          <a:p>
            <a:pPr lvl="1"/>
            <a:r>
              <a:rPr lang="en-US" sz="2400" dirty="0" smtClean="0"/>
              <a:t>Like </a:t>
            </a:r>
            <a:r>
              <a:rPr lang="en-US" sz="2400" dirty="0"/>
              <a:t>the net </a:t>
            </a:r>
            <a:r>
              <a:rPr lang="en-US" sz="2400" dirty="0" smtClean="0"/>
              <a:t>profitability</a:t>
            </a:r>
            <a:r>
              <a:rPr lang="en-US" sz="2400" dirty="0"/>
              <a:t>, it takes no account of the timing of </a:t>
            </a:r>
            <a:r>
              <a:rPr lang="en-US" sz="2400" dirty="0" smtClean="0"/>
              <a:t>the cash flows</a:t>
            </a:r>
            <a:r>
              <a:rPr lang="en-US" sz="2400" dirty="0"/>
              <a:t>. </a:t>
            </a:r>
            <a:endParaRPr lang="en-US" sz="2400" dirty="0" smtClean="0"/>
          </a:p>
          <a:p>
            <a:pPr lvl="1"/>
            <a:r>
              <a:rPr lang="en-US" sz="2400" dirty="0" smtClean="0"/>
              <a:t>More </a:t>
            </a:r>
            <a:r>
              <a:rPr lang="en-US" sz="2400" dirty="0"/>
              <a:t>importantly, this rate of return bears no relationship to the interest rates offered or </a:t>
            </a:r>
            <a:r>
              <a:rPr lang="en-US" sz="2400" dirty="0" smtClean="0"/>
              <a:t>charged by </a:t>
            </a:r>
            <a:r>
              <a:rPr lang="en-US" sz="2400" dirty="0"/>
              <a:t>banks (or any other normal interest rate) since it takes no account of the timing of the cash </a:t>
            </a:r>
            <a:r>
              <a:rPr lang="en-US" sz="2400" dirty="0" smtClean="0"/>
              <a:t>flows </a:t>
            </a:r>
            <a:r>
              <a:rPr lang="en-US" sz="2400" dirty="0"/>
              <a:t>or of </a:t>
            </a:r>
            <a:r>
              <a:rPr lang="en-US" sz="2400" dirty="0" smtClean="0"/>
              <a:t>the compounding </a:t>
            </a:r>
            <a:r>
              <a:rPr lang="en-US" sz="2400" dirty="0"/>
              <a:t>of interest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 </a:t>
            </a:r>
            <a:r>
              <a:rPr lang="en-US" sz="2400" dirty="0"/>
              <a:t>It is therefore, potentially, very misleading.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96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4. Net </a:t>
            </a:r>
            <a:r>
              <a:rPr lang="en-US" b="1" dirty="0"/>
              <a:t>present value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39</a:t>
            </a:fld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334" y="1752600"/>
            <a:ext cx="4226466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553767" y="4189911"/>
            <a:ext cx="8188866" cy="19050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Tx/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project evaluation technique that takes into account the profitability of a project and the timing of the cash flows that are produced</a:t>
            </a:r>
          </a:p>
          <a:p>
            <a:r>
              <a:rPr lang="en-US" b="1" dirty="0" smtClean="0"/>
              <a:t>Sum of all incoming and outgoing payments, discounted using an interest rate, to a fixed point in time (the present)</a:t>
            </a:r>
          </a:p>
          <a:p>
            <a:r>
              <a:rPr lang="en-US" dirty="0" smtClean="0">
                <a:solidFill>
                  <a:srgbClr val="00B050"/>
                </a:solidFill>
              </a:rPr>
              <a:t>Money </a:t>
            </a:r>
            <a:r>
              <a:rPr lang="en-US" b="1" dirty="0">
                <a:solidFill>
                  <a:srgbClr val="00B050"/>
                </a:solidFill>
              </a:rPr>
              <a:t>now</a:t>
            </a:r>
            <a:r>
              <a:rPr lang="en-US" dirty="0">
                <a:solidFill>
                  <a:srgbClr val="00B050"/>
                </a:solidFill>
              </a:rPr>
              <a:t> is more valuable than money </a:t>
            </a:r>
            <a:r>
              <a:rPr lang="en-US" b="1" dirty="0">
                <a:solidFill>
                  <a:srgbClr val="00B050"/>
                </a:solidFill>
              </a:rPr>
              <a:t>later on</a:t>
            </a:r>
            <a:r>
              <a:rPr lang="en-US" dirty="0">
                <a:solidFill>
                  <a:srgbClr val="00B050"/>
                </a:solidFill>
              </a:rPr>
              <a:t>. </a:t>
            </a:r>
          </a:p>
          <a:p>
            <a:endParaRPr lang="en-US" sz="2400" b="1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294311"/>
            <a:ext cx="4114799" cy="28956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Net </a:t>
            </a:r>
            <a:r>
              <a:rPr lang="en-US" sz="2400" dirty="0"/>
              <a:t>present value (NPV) analysis is </a:t>
            </a:r>
            <a:r>
              <a:rPr lang="en-US" sz="2400" dirty="0">
                <a:solidFill>
                  <a:srgbClr val="FF0000"/>
                </a:solidFill>
              </a:rPr>
              <a:t>a method of calculating the </a:t>
            </a:r>
            <a:r>
              <a:rPr lang="en-US" sz="2400" dirty="0">
                <a:solidFill>
                  <a:srgbClr val="00B0F0"/>
                </a:solidFill>
              </a:rPr>
              <a:t>expected net monetary gain or loss</a:t>
            </a:r>
            <a:r>
              <a:rPr lang="en-US" sz="2400" dirty="0">
                <a:solidFill>
                  <a:srgbClr val="FF0000"/>
                </a:solidFill>
              </a:rPr>
              <a:t> from a project </a:t>
            </a:r>
            <a:r>
              <a:rPr lang="en-US" sz="2400" u="sng" dirty="0">
                <a:solidFill>
                  <a:srgbClr val="FF0000"/>
                </a:solidFill>
              </a:rPr>
              <a:t>by discounting all expected future cash inflows and outflows to the present point in </a:t>
            </a:r>
            <a:r>
              <a:rPr lang="en-US" sz="2400" u="sng" dirty="0" smtClean="0">
                <a:solidFill>
                  <a:srgbClr val="FF0000"/>
                </a:solidFill>
              </a:rPr>
              <a:t>time.</a:t>
            </a:r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2400" dirty="0" smtClean="0"/>
              <a:t>It </a:t>
            </a:r>
            <a:r>
              <a:rPr lang="en-US" sz="2400" dirty="0"/>
              <a:t>allows you to calculate an accurate value for the project in today’s </a:t>
            </a:r>
            <a:r>
              <a:rPr lang="en-US" sz="2400" dirty="0" smtClean="0"/>
              <a:t>price.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32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NPV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19200"/>
            <a:ext cx="8381999" cy="5029200"/>
          </a:xfrm>
        </p:spPr>
        <p:txBody>
          <a:bodyPr>
            <a:normAutofit/>
          </a:bodyPr>
          <a:lstStyle/>
          <a:p>
            <a:r>
              <a:rPr lang="en-US" dirty="0"/>
              <a:t>Let us say you can get 10% interest on your money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So $1,000 now could earn $1,000 x 10% = </a:t>
            </a:r>
            <a:r>
              <a:rPr lang="en-US" b="1" dirty="0"/>
              <a:t>$100 </a:t>
            </a:r>
            <a:r>
              <a:rPr lang="en-US" dirty="0"/>
              <a:t>in a year. Your </a:t>
            </a:r>
            <a:r>
              <a:rPr lang="en-US" b="1" dirty="0"/>
              <a:t>$1,000 now </a:t>
            </a:r>
            <a:r>
              <a:rPr lang="en-US" dirty="0"/>
              <a:t>would become </a:t>
            </a:r>
            <a:r>
              <a:rPr lang="en-US" b="1" dirty="0"/>
              <a:t>$1,100 by next year</a:t>
            </a:r>
            <a:r>
              <a:rPr lang="en-US" dirty="0"/>
              <a:t>.</a:t>
            </a:r>
          </a:p>
          <a:p>
            <a:r>
              <a:rPr lang="en-US" dirty="0"/>
              <a:t>So </a:t>
            </a:r>
            <a:r>
              <a:rPr lang="en-US" b="1" dirty="0"/>
              <a:t>$1,100 next year </a:t>
            </a:r>
            <a:r>
              <a:rPr lang="en-US" dirty="0"/>
              <a:t>is the same as </a:t>
            </a:r>
            <a:r>
              <a:rPr lang="en-US" b="1" dirty="0"/>
              <a:t>$1,000 now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So We </a:t>
            </a:r>
            <a:r>
              <a:rPr lang="en-US" dirty="0"/>
              <a:t>say the </a:t>
            </a:r>
            <a:r>
              <a:rPr lang="en-US" b="1" dirty="0"/>
              <a:t>Present Value </a:t>
            </a:r>
            <a:r>
              <a:rPr lang="en-US" dirty="0"/>
              <a:t>of $1,100 next year is </a:t>
            </a:r>
            <a:r>
              <a:rPr lang="en-US" b="1" dirty="0"/>
              <a:t>$1,000</a:t>
            </a: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40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406775"/>
            <a:ext cx="27432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086100"/>
            <a:ext cx="3008526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323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NPV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 fontScale="475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sz="4400" dirty="0"/>
          </a:p>
          <a:p>
            <a:r>
              <a:rPr lang="en-US" sz="4400" dirty="0" smtClean="0"/>
              <a:t>where </a:t>
            </a:r>
            <a:r>
              <a:rPr lang="en-US" sz="4400" i="1" dirty="0"/>
              <a:t>r </a:t>
            </a:r>
            <a:r>
              <a:rPr lang="en-US" sz="4400" dirty="0"/>
              <a:t>is the discount rate, expressed as a decimal value, and </a:t>
            </a:r>
            <a:r>
              <a:rPr lang="en-US" sz="4400" i="1" dirty="0"/>
              <a:t>t </a:t>
            </a:r>
            <a:r>
              <a:rPr lang="en-US" sz="4400" dirty="0"/>
              <a:t>is the number of years into the future that </a:t>
            </a:r>
            <a:r>
              <a:rPr lang="en-US" sz="4400" dirty="0" smtClean="0"/>
              <a:t>the cash flow </a:t>
            </a:r>
            <a:r>
              <a:rPr lang="en-US" sz="4400" dirty="0"/>
              <a:t>occurs</a:t>
            </a:r>
            <a:r>
              <a:rPr lang="en-US" sz="4400" dirty="0" smtClean="0"/>
              <a:t>.</a:t>
            </a:r>
          </a:p>
          <a:p>
            <a:r>
              <a:rPr lang="en-US" sz="4400" b="1" dirty="0" smtClean="0"/>
              <a:t>The </a:t>
            </a:r>
            <a:r>
              <a:rPr lang="en-US" sz="4400" b="1" dirty="0"/>
              <a:t>NPV for a project is obtained by </a:t>
            </a:r>
            <a:r>
              <a:rPr lang="en-US" sz="4400" b="1" dirty="0" smtClean="0"/>
              <a:t>:</a:t>
            </a:r>
          </a:p>
          <a:p>
            <a:pPr lvl="1"/>
            <a:r>
              <a:rPr lang="en-US" sz="4200" b="1" dirty="0" smtClean="0"/>
              <a:t>discounting </a:t>
            </a:r>
            <a:r>
              <a:rPr lang="en-US" sz="4200" b="1" dirty="0"/>
              <a:t>each cash </a:t>
            </a:r>
            <a:r>
              <a:rPr lang="en-US" sz="4200" b="1" dirty="0" smtClean="0"/>
              <a:t>flow </a:t>
            </a:r>
            <a:r>
              <a:rPr lang="en-US" sz="4200" b="1" dirty="0"/>
              <a:t>(both </a:t>
            </a:r>
            <a:r>
              <a:rPr lang="en-US" sz="4200" b="1" dirty="0" smtClean="0"/>
              <a:t>negative and </a:t>
            </a:r>
            <a:r>
              <a:rPr lang="en-US" sz="4200" b="1" dirty="0"/>
              <a:t>positive</a:t>
            </a:r>
            <a:r>
              <a:rPr lang="en-US" sz="4200" b="1" dirty="0" smtClean="0"/>
              <a:t>)</a:t>
            </a:r>
          </a:p>
          <a:p>
            <a:pPr lvl="1"/>
            <a:r>
              <a:rPr lang="en-US" sz="4200" b="1" dirty="0" smtClean="0"/>
              <a:t>and </a:t>
            </a:r>
            <a:r>
              <a:rPr lang="en-US" sz="4200" b="1" dirty="0"/>
              <a:t>summing the discounted values. </a:t>
            </a:r>
            <a:endParaRPr lang="en-US" sz="4200" b="1" dirty="0" smtClean="0"/>
          </a:p>
          <a:p>
            <a:r>
              <a:rPr lang="en-US" sz="4700" dirty="0"/>
              <a:t>Net Present Value (NPV) is the difference between the present value of cash inflows and the present value of cash outflows. </a:t>
            </a:r>
            <a:endParaRPr lang="en-US" sz="4700" b="1" dirty="0" smtClean="0"/>
          </a:p>
          <a:p>
            <a:r>
              <a:rPr lang="en-US" sz="4400" dirty="0" smtClean="0">
                <a:solidFill>
                  <a:srgbClr val="FF0000"/>
                </a:solidFill>
              </a:rPr>
              <a:t>It </a:t>
            </a:r>
            <a:r>
              <a:rPr lang="en-US" sz="4400" dirty="0">
                <a:solidFill>
                  <a:srgbClr val="FF0000"/>
                </a:solidFill>
              </a:rPr>
              <a:t>is normally assumed that </a:t>
            </a:r>
            <a:r>
              <a:rPr lang="en-US" sz="4400" dirty="0" smtClean="0">
                <a:solidFill>
                  <a:srgbClr val="FF0000"/>
                </a:solidFill>
              </a:rPr>
              <a:t>any initial </a:t>
            </a:r>
            <a:r>
              <a:rPr lang="en-US" sz="4400" dirty="0">
                <a:solidFill>
                  <a:srgbClr val="FF0000"/>
                </a:solidFill>
              </a:rPr>
              <a:t>investment takes place immediately (indicated as year 0) and is not discounted.</a:t>
            </a:r>
          </a:p>
          <a:p>
            <a:r>
              <a:rPr lang="en-US" sz="4400" dirty="0">
                <a:solidFill>
                  <a:srgbClr val="0070C0"/>
                </a:solidFill>
              </a:rPr>
              <a:t>Later cash </a:t>
            </a:r>
            <a:r>
              <a:rPr lang="en-US" sz="4400" dirty="0" smtClean="0">
                <a:solidFill>
                  <a:srgbClr val="0070C0"/>
                </a:solidFill>
              </a:rPr>
              <a:t>flows </a:t>
            </a:r>
            <a:r>
              <a:rPr lang="en-US" sz="4400" dirty="0">
                <a:solidFill>
                  <a:srgbClr val="0070C0"/>
                </a:solidFill>
              </a:rPr>
              <a:t>are normally assumed to take place at the end of each year and </a:t>
            </a:r>
            <a:r>
              <a:rPr lang="en-US" sz="4400" dirty="0" smtClean="0">
                <a:solidFill>
                  <a:srgbClr val="0070C0"/>
                </a:solidFill>
              </a:rPr>
              <a:t>are discounted </a:t>
            </a:r>
            <a:r>
              <a:rPr lang="en-US" sz="4400" dirty="0">
                <a:solidFill>
                  <a:srgbClr val="0070C0"/>
                </a:solidFill>
              </a:rPr>
              <a:t>by the appropriate amount.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75" y="1236414"/>
            <a:ext cx="5715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8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34948"/>
            <a:ext cx="8381999" cy="780195"/>
          </a:xfrm>
        </p:spPr>
        <p:txBody>
          <a:bodyPr>
            <a:noAutofit/>
          </a:bodyPr>
          <a:lstStyle/>
          <a:p>
            <a:r>
              <a:rPr lang="en-US" sz="2800" b="1" dirty="0" smtClean="0"/>
              <a:t/>
            </a:r>
            <a:br>
              <a:rPr lang="en-US" sz="2800" b="1" dirty="0" smtClean="0"/>
            </a:br>
            <a:r>
              <a:rPr lang="en-US" sz="2800" b="1" dirty="0" smtClean="0"/>
              <a:t>Net </a:t>
            </a:r>
            <a:r>
              <a:rPr lang="en-US" sz="2800" b="1" dirty="0"/>
              <a:t>present </a:t>
            </a:r>
            <a:r>
              <a:rPr lang="en-US" sz="2800" b="1" dirty="0" smtClean="0"/>
              <a:t>value</a:t>
            </a:r>
            <a:r>
              <a:rPr lang="en-US" sz="2800" dirty="0">
                <a:sym typeface="Wingdings" pitchFamily="2" charset="2"/>
              </a:rPr>
              <a:t> </a:t>
            </a:r>
            <a:r>
              <a:rPr lang="en-US" sz="2800" dirty="0"/>
              <a:t>£ </a:t>
            </a:r>
            <a:r>
              <a:rPr lang="en-US" sz="2800" b="1" dirty="0" smtClean="0">
                <a:sym typeface="Wingdings" pitchFamily="2" charset="2"/>
              </a:rPr>
              <a:t>100 now or </a:t>
            </a:r>
            <a:r>
              <a:rPr lang="en-US" sz="2800" dirty="0"/>
              <a:t>£ </a:t>
            </a:r>
            <a:r>
              <a:rPr lang="en-US" sz="2800" b="1" dirty="0" smtClean="0">
                <a:sym typeface="Wingdings" pitchFamily="2" charset="2"/>
              </a:rPr>
              <a:t>100 after a year</a:t>
            </a:r>
            <a:br>
              <a:rPr lang="en-US" sz="2800" b="1" dirty="0" smtClean="0">
                <a:sym typeface="Wingdings" pitchFamily="2" charset="2"/>
              </a:rPr>
            </a:br>
            <a:r>
              <a:rPr lang="en-US" sz="2800" b="1" dirty="0">
                <a:sym typeface="Wingdings" pitchFamily="2" charset="2"/>
              </a:rPr>
              <a:t>Which would you choose and why??</a:t>
            </a:r>
            <a:br>
              <a:rPr lang="en-US" sz="2800" b="1" dirty="0">
                <a:sym typeface="Wingdings" pitchFamily="2" charset="2"/>
              </a:rPr>
            </a:b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025045"/>
            <a:ext cx="8381999" cy="5181600"/>
          </a:xfrm>
        </p:spPr>
        <p:txBody>
          <a:bodyPr>
            <a:noAutofit/>
          </a:bodyPr>
          <a:lstStyle/>
          <a:p>
            <a:endParaRPr lang="en-US" sz="400" b="1" dirty="0" smtClean="0"/>
          </a:p>
          <a:p>
            <a:r>
              <a:rPr lang="en-US" sz="1800" b="1" dirty="0" smtClean="0"/>
              <a:t>Receiving </a:t>
            </a:r>
            <a:r>
              <a:rPr lang="en-US" sz="1800" b="1" dirty="0"/>
              <a:t>£100 today is better than having to wait </a:t>
            </a:r>
            <a:r>
              <a:rPr lang="en-US" sz="1800" b="1" dirty="0" smtClean="0"/>
              <a:t>until next </a:t>
            </a:r>
            <a:r>
              <a:rPr lang="en-US" sz="1800" b="1" dirty="0"/>
              <a:t>year to receive it.</a:t>
            </a:r>
            <a:r>
              <a:rPr lang="en-US" sz="1800" dirty="0"/>
              <a:t> </a:t>
            </a:r>
            <a:endParaRPr lang="en-US" sz="1800" dirty="0" smtClean="0"/>
          </a:p>
          <a:p>
            <a:r>
              <a:rPr lang="en-US" sz="1800" b="1" dirty="0" smtClean="0"/>
              <a:t>We </a:t>
            </a:r>
            <a:r>
              <a:rPr lang="en-US" sz="1800" b="1" dirty="0"/>
              <a:t>could, for example, invest the £100 in a bank today </a:t>
            </a:r>
            <a:r>
              <a:rPr lang="en-US" sz="1800" b="1" dirty="0" smtClean="0"/>
              <a:t>and have </a:t>
            </a:r>
            <a:r>
              <a:rPr lang="en-US" sz="1800" b="1" dirty="0"/>
              <a:t>£100 plus the interest in a year’s time</a:t>
            </a:r>
            <a:r>
              <a:rPr lang="en-US" sz="1800" b="1" dirty="0" smtClean="0"/>
              <a:t>.</a:t>
            </a:r>
          </a:p>
          <a:p>
            <a:r>
              <a:rPr lang="en-US" b="1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If we say that the </a:t>
            </a:r>
            <a:r>
              <a:rPr lang="en-US" b="1" i="1" dirty="0">
                <a:solidFill>
                  <a:srgbClr val="FF0000"/>
                </a:solidFill>
              </a:rPr>
              <a:t>present value </a:t>
            </a:r>
            <a:r>
              <a:rPr lang="en-US" b="1" dirty="0">
                <a:solidFill>
                  <a:srgbClr val="FF0000"/>
                </a:solidFill>
              </a:rPr>
              <a:t>of £</a:t>
            </a:r>
            <a:r>
              <a:rPr lang="en-US" b="1" dirty="0" smtClean="0">
                <a:solidFill>
                  <a:srgbClr val="FF0000"/>
                </a:solidFill>
              </a:rPr>
              <a:t>100 in </a:t>
            </a:r>
            <a:r>
              <a:rPr lang="en-US" b="1" dirty="0">
                <a:solidFill>
                  <a:srgbClr val="FF0000"/>
                </a:solidFill>
              </a:rPr>
              <a:t>a year’s time is £91, we mean that £100 in a year’s time is the equivalent of £</a:t>
            </a:r>
            <a:r>
              <a:rPr lang="en-US" b="1" dirty="0" smtClean="0">
                <a:solidFill>
                  <a:srgbClr val="FF0000"/>
                </a:solidFill>
              </a:rPr>
              <a:t>91 now</a:t>
            </a:r>
            <a:r>
              <a:rPr lang="en-US" b="1" dirty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/>
              <a:t>The equivalence of £91 now and £100 in a year’s time </a:t>
            </a:r>
            <a:r>
              <a:rPr lang="en-US" sz="1800" u="sng" dirty="0">
                <a:solidFill>
                  <a:srgbClr val="00B050"/>
                </a:solidFill>
              </a:rPr>
              <a:t>means we are discounting </a:t>
            </a:r>
            <a:r>
              <a:rPr lang="en-US" sz="1800" u="sng" dirty="0" smtClean="0">
                <a:solidFill>
                  <a:srgbClr val="00B050"/>
                </a:solidFill>
              </a:rPr>
              <a:t>the future </a:t>
            </a:r>
            <a:r>
              <a:rPr lang="en-US" sz="1800" u="sng" dirty="0">
                <a:solidFill>
                  <a:srgbClr val="00B050"/>
                </a:solidFill>
              </a:rPr>
              <a:t>income by approximately 10</a:t>
            </a:r>
            <a:r>
              <a:rPr lang="en-US" sz="1800" u="sng" dirty="0" smtClean="0">
                <a:solidFill>
                  <a:srgbClr val="00B050"/>
                </a:solidFill>
              </a:rPr>
              <a:t>%. (a good example of NPV)</a:t>
            </a:r>
          </a:p>
          <a:p>
            <a:r>
              <a:rPr lang="en-US" sz="1800" dirty="0" smtClean="0"/>
              <a:t> </a:t>
            </a:r>
            <a:r>
              <a:rPr lang="en-US" sz="1800" b="1" dirty="0"/>
              <a:t>If we received £91 now and invested it for </a:t>
            </a:r>
            <a:r>
              <a:rPr lang="en-US" sz="1800" b="1" dirty="0" smtClean="0"/>
              <a:t>a year </a:t>
            </a:r>
            <a:r>
              <a:rPr lang="en-US" sz="1800" b="1" dirty="0"/>
              <a:t>at an annual interest rate of 10%, it would be worth £100 in a year’s time. </a:t>
            </a:r>
            <a:endParaRPr lang="en-US" sz="1800" b="1" dirty="0" smtClean="0"/>
          </a:p>
          <a:p>
            <a:r>
              <a:rPr lang="en-US" sz="1800" dirty="0" smtClean="0"/>
              <a:t>The</a:t>
            </a:r>
            <a:r>
              <a:rPr lang="en-US" sz="1800" dirty="0"/>
              <a:t> </a:t>
            </a:r>
            <a:r>
              <a:rPr lang="en-US" sz="1800" dirty="0" smtClean="0"/>
              <a:t>annual </a:t>
            </a:r>
            <a:r>
              <a:rPr lang="en-US" sz="1800" dirty="0"/>
              <a:t>rate by which we discount future earnings is known as the </a:t>
            </a:r>
            <a:r>
              <a:rPr lang="en-US" sz="1800" i="1" dirty="0"/>
              <a:t>discount rate </a:t>
            </a:r>
            <a:r>
              <a:rPr lang="en-US" sz="1800" dirty="0"/>
              <a:t>– </a:t>
            </a:r>
            <a:r>
              <a:rPr lang="en-US" sz="1800" dirty="0" smtClean="0"/>
              <a:t>10% in </a:t>
            </a:r>
            <a:r>
              <a:rPr lang="en-US" sz="1800" dirty="0"/>
              <a:t>the above example.</a:t>
            </a:r>
          </a:p>
          <a:p>
            <a:r>
              <a:rPr lang="en-US" sz="1800" b="1" dirty="0">
                <a:solidFill>
                  <a:srgbClr val="00B050"/>
                </a:solidFill>
              </a:rPr>
              <a:t>Similarly, £100 received in two years’ time would have a present value of approximately</a:t>
            </a:r>
          </a:p>
          <a:p>
            <a:r>
              <a:rPr lang="en-US" sz="1800" dirty="0"/>
              <a:t>£83 – in other words, £83 invested at an interest rate of 10% would </a:t>
            </a:r>
            <a:r>
              <a:rPr lang="en-US" sz="1800" dirty="0" smtClean="0"/>
              <a:t>yield approximately </a:t>
            </a:r>
            <a:r>
              <a:rPr lang="en-US" sz="1800" dirty="0"/>
              <a:t>£100 in two years’ time.</a:t>
            </a:r>
            <a:endParaRPr lang="en-US" sz="9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512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9512"/>
            <a:ext cx="8381999" cy="780195"/>
          </a:xfrm>
        </p:spPr>
        <p:txBody>
          <a:bodyPr>
            <a:noAutofit/>
          </a:bodyPr>
          <a:lstStyle/>
          <a:p>
            <a:r>
              <a:rPr lang="en-US" sz="3600" dirty="0"/>
              <a:t>Projects with +</a:t>
            </a:r>
            <a:r>
              <a:rPr lang="en-US" sz="3600" dirty="0" err="1"/>
              <a:t>ve</a:t>
            </a:r>
            <a:r>
              <a:rPr lang="en-US" sz="3600" dirty="0"/>
              <a:t> NPV are to be accepted or higher NPV value are to be chosen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An organization should consider only projects with a positive NPV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dirty="0"/>
              <a:t>if financial value is a key criterion for project selection. </a:t>
            </a:r>
          </a:p>
          <a:p>
            <a:r>
              <a:rPr lang="en-US" dirty="0"/>
              <a:t>This is because a </a:t>
            </a:r>
            <a:r>
              <a:rPr lang="en-US" dirty="0">
                <a:solidFill>
                  <a:srgbClr val="FF0000"/>
                </a:solidFill>
              </a:rPr>
              <a:t>positive NPV means </a:t>
            </a:r>
            <a:r>
              <a:rPr lang="en-US" dirty="0"/>
              <a:t>the return from a project</a:t>
            </a:r>
            <a:r>
              <a:rPr lang="en-US" dirty="0">
                <a:solidFill>
                  <a:srgbClr val="FF0000"/>
                </a:solidFill>
              </a:rPr>
              <a:t> exceeds the </a:t>
            </a:r>
            <a:r>
              <a:rPr lang="en-US" b="1" dirty="0">
                <a:solidFill>
                  <a:srgbClr val="0070C0"/>
                </a:solidFill>
              </a:rPr>
              <a:t>cost of </a:t>
            </a:r>
            <a:r>
              <a:rPr lang="en-US" b="1" dirty="0" smtClean="0">
                <a:solidFill>
                  <a:srgbClr val="0070C0"/>
                </a:solidFill>
              </a:rPr>
              <a:t>capital(</a:t>
            </a:r>
            <a:r>
              <a:rPr lang="en-US" dirty="0" smtClean="0">
                <a:solidFill>
                  <a:srgbClr val="0070C0"/>
                </a:solidFill>
              </a:rPr>
              <a:t>the </a:t>
            </a:r>
            <a:r>
              <a:rPr lang="en-US" dirty="0">
                <a:solidFill>
                  <a:srgbClr val="0070C0"/>
                </a:solidFill>
              </a:rPr>
              <a:t>return available by investing the capital </a:t>
            </a:r>
            <a:r>
              <a:rPr lang="en-US" dirty="0" smtClean="0">
                <a:solidFill>
                  <a:srgbClr val="0070C0"/>
                </a:solidFill>
              </a:rPr>
              <a:t>elsewhere</a:t>
            </a:r>
            <a:r>
              <a:rPr lang="en-US" dirty="0">
                <a:solidFill>
                  <a:srgbClr val="0070C0"/>
                </a:solidFill>
              </a:rPr>
              <a:t>)</a:t>
            </a:r>
          </a:p>
          <a:p>
            <a:r>
              <a:rPr lang="en-US" dirty="0">
                <a:solidFill>
                  <a:srgbClr val="00B050"/>
                </a:solidFill>
              </a:rPr>
              <a:t>Projects with higher NPVs are preferred to projects with lower NPVs</a:t>
            </a:r>
            <a:r>
              <a:rPr lang="en-US" dirty="0"/>
              <a:t>, if all other factors are equal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948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Alternative way of NPV calculation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219200"/>
            <a:ext cx="8381999" cy="4724400"/>
          </a:xfrm>
        </p:spPr>
        <p:txBody>
          <a:bodyPr>
            <a:normAutofit/>
          </a:bodyPr>
          <a:lstStyle/>
          <a:p>
            <a:r>
              <a:rPr lang="en-US" dirty="0"/>
              <a:t>Alternatively, and rather more easily, </a:t>
            </a:r>
            <a:r>
              <a:rPr lang="en-US" b="1" dirty="0">
                <a:solidFill>
                  <a:srgbClr val="FF0000"/>
                </a:solidFill>
              </a:rPr>
              <a:t>the present value of a cash </a:t>
            </a:r>
            <a:r>
              <a:rPr lang="en-US" b="1" dirty="0" smtClean="0">
                <a:solidFill>
                  <a:srgbClr val="FF0000"/>
                </a:solidFill>
              </a:rPr>
              <a:t>flow </a:t>
            </a:r>
            <a:r>
              <a:rPr lang="en-US" b="1" dirty="0">
                <a:solidFill>
                  <a:srgbClr val="FF0000"/>
                </a:solidFill>
              </a:rPr>
              <a:t>may be calculated by multiplying the cash </a:t>
            </a:r>
            <a:r>
              <a:rPr lang="en-US" b="1" dirty="0" smtClean="0">
                <a:solidFill>
                  <a:srgbClr val="FF0000"/>
                </a:solidFill>
              </a:rPr>
              <a:t>flow </a:t>
            </a:r>
            <a:r>
              <a:rPr lang="en-US" b="1" dirty="0">
                <a:solidFill>
                  <a:srgbClr val="FF0000"/>
                </a:solidFill>
              </a:rPr>
              <a:t>by the appropriate discount factor.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A </a:t>
            </a:r>
            <a:r>
              <a:rPr lang="en-US" dirty="0"/>
              <a:t>small table of discount factors is given in Table </a:t>
            </a:r>
            <a:r>
              <a:rPr lang="en-US" dirty="0" smtClean="0"/>
              <a:t>below</a:t>
            </a:r>
            <a:endParaRPr lang="en-US" sz="4400" dirty="0"/>
          </a:p>
          <a:p>
            <a:endParaRPr lang="en-US" sz="1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410743"/>
            <a:ext cx="7086600" cy="38742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17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38" y="457200"/>
            <a:ext cx="893989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66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533400"/>
            <a:ext cx="817245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567344" y="3505200"/>
            <a:ext cx="79670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Using a 10% discount rate, calculate the net present values for projects 2, 3 and </a:t>
            </a:r>
            <a:r>
              <a:rPr lang="en-US" sz="2400" dirty="0" smtClean="0"/>
              <a:t>4 </a:t>
            </a:r>
            <a:r>
              <a:rPr lang="en-US" sz="2400" b="1" dirty="0" smtClean="0">
                <a:solidFill>
                  <a:srgbClr val="FF0000"/>
                </a:solidFill>
              </a:rPr>
              <a:t>and </a:t>
            </a:r>
            <a:r>
              <a:rPr lang="en-US" sz="2400" b="1" dirty="0">
                <a:solidFill>
                  <a:srgbClr val="FF0000"/>
                </a:solidFill>
              </a:rPr>
              <a:t>decide which, on the basis of this, is </a:t>
            </a:r>
            <a:r>
              <a:rPr lang="en-US" sz="2400" b="1" dirty="0" smtClean="0">
                <a:solidFill>
                  <a:srgbClr val="FF0000"/>
                </a:solidFill>
              </a:rPr>
              <a:t>the most </a:t>
            </a:r>
            <a:r>
              <a:rPr lang="en-US" sz="2400" b="1" dirty="0">
                <a:solidFill>
                  <a:srgbClr val="FF0000"/>
                </a:solidFill>
              </a:rPr>
              <a:t>beneficial to pursue.</a:t>
            </a:r>
            <a:endParaRPr lang="en-US" sz="2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41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is </a:t>
            </a:r>
            <a:r>
              <a:rPr lang="en-US" sz="2400" dirty="0">
                <a:solidFill>
                  <a:srgbClr val="FF0000"/>
                </a:solidFill>
              </a:rPr>
              <a:t>interesting to note that the net present values for projects 1 and 3 are </a:t>
            </a:r>
            <a:r>
              <a:rPr lang="en-US" sz="2400" dirty="0" smtClean="0">
                <a:solidFill>
                  <a:srgbClr val="FF0000"/>
                </a:solidFill>
              </a:rPr>
              <a:t>significantly </a:t>
            </a:r>
            <a:r>
              <a:rPr lang="en-US" sz="2400" dirty="0">
                <a:solidFill>
                  <a:srgbClr val="FF0000"/>
                </a:solidFill>
              </a:rPr>
              <a:t>different </a:t>
            </a:r>
            <a:r>
              <a:rPr lang="en-US" sz="2400" dirty="0"/>
              <a:t>– </a:t>
            </a:r>
            <a:r>
              <a:rPr lang="en-US" sz="2400" dirty="0">
                <a:solidFill>
                  <a:srgbClr val="00B050"/>
                </a:solidFill>
              </a:rPr>
              <a:t>even </a:t>
            </a:r>
            <a:r>
              <a:rPr lang="en-US" sz="2400" dirty="0" smtClean="0">
                <a:solidFill>
                  <a:srgbClr val="00B050"/>
                </a:solidFill>
              </a:rPr>
              <a:t>though they </a:t>
            </a:r>
            <a:r>
              <a:rPr lang="en-US" sz="2400" dirty="0">
                <a:solidFill>
                  <a:srgbClr val="00B050"/>
                </a:solidFill>
              </a:rPr>
              <a:t>both yield the same net </a:t>
            </a:r>
            <a:r>
              <a:rPr lang="en-US" sz="2400" dirty="0" smtClean="0">
                <a:solidFill>
                  <a:srgbClr val="00B050"/>
                </a:solidFill>
              </a:rPr>
              <a:t>profit </a:t>
            </a:r>
            <a:r>
              <a:rPr lang="en-US" sz="2400" dirty="0">
                <a:solidFill>
                  <a:srgbClr val="00B050"/>
                </a:solidFill>
              </a:rPr>
              <a:t>and both have the same return on investment. </a:t>
            </a:r>
            <a:endParaRPr lang="en-US" sz="2400" dirty="0" smtClean="0">
              <a:solidFill>
                <a:srgbClr val="00B050"/>
              </a:solidFill>
            </a:endParaRPr>
          </a:p>
          <a:p>
            <a:r>
              <a:rPr lang="en-US" sz="2400" dirty="0" smtClean="0"/>
              <a:t>The </a:t>
            </a:r>
            <a:r>
              <a:rPr lang="en-US" sz="2400" dirty="0"/>
              <a:t>difference in </a:t>
            </a:r>
            <a:r>
              <a:rPr lang="en-US" sz="2400" dirty="0" smtClean="0"/>
              <a:t>NPV reflects </a:t>
            </a:r>
            <a:r>
              <a:rPr lang="en-US" sz="2400" dirty="0"/>
              <a:t>the fact that, with project 1, we must wait longer for the bulk of the income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14" y="152400"/>
            <a:ext cx="8535571" cy="3929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15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The main difficulty with NPV for deciding between projects is selecting an appropriate discount rate. </a:t>
            </a:r>
          </a:p>
          <a:p>
            <a:r>
              <a:rPr lang="en-US" dirty="0">
                <a:solidFill>
                  <a:srgbClr val="FF0000"/>
                </a:solidFill>
              </a:rPr>
              <a:t>Some organizations have a standard rate </a:t>
            </a:r>
            <a:r>
              <a:rPr lang="en-US" dirty="0">
                <a:solidFill>
                  <a:srgbClr val="00B050"/>
                </a:solidFill>
              </a:rPr>
              <a:t>but, where this is not the case, then the discount rate should be chosen to reflect available interest rates </a:t>
            </a:r>
            <a:r>
              <a:rPr lang="en-US" dirty="0"/>
              <a:t>(borrowing costs where the project must be funded from loans) plus some premium to reflect the fact that software projects are normally more risky than lending money to a bank.</a:t>
            </a:r>
          </a:p>
          <a:p>
            <a:r>
              <a:rPr lang="en-US" dirty="0"/>
              <a:t>The exact discount rate is normally less important than ensuring that the same discount rate is used for all projects being compared.</a:t>
            </a:r>
          </a:p>
          <a:p>
            <a:r>
              <a:rPr lang="en-US" dirty="0"/>
              <a:t> However, it is important to check that the ranking of projects is not sensitive </a:t>
            </a:r>
            <a:r>
              <a:rPr lang="en-US" dirty="0" smtClean="0"/>
              <a:t>to small </a:t>
            </a:r>
            <a:r>
              <a:rPr lang="en-US" dirty="0"/>
              <a:t>changes in the discount </a:t>
            </a:r>
            <a:r>
              <a:rPr lang="en-US" dirty="0" smtClean="0"/>
              <a:t>rate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123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49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81071" y="1187916"/>
            <a:ext cx="8381999" cy="4495800"/>
          </a:xfrm>
        </p:spPr>
        <p:txBody>
          <a:bodyPr/>
          <a:lstStyle/>
          <a:p>
            <a:r>
              <a:rPr lang="en-US" dirty="0" smtClean="0"/>
              <a:t>Assume a company is planning to invest $90000 in a project today</a:t>
            </a:r>
          </a:p>
          <a:p>
            <a:r>
              <a:rPr lang="en-US" dirty="0" smtClean="0"/>
              <a:t>The project is expected to have a life of four years</a:t>
            </a:r>
          </a:p>
          <a:p>
            <a:r>
              <a:rPr lang="en-US" dirty="0" smtClean="0"/>
              <a:t>The expected cash flows at the end of each of next four years are $2000, </a:t>
            </a:r>
            <a:r>
              <a:rPr lang="en-US" dirty="0"/>
              <a:t>$3000, </a:t>
            </a:r>
            <a:r>
              <a:rPr lang="en-US" dirty="0" smtClean="0"/>
              <a:t>$3000, $4000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74" r="18357" b="1540"/>
          <a:stretch/>
        </p:blipFill>
        <p:spPr bwMode="auto">
          <a:xfrm>
            <a:off x="838200" y="2871132"/>
            <a:ext cx="7243750" cy="3224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42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158886"/>
            <a:ext cx="8672944" cy="608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721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847" y="295212"/>
            <a:ext cx="8381999" cy="1313595"/>
          </a:xfrm>
        </p:spPr>
        <p:txBody>
          <a:bodyPr>
            <a:noAutofit/>
          </a:bodyPr>
          <a:lstStyle/>
          <a:p>
            <a:r>
              <a:rPr lang="en-US" sz="3600" dirty="0"/>
              <a:t>Adding all cash inflow </a:t>
            </a:r>
            <a:r>
              <a:rPr lang="en-US" sz="2800" dirty="0"/>
              <a:t>(+</a:t>
            </a:r>
            <a:r>
              <a:rPr lang="en-US" sz="2800" dirty="0" err="1"/>
              <a:t>ve</a:t>
            </a:r>
            <a:r>
              <a:rPr lang="en-US" sz="2800" dirty="0"/>
              <a:t> value </a:t>
            </a:r>
            <a:r>
              <a:rPr lang="en-US" sz="2800" dirty="0" smtClean="0"/>
              <a:t>) </a:t>
            </a:r>
            <a:r>
              <a:rPr lang="en-US" sz="3600" dirty="0" smtClean="0"/>
              <a:t>and </a:t>
            </a:r>
            <a:r>
              <a:rPr lang="en-US" sz="3600" dirty="0"/>
              <a:t>outflow </a:t>
            </a:r>
            <a:r>
              <a:rPr lang="en-US" sz="2800" dirty="0"/>
              <a:t>(-</a:t>
            </a:r>
            <a:r>
              <a:rPr lang="en-US" sz="2800" dirty="0" err="1"/>
              <a:t>ve</a:t>
            </a:r>
            <a:r>
              <a:rPr lang="en-US" sz="2800" dirty="0"/>
              <a:t> value )</a:t>
            </a:r>
            <a:r>
              <a:rPr lang="en-US" sz="3600" dirty="0"/>
              <a:t>of each year including the </a:t>
            </a:r>
            <a:r>
              <a:rPr lang="en-US" sz="3600" dirty="0" smtClean="0"/>
              <a:t>capital</a:t>
            </a:r>
            <a:endParaRPr lang="en-US" sz="36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79" y="1905000"/>
            <a:ext cx="8555567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66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NPV Another </a:t>
            </a:r>
            <a:r>
              <a:rPr lang="en-US" dirty="0"/>
              <a:t>example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Project A and B both has capital investment of 24000 and has 12% rate on capital in 3 sequential years. But the cash inflow of each project at the end of each year is different given in the following table</a:t>
            </a:r>
            <a:r>
              <a:rPr lang="en-US" sz="2400" dirty="0" smtClean="0"/>
              <a:t>.</a:t>
            </a:r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r>
              <a:rPr lang="en-US" sz="2400" dirty="0" smtClean="0"/>
              <a:t>Which </a:t>
            </a:r>
            <a:r>
              <a:rPr lang="en-US" sz="2400" dirty="0"/>
              <a:t>would you choose</a:t>
            </a:r>
            <a:r>
              <a:rPr lang="en-US" sz="2400" dirty="0" smtClean="0"/>
              <a:t>????</a:t>
            </a:r>
          </a:p>
          <a:p>
            <a:r>
              <a:rPr lang="en-US" sz="2400" dirty="0"/>
              <a:t>NPV- choose project A </a:t>
            </a:r>
            <a:r>
              <a:rPr lang="en-US" sz="2400" dirty="0" err="1"/>
              <a:t>vs</a:t>
            </a:r>
            <a:r>
              <a:rPr lang="en-US" sz="2400" dirty="0"/>
              <a:t> B which one??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52</a:t>
            </a:fld>
            <a:endParaRPr lang="en-US" dirty="0"/>
          </a:p>
        </p:txBody>
      </p:sp>
      <p:pic>
        <p:nvPicPr>
          <p:cNvPr id="7" name="Picture 2" descr="D:\e drive laptop\Material good\teaching mat\IOE mats\project mgmt\npv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44" r="15944"/>
          <a:stretch/>
        </p:blipFill>
        <p:spPr bwMode="auto">
          <a:xfrm>
            <a:off x="609601" y="2438400"/>
            <a:ext cx="3124199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D:\e drive laptop\Material good\teaching mat\IOE mats\project mgmt\npv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7" r="14319"/>
          <a:stretch/>
        </p:blipFill>
        <p:spPr bwMode="auto">
          <a:xfrm>
            <a:off x="5334000" y="2461494"/>
            <a:ext cx="3048000" cy="220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556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075" y="648011"/>
            <a:ext cx="8381999" cy="780195"/>
          </a:xfrm>
        </p:spPr>
        <p:txBody>
          <a:bodyPr>
            <a:normAutofit fontScale="90000"/>
          </a:bodyPr>
          <a:lstStyle/>
          <a:p>
            <a:r>
              <a:rPr lang="en-US" dirty="0"/>
              <a:t>NPV- choose project A </a:t>
            </a:r>
            <a:r>
              <a:rPr lang="en-US" dirty="0" err="1"/>
              <a:t>vs</a:t>
            </a:r>
            <a:r>
              <a:rPr lang="en-US" dirty="0"/>
              <a:t> B which one??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FV </a:t>
            </a:r>
            <a:r>
              <a:rPr lang="en-US" sz="2800" dirty="0"/>
              <a:t>= PV(1 + i)^</a:t>
            </a:r>
            <a:r>
              <a:rPr lang="en-US" sz="2800" i="1" dirty="0"/>
              <a:t>n   or </a:t>
            </a:r>
          </a:p>
          <a:p>
            <a:r>
              <a:rPr lang="en-US" sz="2800" dirty="0"/>
              <a:t>PV = FV / (1 + i)^</a:t>
            </a:r>
            <a:r>
              <a:rPr lang="en-US" sz="2800" i="1" dirty="0"/>
              <a:t>n</a:t>
            </a:r>
          </a:p>
          <a:p>
            <a:r>
              <a:rPr lang="en-US" sz="2800" dirty="0"/>
              <a:t>Here </a:t>
            </a:r>
            <a:r>
              <a:rPr lang="en-US" sz="2800" dirty="0" err="1"/>
              <a:t>Proj</a:t>
            </a:r>
            <a:r>
              <a:rPr lang="en-US" sz="2800" dirty="0"/>
              <a:t> A investment is 24000 and the total PV = 24,446 so 24446 (PV ) &gt;24000(capital) = +</a:t>
            </a:r>
            <a:r>
              <a:rPr lang="en-US" sz="2800" dirty="0" err="1"/>
              <a:t>ve</a:t>
            </a:r>
            <a:r>
              <a:rPr lang="en-US" sz="2800" dirty="0"/>
              <a:t> </a:t>
            </a:r>
            <a:r>
              <a:rPr lang="en-US" sz="2800" dirty="0" err="1"/>
              <a:t>Npv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4" name="Picture 2" descr="D:\e drive laptop\Material good\teaching mat\IOE mats\project mgmt\npv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44"/>
          <a:stretch/>
        </p:blipFill>
        <p:spPr bwMode="auto">
          <a:xfrm>
            <a:off x="414550" y="1295400"/>
            <a:ext cx="4209143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53</a:t>
            </a:fld>
            <a:endParaRPr lang="en-US" dirty="0"/>
          </a:p>
        </p:txBody>
      </p:sp>
      <p:pic>
        <p:nvPicPr>
          <p:cNvPr id="6" name="Picture 2" descr="D:\e drive laptop\Material good\teaching mat\IOE mats\project mgmt\npv2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37"/>
          <a:stretch/>
        </p:blipFill>
        <p:spPr bwMode="auto">
          <a:xfrm>
            <a:off x="4495800" y="1324233"/>
            <a:ext cx="4029943" cy="2200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4449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NPV </a:t>
            </a:r>
            <a:r>
              <a:rPr lang="en-US" dirty="0" err="1"/>
              <a:t>Cntd</a:t>
            </a:r>
            <a:r>
              <a:rPr lang="en-US" dirty="0"/>
              <a:t>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000" dirty="0" err="1" smtClean="0"/>
              <a:t>Proj</a:t>
            </a:r>
            <a:r>
              <a:rPr lang="en-US" sz="2000" dirty="0" smtClean="0"/>
              <a:t> </a:t>
            </a:r>
            <a:r>
              <a:rPr lang="en-US" sz="2000" dirty="0"/>
              <a:t>B investment 24000  </a:t>
            </a:r>
          </a:p>
          <a:p>
            <a:r>
              <a:rPr lang="en-US" sz="2000" dirty="0"/>
              <a:t>Here </a:t>
            </a:r>
            <a:r>
              <a:rPr lang="en-US" sz="2000" dirty="0" err="1"/>
              <a:t>Proj</a:t>
            </a:r>
            <a:r>
              <a:rPr lang="en-US" sz="2000" dirty="0"/>
              <a:t> B investment is 24000 and the total PV = 23372 so </a:t>
            </a:r>
          </a:p>
          <a:p>
            <a:r>
              <a:rPr lang="en-US" sz="2000" dirty="0"/>
              <a:t>23372 (PV )  &lt;  24000(capital) = - </a:t>
            </a:r>
            <a:r>
              <a:rPr lang="en-US" sz="2000" dirty="0" err="1"/>
              <a:t>ve</a:t>
            </a:r>
            <a:r>
              <a:rPr lang="en-US" sz="2000" dirty="0"/>
              <a:t> </a:t>
            </a:r>
            <a:r>
              <a:rPr lang="en-US" sz="2000" dirty="0" err="1"/>
              <a:t>Npv</a:t>
            </a:r>
            <a:endParaRPr lang="en-US" sz="2000" dirty="0"/>
          </a:p>
          <a:p>
            <a:r>
              <a:rPr lang="en-US" sz="2000" dirty="0">
                <a:solidFill>
                  <a:srgbClr val="FF0000"/>
                </a:solidFill>
              </a:rPr>
              <a:t>Since Project A has an NPV greater than 0 and should be accepted. </a:t>
            </a:r>
          </a:p>
          <a:p>
            <a:r>
              <a:rPr lang="en-US" sz="2000" dirty="0"/>
              <a:t>Project B has an NPV less than 0 and should be rejected.</a:t>
            </a:r>
          </a:p>
          <a:p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3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8381999" cy="780195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Beware Of interest rate unit in </a:t>
            </a:r>
            <a:r>
              <a:rPr lang="en-US" sz="3600" dirty="0" err="1" smtClean="0">
                <a:solidFill>
                  <a:srgbClr val="FF0000"/>
                </a:solidFill>
              </a:rPr>
              <a:t>qns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1" y="990600"/>
            <a:ext cx="895847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530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rate of return (IRR)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It is </a:t>
            </a:r>
            <a:r>
              <a:rPr lang="en-US" b="1" dirty="0"/>
              <a:t>the discount rate that would produce an NPV of 0 for </a:t>
            </a:r>
            <a:r>
              <a:rPr lang="en-US" b="1" dirty="0" smtClean="0"/>
              <a:t>the project</a:t>
            </a:r>
            <a:endParaRPr lang="en-US" b="1" dirty="0"/>
          </a:p>
          <a:p>
            <a:r>
              <a:rPr lang="en-US" b="1" dirty="0"/>
              <a:t>Can be used to compare different investment </a:t>
            </a:r>
            <a:r>
              <a:rPr lang="en-US" b="1" dirty="0" smtClean="0"/>
              <a:t>opportunities</a:t>
            </a:r>
          </a:p>
          <a:p>
            <a:r>
              <a:rPr lang="en-US" sz="3500" b="1" dirty="0" smtClean="0">
                <a:solidFill>
                  <a:srgbClr val="00B050"/>
                </a:solidFill>
              </a:rPr>
              <a:t>The higher the IRR the better</a:t>
            </a:r>
            <a:endParaRPr lang="en-US" sz="3500" b="1" dirty="0">
              <a:solidFill>
                <a:srgbClr val="00B050"/>
              </a:solidFill>
            </a:endParaRPr>
          </a:p>
          <a:p>
            <a:r>
              <a:rPr lang="en-US" dirty="0"/>
              <a:t>Pros: Calculates figure which is easily comparable to interest </a:t>
            </a:r>
            <a:r>
              <a:rPr lang="en-US" dirty="0" smtClean="0"/>
              <a:t>rates</a:t>
            </a:r>
            <a:endParaRPr lang="en-US" dirty="0"/>
          </a:p>
          <a:p>
            <a:r>
              <a:rPr lang="en-US" dirty="0"/>
              <a:t>Cons: Difficult to calculate (iterative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Standard way to compare projects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73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IRR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7201" y="1447800"/>
            <a:ext cx="8381999" cy="4800600"/>
          </a:xfrm>
        </p:spPr>
        <p:txBody>
          <a:bodyPr>
            <a:normAutofit fontScale="47500" lnSpcReduction="20000"/>
          </a:bodyPr>
          <a:lstStyle/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r>
              <a:rPr lang="en-US" sz="3800" dirty="0" smtClean="0">
                <a:solidFill>
                  <a:srgbClr val="FF0000"/>
                </a:solidFill>
              </a:rPr>
              <a:t>There </a:t>
            </a:r>
            <a:r>
              <a:rPr lang="en-US" sz="3800" dirty="0">
                <a:solidFill>
                  <a:srgbClr val="FF0000"/>
                </a:solidFill>
              </a:rPr>
              <a:t>are certain rules to keep in mind while calculating the internal rate of return formula. </a:t>
            </a:r>
            <a:r>
              <a:rPr lang="en-US" sz="3800" dirty="0"/>
              <a:t>They are:</a:t>
            </a:r>
          </a:p>
          <a:p>
            <a:r>
              <a:rPr lang="en-US" sz="3800" b="1" dirty="0"/>
              <a:t>Set the NPV to zero and solve for the discount rate i.e. the internal rate of return </a:t>
            </a:r>
          </a:p>
          <a:p>
            <a:r>
              <a:rPr lang="en-US" sz="3800" b="1" dirty="0"/>
              <a:t>The initial investment is always negative because it represents an outflow</a:t>
            </a:r>
          </a:p>
          <a:p>
            <a:r>
              <a:rPr lang="en-US" sz="3800" b="1" dirty="0"/>
              <a:t>Each subsequent cash flow could be positive or negative, depending on the estimated cash flow determined by the project in the future</a:t>
            </a:r>
          </a:p>
          <a:p>
            <a:r>
              <a:rPr lang="en-US" sz="3800" dirty="0"/>
              <a:t>IRR cannot be easily calculated analytically instead use a more technical method like excel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44" y="1219201"/>
            <a:ext cx="5491588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9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989" y="381000"/>
            <a:ext cx="8381999" cy="1084995"/>
          </a:xfrm>
        </p:spPr>
        <p:txBody>
          <a:bodyPr>
            <a:noAutofit/>
          </a:bodyPr>
          <a:lstStyle/>
          <a:p>
            <a:r>
              <a:rPr lang="en-US" sz="3200" b="1" dirty="0"/>
              <a:t>An investor made an investment of $500 and got $570 next year. Calculate the internal rate of return on the investment</a:t>
            </a:r>
            <a:endParaRPr lang="en-US" sz="3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989" y="1600200"/>
            <a:ext cx="7912374" cy="412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606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541516"/>
            <a:ext cx="8381999" cy="780195"/>
          </a:xfrm>
        </p:spPr>
        <p:txBody>
          <a:bodyPr>
            <a:noAutofit/>
          </a:bodyPr>
          <a:lstStyle/>
          <a:p>
            <a:r>
              <a:rPr lang="en-US" sz="2800" dirty="0"/>
              <a:t>Check if the projects </a:t>
            </a:r>
            <a:r>
              <a:rPr lang="en-US" sz="2800" i="1" dirty="0"/>
              <a:t>A</a:t>
            </a:r>
            <a:r>
              <a:rPr lang="en-US" sz="2800" dirty="0"/>
              <a:t>, </a:t>
            </a:r>
            <a:r>
              <a:rPr lang="en-US" sz="2800" i="1" dirty="0"/>
              <a:t>B</a:t>
            </a:r>
            <a:r>
              <a:rPr lang="en-US" sz="2800" dirty="0"/>
              <a:t>, and </a:t>
            </a:r>
            <a:r>
              <a:rPr lang="en-US" sz="2800" i="1" dirty="0"/>
              <a:t>C </a:t>
            </a:r>
            <a:r>
              <a:rPr lang="en-US" sz="2800" dirty="0"/>
              <a:t>shown in Table </a:t>
            </a:r>
            <a:r>
              <a:rPr lang="en-US" sz="2800" dirty="0" smtClean="0"/>
              <a:t>are </a:t>
            </a:r>
            <a:r>
              <a:rPr lang="en-US" sz="2800" dirty="0"/>
              <a:t>worth taking up when the rate of interest on</a:t>
            </a:r>
            <a:br>
              <a:rPr lang="en-US" sz="2800" dirty="0"/>
            </a:br>
            <a:r>
              <a:rPr lang="en-US" sz="2800" dirty="0"/>
              <a:t>borrowed capital is 15%.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/>
              <a:t>By using discount rate of 15%, the NPV of the three projects work out to be 852, 607, and 197, respectively.</a:t>
            </a:r>
          </a:p>
          <a:p>
            <a:r>
              <a:rPr lang="en-US" dirty="0"/>
              <a:t>Therefore, all the three projects are worth taking up when the rate of interest on borrowed capital is 15%.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1" y="1447800"/>
            <a:ext cx="7010400" cy="261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5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Disadvantages IRR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3"/>
          </p:nvPr>
        </p:nvSpPr>
        <p:spPr>
          <a:xfrm>
            <a:off x="455024" y="1066800"/>
            <a:ext cx="8381999" cy="4495800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IRR does </a:t>
            </a:r>
            <a:r>
              <a:rPr lang="en-US" sz="2400" b="1" dirty="0"/>
              <a:t>not indicate the absolute size of the return.</a:t>
            </a:r>
            <a:r>
              <a:rPr lang="en-US" sz="2400" dirty="0"/>
              <a:t> </a:t>
            </a:r>
            <a:r>
              <a:rPr lang="en-US" sz="2400" dirty="0" smtClean="0"/>
              <a:t>i.e. A </a:t>
            </a:r>
            <a:r>
              <a:rPr lang="en-US" sz="2400" dirty="0"/>
              <a:t>project with an </a:t>
            </a:r>
            <a:r>
              <a:rPr lang="en-US" sz="2400" dirty="0" smtClean="0"/>
              <a:t>NPV of </a:t>
            </a:r>
            <a:r>
              <a:rPr lang="en-US" sz="2400" dirty="0"/>
              <a:t>£100,000 and an IRR of 15% can be more attractive than one with an NPV of £10,000 and an IRR of 18</a:t>
            </a:r>
            <a:r>
              <a:rPr lang="en-US" sz="2400" dirty="0" smtClean="0"/>
              <a:t>% – </a:t>
            </a:r>
            <a:r>
              <a:rPr lang="en-US" sz="2400" b="1" dirty="0"/>
              <a:t>the return on capital is lower but the net </a:t>
            </a:r>
            <a:r>
              <a:rPr lang="en-US" sz="2400" b="1" dirty="0" smtClean="0"/>
              <a:t>benefits </a:t>
            </a:r>
            <a:r>
              <a:rPr lang="en-US" sz="2400" b="1" dirty="0"/>
              <a:t>greater</a:t>
            </a:r>
            <a:r>
              <a:rPr lang="en-US" sz="2400" b="1" dirty="0" smtClean="0"/>
              <a:t>.</a:t>
            </a:r>
          </a:p>
          <a:p>
            <a:r>
              <a:rPr lang="en-US" sz="2400" dirty="0"/>
              <a:t>U</a:t>
            </a:r>
            <a:r>
              <a:rPr lang="en-US" sz="2400" dirty="0" smtClean="0"/>
              <a:t>nder </a:t>
            </a:r>
            <a:r>
              <a:rPr lang="en-US" sz="2400" dirty="0"/>
              <a:t>certain conditions, it is possible to </a:t>
            </a:r>
            <a:r>
              <a:rPr lang="en-US" sz="2400" dirty="0" smtClean="0"/>
              <a:t>find </a:t>
            </a:r>
            <a:r>
              <a:rPr lang="en-US" sz="2400" dirty="0"/>
              <a:t>more </a:t>
            </a:r>
            <a:r>
              <a:rPr lang="en-US" sz="2400" dirty="0" smtClean="0"/>
              <a:t>than one </a:t>
            </a:r>
            <a:r>
              <a:rPr lang="en-US" sz="2400" dirty="0"/>
              <a:t>rate that will produce a zero NPV. </a:t>
            </a:r>
            <a:r>
              <a:rPr lang="en-US" sz="2400" b="1" dirty="0"/>
              <a:t>However, if there are multiple solutions, it is always appropriate to </a:t>
            </a:r>
            <a:r>
              <a:rPr lang="en-US" sz="2400" b="1" dirty="0" smtClean="0"/>
              <a:t>take the </a:t>
            </a:r>
            <a:r>
              <a:rPr lang="en-US" sz="2400" b="1" dirty="0"/>
              <a:t>lowest value and ignore the others.</a:t>
            </a:r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 smtClean="0"/>
          </a:p>
          <a:p>
            <a:endParaRPr lang="en-US" sz="2400" b="1" dirty="0"/>
          </a:p>
          <a:p>
            <a:endParaRPr lang="en-US" sz="2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E4F79-B2B3-4E4E-AB5D-F771515B9CEF}" type="slidenum">
              <a:rPr lang="en-US" smtClean="0"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971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A9D5F3"/>
      </a:accent1>
      <a:accent2>
        <a:srgbClr val="84C3ED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10176</TotalTime>
  <Words>4154</Words>
  <Application>Microsoft Office PowerPoint</Application>
  <PresentationFormat>On-screen Show (4:3)</PresentationFormat>
  <Paragraphs>493</Paragraphs>
  <Slides>60</Slides>
  <Notes>9</Notes>
  <HiddenSlides>3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Calibri</vt:lpstr>
      <vt:lpstr>Calibri Light</vt:lpstr>
      <vt:lpstr>Wingdings</vt:lpstr>
      <vt:lpstr>Retrospect</vt:lpstr>
      <vt:lpstr>Document</vt:lpstr>
      <vt:lpstr>Software Evaluation and Costing</vt:lpstr>
      <vt:lpstr>Project Evaluation</vt:lpstr>
      <vt:lpstr>Project Evaluation</vt:lpstr>
      <vt:lpstr>Project Evaluation</vt:lpstr>
      <vt:lpstr>5W1H/W5H Principle</vt:lpstr>
      <vt:lpstr>5W1H/W5H Principle</vt:lpstr>
      <vt:lpstr>Project Evaluation</vt:lpstr>
      <vt:lpstr>Project Evaluation</vt:lpstr>
      <vt:lpstr>  Project Portfolio Management</vt:lpstr>
      <vt:lpstr>  Project Portfolio Management (contd.)</vt:lpstr>
      <vt:lpstr>Project Evaluation</vt:lpstr>
      <vt:lpstr>Strategic Assessment </vt:lpstr>
      <vt:lpstr>Technical assessment</vt:lpstr>
      <vt:lpstr>Cost–benefit analysis </vt:lpstr>
      <vt:lpstr>Cost–benefit analysis comprises two steps:</vt:lpstr>
      <vt:lpstr>PowerPoint Presentation</vt:lpstr>
      <vt:lpstr>PowerPoint Presentation</vt:lpstr>
      <vt:lpstr>Cash Flow Forecast </vt:lpstr>
      <vt:lpstr>Cash Flow Forecast (Contd.)</vt:lpstr>
      <vt:lpstr>Cash Flow Forecast (Contd.)</vt:lpstr>
      <vt:lpstr>Cost Benefit Evaluation techniques</vt:lpstr>
      <vt:lpstr>Cost Benefit Evaluation techniques</vt:lpstr>
      <vt:lpstr> 1. Net Profit</vt:lpstr>
      <vt:lpstr>PowerPoint Presentation</vt:lpstr>
      <vt:lpstr>PowerPoint Presentation</vt:lpstr>
      <vt:lpstr>2. Payback Period</vt:lpstr>
      <vt:lpstr>Payback Period</vt:lpstr>
      <vt:lpstr>Payback Period</vt:lpstr>
      <vt:lpstr>Qns type 1 – equal cash inflow over the years </vt:lpstr>
      <vt:lpstr>Soln - equal cash inflow over the years</vt:lpstr>
      <vt:lpstr>Imp such qns Qns type 2 – when cash inflow are unequal and the added value don’t match the outflow /outlay sum over the exact years</vt:lpstr>
      <vt:lpstr>Exercise Consider the four project cash flows given in Table and calculate the payback period for each of them and rank them according to payback periods</vt:lpstr>
      <vt:lpstr>Answer </vt:lpstr>
      <vt:lpstr>Payback Period Advantage and disadvantage </vt:lpstr>
      <vt:lpstr>Payback Period</vt:lpstr>
      <vt:lpstr>3. Return on investment(ROI)/Accounting rate of return (ARR)</vt:lpstr>
      <vt:lpstr>Calculate the ROI for each of the other projects shown in Table and decide which, on the basis of this criterion, is the most worthwhile.</vt:lpstr>
      <vt:lpstr>ROI/ARR Advantages and Disadvantages</vt:lpstr>
      <vt:lpstr>4. Net present value</vt:lpstr>
      <vt:lpstr>NPV </vt:lpstr>
      <vt:lpstr>NPV </vt:lpstr>
      <vt:lpstr> Net present value £ 100 now or £ 100 after a year Which would you choose and why?? </vt:lpstr>
      <vt:lpstr>Projects with +ve NPV are to be accepted or higher NPV value are to be chosen </vt:lpstr>
      <vt:lpstr>Alternative way of NPV calculation</vt:lpstr>
      <vt:lpstr>PowerPoint Presentation</vt:lpstr>
      <vt:lpstr>PowerPoint Presentation</vt:lpstr>
      <vt:lpstr>PowerPoint Presentation</vt:lpstr>
      <vt:lpstr>NPV</vt:lpstr>
      <vt:lpstr>NPV</vt:lpstr>
      <vt:lpstr>PowerPoint Presentation</vt:lpstr>
      <vt:lpstr>Adding all cash inflow (+ve value ) and outflow (-ve value )of each year including the capital</vt:lpstr>
      <vt:lpstr>NPV Another example </vt:lpstr>
      <vt:lpstr>NPV- choose project A vs B which one??</vt:lpstr>
      <vt:lpstr>NPV Cntd..</vt:lpstr>
      <vt:lpstr>Beware Of interest rate unit in qns</vt:lpstr>
      <vt:lpstr>Internal rate of return (IRR)</vt:lpstr>
      <vt:lpstr>IRR </vt:lpstr>
      <vt:lpstr>An investor made an investment of $500 and got $570 next year. Calculate the internal rate of return on the investment</vt:lpstr>
      <vt:lpstr>Check if the projects A, B, and C shown in Table are worth taking up when the rate of interest on borrowed capital is 15%.</vt:lpstr>
      <vt:lpstr>Disadvantages IRR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Microsoft account</cp:lastModifiedBy>
  <cp:revision>953</cp:revision>
  <dcterms:created xsi:type="dcterms:W3CDTF">2022-08-07T01:15:18Z</dcterms:created>
  <dcterms:modified xsi:type="dcterms:W3CDTF">2024-01-17T06:13:56Z</dcterms:modified>
</cp:coreProperties>
</file>