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57"/>
  </p:notesMasterIdLst>
  <p:sldIdLst>
    <p:sldId id="256" r:id="rId2"/>
    <p:sldId id="426" r:id="rId3"/>
    <p:sldId id="450" r:id="rId4"/>
    <p:sldId id="469" r:id="rId5"/>
    <p:sldId id="452" r:id="rId6"/>
    <p:sldId id="453" r:id="rId7"/>
    <p:sldId id="454" r:id="rId8"/>
    <p:sldId id="455" r:id="rId9"/>
    <p:sldId id="456" r:id="rId10"/>
    <p:sldId id="457" r:id="rId11"/>
    <p:sldId id="427" r:id="rId12"/>
    <p:sldId id="428" r:id="rId13"/>
    <p:sldId id="449" r:id="rId14"/>
    <p:sldId id="451" r:id="rId15"/>
    <p:sldId id="460" r:id="rId16"/>
    <p:sldId id="461" r:id="rId17"/>
    <p:sldId id="462" r:id="rId18"/>
    <p:sldId id="459" r:id="rId19"/>
    <p:sldId id="465" r:id="rId20"/>
    <p:sldId id="466" r:id="rId21"/>
    <p:sldId id="463" r:id="rId22"/>
    <p:sldId id="464" r:id="rId23"/>
    <p:sldId id="472" r:id="rId24"/>
    <p:sldId id="473" r:id="rId25"/>
    <p:sldId id="474" r:id="rId26"/>
    <p:sldId id="471" r:id="rId27"/>
    <p:sldId id="486" r:id="rId28"/>
    <p:sldId id="470" r:id="rId29"/>
    <p:sldId id="467" r:id="rId30"/>
    <p:sldId id="468" r:id="rId31"/>
    <p:sldId id="458" r:id="rId32"/>
    <p:sldId id="476" r:id="rId33"/>
    <p:sldId id="477" r:id="rId34"/>
    <p:sldId id="478" r:id="rId35"/>
    <p:sldId id="480" r:id="rId36"/>
    <p:sldId id="488" r:id="rId37"/>
    <p:sldId id="481" r:id="rId38"/>
    <p:sldId id="482" r:id="rId39"/>
    <p:sldId id="483" r:id="rId40"/>
    <p:sldId id="487" r:id="rId41"/>
    <p:sldId id="484" r:id="rId42"/>
    <p:sldId id="485" r:id="rId43"/>
    <p:sldId id="431" r:id="rId44"/>
    <p:sldId id="432" r:id="rId45"/>
    <p:sldId id="433" r:id="rId46"/>
    <p:sldId id="434" r:id="rId47"/>
    <p:sldId id="435" r:id="rId48"/>
    <p:sldId id="436" r:id="rId49"/>
    <p:sldId id="437" r:id="rId50"/>
    <p:sldId id="438" r:id="rId51"/>
    <p:sldId id="489" r:id="rId52"/>
    <p:sldId id="439" r:id="rId53"/>
    <p:sldId id="440" r:id="rId54"/>
    <p:sldId id="441" r:id="rId55"/>
    <p:sldId id="442"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97" autoAdjust="0"/>
    <p:restoredTop sz="71317" autoAdjust="0"/>
  </p:normalViewPr>
  <p:slideViewPr>
    <p:cSldViewPr>
      <p:cViewPr>
        <p:scale>
          <a:sx n="49" d="100"/>
          <a:sy n="49" d="100"/>
        </p:scale>
        <p:origin x="1920" y="44"/>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2/1/2024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7</a:t>
            </a:fld>
            <a:endParaRPr lang="en-US"/>
          </a:p>
        </p:txBody>
      </p:sp>
    </p:spTree>
    <p:extLst>
      <p:ext uri="{BB962C8B-B14F-4D97-AF65-F5344CB8AC3E}">
        <p14:creationId xmlns:p14="http://schemas.microsoft.com/office/powerpoint/2010/main" val="83023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8</a:t>
            </a:fld>
            <a:endParaRPr lang="en-US"/>
          </a:p>
        </p:txBody>
      </p:sp>
    </p:spTree>
    <p:extLst>
      <p:ext uri="{BB962C8B-B14F-4D97-AF65-F5344CB8AC3E}">
        <p14:creationId xmlns:p14="http://schemas.microsoft.com/office/powerpoint/2010/main" val="4235714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9</a:t>
            </a:fld>
            <a:endParaRPr lang="en-US"/>
          </a:p>
        </p:txBody>
      </p:sp>
    </p:spTree>
    <p:extLst>
      <p:ext uri="{BB962C8B-B14F-4D97-AF65-F5344CB8AC3E}">
        <p14:creationId xmlns:p14="http://schemas.microsoft.com/office/powerpoint/2010/main" val="575715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15</a:t>
            </a:fld>
            <a:endParaRPr lang="en-US"/>
          </a:p>
        </p:txBody>
      </p:sp>
    </p:spTree>
    <p:extLst>
      <p:ext uri="{BB962C8B-B14F-4D97-AF65-F5344CB8AC3E}">
        <p14:creationId xmlns:p14="http://schemas.microsoft.com/office/powerpoint/2010/main" val="125112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ln/>
        </p:spPr>
        <p:txBody>
          <a:bodyPr/>
          <a:lstStyle/>
          <a:p>
            <a:endParaRPr lang="en-US" altLang="en-US"/>
          </a:p>
        </p:txBody>
      </p:sp>
      <p:sp>
        <p:nvSpPr>
          <p:cNvPr id="3993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743290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ln/>
        </p:spPr>
        <p:txBody>
          <a:bodyPr/>
          <a:lstStyle/>
          <a:p>
            <a:endParaRPr lang="en-US" altLang="en-US"/>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94634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ln/>
        </p:spPr>
        <p:txBody>
          <a:bodyPr/>
          <a:lstStyle/>
          <a:p>
            <a:endParaRPr lang="en-US" altLang="en-US"/>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135448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Pareto Chart –Bar Chart arranged with longest bars on the left and the shortest to the right; the length of the bar represent frequency or cost</a:t>
            </a:r>
          </a:p>
          <a:p>
            <a:r>
              <a:rPr lang="en-US" sz="1200" dirty="0" smtClean="0"/>
              <a:t>Histogram-commonly used graph to show frequency distributions</a:t>
            </a:r>
          </a:p>
          <a:p>
            <a:r>
              <a:rPr lang="en-US" sz="1200" dirty="0" smtClean="0"/>
              <a:t>Control Chart-a graph used to study how a process changes over time</a:t>
            </a:r>
          </a:p>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36</a:t>
            </a:fld>
            <a:endParaRPr lang="en-US"/>
          </a:p>
        </p:txBody>
      </p:sp>
    </p:spTree>
    <p:extLst>
      <p:ext uri="{BB962C8B-B14F-4D97-AF65-F5344CB8AC3E}">
        <p14:creationId xmlns:p14="http://schemas.microsoft.com/office/powerpoint/2010/main" val="448742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42</a:t>
            </a:fld>
            <a:endParaRPr lang="en-US"/>
          </a:p>
        </p:txBody>
      </p:sp>
    </p:spTree>
    <p:extLst>
      <p:ext uri="{BB962C8B-B14F-4D97-AF65-F5344CB8AC3E}">
        <p14:creationId xmlns:p14="http://schemas.microsoft.com/office/powerpoint/2010/main" val="2055908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1EDF663-6502-4AFE-A4A5-DFC5B2B7FA99}" type="datetime1">
              <a:rPr lang="en-US" smtClean="0"/>
              <a:t>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F53C7-C888-4A97-B991-55F187B14BFF}" type="datetime1">
              <a:rPr lang="en-US" smtClean="0"/>
              <a:t>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8A232B-0067-4CCE-A445-7B7B82D9D5C2}" type="datetime1">
              <a:rPr lang="en-US" smtClean="0"/>
              <a:t>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B1C0C5-D42E-4942-B7A6-EBC3DBCF8390}" type="datetime1">
              <a:rPr lang="en-US" smtClean="0"/>
              <a:t>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A196BF-0B58-443F-823E-B05D5E9A8D60}" type="datetime1">
              <a:rPr lang="en-US" smtClean="0"/>
              <a:t>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CC82D245-7DA9-4010-A373-1F247DBFB5AB}" type="datetime1">
              <a:rPr lang="en-US" smtClean="0"/>
              <a:t>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6B4D06-8CB4-42AC-816F-7C1FFDE86611}" type="datetime1">
              <a:rPr lang="en-US" smtClean="0"/>
              <a:t>2/1/2024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46CEDC9-0142-4D64-B5E9-A5FEF739447C}" type="datetime1">
              <a:rPr lang="en-US" smtClean="0"/>
              <a:t>2/1/2024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45F492-B77D-4B0F-B5F0-1A7BBE520E95}" type="datetime1">
              <a:rPr lang="en-US" smtClean="0"/>
              <a:t>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D91EB734-D3CD-4AFE-AB0B-5A20496C0742}" type="datetime1">
              <a:rPr lang="en-US" smtClean="0"/>
              <a:t>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E57C9D8-9BE6-4C30-B819-056EEB03C995}" type="datetime1">
              <a:rPr lang="en-US" smtClean="0"/>
              <a:t>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8A3FF76-C175-4D8E-85B7-25A1FFA3E293}" type="datetime1">
              <a:rPr lang="en-US" smtClean="0"/>
              <a:t>2/1/2024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lvl1pPr marL="91440" indent="-91440">
              <a:buClrTx/>
              <a:buFont typeface="Arial" panose="020B0604020202020204" pitchFamily="34" charset="0"/>
              <a:buChar char="•"/>
              <a:defRPr/>
            </a:lvl1pPr>
            <a:lvl2pPr marL="384048" indent="-182880">
              <a:buClrTx/>
              <a:buFont typeface="Arial" panose="020B0604020202020204" pitchFamily="34" charset="0"/>
              <a:buChar char="•"/>
              <a:defRPr/>
            </a:lvl2pPr>
            <a:lvl3pPr marL="566928" indent="-182880">
              <a:buClrTx/>
              <a:buFont typeface="Arial" panose="020B0604020202020204" pitchFamily="34" charset="0"/>
              <a:buChar char="•"/>
              <a:defRPr/>
            </a:lvl3pPr>
            <a:lvl4pPr marL="749808" indent="-182880">
              <a:buClrTx/>
              <a:buFont typeface="Arial" panose="020B0604020202020204" pitchFamily="34" charset="0"/>
              <a:buChar char="•"/>
              <a:defRPr/>
            </a:lvl4pPr>
            <a:lvl5pPr marL="932688" indent="-182880">
              <a:buClrTx/>
              <a:buFont typeface="Arial" panose="020B0604020202020204"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07707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a:xfrm>
            <a:off x="471544" y="6173786"/>
            <a:ext cx="2133600" cy="365125"/>
          </a:xfrm>
        </p:spPr>
        <p:txBody>
          <a:bodyPr/>
          <a:lstStyle>
            <a:lvl1pPr>
              <a:defRPr/>
            </a:lvl1pPr>
          </a:lstStyle>
          <a:p>
            <a:pPr>
              <a:defRPr/>
            </a:pPr>
            <a:fld id="{D9EA1146-09F4-4C1C-BD61-E44F9ACB076E}" type="datetime1">
              <a:rPr lang="en-US" smtClean="0">
                <a:solidFill>
                  <a:prstClr val="black">
                    <a:tint val="75000"/>
                  </a:prstClr>
                </a:solidFill>
              </a:rPr>
              <a:t>2/1/2024</a:t>
            </a:fld>
            <a:endParaRPr lang="en-MY">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a:xfrm>
            <a:off x="6553200" y="6173787"/>
            <a:ext cx="2133600" cy="365125"/>
          </a:xfrm>
        </p:spPr>
        <p:txBody>
          <a:bodyPr/>
          <a:lstStyle>
            <a:lvl1pPr>
              <a:defRPr/>
            </a:lvl1pPr>
          </a:lstStyle>
          <a:p>
            <a:pPr>
              <a:defRPr/>
            </a:pPr>
            <a:fld id="{7302620F-2723-4C1D-A0D6-2D78DF04BBE5}" type="slidenum">
              <a:rPr lang="en-MY">
                <a:solidFill>
                  <a:prstClr val="black">
                    <a:tint val="75000"/>
                  </a:prstClr>
                </a:solidFill>
              </a:rPr>
              <a:pPr>
                <a:defRPr/>
              </a:pPr>
              <a:t>‹#›</a:t>
            </a:fld>
            <a:endParaRPr lang="en-MY">
              <a:solidFill>
                <a:prstClr val="black">
                  <a:tint val="75000"/>
                </a:prstClr>
              </a:solidFill>
            </a:endParaRPr>
          </a:p>
        </p:txBody>
      </p:sp>
    </p:spTree>
    <p:extLst>
      <p:ext uri="{BB962C8B-B14F-4D97-AF65-F5344CB8AC3E}">
        <p14:creationId xmlns:p14="http://schemas.microsoft.com/office/powerpoint/2010/main" val="10193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347" y="274638"/>
            <a:ext cx="8229307" cy="1143000"/>
          </a:xfrm>
          <a:prstGeom prst="rect">
            <a:avLst/>
          </a:prstGeom>
        </p:spPr>
        <p:txBody>
          <a:bodyPr/>
          <a:lstStyle/>
          <a:p>
            <a:r>
              <a:rPr lang="en-US"/>
              <a:t>Click to edit Master title style</a:t>
            </a:r>
          </a:p>
        </p:txBody>
      </p:sp>
      <p:sp>
        <p:nvSpPr>
          <p:cNvPr id="3" name="ClipArt Placeholder 2"/>
          <p:cNvSpPr>
            <a:spLocks noGrp="1"/>
          </p:cNvSpPr>
          <p:nvPr>
            <p:ph type="clipArt" sz="half" idx="1"/>
          </p:nvPr>
        </p:nvSpPr>
        <p:spPr>
          <a:xfrm>
            <a:off x="703610" y="1981200"/>
            <a:ext cx="3799495" cy="4114800"/>
          </a:xfrm>
        </p:spPr>
        <p:txBody>
          <a:bodyPr rtlCol="0">
            <a:normAutofit/>
          </a:bodyPr>
          <a:lstStyle/>
          <a:p>
            <a:pPr lvl="0"/>
            <a:endParaRPr lang="en-US" noProof="0"/>
          </a:p>
        </p:txBody>
      </p:sp>
      <p:sp>
        <p:nvSpPr>
          <p:cNvPr id="4" name="Text Placeholder 3"/>
          <p:cNvSpPr>
            <a:spLocks noGrp="1"/>
          </p:cNvSpPr>
          <p:nvPr>
            <p:ph type="body" sz="half" idx="2"/>
          </p:nvPr>
        </p:nvSpPr>
        <p:spPr>
          <a:xfrm>
            <a:off x="4643827" y="1981200"/>
            <a:ext cx="379949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01675" y="6104965"/>
            <a:ext cx="1900238" cy="457200"/>
          </a:xfrm>
        </p:spPr>
        <p:txBody>
          <a:bodyPr/>
          <a:lstStyle>
            <a:lvl1pPr>
              <a:defRPr/>
            </a:lvl1pPr>
          </a:lstStyle>
          <a:p>
            <a:pPr>
              <a:defRPr/>
            </a:pPr>
            <a:fld id="{AA91B0A5-D192-4BF2-BC8E-4747070C6AD7}" type="datetime1">
              <a:rPr lang="en-US" smtClean="0"/>
              <a:t>2/1/2024</a:t>
            </a:fld>
            <a:endParaRPr lang="en-US"/>
          </a:p>
        </p:txBody>
      </p:sp>
      <p:sp>
        <p:nvSpPr>
          <p:cNvPr id="6" name="Footer Placeholder 5"/>
          <p:cNvSpPr>
            <a:spLocks noGrp="1"/>
          </p:cNvSpPr>
          <p:nvPr>
            <p:ph type="ftr" sz="quarter" idx="11"/>
          </p:nvPr>
        </p:nvSpPr>
        <p:spPr>
          <a:xfrm>
            <a:off x="3165475" y="6248400"/>
            <a:ext cx="281305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42087" y="6096000"/>
            <a:ext cx="1900237" cy="457200"/>
          </a:xfrm>
        </p:spPr>
        <p:txBody>
          <a:bodyPr/>
          <a:lstStyle>
            <a:lvl1pPr>
              <a:defRPr/>
            </a:lvl1pPr>
          </a:lstStyle>
          <a:p>
            <a:pPr>
              <a:defRPr/>
            </a:pPr>
            <a:fld id="{4109A845-B5D7-4212-A085-B80A81F92DF0}" type="slidenum">
              <a:rPr lang="en-US"/>
              <a:pPr>
                <a:defRPr/>
              </a:pPr>
              <a:t>‹#›</a:t>
            </a:fld>
            <a:endParaRPr lang="en-US"/>
          </a:p>
        </p:txBody>
      </p:sp>
    </p:spTree>
    <p:extLst>
      <p:ext uri="{BB962C8B-B14F-4D97-AF65-F5344CB8AC3E}">
        <p14:creationId xmlns:p14="http://schemas.microsoft.com/office/powerpoint/2010/main" val="3016415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826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DB4245B0-D1EF-4B7C-A7D4-45A4BB6BBB4E}" type="datetime1">
              <a:rPr lang="en-US" smtClean="0"/>
              <a:t>2/1/2024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D86EE55E-B41D-4258-BEDF-F2FB37197106}" type="slidenum">
              <a:rPr lang="en-US" smtClean="0"/>
              <a:pPr>
                <a:defRPr/>
              </a:pPr>
              <a:t>‹#›</a:t>
            </a:fld>
            <a:endParaRPr lang="en-US" dirty="0"/>
          </a:p>
        </p:txBody>
      </p:sp>
      <p:sp>
        <p:nvSpPr>
          <p:cNvPr id="7" name="Content Placeholder 6"/>
          <p:cNvSpPr>
            <a:spLocks noGrp="1"/>
          </p:cNvSpPr>
          <p:nvPr>
            <p:ph sz="quarter" idx="13"/>
          </p:nvPr>
        </p:nvSpPr>
        <p:spPr>
          <a:xfrm>
            <a:off x="685800" y="1752600"/>
            <a:ext cx="7961313"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4"/>
          </p:nvPr>
        </p:nvSpPr>
        <p:spPr>
          <a:xfrm>
            <a:off x="4379913" y="5181600"/>
            <a:ext cx="4078287" cy="60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175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03BDC0B3-8455-404F-A258-F64313AEC8EA}" type="datetime1">
              <a:rPr lang="en-US" smtClean="0"/>
              <a:t>2/1/2024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4" r:id="rId12"/>
    <p:sldLayoutId id="2147483705" r:id="rId13"/>
    <p:sldLayoutId id="2147483706" r:id="rId14"/>
    <p:sldLayoutId id="2147483707" r:id="rId15"/>
    <p:sldLayoutId id="2147483708" r:id="rId16"/>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www.ieee.org/"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762000" y="1238250"/>
            <a:ext cx="7543800" cy="1581150"/>
          </a:xfrm>
        </p:spPr>
        <p:txBody>
          <a:bodyPr>
            <a:normAutofit/>
          </a:bodyPr>
          <a:lstStyle/>
          <a:p>
            <a:r>
              <a:rPr lang="en-US" sz="4400" dirty="0">
                <a:latin typeface="+mn-lt"/>
              </a:rPr>
              <a:t>Software Quality Management</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marL="0" indent="0">
              <a:lnSpc>
                <a:spcPct val="100000"/>
              </a:lnSpc>
              <a:spcBef>
                <a:spcPts val="0"/>
              </a:spcBef>
              <a:spcAft>
                <a:spcPts val="0"/>
              </a:spcAft>
              <a:buNone/>
            </a:pPr>
            <a:r>
              <a:rPr lang="en-US" sz="2000" b="1" dirty="0" smtClean="0">
                <a:latin typeface="+mn-lt"/>
              </a:rPr>
              <a:t>Subhash Paudel</a:t>
            </a:r>
          </a:p>
          <a:p>
            <a:pPr marL="0" indent="0">
              <a:lnSpc>
                <a:spcPct val="100000"/>
              </a:lnSpc>
              <a:spcBef>
                <a:spcPts val="0"/>
              </a:spcBef>
              <a:spcAft>
                <a:spcPts val="0"/>
              </a:spcAft>
              <a:buNone/>
            </a:pPr>
            <a:r>
              <a:rPr lang="en-US" b="1" dirty="0" smtClean="0"/>
              <a:t>MSCSKE, IOE, Pulchowk Campus</a:t>
            </a:r>
          </a:p>
          <a:p>
            <a:pPr marL="0" indent="0">
              <a:lnSpc>
                <a:spcPct val="100000"/>
              </a:lnSpc>
              <a:spcBef>
                <a:spcPts val="0"/>
              </a:spcBef>
              <a:spcAft>
                <a:spcPts val="0"/>
              </a:spcAft>
              <a:buNone/>
            </a:pPr>
            <a:r>
              <a:rPr lang="en-US" b="1" dirty="0"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a:t>
            </a:fld>
            <a:endParaRPr lang="en-US" dirty="0"/>
          </a:p>
        </p:txBody>
      </p:sp>
      <p:sp>
        <p:nvSpPr>
          <p:cNvPr id="3" name="Title 2"/>
          <p:cNvSpPr>
            <a:spLocks noGrp="1"/>
          </p:cNvSpPr>
          <p:nvPr>
            <p:ph type="title"/>
          </p:nvPr>
        </p:nvSpPr>
        <p:spPr/>
        <p:txBody>
          <a:bodyPr/>
          <a:lstStyle/>
          <a:p>
            <a:r>
              <a:rPr lang="en-US" dirty="0"/>
              <a:t>Software Quality Management</a:t>
            </a:r>
          </a:p>
        </p:txBody>
      </p:sp>
      <p:sp>
        <p:nvSpPr>
          <p:cNvPr id="4" name="Text Placeholder 3"/>
          <p:cNvSpPr>
            <a:spLocks noGrp="1"/>
          </p:cNvSpPr>
          <p:nvPr>
            <p:ph type="body" sz="quarter" idx="13"/>
          </p:nvPr>
        </p:nvSpPr>
        <p:spPr>
          <a:xfrm>
            <a:off x="457201" y="1447800"/>
            <a:ext cx="8381999" cy="4495800"/>
          </a:xfrm>
        </p:spPr>
        <p:txBody>
          <a:bodyPr>
            <a:normAutofit fontScale="85000" lnSpcReduction="20000"/>
          </a:bodyPr>
          <a:lstStyle/>
          <a:p>
            <a:r>
              <a:rPr lang="en-US" altLang="en-US" sz="3000" dirty="0"/>
              <a:t>While quality is generally agreed to be ‘a good thing’ , in practice what people really mean by the ‘quality’ of a system can be vague.</a:t>
            </a:r>
          </a:p>
          <a:p>
            <a:r>
              <a:rPr lang="en-US" altLang="en-US" sz="3000" dirty="0"/>
              <a:t>We therefore need to define precisely what qualities we require of a system</a:t>
            </a:r>
          </a:p>
          <a:p>
            <a:r>
              <a:rPr lang="en-US" altLang="en-US" sz="3000" dirty="0"/>
              <a:t>However this is not enough- we need to judge objectively whether a system meets our quality requirements and this need measurement</a:t>
            </a:r>
          </a:p>
          <a:p>
            <a:r>
              <a:rPr lang="en-US" altLang="en-US" sz="3000" dirty="0"/>
              <a:t>Involves the definition of appropriate quality standards and the definition of procedures to ensure that these standards are followed</a:t>
            </a:r>
          </a:p>
          <a:p>
            <a:r>
              <a:rPr lang="en-US" altLang="en-US" sz="3000" dirty="0"/>
              <a:t>Works best when a ‘quality culture’ is created where quality if seen as everyone’s responsibility</a:t>
            </a:r>
          </a:p>
          <a:p>
            <a:pPr marL="0" indent="0">
              <a:buNone/>
            </a:pPr>
            <a:endParaRPr lang="en-US" dirty="0"/>
          </a:p>
        </p:txBody>
      </p:sp>
    </p:spTree>
    <p:extLst>
      <p:ext uri="{BB962C8B-B14F-4D97-AF65-F5344CB8AC3E}">
        <p14:creationId xmlns:p14="http://schemas.microsoft.com/office/powerpoint/2010/main" val="630692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a:t>
            </a:fld>
            <a:endParaRPr lang="en-US" dirty="0"/>
          </a:p>
        </p:txBody>
      </p:sp>
      <p:sp>
        <p:nvSpPr>
          <p:cNvPr id="3" name="Title 2"/>
          <p:cNvSpPr>
            <a:spLocks noGrp="1"/>
          </p:cNvSpPr>
          <p:nvPr>
            <p:ph type="title"/>
          </p:nvPr>
        </p:nvSpPr>
        <p:spPr/>
        <p:txBody>
          <a:bodyPr/>
          <a:lstStyle/>
          <a:p>
            <a:r>
              <a:rPr lang="en-US" dirty="0"/>
              <a:t>Software Quality Management</a:t>
            </a:r>
          </a:p>
        </p:txBody>
      </p:sp>
      <p:sp>
        <p:nvSpPr>
          <p:cNvPr id="4" name="Text Placeholder 3"/>
          <p:cNvSpPr>
            <a:spLocks noGrp="1"/>
          </p:cNvSpPr>
          <p:nvPr>
            <p:ph type="body" sz="quarter" idx="13"/>
          </p:nvPr>
        </p:nvSpPr>
        <p:spPr>
          <a:xfrm>
            <a:off x="457201" y="1447800"/>
            <a:ext cx="8381999" cy="4495800"/>
          </a:xfrm>
        </p:spPr>
        <p:txBody>
          <a:bodyPr>
            <a:normAutofit/>
          </a:bodyPr>
          <a:lstStyle/>
          <a:p>
            <a:r>
              <a:rPr lang="en-US" altLang="en-US" sz="2800" dirty="0"/>
              <a:t>Quality means that a product satisfies the demands of its specifications</a:t>
            </a:r>
          </a:p>
          <a:p>
            <a:r>
              <a:rPr lang="en-US" altLang="en-US" sz="2800" dirty="0"/>
              <a:t>It also means achieving a high level of customer satisfaction with the product</a:t>
            </a:r>
          </a:p>
          <a:p>
            <a:r>
              <a:rPr lang="en-US" altLang="en-US" sz="2800" dirty="0"/>
              <a:t>In software systems this is difficult</a:t>
            </a:r>
          </a:p>
          <a:p>
            <a:pPr lvl="1"/>
            <a:r>
              <a:rPr lang="en-US" altLang="en-US" sz="2400" dirty="0"/>
              <a:t>customer quality requirements (e.g. efficiency or reliability) often conflict with developer quality requirements (e.g. maintainability or reusability)</a:t>
            </a:r>
          </a:p>
          <a:p>
            <a:pPr lvl="1"/>
            <a:r>
              <a:rPr lang="en-US" altLang="en-US" sz="2400" dirty="0"/>
              <a:t>software specifications are often incomplete, inconsistent, or ambiguous</a:t>
            </a:r>
          </a:p>
          <a:p>
            <a:pPr marL="0" indent="0">
              <a:buNone/>
            </a:pPr>
            <a:endParaRPr lang="en-US" dirty="0"/>
          </a:p>
        </p:txBody>
      </p:sp>
    </p:spTree>
    <p:extLst>
      <p:ext uri="{BB962C8B-B14F-4D97-AF65-F5344CB8AC3E}">
        <p14:creationId xmlns:p14="http://schemas.microsoft.com/office/powerpoint/2010/main" val="33326306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a:t>
            </a:fld>
            <a:endParaRPr lang="en-US" dirty="0"/>
          </a:p>
        </p:txBody>
      </p:sp>
      <p:sp>
        <p:nvSpPr>
          <p:cNvPr id="3" name="Title 2"/>
          <p:cNvSpPr>
            <a:spLocks noGrp="1"/>
          </p:cNvSpPr>
          <p:nvPr>
            <p:ph type="title"/>
          </p:nvPr>
        </p:nvSpPr>
        <p:spPr/>
        <p:txBody>
          <a:bodyPr/>
          <a:lstStyle/>
          <a:p>
            <a:r>
              <a:rPr lang="en-US" dirty="0"/>
              <a:t>Software Quality Management</a:t>
            </a:r>
          </a:p>
        </p:txBody>
      </p:sp>
      <p:grpSp>
        <p:nvGrpSpPr>
          <p:cNvPr id="12" name="Group 11"/>
          <p:cNvGrpSpPr/>
          <p:nvPr/>
        </p:nvGrpSpPr>
        <p:grpSpPr>
          <a:xfrm>
            <a:off x="1786544" y="1219200"/>
            <a:ext cx="5638800" cy="4876800"/>
            <a:chOff x="2057400" y="1295400"/>
            <a:chExt cx="4791074" cy="4495800"/>
          </a:xfrm>
        </p:grpSpPr>
        <p:sp>
          <p:nvSpPr>
            <p:cNvPr id="6" name="Rectangle 5"/>
            <p:cNvSpPr/>
            <p:nvPr/>
          </p:nvSpPr>
          <p:spPr>
            <a:xfrm>
              <a:off x="2057400" y="1295400"/>
              <a:ext cx="4791074" cy="449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Isosceles Triangle 6"/>
            <p:cNvSpPr/>
            <p:nvPr/>
          </p:nvSpPr>
          <p:spPr>
            <a:xfrm>
              <a:off x="2609850" y="1524000"/>
              <a:ext cx="3257550" cy="263524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ln w="0"/>
                  <a:solidFill>
                    <a:schemeClr val="tx1"/>
                  </a:solidFill>
                  <a:effectLst>
                    <a:outerShdw blurRad="38100" dist="19050" dir="2700000" algn="tl" rotWithShape="0">
                      <a:schemeClr val="dk1">
                        <a:alpha val="40000"/>
                      </a:schemeClr>
                    </a:outerShdw>
                  </a:effectLst>
                </a:rPr>
                <a:t>Quality</a:t>
              </a:r>
              <a:endParaRPr lang="en-US" b="1" dirty="0"/>
            </a:p>
          </p:txBody>
        </p:sp>
        <p:sp>
          <p:nvSpPr>
            <p:cNvPr id="8" name="TextBox 7"/>
            <p:cNvSpPr txBox="1"/>
            <p:nvPr/>
          </p:nvSpPr>
          <p:spPr>
            <a:xfrm>
              <a:off x="2590801" y="2647890"/>
              <a:ext cx="1276350" cy="400110"/>
            </a:xfrm>
            <a:prstGeom prst="rect">
              <a:avLst/>
            </a:prstGeom>
            <a:noFill/>
          </p:spPr>
          <p:txBody>
            <a:bodyPr wrap="square" rtlCol="0">
              <a:spAutoFit/>
            </a:bodyPr>
            <a:lstStyle/>
            <a:p>
              <a:r>
                <a:rPr lang="en-US" sz="2000" dirty="0" smtClean="0"/>
                <a:t>Time</a:t>
              </a:r>
              <a:endParaRPr lang="en-US" dirty="0"/>
            </a:p>
          </p:txBody>
        </p:sp>
        <p:sp>
          <p:nvSpPr>
            <p:cNvPr id="9" name="TextBox 8"/>
            <p:cNvSpPr txBox="1"/>
            <p:nvPr/>
          </p:nvSpPr>
          <p:spPr>
            <a:xfrm>
              <a:off x="5572124" y="2647890"/>
              <a:ext cx="1276350" cy="400110"/>
            </a:xfrm>
            <a:prstGeom prst="rect">
              <a:avLst/>
            </a:prstGeom>
            <a:noFill/>
          </p:spPr>
          <p:txBody>
            <a:bodyPr wrap="square" rtlCol="0">
              <a:spAutoFit/>
            </a:bodyPr>
            <a:lstStyle/>
            <a:p>
              <a:r>
                <a:rPr lang="en-US" sz="2000" b="1" dirty="0" smtClean="0"/>
                <a:t>Cost</a:t>
              </a:r>
              <a:endParaRPr lang="en-US" b="1" dirty="0"/>
            </a:p>
          </p:txBody>
        </p:sp>
        <p:sp>
          <p:nvSpPr>
            <p:cNvPr id="10" name="TextBox 9"/>
            <p:cNvSpPr txBox="1"/>
            <p:nvPr/>
          </p:nvSpPr>
          <p:spPr>
            <a:xfrm>
              <a:off x="3203704" y="4238536"/>
              <a:ext cx="2362200" cy="400110"/>
            </a:xfrm>
            <a:prstGeom prst="rect">
              <a:avLst/>
            </a:prstGeom>
            <a:noFill/>
          </p:spPr>
          <p:txBody>
            <a:bodyPr wrap="square" rtlCol="0">
              <a:spAutoFit/>
            </a:bodyPr>
            <a:lstStyle/>
            <a:p>
              <a:r>
                <a:rPr lang="en-US" sz="2000" b="1" dirty="0" smtClean="0"/>
                <a:t>Scope/ Requirement</a:t>
              </a:r>
              <a:endParaRPr lang="en-US" b="1" dirty="0"/>
            </a:p>
          </p:txBody>
        </p:sp>
        <p:sp>
          <p:nvSpPr>
            <p:cNvPr id="11" name="TextBox 10"/>
            <p:cNvSpPr txBox="1"/>
            <p:nvPr/>
          </p:nvSpPr>
          <p:spPr>
            <a:xfrm>
              <a:off x="2470278" y="4929196"/>
              <a:ext cx="3829051" cy="707886"/>
            </a:xfrm>
            <a:prstGeom prst="rect">
              <a:avLst/>
            </a:prstGeom>
            <a:noFill/>
          </p:spPr>
          <p:txBody>
            <a:bodyPr wrap="square" rtlCol="0">
              <a:spAutoFit/>
            </a:bodyPr>
            <a:lstStyle/>
            <a:p>
              <a:r>
                <a:rPr lang="en-US" sz="2000" b="1" dirty="0" smtClean="0"/>
                <a:t>Fig: </a:t>
              </a:r>
              <a:r>
                <a:rPr lang="en-US" sz="2000" dirty="0"/>
                <a:t>Project Management Triangle/ Iron Triangle/ Quality Triangle</a:t>
              </a:r>
              <a:r>
                <a:rPr lang="en-US" sz="2000" b="1" dirty="0" smtClean="0"/>
                <a:t> </a:t>
              </a:r>
              <a:endParaRPr lang="en-US" b="1" dirty="0"/>
            </a:p>
          </p:txBody>
        </p:sp>
      </p:grpSp>
    </p:spTree>
    <p:extLst>
      <p:ext uri="{BB962C8B-B14F-4D97-AF65-F5344CB8AC3E}">
        <p14:creationId xmlns:p14="http://schemas.microsoft.com/office/powerpoint/2010/main" val="28550303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5</a:t>
            </a:fld>
            <a:endParaRPr lang="en-US" dirty="0"/>
          </a:p>
        </p:txBody>
      </p:sp>
      <p:sp>
        <p:nvSpPr>
          <p:cNvPr id="3" name="Title 2"/>
          <p:cNvSpPr>
            <a:spLocks noGrp="1"/>
          </p:cNvSpPr>
          <p:nvPr>
            <p:ph type="title"/>
          </p:nvPr>
        </p:nvSpPr>
        <p:spPr/>
        <p:txBody>
          <a:bodyPr/>
          <a:lstStyle/>
          <a:p>
            <a:r>
              <a:rPr lang="en-US" dirty="0"/>
              <a:t>Total Quality Management (TQM) </a:t>
            </a:r>
          </a:p>
        </p:txBody>
      </p:sp>
      <p:sp>
        <p:nvSpPr>
          <p:cNvPr id="4" name="Text Placeholder 3"/>
          <p:cNvSpPr>
            <a:spLocks noGrp="1"/>
          </p:cNvSpPr>
          <p:nvPr>
            <p:ph type="body" sz="quarter" idx="13"/>
          </p:nvPr>
        </p:nvSpPr>
        <p:spPr/>
        <p:txBody>
          <a:bodyPr>
            <a:normAutofit/>
          </a:bodyPr>
          <a:lstStyle/>
          <a:p>
            <a:r>
              <a:rPr lang="en-US" sz="2800" dirty="0"/>
              <a:t>TQM is an approach to improving the effectiveness and flexibilities of business as a </a:t>
            </a:r>
            <a:r>
              <a:rPr lang="en-US" sz="2800" dirty="0" smtClean="0"/>
              <a:t>whole</a:t>
            </a:r>
          </a:p>
          <a:p>
            <a:r>
              <a:rPr lang="en-US" sz="2800" dirty="0"/>
              <a:t>It is essentially a way of organizing and involving the whole organization, every </a:t>
            </a:r>
            <a:r>
              <a:rPr lang="en-US" sz="2800" dirty="0" smtClean="0"/>
              <a:t>department, </a:t>
            </a:r>
            <a:r>
              <a:rPr lang="en-US" sz="2800" dirty="0"/>
              <a:t>every activity and every single person at every </a:t>
            </a:r>
            <a:r>
              <a:rPr lang="en-US" sz="2800" dirty="0" smtClean="0"/>
              <a:t>level</a:t>
            </a:r>
          </a:p>
          <a:p>
            <a:r>
              <a:rPr lang="en-US" sz="2800" dirty="0"/>
              <a:t>TQM ensures that the management adopts a strategic overview of the quality and focuses on prevention rather than </a:t>
            </a:r>
            <a:r>
              <a:rPr lang="en-US" sz="2800" dirty="0" smtClean="0"/>
              <a:t>inspection</a:t>
            </a:r>
          </a:p>
          <a:p>
            <a:r>
              <a:rPr lang="en-US" sz="2800" dirty="0" smtClean="0"/>
              <a:t>It </a:t>
            </a:r>
            <a:r>
              <a:rPr lang="en-US" sz="2800" dirty="0"/>
              <a:t>encourages innovation, makes the organization adaptable to change, motivates people for better quality</a:t>
            </a:r>
          </a:p>
        </p:txBody>
      </p:sp>
    </p:spTree>
    <p:extLst>
      <p:ext uri="{BB962C8B-B14F-4D97-AF65-F5344CB8AC3E}">
        <p14:creationId xmlns:p14="http://schemas.microsoft.com/office/powerpoint/2010/main" val="31310278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6</a:t>
            </a:fld>
            <a:endParaRPr lang="en-US" dirty="0"/>
          </a:p>
        </p:txBody>
      </p:sp>
      <p:sp>
        <p:nvSpPr>
          <p:cNvPr id="3" name="Title 2"/>
          <p:cNvSpPr>
            <a:spLocks noGrp="1"/>
          </p:cNvSpPr>
          <p:nvPr>
            <p:ph type="title"/>
          </p:nvPr>
        </p:nvSpPr>
        <p:spPr/>
        <p:txBody>
          <a:bodyPr/>
          <a:lstStyle/>
          <a:p>
            <a:r>
              <a:rPr lang="en-US" dirty="0"/>
              <a:t>Objectives of TQM</a:t>
            </a:r>
          </a:p>
        </p:txBody>
      </p:sp>
      <p:sp>
        <p:nvSpPr>
          <p:cNvPr id="4" name="Text Placeholder 3"/>
          <p:cNvSpPr>
            <a:spLocks noGrp="1"/>
          </p:cNvSpPr>
          <p:nvPr>
            <p:ph type="body" sz="quarter" idx="13"/>
          </p:nvPr>
        </p:nvSpPr>
        <p:spPr/>
        <p:txBody>
          <a:bodyPr>
            <a:normAutofit/>
          </a:bodyPr>
          <a:lstStyle/>
          <a:p>
            <a:r>
              <a:rPr lang="en-US" sz="2800" dirty="0" smtClean="0"/>
              <a:t>Meeting </a:t>
            </a:r>
            <a:r>
              <a:rPr lang="en-US" sz="2800" dirty="0"/>
              <a:t>the customer's requirements is the primary objective and the key to organizational survival and growth</a:t>
            </a:r>
            <a:r>
              <a:rPr lang="en-US" sz="2800" dirty="0" smtClean="0"/>
              <a:t>.</a:t>
            </a:r>
          </a:p>
          <a:p>
            <a:r>
              <a:rPr lang="en-US" sz="2800" dirty="0" smtClean="0"/>
              <a:t>The </a:t>
            </a:r>
            <a:r>
              <a:rPr lang="en-US" sz="2800" dirty="0"/>
              <a:t>second objective of TQM is continuous improvement of quality. The management should stimulate the employees in becoming increasingly competent and creative. </a:t>
            </a:r>
            <a:endParaRPr lang="en-US" sz="2800" dirty="0" smtClean="0"/>
          </a:p>
          <a:p>
            <a:r>
              <a:rPr lang="en-US" sz="2800" dirty="0" smtClean="0"/>
              <a:t>Third</a:t>
            </a:r>
            <a:r>
              <a:rPr lang="en-US" sz="2800" dirty="0"/>
              <a:t>, TQM aims at developing the relationship of openness and trust among the employees at all levels in the organization. </a:t>
            </a:r>
          </a:p>
        </p:txBody>
      </p:sp>
    </p:spTree>
    <p:extLst>
      <p:ext uri="{BB962C8B-B14F-4D97-AF65-F5344CB8AC3E}">
        <p14:creationId xmlns:p14="http://schemas.microsoft.com/office/powerpoint/2010/main" val="1588291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7</a:t>
            </a:fld>
            <a:endParaRPr lang="en-US" dirty="0"/>
          </a:p>
        </p:txBody>
      </p:sp>
      <p:sp>
        <p:nvSpPr>
          <p:cNvPr id="3" name="Title 2"/>
          <p:cNvSpPr>
            <a:spLocks noGrp="1"/>
          </p:cNvSpPr>
          <p:nvPr>
            <p:ph type="title"/>
          </p:nvPr>
        </p:nvSpPr>
        <p:spPr/>
        <p:txBody>
          <a:bodyPr/>
          <a:lstStyle/>
          <a:p>
            <a:r>
              <a:rPr lang="en-US" dirty="0"/>
              <a:t>Elements of TQM</a:t>
            </a:r>
          </a:p>
        </p:txBody>
      </p:sp>
      <p:sp>
        <p:nvSpPr>
          <p:cNvPr id="4" name="Text Placeholder 3"/>
          <p:cNvSpPr>
            <a:spLocks noGrp="1"/>
          </p:cNvSpPr>
          <p:nvPr>
            <p:ph type="body" sz="quarter" idx="13"/>
          </p:nvPr>
        </p:nvSpPr>
        <p:spPr/>
        <p:txBody>
          <a:bodyPr>
            <a:noAutofit/>
          </a:bodyPr>
          <a:lstStyle/>
          <a:p>
            <a:r>
              <a:rPr lang="en-US" sz="2800" b="1" u="sng" dirty="0"/>
              <a:t>Be customer focused </a:t>
            </a:r>
            <a:r>
              <a:rPr lang="en-US" sz="2800" dirty="0"/>
              <a:t>It requires the company to check customers' attitudes regularly and includes the idea of internal customers as well as external ones. </a:t>
            </a:r>
            <a:endParaRPr lang="en-US" sz="2800" dirty="0" smtClean="0"/>
          </a:p>
          <a:p>
            <a:r>
              <a:rPr lang="en-US" sz="2800" b="1" u="sng" dirty="0" smtClean="0"/>
              <a:t>Do </a:t>
            </a:r>
            <a:r>
              <a:rPr lang="en-US" sz="2800" b="1" u="sng" dirty="0"/>
              <a:t>it right the first time </a:t>
            </a:r>
            <a:r>
              <a:rPr lang="en-US" sz="2800" dirty="0"/>
              <a:t>This means avoiding rework, i.e., cutting the amount of defective work. </a:t>
            </a:r>
            <a:endParaRPr lang="en-US" sz="2800" dirty="0" smtClean="0"/>
          </a:p>
          <a:p>
            <a:r>
              <a:rPr lang="en-US" sz="2800" b="1" u="sng" dirty="0" smtClean="0"/>
              <a:t>Constantly </a:t>
            </a:r>
            <a:r>
              <a:rPr lang="en-US" sz="2800" b="1" u="sng" dirty="0"/>
              <a:t>improve</a:t>
            </a:r>
            <a:r>
              <a:rPr lang="en-US" sz="2800" dirty="0"/>
              <a:t> Continuous improvement allows the company gradually to get better. </a:t>
            </a:r>
            <a:endParaRPr lang="en-US" sz="2800" dirty="0" smtClean="0"/>
          </a:p>
          <a:p>
            <a:r>
              <a:rPr lang="en-US" sz="2800" b="1" u="sng" dirty="0" smtClean="0"/>
              <a:t>Quality </a:t>
            </a:r>
            <a:r>
              <a:rPr lang="en-US" sz="2800" b="1" u="sng" dirty="0"/>
              <a:t>is an attitude </a:t>
            </a:r>
            <a:r>
              <a:rPr lang="en-US" sz="2800" dirty="0"/>
              <a:t>Every one has to be committed to quality. That means changing the attitude of the entire workforce, and altering the way the company operates. </a:t>
            </a:r>
            <a:endParaRPr lang="en-US" sz="2800" dirty="0" smtClean="0"/>
          </a:p>
        </p:txBody>
      </p:sp>
    </p:spTree>
    <p:extLst>
      <p:ext uri="{BB962C8B-B14F-4D97-AF65-F5344CB8AC3E}">
        <p14:creationId xmlns:p14="http://schemas.microsoft.com/office/powerpoint/2010/main" val="6098462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8</a:t>
            </a:fld>
            <a:endParaRPr lang="en-US" dirty="0"/>
          </a:p>
        </p:txBody>
      </p:sp>
      <p:sp>
        <p:nvSpPr>
          <p:cNvPr id="3" name="Title 2"/>
          <p:cNvSpPr>
            <a:spLocks noGrp="1"/>
          </p:cNvSpPr>
          <p:nvPr>
            <p:ph type="title"/>
          </p:nvPr>
        </p:nvSpPr>
        <p:spPr/>
        <p:txBody>
          <a:bodyPr/>
          <a:lstStyle/>
          <a:p>
            <a:r>
              <a:rPr lang="en-US" dirty="0"/>
              <a:t>Elements of TQM</a:t>
            </a:r>
          </a:p>
        </p:txBody>
      </p:sp>
      <p:sp>
        <p:nvSpPr>
          <p:cNvPr id="4" name="Text Placeholder 3"/>
          <p:cNvSpPr>
            <a:spLocks noGrp="1"/>
          </p:cNvSpPr>
          <p:nvPr>
            <p:ph type="body" sz="quarter" idx="13"/>
          </p:nvPr>
        </p:nvSpPr>
        <p:spPr>
          <a:xfrm>
            <a:off x="457201" y="1447800"/>
            <a:ext cx="8381999" cy="4800600"/>
          </a:xfrm>
        </p:spPr>
        <p:txBody>
          <a:bodyPr>
            <a:noAutofit/>
          </a:bodyPr>
          <a:lstStyle/>
          <a:p>
            <a:r>
              <a:rPr lang="en-US" sz="2800" b="1" u="sng" dirty="0" smtClean="0"/>
              <a:t>Telling </a:t>
            </a:r>
            <a:r>
              <a:rPr lang="en-US" sz="2800" b="1" u="sng" dirty="0"/>
              <a:t>staff what is going on </a:t>
            </a:r>
            <a:r>
              <a:rPr lang="en-US" sz="2800" dirty="0"/>
              <a:t>This involves improved communication. Typically, it includes team briefing. </a:t>
            </a:r>
            <a:endParaRPr lang="en-US" sz="2800" dirty="0" smtClean="0"/>
          </a:p>
          <a:p>
            <a:r>
              <a:rPr lang="en-US" sz="2800" b="1" u="sng" dirty="0"/>
              <a:t>Educate and train people </a:t>
            </a:r>
            <a:r>
              <a:rPr lang="en-US" sz="2800" dirty="0"/>
              <a:t>An unskilled workforce makes mistakes. Giving more skills to workers means they can do a wider range of jobs, and do them better. </a:t>
            </a:r>
            <a:endParaRPr lang="en-US" sz="2800" dirty="0" smtClean="0"/>
          </a:p>
          <a:p>
            <a:r>
              <a:rPr lang="en-US" sz="2800" b="1" u="sng" dirty="0" smtClean="0"/>
              <a:t>Measure </a:t>
            </a:r>
            <a:r>
              <a:rPr lang="en-US" sz="2800" b="1" u="sng" dirty="0"/>
              <a:t>the work.</a:t>
            </a:r>
            <a:r>
              <a:rPr lang="en-US" sz="2800" dirty="0"/>
              <a:t> Measurement allows the company to make decisions based on facts, not opinion. It helps to maintain standards and keep processes within the agreed tolerances. </a:t>
            </a:r>
            <a:endParaRPr lang="en-US" sz="2800" dirty="0" smtClean="0"/>
          </a:p>
          <a:p>
            <a:r>
              <a:rPr lang="en-US" sz="2800" b="1" u="sng" dirty="0" smtClean="0"/>
              <a:t>Top </a:t>
            </a:r>
            <a:r>
              <a:rPr lang="en-US" sz="2800" b="1" u="sng" dirty="0"/>
              <a:t>management must be involved</a:t>
            </a:r>
            <a:r>
              <a:rPr lang="en-US" sz="2800" dirty="0"/>
              <a:t> If senior management is not involved, the programme will fail.</a:t>
            </a:r>
          </a:p>
        </p:txBody>
      </p:sp>
    </p:spTree>
    <p:extLst>
      <p:ext uri="{BB962C8B-B14F-4D97-AF65-F5344CB8AC3E}">
        <p14:creationId xmlns:p14="http://schemas.microsoft.com/office/powerpoint/2010/main" val="13836785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a:t>
            </a:fld>
            <a:endParaRPr lang="en-US" dirty="0"/>
          </a:p>
        </p:txBody>
      </p:sp>
      <p:sp>
        <p:nvSpPr>
          <p:cNvPr id="3" name="Title 2"/>
          <p:cNvSpPr>
            <a:spLocks noGrp="1"/>
          </p:cNvSpPr>
          <p:nvPr>
            <p:ph type="title"/>
          </p:nvPr>
        </p:nvSpPr>
        <p:spPr/>
        <p:txBody>
          <a:bodyPr/>
          <a:lstStyle/>
          <a:p>
            <a:r>
              <a:rPr lang="en-US" dirty="0"/>
              <a:t>Elements of TQM</a:t>
            </a:r>
          </a:p>
        </p:txBody>
      </p:sp>
      <p:sp>
        <p:nvSpPr>
          <p:cNvPr id="4" name="Text Placeholder 3"/>
          <p:cNvSpPr>
            <a:spLocks noGrp="1"/>
          </p:cNvSpPr>
          <p:nvPr>
            <p:ph type="body" sz="quarter" idx="13"/>
          </p:nvPr>
        </p:nvSpPr>
        <p:spPr>
          <a:xfrm>
            <a:off x="457201" y="1447800"/>
            <a:ext cx="8381999" cy="4800600"/>
          </a:xfrm>
        </p:spPr>
        <p:txBody>
          <a:bodyPr>
            <a:noAutofit/>
          </a:bodyPr>
          <a:lstStyle/>
          <a:p>
            <a:r>
              <a:rPr lang="en-US" sz="2600" b="1" u="sng" dirty="0" smtClean="0"/>
              <a:t>Make </a:t>
            </a:r>
            <a:r>
              <a:rPr lang="en-US" sz="2600" b="1" u="sng" dirty="0"/>
              <a:t>it a good place to work</a:t>
            </a:r>
            <a:r>
              <a:rPr lang="en-US" sz="2600" dirty="0"/>
              <a:t> </a:t>
            </a:r>
            <a:r>
              <a:rPr lang="en-US" sz="2600" dirty="0" smtClean="0"/>
              <a:t>Staffs </a:t>
            </a:r>
            <a:r>
              <a:rPr lang="en-US" sz="2600" dirty="0"/>
              <a:t>are afraid of the sack, their boss and making mistakes. There is no point in running a TQM program unless the company drives out fear. </a:t>
            </a:r>
            <a:endParaRPr lang="en-US" sz="2600" dirty="0" smtClean="0"/>
          </a:p>
          <a:p>
            <a:r>
              <a:rPr lang="en-US" sz="2600" b="1" u="sng" dirty="0" smtClean="0"/>
              <a:t>Introduce </a:t>
            </a:r>
            <a:r>
              <a:rPr lang="en-US" sz="2600" b="1" u="sng" dirty="0"/>
              <a:t>team work</a:t>
            </a:r>
            <a:r>
              <a:rPr lang="en-US" sz="2600" dirty="0"/>
              <a:t> Team work boosts employees' morale. It reduces conflict and solves problem by hitting them with a wider range of skills. It pushes authority and responsibility downwards and provides better, more balanced solutions. </a:t>
            </a:r>
            <a:endParaRPr lang="en-US" sz="2600" dirty="0" smtClean="0"/>
          </a:p>
          <a:p>
            <a:r>
              <a:rPr lang="en-US" sz="2600" b="1" u="sng" dirty="0" smtClean="0"/>
              <a:t>Organize </a:t>
            </a:r>
            <a:r>
              <a:rPr lang="en-US" sz="2600" b="1" u="sng" dirty="0"/>
              <a:t>by process, not by function</a:t>
            </a:r>
            <a:r>
              <a:rPr lang="en-US" sz="2600" dirty="0"/>
              <a:t> This element of TQM seeks to reduce the barriers that exist between different departments, and concentrates on getting the product to the customer.</a:t>
            </a:r>
          </a:p>
        </p:txBody>
      </p:sp>
    </p:spTree>
    <p:extLst>
      <p:ext uri="{BB962C8B-B14F-4D97-AF65-F5344CB8AC3E}">
        <p14:creationId xmlns:p14="http://schemas.microsoft.com/office/powerpoint/2010/main" val="3791067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10</a:t>
            </a:fld>
            <a:endParaRPr lang="en-US" dirty="0"/>
          </a:p>
        </p:txBody>
      </p:sp>
      <p:sp>
        <p:nvSpPr>
          <p:cNvPr id="3" name="Title 2"/>
          <p:cNvSpPr>
            <a:spLocks noGrp="1"/>
          </p:cNvSpPr>
          <p:nvPr>
            <p:ph type="title"/>
          </p:nvPr>
        </p:nvSpPr>
        <p:spPr/>
        <p:txBody>
          <a:bodyPr/>
          <a:lstStyle/>
          <a:p>
            <a:r>
              <a:rPr lang="en-US" dirty="0" smtClean="0"/>
              <a:t>TQM Fails Because</a:t>
            </a:r>
            <a:endParaRPr lang="en-US" dirty="0"/>
          </a:p>
        </p:txBody>
      </p:sp>
      <p:sp>
        <p:nvSpPr>
          <p:cNvPr id="4" name="Text Placeholder 3"/>
          <p:cNvSpPr>
            <a:spLocks noGrp="1"/>
          </p:cNvSpPr>
          <p:nvPr>
            <p:ph type="body" sz="quarter" idx="13"/>
          </p:nvPr>
        </p:nvSpPr>
        <p:spPr>
          <a:xfrm>
            <a:off x="609600" y="1447800"/>
            <a:ext cx="8229600" cy="4495800"/>
          </a:xfrm>
        </p:spPr>
        <p:txBody>
          <a:bodyPr/>
          <a:lstStyle/>
          <a:p>
            <a:r>
              <a:rPr lang="en-US" sz="2800" dirty="0" smtClean="0"/>
              <a:t>Top </a:t>
            </a:r>
            <a:r>
              <a:rPr lang="en-US" sz="2800" dirty="0"/>
              <a:t>management sees no reason for change. </a:t>
            </a:r>
            <a:endParaRPr lang="en-US" sz="2800" dirty="0" smtClean="0"/>
          </a:p>
          <a:p>
            <a:r>
              <a:rPr lang="en-US" sz="2800" dirty="0" smtClean="0"/>
              <a:t>Top </a:t>
            </a:r>
            <a:r>
              <a:rPr lang="en-US" sz="2800" dirty="0"/>
              <a:t>management is not concerned for its staff. </a:t>
            </a:r>
            <a:endParaRPr lang="en-US" sz="2800" dirty="0" smtClean="0"/>
          </a:p>
          <a:p>
            <a:r>
              <a:rPr lang="en-US" sz="2800" dirty="0" smtClean="0"/>
              <a:t>Top </a:t>
            </a:r>
            <a:r>
              <a:rPr lang="en-US" sz="2800" dirty="0"/>
              <a:t>management is not committed to the TQM programme. </a:t>
            </a:r>
            <a:endParaRPr lang="en-US" sz="2800" dirty="0" smtClean="0"/>
          </a:p>
          <a:p>
            <a:r>
              <a:rPr lang="en-US" sz="2800" dirty="0" smtClean="0"/>
              <a:t>The </a:t>
            </a:r>
            <a:r>
              <a:rPr lang="en-US" sz="2800" dirty="0"/>
              <a:t>company loses interest in the programme after six months. </a:t>
            </a:r>
            <a:endParaRPr lang="en-US" sz="2800" dirty="0" smtClean="0"/>
          </a:p>
          <a:p>
            <a:r>
              <a:rPr lang="en-US" sz="2800" dirty="0" smtClean="0"/>
              <a:t>The </a:t>
            </a:r>
            <a:r>
              <a:rPr lang="en-US" sz="2800" dirty="0"/>
              <a:t>workforce and the management do not agree on what needs to happen</a:t>
            </a:r>
            <a:r>
              <a:rPr lang="en-US" dirty="0"/>
              <a:t>.</a:t>
            </a:r>
          </a:p>
        </p:txBody>
      </p:sp>
    </p:spTree>
    <p:extLst>
      <p:ext uri="{BB962C8B-B14F-4D97-AF65-F5344CB8AC3E}">
        <p14:creationId xmlns:p14="http://schemas.microsoft.com/office/powerpoint/2010/main" val="2944744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2672734"/>
            <a:ext cx="196850" cy="368300"/>
          </a:xfrm>
          <a:prstGeom prst="rect">
            <a:avLst/>
          </a:prstGeom>
        </p:spPr>
        <p:txBody>
          <a:bodyPr wrap="square" lIns="0" tIns="18161" rIns="0" bIns="0" rtlCol="0">
            <a:noAutofit/>
          </a:bodyPr>
          <a:lstStyle/>
          <a:p>
            <a:pPr marL="12700">
              <a:lnSpc>
                <a:spcPts val="2860"/>
              </a:lnSpc>
            </a:pPr>
            <a:endParaRPr sz="2700" dirty="0">
              <a:latin typeface="Arial"/>
              <a:cs typeface="Arial"/>
            </a:endParaRPr>
          </a:p>
        </p:txBody>
      </p:sp>
      <p:sp>
        <p:nvSpPr>
          <p:cNvPr id="6" name="Title 5"/>
          <p:cNvSpPr>
            <a:spLocks noGrp="1"/>
          </p:cNvSpPr>
          <p:nvPr>
            <p:ph type="title"/>
          </p:nvPr>
        </p:nvSpPr>
        <p:spPr>
          <a:xfrm>
            <a:off x="381000" y="580160"/>
            <a:ext cx="8381999" cy="909673"/>
          </a:xfrm>
        </p:spPr>
        <p:txBody>
          <a:bodyPr>
            <a:noAutofit/>
          </a:bodyPr>
          <a:lstStyle/>
          <a:p>
            <a:pPr marL="180456" marR="560221">
              <a:lnSpc>
                <a:spcPts val="4100"/>
              </a:lnSpc>
            </a:pPr>
            <a:r>
              <a:rPr lang="en-US" dirty="0" smtClean="0"/>
              <a:t>The Importance Of Software Quality</a:t>
            </a:r>
            <a:endParaRPr lang="en-US" dirty="0"/>
          </a:p>
        </p:txBody>
      </p:sp>
      <p:sp>
        <p:nvSpPr>
          <p:cNvPr id="7" name="Text Placeholder 6"/>
          <p:cNvSpPr>
            <a:spLocks noGrp="1"/>
          </p:cNvSpPr>
          <p:nvPr>
            <p:ph type="body" sz="quarter" idx="13"/>
          </p:nvPr>
        </p:nvSpPr>
        <p:spPr>
          <a:xfrm>
            <a:off x="634365" y="1600200"/>
            <a:ext cx="8381999" cy="4495800"/>
          </a:xfrm>
        </p:spPr>
        <p:txBody>
          <a:bodyPr>
            <a:normAutofit fontScale="92500"/>
          </a:bodyPr>
          <a:lstStyle/>
          <a:p>
            <a:r>
              <a:rPr lang="en-US" sz="2800" dirty="0"/>
              <a:t>Increasingly criticality of software: The final customer or user is naturally anxious about the general quality of software.</a:t>
            </a:r>
          </a:p>
          <a:p>
            <a:r>
              <a:rPr lang="en-US" sz="2800" dirty="0"/>
              <a:t>The intangibility of software : This makes it difficult to know that a particular task in a project has been completed satisfactory.</a:t>
            </a:r>
          </a:p>
          <a:p>
            <a:r>
              <a:rPr lang="en-US" sz="2800" dirty="0"/>
              <a:t>Accumulating errors during software development : As computer system development is made up of a number of steps where the output from one step is the input to the next steps, the error in the earlier deliverable will be added to those in the later step, leading to an accumulating detrimental effect.</a:t>
            </a:r>
          </a:p>
          <a:p>
            <a:endParaRPr lang="en-US" dirty="0"/>
          </a:p>
        </p:txBody>
      </p:sp>
      <p:sp>
        <p:nvSpPr>
          <p:cNvPr id="2" name="Slide Number Placeholder 1"/>
          <p:cNvSpPr>
            <a:spLocks noGrp="1"/>
          </p:cNvSpPr>
          <p:nvPr>
            <p:ph type="sldNum" sz="quarter" idx="12"/>
          </p:nvPr>
        </p:nvSpPr>
        <p:spPr/>
        <p:txBody>
          <a:bodyPr/>
          <a:lstStyle/>
          <a:p>
            <a:fld id="{E5CE4F79-B2B3-4E4E-AB5D-F771515B9CEF}" type="slidenum">
              <a:rPr lang="en-US" smtClean="0"/>
              <a:t>11</a:t>
            </a:fld>
            <a:endParaRPr lang="en-US" dirty="0"/>
          </a:p>
        </p:txBody>
      </p:sp>
    </p:spTree>
    <p:extLst>
      <p:ext uri="{BB962C8B-B14F-4D97-AF65-F5344CB8AC3E}">
        <p14:creationId xmlns:p14="http://schemas.microsoft.com/office/powerpoint/2010/main" val="2972264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535940" y="601497"/>
            <a:ext cx="7770891" cy="770103"/>
          </a:xfrm>
          <a:prstGeom prst="rect">
            <a:avLst/>
          </a:prstGeom>
        </p:spPr>
        <p:txBody>
          <a:bodyPr wrap="square" lIns="0" tIns="28606" rIns="0" bIns="0" rtlCol="0">
            <a:noAutofit/>
          </a:bodyPr>
          <a:lstStyle/>
          <a:p>
            <a:pPr marL="467766" marR="74414">
              <a:lnSpc>
                <a:spcPts val="4505"/>
              </a:lnSpc>
            </a:pPr>
            <a:endParaRPr sz="3200" dirty="0">
              <a:latin typeface="Calibri"/>
              <a:cs typeface="Calibri"/>
            </a:endParaRPr>
          </a:p>
        </p:txBody>
      </p:sp>
      <p:sp>
        <p:nvSpPr>
          <p:cNvPr id="4" name="object 4"/>
          <p:cNvSpPr txBox="1"/>
          <p:nvPr/>
        </p:nvSpPr>
        <p:spPr>
          <a:xfrm>
            <a:off x="879144" y="2782570"/>
            <a:ext cx="7684307" cy="3066364"/>
          </a:xfrm>
          <a:prstGeom prst="rect">
            <a:avLst/>
          </a:prstGeom>
        </p:spPr>
        <p:txBody>
          <a:bodyPr wrap="square" lIns="0" tIns="20986" rIns="0" bIns="0" rtlCol="0">
            <a:noAutofit/>
          </a:bodyPr>
          <a:lstStyle/>
          <a:p>
            <a:pPr marL="12700" marR="61714">
              <a:lnSpc>
                <a:spcPts val="3304"/>
              </a:lnSpc>
            </a:pPr>
            <a:endParaRPr sz="3200" dirty="0">
              <a:latin typeface="Calibri"/>
              <a:cs typeface="Calibri"/>
            </a:endParaRPr>
          </a:p>
        </p:txBody>
      </p:sp>
      <p:sp>
        <p:nvSpPr>
          <p:cNvPr id="9" name="Title 8"/>
          <p:cNvSpPr>
            <a:spLocks noGrp="1"/>
          </p:cNvSpPr>
          <p:nvPr>
            <p:ph type="title"/>
          </p:nvPr>
        </p:nvSpPr>
        <p:spPr/>
        <p:txBody>
          <a:bodyPr>
            <a:normAutofit/>
          </a:bodyPr>
          <a:lstStyle/>
          <a:p>
            <a:pPr marL="180456" marR="560221">
              <a:lnSpc>
                <a:spcPts val="4100"/>
              </a:lnSpc>
            </a:pPr>
            <a:r>
              <a:rPr lang="en-US" dirty="0" smtClean="0"/>
              <a:t>Defining Software Quality</a:t>
            </a:r>
            <a:endParaRPr lang="en-US" dirty="0"/>
          </a:p>
        </p:txBody>
      </p:sp>
      <p:sp>
        <p:nvSpPr>
          <p:cNvPr id="10" name="Text Placeholder 9"/>
          <p:cNvSpPr>
            <a:spLocks noGrp="1"/>
          </p:cNvSpPr>
          <p:nvPr>
            <p:ph type="body" sz="quarter" idx="13"/>
          </p:nvPr>
        </p:nvSpPr>
        <p:spPr>
          <a:xfrm>
            <a:off x="685800" y="1447800"/>
            <a:ext cx="8153400" cy="4495800"/>
          </a:xfrm>
        </p:spPr>
        <p:txBody>
          <a:bodyPr>
            <a:normAutofit fontScale="92500"/>
          </a:bodyPr>
          <a:lstStyle/>
          <a:p>
            <a:pPr>
              <a:spcBef>
                <a:spcPct val="60000"/>
              </a:spcBef>
            </a:pPr>
            <a:r>
              <a:rPr lang="en-US" sz="2600" b="1" dirty="0" smtClean="0"/>
              <a:t>Conformance </a:t>
            </a:r>
            <a:r>
              <a:rPr lang="en-US" sz="2600" b="1" dirty="0"/>
              <a:t>to requirements</a:t>
            </a:r>
            <a:r>
              <a:rPr lang="en-US" sz="2600" dirty="0"/>
              <a:t>: The project’s processes and products meet written specifications</a:t>
            </a:r>
          </a:p>
          <a:p>
            <a:pPr>
              <a:spcBef>
                <a:spcPct val="60000"/>
              </a:spcBef>
            </a:pPr>
            <a:r>
              <a:rPr lang="en-US" sz="2600" b="1" dirty="0"/>
              <a:t>Fitness for use</a:t>
            </a:r>
            <a:r>
              <a:rPr lang="en-US" sz="2600" dirty="0"/>
              <a:t>: A product can be used as it was </a:t>
            </a:r>
            <a:r>
              <a:rPr lang="en-US" sz="2600" dirty="0" smtClean="0"/>
              <a:t>intended</a:t>
            </a:r>
          </a:p>
          <a:p>
            <a:r>
              <a:rPr lang="en-US" sz="2600" u="sng" dirty="0"/>
              <a:t>For any software system there should be three specification</a:t>
            </a:r>
          </a:p>
          <a:p>
            <a:pPr marL="305308" marR="61714" lvl="1">
              <a:lnSpc>
                <a:spcPts val="3304"/>
              </a:lnSpc>
            </a:pPr>
            <a:r>
              <a:rPr lang="en-US" sz="2600" dirty="0"/>
              <a:t>Functional specification describing what the system is to do</a:t>
            </a:r>
          </a:p>
          <a:p>
            <a:pPr marL="305308" marR="61714" lvl="1">
              <a:lnSpc>
                <a:spcPts val="3304"/>
              </a:lnSpc>
            </a:pPr>
            <a:r>
              <a:rPr lang="en-US" sz="2600" dirty="0"/>
              <a:t>Quality specification concerned with how well </a:t>
            </a:r>
            <a:r>
              <a:rPr lang="en-US" sz="2600" dirty="0" smtClean="0"/>
              <a:t>the function </a:t>
            </a:r>
            <a:r>
              <a:rPr lang="en-US" sz="2600" dirty="0"/>
              <a:t>are to operate</a:t>
            </a:r>
          </a:p>
          <a:p>
            <a:pPr marL="305308" marR="61714" lvl="1">
              <a:lnSpc>
                <a:spcPct val="101725"/>
              </a:lnSpc>
              <a:spcBef>
                <a:spcPts val="544"/>
              </a:spcBef>
            </a:pPr>
            <a:r>
              <a:rPr lang="en-US" sz="2600" dirty="0"/>
              <a:t>Resource specification concerned with how much is to be spent on the </a:t>
            </a:r>
            <a:r>
              <a:rPr lang="en-US" sz="2600" dirty="0" smtClean="0"/>
              <a:t>system</a:t>
            </a:r>
            <a:r>
              <a:rPr lang="en-US" dirty="0">
                <a:cs typeface="Calibri"/>
              </a:rPr>
              <a:t/>
            </a:r>
            <a:br>
              <a:rPr lang="en-US" dirty="0">
                <a:cs typeface="Calibri"/>
              </a:rPr>
            </a:br>
            <a:endParaRPr lang="en-US" dirty="0"/>
          </a:p>
        </p:txBody>
      </p:sp>
      <p:sp>
        <p:nvSpPr>
          <p:cNvPr id="2" name="Slide Number Placeholder 1"/>
          <p:cNvSpPr>
            <a:spLocks noGrp="1"/>
          </p:cNvSpPr>
          <p:nvPr>
            <p:ph type="sldNum" sz="quarter" idx="12"/>
          </p:nvPr>
        </p:nvSpPr>
        <p:spPr/>
        <p:txBody>
          <a:bodyPr/>
          <a:lstStyle/>
          <a:p>
            <a:fld id="{E5CE4F79-B2B3-4E4E-AB5D-F771515B9CEF}" type="slidenum">
              <a:rPr lang="en-US" smtClean="0"/>
              <a:t>12</a:t>
            </a:fld>
            <a:endParaRPr lang="en-US" dirty="0"/>
          </a:p>
        </p:txBody>
      </p:sp>
    </p:spTree>
    <p:extLst>
      <p:ext uri="{BB962C8B-B14F-4D97-AF65-F5344CB8AC3E}">
        <p14:creationId xmlns:p14="http://schemas.microsoft.com/office/powerpoint/2010/main" val="54565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535940" y="601497"/>
            <a:ext cx="7770891" cy="770103"/>
          </a:xfrm>
          <a:prstGeom prst="rect">
            <a:avLst/>
          </a:prstGeom>
        </p:spPr>
        <p:txBody>
          <a:bodyPr wrap="square" lIns="0" tIns="28606" rIns="0" bIns="0" rtlCol="0">
            <a:noAutofit/>
          </a:bodyPr>
          <a:lstStyle/>
          <a:p>
            <a:pPr marL="467766" marR="74414">
              <a:lnSpc>
                <a:spcPts val="4505"/>
              </a:lnSpc>
            </a:pPr>
            <a:endParaRPr sz="3200" dirty="0">
              <a:latin typeface="Calibri"/>
              <a:cs typeface="Calibri"/>
            </a:endParaRPr>
          </a:p>
        </p:txBody>
      </p:sp>
      <p:sp>
        <p:nvSpPr>
          <p:cNvPr id="4" name="object 4"/>
          <p:cNvSpPr txBox="1"/>
          <p:nvPr/>
        </p:nvSpPr>
        <p:spPr>
          <a:xfrm>
            <a:off x="879144" y="2782570"/>
            <a:ext cx="7684307" cy="3066364"/>
          </a:xfrm>
          <a:prstGeom prst="rect">
            <a:avLst/>
          </a:prstGeom>
        </p:spPr>
        <p:txBody>
          <a:bodyPr wrap="square" lIns="0" tIns="20986" rIns="0" bIns="0" rtlCol="0">
            <a:noAutofit/>
          </a:bodyPr>
          <a:lstStyle/>
          <a:p>
            <a:pPr marL="12700" marR="61714">
              <a:lnSpc>
                <a:spcPts val="3304"/>
              </a:lnSpc>
            </a:pPr>
            <a:endParaRPr sz="3200" dirty="0">
              <a:latin typeface="Calibri"/>
              <a:cs typeface="Calibri"/>
            </a:endParaRPr>
          </a:p>
        </p:txBody>
      </p:sp>
      <p:sp>
        <p:nvSpPr>
          <p:cNvPr id="9" name="Title 8"/>
          <p:cNvSpPr>
            <a:spLocks noGrp="1"/>
          </p:cNvSpPr>
          <p:nvPr>
            <p:ph type="title"/>
          </p:nvPr>
        </p:nvSpPr>
        <p:spPr/>
        <p:txBody>
          <a:bodyPr>
            <a:normAutofit/>
          </a:bodyPr>
          <a:lstStyle/>
          <a:p>
            <a:pPr marL="180456" marR="560221">
              <a:lnSpc>
                <a:spcPts val="4100"/>
              </a:lnSpc>
            </a:pPr>
            <a:r>
              <a:rPr lang="en-US" dirty="0" smtClean="0"/>
              <a:t>Defining Software Quality</a:t>
            </a:r>
            <a:endParaRPr lang="en-US" dirty="0"/>
          </a:p>
        </p:txBody>
      </p:sp>
      <p:sp>
        <p:nvSpPr>
          <p:cNvPr id="10" name="Text Placeholder 9"/>
          <p:cNvSpPr>
            <a:spLocks noGrp="1"/>
          </p:cNvSpPr>
          <p:nvPr>
            <p:ph type="body" sz="quarter" idx="13"/>
          </p:nvPr>
        </p:nvSpPr>
        <p:spPr>
          <a:xfrm>
            <a:off x="762000" y="1447800"/>
            <a:ext cx="8077200" cy="4800600"/>
          </a:xfrm>
        </p:spPr>
        <p:txBody>
          <a:bodyPr>
            <a:normAutofit fontScale="40000" lnSpcReduction="20000"/>
          </a:bodyPr>
          <a:lstStyle/>
          <a:p>
            <a:pPr marL="12700">
              <a:lnSpc>
                <a:spcPts val="3304"/>
              </a:lnSpc>
            </a:pPr>
            <a:r>
              <a:rPr lang="en-US" sz="6000" dirty="0"/>
              <a:t>When there is concerned about the need for a specific quality characteristics in a software product then a quality specification with the following minimum details should be drafted</a:t>
            </a:r>
          </a:p>
          <a:p>
            <a:pPr marL="305308" lvl="1">
              <a:lnSpc>
                <a:spcPts val="3304"/>
              </a:lnSpc>
            </a:pPr>
            <a:r>
              <a:rPr lang="en-US" sz="6000" dirty="0"/>
              <a:t>Definition/description : definition of the quality characteristics</a:t>
            </a:r>
          </a:p>
          <a:p>
            <a:pPr marL="305308" marR="61036" lvl="1">
              <a:lnSpc>
                <a:spcPct val="101725"/>
              </a:lnSpc>
              <a:spcBef>
                <a:spcPts val="512"/>
              </a:spcBef>
            </a:pPr>
            <a:r>
              <a:rPr lang="en-US" sz="6000" dirty="0"/>
              <a:t>Scale : the unit of measurement</a:t>
            </a:r>
          </a:p>
          <a:p>
            <a:pPr marL="305308" marR="61036" lvl="1">
              <a:lnSpc>
                <a:spcPct val="101725"/>
              </a:lnSpc>
              <a:spcBef>
                <a:spcPts val="512"/>
              </a:spcBef>
            </a:pPr>
            <a:r>
              <a:rPr lang="en-US" sz="6000" dirty="0"/>
              <a:t>Minimally acceptable : the worst value which might be acceptable if other characteristics compensated for it, and below which the product would have to be rejected out of hand</a:t>
            </a:r>
          </a:p>
          <a:p>
            <a:pPr marL="305308" marR="61036" lvl="1">
              <a:lnSpc>
                <a:spcPct val="101725"/>
              </a:lnSpc>
              <a:spcBef>
                <a:spcPts val="512"/>
              </a:spcBef>
            </a:pPr>
            <a:r>
              <a:rPr lang="en-US" sz="6000" dirty="0"/>
              <a:t>Target range: the range of values within which it is planned the quality measurement</a:t>
            </a:r>
          </a:p>
          <a:p>
            <a:pPr marL="305308" marR="61036" lvl="1">
              <a:lnSpc>
                <a:spcPct val="101725"/>
              </a:lnSpc>
              <a:spcBef>
                <a:spcPts val="512"/>
              </a:spcBef>
            </a:pPr>
            <a:r>
              <a:rPr lang="en-US" sz="6000" dirty="0"/>
              <a:t>Now: the value that applies </a:t>
            </a:r>
            <a:r>
              <a:rPr lang="en-US" sz="6000" dirty="0" smtClean="0"/>
              <a:t>currently</a:t>
            </a:r>
            <a:endParaRPr lang="en-US" sz="2600" spc="-2" dirty="0">
              <a:cs typeface="Calibri"/>
            </a:endParaRPr>
          </a:p>
        </p:txBody>
      </p:sp>
      <p:sp>
        <p:nvSpPr>
          <p:cNvPr id="2" name="Slide Number Placeholder 1"/>
          <p:cNvSpPr>
            <a:spLocks noGrp="1"/>
          </p:cNvSpPr>
          <p:nvPr>
            <p:ph type="sldNum" sz="quarter" idx="12"/>
          </p:nvPr>
        </p:nvSpPr>
        <p:spPr/>
        <p:txBody>
          <a:bodyPr/>
          <a:lstStyle/>
          <a:p>
            <a:fld id="{E5CE4F79-B2B3-4E4E-AB5D-F771515B9CEF}" type="slidenum">
              <a:rPr lang="en-US" smtClean="0"/>
              <a:t>13</a:t>
            </a:fld>
            <a:endParaRPr lang="en-US" dirty="0"/>
          </a:p>
        </p:txBody>
      </p:sp>
    </p:spTree>
    <p:extLst>
      <p:ext uri="{BB962C8B-B14F-4D97-AF65-F5344CB8AC3E}">
        <p14:creationId xmlns:p14="http://schemas.microsoft.com/office/powerpoint/2010/main" val="32403890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14</a:t>
            </a:fld>
            <a:endParaRPr lang="en-US" dirty="0"/>
          </a:p>
        </p:txBody>
      </p:sp>
      <p:sp>
        <p:nvSpPr>
          <p:cNvPr id="3" name="Title 2"/>
          <p:cNvSpPr>
            <a:spLocks noGrp="1"/>
          </p:cNvSpPr>
          <p:nvPr>
            <p:ph type="title"/>
          </p:nvPr>
        </p:nvSpPr>
        <p:spPr/>
        <p:txBody>
          <a:bodyPr/>
          <a:lstStyle/>
          <a:p>
            <a:r>
              <a:rPr lang="en-US" altLang="en-US" dirty="0"/>
              <a:t>Quality Management Activities</a:t>
            </a:r>
            <a:endParaRPr lang="en-US" dirty="0"/>
          </a:p>
        </p:txBody>
      </p:sp>
      <p:sp>
        <p:nvSpPr>
          <p:cNvPr id="4" name="Text Placeholder 3"/>
          <p:cNvSpPr>
            <a:spLocks noGrp="1"/>
          </p:cNvSpPr>
          <p:nvPr>
            <p:ph type="body" sz="quarter" idx="13"/>
          </p:nvPr>
        </p:nvSpPr>
        <p:spPr/>
        <p:txBody>
          <a:bodyPr>
            <a:normAutofit fontScale="92500" lnSpcReduction="10000"/>
          </a:bodyPr>
          <a:lstStyle/>
          <a:p>
            <a:r>
              <a:rPr lang="en-US" altLang="en-US" sz="2800" dirty="0" smtClean="0"/>
              <a:t>Quality planning (Planning)</a:t>
            </a:r>
            <a:endParaRPr lang="en-US" altLang="en-US" sz="2800" dirty="0"/>
          </a:p>
          <a:p>
            <a:pPr lvl="1"/>
            <a:r>
              <a:rPr lang="en-US" altLang="en-US" sz="2400" dirty="0"/>
              <a:t>selecting and modifying applicable quality standards and procedures for a particular </a:t>
            </a:r>
            <a:r>
              <a:rPr lang="en-US" altLang="en-US" sz="2400" dirty="0" smtClean="0"/>
              <a:t>project</a:t>
            </a:r>
          </a:p>
          <a:p>
            <a:r>
              <a:rPr lang="en-US" altLang="en-US" sz="2800" dirty="0"/>
              <a:t>Quality </a:t>
            </a:r>
            <a:r>
              <a:rPr lang="en-US" altLang="en-US" sz="2800" dirty="0" smtClean="0"/>
              <a:t>assurance (Executing)</a:t>
            </a:r>
            <a:endParaRPr lang="en-US" altLang="en-US" dirty="0"/>
          </a:p>
          <a:p>
            <a:pPr lvl="1"/>
            <a:r>
              <a:rPr lang="en-US" altLang="en-US" sz="2400" dirty="0"/>
              <a:t>establishing organizational quality standards and </a:t>
            </a:r>
            <a:r>
              <a:rPr lang="en-US" altLang="en-US" sz="2400" dirty="0" smtClean="0"/>
              <a:t>procedures</a:t>
            </a:r>
            <a:endParaRPr lang="en-US" altLang="en-US" sz="2400" dirty="0"/>
          </a:p>
          <a:p>
            <a:r>
              <a:rPr lang="en-US" altLang="en-US" sz="2800" dirty="0"/>
              <a:t>Quality </a:t>
            </a:r>
            <a:r>
              <a:rPr lang="en-US" altLang="en-US" sz="2800" dirty="0" smtClean="0"/>
              <a:t>control (Monitor/Control)</a:t>
            </a:r>
            <a:endParaRPr lang="en-US" altLang="en-US" sz="2800" dirty="0"/>
          </a:p>
          <a:p>
            <a:pPr lvl="1"/>
            <a:r>
              <a:rPr lang="en-US" altLang="en-US" sz="2400" dirty="0"/>
              <a:t>ensuring quality standards and procedures are followed by development team</a:t>
            </a:r>
          </a:p>
          <a:p>
            <a:pPr>
              <a:buFontTx/>
              <a:buNone/>
            </a:pPr>
            <a:endParaRPr lang="en-US" altLang="en-US" sz="2400" dirty="0"/>
          </a:p>
          <a:p>
            <a:pPr>
              <a:buFontTx/>
              <a:buNone/>
            </a:pPr>
            <a:r>
              <a:rPr lang="en-US" altLang="en-US" sz="2400" u="sng" dirty="0"/>
              <a:t>Note: Quality management should be separated from </a:t>
            </a:r>
            <a:r>
              <a:rPr lang="en-US" altLang="en-US" sz="2400" u="sng" dirty="0" smtClean="0"/>
              <a:t>project management </a:t>
            </a:r>
            <a:r>
              <a:rPr lang="en-US" altLang="en-US" sz="2400" u="sng" dirty="0"/>
              <a:t>to ensure independence</a:t>
            </a:r>
            <a:r>
              <a:rPr lang="en-US" altLang="en-US" sz="2400" u="sng" dirty="0" smtClean="0"/>
              <a:t>.</a:t>
            </a:r>
            <a:endParaRPr lang="en-US" altLang="en-US" u="sng" dirty="0"/>
          </a:p>
        </p:txBody>
      </p:sp>
    </p:spTree>
    <p:extLst>
      <p:ext uri="{BB962C8B-B14F-4D97-AF65-F5344CB8AC3E}">
        <p14:creationId xmlns:p14="http://schemas.microsoft.com/office/powerpoint/2010/main" val="42318438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379185" y="1524000"/>
            <a:ext cx="8458200" cy="46101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Slide Number Placeholder 1"/>
          <p:cNvSpPr>
            <a:spLocks noGrp="1"/>
          </p:cNvSpPr>
          <p:nvPr>
            <p:ph type="sldNum" sz="quarter" idx="12"/>
          </p:nvPr>
        </p:nvSpPr>
        <p:spPr/>
        <p:txBody>
          <a:bodyPr/>
          <a:lstStyle/>
          <a:p>
            <a:fld id="{E5CE4F79-B2B3-4E4E-AB5D-F771515B9CEF}" type="slidenum">
              <a:rPr lang="en-US" smtClean="0"/>
              <a:t>15</a:t>
            </a:fld>
            <a:endParaRPr lang="en-US" dirty="0"/>
          </a:p>
        </p:txBody>
      </p:sp>
      <p:sp>
        <p:nvSpPr>
          <p:cNvPr id="3" name="Title 2"/>
          <p:cNvSpPr>
            <a:spLocks noGrp="1"/>
          </p:cNvSpPr>
          <p:nvPr>
            <p:ph type="title"/>
          </p:nvPr>
        </p:nvSpPr>
        <p:spPr>
          <a:xfrm>
            <a:off x="489995" y="562402"/>
            <a:ext cx="8381999" cy="780195"/>
          </a:xfrm>
        </p:spPr>
        <p:txBody>
          <a:bodyPr>
            <a:normAutofit fontScale="90000"/>
          </a:bodyPr>
          <a:lstStyle/>
          <a:p>
            <a:r>
              <a:rPr lang="en-US" dirty="0" smtClean="0"/>
              <a:t>Quality Management And Software Development</a:t>
            </a:r>
            <a:endParaRPr lang="en-US" dirty="0"/>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57400"/>
            <a:ext cx="8302171"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117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16</a:t>
            </a:fld>
            <a:endParaRPr lang="en-US" dirty="0"/>
          </a:p>
        </p:txBody>
      </p:sp>
      <p:sp>
        <p:nvSpPr>
          <p:cNvPr id="3" name="Title 2"/>
          <p:cNvSpPr>
            <a:spLocks noGrp="1"/>
          </p:cNvSpPr>
          <p:nvPr>
            <p:ph type="title"/>
          </p:nvPr>
        </p:nvSpPr>
        <p:spPr/>
        <p:txBody>
          <a:bodyPr/>
          <a:lstStyle/>
          <a:p>
            <a:r>
              <a:rPr lang="en-GB" altLang="en-US" dirty="0" smtClean="0"/>
              <a:t>Process And Product Quality</a:t>
            </a:r>
            <a:endParaRPr lang="en-US" dirty="0"/>
          </a:p>
        </p:txBody>
      </p:sp>
      <p:sp>
        <p:nvSpPr>
          <p:cNvPr id="4" name="Text Placeholder 3"/>
          <p:cNvSpPr>
            <a:spLocks noGrp="1"/>
          </p:cNvSpPr>
          <p:nvPr>
            <p:ph type="body" sz="quarter" idx="13"/>
          </p:nvPr>
        </p:nvSpPr>
        <p:spPr/>
        <p:txBody>
          <a:bodyPr>
            <a:normAutofit/>
          </a:bodyPr>
          <a:lstStyle/>
          <a:p>
            <a:r>
              <a:rPr lang="en-GB" altLang="en-US" sz="2800" dirty="0"/>
              <a:t>The quality of a developed product is influenced by the quality of the production process.</a:t>
            </a:r>
          </a:p>
          <a:p>
            <a:r>
              <a:rPr lang="en-GB" altLang="en-US" sz="2800" dirty="0"/>
              <a:t>This is important in software development as some product quality attributes are hard to assess.</a:t>
            </a:r>
          </a:p>
          <a:p>
            <a:r>
              <a:rPr lang="en-GB" altLang="en-US" sz="2800" dirty="0"/>
              <a:t>However, there is a very complex and poorly understood relationship between software processes and product quality</a:t>
            </a:r>
            <a:r>
              <a:rPr lang="en-GB" altLang="en-US" sz="2800" dirty="0" smtClean="0"/>
              <a:t>.</a:t>
            </a:r>
            <a:endParaRPr lang="en-GB" altLang="en-US" sz="2800" dirty="0"/>
          </a:p>
        </p:txBody>
      </p:sp>
    </p:spTree>
    <p:extLst>
      <p:ext uri="{BB962C8B-B14F-4D97-AF65-F5344CB8AC3E}">
        <p14:creationId xmlns:p14="http://schemas.microsoft.com/office/powerpoint/2010/main" val="38376451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17</a:t>
            </a:fld>
            <a:endParaRPr lang="en-US" dirty="0"/>
          </a:p>
        </p:txBody>
      </p:sp>
      <p:sp>
        <p:nvSpPr>
          <p:cNvPr id="3" name="Title 2"/>
          <p:cNvSpPr>
            <a:spLocks noGrp="1"/>
          </p:cNvSpPr>
          <p:nvPr>
            <p:ph type="title"/>
          </p:nvPr>
        </p:nvSpPr>
        <p:spPr/>
        <p:txBody>
          <a:bodyPr/>
          <a:lstStyle/>
          <a:p>
            <a:r>
              <a:rPr lang="en-GB" altLang="en-US" dirty="0" smtClean="0"/>
              <a:t>Process Based Quality</a:t>
            </a:r>
            <a:endParaRPr lang="en-US" dirty="0"/>
          </a:p>
        </p:txBody>
      </p:sp>
      <p:sp>
        <p:nvSpPr>
          <p:cNvPr id="6" name="Rectangle 4"/>
          <p:cNvSpPr>
            <a:spLocks noChangeArrowheads="1"/>
          </p:cNvSpPr>
          <p:nvPr/>
        </p:nvSpPr>
        <p:spPr bwMode="auto">
          <a:xfrm>
            <a:off x="374248" y="1600200"/>
            <a:ext cx="8458200" cy="43434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815340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364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18</a:t>
            </a:fld>
            <a:endParaRPr lang="en-US" dirty="0"/>
          </a:p>
        </p:txBody>
      </p:sp>
      <p:sp>
        <p:nvSpPr>
          <p:cNvPr id="3" name="Title 2"/>
          <p:cNvSpPr>
            <a:spLocks noGrp="1"/>
          </p:cNvSpPr>
          <p:nvPr>
            <p:ph type="title"/>
          </p:nvPr>
        </p:nvSpPr>
        <p:spPr/>
        <p:txBody>
          <a:bodyPr>
            <a:normAutofit fontScale="90000"/>
          </a:bodyPr>
          <a:lstStyle/>
          <a:p>
            <a:r>
              <a:rPr lang="en-US" dirty="0"/>
              <a:t>Project Quality Management Summary</a:t>
            </a:r>
          </a:p>
        </p:txBody>
      </p:sp>
      <p:pic>
        <p:nvPicPr>
          <p:cNvPr id="5" name="Picture 4" descr="A timeline of the project. At the bottom, there is an arrow with project start on the left end and project finish on the right end. An arrow for planning goes from project start to the center of the timeline arrow. An arrow for executing goes from just after project start to just before project end. An arrow for Monitoring and Controlling goes from just after project start to project finish. "/>
          <p:cNvPicPr>
            <a:picLocks noChangeAspect="1"/>
          </p:cNvPicPr>
          <p:nvPr/>
        </p:nvPicPr>
        <p:blipFill rotWithShape="1">
          <a:blip r:embed="rId2">
            <a:extLst>
              <a:ext uri="{28A0092B-C50C-407E-A947-70E740481C1C}">
                <a14:useLocalDpi xmlns:a14="http://schemas.microsoft.com/office/drawing/2010/main" val="0"/>
              </a:ext>
            </a:extLst>
          </a:blip>
          <a:srcRect l="5009" t="1629" r="855" b="8209"/>
          <a:stretch/>
        </p:blipFill>
        <p:spPr>
          <a:xfrm>
            <a:off x="609601" y="1219200"/>
            <a:ext cx="8000999" cy="5021904"/>
          </a:xfrm>
          <a:prstGeom prst="rect">
            <a:avLst/>
          </a:prstGeom>
        </p:spPr>
      </p:pic>
    </p:spTree>
    <p:extLst>
      <p:ext uri="{BB962C8B-B14F-4D97-AF65-F5344CB8AC3E}">
        <p14:creationId xmlns:p14="http://schemas.microsoft.com/office/powerpoint/2010/main" val="21567237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lIns="90840" tIns="44623" rIns="90840" bIns="44623"/>
          <a:lstStyle/>
          <a:p>
            <a:r>
              <a:rPr lang="en-GB" altLang="en-US" dirty="0" smtClean="0"/>
              <a:t>Quality Planning</a:t>
            </a:r>
            <a:endParaRPr lang="en-GB" altLang="en-US" dirty="0"/>
          </a:p>
        </p:txBody>
      </p:sp>
      <p:sp>
        <p:nvSpPr>
          <p:cNvPr id="21507" name="Rectangle 3"/>
          <p:cNvSpPr>
            <a:spLocks noGrp="1" noChangeArrowheads="1"/>
          </p:cNvSpPr>
          <p:nvPr>
            <p:ph type="body" sz="quarter" idx="13"/>
          </p:nvPr>
        </p:nvSpPr>
        <p:spPr>
          <a:noFill/>
          <a:ln/>
        </p:spPr>
        <p:txBody>
          <a:bodyPr lIns="90840" tIns="44623" rIns="90840" bIns="44623">
            <a:normAutofit/>
          </a:bodyPr>
          <a:lstStyle/>
          <a:p>
            <a:r>
              <a:rPr lang="en-GB" altLang="en-US" sz="2800" dirty="0"/>
              <a:t>A quality plan sets out the desired product qualities and how these are assessed and defines the most significant quality attributes.</a:t>
            </a:r>
          </a:p>
          <a:p>
            <a:r>
              <a:rPr lang="en-GB" altLang="en-US" sz="2800" dirty="0"/>
              <a:t>The quality plan should define the quality assessment process.</a:t>
            </a:r>
          </a:p>
          <a:p>
            <a:r>
              <a:rPr lang="en-GB" altLang="en-US" sz="2800" dirty="0"/>
              <a:t>It should set out which organisational standards should be applied and, where necessary, define new standards to be used.</a:t>
            </a:r>
          </a:p>
        </p:txBody>
      </p:sp>
      <p:sp>
        <p:nvSpPr>
          <p:cNvPr id="2" name="Slide Number Placeholder 1"/>
          <p:cNvSpPr>
            <a:spLocks noGrp="1"/>
          </p:cNvSpPr>
          <p:nvPr>
            <p:ph type="sldNum" sz="quarter" idx="12"/>
          </p:nvPr>
        </p:nvSpPr>
        <p:spPr/>
        <p:txBody>
          <a:bodyPr/>
          <a:lstStyle/>
          <a:p>
            <a:fld id="{E5CE4F79-B2B3-4E4E-AB5D-F771515B9CEF}" type="slidenum">
              <a:rPr lang="en-US" smtClean="0"/>
              <a:t>19</a:t>
            </a:fld>
            <a:endParaRPr lang="en-US" dirty="0"/>
          </a:p>
        </p:txBody>
      </p:sp>
    </p:spTree>
    <p:extLst>
      <p:ext uri="{BB962C8B-B14F-4D97-AF65-F5344CB8AC3E}">
        <p14:creationId xmlns:p14="http://schemas.microsoft.com/office/powerpoint/2010/main" val="393312504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altLang="en-US" dirty="0" smtClean="0"/>
              <a:t>Quality Plans</a:t>
            </a:r>
            <a:endParaRPr lang="en-GB" altLang="en-US" dirty="0"/>
          </a:p>
        </p:txBody>
      </p:sp>
      <p:sp>
        <p:nvSpPr>
          <p:cNvPr id="88067" name="Rectangle 3"/>
          <p:cNvSpPr>
            <a:spLocks noGrp="1" noChangeArrowheads="1"/>
          </p:cNvSpPr>
          <p:nvPr>
            <p:ph type="body" sz="quarter" idx="13"/>
          </p:nvPr>
        </p:nvSpPr>
        <p:spPr/>
        <p:txBody>
          <a:bodyPr>
            <a:normAutofit/>
          </a:bodyPr>
          <a:lstStyle/>
          <a:p>
            <a:r>
              <a:rPr lang="en-GB" altLang="en-US" sz="3200" dirty="0"/>
              <a:t>Quality plan structure</a:t>
            </a:r>
          </a:p>
          <a:p>
            <a:pPr lvl="1"/>
            <a:r>
              <a:rPr lang="en-GB" altLang="en-US" sz="2800" dirty="0"/>
              <a:t>Product introduction;</a:t>
            </a:r>
          </a:p>
          <a:p>
            <a:pPr lvl="1"/>
            <a:r>
              <a:rPr lang="en-GB" altLang="en-US" sz="2800" dirty="0"/>
              <a:t>Product plans;</a:t>
            </a:r>
          </a:p>
          <a:p>
            <a:pPr lvl="1"/>
            <a:r>
              <a:rPr lang="en-GB" altLang="en-US" sz="2800" dirty="0"/>
              <a:t>Process descriptions;</a:t>
            </a:r>
          </a:p>
          <a:p>
            <a:pPr lvl="1"/>
            <a:r>
              <a:rPr lang="en-GB" altLang="en-US" sz="2800" dirty="0"/>
              <a:t>Quality goals;</a:t>
            </a:r>
          </a:p>
          <a:p>
            <a:pPr lvl="1"/>
            <a:r>
              <a:rPr lang="en-GB" altLang="en-US" sz="2800" dirty="0"/>
              <a:t>Risks and risk management.</a:t>
            </a:r>
          </a:p>
          <a:p>
            <a:r>
              <a:rPr lang="en-GB" altLang="en-US" sz="3200" dirty="0"/>
              <a:t>Quality plans should be short, </a:t>
            </a:r>
            <a:r>
              <a:rPr lang="en-US" sz="3200" dirty="0"/>
              <a:t>briefly and clearly expressed </a:t>
            </a:r>
            <a:r>
              <a:rPr lang="en-GB" altLang="en-US" sz="3200" dirty="0" smtClean="0"/>
              <a:t>documents</a:t>
            </a:r>
            <a:endParaRPr lang="en-GB" altLang="en-US" sz="3200" dirty="0"/>
          </a:p>
          <a:p>
            <a:pPr lvl="1"/>
            <a:r>
              <a:rPr lang="en-GB" altLang="en-US" sz="2800" dirty="0"/>
              <a:t>If they are too long, no-one will read them.</a:t>
            </a:r>
          </a:p>
        </p:txBody>
      </p:sp>
      <p:sp>
        <p:nvSpPr>
          <p:cNvPr id="2" name="Slide Number Placeholder 1"/>
          <p:cNvSpPr>
            <a:spLocks noGrp="1"/>
          </p:cNvSpPr>
          <p:nvPr>
            <p:ph type="sldNum" sz="quarter" idx="12"/>
          </p:nvPr>
        </p:nvSpPr>
        <p:spPr/>
        <p:txBody>
          <a:bodyPr/>
          <a:lstStyle/>
          <a:p>
            <a:fld id="{E5CE4F79-B2B3-4E4E-AB5D-F771515B9CEF}" type="slidenum">
              <a:rPr lang="en-US" smtClean="0"/>
              <a:t>20</a:t>
            </a:fld>
            <a:endParaRPr lang="en-US" dirty="0"/>
          </a:p>
        </p:txBody>
      </p:sp>
    </p:spTree>
    <p:extLst>
      <p:ext uri="{BB962C8B-B14F-4D97-AF65-F5344CB8AC3E}">
        <p14:creationId xmlns:p14="http://schemas.microsoft.com/office/powerpoint/2010/main" val="32255171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a:noFill/>
          <a:ln/>
        </p:spPr>
        <p:txBody>
          <a:bodyPr lIns="90840" tIns="44623" rIns="90840" bIns="44623"/>
          <a:lstStyle/>
          <a:p>
            <a:r>
              <a:rPr lang="en-GB" altLang="en-US" b="1" dirty="0" smtClean="0"/>
              <a:t>Quality Assurance And Standards</a:t>
            </a:r>
            <a:endParaRPr lang="en-GB" altLang="en-US" b="1" dirty="0"/>
          </a:p>
        </p:txBody>
      </p:sp>
      <p:sp>
        <p:nvSpPr>
          <p:cNvPr id="38914" name="Rectangle 2"/>
          <p:cNvSpPr>
            <a:spLocks noGrp="1" noChangeArrowheads="1"/>
          </p:cNvSpPr>
          <p:nvPr>
            <p:ph type="body" sz="quarter" idx="13"/>
          </p:nvPr>
        </p:nvSpPr>
        <p:spPr>
          <a:noFill/>
          <a:ln/>
        </p:spPr>
        <p:txBody>
          <a:bodyPr lIns="90840" tIns="44623" rIns="90840" bIns="44623">
            <a:noAutofit/>
          </a:bodyPr>
          <a:lstStyle/>
          <a:p>
            <a:pPr>
              <a:lnSpc>
                <a:spcPct val="90000"/>
              </a:lnSpc>
            </a:pPr>
            <a:r>
              <a:rPr lang="en-GB" altLang="en-US" sz="2800" dirty="0"/>
              <a:t>Standards are the key to effective quality management.</a:t>
            </a:r>
          </a:p>
          <a:p>
            <a:pPr>
              <a:lnSpc>
                <a:spcPct val="90000"/>
              </a:lnSpc>
            </a:pPr>
            <a:r>
              <a:rPr lang="en-GB" altLang="en-US" sz="2800" dirty="0"/>
              <a:t>They may be international, national, organizational or project standards.</a:t>
            </a:r>
          </a:p>
          <a:p>
            <a:pPr>
              <a:lnSpc>
                <a:spcPct val="90000"/>
              </a:lnSpc>
            </a:pPr>
            <a:r>
              <a:rPr lang="en-GB" altLang="en-US" sz="2800" dirty="0">
                <a:solidFill>
                  <a:srgbClr val="FF0000"/>
                </a:solidFill>
              </a:rPr>
              <a:t>Product standards</a:t>
            </a:r>
            <a:r>
              <a:rPr lang="en-GB" altLang="en-US" sz="2800" dirty="0"/>
              <a:t> define characteristics that all components should exhibit e.g. a common programming style.</a:t>
            </a:r>
          </a:p>
          <a:p>
            <a:pPr>
              <a:lnSpc>
                <a:spcPct val="90000"/>
              </a:lnSpc>
            </a:pPr>
            <a:r>
              <a:rPr lang="en-GB" altLang="en-US" sz="2800" dirty="0">
                <a:solidFill>
                  <a:srgbClr val="FF0000"/>
                </a:solidFill>
              </a:rPr>
              <a:t>Process standards</a:t>
            </a:r>
            <a:r>
              <a:rPr lang="en-GB" altLang="en-US" sz="2800" dirty="0"/>
              <a:t> define how the software process should be enacted.</a:t>
            </a:r>
          </a:p>
        </p:txBody>
      </p:sp>
      <p:sp>
        <p:nvSpPr>
          <p:cNvPr id="2" name="Slide Number Placeholder 1"/>
          <p:cNvSpPr>
            <a:spLocks noGrp="1"/>
          </p:cNvSpPr>
          <p:nvPr>
            <p:ph type="sldNum" sz="quarter" idx="12"/>
          </p:nvPr>
        </p:nvSpPr>
        <p:spPr/>
        <p:txBody>
          <a:bodyPr/>
          <a:lstStyle/>
          <a:p>
            <a:fld id="{E5CE4F79-B2B3-4E4E-AB5D-F771515B9CEF}" type="slidenum">
              <a:rPr lang="en-US" smtClean="0"/>
              <a:t>21</a:t>
            </a:fld>
            <a:endParaRPr lang="en-US" dirty="0"/>
          </a:p>
        </p:txBody>
      </p:sp>
    </p:spTree>
    <p:extLst>
      <p:ext uri="{BB962C8B-B14F-4D97-AF65-F5344CB8AC3E}">
        <p14:creationId xmlns:p14="http://schemas.microsoft.com/office/powerpoint/2010/main" val="386443679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noFill/>
          <a:ln/>
        </p:spPr>
        <p:txBody>
          <a:bodyPr lIns="90840" tIns="44623" rIns="90840" bIns="44623"/>
          <a:lstStyle/>
          <a:p>
            <a:r>
              <a:rPr lang="en-GB" altLang="en-US" dirty="0"/>
              <a:t>Importance of standards</a:t>
            </a:r>
          </a:p>
        </p:txBody>
      </p:sp>
      <p:sp>
        <p:nvSpPr>
          <p:cNvPr id="40962" name="Rectangle 2"/>
          <p:cNvSpPr>
            <a:spLocks noGrp="1" noChangeArrowheads="1"/>
          </p:cNvSpPr>
          <p:nvPr>
            <p:ph type="body" sz="quarter" idx="13"/>
          </p:nvPr>
        </p:nvSpPr>
        <p:spPr>
          <a:noFill/>
          <a:ln/>
        </p:spPr>
        <p:txBody>
          <a:bodyPr lIns="90840" tIns="44623" rIns="90840" bIns="44623">
            <a:normAutofit/>
          </a:bodyPr>
          <a:lstStyle/>
          <a:p>
            <a:r>
              <a:rPr lang="en-GB" altLang="en-US" sz="2800" dirty="0"/>
              <a:t>Encapsulation of best practice- avoids </a:t>
            </a:r>
            <a:br>
              <a:rPr lang="en-GB" altLang="en-US" sz="2800" dirty="0"/>
            </a:br>
            <a:r>
              <a:rPr lang="en-GB" altLang="en-US" sz="2800" dirty="0"/>
              <a:t>repetition of past mistakes.</a:t>
            </a:r>
          </a:p>
          <a:p>
            <a:r>
              <a:rPr lang="en-GB" altLang="en-US" sz="2800" dirty="0"/>
              <a:t>They are a framework for quality assurance processes - they involve checking compliance to standards.</a:t>
            </a:r>
          </a:p>
          <a:p>
            <a:r>
              <a:rPr lang="en-GB" altLang="en-US" sz="2800" dirty="0"/>
              <a:t>They provide continuity - new staff can understand the organisation by understanding the standards that are used.</a:t>
            </a:r>
          </a:p>
        </p:txBody>
      </p:sp>
      <p:sp>
        <p:nvSpPr>
          <p:cNvPr id="2" name="Slide Number Placeholder 1"/>
          <p:cNvSpPr>
            <a:spLocks noGrp="1"/>
          </p:cNvSpPr>
          <p:nvPr>
            <p:ph type="sldNum" sz="quarter" idx="12"/>
          </p:nvPr>
        </p:nvSpPr>
        <p:spPr/>
        <p:txBody>
          <a:bodyPr/>
          <a:lstStyle/>
          <a:p>
            <a:fld id="{E5CE4F79-B2B3-4E4E-AB5D-F771515B9CEF}" type="slidenum">
              <a:rPr lang="en-US" smtClean="0"/>
              <a:t>22</a:t>
            </a:fld>
            <a:endParaRPr lang="en-US" dirty="0"/>
          </a:p>
        </p:txBody>
      </p:sp>
    </p:spTree>
    <p:extLst>
      <p:ext uri="{BB962C8B-B14F-4D97-AF65-F5344CB8AC3E}">
        <p14:creationId xmlns:p14="http://schemas.microsoft.com/office/powerpoint/2010/main" val="349801025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23</a:t>
            </a:fld>
            <a:endParaRPr lang="en-US" dirty="0"/>
          </a:p>
        </p:txBody>
      </p:sp>
      <p:sp>
        <p:nvSpPr>
          <p:cNvPr id="3" name="Title 2"/>
          <p:cNvSpPr>
            <a:spLocks noGrp="1"/>
          </p:cNvSpPr>
          <p:nvPr>
            <p:ph type="title"/>
          </p:nvPr>
        </p:nvSpPr>
        <p:spPr/>
        <p:txBody>
          <a:bodyPr>
            <a:normAutofit/>
          </a:bodyPr>
          <a:lstStyle/>
          <a:p>
            <a:r>
              <a:rPr lang="en-US" dirty="0"/>
              <a:t>Component of Quality </a:t>
            </a:r>
            <a:r>
              <a:rPr lang="en-US" dirty="0" smtClean="0"/>
              <a:t>Assurance</a:t>
            </a:r>
            <a:endParaRPr lang="en-US" dirty="0"/>
          </a:p>
        </p:txBody>
      </p:sp>
      <p:sp>
        <p:nvSpPr>
          <p:cNvPr id="14" name="Text Box 4"/>
          <p:cNvSpPr txBox="1">
            <a:spLocks noChangeArrowheads="1"/>
          </p:cNvSpPr>
          <p:nvPr/>
        </p:nvSpPr>
        <p:spPr bwMode="auto">
          <a:xfrm>
            <a:off x="1285875" y="2647950"/>
            <a:ext cx="762000" cy="2554288"/>
          </a:xfrm>
          <a:prstGeom prst="rect">
            <a:avLst/>
          </a:prstGeom>
          <a:noFill/>
          <a:ln w="9525">
            <a:noFill/>
            <a:miter lim="800000"/>
            <a:headEnd/>
            <a:tailEnd/>
          </a:ln>
          <a:effectLst/>
        </p:spPr>
        <p:txBody>
          <a:bodyPr wrap="none">
            <a:spAutoFit/>
          </a:bodyPr>
          <a:lstStyle/>
          <a:p>
            <a:pPr marL="514350" indent="-514350">
              <a:defRPr/>
            </a:pPr>
            <a:r>
              <a:rPr lang="en-US" sz="2000" dirty="0">
                <a:solidFill>
                  <a:srgbClr val="003366"/>
                </a:solidFill>
              </a:rPr>
              <a:t>         </a:t>
            </a:r>
          </a:p>
          <a:p>
            <a:pPr marL="514350" indent="-514350">
              <a:defRPr/>
            </a:pPr>
            <a:endParaRPr lang="en-US" sz="2000" dirty="0">
              <a:solidFill>
                <a:srgbClr val="003366"/>
              </a:solidFill>
            </a:endParaRPr>
          </a:p>
          <a:p>
            <a:pPr marL="514350" indent="-514350">
              <a:defRPr/>
            </a:pPr>
            <a:endParaRPr lang="en-US" sz="2000" dirty="0">
              <a:solidFill>
                <a:srgbClr val="003366"/>
              </a:solidFill>
            </a:endParaRPr>
          </a:p>
          <a:p>
            <a:pPr marL="514350" indent="-514350">
              <a:defRPr/>
            </a:pPr>
            <a:endParaRPr lang="en-US" sz="2000" dirty="0">
              <a:solidFill>
                <a:srgbClr val="003366"/>
              </a:solidFill>
            </a:endParaRPr>
          </a:p>
          <a:p>
            <a:pPr marL="514350" indent="-514350">
              <a:defRPr/>
            </a:pPr>
            <a:endParaRPr lang="en-US" sz="2000" dirty="0">
              <a:solidFill>
                <a:srgbClr val="003366"/>
              </a:solidFill>
            </a:endParaRPr>
          </a:p>
          <a:p>
            <a:pPr marL="514350" indent="-514350">
              <a:defRPr/>
            </a:pPr>
            <a:endParaRPr lang="en-US" sz="2000" dirty="0">
              <a:solidFill>
                <a:srgbClr val="003366"/>
              </a:solidFill>
            </a:endParaRPr>
          </a:p>
          <a:p>
            <a:pPr marL="514350" indent="-514350">
              <a:defRPr/>
            </a:pPr>
            <a:endParaRPr lang="en-US" sz="2000" dirty="0">
              <a:solidFill>
                <a:srgbClr val="003366"/>
              </a:solidFill>
            </a:endParaRPr>
          </a:p>
          <a:p>
            <a:pPr>
              <a:defRPr/>
            </a:pPr>
            <a:endParaRPr lang="en-US" sz="1000" b="1" dirty="0">
              <a:solidFill>
                <a:srgbClr val="FF0000"/>
              </a:solidFill>
            </a:endParaRPr>
          </a:p>
          <a:p>
            <a:pPr>
              <a:defRPr/>
            </a:pPr>
            <a:endParaRPr lang="en-US" sz="1000" dirty="0">
              <a:solidFill>
                <a:srgbClr val="003366"/>
              </a:solidFill>
            </a:endParaRPr>
          </a:p>
        </p:txBody>
      </p:sp>
      <p:cxnSp>
        <p:nvCxnSpPr>
          <p:cNvPr id="15" name="Straight Connector 14"/>
          <p:cNvCxnSpPr/>
          <p:nvPr/>
        </p:nvCxnSpPr>
        <p:spPr>
          <a:xfrm rot="5400000">
            <a:off x="3999707" y="2647157"/>
            <a:ext cx="1143000" cy="1587"/>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571625" y="3219450"/>
            <a:ext cx="5929313" cy="1588"/>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4287044" y="3483769"/>
            <a:ext cx="5715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7214394" y="3507581"/>
            <a:ext cx="5715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1285082" y="3504406"/>
            <a:ext cx="571500" cy="158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571500" y="3790950"/>
            <a:ext cx="2000250" cy="857250"/>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TextBox 17"/>
          <p:cNvSpPr txBox="1">
            <a:spLocks noChangeArrowheads="1"/>
          </p:cNvSpPr>
          <p:nvPr/>
        </p:nvSpPr>
        <p:spPr bwMode="auto">
          <a:xfrm>
            <a:off x="642938" y="3992563"/>
            <a:ext cx="1857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dirty="0">
                <a:solidFill>
                  <a:schemeClr val="bg1"/>
                </a:solidFill>
              </a:rPr>
              <a:t>Software Testing</a:t>
            </a:r>
          </a:p>
        </p:txBody>
      </p:sp>
      <p:sp>
        <p:nvSpPr>
          <p:cNvPr id="22" name="Rounded Rectangle 21"/>
          <p:cNvSpPr/>
          <p:nvPr/>
        </p:nvSpPr>
        <p:spPr>
          <a:xfrm>
            <a:off x="3643313" y="3790950"/>
            <a:ext cx="2000250" cy="857250"/>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TextBox 19"/>
          <p:cNvSpPr txBox="1">
            <a:spLocks noChangeArrowheads="1"/>
          </p:cNvSpPr>
          <p:nvPr/>
        </p:nvSpPr>
        <p:spPr bwMode="auto">
          <a:xfrm>
            <a:off x="3714750" y="3992563"/>
            <a:ext cx="1857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Quality Control</a:t>
            </a:r>
          </a:p>
        </p:txBody>
      </p:sp>
      <p:sp>
        <p:nvSpPr>
          <p:cNvPr id="24" name="Rounded Rectangle 23"/>
          <p:cNvSpPr/>
          <p:nvPr/>
        </p:nvSpPr>
        <p:spPr>
          <a:xfrm>
            <a:off x="6500813" y="3790950"/>
            <a:ext cx="2000250" cy="857250"/>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TextBox 21"/>
          <p:cNvSpPr txBox="1">
            <a:spLocks noChangeArrowheads="1"/>
          </p:cNvSpPr>
          <p:nvPr/>
        </p:nvSpPr>
        <p:spPr bwMode="auto">
          <a:xfrm>
            <a:off x="6572250" y="3744913"/>
            <a:ext cx="1857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Software Configuration Management</a:t>
            </a:r>
          </a:p>
        </p:txBody>
      </p:sp>
    </p:spTree>
    <p:extLst>
      <p:ext uri="{BB962C8B-B14F-4D97-AF65-F5344CB8AC3E}">
        <p14:creationId xmlns:p14="http://schemas.microsoft.com/office/powerpoint/2010/main" val="33201636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24</a:t>
            </a:fld>
            <a:endParaRPr lang="en-US" dirty="0"/>
          </a:p>
        </p:txBody>
      </p:sp>
      <p:sp>
        <p:nvSpPr>
          <p:cNvPr id="3" name="Title 2"/>
          <p:cNvSpPr>
            <a:spLocks noGrp="1"/>
          </p:cNvSpPr>
          <p:nvPr>
            <p:ph type="title"/>
          </p:nvPr>
        </p:nvSpPr>
        <p:spPr/>
        <p:txBody>
          <a:bodyPr/>
          <a:lstStyle/>
          <a:p>
            <a:r>
              <a:rPr lang="en-US" dirty="0"/>
              <a:t>Component of Quality Assurance</a:t>
            </a:r>
          </a:p>
        </p:txBody>
      </p:sp>
      <p:sp>
        <p:nvSpPr>
          <p:cNvPr id="4" name="Text Placeholder 3"/>
          <p:cNvSpPr>
            <a:spLocks noGrp="1"/>
          </p:cNvSpPr>
          <p:nvPr>
            <p:ph type="body" sz="quarter" idx="13"/>
          </p:nvPr>
        </p:nvSpPr>
        <p:spPr/>
        <p:txBody>
          <a:bodyPr>
            <a:normAutofit fontScale="85000" lnSpcReduction="20000"/>
          </a:bodyPr>
          <a:lstStyle/>
          <a:p>
            <a:pPr marL="0" indent="0" algn="just">
              <a:buNone/>
              <a:defRPr/>
            </a:pPr>
            <a:r>
              <a:rPr lang="en-US" sz="2800" b="1" u="sng" dirty="0">
                <a:solidFill>
                  <a:schemeClr val="tx1"/>
                </a:solidFill>
              </a:rPr>
              <a:t>1- Software Testing (Verification/Validation)</a:t>
            </a:r>
          </a:p>
          <a:p>
            <a:pPr algn="just">
              <a:defRPr/>
            </a:pPr>
            <a:r>
              <a:rPr lang="en-US" sz="2800" dirty="0" smtClean="0"/>
              <a:t>Is </a:t>
            </a:r>
            <a:r>
              <a:rPr lang="en-US" sz="2800" dirty="0"/>
              <a:t>a popular risk management strategy and it is used to verify that the functional requirements were met.</a:t>
            </a:r>
          </a:p>
          <a:p>
            <a:pPr algn="just">
              <a:defRPr/>
            </a:pPr>
            <a:r>
              <a:rPr lang="en-US" sz="2800" dirty="0" smtClean="0"/>
              <a:t>The </a:t>
            </a:r>
            <a:r>
              <a:rPr lang="en-US" sz="2800" dirty="0"/>
              <a:t>verification effort  takes less time and is less complex when conducted throughout the development process </a:t>
            </a:r>
          </a:p>
          <a:p>
            <a:pPr marL="0" indent="0" algn="just">
              <a:buNone/>
              <a:defRPr/>
            </a:pPr>
            <a:r>
              <a:rPr lang="en-US" sz="2800" b="1" u="sng" dirty="0" smtClean="0">
                <a:solidFill>
                  <a:schemeClr val="tx1"/>
                </a:solidFill>
              </a:rPr>
              <a:t>2- </a:t>
            </a:r>
            <a:r>
              <a:rPr lang="en-US" sz="2800" b="1" u="sng" dirty="0">
                <a:solidFill>
                  <a:schemeClr val="tx1"/>
                </a:solidFill>
              </a:rPr>
              <a:t>Quality Control</a:t>
            </a:r>
          </a:p>
          <a:p>
            <a:pPr algn="just">
              <a:defRPr/>
            </a:pPr>
            <a:r>
              <a:rPr lang="en-US" sz="2800" dirty="0"/>
              <a:t>Is defined as a processes and methods used to monitor work and observe whether requirements are met. </a:t>
            </a:r>
          </a:p>
          <a:p>
            <a:pPr algn="just">
              <a:defRPr/>
            </a:pPr>
            <a:r>
              <a:rPr lang="en-US" sz="2800" dirty="0"/>
              <a:t>Focuses on reviews and removal of defects before shipment of the products. </a:t>
            </a:r>
          </a:p>
          <a:p>
            <a:pPr algn="just">
              <a:defRPr/>
            </a:pPr>
            <a:r>
              <a:rPr lang="en-US" sz="2800" dirty="0" smtClean="0"/>
              <a:t>Responsible </a:t>
            </a:r>
            <a:r>
              <a:rPr lang="en-US" sz="2800" dirty="0"/>
              <a:t>of the group who build the product.</a:t>
            </a:r>
          </a:p>
          <a:p>
            <a:pPr algn="just">
              <a:defRPr/>
            </a:pPr>
            <a:r>
              <a:rPr lang="en-US" sz="2800" dirty="0"/>
              <a:t>Designed to detect and correct defects in all program life cycle.</a:t>
            </a:r>
          </a:p>
          <a:p>
            <a:pPr marL="0" indent="0">
              <a:buNone/>
            </a:pPr>
            <a:endParaRPr lang="en-US" dirty="0"/>
          </a:p>
        </p:txBody>
      </p:sp>
    </p:spTree>
    <p:extLst>
      <p:ext uri="{BB962C8B-B14F-4D97-AF65-F5344CB8AC3E}">
        <p14:creationId xmlns:p14="http://schemas.microsoft.com/office/powerpoint/2010/main" val="40742348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25</a:t>
            </a:fld>
            <a:endParaRPr lang="en-US" dirty="0"/>
          </a:p>
        </p:txBody>
      </p:sp>
      <p:sp>
        <p:nvSpPr>
          <p:cNvPr id="3" name="Title 2"/>
          <p:cNvSpPr>
            <a:spLocks noGrp="1"/>
          </p:cNvSpPr>
          <p:nvPr>
            <p:ph type="title"/>
          </p:nvPr>
        </p:nvSpPr>
        <p:spPr/>
        <p:txBody>
          <a:bodyPr/>
          <a:lstStyle/>
          <a:p>
            <a:r>
              <a:rPr lang="en-US" dirty="0"/>
              <a:t>Component of Quality Assurance</a:t>
            </a:r>
          </a:p>
        </p:txBody>
      </p:sp>
      <p:sp>
        <p:nvSpPr>
          <p:cNvPr id="4" name="Text Placeholder 3"/>
          <p:cNvSpPr>
            <a:spLocks noGrp="1"/>
          </p:cNvSpPr>
          <p:nvPr>
            <p:ph type="body" sz="quarter" idx="13"/>
          </p:nvPr>
        </p:nvSpPr>
        <p:spPr/>
        <p:txBody>
          <a:bodyPr>
            <a:normAutofit/>
          </a:bodyPr>
          <a:lstStyle/>
          <a:p>
            <a:pPr marL="0" indent="0" algn="just">
              <a:buNone/>
              <a:defRPr/>
            </a:pPr>
            <a:r>
              <a:rPr lang="en-US" sz="2800" b="1" u="sng" dirty="0" smtClean="0">
                <a:solidFill>
                  <a:schemeClr val="tx1"/>
                </a:solidFill>
              </a:rPr>
              <a:t>3- </a:t>
            </a:r>
            <a:r>
              <a:rPr lang="en-US" sz="2800" b="1" u="sng" dirty="0">
                <a:solidFill>
                  <a:schemeClr val="tx1"/>
                </a:solidFill>
              </a:rPr>
              <a:t>Software Configuration </a:t>
            </a:r>
            <a:r>
              <a:rPr lang="en-US" sz="2800" b="1" u="sng" dirty="0" smtClean="0">
                <a:solidFill>
                  <a:schemeClr val="tx1"/>
                </a:solidFill>
              </a:rPr>
              <a:t>Management</a:t>
            </a:r>
          </a:p>
          <a:p>
            <a:pPr algn="just">
              <a:lnSpc>
                <a:spcPct val="100000"/>
              </a:lnSpc>
              <a:defRPr/>
            </a:pPr>
            <a:r>
              <a:rPr lang="en-US" sz="2800" dirty="0"/>
              <a:t>Is concerned with labeling, tracking, and controlling changes in the software elements of a system. It controls the evolution of a software system by managing versions of its software components and their relationships. </a:t>
            </a:r>
          </a:p>
          <a:p>
            <a:pPr marL="0" indent="0" algn="just">
              <a:buNone/>
              <a:defRPr/>
            </a:pPr>
            <a:r>
              <a:rPr lang="en-US" sz="2800" b="1" u="sng" dirty="0">
                <a:solidFill>
                  <a:schemeClr val="tx1"/>
                </a:solidFill>
              </a:rPr>
              <a:t>Elements of Software Configuration Management</a:t>
            </a:r>
            <a:endParaRPr lang="en-US" sz="2800" dirty="0">
              <a:solidFill>
                <a:schemeClr val="tx1"/>
              </a:solidFill>
            </a:endParaRPr>
          </a:p>
          <a:p>
            <a:pPr marL="0" indent="0" algn="just">
              <a:buNone/>
              <a:defRPr/>
            </a:pPr>
            <a:endParaRPr lang="en-US" sz="2800" b="1" u="sng" dirty="0" smtClean="0">
              <a:solidFill>
                <a:srgbClr val="FF0000"/>
              </a:solidFill>
            </a:endParaRPr>
          </a:p>
          <a:p>
            <a:pPr marL="0" indent="0">
              <a:buNone/>
            </a:pPr>
            <a:endParaRPr lang="en-US" dirty="0"/>
          </a:p>
        </p:txBody>
      </p:sp>
      <p:cxnSp>
        <p:nvCxnSpPr>
          <p:cNvPr id="5" name="Straight Connector 4"/>
          <p:cNvCxnSpPr/>
          <p:nvPr/>
        </p:nvCxnSpPr>
        <p:spPr>
          <a:xfrm>
            <a:off x="1252538" y="4762501"/>
            <a:ext cx="5929312" cy="1588"/>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a:off x="3110707" y="5026820"/>
            <a:ext cx="571500" cy="15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a:off x="6896894" y="5050632"/>
            <a:ext cx="571500"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17"/>
          <p:cNvSpPr txBox="1">
            <a:spLocks noChangeArrowheads="1"/>
          </p:cNvSpPr>
          <p:nvPr/>
        </p:nvSpPr>
        <p:spPr bwMode="auto">
          <a:xfrm>
            <a:off x="3181350" y="5535614"/>
            <a:ext cx="1857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Quality Control</a:t>
            </a:r>
          </a:p>
        </p:txBody>
      </p:sp>
      <p:sp>
        <p:nvSpPr>
          <p:cNvPr id="9" name="Rounded Rectangle 8"/>
          <p:cNvSpPr/>
          <p:nvPr/>
        </p:nvSpPr>
        <p:spPr>
          <a:xfrm>
            <a:off x="6538913" y="5334001"/>
            <a:ext cx="1428750" cy="785813"/>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19"/>
          <p:cNvSpPr txBox="1">
            <a:spLocks noChangeArrowheads="1"/>
          </p:cNvSpPr>
          <p:nvPr/>
        </p:nvSpPr>
        <p:spPr bwMode="auto">
          <a:xfrm>
            <a:off x="6564313" y="5376864"/>
            <a:ext cx="1285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Change Control</a:t>
            </a:r>
          </a:p>
        </p:txBody>
      </p:sp>
      <p:sp>
        <p:nvSpPr>
          <p:cNvPr id="11" name="Rounded Rectangle 10"/>
          <p:cNvSpPr/>
          <p:nvPr/>
        </p:nvSpPr>
        <p:spPr>
          <a:xfrm>
            <a:off x="4681538" y="5334001"/>
            <a:ext cx="1500187" cy="714375"/>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TextBox 22"/>
          <p:cNvSpPr txBox="1">
            <a:spLocks noChangeArrowheads="1"/>
          </p:cNvSpPr>
          <p:nvPr/>
        </p:nvSpPr>
        <p:spPr bwMode="auto">
          <a:xfrm>
            <a:off x="4622800" y="5376864"/>
            <a:ext cx="15716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Configuration Building</a:t>
            </a:r>
          </a:p>
        </p:txBody>
      </p:sp>
      <p:cxnSp>
        <p:nvCxnSpPr>
          <p:cNvPr id="13" name="Straight Connector 12"/>
          <p:cNvCxnSpPr/>
          <p:nvPr/>
        </p:nvCxnSpPr>
        <p:spPr>
          <a:xfrm rot="5400000">
            <a:off x="5110957" y="5047457"/>
            <a:ext cx="571500" cy="158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2681288" y="5327651"/>
            <a:ext cx="1428750" cy="785813"/>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TextBox 26"/>
          <p:cNvSpPr txBox="1">
            <a:spLocks noChangeArrowheads="1"/>
          </p:cNvSpPr>
          <p:nvPr/>
        </p:nvSpPr>
        <p:spPr bwMode="auto">
          <a:xfrm>
            <a:off x="2752725" y="5368926"/>
            <a:ext cx="1285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Version Control</a:t>
            </a:r>
          </a:p>
        </p:txBody>
      </p:sp>
      <p:sp>
        <p:nvSpPr>
          <p:cNvPr id="16" name="Rounded Rectangle 15"/>
          <p:cNvSpPr/>
          <p:nvPr/>
        </p:nvSpPr>
        <p:spPr>
          <a:xfrm>
            <a:off x="681038" y="5334001"/>
            <a:ext cx="1428750" cy="785813"/>
          </a:xfrm>
          <a:prstGeom prst="round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TextBox 28"/>
          <p:cNvSpPr txBox="1">
            <a:spLocks noChangeArrowheads="1"/>
          </p:cNvSpPr>
          <p:nvPr/>
        </p:nvSpPr>
        <p:spPr bwMode="auto">
          <a:xfrm>
            <a:off x="609600" y="5376864"/>
            <a:ext cx="15716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eaLnBrk="1" hangingPunct="1"/>
            <a:r>
              <a:rPr lang="en-US" altLang="en-US" sz="1800" b="1">
                <a:solidFill>
                  <a:schemeClr val="bg1"/>
                </a:solidFill>
              </a:rPr>
              <a:t>Component Identification</a:t>
            </a:r>
          </a:p>
        </p:txBody>
      </p:sp>
      <p:cxnSp>
        <p:nvCxnSpPr>
          <p:cNvPr id="18" name="Straight Connector 17"/>
          <p:cNvCxnSpPr/>
          <p:nvPr/>
        </p:nvCxnSpPr>
        <p:spPr>
          <a:xfrm rot="5400000">
            <a:off x="965994" y="5047457"/>
            <a:ext cx="5715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267200" y="4343400"/>
            <a:ext cx="0" cy="419101"/>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377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26</a:t>
            </a:fld>
            <a:endParaRPr lang="en-US" dirty="0"/>
          </a:p>
        </p:txBody>
      </p:sp>
      <p:sp>
        <p:nvSpPr>
          <p:cNvPr id="3" name="Title 2"/>
          <p:cNvSpPr>
            <a:spLocks noGrp="1"/>
          </p:cNvSpPr>
          <p:nvPr>
            <p:ph type="title"/>
          </p:nvPr>
        </p:nvSpPr>
        <p:spPr/>
        <p:txBody>
          <a:bodyPr/>
          <a:lstStyle/>
          <a:p>
            <a:r>
              <a:rPr lang="en-US" dirty="0" smtClean="0"/>
              <a:t>Software Testing</a:t>
            </a:r>
            <a:endParaRPr lang="en-US" dirty="0"/>
          </a:p>
        </p:txBody>
      </p:sp>
      <p:sp>
        <p:nvSpPr>
          <p:cNvPr id="4" name="Text Placeholder 3"/>
          <p:cNvSpPr>
            <a:spLocks noGrp="1"/>
          </p:cNvSpPr>
          <p:nvPr>
            <p:ph type="body" sz="quarter" idx="13"/>
          </p:nvPr>
        </p:nvSpPr>
        <p:spPr/>
        <p:txBody>
          <a:bodyPr>
            <a:normAutofit fontScale="92500" lnSpcReduction="20000"/>
          </a:bodyPr>
          <a:lstStyle/>
          <a:p>
            <a:pPr algn="just">
              <a:defRPr/>
            </a:pPr>
            <a:r>
              <a:rPr lang="en-US" sz="2800" dirty="0"/>
              <a:t>Many IT professionals think of testing as a stage that comes near the end of IT product development</a:t>
            </a:r>
          </a:p>
          <a:p>
            <a:pPr algn="just">
              <a:defRPr/>
            </a:pPr>
            <a:r>
              <a:rPr lang="en-US" sz="2800" dirty="0"/>
              <a:t>Testing should be done during almost every phase of the IT product development life </a:t>
            </a:r>
            <a:r>
              <a:rPr lang="en-US" sz="2800" dirty="0" smtClean="0"/>
              <a:t>cycle</a:t>
            </a:r>
          </a:p>
          <a:p>
            <a:pPr algn="just">
              <a:defRPr/>
            </a:pPr>
            <a:r>
              <a:rPr lang="en-US" sz="2800" dirty="0" smtClean="0"/>
              <a:t>Types of Testing</a:t>
            </a:r>
            <a:endParaRPr lang="en-US" sz="2800" dirty="0"/>
          </a:p>
          <a:p>
            <a:pPr marL="274320" lvl="2" indent="-91440" algn="just">
              <a:spcBef>
                <a:spcPts val="1200"/>
              </a:spcBef>
              <a:spcAft>
                <a:spcPts val="200"/>
              </a:spcAft>
              <a:buSzPct val="100000"/>
              <a:defRPr/>
            </a:pPr>
            <a:r>
              <a:rPr lang="en-US" sz="2400" b="1" dirty="0" smtClean="0"/>
              <a:t>Unit </a:t>
            </a:r>
            <a:r>
              <a:rPr lang="en-US" sz="2400" b="1" dirty="0"/>
              <a:t>testing </a:t>
            </a:r>
            <a:r>
              <a:rPr lang="en-US" sz="2400" dirty="0"/>
              <a:t>tests each </a:t>
            </a:r>
            <a:r>
              <a:rPr lang="en-US" sz="2400" dirty="0" smtClean="0"/>
              <a:t>individual </a:t>
            </a:r>
            <a:r>
              <a:rPr lang="en-US" sz="2400" dirty="0"/>
              <a:t>component (often a program) to ensure it is as defect-free as possible</a:t>
            </a:r>
          </a:p>
          <a:p>
            <a:pPr marL="274320" lvl="2" indent="-91440" algn="just">
              <a:spcBef>
                <a:spcPts val="1200"/>
              </a:spcBef>
              <a:spcAft>
                <a:spcPts val="200"/>
              </a:spcAft>
              <a:buSzPct val="100000"/>
              <a:defRPr/>
            </a:pPr>
            <a:r>
              <a:rPr lang="en-US" sz="2400" b="1" dirty="0"/>
              <a:t>Integration testing </a:t>
            </a:r>
            <a:r>
              <a:rPr lang="en-US" sz="2400" dirty="0"/>
              <a:t>occurs between unit and system testing to test functionally grouped components</a:t>
            </a:r>
          </a:p>
          <a:p>
            <a:pPr marL="274320" lvl="2" indent="-91440" algn="just">
              <a:spcBef>
                <a:spcPts val="1200"/>
              </a:spcBef>
              <a:spcAft>
                <a:spcPts val="200"/>
              </a:spcAft>
              <a:buSzPct val="100000"/>
              <a:defRPr/>
            </a:pPr>
            <a:r>
              <a:rPr lang="en-US" sz="2400" b="1" dirty="0"/>
              <a:t>System testing </a:t>
            </a:r>
            <a:r>
              <a:rPr lang="en-US" sz="2400" dirty="0"/>
              <a:t>tests the entire system as one entity</a:t>
            </a:r>
          </a:p>
          <a:p>
            <a:pPr marL="274320" lvl="2" indent="-91440" algn="just">
              <a:spcBef>
                <a:spcPts val="1200"/>
              </a:spcBef>
              <a:spcAft>
                <a:spcPts val="200"/>
              </a:spcAft>
              <a:buSzPct val="100000"/>
              <a:defRPr/>
            </a:pPr>
            <a:r>
              <a:rPr lang="en-US" sz="2400" b="1" dirty="0"/>
              <a:t>User acceptance testing </a:t>
            </a:r>
            <a:r>
              <a:rPr lang="en-US" sz="2400" dirty="0"/>
              <a:t>is an independent test performed by end users prior to accepting the delivered system</a:t>
            </a:r>
          </a:p>
          <a:p>
            <a:endParaRPr lang="en-US" dirty="0"/>
          </a:p>
        </p:txBody>
      </p:sp>
    </p:spTree>
    <p:extLst>
      <p:ext uri="{BB962C8B-B14F-4D97-AF65-F5344CB8AC3E}">
        <p14:creationId xmlns:p14="http://schemas.microsoft.com/office/powerpoint/2010/main" val="11628076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27</a:t>
            </a:fld>
            <a:endParaRPr lang="en-US" dirty="0"/>
          </a:p>
        </p:txBody>
      </p:sp>
      <p:sp>
        <p:nvSpPr>
          <p:cNvPr id="3" name="Title 2"/>
          <p:cNvSpPr>
            <a:spLocks noGrp="1"/>
          </p:cNvSpPr>
          <p:nvPr>
            <p:ph type="title"/>
          </p:nvPr>
        </p:nvSpPr>
        <p:spPr/>
        <p:txBody>
          <a:bodyPr/>
          <a:lstStyle/>
          <a:p>
            <a:r>
              <a:rPr lang="en-US" dirty="0"/>
              <a:t>Testing Alone Is Not Enough</a:t>
            </a:r>
          </a:p>
        </p:txBody>
      </p:sp>
      <p:sp>
        <p:nvSpPr>
          <p:cNvPr id="4" name="Text Placeholder 3"/>
          <p:cNvSpPr>
            <a:spLocks noGrp="1"/>
          </p:cNvSpPr>
          <p:nvPr>
            <p:ph type="body" sz="quarter" idx="13"/>
          </p:nvPr>
        </p:nvSpPr>
        <p:spPr/>
        <p:txBody>
          <a:bodyPr>
            <a:normAutofit/>
          </a:bodyPr>
          <a:lstStyle/>
          <a:p>
            <a:pPr algn="just">
              <a:defRPr/>
            </a:pPr>
            <a:r>
              <a:rPr lang="en-US" sz="2800" dirty="0"/>
              <a:t>Testing does not sufficiently prevent software defects because:</a:t>
            </a:r>
          </a:p>
          <a:p>
            <a:pPr lvl="1" algn="just">
              <a:defRPr/>
            </a:pPr>
            <a:r>
              <a:rPr lang="en-US" sz="2600" dirty="0"/>
              <a:t>The number of ways to test a complex system is huge</a:t>
            </a:r>
          </a:p>
          <a:p>
            <a:pPr lvl="1" algn="just">
              <a:defRPr/>
            </a:pPr>
            <a:r>
              <a:rPr lang="en-US" sz="2600" dirty="0"/>
              <a:t>Users will continue to invent new ways to use a system that its developers never considered</a:t>
            </a:r>
          </a:p>
          <a:p>
            <a:endParaRPr lang="en-US" dirty="0"/>
          </a:p>
        </p:txBody>
      </p:sp>
    </p:spTree>
    <p:extLst>
      <p:ext uri="{BB962C8B-B14F-4D97-AF65-F5344CB8AC3E}">
        <p14:creationId xmlns:p14="http://schemas.microsoft.com/office/powerpoint/2010/main" val="2127372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457201" y="457200"/>
            <a:ext cx="8381999" cy="780195"/>
          </a:xfrm>
          <a:noFill/>
          <a:ln/>
        </p:spPr>
        <p:txBody>
          <a:bodyPr lIns="90840" tIns="44623" rIns="90840" bIns="44623">
            <a:normAutofit fontScale="90000"/>
          </a:bodyPr>
          <a:lstStyle/>
          <a:p>
            <a:r>
              <a:rPr lang="en-US" dirty="0"/>
              <a:t>Who’s Responsible for the Quality </a:t>
            </a:r>
            <a:br>
              <a:rPr lang="en-US" dirty="0"/>
            </a:br>
            <a:r>
              <a:rPr lang="en-US" dirty="0"/>
              <a:t>of Projects?</a:t>
            </a:r>
            <a:endParaRPr lang="en-GB" altLang="en-US" dirty="0"/>
          </a:p>
        </p:txBody>
      </p:sp>
      <p:sp>
        <p:nvSpPr>
          <p:cNvPr id="40962" name="Rectangle 2"/>
          <p:cNvSpPr>
            <a:spLocks noGrp="1" noChangeArrowheads="1"/>
          </p:cNvSpPr>
          <p:nvPr>
            <p:ph type="body" sz="quarter" idx="13"/>
          </p:nvPr>
        </p:nvSpPr>
        <p:spPr>
          <a:noFill/>
          <a:ln/>
        </p:spPr>
        <p:txBody>
          <a:bodyPr lIns="90840" tIns="44623" rIns="90840" bIns="44623">
            <a:noAutofit/>
          </a:bodyPr>
          <a:lstStyle/>
          <a:p>
            <a:r>
              <a:rPr lang="en-US" sz="2800" dirty="0"/>
              <a:t>Project managers are ultimately responsible for quality management on their projects</a:t>
            </a:r>
          </a:p>
          <a:p>
            <a:r>
              <a:rPr lang="en-US" sz="2800" dirty="0"/>
              <a:t>Several organizations and references can help project managers and their teams understand quality</a:t>
            </a:r>
          </a:p>
          <a:p>
            <a:pPr marL="274320" lvl="2" indent="-91440">
              <a:spcBef>
                <a:spcPts val="1200"/>
              </a:spcBef>
              <a:spcAft>
                <a:spcPts val="200"/>
              </a:spcAft>
              <a:buSzPct val="100000"/>
            </a:pPr>
            <a:r>
              <a:rPr lang="en-US" sz="2400" dirty="0"/>
              <a:t>International Organization for Standardization (www.iso.org)</a:t>
            </a:r>
          </a:p>
          <a:p>
            <a:pPr marL="274320" lvl="2" indent="-91440">
              <a:spcBef>
                <a:spcPts val="1200"/>
              </a:spcBef>
              <a:spcAft>
                <a:spcPts val="200"/>
              </a:spcAft>
              <a:buSzPct val="100000"/>
            </a:pPr>
            <a:r>
              <a:rPr lang="en-US" sz="2400" dirty="0"/>
              <a:t>IEEE (</a:t>
            </a:r>
            <a:r>
              <a:rPr lang="en-US" sz="2400" dirty="0">
                <a:hlinkClick r:id="rId3"/>
              </a:rPr>
              <a:t>www.ieee.org</a:t>
            </a:r>
            <a:r>
              <a:rPr lang="en-US" sz="2400" dirty="0" smtClean="0"/>
              <a:t>)</a:t>
            </a:r>
          </a:p>
          <a:p>
            <a:pPr marL="274320" lvl="2" indent="-91440">
              <a:spcBef>
                <a:spcPts val="1200"/>
              </a:spcBef>
              <a:spcAft>
                <a:spcPts val="200"/>
              </a:spcAft>
              <a:buSzPct val="100000"/>
            </a:pPr>
            <a:r>
              <a:rPr lang="en-US" sz="2400" dirty="0" smtClean="0"/>
              <a:t>Software </a:t>
            </a:r>
            <a:r>
              <a:rPr lang="en-US" sz="2400" dirty="0"/>
              <a:t>Engineering Institute (SEI</a:t>
            </a:r>
            <a:r>
              <a:rPr lang="en-US" sz="2400" dirty="0" smtClean="0"/>
              <a:t>)</a:t>
            </a:r>
          </a:p>
          <a:p>
            <a:pPr marL="274320" lvl="2" indent="-91440">
              <a:spcBef>
                <a:spcPts val="1200"/>
              </a:spcBef>
              <a:spcAft>
                <a:spcPts val="200"/>
              </a:spcAft>
              <a:buSzPct val="100000"/>
            </a:pPr>
            <a:r>
              <a:rPr lang="en-US" sz="2400" dirty="0" smtClean="0">
                <a:solidFill>
                  <a:schemeClr val="tx1"/>
                </a:solidFill>
              </a:rPr>
              <a:t>Project </a:t>
            </a:r>
            <a:r>
              <a:rPr lang="en-US" sz="2400" dirty="0">
                <a:solidFill>
                  <a:schemeClr val="tx1"/>
                </a:solidFill>
              </a:rPr>
              <a:t>Management Institute (PMI) </a:t>
            </a:r>
            <a:endParaRPr lang="en-US" sz="2400" dirty="0"/>
          </a:p>
        </p:txBody>
      </p:sp>
      <p:sp>
        <p:nvSpPr>
          <p:cNvPr id="2" name="Slide Number Placeholder 1"/>
          <p:cNvSpPr>
            <a:spLocks noGrp="1"/>
          </p:cNvSpPr>
          <p:nvPr>
            <p:ph type="sldNum" sz="quarter" idx="12"/>
          </p:nvPr>
        </p:nvSpPr>
        <p:spPr/>
        <p:txBody>
          <a:bodyPr/>
          <a:lstStyle/>
          <a:p>
            <a:fld id="{E5CE4F79-B2B3-4E4E-AB5D-F771515B9CEF}" type="slidenum">
              <a:rPr lang="en-US" smtClean="0"/>
              <a:t>28</a:t>
            </a:fld>
            <a:endParaRPr lang="en-US" dirty="0"/>
          </a:p>
        </p:txBody>
      </p:sp>
    </p:spTree>
    <p:extLst>
      <p:ext uri="{BB962C8B-B14F-4D97-AF65-F5344CB8AC3E}">
        <p14:creationId xmlns:p14="http://schemas.microsoft.com/office/powerpoint/2010/main" val="3663262589"/>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altLang="en-US" dirty="0" smtClean="0"/>
              <a:t>Quality Control</a:t>
            </a:r>
            <a:endParaRPr lang="en-GB" altLang="en-US" dirty="0"/>
          </a:p>
        </p:txBody>
      </p:sp>
      <p:sp>
        <p:nvSpPr>
          <p:cNvPr id="84995" name="Rectangle 3"/>
          <p:cNvSpPr>
            <a:spLocks noGrp="1" noChangeArrowheads="1"/>
          </p:cNvSpPr>
          <p:nvPr>
            <p:ph type="body" sz="quarter" idx="13"/>
          </p:nvPr>
        </p:nvSpPr>
        <p:spPr/>
        <p:txBody>
          <a:bodyPr>
            <a:normAutofit/>
          </a:bodyPr>
          <a:lstStyle/>
          <a:p>
            <a:r>
              <a:rPr lang="en-GB" altLang="en-US" sz="3200" dirty="0"/>
              <a:t>This involves checking the software development process to ensure that procedures and standards are being followed.</a:t>
            </a:r>
          </a:p>
          <a:p>
            <a:r>
              <a:rPr lang="en-GB" altLang="en-US" sz="3200" dirty="0"/>
              <a:t>There are two approaches to quality control</a:t>
            </a:r>
          </a:p>
          <a:p>
            <a:pPr lvl="1"/>
            <a:r>
              <a:rPr lang="en-GB" altLang="en-US" sz="2800" dirty="0"/>
              <a:t>Quality reviews;</a:t>
            </a:r>
          </a:p>
          <a:p>
            <a:pPr lvl="1"/>
            <a:r>
              <a:rPr lang="en-GB" altLang="en-US" sz="2800" dirty="0"/>
              <a:t>Automated software assessment and software measurement.</a:t>
            </a:r>
          </a:p>
        </p:txBody>
      </p:sp>
      <p:sp>
        <p:nvSpPr>
          <p:cNvPr id="2" name="Slide Number Placeholder 1"/>
          <p:cNvSpPr>
            <a:spLocks noGrp="1"/>
          </p:cNvSpPr>
          <p:nvPr>
            <p:ph type="sldNum" sz="quarter" idx="12"/>
          </p:nvPr>
        </p:nvSpPr>
        <p:spPr/>
        <p:txBody>
          <a:bodyPr/>
          <a:lstStyle/>
          <a:p>
            <a:fld id="{E5CE4F79-B2B3-4E4E-AB5D-F771515B9CEF}" type="slidenum">
              <a:rPr lang="en-US" smtClean="0"/>
              <a:t>29</a:t>
            </a:fld>
            <a:endParaRPr lang="en-US" dirty="0"/>
          </a:p>
        </p:txBody>
      </p:sp>
    </p:spTree>
    <p:extLst>
      <p:ext uri="{BB962C8B-B14F-4D97-AF65-F5344CB8AC3E}">
        <p14:creationId xmlns:p14="http://schemas.microsoft.com/office/powerpoint/2010/main" val="13991560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lIns="90840" tIns="44623" rIns="90840" bIns="44623"/>
          <a:lstStyle/>
          <a:p>
            <a:r>
              <a:rPr lang="en-GB" altLang="en-US" dirty="0" smtClean="0"/>
              <a:t>Quality Reviews</a:t>
            </a:r>
            <a:endParaRPr lang="en-GB" altLang="en-US" dirty="0"/>
          </a:p>
        </p:txBody>
      </p:sp>
      <p:sp>
        <p:nvSpPr>
          <p:cNvPr id="29699" name="Rectangle 3"/>
          <p:cNvSpPr>
            <a:spLocks noGrp="1" noChangeArrowheads="1"/>
          </p:cNvSpPr>
          <p:nvPr>
            <p:ph type="body" sz="quarter" idx="13"/>
          </p:nvPr>
        </p:nvSpPr>
        <p:spPr>
          <a:noFill/>
          <a:ln/>
        </p:spPr>
        <p:txBody>
          <a:bodyPr lIns="90840" tIns="44623" rIns="90840" bIns="44623">
            <a:noAutofit/>
          </a:bodyPr>
          <a:lstStyle/>
          <a:p>
            <a:r>
              <a:rPr lang="en-GB" altLang="en-US" sz="2800" dirty="0"/>
              <a:t>This is the principal method of validating the quality of a process or of a product.</a:t>
            </a:r>
          </a:p>
          <a:p>
            <a:r>
              <a:rPr lang="en-GB" altLang="en-US" sz="2800" dirty="0"/>
              <a:t>A group examines part or all of a process or system and its documentation to find potential problems.</a:t>
            </a:r>
          </a:p>
          <a:p>
            <a:r>
              <a:rPr lang="en-GB" altLang="en-US" sz="2800" dirty="0"/>
              <a:t>There are different types of review with different objectives</a:t>
            </a:r>
          </a:p>
          <a:p>
            <a:pPr lvl="1"/>
            <a:r>
              <a:rPr lang="en-GB" altLang="en-US" sz="2800" dirty="0"/>
              <a:t>Inspections for defect removal (product);</a:t>
            </a:r>
          </a:p>
          <a:p>
            <a:pPr lvl="1"/>
            <a:r>
              <a:rPr lang="en-GB" altLang="en-US" sz="2800" dirty="0"/>
              <a:t>Reviews for progress assessment (product and process);</a:t>
            </a:r>
          </a:p>
          <a:p>
            <a:pPr lvl="1"/>
            <a:r>
              <a:rPr lang="en-GB" altLang="en-US" sz="2800" dirty="0"/>
              <a:t>Quality reviews (product and standards).</a:t>
            </a:r>
          </a:p>
        </p:txBody>
      </p:sp>
      <p:sp>
        <p:nvSpPr>
          <p:cNvPr id="2" name="Slide Number Placeholder 1"/>
          <p:cNvSpPr>
            <a:spLocks noGrp="1"/>
          </p:cNvSpPr>
          <p:nvPr>
            <p:ph type="sldNum" sz="quarter" idx="12"/>
          </p:nvPr>
        </p:nvSpPr>
        <p:spPr/>
        <p:txBody>
          <a:bodyPr/>
          <a:lstStyle/>
          <a:p>
            <a:fld id="{E5CE4F79-B2B3-4E4E-AB5D-F771515B9CEF}" type="slidenum">
              <a:rPr lang="en-US" smtClean="0"/>
              <a:t>30</a:t>
            </a:fld>
            <a:endParaRPr lang="en-US" dirty="0"/>
          </a:p>
        </p:txBody>
      </p:sp>
    </p:spTree>
    <p:extLst>
      <p:ext uri="{BB962C8B-B14F-4D97-AF65-F5344CB8AC3E}">
        <p14:creationId xmlns:p14="http://schemas.microsoft.com/office/powerpoint/2010/main" val="407362914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 Sigma Analysis</a:t>
            </a:r>
          </a:p>
        </p:txBody>
      </p:sp>
      <p:sp>
        <p:nvSpPr>
          <p:cNvPr id="3" name="Text Placeholder 2"/>
          <p:cNvSpPr>
            <a:spLocks noGrp="1"/>
          </p:cNvSpPr>
          <p:nvPr>
            <p:ph type="body" sz="quarter" idx="13"/>
          </p:nvPr>
        </p:nvSpPr>
        <p:spPr/>
        <p:txBody>
          <a:bodyPr/>
          <a:lstStyle/>
          <a:p>
            <a:r>
              <a:rPr lang="en-US" sz="2800" dirty="0"/>
              <a:t>Six Sigma is a process that makes use of statistics and data analysis to analyze and reduce errors or defects</a:t>
            </a:r>
            <a:endParaRPr lang="en-US" sz="2800" b="1" dirty="0" smtClean="0"/>
          </a:p>
          <a:p>
            <a:r>
              <a:rPr lang="en-US" sz="2800" b="1" dirty="0" smtClean="0"/>
              <a:t>Six </a:t>
            </a:r>
            <a:r>
              <a:rPr lang="en-US" sz="2800" b="1" dirty="0"/>
              <a:t>Sigma</a:t>
            </a:r>
            <a:r>
              <a:rPr lang="en-US" sz="2800" dirty="0"/>
              <a:t> is </a:t>
            </a:r>
            <a:r>
              <a:rPr lang="en-US" sz="2800" dirty="0" smtClean="0"/>
              <a:t>uniquely </a:t>
            </a:r>
            <a:r>
              <a:rPr lang="en-US" sz="2800" dirty="0"/>
              <a:t>driven by close understanding of customer needs, disciplined use of facts, data, and statistical analysis, and diligent attention to managing, improving, and reinventing business </a:t>
            </a:r>
            <a:r>
              <a:rPr lang="en-US" sz="2800" dirty="0" smtClean="0"/>
              <a:t>processes</a:t>
            </a:r>
          </a:p>
          <a:p>
            <a:r>
              <a:rPr lang="en-US" sz="2800" dirty="0"/>
              <a:t>Six Sigma is a very clever way of branding and packaging many aspects of Total Quality Management (TQM)</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31</a:t>
            </a:fld>
            <a:endParaRPr lang="en-US" dirty="0"/>
          </a:p>
        </p:txBody>
      </p:sp>
    </p:spTree>
    <p:extLst>
      <p:ext uri="{BB962C8B-B14F-4D97-AF65-F5344CB8AC3E}">
        <p14:creationId xmlns:p14="http://schemas.microsoft.com/office/powerpoint/2010/main" val="33473727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A55A823-B13C-4B58-A4B0-5EDF7AE524AB}" type="slidenum">
              <a:rPr lang="en-US" smtClean="0"/>
              <a:pPr>
                <a:defRPr/>
              </a:pPr>
              <a:t>32</a:t>
            </a:fld>
            <a:endParaRPr lang="en-US" dirty="0"/>
          </a:p>
        </p:txBody>
      </p:sp>
      <p:sp>
        <p:nvSpPr>
          <p:cNvPr id="40962" name="Rectangle 2"/>
          <p:cNvSpPr>
            <a:spLocks noGrp="1" noChangeArrowheads="1"/>
          </p:cNvSpPr>
          <p:nvPr>
            <p:ph type="title"/>
          </p:nvPr>
        </p:nvSpPr>
        <p:spPr/>
        <p:txBody>
          <a:bodyPr/>
          <a:lstStyle/>
          <a:p>
            <a:r>
              <a:rPr lang="en-US" dirty="0"/>
              <a:t>Basic Information on Six Sigma</a:t>
            </a:r>
          </a:p>
        </p:txBody>
      </p:sp>
      <p:sp>
        <p:nvSpPr>
          <p:cNvPr id="40963" name="Rectangle 3"/>
          <p:cNvSpPr>
            <a:spLocks noGrp="1" noChangeArrowheads="1"/>
          </p:cNvSpPr>
          <p:nvPr>
            <p:ph type="body" sz="quarter" idx="13"/>
          </p:nvPr>
        </p:nvSpPr>
        <p:spPr/>
        <p:txBody>
          <a:bodyPr>
            <a:normAutofit/>
          </a:bodyPr>
          <a:lstStyle/>
          <a:p>
            <a:pPr>
              <a:spcBef>
                <a:spcPct val="100000"/>
              </a:spcBef>
            </a:pPr>
            <a:r>
              <a:rPr lang="en-US" sz="2800" dirty="0"/>
              <a:t>The target for perfection is the achievement of no more than </a:t>
            </a:r>
            <a:r>
              <a:rPr lang="en-US" sz="2800" b="1" dirty="0"/>
              <a:t>3.4 defects per million opportunities</a:t>
            </a:r>
          </a:p>
          <a:p>
            <a:pPr>
              <a:spcBef>
                <a:spcPct val="100000"/>
              </a:spcBef>
            </a:pPr>
            <a:r>
              <a:rPr lang="en-US" sz="2800" u="sng" dirty="0" smtClean="0"/>
              <a:t>Six </a:t>
            </a:r>
            <a:r>
              <a:rPr lang="en-US" sz="2800" u="sng" dirty="0"/>
              <a:t>Sigma</a:t>
            </a:r>
            <a:r>
              <a:rPr lang="en-US" sz="2800" dirty="0"/>
              <a:t> is a set of management tools and techniques designed to improve the capability of the business process by reducing the likelihood of </a:t>
            </a:r>
            <a:r>
              <a:rPr lang="en-US" sz="2800" dirty="0" smtClean="0"/>
              <a:t>error</a:t>
            </a:r>
          </a:p>
          <a:p>
            <a:pPr>
              <a:spcBef>
                <a:spcPct val="100000"/>
              </a:spcBef>
            </a:pPr>
            <a:r>
              <a:rPr lang="en-US" sz="2800" dirty="0"/>
              <a:t>The principles can apply to a wide variety of </a:t>
            </a:r>
            <a:r>
              <a:rPr lang="en-US" sz="2800" dirty="0" smtClean="0"/>
              <a:t>processes</a:t>
            </a:r>
            <a:endParaRPr lang="en-US" sz="2800" dirty="0"/>
          </a:p>
          <a:p>
            <a:r>
              <a:rPr lang="en-US" sz="2800" dirty="0" smtClean="0"/>
              <a:t>Six Sigma projects normally follow a five-phase improvement process called DMAIC</a:t>
            </a:r>
            <a:endParaRPr lang="en-US" sz="2800" dirty="0"/>
          </a:p>
        </p:txBody>
      </p:sp>
    </p:spTree>
    <p:extLst>
      <p:ext uri="{BB962C8B-B14F-4D97-AF65-F5344CB8AC3E}">
        <p14:creationId xmlns:p14="http://schemas.microsoft.com/office/powerpoint/2010/main" val="12975361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221AB4D5-9E2D-4A54-96AF-C461B1B43E2F}" type="slidenum">
              <a:rPr lang="en-US" smtClean="0"/>
              <a:pPr>
                <a:defRPr/>
              </a:pPr>
              <a:t>33</a:t>
            </a:fld>
            <a:endParaRPr lang="en-US" dirty="0"/>
          </a:p>
        </p:txBody>
      </p:sp>
      <p:sp>
        <p:nvSpPr>
          <p:cNvPr id="41986" name="Rectangle 2"/>
          <p:cNvSpPr>
            <a:spLocks noGrp="1" noChangeArrowheads="1"/>
          </p:cNvSpPr>
          <p:nvPr>
            <p:ph type="title"/>
          </p:nvPr>
        </p:nvSpPr>
        <p:spPr/>
        <p:txBody>
          <a:bodyPr>
            <a:normAutofit/>
          </a:bodyPr>
          <a:lstStyle/>
          <a:p>
            <a:r>
              <a:rPr lang="en-US" dirty="0"/>
              <a:t>DMAIC</a:t>
            </a:r>
          </a:p>
        </p:txBody>
      </p:sp>
      <p:sp>
        <p:nvSpPr>
          <p:cNvPr id="41987" name="Rectangle 3"/>
          <p:cNvSpPr>
            <a:spLocks noGrp="1" noChangeArrowheads="1"/>
          </p:cNvSpPr>
          <p:nvPr>
            <p:ph type="body" sz="quarter" idx="13"/>
          </p:nvPr>
        </p:nvSpPr>
        <p:spPr/>
        <p:txBody>
          <a:bodyPr>
            <a:noAutofit/>
          </a:bodyPr>
          <a:lstStyle/>
          <a:p>
            <a:r>
              <a:rPr lang="en-US" sz="2800" b="1" dirty="0"/>
              <a:t>DMAIC </a:t>
            </a:r>
            <a:r>
              <a:rPr lang="en-US" sz="2800" dirty="0"/>
              <a:t>is a systematic, closed-loop process for continued improvement that is scientific and fact based</a:t>
            </a:r>
          </a:p>
          <a:p>
            <a:r>
              <a:rPr lang="en-US" sz="2800" dirty="0"/>
              <a:t>DMAIC stands for:</a:t>
            </a:r>
          </a:p>
          <a:p>
            <a:pPr lvl="1"/>
            <a:r>
              <a:rPr lang="en-US" sz="2300" b="1" dirty="0"/>
              <a:t>D</a:t>
            </a:r>
            <a:r>
              <a:rPr lang="en-US" sz="2300" dirty="0"/>
              <a:t>efine: Define the problem/opportunity, process, and customer requirements</a:t>
            </a:r>
          </a:p>
          <a:p>
            <a:pPr lvl="1"/>
            <a:r>
              <a:rPr lang="en-US" sz="2300" b="1" dirty="0"/>
              <a:t>M</a:t>
            </a:r>
            <a:r>
              <a:rPr lang="en-US" sz="2300" dirty="0"/>
              <a:t>easure: Define measures, then collect, compile, and display data</a:t>
            </a:r>
          </a:p>
          <a:p>
            <a:pPr lvl="1"/>
            <a:r>
              <a:rPr lang="en-US" sz="2300" b="1" dirty="0"/>
              <a:t>A</a:t>
            </a:r>
            <a:r>
              <a:rPr lang="en-US" sz="2300" dirty="0"/>
              <a:t>nalyze: Scrutinize process details to find improvement opportunities</a:t>
            </a:r>
          </a:p>
          <a:p>
            <a:pPr lvl="1"/>
            <a:r>
              <a:rPr lang="en-US" sz="2300" b="1" dirty="0"/>
              <a:t>I</a:t>
            </a:r>
            <a:r>
              <a:rPr lang="en-US" sz="2300" dirty="0"/>
              <a:t>mprove: Generate solutions and ideas for improving the problem</a:t>
            </a:r>
          </a:p>
          <a:p>
            <a:pPr lvl="1"/>
            <a:r>
              <a:rPr lang="en-US" sz="2300" b="1" dirty="0"/>
              <a:t>C</a:t>
            </a:r>
            <a:r>
              <a:rPr lang="en-US" sz="2300" dirty="0"/>
              <a:t>ontrol: Track and verify the stability of the improvements and the predictability of the solution</a:t>
            </a:r>
          </a:p>
        </p:txBody>
      </p:sp>
    </p:spTree>
    <p:extLst>
      <p:ext uri="{BB962C8B-B14F-4D97-AF65-F5344CB8AC3E}">
        <p14:creationId xmlns:p14="http://schemas.microsoft.com/office/powerpoint/2010/main" val="21015228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ECD949B-619E-45C6-B724-AE4AC02EEEBD}" type="slidenum">
              <a:rPr lang="en-US" smtClean="0"/>
              <a:pPr>
                <a:defRPr/>
              </a:pPr>
              <a:t>34</a:t>
            </a:fld>
            <a:endParaRPr lang="en-US" dirty="0"/>
          </a:p>
        </p:txBody>
      </p:sp>
      <p:sp>
        <p:nvSpPr>
          <p:cNvPr id="43010" name="Rectangle 2"/>
          <p:cNvSpPr>
            <a:spLocks noGrp="1" noChangeArrowheads="1"/>
          </p:cNvSpPr>
          <p:nvPr>
            <p:ph type="title"/>
          </p:nvPr>
        </p:nvSpPr>
        <p:spPr>
          <a:xfrm>
            <a:off x="304800" y="541516"/>
            <a:ext cx="8381999" cy="780195"/>
          </a:xfrm>
        </p:spPr>
        <p:txBody>
          <a:bodyPr>
            <a:normAutofit fontScale="90000"/>
          </a:bodyPr>
          <a:lstStyle/>
          <a:p>
            <a:r>
              <a:rPr lang="en-US" dirty="0"/>
              <a:t>How is Six Sigma Quality</a:t>
            </a:r>
            <a:br>
              <a:rPr lang="en-US" dirty="0"/>
            </a:br>
            <a:r>
              <a:rPr lang="en-US" dirty="0"/>
              <a:t> Control Unique?</a:t>
            </a:r>
          </a:p>
        </p:txBody>
      </p:sp>
      <p:sp>
        <p:nvSpPr>
          <p:cNvPr id="43011" name="Rectangle 3"/>
          <p:cNvSpPr>
            <a:spLocks noGrp="1" noChangeArrowheads="1"/>
          </p:cNvSpPr>
          <p:nvPr>
            <p:ph type="body" sz="quarter" idx="13"/>
          </p:nvPr>
        </p:nvSpPr>
        <p:spPr/>
        <p:txBody>
          <a:bodyPr>
            <a:normAutofit lnSpcReduction="10000"/>
          </a:bodyPr>
          <a:lstStyle/>
          <a:p>
            <a:r>
              <a:rPr lang="en-US" sz="2800" dirty="0"/>
              <a:t>It requires an organization-wide commitment.</a:t>
            </a:r>
          </a:p>
          <a:p>
            <a:r>
              <a:rPr lang="en-US" sz="2800" dirty="0"/>
              <a:t>Focus on the </a:t>
            </a:r>
            <a:r>
              <a:rPr lang="en-US" sz="2800" dirty="0" smtClean="0"/>
              <a:t>Customer</a:t>
            </a:r>
          </a:p>
          <a:p>
            <a:r>
              <a:rPr lang="en-US" sz="2800" dirty="0" smtClean="0"/>
              <a:t>Focus on Training, </a:t>
            </a:r>
            <a:r>
              <a:rPr lang="en-US" sz="2800" dirty="0"/>
              <a:t>Ensure a Flexible and Responsive </a:t>
            </a:r>
            <a:r>
              <a:rPr lang="en-US" sz="2800" dirty="0" smtClean="0"/>
              <a:t>Ecosystem</a:t>
            </a:r>
          </a:p>
          <a:p>
            <a:r>
              <a:rPr lang="en-US" sz="2800" dirty="0" smtClean="0"/>
              <a:t>Six </a:t>
            </a:r>
            <a:r>
              <a:rPr lang="en-US" sz="2800" dirty="0"/>
              <a:t>Sigma organizations have the ability and willingness to adopt contrary objectives, such as reducing errors and getting things done faster</a:t>
            </a:r>
          </a:p>
          <a:p>
            <a:r>
              <a:rPr lang="en-US" sz="2800" dirty="0"/>
              <a:t>It is an operating philosophy that is customer focused and strives to drive out waste, raise levels of quality, and improve financial performance at </a:t>
            </a:r>
            <a:r>
              <a:rPr lang="en-US" sz="2800" i="1" dirty="0"/>
              <a:t>breakthrough</a:t>
            </a:r>
            <a:r>
              <a:rPr lang="en-US" sz="2800" dirty="0"/>
              <a:t> levels</a:t>
            </a:r>
          </a:p>
        </p:txBody>
      </p:sp>
    </p:spTree>
    <p:extLst>
      <p:ext uri="{BB962C8B-B14F-4D97-AF65-F5344CB8AC3E}">
        <p14:creationId xmlns:p14="http://schemas.microsoft.com/office/powerpoint/2010/main" val="26596336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D998537-A8E0-4F80-868D-0665AD9DF5C7}" type="slidenum">
              <a:rPr lang="en-US" smtClean="0"/>
              <a:pPr>
                <a:defRPr/>
              </a:pPr>
              <a:t>35</a:t>
            </a:fld>
            <a:endParaRPr lang="en-US" dirty="0"/>
          </a:p>
        </p:txBody>
      </p:sp>
      <p:sp>
        <p:nvSpPr>
          <p:cNvPr id="46082" name="Rectangle 2"/>
          <p:cNvSpPr>
            <a:spLocks noGrp="1" noChangeArrowheads="1"/>
          </p:cNvSpPr>
          <p:nvPr>
            <p:ph type="title"/>
          </p:nvPr>
        </p:nvSpPr>
        <p:spPr>
          <a:xfrm>
            <a:off x="457201" y="541516"/>
            <a:ext cx="8381999" cy="780195"/>
          </a:xfrm>
        </p:spPr>
        <p:txBody>
          <a:bodyPr>
            <a:normAutofit fontScale="90000"/>
          </a:bodyPr>
          <a:lstStyle/>
          <a:p>
            <a:r>
              <a:rPr lang="en-US" dirty="0"/>
              <a:t>Six Sigma Projects Use Project </a:t>
            </a:r>
            <a:r>
              <a:rPr lang="en-US" dirty="0" smtClean="0"/>
              <a:t>Management Tools</a:t>
            </a:r>
            <a:endParaRPr lang="en-US" dirty="0"/>
          </a:p>
        </p:txBody>
      </p:sp>
      <p:sp>
        <p:nvSpPr>
          <p:cNvPr id="46083" name="Rectangle 3"/>
          <p:cNvSpPr>
            <a:spLocks noGrp="1" noChangeArrowheads="1"/>
          </p:cNvSpPr>
          <p:nvPr>
            <p:ph type="body" sz="quarter" idx="13"/>
          </p:nvPr>
        </p:nvSpPr>
        <p:spPr/>
        <p:txBody>
          <a:bodyPr>
            <a:normAutofit/>
          </a:bodyPr>
          <a:lstStyle/>
          <a:p>
            <a:pPr>
              <a:spcBef>
                <a:spcPct val="100000"/>
              </a:spcBef>
            </a:pPr>
            <a:r>
              <a:rPr lang="en-US" sz="2800" dirty="0"/>
              <a:t>The training for Six Sigma includes many project management concepts, tools, and techniques</a:t>
            </a:r>
          </a:p>
          <a:p>
            <a:pPr>
              <a:spcBef>
                <a:spcPct val="100000"/>
              </a:spcBef>
            </a:pPr>
            <a:r>
              <a:rPr lang="en-US" sz="2800" dirty="0"/>
              <a:t>For example, Six Sigma projects often use business cases, project charters, schedules, budgets, and so on</a:t>
            </a:r>
          </a:p>
          <a:p>
            <a:pPr>
              <a:spcBef>
                <a:spcPct val="100000"/>
              </a:spcBef>
            </a:pPr>
            <a:r>
              <a:rPr lang="en-US" sz="2800" dirty="0"/>
              <a:t>Six Sigma projects are done in teams; the project manager is often called the team leader, and the sponsor is called the champion</a:t>
            </a:r>
          </a:p>
        </p:txBody>
      </p:sp>
    </p:spTree>
    <p:extLst>
      <p:ext uri="{BB962C8B-B14F-4D97-AF65-F5344CB8AC3E}">
        <p14:creationId xmlns:p14="http://schemas.microsoft.com/office/powerpoint/2010/main" val="134455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D998537-A8E0-4F80-868D-0665AD9DF5C7}" type="slidenum">
              <a:rPr lang="en-US" smtClean="0"/>
              <a:pPr>
                <a:defRPr/>
              </a:pPr>
              <a:t>36</a:t>
            </a:fld>
            <a:endParaRPr lang="en-US" dirty="0"/>
          </a:p>
        </p:txBody>
      </p:sp>
      <p:sp>
        <p:nvSpPr>
          <p:cNvPr id="46082" name="Rectangle 2"/>
          <p:cNvSpPr>
            <a:spLocks noGrp="1" noChangeArrowheads="1"/>
          </p:cNvSpPr>
          <p:nvPr>
            <p:ph type="title"/>
          </p:nvPr>
        </p:nvSpPr>
        <p:spPr>
          <a:xfrm>
            <a:off x="457201" y="541516"/>
            <a:ext cx="8381999" cy="780195"/>
          </a:xfrm>
        </p:spPr>
        <p:txBody>
          <a:bodyPr>
            <a:normAutofit fontScale="90000"/>
          </a:bodyPr>
          <a:lstStyle/>
          <a:p>
            <a:r>
              <a:rPr lang="en-US" dirty="0"/>
              <a:t>Six Sigma Projects Use Project </a:t>
            </a:r>
            <a:r>
              <a:rPr lang="en-US" dirty="0" smtClean="0"/>
              <a:t>Management Tools</a:t>
            </a:r>
            <a:endParaRPr lang="en-US" dirty="0"/>
          </a:p>
        </p:txBody>
      </p:sp>
      <p:sp>
        <p:nvSpPr>
          <p:cNvPr id="46083" name="Rectangle 3"/>
          <p:cNvSpPr>
            <a:spLocks noGrp="1" noChangeArrowheads="1"/>
          </p:cNvSpPr>
          <p:nvPr>
            <p:ph type="body" sz="quarter" idx="13"/>
          </p:nvPr>
        </p:nvSpPr>
        <p:spPr/>
        <p:txBody>
          <a:bodyPr>
            <a:normAutofit/>
          </a:bodyPr>
          <a:lstStyle/>
          <a:p>
            <a:r>
              <a:rPr lang="en-US" sz="2800" dirty="0"/>
              <a:t>Cause and Effect Analysis</a:t>
            </a:r>
          </a:p>
          <a:p>
            <a:r>
              <a:rPr lang="en-US" sz="2800" dirty="0"/>
              <a:t>Flow Chart</a:t>
            </a:r>
          </a:p>
          <a:p>
            <a:r>
              <a:rPr lang="en-US" sz="2800" dirty="0"/>
              <a:t>Pareto </a:t>
            </a:r>
            <a:r>
              <a:rPr lang="en-US" sz="2800" dirty="0" smtClean="0"/>
              <a:t>Chart </a:t>
            </a:r>
          </a:p>
          <a:p>
            <a:r>
              <a:rPr lang="en-US" sz="2800" dirty="0" smtClean="0"/>
              <a:t>Histogram</a:t>
            </a:r>
            <a:endParaRPr lang="en-US" sz="2800" dirty="0"/>
          </a:p>
          <a:p>
            <a:r>
              <a:rPr lang="en-US" sz="2800" dirty="0"/>
              <a:t>Check Sheet</a:t>
            </a:r>
          </a:p>
          <a:p>
            <a:r>
              <a:rPr lang="en-US" sz="2800" dirty="0"/>
              <a:t>Scatter Plot</a:t>
            </a:r>
          </a:p>
          <a:p>
            <a:r>
              <a:rPr lang="en-US" sz="2800" dirty="0"/>
              <a:t>Control </a:t>
            </a:r>
            <a:r>
              <a:rPr lang="en-US" sz="2800" dirty="0" smtClean="0"/>
              <a:t>Chart</a:t>
            </a:r>
            <a:endParaRPr lang="en-US" sz="2800" dirty="0"/>
          </a:p>
        </p:txBody>
      </p:sp>
    </p:spTree>
    <p:extLst>
      <p:ext uri="{BB962C8B-B14F-4D97-AF65-F5344CB8AC3E}">
        <p14:creationId xmlns:p14="http://schemas.microsoft.com/office/powerpoint/2010/main" val="2050096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4F9650C-BDEF-49EE-ABEC-15BD81EE838E}" type="slidenum">
              <a:rPr lang="en-US" smtClean="0"/>
              <a:pPr>
                <a:defRPr/>
              </a:pPr>
              <a:t>37</a:t>
            </a:fld>
            <a:endParaRPr lang="en-US" dirty="0"/>
          </a:p>
        </p:txBody>
      </p:sp>
      <p:sp>
        <p:nvSpPr>
          <p:cNvPr id="47106" name="Rectangle 2"/>
          <p:cNvSpPr>
            <a:spLocks noGrp="1" noChangeArrowheads="1"/>
          </p:cNvSpPr>
          <p:nvPr>
            <p:ph type="title"/>
          </p:nvPr>
        </p:nvSpPr>
        <p:spPr/>
        <p:txBody>
          <a:bodyPr/>
          <a:lstStyle/>
          <a:p>
            <a:r>
              <a:rPr lang="en-US" dirty="0"/>
              <a:t>Six Sigma and Statistics</a:t>
            </a:r>
          </a:p>
        </p:txBody>
      </p:sp>
      <p:sp>
        <p:nvSpPr>
          <p:cNvPr id="47107" name="Rectangle 3"/>
          <p:cNvSpPr>
            <a:spLocks noGrp="1" noChangeArrowheads="1"/>
          </p:cNvSpPr>
          <p:nvPr>
            <p:ph type="body" sz="quarter" idx="13"/>
          </p:nvPr>
        </p:nvSpPr>
        <p:spPr/>
        <p:txBody>
          <a:bodyPr>
            <a:normAutofit/>
          </a:bodyPr>
          <a:lstStyle/>
          <a:p>
            <a:pPr>
              <a:spcBef>
                <a:spcPct val="60000"/>
              </a:spcBef>
            </a:pPr>
            <a:r>
              <a:rPr lang="en-US" sz="2800" dirty="0"/>
              <a:t>The term </a:t>
            </a:r>
            <a:r>
              <a:rPr lang="en-US" sz="2800" i="1" dirty="0"/>
              <a:t>sigma</a:t>
            </a:r>
            <a:r>
              <a:rPr lang="en-US" sz="2800" dirty="0"/>
              <a:t> means standard deviation</a:t>
            </a:r>
          </a:p>
          <a:p>
            <a:pPr>
              <a:spcBef>
                <a:spcPct val="60000"/>
              </a:spcBef>
            </a:pPr>
            <a:r>
              <a:rPr lang="en-US" sz="2800" b="1" dirty="0"/>
              <a:t>Standard deviation</a:t>
            </a:r>
            <a:r>
              <a:rPr lang="en-US" sz="2800" dirty="0"/>
              <a:t> measures how much variation exists in a distribution of data</a:t>
            </a:r>
          </a:p>
          <a:p>
            <a:pPr>
              <a:spcBef>
                <a:spcPct val="60000"/>
              </a:spcBef>
            </a:pPr>
            <a:r>
              <a:rPr lang="en-US" sz="2800" dirty="0"/>
              <a:t>Standard deviation is a key factor in determining the acceptable number of defective units found in a population</a:t>
            </a:r>
          </a:p>
          <a:p>
            <a:pPr>
              <a:spcBef>
                <a:spcPct val="60000"/>
              </a:spcBef>
            </a:pPr>
            <a:r>
              <a:rPr lang="en-US" sz="2800" dirty="0"/>
              <a:t>Six Sigma projects strive for no more than 3.4 defects per million opportunities, yet this number is confusing to many statisticians</a:t>
            </a:r>
          </a:p>
        </p:txBody>
      </p:sp>
    </p:spTree>
    <p:extLst>
      <p:ext uri="{BB962C8B-B14F-4D97-AF65-F5344CB8AC3E}">
        <p14:creationId xmlns:p14="http://schemas.microsoft.com/office/powerpoint/2010/main" val="2665892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25FE612-05F0-480A-8A33-2E33CE5739D1}" type="slidenum">
              <a:rPr lang="en-US" smtClean="0"/>
              <a:pPr>
                <a:defRPr/>
              </a:pPr>
              <a:t>38</a:t>
            </a:fld>
            <a:endParaRPr lang="en-US" dirty="0"/>
          </a:p>
        </p:txBody>
      </p:sp>
      <p:sp>
        <p:nvSpPr>
          <p:cNvPr id="48130" name="Rectangle 2"/>
          <p:cNvSpPr>
            <a:spLocks noGrp="1" noChangeArrowheads="1"/>
          </p:cNvSpPr>
          <p:nvPr>
            <p:ph type="title"/>
          </p:nvPr>
        </p:nvSpPr>
        <p:spPr/>
        <p:txBody>
          <a:bodyPr>
            <a:normAutofit/>
          </a:bodyPr>
          <a:lstStyle/>
          <a:p>
            <a:r>
              <a:rPr lang="en-US" dirty="0"/>
              <a:t>Six Sigma Uses a Conversion Table</a:t>
            </a:r>
          </a:p>
        </p:txBody>
      </p:sp>
      <p:sp>
        <p:nvSpPr>
          <p:cNvPr id="48131" name="Rectangle 3"/>
          <p:cNvSpPr>
            <a:spLocks noGrp="1" noChangeArrowheads="1"/>
          </p:cNvSpPr>
          <p:nvPr>
            <p:ph type="body" sz="quarter" idx="13"/>
          </p:nvPr>
        </p:nvSpPr>
        <p:spPr/>
        <p:txBody>
          <a:bodyPr/>
          <a:lstStyle/>
          <a:p>
            <a:pPr>
              <a:spcBef>
                <a:spcPct val="50000"/>
              </a:spcBef>
            </a:pPr>
            <a:r>
              <a:rPr lang="en-US" sz="2600" dirty="0"/>
              <a:t>Using a normal curve, if a process is at six sigma, there would be no more than </a:t>
            </a:r>
            <a:r>
              <a:rPr lang="en-US" sz="2600" dirty="0" smtClean="0"/>
              <a:t>two </a:t>
            </a:r>
            <a:r>
              <a:rPr lang="en-US" sz="2600" dirty="0"/>
              <a:t>defective units per </a:t>
            </a:r>
            <a:r>
              <a:rPr lang="en-US" sz="2600" dirty="0" smtClean="0"/>
              <a:t>billion produced</a:t>
            </a:r>
            <a:endParaRPr lang="en-US" sz="2600" dirty="0"/>
          </a:p>
          <a:p>
            <a:pPr>
              <a:spcBef>
                <a:spcPct val="50000"/>
              </a:spcBef>
            </a:pPr>
            <a:r>
              <a:rPr lang="en-US" sz="2600" dirty="0"/>
              <a:t>Six Sigma uses a scoring system that accounts for time, an important factor in determining process variations</a:t>
            </a:r>
          </a:p>
          <a:p>
            <a:pPr>
              <a:spcBef>
                <a:spcPct val="50000"/>
              </a:spcBef>
            </a:pPr>
            <a:r>
              <a:rPr lang="en-US" sz="2600" b="1" dirty="0"/>
              <a:t>Yield</a:t>
            </a:r>
            <a:r>
              <a:rPr lang="en-US" sz="2600" dirty="0"/>
              <a:t> represents the number of units handled correctly through the process steps</a:t>
            </a:r>
          </a:p>
          <a:p>
            <a:pPr>
              <a:spcBef>
                <a:spcPct val="50000"/>
              </a:spcBef>
            </a:pPr>
            <a:r>
              <a:rPr lang="en-US" sz="2600" dirty="0"/>
              <a:t>A </a:t>
            </a:r>
            <a:r>
              <a:rPr lang="en-US" sz="2600" b="1" dirty="0"/>
              <a:t>defect</a:t>
            </a:r>
            <a:r>
              <a:rPr lang="en-US" sz="2600" dirty="0"/>
              <a:t> is any instance where the product or service fails to meet customer requirements</a:t>
            </a:r>
          </a:p>
          <a:p>
            <a:pPr>
              <a:spcBef>
                <a:spcPct val="50000"/>
              </a:spcBef>
            </a:pPr>
            <a:r>
              <a:rPr lang="en-US" sz="2600" dirty="0"/>
              <a:t>There can be several opportunities to have a defect</a:t>
            </a:r>
          </a:p>
        </p:txBody>
      </p:sp>
    </p:spTree>
    <p:extLst>
      <p:ext uri="{BB962C8B-B14F-4D97-AF65-F5344CB8AC3E}">
        <p14:creationId xmlns:p14="http://schemas.microsoft.com/office/powerpoint/2010/main" val="313917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buFontTx/>
              <a:buNone/>
              <a:defRPr/>
            </a:pPr>
            <a:fld id="{ACA107B4-3DDE-4899-806D-7CA8D1D79654}" type="slidenum">
              <a:rPr lang="en-US" smtClean="0"/>
              <a:pPr>
                <a:buFontTx/>
                <a:buNone/>
                <a:defRPr/>
              </a:pPr>
              <a:t>39</a:t>
            </a:fld>
            <a:endParaRPr lang="en-US" dirty="0"/>
          </a:p>
        </p:txBody>
      </p:sp>
      <p:sp>
        <p:nvSpPr>
          <p:cNvPr id="49154" name="Rectangle 2"/>
          <p:cNvSpPr>
            <a:spLocks noGrp="1" noChangeArrowheads="1"/>
          </p:cNvSpPr>
          <p:nvPr>
            <p:ph type="title"/>
          </p:nvPr>
        </p:nvSpPr>
        <p:spPr/>
        <p:txBody>
          <a:bodyPr>
            <a:normAutofit fontScale="90000"/>
          </a:bodyPr>
          <a:lstStyle/>
          <a:p>
            <a:r>
              <a:rPr lang="en-US" sz="3900" dirty="0" smtClean="0"/>
              <a:t>Normal </a:t>
            </a:r>
            <a:r>
              <a:rPr lang="en-US" sz="3900" dirty="0"/>
              <a:t>Distribution and Standard Deviation</a:t>
            </a:r>
          </a:p>
        </p:txBody>
      </p:sp>
      <p:pic>
        <p:nvPicPr>
          <p:cNvPr id="2" name="Picture 1" descr="A bell curve. The peak of the curve is at the mean called mu. To the left of the mean are points negative 1 sigma, negative 2 sigma, and negative 3 sigma. To the right of the mean are points 1 sigma, 2 sigma, and 3 sigma. 68.3 percent of the curve is between negative sigma 1 and sigma 1. 95.5 percent is between negative sigma 2 and sigma 2. And 99.7 percent is between negative sigma 3 and sigma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455584"/>
            <a:ext cx="6553200" cy="4869016"/>
          </a:xfrm>
          <a:prstGeom prst="rect">
            <a:avLst/>
          </a:prstGeom>
        </p:spPr>
      </p:pic>
    </p:spTree>
    <p:extLst>
      <p:ext uri="{BB962C8B-B14F-4D97-AF65-F5344CB8AC3E}">
        <p14:creationId xmlns:p14="http://schemas.microsoft.com/office/powerpoint/2010/main" val="3506186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buFontTx/>
              <a:buNone/>
              <a:defRPr/>
            </a:pPr>
            <a:fld id="{ACA107B4-3DDE-4899-806D-7CA8D1D79654}" type="slidenum">
              <a:rPr lang="en-US" smtClean="0"/>
              <a:pPr>
                <a:buFontTx/>
                <a:buNone/>
                <a:defRPr/>
              </a:pPr>
              <a:t>40</a:t>
            </a:fld>
            <a:endParaRPr lang="en-US" dirty="0"/>
          </a:p>
        </p:txBody>
      </p:sp>
      <p:sp>
        <p:nvSpPr>
          <p:cNvPr id="49154" name="Rectangle 2"/>
          <p:cNvSpPr>
            <a:spLocks noGrp="1" noChangeArrowheads="1"/>
          </p:cNvSpPr>
          <p:nvPr>
            <p:ph type="title"/>
          </p:nvPr>
        </p:nvSpPr>
        <p:spPr/>
        <p:txBody>
          <a:bodyPr>
            <a:normAutofit fontScale="90000"/>
          </a:bodyPr>
          <a:lstStyle/>
          <a:p>
            <a:r>
              <a:rPr lang="en-US" sz="3900" dirty="0" smtClean="0"/>
              <a:t>Normal </a:t>
            </a:r>
            <a:r>
              <a:rPr lang="en-US" sz="3900" dirty="0"/>
              <a:t>Distribution and Standard Deviation</a:t>
            </a:r>
          </a:p>
        </p:txBody>
      </p:sp>
      <p:pic>
        <p:nvPicPr>
          <p:cNvPr id="3" name="Picture 2"/>
          <p:cNvPicPr>
            <a:picLocks noChangeAspect="1"/>
          </p:cNvPicPr>
          <p:nvPr/>
        </p:nvPicPr>
        <p:blipFill>
          <a:blip r:embed="rId2"/>
          <a:stretch>
            <a:fillRect/>
          </a:stretch>
        </p:blipFill>
        <p:spPr>
          <a:xfrm>
            <a:off x="641074" y="2057400"/>
            <a:ext cx="7698064" cy="2686050"/>
          </a:xfrm>
          <a:prstGeom prst="rect">
            <a:avLst/>
          </a:prstGeom>
        </p:spPr>
      </p:pic>
    </p:spTree>
    <p:extLst>
      <p:ext uri="{BB962C8B-B14F-4D97-AF65-F5344CB8AC3E}">
        <p14:creationId xmlns:p14="http://schemas.microsoft.com/office/powerpoint/2010/main" val="3966996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5EA6CB9E-84A0-45DA-81C2-C3F66A5CA276}" type="slidenum">
              <a:rPr lang="en-US" smtClean="0"/>
              <a:pPr>
                <a:defRPr/>
              </a:pPr>
              <a:t>41</a:t>
            </a:fld>
            <a:endParaRPr lang="en-US" dirty="0"/>
          </a:p>
        </p:txBody>
      </p:sp>
      <p:sp>
        <p:nvSpPr>
          <p:cNvPr id="3" name="Title 2"/>
          <p:cNvSpPr>
            <a:spLocks noGrp="1"/>
          </p:cNvSpPr>
          <p:nvPr>
            <p:ph type="title"/>
          </p:nvPr>
        </p:nvSpPr>
        <p:spPr/>
        <p:txBody>
          <a:bodyPr>
            <a:normAutofit/>
          </a:bodyPr>
          <a:lstStyle/>
          <a:p>
            <a:r>
              <a:rPr lang="en-US" dirty="0" smtClean="0"/>
              <a:t>Sigma </a:t>
            </a:r>
            <a:r>
              <a:rPr lang="en-US" dirty="0"/>
              <a:t>and Defective Units</a:t>
            </a:r>
          </a:p>
        </p:txBody>
      </p:sp>
      <p:graphicFrame>
        <p:nvGraphicFramePr>
          <p:cNvPr id="2" name="Table 1" descr="Table with three columns and seven rows. The column headers are specification range in plus or minus sigmas, percent of population within range, and defective units per billion"/>
          <p:cNvGraphicFramePr>
            <a:graphicFrameLocks noGrp="1"/>
          </p:cNvGraphicFramePr>
          <p:nvPr>
            <p:extLst>
              <p:ext uri="{D42A27DB-BD31-4B8C-83A1-F6EECF244321}">
                <p14:modId xmlns:p14="http://schemas.microsoft.com/office/powerpoint/2010/main" val="2689226076"/>
              </p:ext>
            </p:extLst>
          </p:nvPr>
        </p:nvGraphicFramePr>
        <p:xfrm>
          <a:off x="457200" y="2133600"/>
          <a:ext cx="8382000" cy="2865120"/>
        </p:xfrm>
        <a:graphic>
          <a:graphicData uri="http://schemas.openxmlformats.org/drawingml/2006/table">
            <a:tbl>
              <a:tblPr firstRow="1" bandRow="1">
                <a:tableStyleId>{5C22544A-7EE6-4342-B048-85BDC9FD1C3A}</a:tableStyleId>
              </a:tblPr>
              <a:tblGrid>
                <a:gridCol w="2794000">
                  <a:extLst>
                    <a:ext uri="{9D8B030D-6E8A-4147-A177-3AD203B41FA5}">
                      <a16:colId xmlns="" xmlns:a16="http://schemas.microsoft.com/office/drawing/2014/main" val="20000"/>
                    </a:ext>
                  </a:extLst>
                </a:gridCol>
                <a:gridCol w="2794000">
                  <a:extLst>
                    <a:ext uri="{9D8B030D-6E8A-4147-A177-3AD203B41FA5}">
                      <a16:colId xmlns="" xmlns:a16="http://schemas.microsoft.com/office/drawing/2014/main" val="20001"/>
                    </a:ext>
                  </a:extLst>
                </a:gridCol>
                <a:gridCol w="2794000">
                  <a:extLst>
                    <a:ext uri="{9D8B030D-6E8A-4147-A177-3AD203B41FA5}">
                      <a16:colId xmlns="" xmlns:a16="http://schemas.microsoft.com/office/drawing/2014/main" val="20002"/>
                    </a:ext>
                  </a:extLst>
                </a:gridCol>
              </a:tblGrid>
              <a:tr h="0">
                <a:tc>
                  <a:txBody>
                    <a:bodyPr/>
                    <a:lstStyle/>
                    <a:p>
                      <a:r>
                        <a:rPr lang="en-US" dirty="0"/>
                        <a:t>Specification</a:t>
                      </a:r>
                      <a:r>
                        <a:rPr lang="en-US" baseline="0" dirty="0"/>
                        <a:t> Range (in plus or minus </a:t>
                      </a:r>
                      <a:r>
                        <a:rPr lang="en-US" baseline="0" dirty="0" err="1"/>
                        <a:t>Sigmas</a:t>
                      </a:r>
                      <a:r>
                        <a:rPr lang="en-US" baseline="0" dirty="0"/>
                        <a:t>)</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tc>
                  <a:txBody>
                    <a:bodyPr/>
                    <a:lstStyle/>
                    <a:p>
                      <a:r>
                        <a:rPr lang="en-US" dirty="0"/>
                        <a:t>Percent of population</a:t>
                      </a:r>
                      <a:r>
                        <a:rPr lang="en-US" baseline="0" dirty="0"/>
                        <a:t> within Range</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tc>
                  <a:txBody>
                    <a:bodyPr/>
                    <a:lstStyle/>
                    <a:p>
                      <a:r>
                        <a:rPr lang="en-US" dirty="0"/>
                        <a:t>Defective</a:t>
                      </a:r>
                      <a:r>
                        <a:rPr lang="en-US" baseline="0" dirty="0"/>
                        <a:t> Units per Billion</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extLst>
                  <a:ext uri="{0D108BD9-81ED-4DB2-BD59-A6C34878D82A}">
                    <a16:rowId xmlns="" xmlns:a16="http://schemas.microsoft.com/office/drawing/2014/main" val="10000"/>
                  </a:ext>
                </a:extLst>
              </a:tr>
              <a:tr h="370840">
                <a:tc>
                  <a:txBody>
                    <a:bodyPr/>
                    <a:lstStyle/>
                    <a:p>
                      <a:r>
                        <a:rPr lang="en-US"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68.27</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317,300,000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1"/>
                  </a:ext>
                </a:extLst>
              </a:tr>
              <a:tr h="370840">
                <a:tc>
                  <a:txBody>
                    <a:bodyPr/>
                    <a:lstStyle/>
                    <a:p>
                      <a:r>
                        <a:rPr lang="en-US" dirty="0"/>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95.45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45,400,000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2"/>
                  </a:ext>
                </a:extLst>
              </a:tr>
              <a:tr h="370840">
                <a:tc>
                  <a:txBody>
                    <a:bodyPr/>
                    <a:lstStyle/>
                    <a:p>
                      <a:r>
                        <a:rPr lang="en-US"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99.73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2,700,000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3"/>
                  </a:ext>
                </a:extLst>
              </a:tr>
              <a:tr h="370840">
                <a:tc>
                  <a:txBody>
                    <a:bodyPr/>
                    <a:lstStyle/>
                    <a:p>
                      <a:r>
                        <a:rPr lang="en-US"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99.9937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63,000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4"/>
                  </a:ext>
                </a:extLst>
              </a:tr>
              <a:tr h="370840">
                <a:tc>
                  <a:txBody>
                    <a:bodyPr/>
                    <a:lstStyle/>
                    <a:p>
                      <a:r>
                        <a:rPr lang="en-US"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99.999943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57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5"/>
                  </a:ext>
                </a:extLst>
              </a:tr>
              <a:tr h="370840">
                <a:tc>
                  <a:txBody>
                    <a:bodyPr/>
                    <a:lstStyle/>
                    <a:p>
                      <a:r>
                        <a:rPr lang="en-US" dirty="0"/>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99.9999998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3729608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buFontTx/>
              <a:buNone/>
              <a:defRPr/>
            </a:pPr>
            <a:fld id="{1A01C404-FC56-48D2-AA45-156742728AAA}" type="slidenum">
              <a:rPr lang="en-US" smtClean="0"/>
              <a:pPr>
                <a:buFontTx/>
                <a:buNone/>
                <a:defRPr/>
              </a:pPr>
              <a:t>42</a:t>
            </a:fld>
            <a:endParaRPr lang="en-US" dirty="0"/>
          </a:p>
        </p:txBody>
      </p:sp>
      <p:sp>
        <p:nvSpPr>
          <p:cNvPr id="50178" name="Rectangle 2"/>
          <p:cNvSpPr>
            <a:spLocks noGrp="1" noChangeArrowheads="1"/>
          </p:cNvSpPr>
          <p:nvPr>
            <p:ph type="title"/>
          </p:nvPr>
        </p:nvSpPr>
        <p:spPr/>
        <p:txBody>
          <a:bodyPr>
            <a:normAutofit/>
          </a:bodyPr>
          <a:lstStyle/>
          <a:p>
            <a:r>
              <a:rPr lang="en-US" dirty="0" smtClean="0"/>
              <a:t>Sigma </a:t>
            </a:r>
            <a:r>
              <a:rPr lang="en-US" dirty="0"/>
              <a:t>Conversion Table</a:t>
            </a:r>
          </a:p>
        </p:txBody>
      </p:sp>
      <p:graphicFrame>
        <p:nvGraphicFramePr>
          <p:cNvPr id="6" name="Table 5" descr="Table with three columns and seven rows. The column headers are sigma, yield, and defects per million opportunities (D P M O). "/>
          <p:cNvGraphicFramePr>
            <a:graphicFrameLocks noGrp="1"/>
          </p:cNvGraphicFramePr>
          <p:nvPr>
            <p:extLst>
              <p:ext uri="{D42A27DB-BD31-4B8C-83A1-F6EECF244321}">
                <p14:modId xmlns:p14="http://schemas.microsoft.com/office/powerpoint/2010/main" val="941319708"/>
              </p:ext>
            </p:extLst>
          </p:nvPr>
        </p:nvGraphicFramePr>
        <p:xfrm>
          <a:off x="457201" y="1295400"/>
          <a:ext cx="8153399" cy="2590800"/>
        </p:xfrm>
        <a:graphic>
          <a:graphicData uri="http://schemas.openxmlformats.org/drawingml/2006/table">
            <a:tbl>
              <a:tblPr firstRow="1" bandRow="1">
                <a:tableStyleId>{5C22544A-7EE6-4342-B048-85BDC9FD1C3A}</a:tableStyleId>
              </a:tblPr>
              <a:tblGrid>
                <a:gridCol w="1271793">
                  <a:extLst>
                    <a:ext uri="{9D8B030D-6E8A-4147-A177-3AD203B41FA5}">
                      <a16:colId xmlns="" xmlns:a16="http://schemas.microsoft.com/office/drawing/2014/main" val="20000"/>
                    </a:ext>
                  </a:extLst>
                </a:gridCol>
                <a:gridCol w="2314048">
                  <a:extLst>
                    <a:ext uri="{9D8B030D-6E8A-4147-A177-3AD203B41FA5}">
                      <a16:colId xmlns="" xmlns:a16="http://schemas.microsoft.com/office/drawing/2014/main" val="20001"/>
                    </a:ext>
                  </a:extLst>
                </a:gridCol>
                <a:gridCol w="4567558">
                  <a:extLst>
                    <a:ext uri="{9D8B030D-6E8A-4147-A177-3AD203B41FA5}">
                      <a16:colId xmlns="" xmlns:a16="http://schemas.microsoft.com/office/drawing/2014/main" val="20002"/>
                    </a:ext>
                  </a:extLst>
                </a:gridCol>
              </a:tblGrid>
              <a:tr h="0">
                <a:tc>
                  <a:txBody>
                    <a:bodyPr/>
                    <a:lstStyle/>
                    <a:p>
                      <a:r>
                        <a:rPr lang="en-US" dirty="0"/>
                        <a:t>Sigma</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tc>
                  <a:txBody>
                    <a:bodyPr/>
                    <a:lstStyle/>
                    <a:p>
                      <a:r>
                        <a:rPr lang="en-US" dirty="0"/>
                        <a:t>Yield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tc>
                  <a:txBody>
                    <a:bodyPr/>
                    <a:lstStyle/>
                    <a:p>
                      <a:r>
                        <a:rPr lang="en-US" dirty="0"/>
                        <a:t>Defects per Million Opportunities</a:t>
                      </a:r>
                      <a:r>
                        <a:rPr lang="en-US" baseline="0" dirty="0"/>
                        <a:t> (DPMO)</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6EF"/>
                    </a:solidFill>
                  </a:tcPr>
                </a:tc>
                <a:extLst>
                  <a:ext uri="{0D108BD9-81ED-4DB2-BD59-A6C34878D82A}">
                    <a16:rowId xmlns="" xmlns:a16="http://schemas.microsoft.com/office/drawing/2014/main" val="10000"/>
                  </a:ext>
                </a:extLst>
              </a:tr>
              <a:tr h="370840">
                <a:tc>
                  <a:txBody>
                    <a:bodyPr/>
                    <a:lstStyle/>
                    <a:p>
                      <a:r>
                        <a:rPr lang="en-US"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31.0%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690,000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1"/>
                  </a:ext>
                </a:extLst>
              </a:tr>
              <a:tr h="370840">
                <a:tc>
                  <a:txBody>
                    <a:bodyPr/>
                    <a:lstStyle/>
                    <a:p>
                      <a:r>
                        <a:rPr lang="en-US" dirty="0"/>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69.2%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308,000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2"/>
                  </a:ext>
                </a:extLst>
              </a:tr>
              <a:tr h="370840">
                <a:tc>
                  <a:txBody>
                    <a:bodyPr/>
                    <a:lstStyle/>
                    <a:p>
                      <a:r>
                        <a:rPr lang="en-US"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93.3%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66,800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3"/>
                  </a:ext>
                </a:extLst>
              </a:tr>
              <a:tr h="370840">
                <a:tc>
                  <a:txBody>
                    <a:bodyPr/>
                    <a:lstStyle/>
                    <a:p>
                      <a:r>
                        <a:rPr lang="en-US"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99.4%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6,210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4"/>
                  </a:ext>
                </a:extLst>
              </a:tr>
              <a:tr h="370840">
                <a:tc>
                  <a:txBody>
                    <a:bodyPr/>
                    <a:lstStyle/>
                    <a:p>
                      <a:r>
                        <a:rPr lang="en-US"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99.97%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tc>
                  <a:txBody>
                    <a:bodyPr/>
                    <a:lstStyle/>
                    <a:p>
                      <a:r>
                        <a:rPr lang="en-US" dirty="0"/>
                        <a:t>230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 xmlns:a16="http://schemas.microsoft.com/office/drawing/2014/main" val="10005"/>
                  </a:ext>
                </a:extLst>
              </a:tr>
              <a:tr h="370840">
                <a:tc>
                  <a:txBody>
                    <a:bodyPr/>
                    <a:lstStyle/>
                    <a:p>
                      <a:r>
                        <a:rPr lang="en-US" dirty="0"/>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99.99966%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tc>
                  <a:txBody>
                    <a:bodyPr/>
                    <a:lstStyle/>
                    <a:p>
                      <a:r>
                        <a:rPr lang="en-US" dirty="0"/>
                        <a:t>3.4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9E1FA"/>
                    </a:solidFill>
                  </a:tcPr>
                </a:tc>
                <a:extLst>
                  <a:ext uri="{0D108BD9-81ED-4DB2-BD59-A6C34878D82A}">
                    <a16:rowId xmlns="" xmlns:a16="http://schemas.microsoft.com/office/drawing/2014/main" val="10006"/>
                  </a:ext>
                </a:extLst>
              </a:tr>
            </a:tbl>
          </a:graphicData>
        </a:graphic>
      </p:graphicFrame>
      <p:sp>
        <p:nvSpPr>
          <p:cNvPr id="5" name="Rectangle 4"/>
          <p:cNvSpPr/>
          <p:nvPr/>
        </p:nvSpPr>
        <p:spPr>
          <a:xfrm>
            <a:off x="571282" y="4112623"/>
            <a:ext cx="8164736" cy="2369880"/>
          </a:xfrm>
          <a:prstGeom prst="rect">
            <a:avLst/>
          </a:prstGeom>
        </p:spPr>
        <p:txBody>
          <a:bodyPr wrap="none">
            <a:spAutoFit/>
          </a:bodyPr>
          <a:lstStyle/>
          <a:p>
            <a:r>
              <a:rPr lang="en-US" sz="2000" b="1" dirty="0"/>
              <a:t>DPMO=2,700,000×(1−</a:t>
            </a:r>
            <a:r>
              <a:rPr lang="el-GR" sz="2000" b="1" dirty="0"/>
              <a:t>Φ(</a:t>
            </a:r>
            <a:r>
              <a:rPr lang="en-US" sz="2000" b="1" dirty="0"/>
              <a:t>Z</a:t>
            </a:r>
            <a:r>
              <a:rPr lang="en-US" sz="2000" b="1" dirty="0" smtClean="0"/>
              <a:t>))</a:t>
            </a:r>
            <a:endParaRPr lang="en-US" sz="2000" dirty="0"/>
          </a:p>
          <a:p>
            <a:pPr marL="342900" indent="-342900">
              <a:buFont typeface="Arial" panose="020B0604020202020204" pitchFamily="34" charset="0"/>
              <a:buChar char="•"/>
            </a:pPr>
            <a:r>
              <a:rPr lang="en-US" sz="2000" i="1" dirty="0" smtClean="0"/>
              <a:t>DPMO</a:t>
            </a:r>
            <a:r>
              <a:rPr lang="en-US" sz="2000" dirty="0" smtClean="0"/>
              <a:t> </a:t>
            </a:r>
            <a:r>
              <a:rPr lang="en-US" sz="2000" dirty="0"/>
              <a:t>is the Defects Per Million Opportunities,</a:t>
            </a:r>
          </a:p>
          <a:p>
            <a:pPr marL="342900" indent="-342900">
              <a:buFont typeface="Arial" panose="020B0604020202020204" pitchFamily="34" charset="0"/>
              <a:buChar char="•"/>
            </a:pPr>
            <a:r>
              <a:rPr lang="en-US" sz="2000" i="1" dirty="0" smtClean="0"/>
              <a:t>Z</a:t>
            </a:r>
            <a:r>
              <a:rPr lang="en-US" sz="2000" dirty="0" smtClean="0"/>
              <a:t> </a:t>
            </a:r>
            <a:r>
              <a:rPr lang="en-US" sz="2000" dirty="0"/>
              <a:t>is the Z-score corresponding to the Sigma </a:t>
            </a:r>
            <a:r>
              <a:rPr lang="en-US" sz="2000" dirty="0" smtClean="0"/>
              <a:t>Level</a:t>
            </a:r>
          </a:p>
          <a:p>
            <a:pPr marL="342900" indent="-342900">
              <a:buFont typeface="Arial" panose="020B0604020202020204" pitchFamily="34" charset="0"/>
              <a:buChar char="•"/>
            </a:pPr>
            <a:r>
              <a:rPr lang="en-US" sz="2000" dirty="0" smtClean="0"/>
              <a:t>Φ(</a:t>
            </a:r>
            <a:r>
              <a:rPr lang="en-US" sz="2000" i="1" dirty="0" smtClean="0"/>
              <a:t>Z</a:t>
            </a:r>
            <a:r>
              <a:rPr lang="en-US" sz="2000" dirty="0"/>
              <a:t>) is the cumulative distribution function of the standard normal </a:t>
            </a:r>
            <a:endParaRPr lang="en-US" sz="2000" dirty="0" smtClean="0"/>
          </a:p>
          <a:p>
            <a:r>
              <a:rPr lang="en-US" sz="2000" dirty="0"/>
              <a:t> </a:t>
            </a:r>
            <a:r>
              <a:rPr lang="en-US" sz="2000" dirty="0" smtClean="0"/>
              <a:t>     distribution</a:t>
            </a:r>
            <a:r>
              <a:rPr lang="en-US" sz="2000" dirty="0"/>
              <a:t>, representing the probability that a standard normal random </a:t>
            </a:r>
            <a:endParaRPr lang="en-US" sz="2000" dirty="0" smtClean="0"/>
          </a:p>
          <a:p>
            <a:r>
              <a:rPr lang="en-US" sz="2000" dirty="0" smtClean="0"/>
              <a:t>       variable </a:t>
            </a:r>
            <a:r>
              <a:rPr lang="en-US" sz="2000" dirty="0"/>
              <a:t>is less than or equal to </a:t>
            </a:r>
            <a:r>
              <a:rPr lang="en-US" sz="2000" i="1" dirty="0" smtClean="0"/>
              <a:t>Z</a:t>
            </a:r>
            <a:r>
              <a:rPr lang="en-US" sz="2000" dirty="0"/>
              <a:t>.</a:t>
            </a:r>
          </a:p>
          <a:p>
            <a:endParaRPr lang="en-US" sz="2800" b="1" dirty="0"/>
          </a:p>
        </p:txBody>
      </p:sp>
    </p:spTree>
    <p:extLst>
      <p:ext uri="{BB962C8B-B14F-4D97-AF65-F5344CB8AC3E}">
        <p14:creationId xmlns:p14="http://schemas.microsoft.com/office/powerpoint/2010/main" val="3118463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79144" y="601497"/>
            <a:ext cx="7514642" cy="4662271"/>
          </a:xfrm>
          <a:prstGeom prst="rect">
            <a:avLst/>
          </a:prstGeom>
        </p:spPr>
        <p:txBody>
          <a:bodyPr wrap="square" lIns="0" tIns="28606" rIns="0" bIns="0" rtlCol="0">
            <a:noAutofit/>
          </a:bodyPr>
          <a:lstStyle/>
          <a:p>
            <a:pPr marL="2612278" marR="2739610" algn="ctr">
              <a:lnSpc>
                <a:spcPts val="4505"/>
              </a:lnSpc>
            </a:pPr>
            <a:r>
              <a:rPr sz="4400" b="1" dirty="0" smtClean="0">
                <a:latin typeface="Calibri"/>
                <a:cs typeface="Calibri"/>
              </a:rPr>
              <a:t>ISO 9126</a:t>
            </a:r>
            <a:endParaRPr sz="4400" dirty="0">
              <a:latin typeface="Calibri"/>
              <a:cs typeface="Calibri"/>
            </a:endParaRPr>
          </a:p>
          <a:p>
            <a:pPr marL="12700" marR="61714">
              <a:lnSpc>
                <a:spcPct val="101725"/>
              </a:lnSpc>
              <a:spcBef>
                <a:spcPts val="3389"/>
              </a:spcBef>
            </a:pPr>
            <a:r>
              <a:rPr sz="3200" spc="-7" dirty="0" smtClean="0">
                <a:latin typeface="Calibri"/>
                <a:cs typeface="Calibri"/>
              </a:rPr>
              <a:t>ISO 9126 standards was first introduced in</a:t>
            </a:r>
            <a:endParaRPr sz="3200" dirty="0">
              <a:latin typeface="Calibri"/>
              <a:cs typeface="Calibri"/>
            </a:endParaRPr>
          </a:p>
          <a:p>
            <a:pPr marL="12700" marR="61714">
              <a:lnSpc>
                <a:spcPts val="3845"/>
              </a:lnSpc>
              <a:spcBef>
                <a:spcPts val="192"/>
              </a:spcBef>
            </a:pPr>
            <a:r>
              <a:rPr sz="3200" spc="-4" dirty="0" smtClean="0">
                <a:latin typeface="Calibri"/>
                <a:cs typeface="Calibri"/>
              </a:rPr>
              <a:t>1991 to tackle the question of the definition</a:t>
            </a:r>
            <a:endParaRPr sz="3200" dirty="0">
              <a:latin typeface="Calibri"/>
              <a:cs typeface="Calibri"/>
            </a:endParaRPr>
          </a:p>
          <a:p>
            <a:pPr marL="12700" marR="61714">
              <a:lnSpc>
                <a:spcPts val="3840"/>
              </a:lnSpc>
            </a:pPr>
            <a:r>
              <a:rPr sz="3200" spc="-5" dirty="0" smtClean="0">
                <a:latin typeface="Calibri"/>
                <a:cs typeface="Calibri"/>
              </a:rPr>
              <a:t>of software quality</a:t>
            </a:r>
            <a:endParaRPr sz="3200" dirty="0">
              <a:latin typeface="Calibri"/>
              <a:cs typeface="Calibri"/>
            </a:endParaRPr>
          </a:p>
          <a:p>
            <a:pPr marL="12700">
              <a:lnSpc>
                <a:spcPct val="99995"/>
              </a:lnSpc>
              <a:spcBef>
                <a:spcPts val="562"/>
              </a:spcBef>
            </a:pPr>
            <a:r>
              <a:rPr sz="3200" dirty="0" smtClean="0">
                <a:latin typeface="Calibri"/>
                <a:cs typeface="Calibri"/>
              </a:rPr>
              <a:t>THE ORIGI</a:t>
            </a:r>
            <a:r>
              <a:rPr sz="3200" spc="-14" dirty="0" smtClean="0">
                <a:latin typeface="Calibri"/>
                <a:cs typeface="Calibri"/>
              </a:rPr>
              <a:t>N</a:t>
            </a:r>
            <a:r>
              <a:rPr sz="3200" spc="0" dirty="0" smtClean="0">
                <a:latin typeface="Calibri"/>
                <a:cs typeface="Calibri"/>
              </a:rPr>
              <a:t>AL</a:t>
            </a:r>
            <a:r>
              <a:rPr sz="3200" spc="34" dirty="0" smtClean="0">
                <a:latin typeface="Calibri"/>
                <a:cs typeface="Calibri"/>
              </a:rPr>
              <a:t> </a:t>
            </a:r>
            <a:r>
              <a:rPr sz="3200" spc="0" dirty="0" smtClean="0">
                <a:latin typeface="Calibri"/>
                <a:cs typeface="Calibri"/>
              </a:rPr>
              <a:t>13 pa</a:t>
            </a:r>
            <a:r>
              <a:rPr sz="3200" spc="-25" dirty="0" smtClean="0">
                <a:latin typeface="Calibri"/>
                <a:cs typeface="Calibri"/>
              </a:rPr>
              <a:t>g</a:t>
            </a:r>
            <a:r>
              <a:rPr sz="3200" spc="0" dirty="0" smtClean="0">
                <a:latin typeface="Calibri"/>
                <a:cs typeface="Calibri"/>
              </a:rPr>
              <a:t>e docume</a:t>
            </a:r>
            <a:r>
              <a:rPr sz="3200" spc="-34" dirty="0" smtClean="0">
                <a:latin typeface="Calibri"/>
                <a:cs typeface="Calibri"/>
              </a:rPr>
              <a:t>n</a:t>
            </a:r>
            <a:r>
              <a:rPr sz="3200" spc="0" dirty="0" smtClean="0">
                <a:latin typeface="Calibri"/>
                <a:cs typeface="Calibri"/>
              </a:rPr>
              <a:t>t </a:t>
            </a:r>
            <a:r>
              <a:rPr sz="3200" spc="-29" dirty="0" smtClean="0">
                <a:latin typeface="Calibri"/>
                <a:cs typeface="Calibri"/>
              </a:rPr>
              <a:t>w</a:t>
            </a:r>
            <a:r>
              <a:rPr sz="3200" spc="0" dirty="0" smtClean="0">
                <a:latin typeface="Calibri"/>
                <a:cs typeface="Calibri"/>
              </a:rPr>
              <a:t>as des</a:t>
            </a:r>
            <a:r>
              <a:rPr sz="3200" spc="-9" dirty="0" smtClean="0">
                <a:latin typeface="Calibri"/>
                <a:cs typeface="Calibri"/>
              </a:rPr>
              <a:t>i</a:t>
            </a:r>
            <a:r>
              <a:rPr sz="3200" spc="0" dirty="0" smtClean="0">
                <a:latin typeface="Calibri"/>
                <a:cs typeface="Calibri"/>
              </a:rPr>
              <a:t>gned</a:t>
            </a:r>
            <a:r>
              <a:rPr sz="3200" spc="14" dirty="0" smtClean="0">
                <a:latin typeface="Calibri"/>
                <a:cs typeface="Calibri"/>
              </a:rPr>
              <a:t> </a:t>
            </a:r>
            <a:r>
              <a:rPr sz="3200" spc="0" dirty="0" smtClean="0">
                <a:latin typeface="Calibri"/>
                <a:cs typeface="Calibri"/>
              </a:rPr>
              <a:t>as a </a:t>
            </a:r>
            <a:r>
              <a:rPr sz="3200" spc="-75" dirty="0" smtClean="0">
                <a:latin typeface="Calibri"/>
                <a:cs typeface="Calibri"/>
              </a:rPr>
              <a:t>f</a:t>
            </a:r>
            <a:r>
              <a:rPr sz="3200" spc="0" dirty="0" smtClean="0">
                <a:latin typeface="Calibri"/>
                <a:cs typeface="Calibri"/>
              </a:rPr>
              <a:t>ound</a:t>
            </a:r>
            <a:r>
              <a:rPr sz="3200" spc="-29" dirty="0" smtClean="0">
                <a:latin typeface="Calibri"/>
                <a:cs typeface="Calibri"/>
              </a:rPr>
              <a:t>a</a:t>
            </a:r>
            <a:r>
              <a:rPr sz="3200" spc="0" dirty="0" smtClean="0">
                <a:latin typeface="Calibri"/>
                <a:cs typeface="Calibri"/>
              </a:rPr>
              <a:t>t</a:t>
            </a:r>
            <a:r>
              <a:rPr sz="3200" spc="-9" dirty="0" smtClean="0">
                <a:latin typeface="Calibri"/>
                <a:cs typeface="Calibri"/>
              </a:rPr>
              <a:t>i</a:t>
            </a:r>
            <a:r>
              <a:rPr sz="3200" spc="0" dirty="0" smtClean="0">
                <a:latin typeface="Calibri"/>
                <a:cs typeface="Calibri"/>
              </a:rPr>
              <a:t>on</a:t>
            </a:r>
            <a:r>
              <a:rPr sz="3200" spc="25" dirty="0" smtClean="0">
                <a:latin typeface="Calibri"/>
                <a:cs typeface="Calibri"/>
              </a:rPr>
              <a:t> </a:t>
            </a:r>
            <a:r>
              <a:rPr sz="3200" spc="0" dirty="0" smtClean="0">
                <a:latin typeface="Calibri"/>
                <a:cs typeface="Calibri"/>
              </a:rPr>
              <a:t>upon</a:t>
            </a:r>
            <a:r>
              <a:rPr sz="3200" spc="9" dirty="0" smtClean="0">
                <a:latin typeface="Calibri"/>
                <a:cs typeface="Calibri"/>
              </a:rPr>
              <a:t> </a:t>
            </a:r>
            <a:r>
              <a:rPr sz="3200" spc="0" dirty="0" smtClean="0">
                <a:latin typeface="Calibri"/>
                <a:cs typeface="Calibri"/>
              </a:rPr>
              <a:t>which</a:t>
            </a:r>
            <a:r>
              <a:rPr sz="3200" spc="9" dirty="0" smtClean="0">
                <a:latin typeface="Calibri"/>
                <a:cs typeface="Calibri"/>
              </a:rPr>
              <a:t> </a:t>
            </a:r>
            <a:r>
              <a:rPr sz="3200" spc="0" dirty="0" smtClean="0">
                <a:latin typeface="Calibri"/>
                <a:cs typeface="Calibri"/>
              </a:rPr>
              <a:t>fur</a:t>
            </a:r>
            <a:r>
              <a:rPr sz="3200" spc="-14" dirty="0" smtClean="0">
                <a:latin typeface="Calibri"/>
                <a:cs typeface="Calibri"/>
              </a:rPr>
              <a:t>t</a:t>
            </a:r>
            <a:r>
              <a:rPr sz="3200" spc="0" dirty="0" smtClean="0">
                <a:latin typeface="Calibri"/>
                <a:cs typeface="Calibri"/>
              </a:rPr>
              <a:t>her mo</a:t>
            </a:r>
            <a:r>
              <a:rPr sz="3200" spc="-34" dirty="0" smtClean="0">
                <a:latin typeface="Calibri"/>
                <a:cs typeface="Calibri"/>
              </a:rPr>
              <a:t>r</a:t>
            </a:r>
            <a:r>
              <a:rPr sz="3200" spc="0" dirty="0" smtClean="0">
                <a:latin typeface="Calibri"/>
                <a:cs typeface="Calibri"/>
              </a:rPr>
              <a:t>e</a:t>
            </a:r>
            <a:r>
              <a:rPr sz="3200" spc="-14" dirty="0" smtClean="0">
                <a:latin typeface="Calibri"/>
                <a:cs typeface="Calibri"/>
              </a:rPr>
              <a:t> </a:t>
            </a:r>
            <a:r>
              <a:rPr sz="3200" spc="0" dirty="0" smtClean="0">
                <a:latin typeface="Calibri"/>
                <a:cs typeface="Calibri"/>
              </a:rPr>
              <a:t>d</a:t>
            </a:r>
            <a:r>
              <a:rPr sz="3200" spc="-14" dirty="0" smtClean="0">
                <a:latin typeface="Calibri"/>
                <a:cs typeface="Calibri"/>
              </a:rPr>
              <a:t>e</a:t>
            </a:r>
            <a:r>
              <a:rPr sz="3200" spc="-39" dirty="0" smtClean="0">
                <a:latin typeface="Calibri"/>
                <a:cs typeface="Calibri"/>
              </a:rPr>
              <a:t>t</a:t>
            </a:r>
            <a:r>
              <a:rPr sz="3200" spc="0" dirty="0" smtClean="0">
                <a:latin typeface="Calibri"/>
                <a:cs typeface="Calibri"/>
              </a:rPr>
              <a:t>ailed </a:t>
            </a:r>
            <a:r>
              <a:rPr sz="3200" spc="-29" dirty="0" smtClean="0">
                <a:latin typeface="Calibri"/>
                <a:cs typeface="Calibri"/>
              </a:rPr>
              <a:t>s</a:t>
            </a:r>
            <a:r>
              <a:rPr sz="3200" spc="-39" dirty="0" smtClean="0">
                <a:latin typeface="Calibri"/>
                <a:cs typeface="Calibri"/>
              </a:rPr>
              <a:t>t</a:t>
            </a:r>
            <a:r>
              <a:rPr sz="3200" spc="0" dirty="0" smtClean="0">
                <a:latin typeface="Calibri"/>
                <a:cs typeface="Calibri"/>
              </a:rPr>
              <a:t>anda</a:t>
            </a:r>
            <a:r>
              <a:rPr sz="3200" spc="-54" dirty="0" smtClean="0">
                <a:latin typeface="Calibri"/>
                <a:cs typeface="Calibri"/>
              </a:rPr>
              <a:t>r</a:t>
            </a:r>
            <a:r>
              <a:rPr sz="3200" spc="0" dirty="0" smtClean="0">
                <a:latin typeface="Calibri"/>
                <a:cs typeface="Calibri"/>
              </a:rPr>
              <a:t>d</a:t>
            </a:r>
            <a:r>
              <a:rPr sz="3200" spc="25" dirty="0" smtClean="0">
                <a:latin typeface="Calibri"/>
                <a:cs typeface="Calibri"/>
              </a:rPr>
              <a:t> </a:t>
            </a:r>
            <a:r>
              <a:rPr sz="3200" spc="-19" dirty="0" smtClean="0">
                <a:latin typeface="Calibri"/>
                <a:cs typeface="Calibri"/>
              </a:rPr>
              <a:t>c</a:t>
            </a:r>
            <a:r>
              <a:rPr sz="3200" spc="0" dirty="0" smtClean="0">
                <a:latin typeface="Calibri"/>
                <a:cs typeface="Calibri"/>
              </a:rPr>
              <a:t>ould be buil</a:t>
            </a:r>
            <a:r>
              <a:rPr sz="3200" spc="-9" dirty="0" smtClean="0">
                <a:latin typeface="Calibri"/>
                <a:cs typeface="Calibri"/>
              </a:rPr>
              <a:t>t</a:t>
            </a:r>
            <a:r>
              <a:rPr sz="3200" spc="0" dirty="0" smtClean="0">
                <a:latin typeface="Calibri"/>
                <a:cs typeface="Calibri"/>
              </a:rPr>
              <a:t>.</a:t>
            </a:r>
            <a:endParaRPr sz="3200" dirty="0">
              <a:latin typeface="Calibri"/>
              <a:cs typeface="Calibri"/>
            </a:endParaRPr>
          </a:p>
          <a:p>
            <a:pPr marL="12700" marR="61714">
              <a:lnSpc>
                <a:spcPct val="101725"/>
              </a:lnSpc>
              <a:spcBef>
                <a:spcPts val="718"/>
              </a:spcBef>
            </a:pPr>
            <a:r>
              <a:rPr sz="3200" spc="-5" dirty="0" smtClean="0">
                <a:latin typeface="Calibri"/>
                <a:cs typeface="Calibri"/>
              </a:rPr>
              <a:t>ISO9126 documents are now very lengthy</a:t>
            </a:r>
            <a:endParaRPr sz="3200" dirty="0">
              <a:latin typeface="Calibri"/>
              <a:cs typeface="Calibri"/>
            </a:endParaRPr>
          </a:p>
        </p:txBody>
      </p:sp>
      <p:sp>
        <p:nvSpPr>
          <p:cNvPr id="4" name="object 4"/>
          <p:cNvSpPr txBox="1"/>
          <p:nvPr/>
        </p:nvSpPr>
        <p:spPr>
          <a:xfrm>
            <a:off x="535940" y="1684750"/>
            <a:ext cx="228853" cy="432307"/>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3" name="object 3"/>
          <p:cNvSpPr txBox="1"/>
          <p:nvPr/>
        </p:nvSpPr>
        <p:spPr>
          <a:xfrm>
            <a:off x="535940" y="3245707"/>
            <a:ext cx="228853" cy="432307"/>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2" name="object 2"/>
          <p:cNvSpPr txBox="1"/>
          <p:nvPr/>
        </p:nvSpPr>
        <p:spPr>
          <a:xfrm>
            <a:off x="535940" y="4806918"/>
            <a:ext cx="228854" cy="432308"/>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6" name="Slide Number Placeholder 5"/>
          <p:cNvSpPr>
            <a:spLocks noGrp="1"/>
          </p:cNvSpPr>
          <p:nvPr>
            <p:ph type="sldNum" sz="quarter" idx="12"/>
          </p:nvPr>
        </p:nvSpPr>
        <p:spPr/>
        <p:txBody>
          <a:bodyPr/>
          <a:lstStyle/>
          <a:p>
            <a:fld id="{E5CE4F79-B2B3-4E4E-AB5D-F771515B9CEF}" type="slidenum">
              <a:rPr lang="en-US" smtClean="0"/>
              <a:t>43</a:t>
            </a:fld>
            <a:endParaRPr lang="en-US" dirty="0"/>
          </a:p>
        </p:txBody>
      </p:sp>
    </p:spTree>
    <p:extLst>
      <p:ext uri="{BB962C8B-B14F-4D97-AF65-F5344CB8AC3E}">
        <p14:creationId xmlns:p14="http://schemas.microsoft.com/office/powerpoint/2010/main" val="436280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535940" y="601497"/>
            <a:ext cx="6134596" cy="1540103"/>
          </a:xfrm>
          <a:prstGeom prst="rect">
            <a:avLst/>
          </a:prstGeom>
        </p:spPr>
        <p:txBody>
          <a:bodyPr wrap="square" lIns="0" tIns="28606" rIns="0" bIns="0" rtlCol="0">
            <a:noAutofit/>
          </a:bodyPr>
          <a:lstStyle/>
          <a:p>
            <a:pPr marL="2037841">
              <a:lnSpc>
                <a:spcPts val="4505"/>
              </a:lnSpc>
            </a:pPr>
            <a:r>
              <a:rPr sz="4400" b="1" spc="1" dirty="0" smtClean="0">
                <a:latin typeface="Calibri"/>
                <a:cs typeface="Calibri"/>
              </a:rPr>
              <a:t>ISO 9126 </a:t>
            </a:r>
            <a:endParaRPr sz="4400" dirty="0">
              <a:latin typeface="Calibri"/>
              <a:cs typeface="Calibri"/>
            </a:endParaRPr>
          </a:p>
          <a:p>
            <a:pPr marL="12700" marR="83941">
              <a:lnSpc>
                <a:spcPct val="101725"/>
              </a:lnSpc>
              <a:spcBef>
                <a:spcPts val="3389"/>
              </a:spcBef>
            </a:pPr>
            <a:r>
              <a:rPr sz="3200" spc="-3" dirty="0" smtClean="0">
                <a:latin typeface="Calibri"/>
                <a:cs typeface="Calibri"/>
              </a:rPr>
              <a:t>Motivation might be-</a:t>
            </a:r>
            <a:endParaRPr sz="3200" dirty="0">
              <a:latin typeface="Calibri"/>
              <a:cs typeface="Calibri"/>
            </a:endParaRPr>
          </a:p>
        </p:txBody>
      </p:sp>
      <p:sp>
        <p:nvSpPr>
          <p:cNvPr id="8" name="object 8"/>
          <p:cNvSpPr txBox="1"/>
          <p:nvPr/>
        </p:nvSpPr>
        <p:spPr>
          <a:xfrm>
            <a:off x="535940" y="2270100"/>
            <a:ext cx="229006" cy="432612"/>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7" name="object 7"/>
          <p:cNvSpPr txBox="1"/>
          <p:nvPr/>
        </p:nvSpPr>
        <p:spPr>
          <a:xfrm>
            <a:off x="879143" y="2294661"/>
            <a:ext cx="7530219" cy="920216"/>
          </a:xfrm>
          <a:prstGeom prst="rect">
            <a:avLst/>
          </a:prstGeom>
        </p:spPr>
        <p:txBody>
          <a:bodyPr wrap="square" lIns="0" tIns="20986" rIns="0" bIns="0" rtlCol="0">
            <a:noAutofit/>
          </a:bodyPr>
          <a:lstStyle/>
          <a:p>
            <a:pPr marL="12700">
              <a:lnSpc>
                <a:spcPts val="3304"/>
              </a:lnSpc>
            </a:pPr>
            <a:r>
              <a:rPr sz="3200" u="sng" spc="-6" dirty="0" smtClean="0">
                <a:latin typeface="Calibri"/>
                <a:cs typeface="Calibri"/>
              </a:rPr>
              <a:t>Acquires</a:t>
            </a:r>
            <a:r>
              <a:rPr lang="en-US" sz="3200" u="sng" spc="-6" dirty="0" smtClean="0">
                <a:latin typeface="Calibri"/>
                <a:cs typeface="Calibri"/>
              </a:rPr>
              <a:t>:</a:t>
            </a:r>
            <a:r>
              <a:rPr sz="3200" u="sng" spc="-6" dirty="0" smtClean="0">
                <a:latin typeface="Calibri"/>
                <a:cs typeface="Calibri"/>
              </a:rPr>
              <a:t> </a:t>
            </a:r>
            <a:r>
              <a:rPr sz="3200" spc="-6" dirty="0" smtClean="0">
                <a:latin typeface="Calibri"/>
                <a:cs typeface="Calibri"/>
              </a:rPr>
              <a:t>who are obtaining </a:t>
            </a:r>
            <a:r>
              <a:rPr sz="3200" spc="-6" dirty="0" smtClean="0">
                <a:latin typeface="Calibri"/>
                <a:cs typeface="Calibri"/>
              </a:rPr>
              <a:t>software</a:t>
            </a:r>
            <a:r>
              <a:rPr lang="en-US" sz="3200" spc="-6" dirty="0" smtClean="0">
                <a:latin typeface="Calibri"/>
                <a:cs typeface="Calibri"/>
              </a:rPr>
              <a:t> </a:t>
            </a:r>
            <a:r>
              <a:rPr lang="en-US" sz="3200" spc="-13" dirty="0" smtClean="0">
                <a:cs typeface="Calibri"/>
              </a:rPr>
              <a:t>from </a:t>
            </a:r>
            <a:r>
              <a:rPr sz="3200" spc="-9" dirty="0" smtClean="0">
                <a:latin typeface="Calibri"/>
                <a:cs typeface="Calibri"/>
              </a:rPr>
              <a:t>external </a:t>
            </a:r>
            <a:r>
              <a:rPr sz="3200" spc="-9" dirty="0" smtClean="0">
                <a:latin typeface="Calibri"/>
                <a:cs typeface="Calibri"/>
              </a:rPr>
              <a:t>suppliers</a:t>
            </a:r>
            <a:endParaRPr sz="3200" dirty="0">
              <a:latin typeface="Calibri"/>
              <a:cs typeface="Calibri"/>
            </a:endParaRPr>
          </a:p>
        </p:txBody>
      </p:sp>
      <p:sp>
        <p:nvSpPr>
          <p:cNvPr id="5" name="object 5"/>
          <p:cNvSpPr txBox="1"/>
          <p:nvPr/>
        </p:nvSpPr>
        <p:spPr>
          <a:xfrm>
            <a:off x="535940" y="3343497"/>
            <a:ext cx="228854" cy="432308"/>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4" name="object 4"/>
          <p:cNvSpPr txBox="1"/>
          <p:nvPr/>
        </p:nvSpPr>
        <p:spPr>
          <a:xfrm>
            <a:off x="879144" y="3368040"/>
            <a:ext cx="7530218" cy="2480894"/>
          </a:xfrm>
          <a:prstGeom prst="rect">
            <a:avLst/>
          </a:prstGeom>
        </p:spPr>
        <p:txBody>
          <a:bodyPr wrap="square" lIns="0" tIns="20986" rIns="0" bIns="0" rtlCol="0">
            <a:noAutofit/>
          </a:bodyPr>
          <a:lstStyle/>
          <a:p>
            <a:pPr marL="12700" marR="61714">
              <a:lnSpc>
                <a:spcPts val="3304"/>
              </a:lnSpc>
            </a:pPr>
            <a:r>
              <a:rPr sz="3200" u="sng" spc="-5" dirty="0" smtClean="0">
                <a:latin typeface="Calibri"/>
                <a:cs typeface="Calibri"/>
              </a:rPr>
              <a:t>Developers</a:t>
            </a:r>
            <a:r>
              <a:rPr lang="en-US" sz="3200" u="sng" spc="-5" dirty="0" smtClean="0">
                <a:latin typeface="Calibri"/>
                <a:cs typeface="Calibri"/>
              </a:rPr>
              <a:t>:</a:t>
            </a:r>
            <a:r>
              <a:rPr sz="3200" u="sng" spc="-5" dirty="0" smtClean="0">
                <a:latin typeface="Calibri"/>
                <a:cs typeface="Calibri"/>
              </a:rPr>
              <a:t> </a:t>
            </a:r>
            <a:r>
              <a:rPr sz="3200" spc="-5" dirty="0" smtClean="0">
                <a:latin typeface="Calibri"/>
                <a:cs typeface="Calibri"/>
              </a:rPr>
              <a:t>who are building a software</a:t>
            </a:r>
            <a:endParaRPr sz="3200" dirty="0">
              <a:latin typeface="Calibri"/>
              <a:cs typeface="Calibri"/>
            </a:endParaRPr>
          </a:p>
          <a:p>
            <a:pPr marL="12700" marR="61714">
              <a:lnSpc>
                <a:spcPts val="3840"/>
              </a:lnSpc>
              <a:spcBef>
                <a:spcPts val="26"/>
              </a:spcBef>
            </a:pPr>
            <a:r>
              <a:rPr sz="3200" spc="-7" dirty="0" smtClean="0">
                <a:latin typeface="Calibri"/>
                <a:cs typeface="Calibri"/>
              </a:rPr>
              <a:t>product</a:t>
            </a:r>
            <a:endParaRPr sz="3200" dirty="0">
              <a:latin typeface="Calibri"/>
              <a:cs typeface="Calibri"/>
            </a:endParaRPr>
          </a:p>
          <a:p>
            <a:pPr marL="12700">
              <a:lnSpc>
                <a:spcPct val="99995"/>
              </a:lnSpc>
              <a:spcBef>
                <a:spcPts val="562"/>
              </a:spcBef>
            </a:pPr>
            <a:r>
              <a:rPr sz="3200" u="sng" dirty="0" smtClean="0">
                <a:latin typeface="Calibri"/>
                <a:cs typeface="Calibri"/>
              </a:rPr>
              <a:t>Indepe</a:t>
            </a:r>
            <a:r>
              <a:rPr sz="3200" u="sng" spc="-9" dirty="0" smtClean="0">
                <a:latin typeface="Calibri"/>
                <a:cs typeface="Calibri"/>
              </a:rPr>
              <a:t>n</a:t>
            </a:r>
            <a:r>
              <a:rPr sz="3200" u="sng" spc="0" dirty="0" smtClean="0">
                <a:latin typeface="Calibri"/>
                <a:cs typeface="Calibri"/>
              </a:rPr>
              <a:t>de</a:t>
            </a:r>
            <a:r>
              <a:rPr sz="3200" u="sng" spc="-29" dirty="0" smtClean="0">
                <a:latin typeface="Calibri"/>
                <a:cs typeface="Calibri"/>
              </a:rPr>
              <a:t>n</a:t>
            </a:r>
            <a:r>
              <a:rPr sz="3200" u="sng" spc="0" dirty="0" smtClean="0">
                <a:latin typeface="Calibri"/>
                <a:cs typeface="Calibri"/>
              </a:rPr>
              <a:t>t</a:t>
            </a:r>
            <a:r>
              <a:rPr sz="3200" u="sng" spc="24" dirty="0" smtClean="0">
                <a:latin typeface="Calibri"/>
                <a:cs typeface="Calibri"/>
              </a:rPr>
              <a:t> </a:t>
            </a:r>
            <a:r>
              <a:rPr sz="3200" u="sng" spc="-9" dirty="0" smtClean="0">
                <a:latin typeface="Calibri"/>
                <a:cs typeface="Calibri"/>
              </a:rPr>
              <a:t>e</a:t>
            </a:r>
            <a:r>
              <a:rPr sz="3200" u="sng" spc="-44" dirty="0" smtClean="0">
                <a:latin typeface="Calibri"/>
                <a:cs typeface="Calibri"/>
              </a:rPr>
              <a:t>v</a:t>
            </a:r>
            <a:r>
              <a:rPr sz="3200" u="sng" spc="0" dirty="0" smtClean="0">
                <a:latin typeface="Calibri"/>
                <a:cs typeface="Calibri"/>
              </a:rPr>
              <a:t>alu</a:t>
            </a:r>
            <a:r>
              <a:rPr sz="3200" u="sng" spc="-29" dirty="0" smtClean="0">
                <a:latin typeface="Calibri"/>
                <a:cs typeface="Calibri"/>
              </a:rPr>
              <a:t>a</a:t>
            </a:r>
            <a:r>
              <a:rPr sz="3200" u="sng" spc="-39" dirty="0" smtClean="0">
                <a:latin typeface="Calibri"/>
                <a:cs typeface="Calibri"/>
              </a:rPr>
              <a:t>t</a:t>
            </a:r>
            <a:r>
              <a:rPr sz="3200" u="sng" spc="0" dirty="0" smtClean="0">
                <a:latin typeface="Calibri"/>
                <a:cs typeface="Calibri"/>
              </a:rPr>
              <a:t>or</a:t>
            </a:r>
            <a:r>
              <a:rPr lang="en-US" sz="3200" u="sng" spc="0" dirty="0" smtClean="0">
                <a:latin typeface="Calibri"/>
                <a:cs typeface="Calibri"/>
              </a:rPr>
              <a:t>:</a:t>
            </a:r>
            <a:r>
              <a:rPr sz="3200" u="sng" spc="0" dirty="0" smtClean="0">
                <a:latin typeface="Calibri"/>
                <a:cs typeface="Calibri"/>
              </a:rPr>
              <a:t> </a:t>
            </a:r>
            <a:r>
              <a:rPr sz="3200" spc="0" dirty="0" smtClean="0">
                <a:latin typeface="Calibri"/>
                <a:cs typeface="Calibri"/>
              </a:rPr>
              <a:t>who a</a:t>
            </a:r>
            <a:r>
              <a:rPr sz="3200" spc="-29" dirty="0" smtClean="0">
                <a:latin typeface="Calibri"/>
                <a:cs typeface="Calibri"/>
              </a:rPr>
              <a:t>r</a:t>
            </a:r>
            <a:r>
              <a:rPr sz="3200" spc="0" dirty="0" smtClean="0">
                <a:latin typeface="Calibri"/>
                <a:cs typeface="Calibri"/>
              </a:rPr>
              <a:t>e</a:t>
            </a:r>
            <a:r>
              <a:rPr sz="3200" spc="-14" dirty="0" smtClean="0">
                <a:latin typeface="Calibri"/>
                <a:cs typeface="Calibri"/>
              </a:rPr>
              <a:t> </a:t>
            </a:r>
            <a:r>
              <a:rPr sz="3200" spc="0" dirty="0" smtClean="0">
                <a:latin typeface="Calibri"/>
                <a:cs typeface="Calibri"/>
              </a:rPr>
              <a:t>access</a:t>
            </a:r>
            <a:r>
              <a:rPr sz="3200" spc="-9" dirty="0" smtClean="0">
                <a:latin typeface="Calibri"/>
                <a:cs typeface="Calibri"/>
              </a:rPr>
              <a:t>i</a:t>
            </a:r>
            <a:r>
              <a:rPr sz="3200" spc="0" dirty="0" smtClean="0">
                <a:latin typeface="Calibri"/>
                <a:cs typeface="Calibri"/>
              </a:rPr>
              <a:t>ng </a:t>
            </a:r>
            <a:r>
              <a:rPr lang="en-US" sz="3200" spc="0" dirty="0" smtClean="0">
                <a:latin typeface="Calibri"/>
                <a:cs typeface="Calibri"/>
              </a:rPr>
              <a:t>the </a:t>
            </a:r>
            <a:r>
              <a:rPr sz="3200" spc="0" dirty="0" smtClean="0">
                <a:latin typeface="Calibri"/>
                <a:cs typeface="Calibri"/>
              </a:rPr>
              <a:t>qua</a:t>
            </a:r>
            <a:r>
              <a:rPr sz="3200" spc="-14" dirty="0" smtClean="0">
                <a:latin typeface="Calibri"/>
                <a:cs typeface="Calibri"/>
              </a:rPr>
              <a:t>l</a:t>
            </a:r>
            <a:r>
              <a:rPr sz="3200" spc="0" dirty="0" smtClean="0">
                <a:latin typeface="Calibri"/>
                <a:cs typeface="Calibri"/>
              </a:rPr>
              <a:t>i</a:t>
            </a:r>
            <a:r>
              <a:rPr sz="3200" spc="-9" dirty="0" smtClean="0">
                <a:latin typeface="Calibri"/>
                <a:cs typeface="Calibri"/>
              </a:rPr>
              <a:t>t</a:t>
            </a:r>
            <a:r>
              <a:rPr sz="3200" spc="0" dirty="0" smtClean="0">
                <a:latin typeface="Calibri"/>
                <a:cs typeface="Calibri"/>
              </a:rPr>
              <a:t>y</a:t>
            </a:r>
            <a:r>
              <a:rPr sz="3200" spc="29" dirty="0" smtClean="0">
                <a:latin typeface="Calibri"/>
                <a:cs typeface="Calibri"/>
              </a:rPr>
              <a:t> </a:t>
            </a:r>
            <a:r>
              <a:rPr sz="3200" spc="0" dirty="0" smtClean="0">
                <a:latin typeface="Calibri"/>
                <a:cs typeface="Calibri"/>
              </a:rPr>
              <a:t>of a so</a:t>
            </a:r>
            <a:r>
              <a:rPr sz="3200" spc="-9" dirty="0" smtClean="0">
                <a:latin typeface="Calibri"/>
                <a:cs typeface="Calibri"/>
              </a:rPr>
              <a:t>f</a:t>
            </a:r>
            <a:r>
              <a:rPr sz="3200" spc="0" dirty="0" smtClean="0">
                <a:latin typeface="Calibri"/>
                <a:cs typeface="Calibri"/>
              </a:rPr>
              <a:t>t</a:t>
            </a:r>
            <a:r>
              <a:rPr sz="3200" spc="-39" dirty="0" smtClean="0">
                <a:latin typeface="Calibri"/>
                <a:cs typeface="Calibri"/>
              </a:rPr>
              <a:t>w</a:t>
            </a:r>
            <a:r>
              <a:rPr sz="3200" spc="0" dirty="0" smtClean="0">
                <a:latin typeface="Calibri"/>
                <a:cs typeface="Calibri"/>
              </a:rPr>
              <a:t>a</a:t>
            </a:r>
            <a:r>
              <a:rPr sz="3200" spc="-34" dirty="0" smtClean="0">
                <a:latin typeface="Calibri"/>
                <a:cs typeface="Calibri"/>
              </a:rPr>
              <a:t>r</a:t>
            </a:r>
            <a:r>
              <a:rPr sz="3200" spc="0" dirty="0" smtClean="0">
                <a:latin typeface="Calibri"/>
                <a:cs typeface="Calibri"/>
              </a:rPr>
              <a:t>e</a:t>
            </a:r>
            <a:r>
              <a:rPr sz="3200" spc="-14" dirty="0" smtClean="0">
                <a:latin typeface="Calibri"/>
                <a:cs typeface="Calibri"/>
              </a:rPr>
              <a:t> </a:t>
            </a:r>
            <a:r>
              <a:rPr sz="3200" spc="0" dirty="0" smtClean="0">
                <a:latin typeface="Calibri"/>
                <a:cs typeface="Calibri"/>
              </a:rPr>
              <a:t>p</a:t>
            </a:r>
            <a:r>
              <a:rPr sz="3200" spc="-54" dirty="0" smtClean="0">
                <a:latin typeface="Calibri"/>
                <a:cs typeface="Calibri"/>
              </a:rPr>
              <a:t>r</a:t>
            </a:r>
            <a:r>
              <a:rPr sz="3200" spc="0" dirty="0" smtClean="0">
                <a:latin typeface="Calibri"/>
                <a:cs typeface="Calibri"/>
              </a:rPr>
              <a:t>oduc</a:t>
            </a:r>
            <a:r>
              <a:rPr sz="3200" spc="-14" dirty="0" smtClean="0">
                <a:latin typeface="Calibri"/>
                <a:cs typeface="Calibri"/>
              </a:rPr>
              <a:t>t</a:t>
            </a:r>
            <a:r>
              <a:rPr sz="3200" spc="0" dirty="0" smtClean="0">
                <a:latin typeface="Calibri"/>
                <a:cs typeface="Calibri"/>
              </a:rPr>
              <a:t>,</a:t>
            </a:r>
            <a:r>
              <a:rPr sz="3200" spc="9" dirty="0" smtClean="0">
                <a:latin typeface="Calibri"/>
                <a:cs typeface="Calibri"/>
              </a:rPr>
              <a:t> </a:t>
            </a:r>
            <a:r>
              <a:rPr sz="3200" spc="0" dirty="0" smtClean="0">
                <a:latin typeface="Calibri"/>
                <a:cs typeface="Calibri"/>
              </a:rPr>
              <a:t>not</a:t>
            </a:r>
            <a:r>
              <a:rPr sz="3200" spc="9" dirty="0" smtClean="0">
                <a:latin typeface="Calibri"/>
                <a:cs typeface="Calibri"/>
              </a:rPr>
              <a:t> </a:t>
            </a:r>
            <a:r>
              <a:rPr sz="3200" spc="-79" dirty="0" smtClean="0">
                <a:latin typeface="Calibri"/>
                <a:cs typeface="Calibri"/>
              </a:rPr>
              <a:t>f</a:t>
            </a:r>
            <a:r>
              <a:rPr sz="3200" spc="0" dirty="0" smtClean="0">
                <a:latin typeface="Calibri"/>
                <a:cs typeface="Calibri"/>
              </a:rPr>
              <a:t>or them</a:t>
            </a:r>
            <a:r>
              <a:rPr sz="3200" spc="-9" dirty="0" smtClean="0">
                <a:latin typeface="Calibri"/>
                <a:cs typeface="Calibri"/>
              </a:rPr>
              <a:t>s</a:t>
            </a:r>
            <a:r>
              <a:rPr sz="3200" spc="0" dirty="0" smtClean="0">
                <a:latin typeface="Calibri"/>
                <a:cs typeface="Calibri"/>
              </a:rPr>
              <a:t>el</a:t>
            </a:r>
            <a:r>
              <a:rPr sz="3200" spc="-29" dirty="0" smtClean="0">
                <a:latin typeface="Calibri"/>
                <a:cs typeface="Calibri"/>
              </a:rPr>
              <a:t>v</a:t>
            </a:r>
            <a:r>
              <a:rPr sz="3200" spc="0" dirty="0" smtClean="0">
                <a:latin typeface="Calibri"/>
                <a:cs typeface="Calibri"/>
              </a:rPr>
              <a:t>es but</a:t>
            </a:r>
            <a:r>
              <a:rPr sz="3200" spc="9" dirty="0" smtClean="0">
                <a:latin typeface="Calibri"/>
                <a:cs typeface="Calibri"/>
              </a:rPr>
              <a:t> </a:t>
            </a:r>
            <a:r>
              <a:rPr sz="3200" spc="-75" dirty="0" smtClean="0">
                <a:latin typeface="Calibri"/>
                <a:cs typeface="Calibri"/>
              </a:rPr>
              <a:t>f</a:t>
            </a:r>
            <a:r>
              <a:rPr sz="3200" spc="0" dirty="0" smtClean="0">
                <a:latin typeface="Calibri"/>
                <a:cs typeface="Calibri"/>
              </a:rPr>
              <a:t>or a</a:t>
            </a:r>
            <a:r>
              <a:rPr sz="3200" spc="4" dirty="0" smtClean="0">
                <a:latin typeface="Calibri"/>
                <a:cs typeface="Calibri"/>
              </a:rPr>
              <a:t> </a:t>
            </a:r>
            <a:r>
              <a:rPr sz="3200" spc="-29" dirty="0" smtClean="0">
                <a:latin typeface="Calibri"/>
                <a:cs typeface="Calibri"/>
              </a:rPr>
              <a:t>c</a:t>
            </a:r>
            <a:r>
              <a:rPr sz="3200" spc="0" dirty="0" smtClean="0">
                <a:latin typeface="Calibri"/>
                <a:cs typeface="Calibri"/>
              </a:rPr>
              <a:t>ommuni</a:t>
            </a:r>
            <a:r>
              <a:rPr sz="3200" spc="-14" dirty="0" smtClean="0">
                <a:latin typeface="Calibri"/>
                <a:cs typeface="Calibri"/>
              </a:rPr>
              <a:t>t</a:t>
            </a:r>
            <a:r>
              <a:rPr sz="3200" spc="0" dirty="0" smtClean="0">
                <a:latin typeface="Calibri"/>
                <a:cs typeface="Calibri"/>
              </a:rPr>
              <a:t>y</a:t>
            </a:r>
            <a:r>
              <a:rPr sz="3200" spc="29" dirty="0" smtClean="0">
                <a:latin typeface="Calibri"/>
                <a:cs typeface="Calibri"/>
              </a:rPr>
              <a:t> </a:t>
            </a:r>
            <a:r>
              <a:rPr sz="3200" spc="0" dirty="0" smtClean="0">
                <a:latin typeface="Calibri"/>
                <a:cs typeface="Calibri"/>
              </a:rPr>
              <a:t>of u</a:t>
            </a:r>
            <a:r>
              <a:rPr sz="3200" spc="-14" dirty="0" smtClean="0">
                <a:latin typeface="Calibri"/>
                <a:cs typeface="Calibri"/>
              </a:rPr>
              <a:t>s</a:t>
            </a:r>
            <a:r>
              <a:rPr sz="3200" spc="0" dirty="0" smtClean="0">
                <a:latin typeface="Calibri"/>
                <a:cs typeface="Calibri"/>
              </a:rPr>
              <a:t>er</a:t>
            </a:r>
            <a:endParaRPr sz="3200" dirty="0">
              <a:latin typeface="Calibri"/>
              <a:cs typeface="Calibri"/>
            </a:endParaRPr>
          </a:p>
        </p:txBody>
      </p:sp>
      <p:sp>
        <p:nvSpPr>
          <p:cNvPr id="3" name="object 3"/>
          <p:cNvSpPr txBox="1"/>
          <p:nvPr/>
        </p:nvSpPr>
        <p:spPr>
          <a:xfrm>
            <a:off x="535940" y="4416393"/>
            <a:ext cx="228854" cy="432308"/>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10" name="Slide Number Placeholder 9"/>
          <p:cNvSpPr>
            <a:spLocks noGrp="1"/>
          </p:cNvSpPr>
          <p:nvPr>
            <p:ph type="sldNum" sz="quarter" idx="12"/>
          </p:nvPr>
        </p:nvSpPr>
        <p:spPr/>
        <p:txBody>
          <a:bodyPr/>
          <a:lstStyle/>
          <a:p>
            <a:fld id="{E5CE4F79-B2B3-4E4E-AB5D-F771515B9CEF}" type="slidenum">
              <a:rPr lang="en-US" smtClean="0"/>
              <a:t>44</a:t>
            </a:fld>
            <a:endParaRPr lang="en-US" dirty="0"/>
          </a:p>
        </p:txBody>
      </p:sp>
    </p:spTree>
    <p:extLst>
      <p:ext uri="{BB962C8B-B14F-4D97-AF65-F5344CB8AC3E}">
        <p14:creationId xmlns:p14="http://schemas.microsoft.com/office/powerpoint/2010/main" val="2144396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879144" y="601497"/>
            <a:ext cx="6829787" cy="1540103"/>
          </a:xfrm>
          <a:prstGeom prst="rect">
            <a:avLst/>
          </a:prstGeom>
        </p:spPr>
        <p:txBody>
          <a:bodyPr wrap="square" lIns="0" tIns="28606" rIns="0" bIns="0" rtlCol="0">
            <a:noAutofit/>
          </a:bodyPr>
          <a:lstStyle/>
          <a:p>
            <a:pPr marL="1694637" marR="61036">
              <a:lnSpc>
                <a:spcPts val="4505"/>
              </a:lnSpc>
            </a:pPr>
            <a:r>
              <a:rPr sz="4400" b="1" spc="1" dirty="0" smtClean="0">
                <a:latin typeface="Calibri"/>
                <a:cs typeface="Calibri"/>
              </a:rPr>
              <a:t>ISO 9126</a:t>
            </a:r>
            <a:endParaRPr sz="4400" dirty="0" smtClean="0">
              <a:latin typeface="Calibri"/>
              <a:cs typeface="Calibri"/>
            </a:endParaRPr>
          </a:p>
          <a:p>
            <a:pPr marL="12700">
              <a:lnSpc>
                <a:spcPct val="101725"/>
              </a:lnSpc>
              <a:spcBef>
                <a:spcPts val="3389"/>
              </a:spcBef>
            </a:pPr>
            <a:r>
              <a:rPr sz="3200" spc="-1" dirty="0" smtClean="0">
                <a:latin typeface="Calibri"/>
                <a:cs typeface="Calibri"/>
              </a:rPr>
              <a:t>ISO 9126 also introduces another type of</a:t>
            </a:r>
            <a:endParaRPr sz="3200" dirty="0">
              <a:latin typeface="Calibri"/>
              <a:cs typeface="Calibri"/>
            </a:endParaRPr>
          </a:p>
        </p:txBody>
      </p:sp>
      <p:sp>
        <p:nvSpPr>
          <p:cNvPr id="8" name="object 8"/>
          <p:cNvSpPr txBox="1"/>
          <p:nvPr/>
        </p:nvSpPr>
        <p:spPr>
          <a:xfrm>
            <a:off x="535940" y="1684750"/>
            <a:ext cx="228853" cy="432307"/>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7" name="object 7"/>
          <p:cNvSpPr txBox="1"/>
          <p:nvPr/>
        </p:nvSpPr>
        <p:spPr>
          <a:xfrm>
            <a:off x="879144" y="2197125"/>
            <a:ext cx="4889409" cy="432612"/>
          </a:xfrm>
          <a:prstGeom prst="rect">
            <a:avLst/>
          </a:prstGeom>
        </p:spPr>
        <p:txBody>
          <a:bodyPr wrap="square" lIns="0" tIns="20986" rIns="0" bIns="0" rtlCol="0">
            <a:noAutofit/>
          </a:bodyPr>
          <a:lstStyle/>
          <a:p>
            <a:pPr marL="12700">
              <a:lnSpc>
                <a:spcPts val="3304"/>
              </a:lnSpc>
            </a:pPr>
            <a:r>
              <a:rPr sz="3200" spc="-4" dirty="0" smtClean="0">
                <a:latin typeface="Calibri"/>
                <a:cs typeface="Calibri"/>
              </a:rPr>
              <a:t>elements – quality in use- for</a:t>
            </a:r>
            <a:endParaRPr sz="3200">
              <a:latin typeface="Calibri"/>
              <a:cs typeface="Calibri"/>
            </a:endParaRPr>
          </a:p>
        </p:txBody>
      </p:sp>
      <p:sp>
        <p:nvSpPr>
          <p:cNvPr id="6" name="object 6"/>
          <p:cNvSpPr txBox="1"/>
          <p:nvPr/>
        </p:nvSpPr>
        <p:spPr>
          <a:xfrm>
            <a:off x="5774112" y="2197125"/>
            <a:ext cx="1071109" cy="432612"/>
          </a:xfrm>
          <a:prstGeom prst="rect">
            <a:avLst/>
          </a:prstGeom>
        </p:spPr>
        <p:txBody>
          <a:bodyPr wrap="square" lIns="0" tIns="20986" rIns="0" bIns="0" rtlCol="0">
            <a:noAutofit/>
          </a:bodyPr>
          <a:lstStyle/>
          <a:p>
            <a:pPr marL="12700">
              <a:lnSpc>
                <a:spcPts val="3304"/>
              </a:lnSpc>
            </a:pPr>
            <a:r>
              <a:rPr sz="3200" dirty="0" smtClean="0">
                <a:latin typeface="Calibri"/>
                <a:cs typeface="Calibri"/>
              </a:rPr>
              <a:t>which</a:t>
            </a:r>
            <a:endParaRPr sz="3200">
              <a:latin typeface="Calibri"/>
              <a:cs typeface="Calibri"/>
            </a:endParaRPr>
          </a:p>
        </p:txBody>
      </p:sp>
      <p:sp>
        <p:nvSpPr>
          <p:cNvPr id="5" name="object 5"/>
          <p:cNvSpPr txBox="1"/>
          <p:nvPr/>
        </p:nvSpPr>
        <p:spPr>
          <a:xfrm>
            <a:off x="6850782" y="2197125"/>
            <a:ext cx="1605153" cy="432612"/>
          </a:xfrm>
          <a:prstGeom prst="rect">
            <a:avLst/>
          </a:prstGeom>
        </p:spPr>
        <p:txBody>
          <a:bodyPr wrap="square" lIns="0" tIns="20986" rIns="0" bIns="0" rtlCol="0">
            <a:noAutofit/>
          </a:bodyPr>
          <a:lstStyle/>
          <a:p>
            <a:pPr marL="12700">
              <a:lnSpc>
                <a:spcPts val="3304"/>
              </a:lnSpc>
            </a:pPr>
            <a:r>
              <a:rPr sz="3200" spc="-11" dirty="0" smtClean="0">
                <a:latin typeface="Calibri"/>
                <a:cs typeface="Calibri"/>
              </a:rPr>
              <a:t>following</a:t>
            </a:r>
            <a:endParaRPr sz="3200">
              <a:latin typeface="Calibri"/>
              <a:cs typeface="Calibri"/>
            </a:endParaRPr>
          </a:p>
        </p:txBody>
      </p:sp>
      <p:sp>
        <p:nvSpPr>
          <p:cNvPr id="4" name="object 4"/>
          <p:cNvSpPr txBox="1"/>
          <p:nvPr/>
        </p:nvSpPr>
        <p:spPr>
          <a:xfrm>
            <a:off x="879144" y="2685033"/>
            <a:ext cx="3041360" cy="2773883"/>
          </a:xfrm>
          <a:prstGeom prst="rect">
            <a:avLst/>
          </a:prstGeom>
        </p:spPr>
        <p:txBody>
          <a:bodyPr wrap="square" lIns="0" tIns="20986" rIns="0" bIns="0" rtlCol="0">
            <a:noAutofit/>
          </a:bodyPr>
          <a:lstStyle/>
          <a:p>
            <a:pPr marL="12700">
              <a:lnSpc>
                <a:spcPts val="3304"/>
              </a:lnSpc>
            </a:pPr>
            <a:r>
              <a:rPr sz="3200" spc="-2" dirty="0" smtClean="0">
                <a:latin typeface="Calibri"/>
                <a:cs typeface="Calibri"/>
              </a:rPr>
              <a:t>element has been</a:t>
            </a:r>
            <a:endParaRPr sz="3200" dirty="0">
              <a:latin typeface="Calibri"/>
              <a:cs typeface="Calibri"/>
            </a:endParaRPr>
          </a:p>
          <a:p>
            <a:pPr marL="12700" marR="816460">
              <a:lnSpc>
                <a:spcPts val="3906"/>
              </a:lnSpc>
              <a:spcBef>
                <a:spcPts val="536"/>
              </a:spcBef>
            </a:pPr>
            <a:r>
              <a:rPr sz="3200" spc="-18" dirty="0" smtClean="0">
                <a:latin typeface="Calibri"/>
                <a:cs typeface="Calibri"/>
              </a:rPr>
              <a:t>Effectiveness </a:t>
            </a:r>
            <a:endParaRPr sz="3200" dirty="0">
              <a:latin typeface="Calibri"/>
              <a:cs typeface="Calibri"/>
            </a:endParaRPr>
          </a:p>
          <a:p>
            <a:pPr marL="12700" marR="816460">
              <a:lnSpc>
                <a:spcPts val="3906"/>
              </a:lnSpc>
              <a:spcBef>
                <a:spcPts val="703"/>
              </a:spcBef>
            </a:pPr>
            <a:r>
              <a:rPr sz="3200" spc="-4" dirty="0" smtClean="0">
                <a:latin typeface="Calibri"/>
                <a:cs typeface="Calibri"/>
              </a:rPr>
              <a:t>Productivity </a:t>
            </a:r>
            <a:endParaRPr sz="3200" dirty="0">
              <a:latin typeface="Calibri"/>
              <a:cs typeface="Calibri"/>
            </a:endParaRPr>
          </a:p>
          <a:p>
            <a:pPr marL="12700" marR="816460">
              <a:lnSpc>
                <a:spcPts val="3906"/>
              </a:lnSpc>
              <a:spcBef>
                <a:spcPts val="703"/>
              </a:spcBef>
            </a:pPr>
            <a:r>
              <a:rPr sz="3200" spc="-19" dirty="0" smtClean="0">
                <a:latin typeface="Calibri"/>
                <a:cs typeface="Calibri"/>
              </a:rPr>
              <a:t>Safety</a:t>
            </a:r>
            <a:endParaRPr sz="3200" dirty="0">
              <a:latin typeface="Calibri"/>
              <a:cs typeface="Calibri"/>
            </a:endParaRPr>
          </a:p>
          <a:p>
            <a:pPr marL="12700" marR="61036">
              <a:lnSpc>
                <a:spcPct val="101725"/>
              </a:lnSpc>
              <a:spcBef>
                <a:spcPts val="828"/>
              </a:spcBef>
            </a:pPr>
            <a:r>
              <a:rPr sz="3200" spc="-11" dirty="0" smtClean="0">
                <a:latin typeface="Calibri"/>
                <a:cs typeface="Calibri"/>
              </a:rPr>
              <a:t>Satisfaction</a:t>
            </a:r>
            <a:endParaRPr sz="3200" dirty="0">
              <a:latin typeface="Calibri"/>
              <a:cs typeface="Calibri"/>
            </a:endParaRPr>
          </a:p>
        </p:txBody>
      </p:sp>
      <p:sp>
        <p:nvSpPr>
          <p:cNvPr id="3" name="object 3"/>
          <p:cNvSpPr txBox="1"/>
          <p:nvPr/>
        </p:nvSpPr>
        <p:spPr>
          <a:xfrm>
            <a:off x="3926071" y="2685033"/>
            <a:ext cx="1668473" cy="432308"/>
          </a:xfrm>
          <a:prstGeom prst="rect">
            <a:avLst/>
          </a:prstGeom>
        </p:spPr>
        <p:txBody>
          <a:bodyPr wrap="square" lIns="0" tIns="20986" rIns="0" bIns="0" rtlCol="0">
            <a:noAutofit/>
          </a:bodyPr>
          <a:lstStyle/>
          <a:p>
            <a:pPr marL="12700">
              <a:lnSpc>
                <a:spcPts val="3304"/>
              </a:lnSpc>
            </a:pPr>
            <a:r>
              <a:rPr sz="3200" spc="-3" dirty="0" smtClean="0">
                <a:latin typeface="Calibri"/>
                <a:cs typeface="Calibri"/>
              </a:rPr>
              <a:t>identified</a:t>
            </a:r>
            <a:endParaRPr sz="3200">
              <a:latin typeface="Calibri"/>
              <a:cs typeface="Calibri"/>
            </a:endParaRPr>
          </a:p>
        </p:txBody>
      </p:sp>
      <p:sp>
        <p:nvSpPr>
          <p:cNvPr id="2" name="object 2"/>
          <p:cNvSpPr txBox="1"/>
          <p:nvPr/>
        </p:nvSpPr>
        <p:spPr>
          <a:xfrm>
            <a:off x="535940" y="3245707"/>
            <a:ext cx="229006" cy="2188648"/>
          </a:xfrm>
          <a:prstGeom prst="rect">
            <a:avLst/>
          </a:prstGeom>
        </p:spPr>
        <p:txBody>
          <a:bodyPr wrap="square" lIns="0" tIns="21431" rIns="0" bIns="0" rtlCol="0">
            <a:noAutofit/>
          </a:bodyPr>
          <a:lstStyle/>
          <a:p>
            <a:pPr marL="12700" marR="152">
              <a:lnSpc>
                <a:spcPts val="3375"/>
              </a:lnSpc>
            </a:pPr>
            <a:r>
              <a:rPr sz="3200" dirty="0" smtClean="0">
                <a:latin typeface="Arial"/>
                <a:cs typeface="Arial"/>
              </a:rPr>
              <a:t>•</a:t>
            </a:r>
            <a:endParaRPr sz="3200" dirty="0">
              <a:latin typeface="Arial"/>
              <a:cs typeface="Arial"/>
            </a:endParaRPr>
          </a:p>
          <a:p>
            <a:pPr marL="12700" marR="152">
              <a:lnSpc>
                <a:spcPct val="95825"/>
              </a:lnSpc>
              <a:spcBef>
                <a:spcPts val="761"/>
              </a:spcBef>
            </a:pPr>
            <a:r>
              <a:rPr sz="3200" dirty="0" smtClean="0">
                <a:latin typeface="Arial"/>
                <a:cs typeface="Arial"/>
              </a:rPr>
              <a:t>•</a:t>
            </a:r>
            <a:endParaRPr sz="3200" dirty="0">
              <a:latin typeface="Arial"/>
              <a:cs typeface="Arial"/>
            </a:endParaRPr>
          </a:p>
          <a:p>
            <a:pPr marL="12700" marR="152">
              <a:lnSpc>
                <a:spcPct val="95825"/>
              </a:lnSpc>
              <a:spcBef>
                <a:spcPts val="928"/>
              </a:spcBef>
            </a:pPr>
            <a:r>
              <a:rPr sz="3200" dirty="0" smtClean="0">
                <a:latin typeface="Arial"/>
                <a:cs typeface="Arial"/>
              </a:rPr>
              <a:t>•</a:t>
            </a:r>
            <a:endParaRPr sz="3200" dirty="0">
              <a:latin typeface="Arial"/>
              <a:cs typeface="Arial"/>
            </a:endParaRPr>
          </a:p>
          <a:p>
            <a:pPr marL="12700">
              <a:lnSpc>
                <a:spcPct val="95825"/>
              </a:lnSpc>
              <a:spcBef>
                <a:spcPts val="931"/>
              </a:spcBef>
            </a:pPr>
            <a:r>
              <a:rPr sz="3200" dirty="0" smtClean="0">
                <a:latin typeface="Arial"/>
                <a:cs typeface="Arial"/>
              </a:rPr>
              <a:t>•</a:t>
            </a:r>
            <a:endParaRPr sz="3200" dirty="0">
              <a:latin typeface="Arial"/>
              <a:cs typeface="Arial"/>
            </a:endParaRPr>
          </a:p>
        </p:txBody>
      </p:sp>
      <p:sp>
        <p:nvSpPr>
          <p:cNvPr id="10" name="Slide Number Placeholder 9"/>
          <p:cNvSpPr>
            <a:spLocks noGrp="1"/>
          </p:cNvSpPr>
          <p:nvPr>
            <p:ph type="sldNum" sz="quarter" idx="12"/>
          </p:nvPr>
        </p:nvSpPr>
        <p:spPr/>
        <p:txBody>
          <a:bodyPr/>
          <a:lstStyle/>
          <a:p>
            <a:fld id="{E5CE4F79-B2B3-4E4E-AB5D-F771515B9CEF}" type="slidenum">
              <a:rPr lang="en-US" smtClean="0"/>
              <a:t>45</a:t>
            </a:fld>
            <a:endParaRPr lang="en-US" dirty="0"/>
          </a:p>
        </p:txBody>
      </p:sp>
    </p:spTree>
    <p:extLst>
      <p:ext uri="{BB962C8B-B14F-4D97-AF65-F5344CB8AC3E}">
        <p14:creationId xmlns:p14="http://schemas.microsoft.com/office/powerpoint/2010/main" val="3079313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2561082" y="601497"/>
            <a:ext cx="4109454" cy="585012"/>
          </a:xfrm>
          <a:prstGeom prst="rect">
            <a:avLst/>
          </a:prstGeom>
        </p:spPr>
        <p:txBody>
          <a:bodyPr wrap="square" lIns="0" tIns="28606" rIns="0" bIns="0" rtlCol="0">
            <a:noAutofit/>
          </a:bodyPr>
          <a:lstStyle/>
          <a:p>
            <a:pPr marL="12700">
              <a:lnSpc>
                <a:spcPts val="4505"/>
              </a:lnSpc>
            </a:pPr>
            <a:r>
              <a:rPr sz="4400" b="1" spc="1" dirty="0" smtClean="0">
                <a:latin typeface="Calibri"/>
                <a:cs typeface="Calibri"/>
              </a:rPr>
              <a:t>ISO 9126</a:t>
            </a:r>
            <a:endParaRPr sz="4400" dirty="0">
              <a:latin typeface="Calibri"/>
              <a:cs typeface="Calibri"/>
            </a:endParaRPr>
          </a:p>
        </p:txBody>
      </p:sp>
      <p:sp>
        <p:nvSpPr>
          <p:cNvPr id="8" name="object 8"/>
          <p:cNvSpPr txBox="1"/>
          <p:nvPr/>
        </p:nvSpPr>
        <p:spPr>
          <a:xfrm>
            <a:off x="535940" y="1660525"/>
            <a:ext cx="3151133" cy="871677"/>
          </a:xfrm>
          <a:prstGeom prst="rect">
            <a:avLst/>
          </a:prstGeom>
        </p:spPr>
        <p:txBody>
          <a:bodyPr wrap="square" lIns="0" tIns="20986" rIns="0" bIns="0" rtlCol="0">
            <a:noAutofit/>
          </a:bodyPr>
          <a:lstStyle/>
          <a:p>
            <a:pPr algn="ctr">
              <a:lnSpc>
                <a:spcPts val="3304"/>
              </a:lnSpc>
            </a:pPr>
            <a:r>
              <a:rPr sz="3200" spc="-1" dirty="0" smtClean="0">
                <a:latin typeface="Calibri"/>
                <a:cs typeface="Calibri"/>
              </a:rPr>
              <a:t>ISO 9126 identifies</a:t>
            </a:r>
            <a:endParaRPr sz="3200">
              <a:latin typeface="Calibri"/>
              <a:cs typeface="Calibri"/>
            </a:endParaRPr>
          </a:p>
          <a:p>
            <a:pPr marL="312663" marR="387724" algn="ctr">
              <a:lnSpc>
                <a:spcPts val="3460"/>
              </a:lnSpc>
              <a:spcBef>
                <a:spcPts val="7"/>
              </a:spcBef>
            </a:pPr>
            <a:r>
              <a:rPr sz="3200" spc="-10" dirty="0" smtClean="0">
                <a:latin typeface="Calibri"/>
                <a:cs typeface="Calibri"/>
              </a:rPr>
              <a:t>characteristics</a:t>
            </a:r>
            <a:endParaRPr sz="3200">
              <a:latin typeface="Calibri"/>
              <a:cs typeface="Calibri"/>
            </a:endParaRPr>
          </a:p>
        </p:txBody>
      </p:sp>
      <p:sp>
        <p:nvSpPr>
          <p:cNvPr id="7" name="object 7"/>
          <p:cNvSpPr txBox="1"/>
          <p:nvPr/>
        </p:nvSpPr>
        <p:spPr>
          <a:xfrm>
            <a:off x="3724877" y="1660525"/>
            <a:ext cx="514139" cy="432307"/>
          </a:xfrm>
          <a:prstGeom prst="rect">
            <a:avLst/>
          </a:prstGeom>
        </p:spPr>
        <p:txBody>
          <a:bodyPr wrap="square" lIns="0" tIns="20986" rIns="0" bIns="0" rtlCol="0">
            <a:noAutofit/>
          </a:bodyPr>
          <a:lstStyle/>
          <a:p>
            <a:pPr marL="12700">
              <a:lnSpc>
                <a:spcPts val="3304"/>
              </a:lnSpc>
            </a:pPr>
            <a:r>
              <a:rPr sz="3200" spc="-3" dirty="0" smtClean="0">
                <a:latin typeface="Calibri"/>
                <a:cs typeface="Calibri"/>
              </a:rPr>
              <a:t>six</a:t>
            </a:r>
            <a:endParaRPr sz="3200">
              <a:latin typeface="Calibri"/>
              <a:cs typeface="Calibri"/>
            </a:endParaRPr>
          </a:p>
        </p:txBody>
      </p:sp>
      <p:sp>
        <p:nvSpPr>
          <p:cNvPr id="6" name="object 6"/>
          <p:cNvSpPr txBox="1"/>
          <p:nvPr/>
        </p:nvSpPr>
        <p:spPr>
          <a:xfrm>
            <a:off x="4245720" y="1660525"/>
            <a:ext cx="1060194" cy="432307"/>
          </a:xfrm>
          <a:prstGeom prst="rect">
            <a:avLst/>
          </a:prstGeom>
        </p:spPr>
        <p:txBody>
          <a:bodyPr wrap="square" lIns="0" tIns="20986" rIns="0" bIns="0" rtlCol="0">
            <a:noAutofit/>
          </a:bodyPr>
          <a:lstStyle/>
          <a:p>
            <a:pPr marL="12700">
              <a:lnSpc>
                <a:spcPts val="3304"/>
              </a:lnSpc>
            </a:pPr>
            <a:r>
              <a:rPr sz="3200" dirty="0" smtClean="0">
                <a:latin typeface="Calibri"/>
                <a:cs typeface="Calibri"/>
              </a:rPr>
              <a:t>major</a:t>
            </a:r>
            <a:endParaRPr sz="3200">
              <a:latin typeface="Calibri"/>
              <a:cs typeface="Calibri"/>
            </a:endParaRPr>
          </a:p>
        </p:txBody>
      </p:sp>
      <p:sp>
        <p:nvSpPr>
          <p:cNvPr id="5" name="object 5"/>
          <p:cNvSpPr txBox="1"/>
          <p:nvPr/>
        </p:nvSpPr>
        <p:spPr>
          <a:xfrm>
            <a:off x="5311412" y="1660525"/>
            <a:ext cx="1539731" cy="432307"/>
          </a:xfrm>
          <a:prstGeom prst="rect">
            <a:avLst/>
          </a:prstGeom>
        </p:spPr>
        <p:txBody>
          <a:bodyPr wrap="square" lIns="0" tIns="20986" rIns="0" bIns="0" rtlCol="0">
            <a:noAutofit/>
          </a:bodyPr>
          <a:lstStyle/>
          <a:p>
            <a:pPr marL="12700">
              <a:lnSpc>
                <a:spcPts val="3304"/>
              </a:lnSpc>
            </a:pPr>
            <a:r>
              <a:rPr sz="3200" spc="-10" dirty="0" smtClean="0">
                <a:latin typeface="Calibri"/>
                <a:cs typeface="Calibri"/>
              </a:rPr>
              <a:t>software</a:t>
            </a:r>
            <a:endParaRPr sz="3200">
              <a:latin typeface="Calibri"/>
              <a:cs typeface="Calibri"/>
            </a:endParaRPr>
          </a:p>
        </p:txBody>
      </p:sp>
      <p:sp>
        <p:nvSpPr>
          <p:cNvPr id="4" name="object 4"/>
          <p:cNvSpPr txBox="1"/>
          <p:nvPr/>
        </p:nvSpPr>
        <p:spPr>
          <a:xfrm>
            <a:off x="6854814" y="1660525"/>
            <a:ext cx="1214628" cy="432307"/>
          </a:xfrm>
          <a:prstGeom prst="rect">
            <a:avLst/>
          </a:prstGeom>
        </p:spPr>
        <p:txBody>
          <a:bodyPr wrap="square" lIns="0" tIns="20986" rIns="0" bIns="0" rtlCol="0">
            <a:noAutofit/>
          </a:bodyPr>
          <a:lstStyle/>
          <a:p>
            <a:pPr marL="12700">
              <a:lnSpc>
                <a:spcPts val="3304"/>
              </a:lnSpc>
            </a:pPr>
            <a:r>
              <a:rPr sz="3200" spc="-1" dirty="0" smtClean="0">
                <a:latin typeface="Calibri"/>
                <a:cs typeface="Calibri"/>
              </a:rPr>
              <a:t>quality</a:t>
            </a:r>
            <a:endParaRPr sz="3200">
              <a:latin typeface="Calibri"/>
              <a:cs typeface="Calibri"/>
            </a:endParaRPr>
          </a:p>
        </p:txBody>
      </p:sp>
      <p:sp>
        <p:nvSpPr>
          <p:cNvPr id="3" name="object 3"/>
          <p:cNvSpPr txBox="1"/>
          <p:nvPr/>
        </p:nvSpPr>
        <p:spPr>
          <a:xfrm>
            <a:off x="535940" y="2611723"/>
            <a:ext cx="228854" cy="3115132"/>
          </a:xfrm>
          <a:prstGeom prst="rect">
            <a:avLst/>
          </a:prstGeom>
        </p:spPr>
        <p:txBody>
          <a:bodyPr wrap="square" lIns="0" tIns="21431" rIns="0" bIns="0" rtlCol="0">
            <a:noAutofit/>
          </a:bodyPr>
          <a:lstStyle/>
          <a:p>
            <a:pPr marL="12700" marR="0">
              <a:lnSpc>
                <a:spcPts val="3375"/>
              </a:lnSpc>
            </a:pPr>
            <a:r>
              <a:rPr sz="3200" dirty="0" smtClean="0">
                <a:latin typeface="Arial"/>
                <a:cs typeface="Arial"/>
              </a:rPr>
              <a:t>•</a:t>
            </a:r>
            <a:endParaRPr sz="3200">
              <a:latin typeface="Arial"/>
              <a:cs typeface="Arial"/>
            </a:endParaRPr>
          </a:p>
          <a:p>
            <a:pPr marL="12700" marR="0">
              <a:lnSpc>
                <a:spcPct val="95825"/>
              </a:lnSpc>
              <a:spcBef>
                <a:spcPts val="375"/>
              </a:spcBef>
            </a:pPr>
            <a:r>
              <a:rPr sz="3200" dirty="0" smtClean="0">
                <a:latin typeface="Arial"/>
                <a:cs typeface="Arial"/>
              </a:rPr>
              <a:t>•</a:t>
            </a:r>
            <a:endParaRPr sz="3200">
              <a:latin typeface="Arial"/>
              <a:cs typeface="Arial"/>
            </a:endParaRPr>
          </a:p>
          <a:p>
            <a:pPr marL="12700">
              <a:lnSpc>
                <a:spcPct val="95825"/>
              </a:lnSpc>
              <a:spcBef>
                <a:spcPts val="546"/>
              </a:spcBef>
            </a:pPr>
            <a:r>
              <a:rPr sz="3200" dirty="0" smtClean="0">
                <a:latin typeface="Arial"/>
                <a:cs typeface="Arial"/>
              </a:rPr>
              <a:t>•</a:t>
            </a:r>
            <a:endParaRPr sz="3200">
              <a:latin typeface="Arial"/>
              <a:cs typeface="Arial"/>
            </a:endParaRPr>
          </a:p>
          <a:p>
            <a:pPr marL="12700">
              <a:lnSpc>
                <a:spcPct val="95825"/>
              </a:lnSpc>
              <a:spcBef>
                <a:spcPts val="544"/>
              </a:spcBef>
            </a:pPr>
            <a:r>
              <a:rPr sz="3200" dirty="0" smtClean="0">
                <a:latin typeface="Arial"/>
                <a:cs typeface="Arial"/>
              </a:rPr>
              <a:t>•</a:t>
            </a:r>
            <a:endParaRPr sz="3200">
              <a:latin typeface="Arial"/>
              <a:cs typeface="Arial"/>
            </a:endParaRPr>
          </a:p>
          <a:p>
            <a:pPr marL="12700">
              <a:lnSpc>
                <a:spcPct val="95825"/>
              </a:lnSpc>
              <a:spcBef>
                <a:spcPts val="544"/>
              </a:spcBef>
            </a:pPr>
            <a:r>
              <a:rPr sz="3200" dirty="0" smtClean="0">
                <a:latin typeface="Arial"/>
                <a:cs typeface="Arial"/>
              </a:rPr>
              <a:t>•</a:t>
            </a:r>
            <a:endParaRPr sz="3200">
              <a:latin typeface="Arial"/>
              <a:cs typeface="Arial"/>
            </a:endParaRPr>
          </a:p>
          <a:p>
            <a:pPr marL="12700" marR="0">
              <a:lnSpc>
                <a:spcPct val="95825"/>
              </a:lnSpc>
              <a:spcBef>
                <a:spcPts val="546"/>
              </a:spcBef>
            </a:pPr>
            <a:r>
              <a:rPr sz="3200" dirty="0" smtClean="0">
                <a:latin typeface="Arial"/>
                <a:cs typeface="Arial"/>
              </a:rPr>
              <a:t>•</a:t>
            </a:r>
            <a:endParaRPr sz="3200">
              <a:latin typeface="Arial"/>
              <a:cs typeface="Arial"/>
            </a:endParaRPr>
          </a:p>
        </p:txBody>
      </p:sp>
      <p:sp>
        <p:nvSpPr>
          <p:cNvPr id="2" name="object 2"/>
          <p:cNvSpPr txBox="1"/>
          <p:nvPr/>
        </p:nvSpPr>
        <p:spPr>
          <a:xfrm>
            <a:off x="879144" y="2636266"/>
            <a:ext cx="2573158" cy="3115132"/>
          </a:xfrm>
          <a:prstGeom prst="rect">
            <a:avLst/>
          </a:prstGeom>
        </p:spPr>
        <p:txBody>
          <a:bodyPr wrap="square" lIns="0" tIns="20986" rIns="0" bIns="0" rtlCol="0">
            <a:noAutofit/>
          </a:bodyPr>
          <a:lstStyle/>
          <a:p>
            <a:pPr marL="12700" marR="61714">
              <a:lnSpc>
                <a:spcPts val="3304"/>
              </a:lnSpc>
            </a:pPr>
            <a:r>
              <a:rPr sz="3200" spc="-1" dirty="0" smtClean="0">
                <a:latin typeface="Calibri"/>
                <a:cs typeface="Calibri"/>
              </a:rPr>
              <a:t>Functionality</a:t>
            </a:r>
            <a:endParaRPr sz="3200">
              <a:latin typeface="Calibri"/>
              <a:cs typeface="Calibri"/>
            </a:endParaRPr>
          </a:p>
          <a:p>
            <a:pPr marL="12700">
              <a:lnSpc>
                <a:spcPts val="3906"/>
              </a:lnSpc>
              <a:spcBef>
                <a:spcPts val="149"/>
              </a:spcBef>
            </a:pPr>
            <a:r>
              <a:rPr sz="3200" spc="-6" dirty="0" smtClean="0">
                <a:latin typeface="Calibri"/>
                <a:cs typeface="Calibri"/>
              </a:rPr>
              <a:t>Reliability </a:t>
            </a:r>
            <a:endParaRPr sz="3200">
              <a:latin typeface="Calibri"/>
              <a:cs typeface="Calibri"/>
            </a:endParaRPr>
          </a:p>
          <a:p>
            <a:pPr marL="12700">
              <a:lnSpc>
                <a:spcPts val="3906"/>
              </a:lnSpc>
              <a:spcBef>
                <a:spcPts val="320"/>
              </a:spcBef>
            </a:pPr>
            <a:r>
              <a:rPr sz="3200" spc="-2" dirty="0" smtClean="0">
                <a:latin typeface="Calibri"/>
                <a:cs typeface="Calibri"/>
              </a:rPr>
              <a:t>Usability </a:t>
            </a:r>
            <a:endParaRPr sz="3200">
              <a:latin typeface="Calibri"/>
              <a:cs typeface="Calibri"/>
            </a:endParaRPr>
          </a:p>
          <a:p>
            <a:pPr marL="12700">
              <a:lnSpc>
                <a:spcPts val="3906"/>
              </a:lnSpc>
              <a:spcBef>
                <a:spcPts val="320"/>
              </a:spcBef>
            </a:pPr>
            <a:r>
              <a:rPr sz="3200" spc="-13" dirty="0" smtClean="0">
                <a:latin typeface="Calibri"/>
                <a:cs typeface="Calibri"/>
              </a:rPr>
              <a:t>Efficiency </a:t>
            </a:r>
            <a:endParaRPr sz="3200">
              <a:latin typeface="Calibri"/>
              <a:cs typeface="Calibri"/>
            </a:endParaRPr>
          </a:p>
          <a:p>
            <a:pPr marL="12700">
              <a:lnSpc>
                <a:spcPts val="3906"/>
              </a:lnSpc>
              <a:spcBef>
                <a:spcPts val="320"/>
              </a:spcBef>
            </a:pPr>
            <a:r>
              <a:rPr sz="3200" spc="-5" dirty="0" smtClean="0">
                <a:latin typeface="Calibri"/>
                <a:cs typeface="Calibri"/>
              </a:rPr>
              <a:t>Maintainability</a:t>
            </a:r>
            <a:endParaRPr sz="3200">
              <a:latin typeface="Calibri"/>
              <a:cs typeface="Calibri"/>
            </a:endParaRPr>
          </a:p>
          <a:p>
            <a:pPr marL="12700" marR="61714">
              <a:lnSpc>
                <a:spcPct val="101725"/>
              </a:lnSpc>
              <a:spcBef>
                <a:spcPts val="375"/>
              </a:spcBef>
            </a:pPr>
            <a:r>
              <a:rPr sz="3200" spc="-5" dirty="0" smtClean="0">
                <a:latin typeface="Calibri"/>
                <a:cs typeface="Calibri"/>
              </a:rPr>
              <a:t>portability</a:t>
            </a:r>
            <a:endParaRPr sz="3200">
              <a:latin typeface="Calibri"/>
              <a:cs typeface="Calibri"/>
            </a:endParaRPr>
          </a:p>
        </p:txBody>
      </p:sp>
      <p:sp>
        <p:nvSpPr>
          <p:cNvPr id="10" name="Slide Number Placeholder 9"/>
          <p:cNvSpPr>
            <a:spLocks noGrp="1"/>
          </p:cNvSpPr>
          <p:nvPr>
            <p:ph type="sldNum" sz="quarter" idx="12"/>
          </p:nvPr>
        </p:nvSpPr>
        <p:spPr/>
        <p:txBody>
          <a:bodyPr/>
          <a:lstStyle/>
          <a:p>
            <a:fld id="{E5CE4F79-B2B3-4E4E-AB5D-F771515B9CEF}" type="slidenum">
              <a:rPr lang="en-US" smtClean="0"/>
              <a:t>46</a:t>
            </a:fld>
            <a:endParaRPr lang="en-US" dirty="0"/>
          </a:p>
        </p:txBody>
      </p:sp>
    </p:spTree>
    <p:extLst>
      <p:ext uri="{BB962C8B-B14F-4D97-AF65-F5344CB8AC3E}">
        <p14:creationId xmlns:p14="http://schemas.microsoft.com/office/powerpoint/2010/main" val="2812891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2561082" y="601497"/>
            <a:ext cx="4109454" cy="585012"/>
          </a:xfrm>
          <a:prstGeom prst="rect">
            <a:avLst/>
          </a:prstGeom>
        </p:spPr>
        <p:txBody>
          <a:bodyPr wrap="square" lIns="0" tIns="28606" rIns="0" bIns="0" rtlCol="0">
            <a:noAutofit/>
          </a:bodyPr>
          <a:lstStyle/>
          <a:p>
            <a:pPr marL="12700">
              <a:lnSpc>
                <a:spcPts val="4505"/>
              </a:lnSpc>
            </a:pPr>
            <a:r>
              <a:rPr sz="4400" b="1" spc="1" dirty="0" smtClean="0">
                <a:latin typeface="Calibri"/>
                <a:cs typeface="Calibri"/>
              </a:rPr>
              <a:t>ISO 9126</a:t>
            </a:r>
            <a:endParaRPr sz="4400" dirty="0">
              <a:latin typeface="Calibri"/>
              <a:cs typeface="Calibri"/>
            </a:endParaRPr>
          </a:p>
        </p:txBody>
      </p:sp>
      <p:sp>
        <p:nvSpPr>
          <p:cNvPr id="8" name="object 8"/>
          <p:cNvSpPr txBox="1"/>
          <p:nvPr/>
        </p:nvSpPr>
        <p:spPr>
          <a:xfrm>
            <a:off x="535940" y="1635640"/>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a:latin typeface="Arial"/>
              <a:cs typeface="Arial"/>
            </a:endParaRPr>
          </a:p>
        </p:txBody>
      </p:sp>
      <p:sp>
        <p:nvSpPr>
          <p:cNvPr id="7" name="object 7"/>
          <p:cNvSpPr txBox="1"/>
          <p:nvPr/>
        </p:nvSpPr>
        <p:spPr>
          <a:xfrm>
            <a:off x="879144" y="1658620"/>
            <a:ext cx="3658644" cy="406400"/>
          </a:xfrm>
          <a:prstGeom prst="rect">
            <a:avLst/>
          </a:prstGeom>
        </p:spPr>
        <p:txBody>
          <a:bodyPr wrap="square" lIns="0" tIns="19685" rIns="0" bIns="0" rtlCol="0">
            <a:noAutofit/>
          </a:bodyPr>
          <a:lstStyle/>
          <a:p>
            <a:pPr marL="12700">
              <a:lnSpc>
                <a:spcPts val="3100"/>
              </a:lnSpc>
            </a:pPr>
            <a:r>
              <a:rPr sz="3000" spc="-7" dirty="0" smtClean="0">
                <a:latin typeface="Calibri"/>
                <a:cs typeface="Calibri"/>
              </a:rPr>
              <a:t>Once the requirements</a:t>
            </a:r>
            <a:endParaRPr sz="3000">
              <a:latin typeface="Calibri"/>
              <a:cs typeface="Calibri"/>
            </a:endParaRPr>
          </a:p>
        </p:txBody>
      </p:sp>
      <p:sp>
        <p:nvSpPr>
          <p:cNvPr id="6" name="object 6"/>
          <p:cNvSpPr txBox="1"/>
          <p:nvPr/>
        </p:nvSpPr>
        <p:spPr>
          <a:xfrm>
            <a:off x="4628565" y="1658620"/>
            <a:ext cx="3876524" cy="406400"/>
          </a:xfrm>
          <a:prstGeom prst="rect">
            <a:avLst/>
          </a:prstGeom>
        </p:spPr>
        <p:txBody>
          <a:bodyPr wrap="square" lIns="0" tIns="19685" rIns="0" bIns="0" rtlCol="0">
            <a:noAutofit/>
          </a:bodyPr>
          <a:lstStyle/>
          <a:p>
            <a:pPr marL="12700">
              <a:lnSpc>
                <a:spcPts val="3100"/>
              </a:lnSpc>
            </a:pPr>
            <a:r>
              <a:rPr sz="3000" spc="-8" dirty="0" smtClean="0">
                <a:latin typeface="Calibri"/>
                <a:cs typeface="Calibri"/>
              </a:rPr>
              <a:t>for the software product</a:t>
            </a:r>
            <a:endParaRPr sz="3000">
              <a:latin typeface="Calibri"/>
              <a:cs typeface="Calibri"/>
            </a:endParaRPr>
          </a:p>
        </p:txBody>
      </p:sp>
      <p:sp>
        <p:nvSpPr>
          <p:cNvPr id="5" name="object 5"/>
          <p:cNvSpPr txBox="1"/>
          <p:nvPr/>
        </p:nvSpPr>
        <p:spPr>
          <a:xfrm>
            <a:off x="879144" y="2070252"/>
            <a:ext cx="7699299" cy="3973372"/>
          </a:xfrm>
          <a:prstGeom prst="rect">
            <a:avLst/>
          </a:prstGeom>
        </p:spPr>
        <p:txBody>
          <a:bodyPr wrap="square" lIns="0" tIns="19685" rIns="0" bIns="0" rtlCol="0">
            <a:noAutofit/>
          </a:bodyPr>
          <a:lstStyle/>
          <a:p>
            <a:pPr marL="12700" marR="512898" algn="just">
              <a:lnSpc>
                <a:spcPts val="3100"/>
              </a:lnSpc>
            </a:pPr>
            <a:r>
              <a:rPr sz="3000" spc="-9" dirty="0" smtClean="0">
                <a:latin typeface="Calibri"/>
                <a:cs typeface="Calibri"/>
              </a:rPr>
              <a:t>have been established, the following steps are</a:t>
            </a:r>
            <a:endParaRPr sz="3000" dirty="0">
              <a:latin typeface="Calibri"/>
              <a:cs typeface="Calibri"/>
            </a:endParaRPr>
          </a:p>
          <a:p>
            <a:pPr marL="12700" marR="6074226" algn="just">
              <a:lnSpc>
                <a:spcPts val="3240"/>
              </a:lnSpc>
              <a:spcBef>
                <a:spcPts val="7"/>
              </a:spcBef>
            </a:pPr>
            <a:r>
              <a:rPr sz="3000" spc="-7" dirty="0" smtClean="0">
                <a:latin typeface="Calibri"/>
                <a:cs typeface="Calibri"/>
              </a:rPr>
              <a:t>suggested</a:t>
            </a:r>
            <a:endParaRPr sz="3000" dirty="0">
              <a:latin typeface="Calibri"/>
              <a:cs typeface="Calibri"/>
            </a:endParaRPr>
          </a:p>
          <a:p>
            <a:pPr marL="469900" marR="1898941" lvl="1" algn="just">
              <a:lnSpc>
                <a:spcPct val="101725"/>
              </a:lnSpc>
              <a:spcBef>
                <a:spcPts val="133"/>
              </a:spcBef>
            </a:pPr>
            <a:r>
              <a:rPr sz="2800" spc="-3" dirty="0" smtClean="0">
                <a:latin typeface="Calibri"/>
                <a:cs typeface="Calibri"/>
              </a:rPr>
              <a:t>Judge the importance of each quality</a:t>
            </a:r>
            <a:r>
              <a:rPr lang="en-US" sz="2800" dirty="0">
                <a:latin typeface="Calibri"/>
                <a:cs typeface="Calibri"/>
              </a:rPr>
              <a:t> </a:t>
            </a:r>
            <a:r>
              <a:rPr sz="2800" spc="-9" dirty="0" smtClean="0">
                <a:latin typeface="Calibri"/>
                <a:cs typeface="Calibri"/>
              </a:rPr>
              <a:t>characteristic for the application</a:t>
            </a:r>
            <a:endParaRPr sz="2800" dirty="0">
              <a:latin typeface="Calibri"/>
              <a:cs typeface="Calibri"/>
            </a:endParaRPr>
          </a:p>
          <a:p>
            <a:pPr marL="469900" marR="98134" lvl="1" algn="just">
              <a:lnSpc>
                <a:spcPts val="3240"/>
              </a:lnSpc>
              <a:spcBef>
                <a:spcPts val="618"/>
              </a:spcBef>
            </a:pPr>
            <a:r>
              <a:rPr sz="2800" spc="-5" dirty="0" smtClean="0">
                <a:latin typeface="Calibri"/>
                <a:cs typeface="Calibri"/>
              </a:rPr>
              <a:t>Select the external quality measurements within the ISO 9126 framework relevant to the qualities prioritized</a:t>
            </a:r>
            <a:endParaRPr sz="2800" dirty="0">
              <a:latin typeface="Calibri"/>
              <a:cs typeface="Calibri"/>
            </a:endParaRPr>
          </a:p>
          <a:p>
            <a:pPr marL="469900" lvl="1">
              <a:lnSpc>
                <a:spcPts val="3240"/>
              </a:lnSpc>
              <a:spcBef>
                <a:spcPts val="723"/>
              </a:spcBef>
            </a:pPr>
            <a:r>
              <a:rPr sz="2800" dirty="0" smtClean="0">
                <a:latin typeface="Calibri"/>
                <a:cs typeface="Calibri"/>
              </a:rPr>
              <a:t>Ma</a:t>
            </a:r>
            <a:r>
              <a:rPr sz="2800" spc="-54" dirty="0" smtClean="0">
                <a:latin typeface="Calibri"/>
                <a:cs typeface="Calibri"/>
              </a:rPr>
              <a:t>n</a:t>
            </a:r>
            <a:r>
              <a:rPr sz="2800" spc="0" dirty="0" smtClean="0">
                <a:latin typeface="Calibri"/>
                <a:cs typeface="Calibri"/>
              </a:rPr>
              <a:t>y measu</a:t>
            </a:r>
            <a:r>
              <a:rPr sz="2800" spc="-34" dirty="0" smtClean="0">
                <a:latin typeface="Calibri"/>
                <a:cs typeface="Calibri"/>
              </a:rPr>
              <a:t>r</a:t>
            </a:r>
            <a:r>
              <a:rPr sz="2800" spc="0" dirty="0" smtClean="0">
                <a:latin typeface="Calibri"/>
                <a:cs typeface="Calibri"/>
              </a:rPr>
              <a:t>em</a:t>
            </a:r>
            <a:r>
              <a:rPr sz="2800" spc="-4" dirty="0" smtClean="0">
                <a:latin typeface="Calibri"/>
                <a:cs typeface="Calibri"/>
              </a:rPr>
              <a:t>e</a:t>
            </a:r>
            <a:r>
              <a:rPr sz="2800" spc="-29" dirty="0" smtClean="0">
                <a:latin typeface="Calibri"/>
                <a:cs typeface="Calibri"/>
              </a:rPr>
              <a:t>n</a:t>
            </a:r>
            <a:r>
              <a:rPr sz="2800" spc="0" dirty="0" smtClean="0">
                <a:latin typeface="Calibri"/>
                <a:cs typeface="Calibri"/>
              </a:rPr>
              <a:t>t</a:t>
            </a:r>
            <a:r>
              <a:rPr sz="2800" spc="-14" dirty="0" smtClean="0">
                <a:latin typeface="Calibri"/>
                <a:cs typeface="Calibri"/>
              </a:rPr>
              <a:t> </a:t>
            </a:r>
            <a:r>
              <a:rPr sz="2800" spc="0" dirty="0" smtClean="0">
                <a:latin typeface="Calibri"/>
                <a:cs typeface="Calibri"/>
              </a:rPr>
              <a:t>o</a:t>
            </a:r>
            <a:r>
              <a:rPr sz="2800" spc="-25" dirty="0" smtClean="0">
                <a:latin typeface="Calibri"/>
                <a:cs typeface="Calibri"/>
              </a:rPr>
              <a:t>n</a:t>
            </a:r>
            <a:r>
              <a:rPr sz="2800" spc="-19" dirty="0" smtClean="0">
                <a:latin typeface="Calibri"/>
                <a:cs typeface="Calibri"/>
              </a:rPr>
              <a:t>t</a:t>
            </a:r>
            <a:r>
              <a:rPr sz="2800" spc="0" dirty="0" smtClean="0">
                <a:latin typeface="Calibri"/>
                <a:cs typeface="Calibri"/>
              </a:rPr>
              <a:t>o </a:t>
            </a:r>
            <a:r>
              <a:rPr sz="2800" spc="-64" dirty="0" smtClean="0">
                <a:latin typeface="Calibri"/>
                <a:cs typeface="Calibri"/>
              </a:rPr>
              <a:t>r</a:t>
            </a:r>
            <a:r>
              <a:rPr sz="2800" spc="-19" dirty="0" smtClean="0">
                <a:latin typeface="Calibri"/>
                <a:cs typeface="Calibri"/>
              </a:rPr>
              <a:t>a</a:t>
            </a:r>
            <a:r>
              <a:rPr sz="2800" spc="0" dirty="0" smtClean="0">
                <a:latin typeface="Calibri"/>
                <a:cs typeface="Calibri"/>
              </a:rPr>
              <a:t>tings th</a:t>
            </a:r>
            <a:r>
              <a:rPr sz="2800" spc="-29" dirty="0" smtClean="0">
                <a:latin typeface="Calibri"/>
                <a:cs typeface="Calibri"/>
              </a:rPr>
              <a:t>a</a:t>
            </a:r>
            <a:r>
              <a:rPr sz="2800" spc="0" dirty="0" smtClean="0">
                <a:latin typeface="Calibri"/>
                <a:cs typeface="Calibri"/>
              </a:rPr>
              <a:t>t</a:t>
            </a:r>
            <a:r>
              <a:rPr sz="2800" spc="-25" dirty="0" smtClean="0">
                <a:latin typeface="Calibri"/>
                <a:cs typeface="Calibri"/>
              </a:rPr>
              <a:t> </a:t>
            </a:r>
            <a:r>
              <a:rPr sz="2800" spc="-39" dirty="0" smtClean="0">
                <a:latin typeface="Calibri"/>
                <a:cs typeface="Calibri"/>
              </a:rPr>
              <a:t>r</a:t>
            </a:r>
            <a:r>
              <a:rPr sz="2800" spc="-29" dirty="0" smtClean="0">
                <a:latin typeface="Calibri"/>
                <a:cs typeface="Calibri"/>
              </a:rPr>
              <a:t>e</a:t>
            </a:r>
            <a:r>
              <a:rPr sz="2800" spc="0" dirty="0" smtClean="0">
                <a:latin typeface="Calibri"/>
                <a:cs typeface="Calibri"/>
              </a:rPr>
              <a:t>f</a:t>
            </a:r>
            <a:r>
              <a:rPr sz="2800" spc="-9" dirty="0" smtClean="0">
                <a:latin typeface="Calibri"/>
                <a:cs typeface="Calibri"/>
              </a:rPr>
              <a:t>l</a:t>
            </a:r>
            <a:r>
              <a:rPr sz="2800" spc="0" dirty="0" smtClean="0">
                <a:latin typeface="Calibri"/>
                <a:cs typeface="Calibri"/>
              </a:rPr>
              <a:t>ect</a:t>
            </a:r>
            <a:r>
              <a:rPr sz="2800" spc="-14" dirty="0" smtClean="0">
                <a:latin typeface="Calibri"/>
                <a:cs typeface="Calibri"/>
              </a:rPr>
              <a:t> </a:t>
            </a:r>
            <a:r>
              <a:rPr sz="2800" spc="0" dirty="0" smtClean="0">
                <a:latin typeface="Calibri"/>
                <a:cs typeface="Calibri"/>
              </a:rPr>
              <a:t>user s</a:t>
            </a:r>
            <a:r>
              <a:rPr sz="2800" spc="-19" dirty="0" smtClean="0">
                <a:latin typeface="Calibri"/>
                <a:cs typeface="Calibri"/>
              </a:rPr>
              <a:t>a</a:t>
            </a:r>
            <a:r>
              <a:rPr sz="2800" spc="0" dirty="0" smtClean="0">
                <a:latin typeface="Calibri"/>
                <a:cs typeface="Calibri"/>
              </a:rPr>
              <a:t>ti</a:t>
            </a:r>
            <a:r>
              <a:rPr sz="2800" spc="-25" dirty="0" smtClean="0">
                <a:latin typeface="Calibri"/>
                <a:cs typeface="Calibri"/>
              </a:rPr>
              <a:t>s</a:t>
            </a:r>
            <a:r>
              <a:rPr sz="2800" spc="-64" dirty="0" smtClean="0">
                <a:latin typeface="Calibri"/>
                <a:cs typeface="Calibri"/>
              </a:rPr>
              <a:t>f</a:t>
            </a:r>
            <a:r>
              <a:rPr sz="2800" spc="0" dirty="0" smtClean="0">
                <a:latin typeface="Calibri"/>
                <a:cs typeface="Calibri"/>
              </a:rPr>
              <a:t>ac</a:t>
            </a:r>
            <a:r>
              <a:rPr sz="2800" spc="4" dirty="0" smtClean="0">
                <a:latin typeface="Calibri"/>
                <a:cs typeface="Calibri"/>
              </a:rPr>
              <a:t>t</a:t>
            </a:r>
            <a:r>
              <a:rPr sz="2800" spc="0" dirty="0" smtClean="0">
                <a:latin typeface="Calibri"/>
                <a:cs typeface="Calibri"/>
              </a:rPr>
              <a:t>ion</a:t>
            </a:r>
            <a:endParaRPr sz="2800" dirty="0">
              <a:latin typeface="Calibri"/>
              <a:cs typeface="Calibri"/>
            </a:endParaRPr>
          </a:p>
        </p:txBody>
      </p:sp>
      <p:grpSp>
        <p:nvGrpSpPr>
          <p:cNvPr id="11" name="Group 10"/>
          <p:cNvGrpSpPr/>
          <p:nvPr/>
        </p:nvGrpSpPr>
        <p:grpSpPr>
          <a:xfrm>
            <a:off x="1079500" y="2915285"/>
            <a:ext cx="215900" cy="2647315"/>
            <a:chOff x="535940" y="2961901"/>
            <a:chExt cx="215900" cy="2647315"/>
          </a:xfrm>
        </p:grpSpPr>
        <p:sp>
          <p:nvSpPr>
            <p:cNvPr id="4" name="object 4"/>
            <p:cNvSpPr txBox="1"/>
            <p:nvPr/>
          </p:nvSpPr>
          <p:spPr>
            <a:xfrm>
              <a:off x="535940" y="2961901"/>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dirty="0">
                <a:latin typeface="Arial"/>
                <a:cs typeface="Arial"/>
              </a:endParaRPr>
            </a:p>
          </p:txBody>
        </p:sp>
        <p:sp>
          <p:nvSpPr>
            <p:cNvPr id="3" name="object 3"/>
            <p:cNvSpPr txBox="1"/>
            <p:nvPr/>
          </p:nvSpPr>
          <p:spPr>
            <a:xfrm>
              <a:off x="535940" y="3876555"/>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dirty="0">
                <a:latin typeface="Arial"/>
                <a:cs typeface="Arial"/>
              </a:endParaRPr>
            </a:p>
          </p:txBody>
        </p:sp>
        <p:sp>
          <p:nvSpPr>
            <p:cNvPr id="2" name="object 2"/>
            <p:cNvSpPr txBox="1"/>
            <p:nvPr/>
          </p:nvSpPr>
          <p:spPr>
            <a:xfrm>
              <a:off x="535940" y="5202816"/>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dirty="0">
                <a:latin typeface="Arial"/>
                <a:cs typeface="Arial"/>
              </a:endParaRPr>
            </a:p>
          </p:txBody>
        </p:sp>
      </p:grpSp>
      <p:sp>
        <p:nvSpPr>
          <p:cNvPr id="10" name="Slide Number Placeholder 9"/>
          <p:cNvSpPr>
            <a:spLocks noGrp="1"/>
          </p:cNvSpPr>
          <p:nvPr>
            <p:ph type="sldNum" sz="quarter" idx="12"/>
          </p:nvPr>
        </p:nvSpPr>
        <p:spPr/>
        <p:txBody>
          <a:bodyPr/>
          <a:lstStyle/>
          <a:p>
            <a:fld id="{E5CE4F79-B2B3-4E4E-AB5D-F771515B9CEF}" type="slidenum">
              <a:rPr lang="en-US" smtClean="0"/>
              <a:t>47</a:t>
            </a:fld>
            <a:endParaRPr lang="en-US" dirty="0"/>
          </a:p>
        </p:txBody>
      </p:sp>
    </p:spTree>
    <p:extLst>
      <p:ext uri="{BB962C8B-B14F-4D97-AF65-F5344CB8AC3E}">
        <p14:creationId xmlns:p14="http://schemas.microsoft.com/office/powerpoint/2010/main" val="3699297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879144" y="1524000"/>
            <a:ext cx="7807656" cy="952956"/>
          </a:xfrm>
          <a:prstGeom prst="rect">
            <a:avLst/>
          </a:prstGeom>
        </p:spPr>
        <p:txBody>
          <a:bodyPr wrap="square" lIns="0" tIns="26035" rIns="0" bIns="0" rtlCol="0">
            <a:noAutofit/>
          </a:bodyPr>
          <a:lstStyle/>
          <a:p>
            <a:pPr marL="12700">
              <a:lnSpc>
                <a:spcPct val="101725"/>
              </a:lnSpc>
              <a:spcBef>
                <a:spcPts val="848"/>
              </a:spcBef>
            </a:pPr>
            <a:r>
              <a:rPr sz="3000" spc="-5" dirty="0" smtClean="0">
                <a:latin typeface="Calibri"/>
                <a:cs typeface="Calibri"/>
              </a:rPr>
              <a:t>Each project needs to devise its own measures</a:t>
            </a:r>
            <a:r>
              <a:rPr lang="en-US" sz="3000" spc="-5" dirty="0" smtClean="0">
                <a:latin typeface="Calibri"/>
                <a:cs typeface="Calibri"/>
              </a:rPr>
              <a:t> to</a:t>
            </a:r>
            <a:endParaRPr sz="3000" dirty="0" smtClean="0">
              <a:latin typeface="Calibri"/>
              <a:cs typeface="Calibri"/>
            </a:endParaRPr>
          </a:p>
          <a:p>
            <a:pPr marL="12700" marR="69763">
              <a:lnSpc>
                <a:spcPts val="3245"/>
              </a:lnSpc>
              <a:spcBef>
                <a:spcPts val="162"/>
              </a:spcBef>
            </a:pPr>
            <a:r>
              <a:rPr sz="3000" spc="-4" dirty="0" smtClean="0">
                <a:latin typeface="Calibri"/>
                <a:cs typeface="Calibri"/>
              </a:rPr>
              <a:t>meet its specific need</a:t>
            </a:r>
            <a:endParaRPr sz="3000" dirty="0">
              <a:latin typeface="Calibri"/>
              <a:cs typeface="Calibri"/>
            </a:endParaRPr>
          </a:p>
        </p:txBody>
      </p:sp>
      <p:sp>
        <p:nvSpPr>
          <p:cNvPr id="9" name="object 9"/>
          <p:cNvSpPr txBox="1"/>
          <p:nvPr/>
        </p:nvSpPr>
        <p:spPr>
          <a:xfrm>
            <a:off x="535940" y="1635640"/>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a:latin typeface="Arial"/>
              <a:cs typeface="Arial"/>
            </a:endParaRPr>
          </a:p>
        </p:txBody>
      </p:sp>
      <p:sp>
        <p:nvSpPr>
          <p:cNvPr id="7" name="object 7"/>
          <p:cNvSpPr txBox="1"/>
          <p:nvPr/>
        </p:nvSpPr>
        <p:spPr>
          <a:xfrm>
            <a:off x="535940" y="2550421"/>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a:latin typeface="Arial"/>
              <a:cs typeface="Arial"/>
            </a:endParaRPr>
          </a:p>
        </p:txBody>
      </p:sp>
      <p:sp>
        <p:nvSpPr>
          <p:cNvPr id="6" name="object 6"/>
          <p:cNvSpPr txBox="1"/>
          <p:nvPr/>
        </p:nvSpPr>
        <p:spPr>
          <a:xfrm>
            <a:off x="879144" y="2573401"/>
            <a:ext cx="4810591" cy="817879"/>
          </a:xfrm>
          <a:prstGeom prst="rect">
            <a:avLst/>
          </a:prstGeom>
        </p:spPr>
        <p:txBody>
          <a:bodyPr wrap="square" lIns="0" tIns="19685" rIns="0" bIns="0" rtlCol="0">
            <a:noAutofit/>
          </a:bodyPr>
          <a:lstStyle/>
          <a:p>
            <a:pPr marL="12700">
              <a:lnSpc>
                <a:spcPts val="3100"/>
              </a:lnSpc>
            </a:pPr>
            <a:r>
              <a:rPr sz="3000" spc="-6" dirty="0" smtClean="0">
                <a:latin typeface="Calibri"/>
                <a:cs typeface="Calibri"/>
              </a:rPr>
              <a:t>The measures described relate</a:t>
            </a:r>
            <a:endParaRPr sz="3000">
              <a:latin typeface="Calibri"/>
              <a:cs typeface="Calibri"/>
            </a:endParaRPr>
          </a:p>
          <a:p>
            <a:pPr marL="12700" marR="57150">
              <a:lnSpc>
                <a:spcPts val="3240"/>
              </a:lnSpc>
              <a:spcBef>
                <a:spcPts val="7"/>
              </a:spcBef>
            </a:pPr>
            <a:r>
              <a:rPr sz="3000" spc="-5" dirty="0" smtClean="0">
                <a:latin typeface="Calibri"/>
                <a:cs typeface="Calibri"/>
              </a:rPr>
              <a:t>software products of a project</a:t>
            </a:r>
            <a:endParaRPr sz="3000">
              <a:latin typeface="Calibri"/>
              <a:cs typeface="Calibri"/>
            </a:endParaRPr>
          </a:p>
        </p:txBody>
      </p:sp>
      <p:sp>
        <p:nvSpPr>
          <p:cNvPr id="5" name="object 5"/>
          <p:cNvSpPr txBox="1"/>
          <p:nvPr/>
        </p:nvSpPr>
        <p:spPr>
          <a:xfrm>
            <a:off x="5691936" y="2573401"/>
            <a:ext cx="408435" cy="406400"/>
          </a:xfrm>
          <a:prstGeom prst="rect">
            <a:avLst/>
          </a:prstGeom>
        </p:spPr>
        <p:txBody>
          <a:bodyPr wrap="square" lIns="0" tIns="19685" rIns="0" bIns="0" rtlCol="0">
            <a:noAutofit/>
          </a:bodyPr>
          <a:lstStyle/>
          <a:p>
            <a:pPr marL="12700">
              <a:lnSpc>
                <a:spcPts val="3100"/>
              </a:lnSpc>
            </a:pPr>
            <a:r>
              <a:rPr sz="3000" spc="-9" dirty="0" smtClean="0">
                <a:latin typeface="Calibri"/>
                <a:cs typeface="Calibri"/>
              </a:rPr>
              <a:t>to</a:t>
            </a:r>
            <a:endParaRPr sz="3000">
              <a:latin typeface="Calibri"/>
              <a:cs typeface="Calibri"/>
            </a:endParaRPr>
          </a:p>
        </p:txBody>
      </p:sp>
      <p:sp>
        <p:nvSpPr>
          <p:cNvPr id="4" name="object 4"/>
          <p:cNvSpPr txBox="1"/>
          <p:nvPr/>
        </p:nvSpPr>
        <p:spPr>
          <a:xfrm>
            <a:off x="6103797" y="2573401"/>
            <a:ext cx="599913" cy="406400"/>
          </a:xfrm>
          <a:prstGeom prst="rect">
            <a:avLst/>
          </a:prstGeom>
        </p:spPr>
        <p:txBody>
          <a:bodyPr wrap="square" lIns="0" tIns="19685" rIns="0" bIns="0" rtlCol="0">
            <a:noAutofit/>
          </a:bodyPr>
          <a:lstStyle/>
          <a:p>
            <a:pPr marL="12700">
              <a:lnSpc>
                <a:spcPts val="3100"/>
              </a:lnSpc>
            </a:pPr>
            <a:r>
              <a:rPr sz="3000" dirty="0" smtClean="0">
                <a:latin typeface="Calibri"/>
                <a:cs typeface="Calibri"/>
              </a:rPr>
              <a:t>the</a:t>
            </a:r>
            <a:endParaRPr sz="3000">
              <a:latin typeface="Calibri"/>
              <a:cs typeface="Calibri"/>
            </a:endParaRPr>
          </a:p>
        </p:txBody>
      </p:sp>
      <p:sp>
        <p:nvSpPr>
          <p:cNvPr id="3" name="object 3"/>
          <p:cNvSpPr txBox="1"/>
          <p:nvPr/>
        </p:nvSpPr>
        <p:spPr>
          <a:xfrm>
            <a:off x="6703872" y="2573401"/>
            <a:ext cx="755352" cy="406400"/>
          </a:xfrm>
          <a:prstGeom prst="rect">
            <a:avLst/>
          </a:prstGeom>
        </p:spPr>
        <p:txBody>
          <a:bodyPr wrap="square" lIns="0" tIns="19685" rIns="0" bIns="0" rtlCol="0">
            <a:noAutofit/>
          </a:bodyPr>
          <a:lstStyle/>
          <a:p>
            <a:pPr marL="12700">
              <a:lnSpc>
                <a:spcPts val="3100"/>
              </a:lnSpc>
            </a:pPr>
            <a:r>
              <a:rPr sz="3000" spc="-1" dirty="0" smtClean="0">
                <a:latin typeface="Calibri"/>
                <a:cs typeface="Calibri"/>
              </a:rPr>
              <a:t>final</a:t>
            </a:r>
            <a:endParaRPr sz="3000">
              <a:latin typeface="Calibri"/>
              <a:cs typeface="Calibri"/>
            </a:endParaRPr>
          </a:p>
        </p:txBody>
      </p:sp>
      <p:sp>
        <p:nvSpPr>
          <p:cNvPr id="2" name="object 2"/>
          <p:cNvSpPr txBox="1"/>
          <p:nvPr/>
        </p:nvSpPr>
        <p:spPr>
          <a:xfrm>
            <a:off x="905850" y="3508945"/>
            <a:ext cx="4783885" cy="2441495"/>
          </a:xfrm>
          <a:prstGeom prst="rect">
            <a:avLst/>
          </a:prstGeom>
        </p:spPr>
        <p:txBody>
          <a:bodyPr wrap="square" lIns="0" tIns="20828" rIns="0" bIns="0" rtlCol="0">
            <a:noAutofit/>
          </a:bodyPr>
          <a:lstStyle/>
          <a:p>
            <a:pPr marL="12700" marR="60575">
              <a:lnSpc>
                <a:spcPts val="3279"/>
              </a:lnSpc>
            </a:pPr>
            <a:r>
              <a:rPr sz="3000" dirty="0" smtClean="0">
                <a:latin typeface="Wingdings"/>
                <a:cs typeface="Wingdings"/>
              </a:rPr>
              <a:t></a:t>
            </a:r>
            <a:r>
              <a:rPr sz="3000" spc="-404" dirty="0" smtClean="0">
                <a:latin typeface="Times New Roman"/>
                <a:cs typeface="Times New Roman"/>
              </a:rPr>
              <a:t> </a:t>
            </a:r>
            <a:r>
              <a:rPr sz="3000" spc="-7" dirty="0" smtClean="0">
                <a:latin typeface="Calibri"/>
                <a:cs typeface="Calibri"/>
              </a:rPr>
              <a:t>Reliability</a:t>
            </a:r>
            <a:endParaRPr sz="3000" dirty="0">
              <a:latin typeface="Calibri"/>
              <a:cs typeface="Calibri"/>
            </a:endParaRPr>
          </a:p>
          <a:p>
            <a:pPr marL="12700" marR="60575">
              <a:lnSpc>
                <a:spcPct val="101725"/>
              </a:lnSpc>
              <a:spcBef>
                <a:spcPts val="131"/>
              </a:spcBef>
            </a:pPr>
            <a:r>
              <a:rPr sz="3000" dirty="0" smtClean="0">
                <a:latin typeface="Wingdings"/>
                <a:cs typeface="Wingdings"/>
              </a:rPr>
              <a:t></a:t>
            </a:r>
            <a:r>
              <a:rPr sz="3000" spc="-404" dirty="0" smtClean="0">
                <a:latin typeface="Times New Roman"/>
                <a:cs typeface="Times New Roman"/>
              </a:rPr>
              <a:t> </a:t>
            </a:r>
            <a:r>
              <a:rPr sz="3000" spc="-9" dirty="0" smtClean="0">
                <a:latin typeface="Calibri"/>
                <a:cs typeface="Calibri"/>
              </a:rPr>
              <a:t>Availability</a:t>
            </a:r>
            <a:endParaRPr sz="3000" dirty="0">
              <a:latin typeface="Calibri"/>
              <a:cs typeface="Calibri"/>
            </a:endParaRPr>
          </a:p>
          <a:p>
            <a:pPr marL="12700">
              <a:lnSpc>
                <a:spcPct val="101725"/>
              </a:lnSpc>
              <a:spcBef>
                <a:spcPts val="295"/>
              </a:spcBef>
            </a:pPr>
            <a:r>
              <a:rPr sz="3000" dirty="0" smtClean="0">
                <a:latin typeface="Wingdings"/>
                <a:cs typeface="Wingdings"/>
              </a:rPr>
              <a:t></a:t>
            </a:r>
            <a:r>
              <a:rPr sz="3000" spc="-404" dirty="0" smtClean="0">
                <a:latin typeface="Times New Roman"/>
                <a:cs typeface="Times New Roman"/>
              </a:rPr>
              <a:t> </a:t>
            </a:r>
            <a:r>
              <a:rPr sz="3000" spc="-7" dirty="0" smtClean="0">
                <a:latin typeface="Calibri"/>
                <a:cs typeface="Calibri"/>
              </a:rPr>
              <a:t>Mean time between failures</a:t>
            </a:r>
            <a:endParaRPr sz="3000" dirty="0">
              <a:latin typeface="Calibri"/>
              <a:cs typeface="Calibri"/>
            </a:endParaRPr>
          </a:p>
          <a:p>
            <a:pPr marL="12700" marR="60575">
              <a:lnSpc>
                <a:spcPct val="101725"/>
              </a:lnSpc>
              <a:spcBef>
                <a:spcPts val="300"/>
              </a:spcBef>
            </a:pPr>
            <a:r>
              <a:rPr sz="3000" dirty="0" smtClean="0">
                <a:latin typeface="Wingdings"/>
                <a:cs typeface="Wingdings"/>
              </a:rPr>
              <a:t></a:t>
            </a:r>
            <a:r>
              <a:rPr sz="3000" spc="-404" dirty="0" smtClean="0">
                <a:latin typeface="Times New Roman"/>
                <a:cs typeface="Times New Roman"/>
              </a:rPr>
              <a:t> </a:t>
            </a:r>
            <a:r>
              <a:rPr sz="3000" spc="-8" dirty="0" smtClean="0">
                <a:latin typeface="Calibri"/>
                <a:cs typeface="Calibri"/>
              </a:rPr>
              <a:t>Failure on demands</a:t>
            </a:r>
            <a:endParaRPr sz="3000" dirty="0">
              <a:latin typeface="Calibri"/>
              <a:cs typeface="Calibri"/>
            </a:endParaRPr>
          </a:p>
          <a:p>
            <a:pPr marL="12700" marR="60575">
              <a:lnSpc>
                <a:spcPct val="101725"/>
              </a:lnSpc>
              <a:spcBef>
                <a:spcPts val="295"/>
              </a:spcBef>
            </a:pPr>
            <a:r>
              <a:rPr sz="3000" dirty="0" smtClean="0">
                <a:latin typeface="Wingdings"/>
                <a:cs typeface="Wingdings"/>
              </a:rPr>
              <a:t></a:t>
            </a:r>
            <a:r>
              <a:rPr sz="3000" spc="-404" dirty="0" smtClean="0">
                <a:latin typeface="Times New Roman"/>
                <a:cs typeface="Times New Roman"/>
              </a:rPr>
              <a:t> </a:t>
            </a:r>
            <a:r>
              <a:rPr sz="3000" spc="0" dirty="0" smtClean="0">
                <a:latin typeface="Calibri"/>
                <a:cs typeface="Calibri"/>
              </a:rPr>
              <a:t>Support activity</a:t>
            </a:r>
            <a:endParaRPr sz="3000" dirty="0">
              <a:latin typeface="Calibri"/>
              <a:cs typeface="Calibri"/>
            </a:endParaRPr>
          </a:p>
        </p:txBody>
      </p:sp>
      <p:sp>
        <p:nvSpPr>
          <p:cNvPr id="11" name="Rectangle 10"/>
          <p:cNvSpPr/>
          <p:nvPr/>
        </p:nvSpPr>
        <p:spPr>
          <a:xfrm>
            <a:off x="76200" y="465045"/>
            <a:ext cx="8915400" cy="618118"/>
          </a:xfrm>
          <a:prstGeom prst="rect">
            <a:avLst/>
          </a:prstGeom>
        </p:spPr>
        <p:txBody>
          <a:bodyPr wrap="square">
            <a:spAutoFit/>
          </a:bodyPr>
          <a:lstStyle/>
          <a:p>
            <a:pPr marL="284088" marR="171398" algn="ctr">
              <a:lnSpc>
                <a:spcPts val="4100"/>
              </a:lnSpc>
            </a:pPr>
            <a:r>
              <a:rPr lang="en-US" sz="3600" b="1" spc="-15" dirty="0">
                <a:cs typeface="Calibri"/>
              </a:rPr>
              <a:t>PRACTICAL SOFTWARE QUALITY</a:t>
            </a:r>
            <a:r>
              <a:rPr lang="en-US" sz="3600" dirty="0">
                <a:cs typeface="Calibri"/>
              </a:rPr>
              <a:t> </a:t>
            </a:r>
            <a:r>
              <a:rPr lang="en-US" sz="3600" b="1" spc="-17" dirty="0">
                <a:cs typeface="Calibri"/>
              </a:rPr>
              <a:t>MEASURES</a:t>
            </a:r>
            <a:endParaRPr lang="en-US" sz="3600" dirty="0">
              <a:cs typeface="Calibri"/>
            </a:endParaRPr>
          </a:p>
        </p:txBody>
      </p:sp>
      <p:sp>
        <p:nvSpPr>
          <p:cNvPr id="13" name="Slide Number Placeholder 12"/>
          <p:cNvSpPr>
            <a:spLocks noGrp="1"/>
          </p:cNvSpPr>
          <p:nvPr>
            <p:ph type="sldNum" sz="quarter" idx="12"/>
          </p:nvPr>
        </p:nvSpPr>
        <p:spPr/>
        <p:txBody>
          <a:bodyPr/>
          <a:lstStyle/>
          <a:p>
            <a:fld id="{E5CE4F79-B2B3-4E4E-AB5D-F771515B9CEF}" type="slidenum">
              <a:rPr lang="en-US" smtClean="0"/>
              <a:t>48</a:t>
            </a:fld>
            <a:endParaRPr lang="en-US" dirty="0"/>
          </a:p>
        </p:txBody>
      </p:sp>
    </p:spTree>
    <p:extLst>
      <p:ext uri="{BB962C8B-B14F-4D97-AF65-F5344CB8AC3E}">
        <p14:creationId xmlns:p14="http://schemas.microsoft.com/office/powerpoint/2010/main" val="6002092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0" y="358573"/>
            <a:ext cx="8638203" cy="731509"/>
          </a:xfrm>
          <a:prstGeom prst="rect">
            <a:avLst/>
          </a:prstGeom>
        </p:spPr>
        <p:txBody>
          <a:bodyPr wrap="square" lIns="0" tIns="26035" rIns="0" bIns="0" rtlCol="0">
            <a:noAutofit/>
          </a:bodyPr>
          <a:lstStyle/>
          <a:p>
            <a:pPr marL="627293">
              <a:lnSpc>
                <a:spcPts val="4100"/>
              </a:lnSpc>
            </a:pPr>
            <a:r>
              <a:rPr sz="3400" b="1" spc="-15" dirty="0" smtClean="0">
                <a:latin typeface="Calibri"/>
                <a:cs typeface="Calibri"/>
              </a:rPr>
              <a:t>PRACTICAL SOFTWARE QUALITY</a:t>
            </a:r>
            <a:r>
              <a:rPr lang="en-US" sz="3400" dirty="0">
                <a:latin typeface="Calibri"/>
                <a:cs typeface="Calibri"/>
              </a:rPr>
              <a:t> </a:t>
            </a:r>
            <a:r>
              <a:rPr sz="3400" b="1" spc="-11" dirty="0" smtClean="0">
                <a:latin typeface="Calibri"/>
                <a:cs typeface="Calibri"/>
              </a:rPr>
              <a:t>MEASURES</a:t>
            </a:r>
            <a:endParaRPr lang="en-US" sz="3400" b="1" spc="-11" dirty="0" smtClean="0">
              <a:latin typeface="Calibri"/>
              <a:cs typeface="Calibri"/>
            </a:endParaRPr>
          </a:p>
        </p:txBody>
      </p:sp>
      <p:sp>
        <p:nvSpPr>
          <p:cNvPr id="7" name="object 7"/>
          <p:cNvSpPr txBox="1"/>
          <p:nvPr/>
        </p:nvSpPr>
        <p:spPr>
          <a:xfrm>
            <a:off x="535940" y="1913897"/>
            <a:ext cx="216052" cy="406704"/>
          </a:xfrm>
          <a:prstGeom prst="rect">
            <a:avLst/>
          </a:prstGeom>
        </p:spPr>
        <p:txBody>
          <a:bodyPr wrap="square" lIns="0" tIns="20129" rIns="0" bIns="0" rtlCol="0">
            <a:noAutofit/>
          </a:bodyPr>
          <a:lstStyle/>
          <a:p>
            <a:pPr marL="12700">
              <a:lnSpc>
                <a:spcPts val="3170"/>
              </a:lnSpc>
            </a:pPr>
            <a:r>
              <a:rPr sz="3000" dirty="0" smtClean="0">
                <a:latin typeface="Arial"/>
                <a:cs typeface="Arial"/>
              </a:rPr>
              <a:t>•</a:t>
            </a:r>
            <a:endParaRPr sz="3000" dirty="0">
              <a:latin typeface="Arial"/>
              <a:cs typeface="Arial"/>
            </a:endParaRPr>
          </a:p>
        </p:txBody>
      </p:sp>
      <p:sp>
        <p:nvSpPr>
          <p:cNvPr id="6" name="object 6"/>
          <p:cNvSpPr txBox="1"/>
          <p:nvPr/>
        </p:nvSpPr>
        <p:spPr>
          <a:xfrm>
            <a:off x="859864" y="1696238"/>
            <a:ext cx="7549115" cy="1961362"/>
          </a:xfrm>
          <a:prstGeom prst="rect">
            <a:avLst/>
          </a:prstGeom>
        </p:spPr>
        <p:txBody>
          <a:bodyPr wrap="square" lIns="0" tIns="7620" rIns="0" bIns="0" rtlCol="0">
            <a:noAutofit/>
          </a:bodyPr>
          <a:lstStyle/>
          <a:p>
            <a:pPr marL="12700" marR="255704" algn="just">
              <a:lnSpc>
                <a:spcPts val="3662"/>
              </a:lnSpc>
            </a:pPr>
            <a:r>
              <a:rPr sz="3000" spc="-6" dirty="0" smtClean="0">
                <a:latin typeface="Calibri"/>
                <a:cs typeface="Calibri"/>
              </a:rPr>
              <a:t>A key component of this is changeability which </a:t>
            </a:r>
            <a:endParaRPr sz="3000" dirty="0">
              <a:latin typeface="Calibri"/>
              <a:cs typeface="Calibri"/>
            </a:endParaRPr>
          </a:p>
          <a:p>
            <a:pPr marL="12700" marR="255704" algn="just">
              <a:lnSpc>
                <a:spcPts val="3662"/>
              </a:lnSpc>
            </a:pPr>
            <a:r>
              <a:rPr sz="3000" spc="-6" dirty="0" smtClean="0">
                <a:latin typeface="Calibri"/>
                <a:cs typeface="Calibri"/>
              </a:rPr>
              <a:t>relates to the ease with which software can be </a:t>
            </a:r>
            <a:endParaRPr sz="3000" dirty="0">
              <a:latin typeface="Calibri"/>
              <a:cs typeface="Calibri"/>
            </a:endParaRPr>
          </a:p>
          <a:p>
            <a:pPr marL="12700" marR="255704" algn="just">
              <a:lnSpc>
                <a:spcPts val="3662"/>
              </a:lnSpc>
            </a:pPr>
            <a:r>
              <a:rPr sz="3000" spc="-1" dirty="0" smtClean="0">
                <a:latin typeface="Calibri"/>
                <a:cs typeface="Calibri"/>
              </a:rPr>
              <a:t>modified</a:t>
            </a:r>
            <a:endParaRPr sz="3000" dirty="0">
              <a:latin typeface="Calibri"/>
              <a:cs typeface="Calibri"/>
            </a:endParaRPr>
          </a:p>
          <a:p>
            <a:pPr marL="12700">
              <a:lnSpc>
                <a:spcPts val="3662"/>
              </a:lnSpc>
            </a:pPr>
            <a:r>
              <a:rPr sz="3000" dirty="0" smtClean="0">
                <a:latin typeface="Calibri"/>
                <a:cs typeface="Calibri"/>
              </a:rPr>
              <a:t>Mai</a:t>
            </a:r>
            <a:r>
              <a:rPr sz="3000" spc="-25" dirty="0" smtClean="0">
                <a:latin typeface="Calibri"/>
                <a:cs typeface="Calibri"/>
              </a:rPr>
              <a:t>n</a:t>
            </a:r>
            <a:r>
              <a:rPr sz="3000" spc="-34" dirty="0" smtClean="0">
                <a:latin typeface="Calibri"/>
                <a:cs typeface="Calibri"/>
              </a:rPr>
              <a:t>t</a:t>
            </a:r>
            <a:r>
              <a:rPr sz="3000" spc="0" dirty="0" smtClean="0">
                <a:latin typeface="Calibri"/>
                <a:cs typeface="Calibri"/>
              </a:rPr>
              <a:t>ainab</a:t>
            </a:r>
            <a:r>
              <a:rPr sz="3000" spc="-9" dirty="0" smtClean="0">
                <a:latin typeface="Calibri"/>
                <a:cs typeface="Calibri"/>
              </a:rPr>
              <a:t>i</a:t>
            </a:r>
            <a:r>
              <a:rPr sz="3000" spc="0" dirty="0" smtClean="0">
                <a:latin typeface="Calibri"/>
                <a:cs typeface="Calibri"/>
              </a:rPr>
              <a:t>l</a:t>
            </a:r>
            <a:r>
              <a:rPr sz="3000" spc="-9" dirty="0" smtClean="0">
                <a:latin typeface="Calibri"/>
                <a:cs typeface="Calibri"/>
              </a:rPr>
              <a:t>i</a:t>
            </a:r>
            <a:r>
              <a:rPr sz="3000" spc="0" dirty="0" smtClean="0">
                <a:latin typeface="Calibri"/>
                <a:cs typeface="Calibri"/>
              </a:rPr>
              <a:t>ty </a:t>
            </a:r>
            <a:r>
              <a:rPr sz="3000" spc="-9" dirty="0" smtClean="0">
                <a:latin typeface="Calibri"/>
                <a:cs typeface="Calibri"/>
              </a:rPr>
              <a:t>i</a:t>
            </a:r>
            <a:r>
              <a:rPr sz="3000" spc="0" dirty="0" smtClean="0">
                <a:latin typeface="Calibri"/>
                <a:cs typeface="Calibri"/>
              </a:rPr>
              <a:t>s chan</a:t>
            </a:r>
            <a:r>
              <a:rPr sz="3000" spc="-19" dirty="0" smtClean="0">
                <a:latin typeface="Calibri"/>
                <a:cs typeface="Calibri"/>
              </a:rPr>
              <a:t>g</a:t>
            </a:r>
            <a:r>
              <a:rPr sz="3000" spc="0" dirty="0" smtClean="0">
                <a:latin typeface="Calibri"/>
                <a:cs typeface="Calibri"/>
              </a:rPr>
              <a:t>eab</a:t>
            </a:r>
            <a:r>
              <a:rPr sz="3000" spc="-9" dirty="0" smtClean="0">
                <a:latin typeface="Calibri"/>
                <a:cs typeface="Calibri"/>
              </a:rPr>
              <a:t>i</a:t>
            </a:r>
            <a:r>
              <a:rPr sz="3000" spc="0" dirty="0" smtClean="0">
                <a:latin typeface="Calibri"/>
                <a:cs typeface="Calibri"/>
              </a:rPr>
              <a:t>l</a:t>
            </a:r>
            <a:r>
              <a:rPr sz="3000" spc="-9" dirty="0" smtClean="0">
                <a:latin typeface="Calibri"/>
                <a:cs typeface="Calibri"/>
              </a:rPr>
              <a:t>i</a:t>
            </a:r>
            <a:r>
              <a:rPr sz="3000" spc="0" dirty="0" smtClean="0">
                <a:latin typeface="Calibri"/>
                <a:cs typeface="Calibri"/>
              </a:rPr>
              <a:t>ty p</a:t>
            </a:r>
            <a:r>
              <a:rPr sz="3000" spc="-14" dirty="0" smtClean="0">
                <a:latin typeface="Calibri"/>
                <a:cs typeface="Calibri"/>
              </a:rPr>
              <a:t>l</a:t>
            </a:r>
            <a:r>
              <a:rPr sz="3000" spc="0" dirty="0" smtClean="0">
                <a:latin typeface="Calibri"/>
                <a:cs typeface="Calibri"/>
              </a:rPr>
              <a:t>us n</a:t>
            </a:r>
            <a:r>
              <a:rPr sz="3000" spc="-14" dirty="0" smtClean="0">
                <a:latin typeface="Calibri"/>
                <a:cs typeface="Calibri"/>
              </a:rPr>
              <a:t>e</a:t>
            </a:r>
            <a:r>
              <a:rPr sz="3000" spc="0" dirty="0" smtClean="0">
                <a:latin typeface="Calibri"/>
                <a:cs typeface="Calibri"/>
              </a:rPr>
              <a:t>w qua</a:t>
            </a:r>
            <a:r>
              <a:rPr sz="3000" spc="-14" dirty="0" smtClean="0">
                <a:latin typeface="Calibri"/>
                <a:cs typeface="Calibri"/>
              </a:rPr>
              <a:t>l</a:t>
            </a:r>
            <a:r>
              <a:rPr sz="3000" spc="0" dirty="0" smtClean="0">
                <a:latin typeface="Calibri"/>
                <a:cs typeface="Calibri"/>
              </a:rPr>
              <a:t>it</a:t>
            </a:r>
            <a:r>
              <a:rPr sz="3000" spc="-219" dirty="0" smtClean="0">
                <a:latin typeface="Calibri"/>
                <a:cs typeface="Calibri"/>
              </a:rPr>
              <a:t>y</a:t>
            </a:r>
            <a:r>
              <a:rPr sz="3000" spc="0" dirty="0" smtClean="0">
                <a:latin typeface="Calibri"/>
                <a:cs typeface="Calibri"/>
              </a:rPr>
              <a:t>, </a:t>
            </a:r>
            <a:endParaRPr sz="3000" dirty="0">
              <a:latin typeface="Calibri"/>
              <a:cs typeface="Calibri"/>
            </a:endParaRPr>
          </a:p>
          <a:p>
            <a:pPr marL="12700">
              <a:lnSpc>
                <a:spcPts val="3662"/>
              </a:lnSpc>
            </a:pPr>
            <a:r>
              <a:rPr sz="3000" spc="-6" dirty="0" smtClean="0">
                <a:latin typeface="Calibri"/>
                <a:cs typeface="Calibri"/>
              </a:rPr>
              <a:t>analyzability</a:t>
            </a:r>
            <a:endParaRPr sz="3000" dirty="0">
              <a:latin typeface="Calibri"/>
              <a:cs typeface="Calibri"/>
            </a:endParaRPr>
          </a:p>
        </p:txBody>
      </p:sp>
      <p:sp>
        <p:nvSpPr>
          <p:cNvPr id="5" name="object 5"/>
          <p:cNvSpPr txBox="1"/>
          <p:nvPr/>
        </p:nvSpPr>
        <p:spPr>
          <a:xfrm>
            <a:off x="535940" y="3102864"/>
            <a:ext cx="215899" cy="406399"/>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a:latin typeface="Arial"/>
              <a:cs typeface="Arial"/>
            </a:endParaRPr>
          </a:p>
        </p:txBody>
      </p:sp>
      <p:sp>
        <p:nvSpPr>
          <p:cNvPr id="4" name="object 4"/>
          <p:cNvSpPr txBox="1"/>
          <p:nvPr/>
        </p:nvSpPr>
        <p:spPr>
          <a:xfrm>
            <a:off x="535940" y="4191000"/>
            <a:ext cx="1993111" cy="406400"/>
          </a:xfrm>
          <a:prstGeom prst="rect">
            <a:avLst/>
          </a:prstGeom>
        </p:spPr>
        <p:txBody>
          <a:bodyPr wrap="square" lIns="0" tIns="19685" rIns="0" bIns="0" rtlCol="0">
            <a:noAutofit/>
          </a:bodyPr>
          <a:lstStyle/>
          <a:p>
            <a:pPr marL="12700">
              <a:lnSpc>
                <a:spcPts val="3100"/>
              </a:lnSpc>
            </a:pPr>
            <a:r>
              <a:rPr sz="3000" b="1" spc="-5" dirty="0" smtClean="0">
                <a:latin typeface="Calibri"/>
                <a:cs typeface="Calibri"/>
              </a:rPr>
              <a:t>Extendibility</a:t>
            </a:r>
            <a:endParaRPr sz="3000" b="1" dirty="0">
              <a:latin typeface="Calibri"/>
              <a:cs typeface="Calibri"/>
            </a:endParaRPr>
          </a:p>
        </p:txBody>
      </p:sp>
      <p:sp>
        <p:nvSpPr>
          <p:cNvPr id="3" name="object 3"/>
          <p:cNvSpPr txBox="1"/>
          <p:nvPr/>
        </p:nvSpPr>
        <p:spPr>
          <a:xfrm>
            <a:off x="535940" y="4525779"/>
            <a:ext cx="215900" cy="406400"/>
          </a:xfrm>
          <a:prstGeom prst="rect">
            <a:avLst/>
          </a:prstGeom>
        </p:spPr>
        <p:txBody>
          <a:bodyPr wrap="square" lIns="0" tIns="20097" rIns="0" bIns="0" rtlCol="0">
            <a:noAutofit/>
          </a:bodyPr>
          <a:lstStyle/>
          <a:p>
            <a:pPr marL="12700">
              <a:lnSpc>
                <a:spcPts val="3165"/>
              </a:lnSpc>
            </a:pPr>
            <a:r>
              <a:rPr sz="3000" dirty="0" smtClean="0">
                <a:latin typeface="Arial"/>
                <a:cs typeface="Arial"/>
              </a:rPr>
              <a:t>•</a:t>
            </a:r>
            <a:endParaRPr sz="3000">
              <a:latin typeface="Arial"/>
              <a:cs typeface="Arial"/>
            </a:endParaRPr>
          </a:p>
        </p:txBody>
      </p:sp>
      <p:sp>
        <p:nvSpPr>
          <p:cNvPr id="2" name="object 2"/>
          <p:cNvSpPr txBox="1"/>
          <p:nvPr/>
        </p:nvSpPr>
        <p:spPr>
          <a:xfrm>
            <a:off x="879144" y="4548758"/>
            <a:ext cx="7759059" cy="1138301"/>
          </a:xfrm>
          <a:prstGeom prst="rect">
            <a:avLst/>
          </a:prstGeom>
        </p:spPr>
        <p:txBody>
          <a:bodyPr wrap="square" lIns="0" tIns="6985" rIns="0" bIns="0" rtlCol="0">
            <a:noAutofit/>
          </a:bodyPr>
          <a:lstStyle/>
          <a:p>
            <a:pPr marL="12700" indent="85343">
              <a:lnSpc>
                <a:spcPts val="3662"/>
              </a:lnSpc>
            </a:pPr>
            <a:r>
              <a:rPr sz="3000" dirty="0" smtClean="0">
                <a:latin typeface="Calibri"/>
                <a:cs typeface="Calibri"/>
              </a:rPr>
              <a:t>it</a:t>
            </a:r>
            <a:r>
              <a:rPr sz="3000" spc="-4" dirty="0" smtClean="0">
                <a:latin typeface="Calibri"/>
                <a:cs typeface="Calibri"/>
              </a:rPr>
              <a:t> </a:t>
            </a:r>
            <a:r>
              <a:rPr sz="3000" spc="0" dirty="0" smtClean="0">
                <a:latin typeface="Calibri"/>
                <a:cs typeface="Calibri"/>
              </a:rPr>
              <a:t>has t</a:t>
            </a:r>
            <a:r>
              <a:rPr sz="3000" spc="-19" dirty="0" smtClean="0">
                <a:latin typeface="Calibri"/>
                <a:cs typeface="Calibri"/>
              </a:rPr>
              <a:t>w</a:t>
            </a:r>
            <a:r>
              <a:rPr sz="3000" spc="0" dirty="0" smtClean="0">
                <a:latin typeface="Calibri"/>
                <a:cs typeface="Calibri"/>
              </a:rPr>
              <a:t>o aspects</a:t>
            </a:r>
            <a:r>
              <a:rPr sz="3000" spc="-14" dirty="0" smtClean="0">
                <a:latin typeface="Calibri"/>
                <a:cs typeface="Calibri"/>
              </a:rPr>
              <a:t> </a:t>
            </a:r>
            <a:r>
              <a:rPr sz="3000" spc="0" dirty="0" smtClean="0">
                <a:latin typeface="Calibri"/>
                <a:cs typeface="Calibri"/>
              </a:rPr>
              <a:t>one</a:t>
            </a:r>
            <a:r>
              <a:rPr sz="3000" spc="-14" dirty="0" smtClean="0">
                <a:latin typeface="Calibri"/>
                <a:cs typeface="Calibri"/>
              </a:rPr>
              <a:t> </a:t>
            </a:r>
            <a:r>
              <a:rPr sz="3000" spc="0" dirty="0" smtClean="0">
                <a:latin typeface="Calibri"/>
                <a:cs typeface="Calibri"/>
              </a:rPr>
              <a:t>is ease w</a:t>
            </a:r>
            <a:r>
              <a:rPr sz="3000" spc="-9" dirty="0" smtClean="0">
                <a:latin typeface="Calibri"/>
                <a:cs typeface="Calibri"/>
              </a:rPr>
              <a:t>i</a:t>
            </a:r>
            <a:r>
              <a:rPr sz="3000" spc="0" dirty="0" smtClean="0">
                <a:latin typeface="Calibri"/>
                <a:cs typeface="Calibri"/>
              </a:rPr>
              <a:t>th wh</a:t>
            </a:r>
            <a:r>
              <a:rPr sz="3000" spc="-9" dirty="0" smtClean="0">
                <a:latin typeface="Calibri"/>
                <a:cs typeface="Calibri"/>
              </a:rPr>
              <a:t>i</a:t>
            </a:r>
            <a:r>
              <a:rPr sz="3000" spc="0" dirty="0" smtClean="0">
                <a:latin typeface="Calibri"/>
                <a:cs typeface="Calibri"/>
              </a:rPr>
              <a:t>ch </a:t>
            </a:r>
            <a:r>
              <a:rPr sz="3000" spc="-59" dirty="0" smtClean="0">
                <a:latin typeface="Calibri"/>
                <a:cs typeface="Calibri"/>
              </a:rPr>
              <a:t>e</a:t>
            </a:r>
            <a:r>
              <a:rPr sz="3000" spc="0" dirty="0" smtClean="0">
                <a:latin typeface="Calibri"/>
                <a:cs typeface="Calibri"/>
              </a:rPr>
              <a:t>xi</a:t>
            </a:r>
            <a:r>
              <a:rPr sz="3000" spc="-39" dirty="0" smtClean="0">
                <a:latin typeface="Calibri"/>
                <a:cs typeface="Calibri"/>
              </a:rPr>
              <a:t>s</a:t>
            </a:r>
            <a:r>
              <a:rPr sz="3000" spc="0" dirty="0" smtClean="0">
                <a:latin typeface="Calibri"/>
                <a:cs typeface="Calibri"/>
              </a:rPr>
              <a:t>ting </a:t>
            </a:r>
            <a:endParaRPr sz="3000" dirty="0">
              <a:latin typeface="Calibri"/>
              <a:cs typeface="Calibri"/>
            </a:endParaRPr>
          </a:p>
          <a:p>
            <a:pPr marL="12700">
              <a:lnSpc>
                <a:spcPts val="3662"/>
              </a:lnSpc>
            </a:pPr>
            <a:r>
              <a:rPr sz="3000" spc="-4" dirty="0" smtClean="0">
                <a:latin typeface="Calibri"/>
                <a:cs typeface="Calibri"/>
              </a:rPr>
              <a:t>code can be changed while another could be the </a:t>
            </a:r>
            <a:endParaRPr sz="3000" dirty="0">
              <a:latin typeface="Calibri"/>
              <a:cs typeface="Calibri"/>
            </a:endParaRPr>
          </a:p>
          <a:p>
            <a:pPr marL="12700">
              <a:lnSpc>
                <a:spcPts val="3662"/>
              </a:lnSpc>
            </a:pPr>
            <a:r>
              <a:rPr sz="3000" spc="-2" dirty="0" smtClean="0">
                <a:latin typeface="Calibri"/>
                <a:cs typeface="Calibri"/>
              </a:rPr>
              <a:t>ease with which new functionality can be added</a:t>
            </a:r>
            <a:endParaRPr sz="3000" dirty="0">
              <a:latin typeface="Calibri"/>
              <a:cs typeface="Calibri"/>
            </a:endParaRPr>
          </a:p>
        </p:txBody>
      </p:sp>
      <p:sp>
        <p:nvSpPr>
          <p:cNvPr id="12" name="object 4"/>
          <p:cNvSpPr txBox="1"/>
          <p:nvPr/>
        </p:nvSpPr>
        <p:spPr>
          <a:xfrm>
            <a:off x="451245" y="1272984"/>
            <a:ext cx="2640607" cy="382852"/>
          </a:xfrm>
          <a:prstGeom prst="rect">
            <a:avLst/>
          </a:prstGeom>
        </p:spPr>
        <p:txBody>
          <a:bodyPr wrap="square" lIns="0" tIns="19685" rIns="0" bIns="0" rtlCol="0">
            <a:noAutofit/>
          </a:bodyPr>
          <a:lstStyle/>
          <a:p>
            <a:pPr marL="12700">
              <a:lnSpc>
                <a:spcPts val="3100"/>
              </a:lnSpc>
            </a:pPr>
            <a:r>
              <a:rPr lang="en-US" sz="3000" b="1" spc="-5" dirty="0">
                <a:cs typeface="Calibri"/>
              </a:rPr>
              <a:t>Maintainability</a:t>
            </a:r>
          </a:p>
          <a:p>
            <a:pPr marL="12700">
              <a:lnSpc>
                <a:spcPts val="3100"/>
              </a:lnSpc>
            </a:pPr>
            <a:endParaRPr sz="3000" dirty="0">
              <a:latin typeface="Calibri"/>
              <a:cs typeface="Calibri"/>
            </a:endParaRPr>
          </a:p>
        </p:txBody>
      </p:sp>
      <p:sp>
        <p:nvSpPr>
          <p:cNvPr id="9" name="Slide Number Placeholder 8"/>
          <p:cNvSpPr>
            <a:spLocks noGrp="1"/>
          </p:cNvSpPr>
          <p:nvPr>
            <p:ph type="sldNum" sz="quarter" idx="12"/>
          </p:nvPr>
        </p:nvSpPr>
        <p:spPr/>
        <p:txBody>
          <a:bodyPr/>
          <a:lstStyle/>
          <a:p>
            <a:fld id="{E5CE4F79-B2B3-4E4E-AB5D-F771515B9CEF}" type="slidenum">
              <a:rPr lang="en-US" smtClean="0"/>
              <a:t>49</a:t>
            </a:fld>
            <a:endParaRPr lang="en-US" dirty="0"/>
          </a:p>
        </p:txBody>
      </p:sp>
    </p:spTree>
    <p:extLst>
      <p:ext uri="{BB962C8B-B14F-4D97-AF65-F5344CB8AC3E}">
        <p14:creationId xmlns:p14="http://schemas.microsoft.com/office/powerpoint/2010/main" val="13209326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672185" y="318795"/>
            <a:ext cx="7840422" cy="1129005"/>
          </a:xfrm>
          <a:prstGeom prst="rect">
            <a:avLst/>
          </a:prstGeom>
        </p:spPr>
        <p:txBody>
          <a:bodyPr wrap="square" lIns="0" tIns="26035" rIns="0" bIns="0" rtlCol="0">
            <a:noAutofit/>
          </a:bodyPr>
          <a:lstStyle/>
          <a:p>
            <a:pPr algn="ctr">
              <a:lnSpc>
                <a:spcPts val="4100"/>
              </a:lnSpc>
            </a:pPr>
            <a:r>
              <a:rPr sz="4000" b="1" spc="-10" dirty="0" smtClean="0">
                <a:latin typeface="Calibri"/>
                <a:cs typeface="Calibri"/>
              </a:rPr>
              <a:t>PRODUCT VERSUS PROCESS QUALITY</a:t>
            </a:r>
            <a:endParaRPr sz="4000" dirty="0">
              <a:latin typeface="Calibri"/>
              <a:cs typeface="Calibri"/>
            </a:endParaRPr>
          </a:p>
          <a:p>
            <a:pPr marL="2233358" marR="2269961" algn="ctr">
              <a:lnSpc>
                <a:spcPts val="4800"/>
              </a:lnSpc>
              <a:spcBef>
                <a:spcPts val="35"/>
              </a:spcBef>
            </a:pPr>
            <a:r>
              <a:rPr sz="4000" b="1" spc="-30" dirty="0" smtClean="0">
                <a:latin typeface="Calibri"/>
                <a:cs typeface="Calibri"/>
              </a:rPr>
              <a:t>MANAGEMENT</a:t>
            </a:r>
            <a:endParaRPr sz="4000" dirty="0">
              <a:latin typeface="Calibri"/>
              <a:cs typeface="Calibri"/>
            </a:endParaRPr>
          </a:p>
        </p:txBody>
      </p:sp>
      <p:sp>
        <p:nvSpPr>
          <p:cNvPr id="8" name="Slide Number Placeholder 7"/>
          <p:cNvSpPr>
            <a:spLocks noGrp="1"/>
          </p:cNvSpPr>
          <p:nvPr>
            <p:ph type="sldNum" sz="quarter" idx="12"/>
          </p:nvPr>
        </p:nvSpPr>
        <p:spPr/>
        <p:txBody>
          <a:bodyPr/>
          <a:lstStyle/>
          <a:p>
            <a:fld id="{E5CE4F79-B2B3-4E4E-AB5D-F771515B9CEF}" type="slidenum">
              <a:rPr lang="en-US" smtClean="0"/>
              <a:t>50</a:t>
            </a:fld>
            <a:endParaRPr lang="en-US" dirty="0"/>
          </a:p>
        </p:txBody>
      </p:sp>
      <p:sp>
        <p:nvSpPr>
          <p:cNvPr id="7" name="Text Placeholder 6"/>
          <p:cNvSpPr>
            <a:spLocks noGrp="1"/>
          </p:cNvSpPr>
          <p:nvPr>
            <p:ph type="body" sz="quarter" idx="13"/>
          </p:nvPr>
        </p:nvSpPr>
        <p:spPr/>
        <p:txBody>
          <a:bodyPr>
            <a:normAutofit/>
          </a:bodyPr>
          <a:lstStyle/>
          <a:p>
            <a:r>
              <a:rPr lang="en-US" sz="3200" dirty="0"/>
              <a:t>Product Quality: </a:t>
            </a:r>
            <a:endParaRPr lang="en-US" sz="3200" dirty="0" smtClean="0"/>
          </a:p>
          <a:p>
            <a:pPr lvl="1"/>
            <a:r>
              <a:rPr lang="en-US" sz="2800" dirty="0" smtClean="0"/>
              <a:t>Product </a:t>
            </a:r>
            <a:r>
              <a:rPr lang="en-US" sz="2800" dirty="0"/>
              <a:t>is according to the specifications gathered by </a:t>
            </a:r>
            <a:r>
              <a:rPr lang="en-US" sz="2800" dirty="0" smtClean="0"/>
              <a:t>business </a:t>
            </a:r>
            <a:r>
              <a:rPr lang="en-US" sz="2800" dirty="0"/>
              <a:t>Analyst </a:t>
            </a:r>
            <a:endParaRPr lang="en-US" sz="2800" dirty="0" smtClean="0"/>
          </a:p>
          <a:p>
            <a:pPr lvl="1"/>
            <a:r>
              <a:rPr lang="en-US" sz="2800" dirty="0" smtClean="0"/>
              <a:t>bug free</a:t>
            </a:r>
          </a:p>
          <a:p>
            <a:r>
              <a:rPr lang="en-US" sz="3200" dirty="0" smtClean="0"/>
              <a:t>Process </a:t>
            </a:r>
            <a:r>
              <a:rPr lang="en-US" sz="3200" dirty="0"/>
              <a:t>Quality: </a:t>
            </a:r>
            <a:endParaRPr lang="en-US" sz="3200" dirty="0" smtClean="0"/>
          </a:p>
          <a:p>
            <a:pPr lvl="1"/>
            <a:r>
              <a:rPr lang="en-US" sz="2800" dirty="0" smtClean="0"/>
              <a:t>Process adopted </a:t>
            </a:r>
            <a:r>
              <a:rPr lang="en-US" sz="2800" dirty="0"/>
              <a:t>by the company to test the </a:t>
            </a:r>
            <a:r>
              <a:rPr lang="en-US" sz="2800" dirty="0" smtClean="0"/>
              <a:t>application should </a:t>
            </a:r>
            <a:r>
              <a:rPr lang="en-US" sz="2800" dirty="0"/>
              <a:t>be defined well enough </a:t>
            </a:r>
            <a:endParaRPr lang="en-US" sz="2800" dirty="0" smtClean="0"/>
          </a:p>
          <a:p>
            <a:pPr lvl="1"/>
            <a:r>
              <a:rPr lang="en-US" sz="2800" dirty="0" smtClean="0"/>
              <a:t>It should covers </a:t>
            </a:r>
            <a:r>
              <a:rPr lang="en-US" sz="2800" dirty="0"/>
              <a:t>all the aspect of the application</a:t>
            </a:r>
          </a:p>
        </p:txBody>
      </p:sp>
    </p:spTree>
    <p:extLst>
      <p:ext uri="{BB962C8B-B14F-4D97-AF65-F5344CB8AC3E}">
        <p14:creationId xmlns:p14="http://schemas.microsoft.com/office/powerpoint/2010/main" val="1085548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672185" y="318795"/>
            <a:ext cx="7840422" cy="5657392"/>
          </a:xfrm>
          <a:prstGeom prst="rect">
            <a:avLst/>
          </a:prstGeom>
        </p:spPr>
        <p:txBody>
          <a:bodyPr wrap="square" lIns="0" tIns="26035" rIns="0" bIns="0" rtlCol="0">
            <a:noAutofit/>
          </a:bodyPr>
          <a:lstStyle/>
          <a:p>
            <a:pPr algn="ctr">
              <a:lnSpc>
                <a:spcPts val="4100"/>
              </a:lnSpc>
            </a:pPr>
            <a:r>
              <a:rPr sz="4000" b="1" spc="-10" dirty="0" smtClean="0">
                <a:latin typeface="Calibri"/>
                <a:cs typeface="Calibri"/>
              </a:rPr>
              <a:t>PRODUCT VERSUS PROCESS QUALITY</a:t>
            </a:r>
            <a:endParaRPr sz="4000">
              <a:latin typeface="Calibri"/>
              <a:cs typeface="Calibri"/>
            </a:endParaRPr>
          </a:p>
          <a:p>
            <a:pPr marL="2233358" marR="2269961" algn="ctr">
              <a:lnSpc>
                <a:spcPts val="4800"/>
              </a:lnSpc>
              <a:spcBef>
                <a:spcPts val="35"/>
              </a:spcBef>
            </a:pPr>
            <a:r>
              <a:rPr sz="4000" b="1" spc="-30" dirty="0" smtClean="0">
                <a:latin typeface="Calibri"/>
                <a:cs typeface="Calibri"/>
              </a:rPr>
              <a:t>MANAGEMENT</a:t>
            </a:r>
            <a:endParaRPr sz="4000">
              <a:latin typeface="Calibri"/>
              <a:cs typeface="Calibri"/>
            </a:endParaRPr>
          </a:p>
          <a:p>
            <a:pPr marL="219659" marR="298609">
              <a:lnSpc>
                <a:spcPts val="3295"/>
              </a:lnSpc>
              <a:spcBef>
                <a:spcPts val="1201"/>
              </a:spcBef>
            </a:pPr>
            <a:r>
              <a:rPr sz="2700" spc="-7" dirty="0" smtClean="0">
                <a:latin typeface="Calibri"/>
                <a:cs typeface="Calibri"/>
              </a:rPr>
              <a:t>The system development process is made up of a </a:t>
            </a:r>
            <a:endParaRPr sz="2700">
              <a:latin typeface="Calibri"/>
              <a:cs typeface="Calibri"/>
            </a:endParaRPr>
          </a:p>
          <a:p>
            <a:pPr marL="219659" marR="298609">
              <a:lnSpc>
                <a:spcPts val="3295"/>
              </a:lnSpc>
            </a:pPr>
            <a:r>
              <a:rPr sz="2700" spc="-6" dirty="0" smtClean="0">
                <a:latin typeface="Calibri"/>
                <a:cs typeface="Calibri"/>
              </a:rPr>
              <a:t>number of activities that are linked together so that </a:t>
            </a:r>
            <a:endParaRPr sz="2700">
              <a:latin typeface="Calibri"/>
              <a:cs typeface="Calibri"/>
            </a:endParaRPr>
          </a:p>
          <a:p>
            <a:pPr marL="219659" marR="298609">
              <a:lnSpc>
                <a:spcPts val="3295"/>
              </a:lnSpc>
            </a:pPr>
            <a:r>
              <a:rPr sz="2700" spc="-3" dirty="0" smtClean="0">
                <a:latin typeface="Calibri"/>
                <a:cs typeface="Calibri"/>
              </a:rPr>
              <a:t>the output from one activity is the input to the next.</a:t>
            </a:r>
            <a:endParaRPr sz="2700">
              <a:latin typeface="Calibri"/>
              <a:cs typeface="Calibri"/>
            </a:endParaRPr>
          </a:p>
          <a:p>
            <a:pPr marL="219659" marR="59470">
              <a:lnSpc>
                <a:spcPts val="2920"/>
              </a:lnSpc>
              <a:spcBef>
                <a:spcPts val="397"/>
              </a:spcBef>
            </a:pPr>
            <a:r>
              <a:rPr sz="2700" spc="-7" dirty="0" smtClean="0">
                <a:latin typeface="Calibri"/>
                <a:cs typeface="Calibri"/>
              </a:rPr>
              <a:t>Thus program testing will depend on there being a program to test which will be the deliverable from the program coding stage.</a:t>
            </a:r>
            <a:endParaRPr sz="2700">
              <a:latin typeface="Calibri"/>
              <a:cs typeface="Calibri"/>
            </a:endParaRPr>
          </a:p>
          <a:p>
            <a:pPr marL="219659" marR="38084">
              <a:lnSpc>
                <a:spcPct val="101725"/>
              </a:lnSpc>
              <a:spcBef>
                <a:spcPts val="213"/>
              </a:spcBef>
            </a:pPr>
            <a:r>
              <a:rPr sz="2700" spc="-10" dirty="0" smtClean="0">
                <a:latin typeface="Calibri"/>
                <a:cs typeface="Calibri"/>
              </a:rPr>
              <a:t>Error can enter the process at any stage.</a:t>
            </a:r>
            <a:endParaRPr sz="2700">
              <a:latin typeface="Calibri"/>
              <a:cs typeface="Calibri"/>
            </a:endParaRPr>
          </a:p>
          <a:p>
            <a:pPr marL="219659" marR="41256">
              <a:lnSpc>
                <a:spcPts val="3295"/>
              </a:lnSpc>
              <a:spcBef>
                <a:spcPts val="569"/>
              </a:spcBef>
            </a:pPr>
            <a:r>
              <a:rPr sz="2700" spc="-7" dirty="0" smtClean="0">
                <a:latin typeface="Calibri"/>
                <a:cs typeface="Calibri"/>
              </a:rPr>
              <a:t>They can either be introduced because of a defect in </a:t>
            </a:r>
            <a:endParaRPr sz="2700">
              <a:latin typeface="Calibri"/>
              <a:cs typeface="Calibri"/>
            </a:endParaRPr>
          </a:p>
          <a:p>
            <a:pPr marL="219659" marR="41256">
              <a:lnSpc>
                <a:spcPts val="3295"/>
              </a:lnSpc>
            </a:pPr>
            <a:r>
              <a:rPr sz="2700" spc="-6" dirty="0" smtClean="0">
                <a:latin typeface="Calibri"/>
                <a:cs typeface="Calibri"/>
              </a:rPr>
              <a:t>the way a process is carried out, as when the software </a:t>
            </a:r>
            <a:endParaRPr sz="2700">
              <a:latin typeface="Calibri"/>
              <a:cs typeface="Calibri"/>
            </a:endParaRPr>
          </a:p>
          <a:p>
            <a:pPr marL="219659" marR="41256">
              <a:lnSpc>
                <a:spcPts val="3295"/>
              </a:lnSpc>
            </a:pPr>
            <a:r>
              <a:rPr sz="2700" spc="-8" dirty="0" smtClean="0">
                <a:latin typeface="Calibri"/>
                <a:cs typeface="Calibri"/>
              </a:rPr>
              <a:t>developers make mistakes in the logic of their </a:t>
            </a:r>
            <a:endParaRPr sz="2700">
              <a:latin typeface="Calibri"/>
              <a:cs typeface="Calibri"/>
            </a:endParaRPr>
          </a:p>
          <a:p>
            <a:pPr marL="219659" marR="41256">
              <a:lnSpc>
                <a:spcPts val="3295"/>
              </a:lnSpc>
            </a:pPr>
            <a:r>
              <a:rPr sz="2700" spc="-7" dirty="0" smtClean="0">
                <a:latin typeface="Calibri"/>
                <a:cs typeface="Calibri"/>
              </a:rPr>
              <a:t>software.</a:t>
            </a:r>
            <a:endParaRPr sz="2700">
              <a:latin typeface="Calibri"/>
              <a:cs typeface="Calibri"/>
            </a:endParaRPr>
          </a:p>
        </p:txBody>
      </p:sp>
      <p:sp>
        <p:nvSpPr>
          <p:cNvPr id="4" name="object 4"/>
          <p:cNvSpPr txBox="1"/>
          <p:nvPr/>
        </p:nvSpPr>
        <p:spPr>
          <a:xfrm>
            <a:off x="535940" y="1636033"/>
            <a:ext cx="196850" cy="368300"/>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a:latin typeface="Arial"/>
              <a:cs typeface="Arial"/>
            </a:endParaRPr>
          </a:p>
        </p:txBody>
      </p:sp>
      <p:sp>
        <p:nvSpPr>
          <p:cNvPr id="3" name="object 3"/>
          <p:cNvSpPr txBox="1"/>
          <p:nvPr/>
        </p:nvSpPr>
        <p:spPr>
          <a:xfrm>
            <a:off x="535940" y="2829706"/>
            <a:ext cx="196850" cy="368300"/>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a:latin typeface="Arial"/>
              <a:cs typeface="Arial"/>
            </a:endParaRPr>
          </a:p>
        </p:txBody>
      </p:sp>
      <p:sp>
        <p:nvSpPr>
          <p:cNvPr id="2" name="object 2"/>
          <p:cNvSpPr txBox="1"/>
          <p:nvPr/>
        </p:nvSpPr>
        <p:spPr>
          <a:xfrm>
            <a:off x="535940" y="4023252"/>
            <a:ext cx="196850" cy="820928"/>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a:latin typeface="Arial"/>
              <a:cs typeface="Arial"/>
            </a:endParaRPr>
          </a:p>
          <a:p>
            <a:pPr marL="12700">
              <a:lnSpc>
                <a:spcPct val="95825"/>
              </a:lnSpc>
              <a:spcBef>
                <a:spcPts val="316"/>
              </a:spcBef>
            </a:pPr>
            <a:r>
              <a:rPr sz="2700" dirty="0" smtClean="0">
                <a:latin typeface="Arial"/>
                <a:cs typeface="Arial"/>
              </a:rPr>
              <a:t>•</a:t>
            </a:r>
            <a:endParaRPr sz="2700">
              <a:latin typeface="Arial"/>
              <a:cs typeface="Arial"/>
            </a:endParaRPr>
          </a:p>
        </p:txBody>
      </p:sp>
      <p:sp>
        <p:nvSpPr>
          <p:cNvPr id="8" name="Slide Number Placeholder 7"/>
          <p:cNvSpPr>
            <a:spLocks noGrp="1"/>
          </p:cNvSpPr>
          <p:nvPr>
            <p:ph type="sldNum" sz="quarter" idx="12"/>
          </p:nvPr>
        </p:nvSpPr>
        <p:spPr/>
        <p:txBody>
          <a:bodyPr/>
          <a:lstStyle/>
          <a:p>
            <a:fld id="{E5CE4F79-B2B3-4E4E-AB5D-F771515B9CEF}" type="slidenum">
              <a:rPr lang="en-US" smtClean="0"/>
              <a:t>51</a:t>
            </a:fld>
            <a:endParaRPr lang="en-US" dirty="0"/>
          </a:p>
        </p:txBody>
      </p:sp>
    </p:spTree>
    <p:extLst>
      <p:ext uri="{BB962C8B-B14F-4D97-AF65-F5344CB8AC3E}">
        <p14:creationId xmlns:p14="http://schemas.microsoft.com/office/powerpoint/2010/main" val="21013683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72185" y="318795"/>
            <a:ext cx="7884743" cy="5459272"/>
          </a:xfrm>
          <a:prstGeom prst="rect">
            <a:avLst/>
          </a:prstGeom>
        </p:spPr>
        <p:txBody>
          <a:bodyPr wrap="square" lIns="0" tIns="26035" rIns="0" bIns="0" rtlCol="0">
            <a:noAutofit/>
          </a:bodyPr>
          <a:lstStyle/>
          <a:p>
            <a:pPr marR="44320" algn="ctr">
              <a:lnSpc>
                <a:spcPts val="4100"/>
              </a:lnSpc>
            </a:pPr>
            <a:r>
              <a:rPr sz="4000" b="1" spc="-10" dirty="0" smtClean="0">
                <a:latin typeface="Calibri"/>
                <a:cs typeface="Calibri"/>
              </a:rPr>
              <a:t>PRODUCT VERSUS PROCESS QUALITY</a:t>
            </a:r>
            <a:endParaRPr sz="4000" dirty="0">
              <a:latin typeface="Calibri"/>
              <a:cs typeface="Calibri"/>
            </a:endParaRPr>
          </a:p>
          <a:p>
            <a:pPr marL="1346009" marR="1428263" algn="ctr">
              <a:lnSpc>
                <a:spcPts val="4800"/>
              </a:lnSpc>
              <a:spcBef>
                <a:spcPts val="35"/>
              </a:spcBef>
            </a:pPr>
            <a:r>
              <a:rPr sz="4000" b="1" spc="-11" dirty="0" smtClean="0">
                <a:latin typeface="Calibri"/>
                <a:cs typeface="Calibri"/>
              </a:rPr>
              <a:t>MANAGEMENT</a:t>
            </a:r>
            <a:endParaRPr sz="4000" dirty="0">
              <a:latin typeface="Calibri"/>
              <a:cs typeface="Calibri"/>
            </a:endParaRPr>
          </a:p>
          <a:p>
            <a:pPr marL="219659">
              <a:lnSpc>
                <a:spcPts val="3240"/>
              </a:lnSpc>
              <a:spcBef>
                <a:spcPts val="798"/>
              </a:spcBef>
            </a:pPr>
            <a:r>
              <a:rPr sz="2700" spc="-7" dirty="0" smtClean="0">
                <a:latin typeface="Calibri"/>
                <a:cs typeface="Calibri"/>
              </a:rPr>
              <a:t>Error that creep in the early stages are more expensive</a:t>
            </a:r>
            <a:endParaRPr sz="2700" dirty="0">
              <a:latin typeface="Calibri"/>
              <a:cs typeface="Calibri"/>
            </a:endParaRPr>
          </a:p>
          <a:p>
            <a:pPr marL="219659" marR="62786">
              <a:lnSpc>
                <a:spcPts val="2650"/>
              </a:lnSpc>
            </a:pPr>
            <a:r>
              <a:rPr sz="2700" spc="-9" dirty="0" smtClean="0">
                <a:latin typeface="Calibri"/>
                <a:cs typeface="Calibri"/>
              </a:rPr>
              <a:t>to correct at later stages for the following reasons</a:t>
            </a:r>
            <a:endParaRPr sz="2700" dirty="0">
              <a:latin typeface="Calibri"/>
              <a:cs typeface="Calibri"/>
            </a:endParaRPr>
          </a:p>
          <a:p>
            <a:pPr marL="219659" marR="112141">
              <a:lnSpc>
                <a:spcPts val="3295"/>
              </a:lnSpc>
              <a:spcBef>
                <a:spcPts val="372"/>
              </a:spcBef>
            </a:pPr>
            <a:r>
              <a:rPr sz="2700" spc="-7" dirty="0" smtClean="0">
                <a:latin typeface="Calibri"/>
                <a:cs typeface="Calibri"/>
              </a:rPr>
              <a:t>The later the error is found , the more rework at more </a:t>
            </a:r>
            <a:endParaRPr sz="2700" dirty="0">
              <a:latin typeface="Calibri"/>
              <a:cs typeface="Calibri"/>
            </a:endParaRPr>
          </a:p>
          <a:p>
            <a:pPr marL="219659" marR="112141">
              <a:lnSpc>
                <a:spcPts val="3295"/>
              </a:lnSpc>
            </a:pPr>
            <a:r>
              <a:rPr sz="2700" spc="-5" dirty="0" smtClean="0">
                <a:latin typeface="Calibri"/>
                <a:cs typeface="Calibri"/>
              </a:rPr>
              <a:t>stages of development will be needed</a:t>
            </a:r>
            <a:endParaRPr sz="2700" dirty="0">
              <a:latin typeface="Calibri"/>
              <a:cs typeface="Calibri"/>
            </a:endParaRPr>
          </a:p>
          <a:p>
            <a:pPr marL="219659" marR="219157">
              <a:lnSpc>
                <a:spcPts val="3295"/>
              </a:lnSpc>
            </a:pPr>
            <a:r>
              <a:rPr sz="2700" spc="-7" dirty="0" smtClean="0">
                <a:latin typeface="Calibri"/>
                <a:cs typeface="Calibri"/>
              </a:rPr>
              <a:t>The general tendency is for each successive stage of </a:t>
            </a:r>
            <a:endParaRPr sz="2700" dirty="0">
              <a:latin typeface="Calibri"/>
              <a:cs typeface="Calibri"/>
            </a:endParaRPr>
          </a:p>
          <a:p>
            <a:pPr marL="219659" marR="219157">
              <a:lnSpc>
                <a:spcPts val="3295"/>
              </a:lnSpc>
            </a:pPr>
            <a:r>
              <a:rPr sz="2700" spc="-7" dirty="0" smtClean="0">
                <a:latin typeface="Calibri"/>
                <a:cs typeface="Calibri"/>
              </a:rPr>
              <a:t>development to be more detailed and less capable to </a:t>
            </a:r>
            <a:endParaRPr sz="2700" dirty="0">
              <a:latin typeface="Calibri"/>
              <a:cs typeface="Calibri"/>
            </a:endParaRPr>
          </a:p>
          <a:p>
            <a:pPr marL="219659" marR="219157">
              <a:lnSpc>
                <a:spcPts val="3295"/>
              </a:lnSpc>
            </a:pPr>
            <a:r>
              <a:rPr sz="2700" spc="-4" dirty="0" smtClean="0">
                <a:latin typeface="Calibri"/>
                <a:cs typeface="Calibri"/>
              </a:rPr>
              <a:t>absorb change.</a:t>
            </a:r>
            <a:endParaRPr sz="2700" dirty="0">
              <a:latin typeface="Calibri"/>
              <a:cs typeface="Calibri"/>
            </a:endParaRPr>
          </a:p>
          <a:p>
            <a:pPr marL="219659" marR="62786">
              <a:lnSpc>
                <a:spcPct val="101725"/>
              </a:lnSpc>
            </a:pPr>
            <a:r>
              <a:rPr sz="2700" spc="-5" dirty="0" smtClean="0">
                <a:latin typeface="Calibri"/>
                <a:cs typeface="Calibri"/>
              </a:rPr>
              <a:t>Following process requirements should be specified</a:t>
            </a:r>
            <a:endParaRPr sz="2700" dirty="0">
              <a:latin typeface="Calibri"/>
              <a:cs typeface="Calibri"/>
            </a:endParaRPr>
          </a:p>
          <a:p>
            <a:pPr marL="676859" marR="62786" indent="-457200">
              <a:lnSpc>
                <a:spcPts val="3240"/>
              </a:lnSpc>
              <a:spcBef>
                <a:spcPts val="162"/>
              </a:spcBef>
              <a:buFont typeface="Arial" panose="020B0604020202020204" pitchFamily="34" charset="0"/>
              <a:buChar char="•"/>
            </a:pPr>
            <a:r>
              <a:rPr sz="2700" spc="-7" dirty="0" smtClean="0">
                <a:latin typeface="Calibri"/>
                <a:cs typeface="Calibri"/>
              </a:rPr>
              <a:t>Entry requirement</a:t>
            </a:r>
            <a:endParaRPr sz="2700" dirty="0">
              <a:latin typeface="Calibri"/>
              <a:cs typeface="Calibri"/>
            </a:endParaRPr>
          </a:p>
          <a:p>
            <a:pPr marL="676859" marR="62786" indent="-457200">
              <a:lnSpc>
                <a:spcPts val="3245"/>
              </a:lnSpc>
              <a:buFont typeface="Arial" panose="020B0604020202020204" pitchFamily="34" charset="0"/>
              <a:buChar char="•"/>
            </a:pPr>
            <a:r>
              <a:rPr sz="2700" spc="-9" dirty="0" smtClean="0">
                <a:latin typeface="Calibri"/>
                <a:cs typeface="Calibri"/>
              </a:rPr>
              <a:t>Implementation requirement</a:t>
            </a:r>
            <a:endParaRPr lang="en-US" sz="2700" dirty="0">
              <a:latin typeface="Calibri"/>
              <a:cs typeface="Calibri"/>
            </a:endParaRPr>
          </a:p>
          <a:p>
            <a:pPr marL="676859" marR="62786" indent="-457200">
              <a:lnSpc>
                <a:spcPts val="3245"/>
              </a:lnSpc>
              <a:buFont typeface="Arial" panose="020B0604020202020204" pitchFamily="34" charset="0"/>
              <a:buChar char="•"/>
            </a:pPr>
            <a:r>
              <a:rPr sz="2700" spc="-6" dirty="0" smtClean="0">
                <a:latin typeface="Calibri"/>
                <a:cs typeface="Calibri"/>
              </a:rPr>
              <a:t>Exit requirement</a:t>
            </a:r>
            <a:endParaRPr sz="2700" dirty="0">
              <a:latin typeface="Calibri"/>
              <a:cs typeface="Calibri"/>
            </a:endParaRPr>
          </a:p>
        </p:txBody>
      </p:sp>
      <p:sp>
        <p:nvSpPr>
          <p:cNvPr id="5" name="object 5"/>
          <p:cNvSpPr txBox="1"/>
          <p:nvPr/>
        </p:nvSpPr>
        <p:spPr>
          <a:xfrm>
            <a:off x="535940" y="1602505"/>
            <a:ext cx="196850" cy="368300"/>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a:latin typeface="Arial"/>
              <a:cs typeface="Arial"/>
            </a:endParaRPr>
          </a:p>
        </p:txBody>
      </p:sp>
      <p:sp>
        <p:nvSpPr>
          <p:cNvPr id="4" name="object 4"/>
          <p:cNvSpPr txBox="1"/>
          <p:nvPr/>
        </p:nvSpPr>
        <p:spPr>
          <a:xfrm>
            <a:off x="535940" y="2343550"/>
            <a:ext cx="196850" cy="368300"/>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dirty="0">
              <a:latin typeface="Arial"/>
              <a:cs typeface="Arial"/>
            </a:endParaRPr>
          </a:p>
        </p:txBody>
      </p:sp>
      <p:sp>
        <p:nvSpPr>
          <p:cNvPr id="3" name="object 3"/>
          <p:cNvSpPr txBox="1"/>
          <p:nvPr/>
        </p:nvSpPr>
        <p:spPr>
          <a:xfrm>
            <a:off x="535940" y="3084214"/>
            <a:ext cx="196850" cy="368300"/>
          </a:xfrm>
          <a:prstGeom prst="rect">
            <a:avLst/>
          </a:prstGeom>
        </p:spPr>
        <p:txBody>
          <a:bodyPr wrap="square" lIns="0" tIns="18161" rIns="0" bIns="0" rtlCol="0">
            <a:noAutofit/>
          </a:bodyPr>
          <a:lstStyle/>
          <a:p>
            <a:pPr marL="12700">
              <a:lnSpc>
                <a:spcPts val="2860"/>
              </a:lnSpc>
            </a:pPr>
            <a:r>
              <a:rPr sz="2700" dirty="0" smtClean="0">
                <a:latin typeface="Arial"/>
                <a:cs typeface="Arial"/>
              </a:rPr>
              <a:t>•</a:t>
            </a:r>
            <a:endParaRPr sz="2700" dirty="0">
              <a:latin typeface="Arial"/>
              <a:cs typeface="Arial"/>
            </a:endParaRPr>
          </a:p>
        </p:txBody>
      </p:sp>
      <p:sp>
        <p:nvSpPr>
          <p:cNvPr id="2" name="object 2"/>
          <p:cNvSpPr txBox="1"/>
          <p:nvPr/>
        </p:nvSpPr>
        <p:spPr>
          <a:xfrm>
            <a:off x="535940" y="4154316"/>
            <a:ext cx="197002" cy="1603070"/>
          </a:xfrm>
          <a:prstGeom prst="rect">
            <a:avLst/>
          </a:prstGeom>
        </p:spPr>
        <p:txBody>
          <a:bodyPr wrap="square" lIns="0" tIns="18161" rIns="0" bIns="0" rtlCol="0">
            <a:noAutofit/>
          </a:bodyPr>
          <a:lstStyle/>
          <a:p>
            <a:pPr marL="12700" marR="152">
              <a:lnSpc>
                <a:spcPts val="2860"/>
              </a:lnSpc>
            </a:pPr>
            <a:endParaRPr sz="2700" dirty="0">
              <a:latin typeface="Arial"/>
              <a:cs typeface="Arial"/>
            </a:endParaRPr>
          </a:p>
          <a:p>
            <a:pPr marL="12700" marR="152">
              <a:lnSpc>
                <a:spcPct val="95825"/>
              </a:lnSpc>
            </a:pPr>
            <a:r>
              <a:rPr sz="2700" dirty="0" smtClean="0">
                <a:latin typeface="Arial"/>
                <a:cs typeface="Arial"/>
              </a:rPr>
              <a:t>•</a:t>
            </a:r>
            <a:endParaRPr sz="2700" dirty="0">
              <a:latin typeface="Arial"/>
              <a:cs typeface="Arial"/>
            </a:endParaRPr>
          </a:p>
          <a:p>
            <a:pPr marL="12700">
              <a:lnSpc>
                <a:spcPct val="95825"/>
              </a:lnSpc>
              <a:spcBef>
                <a:spcPts val="135"/>
              </a:spcBef>
            </a:pPr>
            <a:endParaRPr sz="2700" dirty="0">
              <a:latin typeface="Arial"/>
              <a:cs typeface="Arial"/>
            </a:endParaRPr>
          </a:p>
        </p:txBody>
      </p:sp>
      <p:sp>
        <p:nvSpPr>
          <p:cNvPr id="9" name="Slide Number Placeholder 8"/>
          <p:cNvSpPr>
            <a:spLocks noGrp="1"/>
          </p:cNvSpPr>
          <p:nvPr>
            <p:ph type="sldNum" sz="quarter" idx="12"/>
          </p:nvPr>
        </p:nvSpPr>
        <p:spPr/>
        <p:txBody>
          <a:bodyPr/>
          <a:lstStyle/>
          <a:p>
            <a:fld id="{E5CE4F79-B2B3-4E4E-AB5D-F771515B9CEF}" type="slidenum">
              <a:rPr lang="en-US" smtClean="0"/>
              <a:t>52</a:t>
            </a:fld>
            <a:endParaRPr lang="en-US" dirty="0"/>
          </a:p>
        </p:txBody>
      </p:sp>
      <p:sp>
        <p:nvSpPr>
          <p:cNvPr id="8" name="object 3"/>
          <p:cNvSpPr txBox="1"/>
          <p:nvPr/>
        </p:nvSpPr>
        <p:spPr>
          <a:xfrm>
            <a:off x="535940" y="5750626"/>
            <a:ext cx="196850" cy="368300"/>
          </a:xfrm>
          <a:prstGeom prst="rect">
            <a:avLst/>
          </a:prstGeom>
        </p:spPr>
        <p:txBody>
          <a:bodyPr wrap="square" lIns="0" tIns="18161" rIns="0" bIns="0" rtlCol="0">
            <a:noAutofit/>
          </a:bodyPr>
          <a:lstStyle/>
          <a:p>
            <a:pPr marL="12700">
              <a:lnSpc>
                <a:spcPts val="2860"/>
              </a:lnSpc>
            </a:pPr>
            <a:endParaRPr sz="2700" dirty="0">
              <a:latin typeface="Arial"/>
              <a:cs typeface="Arial"/>
            </a:endParaRPr>
          </a:p>
        </p:txBody>
      </p:sp>
    </p:spTree>
    <p:extLst>
      <p:ext uri="{BB962C8B-B14F-4D97-AF65-F5344CB8AC3E}">
        <p14:creationId xmlns:p14="http://schemas.microsoft.com/office/powerpoint/2010/main" val="32242357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535940" y="601497"/>
            <a:ext cx="8074660" cy="1303883"/>
          </a:xfrm>
          <a:prstGeom prst="rect">
            <a:avLst/>
          </a:prstGeom>
        </p:spPr>
        <p:txBody>
          <a:bodyPr wrap="square" lIns="0" tIns="28606" rIns="0" bIns="0" rtlCol="0">
            <a:noAutofit/>
          </a:bodyPr>
          <a:lstStyle/>
          <a:p>
            <a:pPr marL="1032840">
              <a:lnSpc>
                <a:spcPts val="4505"/>
              </a:lnSpc>
            </a:pPr>
            <a:r>
              <a:rPr sz="4400" b="1" spc="-28" dirty="0" smtClean="0">
                <a:latin typeface="Calibri"/>
                <a:cs typeface="Calibri"/>
              </a:rPr>
              <a:t>EXTERNAL STANDARDS</a:t>
            </a:r>
            <a:endParaRPr sz="4400" dirty="0">
              <a:latin typeface="Calibri"/>
              <a:cs typeface="Calibri"/>
            </a:endParaRPr>
          </a:p>
          <a:p>
            <a:pPr marL="12700" marR="83941">
              <a:lnSpc>
                <a:spcPct val="101725"/>
              </a:lnSpc>
              <a:spcBef>
                <a:spcPts val="2994"/>
              </a:spcBef>
            </a:pPr>
            <a:r>
              <a:rPr sz="2400" b="1" u="sng" spc="0" dirty="0" smtClean="0">
                <a:latin typeface="Calibri"/>
                <a:cs typeface="Calibri"/>
              </a:rPr>
              <a:t>BS EN ISO 9001:200</a:t>
            </a:r>
            <a:endParaRPr sz="2400" u="sng" dirty="0">
              <a:latin typeface="Calibri"/>
              <a:cs typeface="Calibri"/>
            </a:endParaRPr>
          </a:p>
        </p:txBody>
      </p:sp>
      <p:sp>
        <p:nvSpPr>
          <p:cNvPr id="8" name="object 8"/>
          <p:cNvSpPr txBox="1"/>
          <p:nvPr/>
        </p:nvSpPr>
        <p:spPr>
          <a:xfrm>
            <a:off x="535940" y="1938426"/>
            <a:ext cx="7581575" cy="318312"/>
          </a:xfrm>
          <a:prstGeom prst="rect">
            <a:avLst/>
          </a:prstGeom>
        </p:spPr>
        <p:txBody>
          <a:bodyPr wrap="square" lIns="0" tIns="15271" rIns="0" bIns="0" rtlCol="0">
            <a:noAutofit/>
          </a:bodyPr>
          <a:lstStyle/>
          <a:p>
            <a:pPr marL="12700">
              <a:lnSpc>
                <a:spcPts val="2405"/>
              </a:lnSpc>
            </a:pPr>
            <a:r>
              <a:rPr sz="2300" spc="-3" dirty="0" smtClean="0">
                <a:latin typeface="Calibri"/>
                <a:cs typeface="Calibri"/>
              </a:rPr>
              <a:t>The standard is built on a foundation of the following principles</a:t>
            </a:r>
            <a:endParaRPr sz="2300">
              <a:latin typeface="Calibri"/>
              <a:cs typeface="Calibri"/>
            </a:endParaRPr>
          </a:p>
        </p:txBody>
      </p:sp>
      <p:sp>
        <p:nvSpPr>
          <p:cNvPr id="6" name="object 6"/>
          <p:cNvSpPr txBox="1"/>
          <p:nvPr/>
        </p:nvSpPr>
        <p:spPr>
          <a:xfrm>
            <a:off x="879144" y="2281174"/>
            <a:ext cx="7399464" cy="3389452"/>
          </a:xfrm>
          <a:prstGeom prst="rect">
            <a:avLst/>
          </a:prstGeom>
        </p:spPr>
        <p:txBody>
          <a:bodyPr wrap="square" lIns="0" tIns="9525" rIns="0" bIns="0" rtlCol="0">
            <a:noAutofit/>
          </a:bodyPr>
          <a:lstStyle/>
          <a:p>
            <a:pPr marL="12700">
              <a:lnSpc>
                <a:spcPts val="2441"/>
              </a:lnSpc>
            </a:pPr>
            <a:r>
              <a:rPr sz="2000" dirty="0" smtClean="0">
                <a:latin typeface="Calibri"/>
                <a:cs typeface="Calibri"/>
              </a:rPr>
              <a:t>Unde</a:t>
            </a:r>
            <a:r>
              <a:rPr sz="2000" spc="-34" dirty="0" smtClean="0">
                <a:latin typeface="Calibri"/>
                <a:cs typeface="Calibri"/>
              </a:rPr>
              <a:t>r</a:t>
            </a:r>
            <a:r>
              <a:rPr sz="2000" spc="-29" dirty="0" smtClean="0">
                <a:latin typeface="Calibri"/>
                <a:cs typeface="Calibri"/>
              </a:rPr>
              <a:t>s</a:t>
            </a:r>
            <a:r>
              <a:rPr sz="2000" spc="-25" dirty="0" smtClean="0">
                <a:latin typeface="Calibri"/>
                <a:cs typeface="Calibri"/>
              </a:rPr>
              <a:t>t</a:t>
            </a:r>
            <a:r>
              <a:rPr sz="2000" spc="0" dirty="0" smtClean="0">
                <a:latin typeface="Calibri"/>
                <a:cs typeface="Calibri"/>
              </a:rPr>
              <a:t>an</a:t>
            </a:r>
            <a:r>
              <a:rPr sz="2000" spc="4" dirty="0" smtClean="0">
                <a:latin typeface="Calibri"/>
                <a:cs typeface="Calibri"/>
              </a:rPr>
              <a:t>d</a:t>
            </a:r>
            <a:r>
              <a:rPr sz="2000" spc="0" dirty="0" smtClean="0">
                <a:latin typeface="Calibri"/>
                <a:cs typeface="Calibri"/>
              </a:rPr>
              <a:t>ing </a:t>
            </a:r>
            <a:r>
              <a:rPr sz="2000" spc="-14" dirty="0" smtClean="0">
                <a:latin typeface="Calibri"/>
                <a:cs typeface="Calibri"/>
              </a:rPr>
              <a:t>b</a:t>
            </a:r>
            <a:r>
              <a:rPr sz="2000" spc="0" dirty="0" smtClean="0">
                <a:latin typeface="Calibri"/>
                <a:cs typeface="Calibri"/>
              </a:rPr>
              <a:t>y</a:t>
            </a:r>
            <a:r>
              <a:rPr sz="2000" spc="-14" dirty="0" smtClean="0">
                <a:latin typeface="Calibri"/>
                <a:cs typeface="Calibri"/>
              </a:rPr>
              <a:t> </a:t>
            </a:r>
            <a:r>
              <a:rPr sz="2000" spc="0" dirty="0" smtClean="0">
                <a:latin typeface="Calibri"/>
                <a:cs typeface="Calibri"/>
              </a:rPr>
              <a:t>an o</a:t>
            </a:r>
            <a:r>
              <a:rPr sz="2000" spc="-29" dirty="0" smtClean="0">
                <a:latin typeface="Calibri"/>
                <a:cs typeface="Calibri"/>
              </a:rPr>
              <a:t>rg</a:t>
            </a:r>
            <a:r>
              <a:rPr sz="2000" spc="0" dirty="0" smtClean="0">
                <a:latin typeface="Calibri"/>
                <a:cs typeface="Calibri"/>
              </a:rPr>
              <a:t>ani</a:t>
            </a:r>
            <a:r>
              <a:rPr sz="2000" spc="-34" dirty="0" smtClean="0">
                <a:latin typeface="Calibri"/>
                <a:cs typeface="Calibri"/>
              </a:rPr>
              <a:t>z</a:t>
            </a:r>
            <a:r>
              <a:rPr sz="2000" spc="-25" dirty="0" smtClean="0">
                <a:latin typeface="Calibri"/>
                <a:cs typeface="Calibri"/>
              </a:rPr>
              <a:t>a</a:t>
            </a:r>
            <a:r>
              <a:rPr sz="2000" spc="0" dirty="0" smtClean="0">
                <a:latin typeface="Calibri"/>
                <a:cs typeface="Calibri"/>
              </a:rPr>
              <a:t>tion</a:t>
            </a:r>
            <a:r>
              <a:rPr sz="2000" spc="-9" dirty="0" smtClean="0">
                <a:latin typeface="Calibri"/>
                <a:cs typeface="Calibri"/>
              </a:rPr>
              <a:t> </a:t>
            </a:r>
            <a:r>
              <a:rPr sz="2000" spc="0" dirty="0" smtClean="0">
                <a:latin typeface="Calibri"/>
                <a:cs typeface="Calibri"/>
              </a:rPr>
              <a:t>of</a:t>
            </a:r>
            <a:r>
              <a:rPr sz="2000" spc="-9" dirty="0" smtClean="0">
                <a:latin typeface="Calibri"/>
                <a:cs typeface="Calibri"/>
              </a:rPr>
              <a:t> </a:t>
            </a:r>
            <a:r>
              <a:rPr sz="2000" spc="0" dirty="0" smtClean="0">
                <a:latin typeface="Calibri"/>
                <a:cs typeface="Calibri"/>
              </a:rPr>
              <a:t>the </a:t>
            </a:r>
            <a:r>
              <a:rPr sz="2000" spc="4" dirty="0" smtClean="0">
                <a:latin typeface="Calibri"/>
                <a:cs typeface="Calibri"/>
              </a:rPr>
              <a:t>n</a:t>
            </a:r>
            <a:r>
              <a:rPr sz="2000" spc="0" dirty="0" smtClean="0">
                <a:latin typeface="Calibri"/>
                <a:cs typeface="Calibri"/>
              </a:rPr>
              <a:t>eed</a:t>
            </a:r>
            <a:r>
              <a:rPr sz="2000" spc="-4" dirty="0" smtClean="0">
                <a:latin typeface="Calibri"/>
                <a:cs typeface="Calibri"/>
              </a:rPr>
              <a:t> </a:t>
            </a:r>
            <a:r>
              <a:rPr sz="2000" spc="0" dirty="0" smtClean="0">
                <a:latin typeface="Calibri"/>
                <a:cs typeface="Calibri"/>
              </a:rPr>
              <a:t>of</a:t>
            </a:r>
            <a:r>
              <a:rPr sz="2000" spc="-9" dirty="0" smtClean="0">
                <a:latin typeface="Calibri"/>
                <a:cs typeface="Calibri"/>
              </a:rPr>
              <a:t> </a:t>
            </a:r>
            <a:r>
              <a:rPr sz="2000" spc="0" dirty="0" smtClean="0">
                <a:latin typeface="Calibri"/>
                <a:cs typeface="Calibri"/>
              </a:rPr>
              <a:t>their cu</a:t>
            </a:r>
            <a:r>
              <a:rPr sz="2000" spc="-25" dirty="0" smtClean="0">
                <a:latin typeface="Calibri"/>
                <a:cs typeface="Calibri"/>
              </a:rPr>
              <a:t>st</a:t>
            </a:r>
            <a:r>
              <a:rPr sz="2000" spc="0" dirty="0" smtClean="0">
                <a:latin typeface="Calibri"/>
                <a:cs typeface="Calibri"/>
              </a:rPr>
              <a:t>om</a:t>
            </a:r>
            <a:r>
              <a:rPr sz="2000" spc="-4" dirty="0" smtClean="0">
                <a:latin typeface="Calibri"/>
                <a:cs typeface="Calibri"/>
              </a:rPr>
              <a:t>e</a:t>
            </a:r>
            <a:r>
              <a:rPr sz="2000" spc="0" dirty="0" smtClean="0">
                <a:latin typeface="Calibri"/>
                <a:cs typeface="Calibri"/>
              </a:rPr>
              <a:t>r</a:t>
            </a:r>
            <a:r>
              <a:rPr sz="2000" spc="9" dirty="0" smtClean="0">
                <a:latin typeface="Calibri"/>
                <a:cs typeface="Calibri"/>
              </a:rPr>
              <a:t> </a:t>
            </a:r>
            <a:r>
              <a:rPr sz="2000" spc="0" dirty="0" smtClean="0">
                <a:latin typeface="Calibri"/>
                <a:cs typeface="Calibri"/>
              </a:rPr>
              <a:t>so th</a:t>
            </a:r>
            <a:r>
              <a:rPr sz="2000" spc="-19" dirty="0" smtClean="0">
                <a:latin typeface="Calibri"/>
                <a:cs typeface="Calibri"/>
              </a:rPr>
              <a:t>a</a:t>
            </a:r>
            <a:r>
              <a:rPr sz="2000" spc="0" dirty="0" smtClean="0">
                <a:latin typeface="Calibri"/>
                <a:cs typeface="Calibri"/>
              </a:rPr>
              <a:t>t </a:t>
            </a:r>
            <a:endParaRPr sz="2000" dirty="0">
              <a:latin typeface="Calibri"/>
              <a:cs typeface="Calibri"/>
            </a:endParaRPr>
          </a:p>
          <a:p>
            <a:pPr marL="12700">
              <a:lnSpc>
                <a:spcPts val="2441"/>
              </a:lnSpc>
            </a:pPr>
            <a:r>
              <a:rPr sz="2000" spc="-4" dirty="0" smtClean="0">
                <a:latin typeface="Calibri"/>
                <a:cs typeface="Calibri"/>
              </a:rPr>
              <a:t>they can meet or even exceed those requirements</a:t>
            </a:r>
            <a:endParaRPr sz="2000" dirty="0">
              <a:latin typeface="Calibri"/>
              <a:cs typeface="Calibri"/>
            </a:endParaRPr>
          </a:p>
          <a:p>
            <a:pPr marL="12700" marR="401007">
              <a:lnSpc>
                <a:spcPts val="2441"/>
              </a:lnSpc>
            </a:pPr>
            <a:r>
              <a:rPr sz="2000" spc="-3" dirty="0" smtClean="0">
                <a:latin typeface="Calibri"/>
                <a:cs typeface="Calibri"/>
              </a:rPr>
              <a:t>Leadership to provide the unity of purpose and direction needed to </a:t>
            </a:r>
            <a:endParaRPr sz="2000" dirty="0">
              <a:latin typeface="Calibri"/>
              <a:cs typeface="Calibri"/>
            </a:endParaRPr>
          </a:p>
          <a:p>
            <a:pPr marL="12700" marR="401007">
              <a:lnSpc>
                <a:spcPts val="2441"/>
              </a:lnSpc>
            </a:pPr>
            <a:r>
              <a:rPr sz="2000" spc="-2" dirty="0" smtClean="0">
                <a:latin typeface="Calibri"/>
                <a:cs typeface="Calibri"/>
              </a:rPr>
              <a:t>achieve quality objective</a:t>
            </a:r>
            <a:endParaRPr sz="2000" dirty="0">
              <a:latin typeface="Calibri"/>
              <a:cs typeface="Calibri"/>
            </a:endParaRPr>
          </a:p>
          <a:p>
            <a:pPr marL="12700" marR="33808">
              <a:lnSpc>
                <a:spcPct val="101725"/>
              </a:lnSpc>
            </a:pPr>
            <a:r>
              <a:rPr sz="2000" spc="-7" dirty="0" smtClean="0">
                <a:latin typeface="Calibri"/>
                <a:cs typeface="Calibri"/>
              </a:rPr>
              <a:t>Involvement of staff at all level</a:t>
            </a:r>
            <a:endParaRPr sz="2000" dirty="0">
              <a:latin typeface="Calibri"/>
              <a:cs typeface="Calibri"/>
            </a:endParaRPr>
          </a:p>
          <a:p>
            <a:pPr marL="12700" marR="108042">
              <a:lnSpc>
                <a:spcPts val="2441"/>
              </a:lnSpc>
              <a:spcBef>
                <a:spcPts val="375"/>
              </a:spcBef>
            </a:pPr>
            <a:r>
              <a:rPr sz="2000" spc="-4" dirty="0" smtClean="0">
                <a:latin typeface="Calibri"/>
                <a:cs typeface="Calibri"/>
              </a:rPr>
              <a:t>A focus on individual process which create intermediate or deliverable </a:t>
            </a:r>
            <a:endParaRPr sz="2000" dirty="0">
              <a:latin typeface="Calibri"/>
              <a:cs typeface="Calibri"/>
            </a:endParaRPr>
          </a:p>
          <a:p>
            <a:pPr marL="12700" marR="108042">
              <a:lnSpc>
                <a:spcPts val="2441"/>
              </a:lnSpc>
            </a:pPr>
            <a:r>
              <a:rPr sz="2000" spc="23" dirty="0" smtClean="0">
                <a:latin typeface="Calibri"/>
                <a:cs typeface="Calibri"/>
              </a:rPr>
              <a:t>product &amp; service</a:t>
            </a:r>
            <a:endParaRPr sz="2000" dirty="0">
              <a:latin typeface="Calibri"/>
              <a:cs typeface="Calibri"/>
            </a:endParaRPr>
          </a:p>
          <a:p>
            <a:pPr marL="12700" marR="261891">
              <a:lnSpc>
                <a:spcPts val="2441"/>
              </a:lnSpc>
            </a:pPr>
            <a:r>
              <a:rPr sz="2000" spc="-5" dirty="0" smtClean="0">
                <a:latin typeface="Calibri"/>
                <a:cs typeface="Calibri"/>
              </a:rPr>
              <a:t>A focus on the system of interrelated processes that create delivered </a:t>
            </a:r>
            <a:endParaRPr sz="2000" dirty="0">
              <a:latin typeface="Calibri"/>
              <a:cs typeface="Calibri"/>
            </a:endParaRPr>
          </a:p>
          <a:p>
            <a:pPr marL="12700" marR="261891">
              <a:lnSpc>
                <a:spcPts val="2441"/>
              </a:lnSpc>
            </a:pPr>
            <a:r>
              <a:rPr sz="2000" spc="-2" dirty="0" smtClean="0">
                <a:latin typeface="Calibri"/>
                <a:cs typeface="Calibri"/>
              </a:rPr>
              <a:t>product &amp; services</a:t>
            </a:r>
            <a:endParaRPr sz="2000" dirty="0">
              <a:latin typeface="Calibri"/>
              <a:cs typeface="Calibri"/>
            </a:endParaRPr>
          </a:p>
          <a:p>
            <a:pPr marL="12700" marR="33808">
              <a:lnSpc>
                <a:spcPct val="101725"/>
              </a:lnSpc>
            </a:pPr>
            <a:r>
              <a:rPr sz="2000" spc="-4" dirty="0" smtClean="0">
                <a:latin typeface="Calibri"/>
                <a:cs typeface="Calibri"/>
              </a:rPr>
              <a:t>Continuous improvement of the process</a:t>
            </a:r>
            <a:endParaRPr sz="2000" dirty="0">
              <a:latin typeface="Calibri"/>
              <a:cs typeface="Calibri"/>
            </a:endParaRPr>
          </a:p>
          <a:p>
            <a:pPr marL="12700" marR="33808">
              <a:lnSpc>
                <a:spcPts val="2405"/>
              </a:lnSpc>
              <a:spcBef>
                <a:spcPts val="120"/>
              </a:spcBef>
            </a:pPr>
            <a:r>
              <a:rPr sz="2000" spc="-1" dirty="0" smtClean="0">
                <a:latin typeface="Calibri"/>
                <a:cs typeface="Calibri"/>
              </a:rPr>
              <a:t>Decision making based on factual evidence</a:t>
            </a:r>
            <a:endParaRPr sz="2000" dirty="0">
              <a:latin typeface="Calibri"/>
              <a:cs typeface="Calibri"/>
            </a:endParaRPr>
          </a:p>
          <a:p>
            <a:pPr marL="12700" marR="33808">
              <a:lnSpc>
                <a:spcPts val="2400"/>
              </a:lnSpc>
            </a:pPr>
            <a:r>
              <a:rPr sz="2000" spc="-2" dirty="0" smtClean="0">
                <a:latin typeface="Calibri"/>
                <a:cs typeface="Calibri"/>
              </a:rPr>
              <a:t>Building mutually beneficial relationships with suppliers</a:t>
            </a:r>
            <a:endParaRPr sz="2000" dirty="0">
              <a:latin typeface="Calibri"/>
              <a:cs typeface="Calibri"/>
            </a:endParaRPr>
          </a:p>
        </p:txBody>
      </p:sp>
      <p:grpSp>
        <p:nvGrpSpPr>
          <p:cNvPr id="9" name="Group 8"/>
          <p:cNvGrpSpPr/>
          <p:nvPr/>
        </p:nvGrpSpPr>
        <p:grpSpPr>
          <a:xfrm>
            <a:off x="535940" y="2310893"/>
            <a:ext cx="152654" cy="3671015"/>
            <a:chOff x="535940" y="2310893"/>
            <a:chExt cx="152654" cy="3671015"/>
          </a:xfrm>
        </p:grpSpPr>
        <p:sp>
          <p:nvSpPr>
            <p:cNvPr id="7" name="object 7"/>
            <p:cNvSpPr txBox="1"/>
            <p:nvPr/>
          </p:nvSpPr>
          <p:spPr>
            <a:xfrm>
              <a:off x="535940" y="2310893"/>
              <a:ext cx="152653" cy="279907"/>
            </a:xfrm>
            <a:prstGeom prst="rect">
              <a:avLst/>
            </a:prstGeom>
          </p:spPr>
          <p:txBody>
            <a:bodyPr wrap="square" lIns="0" tIns="13652" rIns="0" bIns="0" rtlCol="0">
              <a:noAutofit/>
            </a:bodyPr>
            <a:lstStyle/>
            <a:p>
              <a:pPr marL="12700">
                <a:lnSpc>
                  <a:spcPts val="2150"/>
                </a:lnSpc>
              </a:pPr>
              <a:r>
                <a:rPr sz="2000" dirty="0" smtClean="0">
                  <a:latin typeface="Arial"/>
                  <a:cs typeface="Arial"/>
                </a:rPr>
                <a:t>•</a:t>
              </a:r>
              <a:endParaRPr sz="2000">
                <a:latin typeface="Arial"/>
                <a:cs typeface="Arial"/>
              </a:endParaRPr>
            </a:p>
          </p:txBody>
        </p:sp>
        <p:sp>
          <p:nvSpPr>
            <p:cNvPr id="5" name="object 5"/>
            <p:cNvSpPr txBox="1"/>
            <p:nvPr/>
          </p:nvSpPr>
          <p:spPr>
            <a:xfrm>
              <a:off x="535940" y="2971800"/>
              <a:ext cx="152653" cy="279907"/>
            </a:xfrm>
            <a:prstGeom prst="rect">
              <a:avLst/>
            </a:prstGeom>
          </p:spPr>
          <p:txBody>
            <a:bodyPr wrap="square" lIns="0" tIns="13652" rIns="0" bIns="0" rtlCol="0">
              <a:noAutofit/>
            </a:bodyPr>
            <a:lstStyle/>
            <a:p>
              <a:pPr marL="12700">
                <a:lnSpc>
                  <a:spcPts val="2150"/>
                </a:lnSpc>
              </a:pPr>
              <a:r>
                <a:rPr sz="2000" dirty="0" smtClean="0">
                  <a:latin typeface="Arial"/>
                  <a:cs typeface="Arial"/>
                </a:rPr>
                <a:t>•</a:t>
              </a:r>
              <a:endParaRPr sz="2000">
                <a:latin typeface="Arial"/>
                <a:cs typeface="Arial"/>
              </a:endParaRPr>
            </a:p>
          </p:txBody>
        </p:sp>
        <p:sp>
          <p:nvSpPr>
            <p:cNvPr id="4" name="object 4"/>
            <p:cNvSpPr txBox="1"/>
            <p:nvPr/>
          </p:nvSpPr>
          <p:spPr>
            <a:xfrm>
              <a:off x="535940" y="3581400"/>
              <a:ext cx="152654" cy="584961"/>
            </a:xfrm>
            <a:prstGeom prst="rect">
              <a:avLst/>
            </a:prstGeom>
          </p:spPr>
          <p:txBody>
            <a:bodyPr wrap="square" lIns="0" tIns="13652" rIns="0" bIns="0" rtlCol="0">
              <a:noAutofit/>
            </a:bodyPr>
            <a:lstStyle/>
            <a:p>
              <a:pPr marL="12700">
                <a:lnSpc>
                  <a:spcPts val="2150"/>
                </a:lnSpc>
              </a:pPr>
              <a:r>
                <a:rPr sz="2000" dirty="0" smtClean="0">
                  <a:latin typeface="Arial"/>
                  <a:cs typeface="Arial"/>
                </a:rPr>
                <a:t>•</a:t>
              </a:r>
              <a:endParaRPr sz="2000" dirty="0">
                <a:latin typeface="Arial"/>
                <a:cs typeface="Arial"/>
              </a:endParaRPr>
            </a:p>
            <a:p>
              <a:pPr marL="12700">
                <a:lnSpc>
                  <a:spcPct val="95825"/>
                </a:lnSpc>
              </a:pPr>
              <a:r>
                <a:rPr sz="2000" dirty="0" smtClean="0">
                  <a:latin typeface="Arial"/>
                  <a:cs typeface="Arial"/>
                </a:rPr>
                <a:t>•</a:t>
              </a:r>
              <a:endParaRPr sz="2000" dirty="0">
                <a:latin typeface="Arial"/>
                <a:cs typeface="Arial"/>
              </a:endParaRPr>
            </a:p>
          </p:txBody>
        </p:sp>
        <p:sp>
          <p:nvSpPr>
            <p:cNvPr id="3" name="object 3"/>
            <p:cNvSpPr txBox="1"/>
            <p:nvPr/>
          </p:nvSpPr>
          <p:spPr>
            <a:xfrm>
              <a:off x="535940" y="4444493"/>
              <a:ext cx="152654" cy="279907"/>
            </a:xfrm>
            <a:prstGeom prst="rect">
              <a:avLst/>
            </a:prstGeom>
          </p:spPr>
          <p:txBody>
            <a:bodyPr wrap="square" lIns="0" tIns="13652" rIns="0" bIns="0" rtlCol="0">
              <a:noAutofit/>
            </a:bodyPr>
            <a:lstStyle/>
            <a:p>
              <a:pPr marL="12700">
                <a:lnSpc>
                  <a:spcPts val="2150"/>
                </a:lnSpc>
              </a:pPr>
              <a:r>
                <a:rPr sz="2000" dirty="0" smtClean="0">
                  <a:latin typeface="Arial"/>
                  <a:cs typeface="Arial"/>
                </a:rPr>
                <a:t>•</a:t>
              </a:r>
              <a:endParaRPr sz="2000">
                <a:latin typeface="Arial"/>
                <a:cs typeface="Arial"/>
              </a:endParaRPr>
            </a:p>
          </p:txBody>
        </p:sp>
        <p:sp>
          <p:nvSpPr>
            <p:cNvPr id="2" name="object 2"/>
            <p:cNvSpPr txBox="1"/>
            <p:nvPr/>
          </p:nvSpPr>
          <p:spPr>
            <a:xfrm>
              <a:off x="535940" y="5092070"/>
              <a:ext cx="152654" cy="889838"/>
            </a:xfrm>
            <a:prstGeom prst="rect">
              <a:avLst/>
            </a:prstGeom>
          </p:spPr>
          <p:txBody>
            <a:bodyPr wrap="square" lIns="0" tIns="13652" rIns="0" bIns="0" rtlCol="0">
              <a:noAutofit/>
            </a:bodyPr>
            <a:lstStyle/>
            <a:p>
              <a:pPr marL="12700">
                <a:lnSpc>
                  <a:spcPts val="2150"/>
                </a:lnSpc>
              </a:pPr>
              <a:r>
                <a:rPr sz="2000" dirty="0" smtClean="0">
                  <a:latin typeface="Arial"/>
                  <a:cs typeface="Arial"/>
                </a:rPr>
                <a:t>•</a:t>
              </a:r>
              <a:endParaRPr sz="2000" dirty="0">
                <a:latin typeface="Arial"/>
                <a:cs typeface="Arial"/>
              </a:endParaRPr>
            </a:p>
            <a:p>
              <a:pPr marL="12700">
                <a:lnSpc>
                  <a:spcPct val="95825"/>
                </a:lnSpc>
              </a:pPr>
              <a:r>
                <a:rPr sz="2000" dirty="0" smtClean="0">
                  <a:latin typeface="Arial"/>
                  <a:cs typeface="Arial"/>
                </a:rPr>
                <a:t>•</a:t>
              </a:r>
              <a:endParaRPr sz="2000" dirty="0">
                <a:latin typeface="Arial"/>
                <a:cs typeface="Arial"/>
              </a:endParaRPr>
            </a:p>
            <a:p>
              <a:pPr marL="12700">
                <a:lnSpc>
                  <a:spcPct val="95825"/>
                </a:lnSpc>
                <a:spcBef>
                  <a:spcPts val="100"/>
                </a:spcBef>
              </a:pPr>
              <a:r>
                <a:rPr sz="2000" dirty="0" smtClean="0">
                  <a:latin typeface="Arial"/>
                  <a:cs typeface="Arial"/>
                </a:rPr>
                <a:t>•</a:t>
              </a:r>
              <a:endParaRPr sz="2000" dirty="0">
                <a:latin typeface="Arial"/>
                <a:cs typeface="Arial"/>
              </a:endParaRPr>
            </a:p>
          </p:txBody>
        </p:sp>
      </p:grpSp>
      <p:sp>
        <p:nvSpPr>
          <p:cNvPr id="13" name="Slide Number Placeholder 12"/>
          <p:cNvSpPr>
            <a:spLocks noGrp="1"/>
          </p:cNvSpPr>
          <p:nvPr>
            <p:ph type="sldNum" sz="quarter" idx="12"/>
          </p:nvPr>
        </p:nvSpPr>
        <p:spPr/>
        <p:txBody>
          <a:bodyPr/>
          <a:lstStyle/>
          <a:p>
            <a:fld id="{E5CE4F79-B2B3-4E4E-AB5D-F771515B9CEF}" type="slidenum">
              <a:rPr lang="en-US" smtClean="0"/>
              <a:t>53</a:t>
            </a:fld>
            <a:endParaRPr lang="en-US" dirty="0"/>
          </a:p>
        </p:txBody>
      </p:sp>
    </p:spTree>
    <p:extLst>
      <p:ext uri="{BB962C8B-B14F-4D97-AF65-F5344CB8AC3E}">
        <p14:creationId xmlns:p14="http://schemas.microsoft.com/office/powerpoint/2010/main" val="21039489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28600" y="449131"/>
            <a:ext cx="7772878" cy="1540103"/>
          </a:xfrm>
          <a:prstGeom prst="rect">
            <a:avLst/>
          </a:prstGeom>
        </p:spPr>
        <p:txBody>
          <a:bodyPr wrap="square" lIns="0" tIns="28606" rIns="0" bIns="0" rtlCol="0">
            <a:noAutofit/>
          </a:bodyPr>
          <a:lstStyle/>
          <a:p>
            <a:pPr marL="400710" algn="ctr">
              <a:lnSpc>
                <a:spcPts val="4505"/>
              </a:lnSpc>
            </a:pPr>
            <a:r>
              <a:rPr sz="4400" b="1" spc="-18" dirty="0" smtClean="0">
                <a:latin typeface="Calibri"/>
                <a:cs typeface="Calibri"/>
              </a:rPr>
              <a:t>EXTERNAL STANDARDS </a:t>
            </a:r>
            <a:endParaRPr lang="en-US" sz="4400" b="1" spc="-18" dirty="0" smtClean="0">
              <a:latin typeface="Calibri"/>
              <a:cs typeface="Calibri"/>
            </a:endParaRPr>
          </a:p>
          <a:p>
            <a:pPr marL="400710">
              <a:lnSpc>
                <a:spcPts val="4505"/>
              </a:lnSpc>
            </a:pPr>
            <a:endParaRPr lang="en-US" sz="4400" b="1" spc="-18" dirty="0" smtClean="0">
              <a:latin typeface="Calibri"/>
              <a:cs typeface="Calibri"/>
            </a:endParaRPr>
          </a:p>
          <a:p>
            <a:pPr marL="400710">
              <a:lnSpc>
                <a:spcPts val="4505"/>
              </a:lnSpc>
            </a:pPr>
            <a:r>
              <a:rPr sz="3200" b="1" u="sng" spc="-2" dirty="0" smtClean="0">
                <a:latin typeface="Calibri"/>
                <a:cs typeface="Calibri"/>
              </a:rPr>
              <a:t>ISO 15504</a:t>
            </a:r>
            <a:endParaRPr sz="3200" u="sng" dirty="0">
              <a:latin typeface="Calibri"/>
              <a:cs typeface="Calibri"/>
            </a:endParaRPr>
          </a:p>
        </p:txBody>
      </p:sp>
      <p:sp>
        <p:nvSpPr>
          <p:cNvPr id="4" name="object 4"/>
          <p:cNvSpPr txBox="1"/>
          <p:nvPr/>
        </p:nvSpPr>
        <p:spPr>
          <a:xfrm>
            <a:off x="535940" y="2270100"/>
            <a:ext cx="229006" cy="432612"/>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3" name="object 3"/>
          <p:cNvSpPr txBox="1"/>
          <p:nvPr/>
        </p:nvSpPr>
        <p:spPr>
          <a:xfrm>
            <a:off x="879144" y="2294661"/>
            <a:ext cx="7738591" cy="3554272"/>
          </a:xfrm>
          <a:prstGeom prst="rect">
            <a:avLst/>
          </a:prstGeom>
        </p:spPr>
        <p:txBody>
          <a:bodyPr wrap="square" lIns="0" tIns="20986" rIns="0" bIns="0" rtlCol="0">
            <a:noAutofit/>
          </a:bodyPr>
          <a:lstStyle/>
          <a:p>
            <a:pPr marL="12700" marR="61714">
              <a:lnSpc>
                <a:spcPts val="3304"/>
              </a:lnSpc>
            </a:pPr>
            <a:r>
              <a:rPr sz="3200" spc="-7" dirty="0" smtClean="0">
                <a:latin typeface="Calibri"/>
                <a:cs typeface="Calibri"/>
              </a:rPr>
              <a:t>ISO/IEC 15504 is a standard for process</a:t>
            </a:r>
            <a:endParaRPr sz="3200">
              <a:latin typeface="Calibri"/>
              <a:cs typeface="Calibri"/>
            </a:endParaRPr>
          </a:p>
          <a:p>
            <a:pPr marL="12700" marR="61714">
              <a:lnSpc>
                <a:spcPts val="3840"/>
              </a:lnSpc>
              <a:spcBef>
                <a:spcPts val="26"/>
              </a:spcBef>
            </a:pPr>
            <a:r>
              <a:rPr sz="3200" spc="-5" dirty="0" smtClean="0">
                <a:latin typeface="Calibri"/>
                <a:cs typeface="Calibri"/>
              </a:rPr>
              <a:t>assessment that shares many concepts with</a:t>
            </a:r>
            <a:endParaRPr sz="3200">
              <a:latin typeface="Calibri"/>
              <a:cs typeface="Calibri"/>
            </a:endParaRPr>
          </a:p>
          <a:p>
            <a:pPr marL="12700" marR="61714">
              <a:lnSpc>
                <a:spcPts val="3840"/>
              </a:lnSpc>
            </a:pPr>
            <a:r>
              <a:rPr sz="3200" dirty="0" smtClean="0">
                <a:latin typeface="Calibri"/>
                <a:cs typeface="Calibri"/>
              </a:rPr>
              <a:t>CMMI</a:t>
            </a:r>
            <a:endParaRPr sz="3200">
              <a:latin typeface="Calibri"/>
              <a:cs typeface="Calibri"/>
            </a:endParaRPr>
          </a:p>
          <a:p>
            <a:pPr marL="12700" marR="61714">
              <a:lnSpc>
                <a:spcPct val="101725"/>
              </a:lnSpc>
              <a:spcBef>
                <a:spcPts val="511"/>
              </a:spcBef>
            </a:pPr>
            <a:r>
              <a:rPr sz="3200" spc="-5" dirty="0" smtClean="0">
                <a:latin typeface="Calibri"/>
                <a:cs typeface="Calibri"/>
              </a:rPr>
              <a:t>The two standard should be compatible</a:t>
            </a:r>
            <a:endParaRPr sz="3200">
              <a:latin typeface="Calibri"/>
              <a:cs typeface="Calibri"/>
            </a:endParaRPr>
          </a:p>
          <a:p>
            <a:pPr marL="12700">
              <a:lnSpc>
                <a:spcPct val="99995"/>
              </a:lnSpc>
              <a:spcBef>
                <a:spcPts val="754"/>
              </a:spcBef>
            </a:pPr>
            <a:r>
              <a:rPr sz="3200" dirty="0" smtClean="0">
                <a:latin typeface="Calibri"/>
                <a:cs typeface="Calibri"/>
              </a:rPr>
              <a:t>Li</a:t>
            </a:r>
            <a:r>
              <a:rPr sz="3200" spc="-119" dirty="0" smtClean="0">
                <a:latin typeface="Calibri"/>
                <a:cs typeface="Calibri"/>
              </a:rPr>
              <a:t>k</a:t>
            </a:r>
            <a:r>
              <a:rPr sz="3200" spc="0" dirty="0" smtClean="0">
                <a:latin typeface="Calibri"/>
                <a:cs typeface="Calibri"/>
              </a:rPr>
              <a:t>e CMMI</a:t>
            </a:r>
            <a:r>
              <a:rPr sz="3200" spc="14" dirty="0" smtClean="0">
                <a:latin typeface="Calibri"/>
                <a:cs typeface="Calibri"/>
              </a:rPr>
              <a:t> </a:t>
            </a:r>
            <a:r>
              <a:rPr sz="3200" spc="0" dirty="0" smtClean="0">
                <a:latin typeface="Calibri"/>
                <a:cs typeface="Calibri"/>
              </a:rPr>
              <a:t>the </a:t>
            </a:r>
            <a:r>
              <a:rPr sz="3200" spc="-39" dirty="0" smtClean="0">
                <a:latin typeface="Calibri"/>
                <a:cs typeface="Calibri"/>
              </a:rPr>
              <a:t>st</a:t>
            </a:r>
            <a:r>
              <a:rPr sz="3200" spc="0" dirty="0" smtClean="0">
                <a:latin typeface="Calibri"/>
                <a:cs typeface="Calibri"/>
              </a:rPr>
              <a:t>anda</a:t>
            </a:r>
            <a:r>
              <a:rPr sz="3200" spc="-54" dirty="0" smtClean="0">
                <a:latin typeface="Calibri"/>
                <a:cs typeface="Calibri"/>
              </a:rPr>
              <a:t>r</a:t>
            </a:r>
            <a:r>
              <a:rPr sz="3200" spc="0" dirty="0" smtClean="0">
                <a:latin typeface="Calibri"/>
                <a:cs typeface="Calibri"/>
              </a:rPr>
              <a:t>d</a:t>
            </a:r>
            <a:r>
              <a:rPr sz="3200" spc="25" dirty="0" smtClean="0">
                <a:latin typeface="Calibri"/>
                <a:cs typeface="Calibri"/>
              </a:rPr>
              <a:t> </a:t>
            </a:r>
            <a:r>
              <a:rPr sz="3200" spc="0" dirty="0" smtClean="0">
                <a:latin typeface="Calibri"/>
                <a:cs typeface="Calibri"/>
              </a:rPr>
              <a:t>is</a:t>
            </a:r>
            <a:r>
              <a:rPr sz="3200" spc="-4" dirty="0" smtClean="0">
                <a:latin typeface="Calibri"/>
                <a:cs typeface="Calibri"/>
              </a:rPr>
              <a:t> </a:t>
            </a:r>
            <a:r>
              <a:rPr sz="3200" spc="0" dirty="0" smtClean="0">
                <a:latin typeface="Calibri"/>
                <a:cs typeface="Calibri"/>
              </a:rPr>
              <a:t>designed</a:t>
            </a:r>
            <a:r>
              <a:rPr sz="3200" spc="14" dirty="0" smtClean="0">
                <a:latin typeface="Calibri"/>
                <a:cs typeface="Calibri"/>
              </a:rPr>
              <a:t> </a:t>
            </a:r>
            <a:r>
              <a:rPr sz="3200" spc="-39" dirty="0" smtClean="0">
                <a:latin typeface="Calibri"/>
                <a:cs typeface="Calibri"/>
              </a:rPr>
              <a:t>t</a:t>
            </a:r>
            <a:r>
              <a:rPr sz="3200" spc="0" dirty="0" smtClean="0">
                <a:latin typeface="Calibri"/>
                <a:cs typeface="Calibri"/>
              </a:rPr>
              <a:t>o</a:t>
            </a:r>
            <a:r>
              <a:rPr sz="3200" spc="9" dirty="0" smtClean="0">
                <a:latin typeface="Calibri"/>
                <a:cs typeface="Calibri"/>
              </a:rPr>
              <a:t> </a:t>
            </a:r>
            <a:r>
              <a:rPr sz="3200" spc="0" dirty="0" smtClean="0">
                <a:latin typeface="Calibri"/>
                <a:cs typeface="Calibri"/>
              </a:rPr>
              <a:t>p</a:t>
            </a:r>
            <a:r>
              <a:rPr sz="3200" spc="-50" dirty="0" smtClean="0">
                <a:latin typeface="Calibri"/>
                <a:cs typeface="Calibri"/>
              </a:rPr>
              <a:t>r</a:t>
            </a:r>
            <a:r>
              <a:rPr sz="3200" spc="0" dirty="0" smtClean="0">
                <a:latin typeface="Calibri"/>
                <a:cs typeface="Calibri"/>
              </a:rPr>
              <a:t>ov</a:t>
            </a:r>
            <a:r>
              <a:rPr sz="3200" spc="-9" dirty="0" smtClean="0">
                <a:latin typeface="Calibri"/>
                <a:cs typeface="Calibri"/>
              </a:rPr>
              <a:t>i</a:t>
            </a:r>
            <a:r>
              <a:rPr sz="3200" spc="0" dirty="0" smtClean="0">
                <a:latin typeface="Calibri"/>
                <a:cs typeface="Calibri"/>
              </a:rPr>
              <a:t>de gui</a:t>
            </a:r>
            <a:r>
              <a:rPr sz="3200" spc="-9" dirty="0" smtClean="0">
                <a:latin typeface="Calibri"/>
                <a:cs typeface="Calibri"/>
              </a:rPr>
              <a:t>d</a:t>
            </a:r>
            <a:r>
              <a:rPr sz="3200" spc="0" dirty="0" smtClean="0">
                <a:latin typeface="Calibri"/>
                <a:cs typeface="Calibri"/>
              </a:rPr>
              <a:t>ance</a:t>
            </a:r>
            <a:r>
              <a:rPr sz="3200" spc="14" dirty="0" smtClean="0">
                <a:latin typeface="Calibri"/>
                <a:cs typeface="Calibri"/>
              </a:rPr>
              <a:t> </a:t>
            </a:r>
            <a:r>
              <a:rPr sz="3200" spc="0" dirty="0" smtClean="0">
                <a:latin typeface="Calibri"/>
                <a:cs typeface="Calibri"/>
              </a:rPr>
              <a:t>on </a:t>
            </a:r>
            <a:r>
              <a:rPr sz="3200" spc="-14" dirty="0" smtClean="0">
                <a:latin typeface="Calibri"/>
                <a:cs typeface="Calibri"/>
              </a:rPr>
              <a:t>t</a:t>
            </a:r>
            <a:r>
              <a:rPr sz="3200" spc="0" dirty="0" smtClean="0">
                <a:latin typeface="Calibri"/>
                <a:cs typeface="Calibri"/>
              </a:rPr>
              <a:t>he asse</a:t>
            </a:r>
            <a:r>
              <a:rPr sz="3200" spc="-14" dirty="0" smtClean="0">
                <a:latin typeface="Calibri"/>
                <a:cs typeface="Calibri"/>
              </a:rPr>
              <a:t>s</a:t>
            </a:r>
            <a:r>
              <a:rPr sz="3200" spc="0" dirty="0" smtClean="0">
                <a:latin typeface="Calibri"/>
                <a:cs typeface="Calibri"/>
              </a:rPr>
              <a:t>sm</a:t>
            </a:r>
            <a:r>
              <a:rPr sz="3200" spc="-9" dirty="0" smtClean="0">
                <a:latin typeface="Calibri"/>
                <a:cs typeface="Calibri"/>
              </a:rPr>
              <a:t>e</a:t>
            </a:r>
            <a:r>
              <a:rPr sz="3200" spc="-29" dirty="0" smtClean="0">
                <a:latin typeface="Calibri"/>
                <a:cs typeface="Calibri"/>
              </a:rPr>
              <a:t>n</a:t>
            </a:r>
            <a:r>
              <a:rPr sz="3200" spc="0" dirty="0" smtClean="0">
                <a:latin typeface="Calibri"/>
                <a:cs typeface="Calibri"/>
              </a:rPr>
              <a:t>t of sof</a:t>
            </a:r>
            <a:r>
              <a:rPr sz="3200" spc="-9" dirty="0" smtClean="0">
                <a:latin typeface="Calibri"/>
                <a:cs typeface="Calibri"/>
              </a:rPr>
              <a:t>t</a:t>
            </a:r>
            <a:r>
              <a:rPr sz="3200" spc="-34" dirty="0" smtClean="0">
                <a:latin typeface="Calibri"/>
                <a:cs typeface="Calibri"/>
              </a:rPr>
              <a:t>w</a:t>
            </a:r>
            <a:r>
              <a:rPr sz="3200" spc="0" dirty="0" smtClean="0">
                <a:latin typeface="Calibri"/>
                <a:cs typeface="Calibri"/>
              </a:rPr>
              <a:t>a</a:t>
            </a:r>
            <a:r>
              <a:rPr sz="3200" spc="-34" dirty="0" smtClean="0">
                <a:latin typeface="Calibri"/>
                <a:cs typeface="Calibri"/>
              </a:rPr>
              <a:t>r</a:t>
            </a:r>
            <a:r>
              <a:rPr sz="3200" spc="0" dirty="0" smtClean="0">
                <a:latin typeface="Calibri"/>
                <a:cs typeface="Calibri"/>
              </a:rPr>
              <a:t>e d</a:t>
            </a:r>
            <a:r>
              <a:rPr sz="3200" spc="-14" dirty="0" smtClean="0">
                <a:latin typeface="Calibri"/>
                <a:cs typeface="Calibri"/>
              </a:rPr>
              <a:t>e</a:t>
            </a:r>
            <a:r>
              <a:rPr sz="3200" spc="-29" dirty="0" smtClean="0">
                <a:latin typeface="Calibri"/>
                <a:cs typeface="Calibri"/>
              </a:rPr>
              <a:t>v</a:t>
            </a:r>
            <a:r>
              <a:rPr sz="3200" spc="0" dirty="0" smtClean="0">
                <a:latin typeface="Calibri"/>
                <a:cs typeface="Calibri"/>
              </a:rPr>
              <a:t>elopme</a:t>
            </a:r>
            <a:r>
              <a:rPr sz="3200" spc="-25" dirty="0" smtClean="0">
                <a:latin typeface="Calibri"/>
                <a:cs typeface="Calibri"/>
              </a:rPr>
              <a:t>n</a:t>
            </a:r>
            <a:r>
              <a:rPr sz="3200" spc="0" dirty="0" smtClean="0">
                <a:latin typeface="Calibri"/>
                <a:cs typeface="Calibri"/>
              </a:rPr>
              <a:t>t p</a:t>
            </a:r>
            <a:r>
              <a:rPr sz="3200" spc="-50" dirty="0" smtClean="0">
                <a:latin typeface="Calibri"/>
                <a:cs typeface="Calibri"/>
              </a:rPr>
              <a:t>r</a:t>
            </a:r>
            <a:r>
              <a:rPr sz="3200" spc="0" dirty="0" smtClean="0">
                <a:latin typeface="Calibri"/>
                <a:cs typeface="Calibri"/>
              </a:rPr>
              <a:t>ocess</a:t>
            </a:r>
            <a:endParaRPr sz="3200">
              <a:latin typeface="Calibri"/>
              <a:cs typeface="Calibri"/>
            </a:endParaRPr>
          </a:p>
        </p:txBody>
      </p:sp>
      <p:sp>
        <p:nvSpPr>
          <p:cNvPr id="2" name="object 2"/>
          <p:cNvSpPr txBox="1"/>
          <p:nvPr/>
        </p:nvSpPr>
        <p:spPr>
          <a:xfrm>
            <a:off x="535940" y="3831177"/>
            <a:ext cx="228854" cy="1017524"/>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a:p>
            <a:pPr marL="12700">
              <a:lnSpc>
                <a:spcPct val="95825"/>
              </a:lnSpc>
              <a:spcBef>
                <a:spcPts val="759"/>
              </a:spcBef>
            </a:pPr>
            <a:r>
              <a:rPr sz="3200" dirty="0" smtClean="0">
                <a:latin typeface="Arial"/>
                <a:cs typeface="Arial"/>
              </a:rPr>
              <a:t>•</a:t>
            </a:r>
            <a:endParaRPr sz="3200">
              <a:latin typeface="Arial"/>
              <a:cs typeface="Arial"/>
            </a:endParaRPr>
          </a:p>
        </p:txBody>
      </p:sp>
      <p:sp>
        <p:nvSpPr>
          <p:cNvPr id="8" name="Slide Number Placeholder 7"/>
          <p:cNvSpPr>
            <a:spLocks noGrp="1"/>
          </p:cNvSpPr>
          <p:nvPr>
            <p:ph type="sldNum" sz="quarter" idx="12"/>
          </p:nvPr>
        </p:nvSpPr>
        <p:spPr/>
        <p:txBody>
          <a:bodyPr/>
          <a:lstStyle/>
          <a:p>
            <a:fld id="{E5CE4F79-B2B3-4E4E-AB5D-F771515B9CEF}" type="slidenum">
              <a:rPr lang="en-US" smtClean="0"/>
              <a:t>54</a:t>
            </a:fld>
            <a:endParaRPr lang="en-US" dirty="0"/>
          </a:p>
        </p:txBody>
      </p:sp>
    </p:spTree>
    <p:extLst>
      <p:ext uri="{BB962C8B-B14F-4D97-AF65-F5344CB8AC3E}">
        <p14:creationId xmlns:p14="http://schemas.microsoft.com/office/powerpoint/2010/main" val="1208555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79144" y="318795"/>
            <a:ext cx="7118067" cy="1822805"/>
          </a:xfrm>
          <a:prstGeom prst="rect">
            <a:avLst/>
          </a:prstGeom>
        </p:spPr>
        <p:txBody>
          <a:bodyPr wrap="square" lIns="0" tIns="26035" rIns="0" bIns="0" rtlCol="0">
            <a:noAutofit/>
          </a:bodyPr>
          <a:lstStyle/>
          <a:p>
            <a:pPr marL="268848" algn="ctr">
              <a:lnSpc>
                <a:spcPts val="4100"/>
              </a:lnSpc>
            </a:pPr>
            <a:r>
              <a:rPr sz="4000" b="1" spc="-11" dirty="0" smtClean="0">
                <a:latin typeface="Calibri"/>
                <a:cs typeface="Calibri"/>
              </a:rPr>
              <a:t>TECHNIQUES TO HELP ENHANCE</a:t>
            </a:r>
            <a:endParaRPr sz="4000">
              <a:latin typeface="Calibri"/>
              <a:cs typeface="Calibri"/>
            </a:endParaRPr>
          </a:p>
          <a:p>
            <a:pPr marL="1492999" marR="1227087" algn="ctr">
              <a:lnSpc>
                <a:spcPts val="4800"/>
              </a:lnSpc>
              <a:spcBef>
                <a:spcPts val="35"/>
              </a:spcBef>
            </a:pPr>
            <a:r>
              <a:rPr sz="4000" b="1" spc="-27" dirty="0" smtClean="0">
                <a:latin typeface="Calibri"/>
                <a:cs typeface="Calibri"/>
              </a:rPr>
              <a:t>SOFTWARE QUALITY</a:t>
            </a:r>
            <a:endParaRPr sz="4000">
              <a:latin typeface="Calibri"/>
              <a:cs typeface="Calibri"/>
            </a:endParaRPr>
          </a:p>
          <a:p>
            <a:pPr marL="12700" marR="38084">
              <a:lnSpc>
                <a:spcPct val="101725"/>
              </a:lnSpc>
              <a:spcBef>
                <a:spcPts val="1206"/>
              </a:spcBef>
            </a:pPr>
            <a:r>
              <a:rPr sz="3200" spc="-4" dirty="0" smtClean="0">
                <a:latin typeface="Calibri"/>
                <a:cs typeface="Calibri"/>
              </a:rPr>
              <a:t>Three main themes emerge</a:t>
            </a:r>
            <a:endParaRPr sz="3200">
              <a:latin typeface="Calibri"/>
              <a:cs typeface="Calibri"/>
            </a:endParaRPr>
          </a:p>
        </p:txBody>
      </p:sp>
      <p:sp>
        <p:nvSpPr>
          <p:cNvPr id="3" name="object 3"/>
          <p:cNvSpPr txBox="1"/>
          <p:nvPr/>
        </p:nvSpPr>
        <p:spPr>
          <a:xfrm>
            <a:off x="535940" y="1684750"/>
            <a:ext cx="228853" cy="432307"/>
          </a:xfrm>
          <a:prstGeom prst="rect">
            <a:avLst/>
          </a:prstGeom>
        </p:spPr>
        <p:txBody>
          <a:bodyPr wrap="square" lIns="0" tIns="21431" rIns="0" bIns="0" rtlCol="0">
            <a:noAutofit/>
          </a:bodyPr>
          <a:lstStyle/>
          <a:p>
            <a:pPr marL="12700">
              <a:lnSpc>
                <a:spcPts val="3375"/>
              </a:lnSpc>
            </a:pPr>
            <a:r>
              <a:rPr sz="3200" dirty="0" smtClean="0">
                <a:latin typeface="Arial"/>
                <a:cs typeface="Arial"/>
              </a:rPr>
              <a:t>•</a:t>
            </a:r>
            <a:endParaRPr sz="3200">
              <a:latin typeface="Arial"/>
              <a:cs typeface="Arial"/>
            </a:endParaRPr>
          </a:p>
        </p:txBody>
      </p:sp>
      <p:sp>
        <p:nvSpPr>
          <p:cNvPr id="2" name="object 2"/>
          <p:cNvSpPr txBox="1"/>
          <p:nvPr/>
        </p:nvSpPr>
        <p:spPr>
          <a:xfrm>
            <a:off x="1066800" y="2209800"/>
            <a:ext cx="5277417" cy="1627708"/>
          </a:xfrm>
          <a:prstGeom prst="rect">
            <a:avLst/>
          </a:prstGeom>
        </p:spPr>
        <p:txBody>
          <a:bodyPr wrap="square" lIns="0" tIns="22193" rIns="0" bIns="0" rtlCol="0">
            <a:noAutofit/>
          </a:bodyPr>
          <a:lstStyle/>
          <a:p>
            <a:pPr marL="12700" marR="64743">
              <a:lnSpc>
                <a:spcPts val="3495"/>
              </a:lnSpc>
            </a:pPr>
            <a:r>
              <a:rPr sz="3200" spc="179" dirty="0" smtClean="0">
                <a:latin typeface="Wingdings"/>
                <a:cs typeface="Wingdings"/>
              </a:rPr>
              <a:t></a:t>
            </a:r>
            <a:r>
              <a:rPr sz="3200" spc="-4" dirty="0" smtClean="0">
                <a:latin typeface="Calibri"/>
                <a:cs typeface="Calibri"/>
              </a:rPr>
              <a:t>Increasing visibility</a:t>
            </a:r>
            <a:endParaRPr sz="3200">
              <a:latin typeface="Calibri"/>
              <a:cs typeface="Calibri"/>
            </a:endParaRPr>
          </a:p>
          <a:p>
            <a:pPr marL="12700" marR="64743">
              <a:lnSpc>
                <a:spcPct val="101725"/>
              </a:lnSpc>
              <a:spcBef>
                <a:spcPts val="526"/>
              </a:spcBef>
            </a:pPr>
            <a:r>
              <a:rPr sz="3200" spc="184" dirty="0" smtClean="0">
                <a:latin typeface="Wingdings"/>
                <a:cs typeface="Wingdings"/>
              </a:rPr>
              <a:t></a:t>
            </a:r>
            <a:r>
              <a:rPr sz="3200" spc="-11" dirty="0" smtClean="0">
                <a:latin typeface="Calibri"/>
                <a:cs typeface="Calibri"/>
              </a:rPr>
              <a:t>Procedure structure</a:t>
            </a:r>
            <a:endParaRPr sz="3200">
              <a:latin typeface="Calibri"/>
              <a:cs typeface="Calibri"/>
            </a:endParaRPr>
          </a:p>
          <a:p>
            <a:pPr marL="12700">
              <a:lnSpc>
                <a:spcPct val="101725"/>
              </a:lnSpc>
              <a:spcBef>
                <a:spcPts val="703"/>
              </a:spcBef>
            </a:pPr>
            <a:r>
              <a:rPr sz="3200" spc="179" dirty="0" smtClean="0">
                <a:latin typeface="Wingdings"/>
                <a:cs typeface="Wingdings"/>
              </a:rPr>
              <a:t></a:t>
            </a:r>
            <a:r>
              <a:rPr sz="3200" spc="-8" dirty="0" smtClean="0">
                <a:latin typeface="Calibri"/>
                <a:cs typeface="Calibri"/>
              </a:rPr>
              <a:t>Checking intermediate stages</a:t>
            </a:r>
            <a:endParaRPr sz="3200">
              <a:latin typeface="Calibri"/>
              <a:cs typeface="Calibri"/>
            </a:endParaRPr>
          </a:p>
        </p:txBody>
      </p:sp>
      <p:sp>
        <p:nvSpPr>
          <p:cNvPr id="7" name="Slide Number Placeholder 6"/>
          <p:cNvSpPr>
            <a:spLocks noGrp="1"/>
          </p:cNvSpPr>
          <p:nvPr>
            <p:ph type="sldNum" sz="quarter" idx="12"/>
          </p:nvPr>
        </p:nvSpPr>
        <p:spPr/>
        <p:txBody>
          <a:bodyPr/>
          <a:lstStyle/>
          <a:p>
            <a:fld id="{E5CE4F79-B2B3-4E4E-AB5D-F771515B9CEF}" type="slidenum">
              <a:rPr lang="en-US" smtClean="0"/>
              <a:t>55</a:t>
            </a:fld>
            <a:endParaRPr lang="en-US" dirty="0"/>
          </a:p>
        </p:txBody>
      </p:sp>
    </p:spTree>
    <p:extLst>
      <p:ext uri="{BB962C8B-B14F-4D97-AF65-F5344CB8AC3E}">
        <p14:creationId xmlns:p14="http://schemas.microsoft.com/office/powerpoint/2010/main" val="2870515095"/>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13494</TotalTime>
  <Words>3195</Words>
  <Application>Microsoft Office PowerPoint</Application>
  <PresentationFormat>On-screen Show (4:3)</PresentationFormat>
  <Paragraphs>507</Paragraphs>
  <Slides>55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Times New Roman</vt:lpstr>
      <vt:lpstr>Wingdings</vt:lpstr>
      <vt:lpstr>Retrospect</vt:lpstr>
      <vt:lpstr>Software Quality Management</vt:lpstr>
      <vt:lpstr>Software Quality Management</vt:lpstr>
      <vt:lpstr>Software Quality Management</vt:lpstr>
      <vt:lpstr>Software Quality Management</vt:lpstr>
      <vt:lpstr>Total Quality Management (TQM) </vt:lpstr>
      <vt:lpstr>Objectives of TQM</vt:lpstr>
      <vt:lpstr>Elements of TQM</vt:lpstr>
      <vt:lpstr>Elements of TQM</vt:lpstr>
      <vt:lpstr>Elements of TQM</vt:lpstr>
      <vt:lpstr>TQM Fails Because</vt:lpstr>
      <vt:lpstr>The Importance Of Software Quality</vt:lpstr>
      <vt:lpstr>Defining Software Quality</vt:lpstr>
      <vt:lpstr>Defining Software Quality</vt:lpstr>
      <vt:lpstr>Quality Management Activities</vt:lpstr>
      <vt:lpstr>Quality Management And Software Development</vt:lpstr>
      <vt:lpstr>Process And Product Quality</vt:lpstr>
      <vt:lpstr>Process Based Quality</vt:lpstr>
      <vt:lpstr>Project Quality Management Summary</vt:lpstr>
      <vt:lpstr>Quality Planning</vt:lpstr>
      <vt:lpstr>Quality Plans</vt:lpstr>
      <vt:lpstr>Quality Assurance And Standards</vt:lpstr>
      <vt:lpstr>Importance of standards</vt:lpstr>
      <vt:lpstr>Component of Quality Assurance</vt:lpstr>
      <vt:lpstr>Component of Quality Assurance</vt:lpstr>
      <vt:lpstr>Component of Quality Assurance</vt:lpstr>
      <vt:lpstr>Software Testing</vt:lpstr>
      <vt:lpstr>Testing Alone Is Not Enough</vt:lpstr>
      <vt:lpstr>Who’s Responsible for the Quality  of Projects?</vt:lpstr>
      <vt:lpstr>Quality Control</vt:lpstr>
      <vt:lpstr>Quality Reviews</vt:lpstr>
      <vt:lpstr>Six Sigma Analysis</vt:lpstr>
      <vt:lpstr>Basic Information on Six Sigma</vt:lpstr>
      <vt:lpstr>DMAIC</vt:lpstr>
      <vt:lpstr>How is Six Sigma Quality  Control Unique?</vt:lpstr>
      <vt:lpstr>Six Sigma Projects Use Project Management Tools</vt:lpstr>
      <vt:lpstr>Six Sigma Projects Use Project Management Tools</vt:lpstr>
      <vt:lpstr>Six Sigma and Statistics</vt:lpstr>
      <vt:lpstr>Six Sigma Uses a Conversion Table</vt:lpstr>
      <vt:lpstr>Normal Distribution and Standard Deviation</vt:lpstr>
      <vt:lpstr>Normal Distribution and Standard Deviation</vt:lpstr>
      <vt:lpstr>Sigma and Defective Units</vt:lpstr>
      <vt:lpstr>Sigma Conversion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1114</cp:revision>
  <dcterms:created xsi:type="dcterms:W3CDTF">2022-08-07T01:15:18Z</dcterms:created>
  <dcterms:modified xsi:type="dcterms:W3CDTF">2024-02-02T01:26:34Z</dcterms:modified>
</cp:coreProperties>
</file>