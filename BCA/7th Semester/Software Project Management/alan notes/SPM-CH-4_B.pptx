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55"/>
  </p:notesMasterIdLst>
  <p:sldIdLst>
    <p:sldId id="256" r:id="rId2"/>
    <p:sldId id="311" r:id="rId3"/>
    <p:sldId id="312" r:id="rId4"/>
    <p:sldId id="313" r:id="rId5"/>
    <p:sldId id="314" r:id="rId6"/>
    <p:sldId id="315" r:id="rId7"/>
    <p:sldId id="379" r:id="rId8"/>
    <p:sldId id="316" r:id="rId9"/>
    <p:sldId id="317" r:id="rId10"/>
    <p:sldId id="318" r:id="rId11"/>
    <p:sldId id="319" r:id="rId12"/>
    <p:sldId id="320" r:id="rId13"/>
    <p:sldId id="321" r:id="rId14"/>
    <p:sldId id="322" r:id="rId15"/>
    <p:sldId id="323" r:id="rId16"/>
    <p:sldId id="327" r:id="rId17"/>
    <p:sldId id="328" r:id="rId18"/>
    <p:sldId id="332" r:id="rId19"/>
    <p:sldId id="380" r:id="rId20"/>
    <p:sldId id="333" r:id="rId21"/>
    <p:sldId id="334" r:id="rId22"/>
    <p:sldId id="335" r:id="rId23"/>
    <p:sldId id="336" r:id="rId24"/>
    <p:sldId id="337" r:id="rId25"/>
    <p:sldId id="338" r:id="rId26"/>
    <p:sldId id="339" r:id="rId27"/>
    <p:sldId id="340" r:id="rId28"/>
    <p:sldId id="341" r:id="rId29"/>
    <p:sldId id="342" r:id="rId30"/>
    <p:sldId id="343" r:id="rId31"/>
    <p:sldId id="344" r:id="rId32"/>
    <p:sldId id="345" r:id="rId33"/>
    <p:sldId id="346" r:id="rId34"/>
    <p:sldId id="382" r:id="rId35"/>
    <p:sldId id="347" r:id="rId36"/>
    <p:sldId id="348" r:id="rId37"/>
    <p:sldId id="349" r:id="rId38"/>
    <p:sldId id="350" r:id="rId39"/>
    <p:sldId id="351" r:id="rId40"/>
    <p:sldId id="352" r:id="rId41"/>
    <p:sldId id="353" r:id="rId42"/>
    <p:sldId id="354" r:id="rId43"/>
    <p:sldId id="355" r:id="rId44"/>
    <p:sldId id="356" r:id="rId45"/>
    <p:sldId id="381" r:id="rId46"/>
    <p:sldId id="357" r:id="rId47"/>
    <p:sldId id="358" r:id="rId48"/>
    <p:sldId id="359" r:id="rId49"/>
    <p:sldId id="360" r:id="rId50"/>
    <p:sldId id="361" r:id="rId51"/>
    <p:sldId id="362" r:id="rId52"/>
    <p:sldId id="363" r:id="rId53"/>
    <p:sldId id="364"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0F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97" autoAdjust="0"/>
    <p:restoredTop sz="84355" autoAdjust="0"/>
  </p:normalViewPr>
  <p:slideViewPr>
    <p:cSldViewPr>
      <p:cViewPr varScale="1">
        <p:scale>
          <a:sx n="58" d="100"/>
          <a:sy n="58" d="100"/>
        </p:scale>
        <p:origin x="1660" y="48"/>
      </p:cViewPr>
      <p:guideLst>
        <p:guide orient="horz" pos="2160"/>
        <p:guide pos="2880"/>
      </p:guideLst>
    </p:cSldViewPr>
  </p:slideViewPr>
  <p:notesTextViewPr>
    <p:cViewPr>
      <p:scale>
        <a:sx n="1" d="1"/>
        <a:sy n="1" d="1"/>
      </p:scale>
      <p:origin x="0" y="0"/>
    </p:cViewPr>
  </p:notesTextViewPr>
  <p:notesViewPr>
    <p:cSldViewPr>
      <p:cViewPr varScale="1">
        <p:scale>
          <a:sx n="52" d="100"/>
          <a:sy n="52" d="100"/>
        </p:scale>
        <p:origin x="268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598602-0560-4791-93EC-3BF081516261}" type="datetimeFigureOut">
              <a:rPr lang="en-US" smtClean="0"/>
              <a:t>12/29/2022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288E1D-6BDD-4280-B096-4D15059FE1C4}" type="slidenum">
              <a:rPr lang="en-US" smtClean="0"/>
              <a:t>‹#›</a:t>
            </a:fld>
            <a:endParaRPr lang="en-US"/>
          </a:p>
        </p:txBody>
      </p:sp>
    </p:spTree>
    <p:extLst>
      <p:ext uri="{BB962C8B-B14F-4D97-AF65-F5344CB8AC3E}">
        <p14:creationId xmlns:p14="http://schemas.microsoft.com/office/powerpoint/2010/main" val="4186589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M.Sc. Computer Engineering,</a:t>
            </a:r>
            <a:r>
              <a:rPr lang="en-US" baseline="0" dirty="0" smtClean="0"/>
              <a:t> </a:t>
            </a:r>
            <a:r>
              <a:rPr lang="en-US" dirty="0" smtClean="0"/>
              <a:t>Computer System and Knowledge Engineering</a:t>
            </a:r>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a:t>
            </a:fld>
            <a:endParaRPr lang="en-US"/>
          </a:p>
        </p:txBody>
      </p:sp>
    </p:spTree>
    <p:extLst>
      <p:ext uri="{BB962C8B-B14F-4D97-AF65-F5344CB8AC3E}">
        <p14:creationId xmlns:p14="http://schemas.microsoft.com/office/powerpoint/2010/main" val="355287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smtClean="0">
                <a:solidFill>
                  <a:srgbClr val="FF0000"/>
                </a:solidFill>
              </a:rPr>
              <a:t>Project risk discussion a whole topic on next chapter 5</a:t>
            </a:r>
          </a:p>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2</a:t>
            </a:fld>
            <a:endParaRPr lang="en-US"/>
          </a:p>
        </p:txBody>
      </p:sp>
    </p:spTree>
    <p:extLst>
      <p:ext uri="{BB962C8B-B14F-4D97-AF65-F5344CB8AC3E}">
        <p14:creationId xmlns:p14="http://schemas.microsoft.com/office/powerpoint/2010/main" val="6007326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9</a:t>
            </a:fld>
            <a:endParaRPr lang="en-US"/>
          </a:p>
        </p:txBody>
      </p:sp>
    </p:spTree>
    <p:extLst>
      <p:ext uri="{BB962C8B-B14F-4D97-AF65-F5344CB8AC3E}">
        <p14:creationId xmlns:p14="http://schemas.microsoft.com/office/powerpoint/2010/main" val="126396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smtClean="0">
                <a:solidFill>
                  <a:schemeClr val="tx1"/>
                </a:solidFill>
                <a:effectLst/>
                <a:latin typeface="+mn-lt"/>
                <a:ea typeface="+mn-ea"/>
                <a:cs typeface="+mn-cs"/>
              </a:rPr>
              <a:t>USDP-use-case driven, architecture-centric, and iterative and incremental framework of software development</a:t>
            </a:r>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14</a:t>
            </a:fld>
            <a:endParaRPr lang="en-US"/>
          </a:p>
        </p:txBody>
      </p:sp>
    </p:spTree>
    <p:extLst>
      <p:ext uri="{BB962C8B-B14F-4D97-AF65-F5344CB8AC3E}">
        <p14:creationId xmlns:p14="http://schemas.microsoft.com/office/powerpoint/2010/main" val="2426724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17</a:t>
            </a:fld>
            <a:endParaRPr lang="en-US"/>
          </a:p>
        </p:txBody>
      </p:sp>
    </p:spTree>
    <p:extLst>
      <p:ext uri="{BB962C8B-B14F-4D97-AF65-F5344CB8AC3E}">
        <p14:creationId xmlns:p14="http://schemas.microsoft.com/office/powerpoint/2010/main" val="483341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32</a:t>
            </a:fld>
            <a:endParaRPr lang="en-US"/>
          </a:p>
        </p:txBody>
      </p:sp>
    </p:spTree>
    <p:extLst>
      <p:ext uri="{BB962C8B-B14F-4D97-AF65-F5344CB8AC3E}">
        <p14:creationId xmlns:p14="http://schemas.microsoft.com/office/powerpoint/2010/main" val="31296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Verification and validation model</a:t>
            </a:r>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34</a:t>
            </a:fld>
            <a:endParaRPr lang="en-US"/>
          </a:p>
        </p:txBody>
      </p:sp>
    </p:spTree>
    <p:extLst>
      <p:ext uri="{BB962C8B-B14F-4D97-AF65-F5344CB8AC3E}">
        <p14:creationId xmlns:p14="http://schemas.microsoft.com/office/powerpoint/2010/main" val="4191431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060DDFC-83D1-4D3D-9835-8D97B423CF88}" type="datetime1">
              <a:rPr lang="en-US" smtClean="0"/>
              <a:t>12/29/2022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199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E52FCD1-2787-48DC-86CB-DE641A80E625}" type="datetime1">
              <a:rPr lang="en-US" smtClean="0"/>
              <a:t>12/29/2022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833194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8AC0FD-B30F-4E0E-8A73-21C9C64649EE}" type="datetime1">
              <a:rPr lang="en-US" smtClean="0"/>
              <a:t>12/29/2022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066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6796EA2-5665-4ACB-8B80-650818173596}" type="datetime1">
              <a:rPr lang="en-US" smtClean="0"/>
              <a:t>12/29/2022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513809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E953130-5DDD-49A6-B8AE-337B3C493C83}" type="datetime1">
              <a:rPr lang="en-US" smtClean="0"/>
              <a:t>12/29/2022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613409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1008796"/>
          </a:xfrm>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B465C325-79AB-4911-8BA2-D8B007D0DD1A}" type="datetime1">
              <a:rPr lang="en-US" smtClean="0"/>
              <a:t>12/29/2022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5CE4F79-B2B3-4E4E-AB5D-F771515B9CEF}" type="slidenum">
              <a:rPr lang="en-US" smtClean="0"/>
              <a:t>‹#›</a:t>
            </a:fld>
            <a:endParaRPr lang="en-US" dirty="0"/>
          </a:p>
        </p:txBody>
      </p:sp>
      <p:sp>
        <p:nvSpPr>
          <p:cNvPr id="6" name="Content Placeholder 2"/>
          <p:cNvSpPr>
            <a:spLocks noGrp="1"/>
          </p:cNvSpPr>
          <p:nvPr>
            <p:ph idx="1"/>
          </p:nvPr>
        </p:nvSpPr>
        <p:spPr>
          <a:xfrm>
            <a:off x="822959" y="1447800"/>
            <a:ext cx="7543801"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1944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3365220-16C0-4609-BF42-E630FA57F234}" type="datetime1">
              <a:rPr lang="en-US" smtClean="0"/>
              <a:t>12/29/2022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1" y="286605"/>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1"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69166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34A58131-4C4D-4FA9-B9FC-1CFC94DF23DF}" type="datetime1">
              <a:rPr lang="en-US" smtClean="0"/>
              <a:t>12/29/2022</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5CE4F79-B2B3-4E4E-AB5D-F771515B9CEF}" type="slidenum">
              <a:rPr lang="en-US" smtClean="0"/>
              <a:t>‹#›</a:t>
            </a:fld>
            <a:endParaRPr lang="en-US" dirty="0"/>
          </a:p>
        </p:txBody>
      </p:sp>
    </p:spTree>
    <p:extLst>
      <p:ext uri="{BB962C8B-B14F-4D97-AF65-F5344CB8AC3E}">
        <p14:creationId xmlns:p14="http://schemas.microsoft.com/office/powerpoint/2010/main" val="242952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D3077A-1EF4-43C9-ACCA-D93C9B7F64D2}" type="datetime1">
              <a:rPr lang="en-US" smtClean="0"/>
              <a:t>12/29/2022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569972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968438"/>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01289" y="1845734"/>
            <a:ext cx="7543801" cy="4023360"/>
          </a:xfrm>
        </p:spPr>
        <p:txBody>
          <a:bodyPr vert="eaVert" lIns="45720" tIns="0" rIns="45720" bIns="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4FB1F57E-8296-45AF-842F-5750147EEE78}" type="datetime1">
              <a:rPr lang="en-US" smtClean="0"/>
              <a:t>12/29/2022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123204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2CFC29B-475C-4248-8BBB-9E7BC8F95896}" type="datetime1">
              <a:rPr lang="en-US" smtClean="0"/>
              <a:t>12/29/2022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433690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1628CA5-D83D-4046-8574-759C09E41F2B}" type="datetime1">
              <a:rPr lang="en-US" smtClean="0"/>
              <a:t>12/29/2022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lvl1pPr marL="91440" indent="-91440">
              <a:buClrTx/>
              <a:buFont typeface="Arial" panose="020B0604020202020204" pitchFamily="34" charset="0"/>
              <a:buChar char="•"/>
              <a:defRPr/>
            </a:lvl1pPr>
            <a:lvl2pPr marL="384048" indent="-182880">
              <a:buClrTx/>
              <a:buFont typeface="Arial" panose="020B0604020202020204" pitchFamily="34" charset="0"/>
              <a:buChar char="•"/>
              <a:defRPr/>
            </a:lvl2pPr>
            <a:lvl3pPr marL="566928" indent="-182880">
              <a:buClrTx/>
              <a:buFont typeface="Arial" panose="020B0604020202020204" pitchFamily="34" charset="0"/>
              <a:buChar char="•"/>
              <a:defRPr/>
            </a:lvl3pPr>
            <a:lvl4pPr marL="749808" indent="-182880">
              <a:buClrTx/>
              <a:buFont typeface="Arial" panose="020B0604020202020204" pitchFamily="34" charset="0"/>
              <a:buChar char="•"/>
              <a:defRPr/>
            </a:lvl4pPr>
            <a:lvl5pPr marL="932688" indent="-182880">
              <a:buClrTx/>
              <a:buFont typeface="Arial" panose="020B0604020202020204"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07707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Date Placeholder 3"/>
          <p:cNvSpPr>
            <a:spLocks noGrp="1"/>
          </p:cNvSpPr>
          <p:nvPr>
            <p:ph type="dt" sz="half" idx="10"/>
          </p:nvPr>
        </p:nvSpPr>
        <p:spPr>
          <a:xfrm>
            <a:off x="471544" y="6173786"/>
            <a:ext cx="2133600" cy="365125"/>
          </a:xfrm>
        </p:spPr>
        <p:txBody>
          <a:bodyPr/>
          <a:lstStyle>
            <a:lvl1pPr>
              <a:defRPr/>
            </a:lvl1pPr>
          </a:lstStyle>
          <a:p>
            <a:pPr>
              <a:defRPr/>
            </a:pPr>
            <a:fld id="{C9051E02-2DE6-4E49-B716-6B277249D2D8}" type="datetime1">
              <a:rPr lang="en-US" smtClean="0">
                <a:solidFill>
                  <a:prstClr val="black">
                    <a:tint val="75000"/>
                  </a:prstClr>
                </a:solidFill>
              </a:rPr>
              <a:t>12/29/2022</a:t>
            </a:fld>
            <a:endParaRPr lang="en-MY">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5" name="Slide Number Placeholder 5"/>
          <p:cNvSpPr>
            <a:spLocks noGrp="1"/>
          </p:cNvSpPr>
          <p:nvPr>
            <p:ph type="sldNum" sz="quarter" idx="12"/>
          </p:nvPr>
        </p:nvSpPr>
        <p:spPr>
          <a:xfrm>
            <a:off x="6553200" y="6173787"/>
            <a:ext cx="2133600" cy="365125"/>
          </a:xfrm>
        </p:spPr>
        <p:txBody>
          <a:bodyPr/>
          <a:lstStyle>
            <a:lvl1pPr>
              <a:defRPr/>
            </a:lvl1pPr>
          </a:lstStyle>
          <a:p>
            <a:pPr>
              <a:defRPr/>
            </a:pPr>
            <a:fld id="{7302620F-2723-4C1D-A0D6-2D78DF04BBE5}" type="slidenum">
              <a:rPr lang="en-MY">
                <a:solidFill>
                  <a:prstClr val="black">
                    <a:tint val="75000"/>
                  </a:prstClr>
                </a:solidFill>
              </a:rPr>
              <a:pPr>
                <a:defRPr/>
              </a:pPr>
              <a:t>‹#›</a:t>
            </a:fld>
            <a:endParaRPr lang="en-MY">
              <a:solidFill>
                <a:prstClr val="black">
                  <a:tint val="75000"/>
                </a:prstClr>
              </a:solidFill>
            </a:endParaRPr>
          </a:p>
        </p:txBody>
      </p:sp>
    </p:spTree>
    <p:extLst>
      <p:ext uri="{BB962C8B-B14F-4D97-AF65-F5344CB8AC3E}">
        <p14:creationId xmlns:p14="http://schemas.microsoft.com/office/powerpoint/2010/main" val="1019353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347" y="274638"/>
            <a:ext cx="8229307" cy="1143000"/>
          </a:xfrm>
          <a:prstGeom prst="rect">
            <a:avLst/>
          </a:prstGeom>
        </p:spPr>
        <p:txBody>
          <a:bodyPr/>
          <a:lstStyle/>
          <a:p>
            <a:r>
              <a:rPr lang="en-US"/>
              <a:t>Click to edit Master title style</a:t>
            </a:r>
          </a:p>
        </p:txBody>
      </p:sp>
      <p:sp>
        <p:nvSpPr>
          <p:cNvPr id="3" name="ClipArt Placeholder 2"/>
          <p:cNvSpPr>
            <a:spLocks noGrp="1"/>
          </p:cNvSpPr>
          <p:nvPr>
            <p:ph type="clipArt" sz="half" idx="1"/>
          </p:nvPr>
        </p:nvSpPr>
        <p:spPr>
          <a:xfrm>
            <a:off x="703610" y="1981200"/>
            <a:ext cx="3799495" cy="4114800"/>
          </a:xfrm>
        </p:spPr>
        <p:txBody>
          <a:bodyPr rtlCol="0">
            <a:normAutofit/>
          </a:bodyPr>
          <a:lstStyle/>
          <a:p>
            <a:pPr lvl="0"/>
            <a:endParaRPr lang="en-US" noProof="0"/>
          </a:p>
        </p:txBody>
      </p:sp>
      <p:sp>
        <p:nvSpPr>
          <p:cNvPr id="4" name="Text Placeholder 3"/>
          <p:cNvSpPr>
            <a:spLocks noGrp="1"/>
          </p:cNvSpPr>
          <p:nvPr>
            <p:ph type="body" sz="half" idx="2"/>
          </p:nvPr>
        </p:nvSpPr>
        <p:spPr>
          <a:xfrm>
            <a:off x="4643827" y="1981200"/>
            <a:ext cx="3799495"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701675" y="6104965"/>
            <a:ext cx="1900238" cy="457200"/>
          </a:xfrm>
        </p:spPr>
        <p:txBody>
          <a:bodyPr/>
          <a:lstStyle>
            <a:lvl1pPr>
              <a:defRPr/>
            </a:lvl1pPr>
          </a:lstStyle>
          <a:p>
            <a:pPr>
              <a:defRPr/>
            </a:pPr>
            <a:fld id="{328E6985-44D3-4AB4-9BF5-64ABE08BB98F}" type="datetime1">
              <a:rPr lang="en-US" smtClean="0"/>
              <a:t>12/29/2022</a:t>
            </a:fld>
            <a:endParaRPr lang="en-US"/>
          </a:p>
        </p:txBody>
      </p:sp>
      <p:sp>
        <p:nvSpPr>
          <p:cNvPr id="6" name="Footer Placeholder 5"/>
          <p:cNvSpPr>
            <a:spLocks noGrp="1"/>
          </p:cNvSpPr>
          <p:nvPr>
            <p:ph type="ftr" sz="quarter" idx="11"/>
          </p:nvPr>
        </p:nvSpPr>
        <p:spPr>
          <a:xfrm>
            <a:off x="3165475" y="6248400"/>
            <a:ext cx="281305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42087" y="6096000"/>
            <a:ext cx="1900237" cy="457200"/>
          </a:xfrm>
        </p:spPr>
        <p:txBody>
          <a:bodyPr/>
          <a:lstStyle>
            <a:lvl1pPr>
              <a:defRPr/>
            </a:lvl1pPr>
          </a:lstStyle>
          <a:p>
            <a:pPr>
              <a:defRPr/>
            </a:pPr>
            <a:fld id="{4109A845-B5D7-4212-A085-B80A81F92DF0}" type="slidenum">
              <a:rPr lang="en-US"/>
              <a:pPr>
                <a:defRPr/>
              </a:pPr>
              <a:t>‹#›</a:t>
            </a:fld>
            <a:endParaRPr lang="en-US"/>
          </a:p>
        </p:txBody>
      </p:sp>
    </p:spTree>
    <p:extLst>
      <p:ext uri="{BB962C8B-B14F-4D97-AF65-F5344CB8AC3E}">
        <p14:creationId xmlns:p14="http://schemas.microsoft.com/office/powerpoint/2010/main" val="3016415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9AEF1DE-E42D-40C9-B850-0FD6C5C40B0D}" type="datetime1">
              <a:rPr lang="en-US" smtClean="0"/>
              <a:t>12/29/2022</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E5CE4F79-B2B3-4E4E-AB5D-F771515B9CEF}" type="slidenum">
              <a:rPr lang="en-US" smtClean="0"/>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45213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4" r:id="rId12"/>
    <p:sldLayoutId id="2147483705" r:id="rId13"/>
    <p:sldLayoutId id="2147483706" r:id="rId14"/>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ubhash@achsnepal.edu.np"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hyperlink" Target="https://www.cio.com/article/3156998/agile-project-management-a-beginners-guide.html"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hyperlink" Target="https://en.wikipedia.org/wiki/Task_(computing)" TargetMode="Externa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1</a:t>
            </a:fld>
            <a:endParaRPr lang="en-US" dirty="0"/>
          </a:p>
        </p:txBody>
      </p:sp>
      <p:sp>
        <p:nvSpPr>
          <p:cNvPr id="2" name="Title 1"/>
          <p:cNvSpPr>
            <a:spLocks noGrp="1"/>
          </p:cNvSpPr>
          <p:nvPr>
            <p:ph type="ctrTitle"/>
          </p:nvPr>
        </p:nvSpPr>
        <p:spPr>
          <a:xfrm>
            <a:off x="762000" y="1238250"/>
            <a:ext cx="7543800" cy="1581150"/>
          </a:xfrm>
        </p:spPr>
        <p:txBody>
          <a:bodyPr>
            <a:normAutofit/>
          </a:bodyPr>
          <a:lstStyle/>
          <a:p>
            <a:r>
              <a:rPr lang="en-US" sz="4400">
                <a:latin typeface="+mn-lt"/>
              </a:rPr>
              <a:t>Software Evaluation and Costing</a:t>
            </a:r>
            <a:endParaRPr lang="en-US" sz="4400" b="1" dirty="0">
              <a:latin typeface="+mn-lt"/>
            </a:endParaRPr>
          </a:p>
        </p:txBody>
      </p:sp>
      <p:sp>
        <p:nvSpPr>
          <p:cNvPr id="3" name="Subtitle 2"/>
          <p:cNvSpPr>
            <a:spLocks noGrp="1"/>
          </p:cNvSpPr>
          <p:nvPr>
            <p:ph type="subTitle" idx="4294967295"/>
          </p:nvPr>
        </p:nvSpPr>
        <p:spPr>
          <a:xfrm>
            <a:off x="865563" y="2877468"/>
            <a:ext cx="7543800" cy="1143000"/>
          </a:xfrm>
        </p:spPr>
        <p:txBody>
          <a:bodyPr>
            <a:normAutofit/>
          </a:bodyPr>
          <a:lstStyle/>
          <a:p>
            <a:pPr marL="0" indent="0">
              <a:lnSpc>
                <a:spcPct val="100000"/>
              </a:lnSpc>
              <a:spcBef>
                <a:spcPts val="0"/>
              </a:spcBef>
              <a:spcAft>
                <a:spcPts val="0"/>
              </a:spcAft>
              <a:buNone/>
            </a:pPr>
            <a:r>
              <a:rPr lang="en-US" sz="2000" b="1" dirty="0" smtClean="0">
                <a:latin typeface="+mn-lt"/>
              </a:rPr>
              <a:t>Subhash Paudel</a:t>
            </a:r>
          </a:p>
          <a:p>
            <a:pPr marL="0" indent="0">
              <a:lnSpc>
                <a:spcPct val="100000"/>
              </a:lnSpc>
              <a:spcBef>
                <a:spcPts val="0"/>
              </a:spcBef>
              <a:spcAft>
                <a:spcPts val="0"/>
              </a:spcAft>
              <a:buNone/>
            </a:pPr>
            <a:r>
              <a:rPr lang="en-US" b="1" dirty="0" smtClean="0"/>
              <a:t>MSCSKE, IOE, Pulchowk Campus</a:t>
            </a:r>
          </a:p>
          <a:p>
            <a:pPr marL="0" indent="0">
              <a:lnSpc>
                <a:spcPct val="100000"/>
              </a:lnSpc>
              <a:spcBef>
                <a:spcPts val="0"/>
              </a:spcBef>
              <a:spcAft>
                <a:spcPts val="0"/>
              </a:spcAft>
              <a:buNone/>
            </a:pPr>
            <a:r>
              <a:rPr lang="en-US" b="1" dirty="0" smtClean="0">
                <a:hlinkClick r:id="rId3"/>
              </a:rPr>
              <a:t>subhash@achsnepal.edu.np</a:t>
            </a:r>
            <a:endParaRPr lang="en-US" sz="2000" b="1" dirty="0">
              <a:latin typeface="+mn-lt"/>
            </a:endParaRPr>
          </a:p>
        </p:txBody>
      </p:sp>
    </p:spTree>
    <p:extLst>
      <p:ext uri="{BB962C8B-B14F-4D97-AF65-F5344CB8AC3E}">
        <p14:creationId xmlns:p14="http://schemas.microsoft.com/office/powerpoint/2010/main" val="9464505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409512"/>
            <a:ext cx="8381999" cy="780195"/>
          </a:xfrm>
        </p:spPr>
        <p:txBody>
          <a:bodyPr>
            <a:noAutofit/>
          </a:bodyPr>
          <a:lstStyle/>
          <a:p>
            <a:r>
              <a:rPr lang="en-US" sz="4400" dirty="0" smtClean="0"/>
              <a:t>Risk Evaluation</a:t>
            </a:r>
            <a:endParaRPr lang="en-US" sz="4400" dirty="0"/>
          </a:p>
        </p:txBody>
      </p:sp>
      <p:sp>
        <p:nvSpPr>
          <p:cNvPr id="3" name="Content Placeholder 2"/>
          <p:cNvSpPr>
            <a:spLocks noGrp="1"/>
          </p:cNvSpPr>
          <p:nvPr>
            <p:ph type="body" sz="quarter" idx="13"/>
          </p:nvPr>
        </p:nvSpPr>
        <p:spPr/>
        <p:txBody>
          <a:bodyPr>
            <a:normAutofit fontScale="92500" lnSpcReduction="10000"/>
          </a:bodyPr>
          <a:lstStyle/>
          <a:p>
            <a:r>
              <a:rPr lang="en-US" dirty="0"/>
              <a:t>A risk is a potential problem – it might happen and it might </a:t>
            </a:r>
            <a:r>
              <a:rPr lang="en-US" dirty="0" smtClean="0"/>
              <a:t>not</a:t>
            </a:r>
          </a:p>
          <a:p>
            <a:pPr marL="0" indent="0">
              <a:buNone/>
            </a:pPr>
            <a:r>
              <a:rPr lang="en-US" dirty="0" smtClean="0"/>
              <a:t>    –</a:t>
            </a:r>
            <a:r>
              <a:rPr lang="en-US" dirty="0"/>
              <a:t>  Risk concerns future </a:t>
            </a:r>
            <a:r>
              <a:rPr lang="en-US" dirty="0" smtClean="0"/>
              <a:t>happenings</a:t>
            </a:r>
            <a:r>
              <a:rPr lang="en-US" b="1" dirty="0"/>
              <a:t> </a:t>
            </a:r>
            <a:endParaRPr lang="en-US" dirty="0"/>
          </a:p>
          <a:p>
            <a:pPr marL="0" indent="0">
              <a:buNone/>
            </a:pPr>
            <a:r>
              <a:rPr lang="en-US" dirty="0" smtClean="0"/>
              <a:t>    –</a:t>
            </a:r>
            <a:r>
              <a:rPr lang="en-US" dirty="0"/>
              <a:t>  Risk involves change in mind, opinion, actions, places, etc</a:t>
            </a:r>
            <a:r>
              <a:rPr lang="en-US" dirty="0" smtClean="0"/>
              <a:t>.</a:t>
            </a:r>
          </a:p>
          <a:p>
            <a:pPr marL="0" indent="0">
              <a:buNone/>
            </a:pPr>
            <a:r>
              <a:rPr lang="en-US" dirty="0" smtClean="0"/>
              <a:t>    –  Risk involves choice and the uncertainty that choice entails </a:t>
            </a:r>
          </a:p>
          <a:p>
            <a:pPr marL="0" indent="0">
              <a:buNone/>
            </a:pPr>
            <a:r>
              <a:rPr lang="en-US" b="1" dirty="0" smtClean="0"/>
              <a:t>Two characteristics of risk</a:t>
            </a:r>
          </a:p>
          <a:p>
            <a:pPr lvl="1"/>
            <a:r>
              <a:rPr lang="en-US" dirty="0" smtClean="0"/>
              <a:t>Uncertainty </a:t>
            </a:r>
            <a:r>
              <a:rPr lang="en-US" dirty="0"/>
              <a:t>– the risk may or may not happen, that is, there are no 100% risks (those, instead, are called constraints</a:t>
            </a:r>
            <a:r>
              <a:rPr lang="en-US" dirty="0" smtClean="0"/>
              <a:t>)</a:t>
            </a:r>
            <a:endParaRPr lang="en-US" dirty="0"/>
          </a:p>
          <a:p>
            <a:pPr lvl="1"/>
            <a:r>
              <a:rPr lang="en-US" dirty="0" smtClean="0"/>
              <a:t>Loss </a:t>
            </a:r>
            <a:r>
              <a:rPr lang="en-US" dirty="0"/>
              <a:t>– the risk becomes a reality and unwanted consequences or losses </a:t>
            </a:r>
            <a:r>
              <a:rPr lang="en-US" dirty="0" smtClean="0"/>
              <a:t>occur</a:t>
            </a:r>
          </a:p>
          <a:p>
            <a:r>
              <a:rPr lang="en-US" b="1" dirty="0" smtClean="0"/>
              <a:t>Every </a:t>
            </a:r>
            <a:r>
              <a:rPr lang="en-US" b="1" dirty="0"/>
              <a:t>project involves risk</a:t>
            </a:r>
            <a:r>
              <a:rPr lang="en-US" b="1" dirty="0" smtClean="0"/>
              <a:t>.</a:t>
            </a:r>
          </a:p>
          <a:p>
            <a:r>
              <a:rPr lang="en-US" i="1" dirty="0" smtClean="0"/>
              <a:t>project </a:t>
            </a:r>
            <a:r>
              <a:rPr lang="en-US" dirty="0"/>
              <a:t>risks, which prevent the project from </a:t>
            </a:r>
            <a:r>
              <a:rPr lang="en-US" dirty="0" smtClean="0"/>
              <a:t>being completed </a:t>
            </a:r>
            <a:r>
              <a:rPr lang="en-US" dirty="0"/>
              <a:t>successfully, </a:t>
            </a:r>
            <a:r>
              <a:rPr lang="en-US" b="1" dirty="0"/>
              <a:t>are different from the </a:t>
            </a:r>
            <a:r>
              <a:rPr lang="en-US" b="1" i="1" dirty="0"/>
              <a:t>business </a:t>
            </a:r>
            <a:r>
              <a:rPr lang="en-US" b="1" dirty="0"/>
              <a:t>risk that the delivered products are not </a:t>
            </a:r>
            <a:r>
              <a:rPr lang="en-US" b="1" dirty="0" smtClean="0"/>
              <a:t>profitable</a:t>
            </a:r>
            <a:r>
              <a:rPr lang="en-US" b="1" dirty="0"/>
              <a:t>.</a:t>
            </a:r>
          </a:p>
          <a:p>
            <a:r>
              <a:rPr lang="en-US" u="sng" dirty="0" smtClean="0"/>
              <a:t>Here </a:t>
            </a:r>
            <a:r>
              <a:rPr lang="en-US" u="sng" dirty="0"/>
              <a:t>we focus on business risk</a:t>
            </a:r>
            <a:r>
              <a:rPr lang="en-US" u="sng" dirty="0" smtClean="0"/>
              <a:t>. </a:t>
            </a:r>
            <a:endParaRPr lang="en-US" b="1" dirty="0">
              <a:solidFill>
                <a:srgbClr val="FF0000"/>
              </a:solidFill>
            </a:endParaRPr>
          </a:p>
        </p:txBody>
      </p:sp>
      <p:sp>
        <p:nvSpPr>
          <p:cNvPr id="4" name="Slide Number Placeholder 3"/>
          <p:cNvSpPr>
            <a:spLocks noGrp="1"/>
          </p:cNvSpPr>
          <p:nvPr>
            <p:ph type="sldNum" sz="quarter" idx="12"/>
          </p:nvPr>
        </p:nvSpPr>
        <p:spPr/>
        <p:txBody>
          <a:bodyPr/>
          <a:lstStyle/>
          <a:p>
            <a:fld id="{E5CE4F79-B2B3-4E4E-AB5D-F771515B9CEF}" type="slidenum">
              <a:rPr lang="en-US" smtClean="0"/>
              <a:t>2</a:t>
            </a:fld>
            <a:endParaRPr lang="en-US" dirty="0"/>
          </a:p>
        </p:txBody>
      </p:sp>
    </p:spTree>
    <p:extLst>
      <p:ext uri="{BB962C8B-B14F-4D97-AF65-F5344CB8AC3E}">
        <p14:creationId xmlns:p14="http://schemas.microsoft.com/office/powerpoint/2010/main" val="21622872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t>How do we identify and evaluate risk</a:t>
            </a:r>
            <a:endParaRPr lang="en-US" sz="4400" dirty="0"/>
          </a:p>
        </p:txBody>
      </p:sp>
      <p:sp>
        <p:nvSpPr>
          <p:cNvPr id="3" name="Content Placeholder 2"/>
          <p:cNvSpPr>
            <a:spLocks noGrp="1"/>
          </p:cNvSpPr>
          <p:nvPr>
            <p:ph type="body" sz="quarter" idx="13"/>
          </p:nvPr>
        </p:nvSpPr>
        <p:spPr/>
        <p:txBody>
          <a:bodyPr>
            <a:normAutofit/>
          </a:bodyPr>
          <a:lstStyle/>
          <a:p>
            <a:r>
              <a:rPr lang="en-US" sz="2400" b="1" dirty="0"/>
              <a:t>Risk </a:t>
            </a:r>
            <a:r>
              <a:rPr lang="en-US" sz="2400" b="1" dirty="0" smtClean="0"/>
              <a:t>identification </a:t>
            </a:r>
            <a:r>
              <a:rPr lang="en-US" sz="2400" b="1" dirty="0"/>
              <a:t>and </a:t>
            </a:r>
            <a:r>
              <a:rPr lang="en-US" sz="2400" b="1" dirty="0" smtClean="0"/>
              <a:t>ranking</a:t>
            </a:r>
          </a:p>
          <a:p>
            <a:r>
              <a:rPr lang="en-US" sz="2400" dirty="0" smtClean="0"/>
              <a:t>Identify risks and quantify it</a:t>
            </a:r>
          </a:p>
          <a:p>
            <a:r>
              <a:rPr lang="en-US" sz="2400" dirty="0" smtClean="0"/>
              <a:t>One approach </a:t>
            </a:r>
            <a:r>
              <a:rPr lang="en-US" sz="2400" dirty="0" smtClean="0">
                <a:sym typeface="Wingdings" pitchFamily="2" charset="2"/>
              </a:rPr>
              <a:t></a:t>
            </a:r>
            <a:r>
              <a:rPr lang="en-US" sz="2400" b="1" dirty="0" smtClean="0"/>
              <a:t>construct a </a:t>
            </a:r>
            <a:r>
              <a:rPr lang="en-US" sz="2400" b="1" dirty="0"/>
              <a:t>project risk matrix </a:t>
            </a:r>
            <a:r>
              <a:rPr lang="en-US" sz="2400" b="1" dirty="0" smtClean="0"/>
              <a:t>   </a:t>
            </a:r>
            <a:r>
              <a:rPr lang="en-US" sz="2400" dirty="0" smtClean="0"/>
              <a:t>with </a:t>
            </a:r>
            <a:r>
              <a:rPr lang="en-US" sz="2400" b="1" dirty="0" smtClean="0"/>
              <a:t>a </a:t>
            </a:r>
            <a:r>
              <a:rPr lang="en-US" sz="2400" b="1" dirty="0"/>
              <a:t>checklist of possible risks</a:t>
            </a:r>
            <a:r>
              <a:rPr lang="en-US" sz="2400" dirty="0"/>
              <a:t> </a:t>
            </a:r>
            <a:r>
              <a:rPr lang="en-US" sz="2400" b="1" dirty="0">
                <a:solidFill>
                  <a:srgbClr val="FF0000"/>
                </a:solidFill>
              </a:rPr>
              <a:t>and classifying risks according to their </a:t>
            </a:r>
            <a:r>
              <a:rPr lang="en-US" sz="2400" b="1" dirty="0" smtClean="0">
                <a:solidFill>
                  <a:srgbClr val="FF0000"/>
                </a:solidFill>
              </a:rPr>
              <a:t>relative importance </a:t>
            </a:r>
            <a:r>
              <a:rPr lang="en-US" sz="2400" b="1" dirty="0">
                <a:solidFill>
                  <a:srgbClr val="FF0000"/>
                </a:solidFill>
              </a:rPr>
              <a:t>and </a:t>
            </a:r>
            <a:r>
              <a:rPr lang="en-US" sz="2400" b="1" dirty="0" smtClean="0">
                <a:solidFill>
                  <a:srgbClr val="FF0000"/>
                </a:solidFill>
              </a:rPr>
              <a:t>likelihood</a:t>
            </a:r>
          </a:p>
          <a:p>
            <a:r>
              <a:rPr lang="en-US" sz="3200" b="1" dirty="0" smtClean="0"/>
              <a:t>Risk Importance </a:t>
            </a:r>
            <a:r>
              <a:rPr lang="en-US" sz="3200" b="1" dirty="0"/>
              <a:t>and likelihood need to be separately assessed </a:t>
            </a:r>
            <a:r>
              <a:rPr lang="en-US" sz="2400" dirty="0"/>
              <a:t>– </a:t>
            </a:r>
            <a:r>
              <a:rPr lang="en-US" sz="2400" b="1" dirty="0">
                <a:solidFill>
                  <a:srgbClr val="FF0000"/>
                </a:solidFill>
              </a:rPr>
              <a:t>we might be </a:t>
            </a:r>
            <a:r>
              <a:rPr lang="en-US" sz="2400" b="1" dirty="0" smtClean="0">
                <a:solidFill>
                  <a:srgbClr val="FF0000"/>
                </a:solidFill>
              </a:rPr>
              <a:t>less concerned </a:t>
            </a:r>
            <a:r>
              <a:rPr lang="en-US" sz="2400" b="1" dirty="0">
                <a:solidFill>
                  <a:srgbClr val="FF0000"/>
                </a:solidFill>
              </a:rPr>
              <a:t>with something that, although serious, is very unlikely to occur than with something less </a:t>
            </a:r>
            <a:r>
              <a:rPr lang="en-US" sz="2400" b="1" dirty="0" smtClean="0">
                <a:solidFill>
                  <a:srgbClr val="FF0000"/>
                </a:solidFill>
              </a:rPr>
              <a:t>serious that </a:t>
            </a:r>
            <a:r>
              <a:rPr lang="en-US" sz="2400" b="1" dirty="0">
                <a:solidFill>
                  <a:srgbClr val="FF0000"/>
                </a:solidFill>
              </a:rPr>
              <a:t>is almost certain</a:t>
            </a:r>
          </a:p>
        </p:txBody>
      </p:sp>
      <p:sp>
        <p:nvSpPr>
          <p:cNvPr id="4" name="Slide Number Placeholder 3"/>
          <p:cNvSpPr>
            <a:spLocks noGrp="1"/>
          </p:cNvSpPr>
          <p:nvPr>
            <p:ph type="sldNum" sz="quarter" idx="12"/>
          </p:nvPr>
        </p:nvSpPr>
        <p:spPr/>
        <p:txBody>
          <a:bodyPr/>
          <a:lstStyle/>
          <a:p>
            <a:fld id="{E5CE4F79-B2B3-4E4E-AB5D-F771515B9CEF}" type="slidenum">
              <a:rPr lang="en-US" smtClean="0"/>
              <a:t>3</a:t>
            </a:fld>
            <a:endParaRPr lang="en-US" dirty="0"/>
          </a:p>
        </p:txBody>
      </p:sp>
    </p:spTree>
    <p:extLst>
      <p:ext uri="{BB962C8B-B14F-4D97-AF65-F5344CB8AC3E}">
        <p14:creationId xmlns:p14="http://schemas.microsoft.com/office/powerpoint/2010/main" val="27031299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a:xfrm>
            <a:off x="457201" y="1371600"/>
            <a:ext cx="8381999" cy="4953000"/>
          </a:xfrm>
        </p:spPr>
        <p:txBody>
          <a:bodyPr>
            <a:normAutofit fontScale="85000" lnSpcReduction="20000"/>
          </a:bodyPr>
          <a:lstStyle/>
          <a:p>
            <a:r>
              <a:rPr lang="en-US" sz="2400" b="1" dirty="0"/>
              <a:t>The project risk matrix may be used as a way of evaluating projects </a:t>
            </a:r>
            <a:r>
              <a:rPr lang="en-US" sz="2400" dirty="0"/>
              <a:t>(</a:t>
            </a:r>
            <a:r>
              <a:rPr lang="en-US" sz="2400" dirty="0">
                <a:solidFill>
                  <a:srgbClr val="FF0000"/>
                </a:solidFill>
              </a:rPr>
              <a:t>those with high risks being less </a:t>
            </a:r>
            <a:r>
              <a:rPr lang="en-US" sz="2400" dirty="0" smtClean="0">
                <a:solidFill>
                  <a:srgbClr val="FF0000"/>
                </a:solidFill>
              </a:rPr>
              <a:t>favored</a:t>
            </a:r>
            <a:r>
              <a:rPr lang="en-US" sz="2400" dirty="0" smtClean="0"/>
              <a:t>) </a:t>
            </a:r>
          </a:p>
          <a:p>
            <a:pPr marL="0" indent="0" algn="ctr">
              <a:buNone/>
            </a:pPr>
            <a:r>
              <a:rPr lang="en-US" sz="2400" b="1" dirty="0" smtClean="0"/>
              <a:t>OR</a:t>
            </a:r>
          </a:p>
          <a:p>
            <a:r>
              <a:rPr lang="en-US" sz="2400" dirty="0" smtClean="0"/>
              <a:t>Risk Matrix can also be used as </a:t>
            </a:r>
            <a:r>
              <a:rPr lang="en-US" sz="2400" dirty="0"/>
              <a:t>a means </a:t>
            </a:r>
            <a:r>
              <a:rPr lang="en-US" sz="2400" dirty="0" smtClean="0"/>
              <a:t>of identifying </a:t>
            </a:r>
            <a:r>
              <a:rPr lang="en-US" sz="2400" dirty="0"/>
              <a:t>and ranking the risks for a </a:t>
            </a:r>
            <a:r>
              <a:rPr lang="en-US" sz="2400" dirty="0" smtClean="0"/>
              <a:t>specific </a:t>
            </a:r>
            <a:r>
              <a:rPr lang="en-US" sz="2400" dirty="0"/>
              <a:t>project</a:t>
            </a:r>
            <a:r>
              <a:rPr lang="en-US" sz="2400" dirty="0" smtClean="0"/>
              <a:t>.</a:t>
            </a:r>
            <a:endParaRPr lang="en-US" sz="2400" dirty="0"/>
          </a:p>
          <a:p>
            <a:r>
              <a:rPr lang="en-US" sz="2400" b="1" dirty="0" smtClean="0"/>
              <a:t>Fig </a:t>
            </a:r>
            <a:r>
              <a:rPr lang="en-US" sz="2400" b="1" dirty="0" smtClean="0">
                <a:sym typeface="Wingdings" pitchFamily="2" charset="2"/>
              </a:rPr>
              <a:t> </a:t>
            </a:r>
            <a:r>
              <a:rPr lang="en-US" sz="2400" b="1" dirty="0" smtClean="0"/>
              <a:t>A </a:t>
            </a:r>
            <a:r>
              <a:rPr lang="en-US" sz="2400" b="1" dirty="0"/>
              <a:t>fragment of a basic project/business risk matrix for an e-commerce </a:t>
            </a:r>
            <a:r>
              <a:rPr lang="en-US" sz="2400" b="1" dirty="0" smtClean="0"/>
              <a:t>application</a:t>
            </a:r>
          </a:p>
          <a:p>
            <a:endParaRPr lang="en-US" sz="2400" b="1" dirty="0" smtClean="0"/>
          </a:p>
          <a:p>
            <a:endParaRPr lang="en-US" sz="2400" b="1" dirty="0" smtClean="0"/>
          </a:p>
          <a:p>
            <a:endParaRPr lang="en-US" sz="2400" b="1" dirty="0"/>
          </a:p>
          <a:p>
            <a:endParaRPr lang="en-US" sz="2400" b="1" dirty="0" smtClean="0"/>
          </a:p>
          <a:p>
            <a:endParaRPr lang="en-US" sz="2400" b="1" dirty="0"/>
          </a:p>
          <a:p>
            <a:endParaRPr lang="en-US" sz="2400" b="1" dirty="0" smtClean="0"/>
          </a:p>
          <a:p>
            <a:r>
              <a:rPr lang="en-US" sz="2400" b="1" dirty="0" smtClean="0"/>
              <a:t>H </a:t>
            </a:r>
            <a:r>
              <a:rPr lang="en-US" sz="2400" b="1" dirty="0" smtClean="0">
                <a:sym typeface="Wingdings" pitchFamily="2" charset="2"/>
              </a:rPr>
              <a:t> High Risk, M-medium, L-low</a:t>
            </a:r>
            <a:endParaRPr lang="en-US" sz="2400" b="1"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080" y="3581400"/>
            <a:ext cx="6927273"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E5CE4F79-B2B3-4E4E-AB5D-F771515B9CEF}" type="slidenum">
              <a:rPr lang="en-US" smtClean="0"/>
              <a:t>4</a:t>
            </a:fld>
            <a:endParaRPr lang="en-US" dirty="0"/>
          </a:p>
        </p:txBody>
      </p:sp>
      <p:sp>
        <p:nvSpPr>
          <p:cNvPr id="6" name="Title 1"/>
          <p:cNvSpPr>
            <a:spLocks noGrp="1"/>
          </p:cNvSpPr>
          <p:nvPr>
            <p:ph type="title"/>
          </p:nvPr>
        </p:nvSpPr>
        <p:spPr>
          <a:xfrm>
            <a:off x="457201" y="286605"/>
            <a:ext cx="8381999" cy="780195"/>
          </a:xfrm>
        </p:spPr>
        <p:txBody>
          <a:bodyPr>
            <a:normAutofit/>
          </a:bodyPr>
          <a:lstStyle/>
          <a:p>
            <a:r>
              <a:rPr lang="en-US" sz="4400" dirty="0" smtClean="0"/>
              <a:t>How do we identify and evaluate risk</a:t>
            </a:r>
            <a:endParaRPr lang="en-US" sz="4400" dirty="0"/>
          </a:p>
        </p:txBody>
      </p:sp>
    </p:spTree>
    <p:extLst>
      <p:ext uri="{BB962C8B-B14F-4D97-AF65-F5344CB8AC3E}">
        <p14:creationId xmlns:p14="http://schemas.microsoft.com/office/powerpoint/2010/main" val="38944463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632718"/>
            <a:ext cx="8381999" cy="780195"/>
          </a:xfrm>
        </p:spPr>
        <p:txBody>
          <a:bodyPr>
            <a:noAutofit/>
          </a:bodyPr>
          <a:lstStyle/>
          <a:p>
            <a:r>
              <a:rPr lang="en-US" sz="3200" b="1" dirty="0" smtClean="0"/>
              <a:t/>
            </a:r>
            <a:br>
              <a:rPr lang="en-US" sz="3200" b="1" dirty="0" smtClean="0"/>
            </a:br>
            <a:r>
              <a:rPr lang="en-US" sz="4400" b="1" dirty="0" smtClean="0"/>
              <a:t>Business Risk Evaluation Cost–benefit analysis</a:t>
            </a:r>
            <a:endParaRPr lang="en-US" sz="3200" dirty="0"/>
          </a:p>
        </p:txBody>
      </p:sp>
      <p:sp>
        <p:nvSpPr>
          <p:cNvPr id="3" name="Content Placeholder 2"/>
          <p:cNvSpPr>
            <a:spLocks noGrp="1"/>
          </p:cNvSpPr>
          <p:nvPr>
            <p:ph type="body" sz="quarter" idx="13"/>
          </p:nvPr>
        </p:nvSpPr>
        <p:spPr/>
        <p:txBody>
          <a:bodyPr>
            <a:normAutofit/>
          </a:bodyPr>
          <a:lstStyle/>
          <a:p>
            <a:r>
              <a:rPr lang="en-US" sz="2400" dirty="0" smtClean="0"/>
              <a:t>An approach </a:t>
            </a:r>
            <a:r>
              <a:rPr lang="en-US" sz="2400" dirty="0"/>
              <a:t>to the evaluation of risk is to </a:t>
            </a:r>
            <a:r>
              <a:rPr lang="en-US" sz="2400" b="1" dirty="0"/>
              <a:t>consider each possible outcome </a:t>
            </a:r>
            <a:r>
              <a:rPr lang="en-US" sz="2400" b="1" dirty="0" smtClean="0"/>
              <a:t>and estimate </a:t>
            </a:r>
            <a:r>
              <a:rPr lang="en-US" sz="2400" b="1" dirty="0"/>
              <a:t>the probability of its occurring and the corresponding value of the outcome. </a:t>
            </a:r>
            <a:endParaRPr lang="en-US" sz="2400" b="1" dirty="0" smtClean="0"/>
          </a:p>
          <a:p>
            <a:r>
              <a:rPr lang="en-US" sz="2400" dirty="0" smtClean="0">
                <a:solidFill>
                  <a:srgbClr val="0070C0"/>
                </a:solidFill>
              </a:rPr>
              <a:t>Rather </a:t>
            </a:r>
            <a:r>
              <a:rPr lang="en-US" sz="2400" dirty="0">
                <a:solidFill>
                  <a:srgbClr val="0070C0"/>
                </a:solidFill>
              </a:rPr>
              <a:t>than a </a:t>
            </a:r>
            <a:r>
              <a:rPr lang="en-US" sz="2400" dirty="0" smtClean="0">
                <a:solidFill>
                  <a:srgbClr val="0070C0"/>
                </a:solidFill>
              </a:rPr>
              <a:t>single cash flow </a:t>
            </a:r>
            <a:r>
              <a:rPr lang="en-US" sz="2400" dirty="0">
                <a:solidFill>
                  <a:srgbClr val="0070C0"/>
                </a:solidFill>
              </a:rPr>
              <a:t>forecast for a project, we will then have a set of cash </a:t>
            </a:r>
            <a:r>
              <a:rPr lang="en-US" sz="2400" dirty="0" smtClean="0">
                <a:solidFill>
                  <a:srgbClr val="0070C0"/>
                </a:solidFill>
              </a:rPr>
              <a:t>flow </a:t>
            </a:r>
            <a:r>
              <a:rPr lang="en-US" sz="2400" dirty="0">
                <a:solidFill>
                  <a:srgbClr val="0070C0"/>
                </a:solidFill>
              </a:rPr>
              <a:t>forecasts, each with an associated </a:t>
            </a:r>
            <a:r>
              <a:rPr lang="en-US" sz="2400" dirty="0" smtClean="0">
                <a:solidFill>
                  <a:srgbClr val="0070C0"/>
                </a:solidFill>
              </a:rPr>
              <a:t>probability of </a:t>
            </a:r>
            <a:r>
              <a:rPr lang="en-US" sz="2400" dirty="0">
                <a:solidFill>
                  <a:srgbClr val="0070C0"/>
                </a:solidFill>
              </a:rPr>
              <a:t>occurring</a:t>
            </a:r>
            <a:r>
              <a:rPr lang="en-US" sz="2400" dirty="0" smtClean="0">
                <a:solidFill>
                  <a:srgbClr val="0070C0"/>
                </a:solidFill>
              </a:rPr>
              <a:t>.</a:t>
            </a:r>
          </a:p>
          <a:p>
            <a:r>
              <a:rPr lang="en-US" sz="2400" dirty="0" smtClean="0"/>
              <a:t> </a:t>
            </a:r>
            <a:r>
              <a:rPr lang="en-US" sz="2400" u="sng" dirty="0"/>
              <a:t>The value of the project is then obtained by summing the cost or </a:t>
            </a:r>
            <a:r>
              <a:rPr lang="en-US" sz="2400" u="sng" dirty="0" smtClean="0"/>
              <a:t>benefit </a:t>
            </a:r>
            <a:r>
              <a:rPr lang="en-US" sz="2400" u="sng" dirty="0"/>
              <a:t>for each </a:t>
            </a:r>
            <a:r>
              <a:rPr lang="en-US" sz="2400" u="sng" dirty="0" smtClean="0"/>
              <a:t>possible outcome </a:t>
            </a:r>
            <a:r>
              <a:rPr lang="en-US" sz="2400" u="sng" dirty="0"/>
              <a:t>weighted by its corresponding probability. </a:t>
            </a:r>
            <a:endParaRPr lang="en-US" sz="2400" u="sng" dirty="0" smtClean="0"/>
          </a:p>
        </p:txBody>
      </p:sp>
      <p:sp>
        <p:nvSpPr>
          <p:cNvPr id="4" name="Slide Number Placeholder 3"/>
          <p:cNvSpPr>
            <a:spLocks noGrp="1"/>
          </p:cNvSpPr>
          <p:nvPr>
            <p:ph type="sldNum" sz="quarter" idx="12"/>
          </p:nvPr>
        </p:nvSpPr>
        <p:spPr/>
        <p:txBody>
          <a:bodyPr/>
          <a:lstStyle/>
          <a:p>
            <a:fld id="{E5CE4F79-B2B3-4E4E-AB5D-F771515B9CEF}" type="slidenum">
              <a:rPr lang="en-US" smtClean="0"/>
              <a:t>5</a:t>
            </a:fld>
            <a:endParaRPr lang="en-US" dirty="0"/>
          </a:p>
        </p:txBody>
      </p:sp>
    </p:spTree>
    <p:extLst>
      <p:ext uri="{BB962C8B-B14F-4D97-AF65-F5344CB8AC3E}">
        <p14:creationId xmlns:p14="http://schemas.microsoft.com/office/powerpoint/2010/main" val="35957487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622" y="457200"/>
            <a:ext cx="9029378"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E5CE4F79-B2B3-4E4E-AB5D-F771515B9CEF}" type="slidenum">
              <a:rPr lang="en-US" smtClean="0"/>
              <a:t>6</a:t>
            </a:fld>
            <a:endParaRPr lang="en-US" dirty="0"/>
          </a:p>
        </p:txBody>
      </p:sp>
    </p:spTree>
    <p:extLst>
      <p:ext uri="{BB962C8B-B14F-4D97-AF65-F5344CB8AC3E}">
        <p14:creationId xmlns:p14="http://schemas.microsoft.com/office/powerpoint/2010/main" val="6404996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7</a:t>
            </a:fld>
            <a:endParaRPr lang="en-US"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856130"/>
            <a:ext cx="8991600" cy="2115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18252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Quantitative Risk  </a:t>
            </a:r>
            <a:r>
              <a:rPr lang="en-US" b="1" dirty="0"/>
              <a:t>analysis</a:t>
            </a:r>
            <a:endParaRPr lang="en-US" dirty="0"/>
          </a:p>
        </p:txBody>
      </p:sp>
      <p:sp>
        <p:nvSpPr>
          <p:cNvPr id="3" name="Content Placeholder 2"/>
          <p:cNvSpPr>
            <a:spLocks noGrp="1"/>
          </p:cNvSpPr>
          <p:nvPr>
            <p:ph type="body" sz="quarter" idx="13"/>
          </p:nvPr>
        </p:nvSpPr>
        <p:spPr/>
        <p:txBody>
          <a:bodyPr>
            <a:normAutofit/>
          </a:bodyPr>
          <a:lstStyle/>
          <a:p>
            <a:r>
              <a:rPr lang="en-US" sz="2400" dirty="0" smtClean="0"/>
              <a:t>Refers to how </a:t>
            </a:r>
            <a:r>
              <a:rPr lang="en-US" sz="2400" dirty="0"/>
              <a:t>the combination of the risks and uncertainties could affect the project. </a:t>
            </a:r>
            <a:endParaRPr lang="en-US" sz="2400" dirty="0" smtClean="0"/>
          </a:p>
          <a:p>
            <a:r>
              <a:rPr lang="en-US" sz="2400" dirty="0" smtClean="0"/>
              <a:t>The </a:t>
            </a:r>
            <a:r>
              <a:rPr lang="en-US" sz="2400" dirty="0"/>
              <a:t>goal of this </a:t>
            </a:r>
            <a:r>
              <a:rPr lang="en-US" sz="2400" b="1" dirty="0"/>
              <a:t>Quantitative </a:t>
            </a:r>
            <a:r>
              <a:rPr lang="en-US" sz="2400" dirty="0" smtClean="0"/>
              <a:t>analysis </a:t>
            </a:r>
            <a:r>
              <a:rPr lang="en-US" sz="2400" dirty="0"/>
              <a:t>is to </a:t>
            </a:r>
            <a:r>
              <a:rPr lang="en-US" sz="2400" dirty="0">
                <a:solidFill>
                  <a:srgbClr val="FF0000"/>
                </a:solidFill>
              </a:rPr>
              <a:t>create a “risk profile” of the project</a:t>
            </a:r>
            <a:r>
              <a:rPr lang="en-US" sz="2400" dirty="0" smtClean="0">
                <a:solidFill>
                  <a:srgbClr val="FF0000"/>
                </a:solidFill>
              </a:rPr>
              <a:t>.</a:t>
            </a:r>
          </a:p>
          <a:p>
            <a:pPr marL="0" indent="0">
              <a:buNone/>
            </a:pPr>
            <a:r>
              <a:rPr lang="en-US" sz="2400" dirty="0" smtClean="0">
                <a:solidFill>
                  <a:srgbClr val="FF0000"/>
                </a:solidFill>
              </a:rPr>
              <a:t> </a:t>
            </a:r>
            <a:endParaRPr lang="en-US" sz="2400" dirty="0">
              <a:solidFill>
                <a:srgbClr val="FF0000"/>
              </a:solidFill>
            </a:endParaRPr>
          </a:p>
          <a:p>
            <a:pPr marL="0" indent="0">
              <a:buNone/>
            </a:pPr>
            <a:r>
              <a:rPr lang="en-US" sz="2400" u="sng" dirty="0" smtClean="0"/>
              <a:t>You </a:t>
            </a:r>
            <a:r>
              <a:rPr lang="en-US" sz="2400" u="sng" dirty="0"/>
              <a:t>may need to know the following information:</a:t>
            </a:r>
          </a:p>
          <a:p>
            <a:pPr lvl="1"/>
            <a:r>
              <a:rPr lang="en-US" sz="2000" b="1" dirty="0"/>
              <a:t>The chance that the project will be completed within a certain period and on budget;</a:t>
            </a:r>
          </a:p>
          <a:p>
            <a:pPr lvl="1"/>
            <a:r>
              <a:rPr lang="en-US" sz="2000" b="1" dirty="0"/>
              <a:t>The project's success rate, or the chance that it will be completed; and</a:t>
            </a:r>
          </a:p>
          <a:p>
            <a:pPr lvl="1"/>
            <a:r>
              <a:rPr lang="en-US" sz="2000" b="1" dirty="0"/>
              <a:t>The low, average, and high estimates for duration, cost, and other project parameters.</a:t>
            </a: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8</a:t>
            </a:fld>
            <a:endParaRPr lang="en-US" dirty="0"/>
          </a:p>
        </p:txBody>
      </p:sp>
    </p:spTree>
    <p:extLst>
      <p:ext uri="{BB962C8B-B14F-4D97-AF65-F5344CB8AC3E}">
        <p14:creationId xmlns:p14="http://schemas.microsoft.com/office/powerpoint/2010/main" val="19357801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430" y="650188"/>
            <a:ext cx="8381999" cy="780195"/>
          </a:xfrm>
        </p:spPr>
        <p:txBody>
          <a:bodyPr>
            <a:normAutofit fontScale="90000"/>
          </a:bodyPr>
          <a:lstStyle/>
          <a:p>
            <a:r>
              <a:rPr lang="en-US" b="1" dirty="0"/>
              <a:t>Risk </a:t>
            </a:r>
            <a:r>
              <a:rPr lang="en-US" b="1" dirty="0" smtClean="0"/>
              <a:t>profile </a:t>
            </a:r>
            <a:r>
              <a:rPr lang="en-US" b="1" dirty="0" err="1" smtClean="0"/>
              <a:t>analysis</a:t>
            </a:r>
            <a:r>
              <a:rPr lang="en-US" b="1" dirty="0" err="1" smtClean="0">
                <a:sym typeface="Wingdings" pitchFamily="2" charset="2"/>
              </a:rPr>
              <a:t>done</a:t>
            </a:r>
            <a:r>
              <a:rPr lang="en-US" b="1" dirty="0" smtClean="0">
                <a:sym typeface="Wingdings" pitchFamily="2" charset="2"/>
              </a:rPr>
              <a:t> using sensitivity analysis</a:t>
            </a:r>
            <a:endParaRPr lang="en-US" dirty="0"/>
          </a:p>
        </p:txBody>
      </p:sp>
      <p:sp>
        <p:nvSpPr>
          <p:cNvPr id="3" name="Content Placeholder 2"/>
          <p:cNvSpPr>
            <a:spLocks noGrp="1"/>
          </p:cNvSpPr>
          <p:nvPr>
            <p:ph type="body" sz="quarter" idx="13"/>
          </p:nvPr>
        </p:nvSpPr>
        <p:spPr>
          <a:xfrm>
            <a:off x="533400" y="1662324"/>
            <a:ext cx="8381999" cy="4495800"/>
          </a:xfrm>
        </p:spPr>
        <p:txBody>
          <a:bodyPr>
            <a:normAutofit fontScale="92500" lnSpcReduction="20000"/>
          </a:bodyPr>
          <a:lstStyle/>
          <a:p>
            <a:r>
              <a:rPr lang="en-US" dirty="0" smtClean="0">
                <a:solidFill>
                  <a:srgbClr val="FF0000"/>
                </a:solidFill>
              </a:rPr>
              <a:t>In it we vary  </a:t>
            </a:r>
            <a:r>
              <a:rPr lang="en-US" dirty="0">
                <a:solidFill>
                  <a:srgbClr val="FF0000"/>
                </a:solidFill>
              </a:rPr>
              <a:t>each of the parameters that affect the project’s cost or </a:t>
            </a:r>
            <a:r>
              <a:rPr lang="en-US" dirty="0" smtClean="0">
                <a:solidFill>
                  <a:srgbClr val="FF0000"/>
                </a:solidFill>
              </a:rPr>
              <a:t>benefits    </a:t>
            </a:r>
          </a:p>
          <a:p>
            <a:r>
              <a:rPr lang="en-US" dirty="0" smtClean="0">
                <a:sym typeface="Wingdings" pitchFamily="2" charset="2"/>
              </a:rPr>
              <a:t>Why do we vary ???  </a:t>
            </a:r>
            <a:r>
              <a:rPr lang="en-US" b="1" dirty="0" smtClean="0"/>
              <a:t>to know how sensitive the </a:t>
            </a:r>
            <a:r>
              <a:rPr lang="en-US" b="1" dirty="0"/>
              <a:t>project’s </a:t>
            </a:r>
            <a:r>
              <a:rPr lang="en-US" b="1" dirty="0" smtClean="0"/>
              <a:t>profitability </a:t>
            </a:r>
            <a:r>
              <a:rPr lang="en-US" b="1" dirty="0"/>
              <a:t>is to each factor</a:t>
            </a:r>
            <a:r>
              <a:rPr lang="en-US" b="1" dirty="0" smtClean="0"/>
              <a:t>.</a:t>
            </a:r>
          </a:p>
          <a:p>
            <a:r>
              <a:rPr lang="en-US" b="1" dirty="0" smtClean="0"/>
              <a:t>Sensitivity </a:t>
            </a:r>
            <a:r>
              <a:rPr lang="en-US" b="1" dirty="0"/>
              <a:t>analysis shows which task variables (Cost, Start and Finish Times, Duration, </a:t>
            </a:r>
            <a:r>
              <a:rPr lang="en-US" b="1" dirty="0" err="1"/>
              <a:t>etc</a:t>
            </a:r>
            <a:r>
              <a:rPr lang="en-US" b="1" dirty="0"/>
              <a:t>) have the greatest impact on project parameters</a:t>
            </a:r>
            <a:r>
              <a:rPr lang="en-US" b="1" dirty="0" smtClean="0"/>
              <a:t> </a:t>
            </a:r>
          </a:p>
          <a:p>
            <a:r>
              <a:rPr lang="en-US" dirty="0" smtClean="0"/>
              <a:t>We </a:t>
            </a:r>
            <a:r>
              <a:rPr lang="en-US" dirty="0"/>
              <a:t>might, for example, vary one of our original estimates by </a:t>
            </a:r>
            <a:r>
              <a:rPr lang="en-US" dirty="0" smtClean="0"/>
              <a:t>plus or </a:t>
            </a:r>
            <a:r>
              <a:rPr lang="en-US" dirty="0"/>
              <a:t>minus 5% and recalculate the expected costs and </a:t>
            </a:r>
            <a:r>
              <a:rPr lang="en-US" dirty="0" smtClean="0"/>
              <a:t>benefits </a:t>
            </a:r>
            <a:r>
              <a:rPr lang="en-US" dirty="0"/>
              <a:t>for the project. </a:t>
            </a:r>
            <a:endParaRPr lang="en-US" dirty="0" smtClean="0"/>
          </a:p>
          <a:p>
            <a:r>
              <a:rPr lang="en-US" b="1" dirty="0" smtClean="0"/>
              <a:t>By </a:t>
            </a:r>
            <a:r>
              <a:rPr lang="en-US" b="1" dirty="0"/>
              <a:t>repeating this exercise </a:t>
            </a:r>
            <a:r>
              <a:rPr lang="en-US" b="1" dirty="0" smtClean="0"/>
              <a:t>for each </a:t>
            </a:r>
            <a:r>
              <a:rPr lang="en-US" b="1" dirty="0"/>
              <a:t>of our estimates in turn we can evaluate the sensitivity of the project to each factor</a:t>
            </a:r>
            <a:r>
              <a:rPr lang="en-US" dirty="0"/>
              <a:t>.</a:t>
            </a:r>
          </a:p>
          <a:p>
            <a:r>
              <a:rPr lang="en-US" b="1" dirty="0" smtClean="0"/>
              <a:t>Effect </a:t>
            </a:r>
            <a:r>
              <a:rPr lang="en-US" b="1" dirty="0" smtClean="0">
                <a:sym typeface="Wingdings" pitchFamily="2" charset="2"/>
              </a:rPr>
              <a:t> </a:t>
            </a:r>
            <a:r>
              <a:rPr lang="en-US" dirty="0" smtClean="0">
                <a:solidFill>
                  <a:srgbClr val="FF0000"/>
                </a:solidFill>
              </a:rPr>
              <a:t>By </a:t>
            </a:r>
            <a:r>
              <a:rPr lang="en-US" dirty="0">
                <a:solidFill>
                  <a:srgbClr val="FF0000"/>
                </a:solidFill>
              </a:rPr>
              <a:t>studying the results of a sensitivity analysis </a:t>
            </a:r>
            <a:r>
              <a:rPr lang="en-US" b="1" dirty="0">
                <a:solidFill>
                  <a:srgbClr val="00B050"/>
                </a:solidFill>
              </a:rPr>
              <a:t>we can identify those factors that are most important to </a:t>
            </a:r>
            <a:r>
              <a:rPr lang="en-US" b="1" dirty="0" smtClean="0">
                <a:solidFill>
                  <a:srgbClr val="00B050"/>
                </a:solidFill>
              </a:rPr>
              <a:t>the success </a:t>
            </a:r>
            <a:r>
              <a:rPr lang="en-US" b="1" dirty="0">
                <a:solidFill>
                  <a:srgbClr val="00B050"/>
                </a:solidFill>
              </a:rPr>
              <a:t>of the project. </a:t>
            </a:r>
            <a:endParaRPr lang="en-US" b="1" dirty="0" smtClean="0">
              <a:solidFill>
                <a:srgbClr val="00B050"/>
              </a:solidFill>
            </a:endParaRPr>
          </a:p>
          <a:p>
            <a:r>
              <a:rPr lang="en-US" b="1" dirty="0" smtClean="0"/>
              <a:t>We </a:t>
            </a:r>
            <a:r>
              <a:rPr lang="en-US" b="1" dirty="0"/>
              <a:t>then need to decide whether we can exercise greater control over them or </a:t>
            </a:r>
            <a:r>
              <a:rPr lang="en-US" b="1" dirty="0" smtClean="0"/>
              <a:t>otherwise mitigate </a:t>
            </a:r>
            <a:r>
              <a:rPr lang="en-US" b="1" dirty="0"/>
              <a:t>their effects</a:t>
            </a:r>
            <a:r>
              <a:rPr lang="en-US" b="1" dirty="0" smtClean="0"/>
              <a:t>.</a:t>
            </a:r>
          </a:p>
          <a:p>
            <a:r>
              <a:rPr lang="en-US" b="1" dirty="0" smtClean="0"/>
              <a:t> </a:t>
            </a:r>
            <a:r>
              <a:rPr lang="en-US" dirty="0"/>
              <a:t>If neither is the case, then we must live with the risk or abandon the project.</a:t>
            </a:r>
          </a:p>
        </p:txBody>
      </p:sp>
      <p:sp>
        <p:nvSpPr>
          <p:cNvPr id="4" name="Slide Number Placeholder 3"/>
          <p:cNvSpPr>
            <a:spLocks noGrp="1"/>
          </p:cNvSpPr>
          <p:nvPr>
            <p:ph type="sldNum" sz="quarter" idx="12"/>
          </p:nvPr>
        </p:nvSpPr>
        <p:spPr/>
        <p:txBody>
          <a:bodyPr/>
          <a:lstStyle/>
          <a:p>
            <a:fld id="{E5CE4F79-B2B3-4E4E-AB5D-F771515B9CEF}" type="slidenum">
              <a:rPr lang="en-US" smtClean="0"/>
              <a:t>9</a:t>
            </a:fld>
            <a:endParaRPr lang="en-US" dirty="0"/>
          </a:p>
        </p:txBody>
      </p:sp>
    </p:spTree>
    <p:extLst>
      <p:ext uri="{BB962C8B-B14F-4D97-AF65-F5344CB8AC3E}">
        <p14:creationId xmlns:p14="http://schemas.microsoft.com/office/powerpoint/2010/main" val="666877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More on Sensitivity Analysis</a:t>
            </a:r>
            <a:endParaRPr lang="en-US" dirty="0"/>
          </a:p>
        </p:txBody>
      </p:sp>
      <p:sp>
        <p:nvSpPr>
          <p:cNvPr id="3" name="Content Placeholder 2"/>
          <p:cNvSpPr>
            <a:spLocks noGrp="1"/>
          </p:cNvSpPr>
          <p:nvPr>
            <p:ph type="body" sz="quarter" idx="13"/>
          </p:nvPr>
        </p:nvSpPr>
        <p:spPr/>
        <p:txBody>
          <a:bodyPr>
            <a:normAutofit/>
          </a:bodyPr>
          <a:lstStyle/>
          <a:p>
            <a:r>
              <a:rPr lang="en-US" dirty="0"/>
              <a:t>Sensitivity analysis is the quantitative risk assessment of how changes in a specific model variable impacts the output of the model</a:t>
            </a:r>
            <a:r>
              <a:rPr lang="en-US" dirty="0" smtClean="0"/>
              <a:t>.</a:t>
            </a:r>
          </a:p>
          <a:p>
            <a:r>
              <a:rPr lang="en-US" b="1" dirty="0" smtClean="0"/>
              <a:t>In </a:t>
            </a:r>
            <a:r>
              <a:rPr lang="en-US" b="1" dirty="0"/>
              <a:t>projects, we are looking at how uncertainties and risks assigned to specific activities correlate with variance in the project</a:t>
            </a:r>
            <a:r>
              <a:rPr lang="en-US" b="1" dirty="0" smtClean="0"/>
              <a:t>.</a:t>
            </a:r>
          </a:p>
          <a:p>
            <a:r>
              <a:rPr lang="en-US" dirty="0" smtClean="0"/>
              <a:t> </a:t>
            </a:r>
            <a:r>
              <a:rPr lang="en-US" dirty="0" smtClean="0">
                <a:solidFill>
                  <a:srgbClr val="FF0000"/>
                </a:solidFill>
              </a:rPr>
              <a:t>For example, sensitivity analysis allows you to identify which task’s duration with uncertainty has the strongest correlation with the finish time of the project. </a:t>
            </a:r>
          </a:p>
          <a:p>
            <a:r>
              <a:rPr lang="en-US" dirty="0" smtClean="0"/>
              <a:t>It </a:t>
            </a:r>
            <a:r>
              <a:rPr lang="en-US" dirty="0"/>
              <a:t>answers the question, which task inputs have the greatest impact on the key project objectives. This in turn provides clues to where project managers should look first when a management decision is required.</a:t>
            </a: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10</a:t>
            </a:fld>
            <a:endParaRPr lang="en-US" dirty="0"/>
          </a:p>
        </p:txBody>
      </p:sp>
    </p:spTree>
    <p:extLst>
      <p:ext uri="{BB962C8B-B14F-4D97-AF65-F5344CB8AC3E}">
        <p14:creationId xmlns:p14="http://schemas.microsoft.com/office/powerpoint/2010/main" val="31913726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Risk Analysis Approach – Decision Tree</a:t>
            </a:r>
            <a:endParaRPr lang="en-US" dirty="0"/>
          </a:p>
        </p:txBody>
      </p:sp>
      <p:sp>
        <p:nvSpPr>
          <p:cNvPr id="3" name="Content Placeholder 2"/>
          <p:cNvSpPr>
            <a:spLocks noGrp="1"/>
          </p:cNvSpPr>
          <p:nvPr>
            <p:ph type="body" sz="quarter" idx="13"/>
          </p:nvPr>
        </p:nvSpPr>
        <p:spPr/>
        <p:txBody>
          <a:bodyPr/>
          <a:lstStyle/>
          <a:p>
            <a:r>
              <a:rPr lang="en-US" dirty="0"/>
              <a:t>Decision </a:t>
            </a:r>
            <a:r>
              <a:rPr lang="en-US" dirty="0" smtClean="0"/>
              <a:t>Tree </a:t>
            </a:r>
            <a:r>
              <a:rPr lang="en-US" dirty="0" smtClean="0">
                <a:sym typeface="Wingdings" pitchFamily="2" charset="2"/>
              </a:rPr>
              <a:t></a:t>
            </a:r>
            <a:r>
              <a:rPr lang="en-US" dirty="0" smtClean="0"/>
              <a:t>A </a:t>
            </a:r>
            <a:r>
              <a:rPr lang="en-US" dirty="0"/>
              <a:t>technique used to help </a:t>
            </a:r>
            <a:r>
              <a:rPr lang="en-US" dirty="0">
                <a:solidFill>
                  <a:srgbClr val="00B050"/>
                </a:solidFill>
              </a:rPr>
              <a:t>select best course of action in situations </a:t>
            </a:r>
            <a:r>
              <a:rPr lang="en-US" dirty="0"/>
              <a:t>where </a:t>
            </a:r>
            <a:r>
              <a:rPr lang="en-US" dirty="0">
                <a:solidFill>
                  <a:srgbClr val="FF0000"/>
                </a:solidFill>
              </a:rPr>
              <a:t>future actions are </a:t>
            </a:r>
            <a:r>
              <a:rPr lang="en-US" dirty="0" smtClean="0">
                <a:solidFill>
                  <a:srgbClr val="FF0000"/>
                </a:solidFill>
              </a:rPr>
              <a:t>uncertain</a:t>
            </a:r>
          </a:p>
          <a:p>
            <a:r>
              <a:rPr lang="en-US" dirty="0" smtClean="0"/>
              <a:t>In </a:t>
            </a:r>
            <a:r>
              <a:rPr lang="en-US" smtClean="0"/>
              <a:t>many situations  </a:t>
            </a:r>
            <a:r>
              <a:rPr lang="en-US" dirty="0" smtClean="0"/>
              <a:t>its important </a:t>
            </a:r>
            <a:r>
              <a:rPr lang="en-US" dirty="0"/>
              <a:t>to be able to assess how </a:t>
            </a:r>
            <a:r>
              <a:rPr lang="en-US" dirty="0" smtClean="0"/>
              <a:t>a decision </a:t>
            </a:r>
            <a:r>
              <a:rPr lang="en-US" dirty="0"/>
              <a:t>will affect the </a:t>
            </a:r>
            <a:r>
              <a:rPr lang="en-US"/>
              <a:t>future </a:t>
            </a:r>
            <a:r>
              <a:rPr lang="en-US" smtClean="0"/>
              <a:t>profitability </a:t>
            </a:r>
            <a:r>
              <a:rPr lang="en-US" dirty="0"/>
              <a:t>of the project.</a:t>
            </a:r>
            <a:endParaRPr lang="en-US" dirty="0">
              <a:solidFill>
                <a:srgbClr val="FF0000"/>
              </a:solidFill>
            </a:endParaRP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11</a:t>
            </a:fld>
            <a:endParaRPr lang="en-US" dirty="0"/>
          </a:p>
        </p:txBody>
      </p:sp>
    </p:spTree>
    <p:extLst>
      <p:ext uri="{BB962C8B-B14F-4D97-AF65-F5344CB8AC3E}">
        <p14:creationId xmlns:p14="http://schemas.microsoft.com/office/powerpoint/2010/main" val="18569838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normAutofit fontScale="92500" lnSpcReduction="20000"/>
          </a:bodyPr>
          <a:lstStyle/>
          <a:p>
            <a:r>
              <a:rPr lang="en-US" b="1" dirty="0" smtClean="0"/>
              <a:t>Decision Tree Analysis-Expected Monetary Value Calculation</a:t>
            </a:r>
            <a:endParaRPr lang="en-US" b="1" dirty="0"/>
          </a:p>
          <a:p>
            <a:r>
              <a:rPr lang="en-US" dirty="0" smtClean="0"/>
              <a:t>A </a:t>
            </a:r>
            <a:r>
              <a:rPr lang="en-US" dirty="0"/>
              <a:t>successful company is considering when to replace its sales order processing </a:t>
            </a:r>
            <a:r>
              <a:rPr lang="en-US" dirty="0" smtClean="0"/>
              <a:t>system. The </a:t>
            </a:r>
            <a:r>
              <a:rPr lang="en-US" dirty="0"/>
              <a:t>decision largely rests upon the rate at which its business expands – if its market share </a:t>
            </a:r>
            <a:r>
              <a:rPr lang="en-US" dirty="0" smtClean="0"/>
              <a:t>significantly</a:t>
            </a:r>
            <a:r>
              <a:rPr lang="en-US" dirty="0"/>
              <a:t> </a:t>
            </a:r>
            <a:r>
              <a:rPr lang="en-US" dirty="0" smtClean="0"/>
              <a:t>increases </a:t>
            </a:r>
            <a:r>
              <a:rPr lang="en-US" dirty="0"/>
              <a:t>(which it believes will happen if </a:t>
            </a:r>
            <a:r>
              <a:rPr lang="en-US" dirty="0" smtClean="0"/>
              <a:t>rumors </a:t>
            </a:r>
            <a:r>
              <a:rPr lang="en-US" dirty="0"/>
              <a:t>of a competitor’s imminent bankruptcy are </a:t>
            </a:r>
            <a:r>
              <a:rPr lang="en-US" dirty="0" smtClean="0"/>
              <a:t>fulfilled</a:t>
            </a:r>
            <a:r>
              <a:rPr lang="en-US" dirty="0"/>
              <a:t>) </a:t>
            </a:r>
            <a:r>
              <a:rPr lang="en-US" dirty="0" smtClean="0"/>
              <a:t>the existing </a:t>
            </a:r>
            <a:r>
              <a:rPr lang="en-US" dirty="0"/>
              <a:t>system might need to be replaced within two years. Not replacing the system in time could be </a:t>
            </a:r>
            <a:r>
              <a:rPr lang="en-US" dirty="0" smtClean="0"/>
              <a:t>an expensive </a:t>
            </a:r>
            <a:r>
              <a:rPr lang="en-US" dirty="0"/>
              <a:t>option as it could lead to lost revenue if it cannot cope with increased sales. Replacing the </a:t>
            </a:r>
            <a:r>
              <a:rPr lang="en-US" dirty="0" smtClean="0"/>
              <a:t>system immediately </a:t>
            </a:r>
            <a:r>
              <a:rPr lang="en-US" dirty="0"/>
              <a:t>will, however, be expensive as it will mean deferring other projects already scheduled.</a:t>
            </a:r>
          </a:p>
          <a:p>
            <a:r>
              <a:rPr lang="en-US" b="1" dirty="0" smtClean="0"/>
              <a:t>Extending </a:t>
            </a:r>
            <a:r>
              <a:rPr lang="en-US" b="1" dirty="0"/>
              <a:t>the existing system will have an NPV of £75,000, although if the </a:t>
            </a:r>
            <a:r>
              <a:rPr lang="en-US" b="1" dirty="0" smtClean="0"/>
              <a:t>market expands significantly</a:t>
            </a:r>
            <a:r>
              <a:rPr lang="en-US" b="1" dirty="0"/>
              <a:t>, this will be turned into a loss with an NPV of –£1 00,000 due to lost revenue. If </a:t>
            </a:r>
            <a:r>
              <a:rPr lang="en-US" b="1" dirty="0" smtClean="0"/>
              <a:t>the market </a:t>
            </a:r>
            <a:r>
              <a:rPr lang="en-US" b="1" dirty="0"/>
              <a:t>does expand, replacing the system now has an NPV of £250,000 due to the </a:t>
            </a:r>
            <a:r>
              <a:rPr lang="en-US" b="1" dirty="0" smtClean="0"/>
              <a:t>benefits </a:t>
            </a:r>
            <a:r>
              <a:rPr lang="en-US" b="1" dirty="0"/>
              <a:t>of being able </a:t>
            </a:r>
            <a:r>
              <a:rPr lang="en-US" b="1" dirty="0" smtClean="0"/>
              <a:t>to handle </a:t>
            </a:r>
            <a:r>
              <a:rPr lang="en-US" b="1" dirty="0"/>
              <a:t>increased sales and other </a:t>
            </a:r>
            <a:r>
              <a:rPr lang="en-US" b="1" dirty="0" smtClean="0"/>
              <a:t>benefits </a:t>
            </a:r>
            <a:r>
              <a:rPr lang="en-US" b="1" dirty="0"/>
              <a:t>such as improved management information. If sales do not </a:t>
            </a:r>
            <a:r>
              <a:rPr lang="en-US" b="1" dirty="0" smtClean="0"/>
              <a:t>increase, however</a:t>
            </a:r>
            <a:r>
              <a:rPr lang="en-US" b="1" dirty="0"/>
              <a:t>, the </a:t>
            </a:r>
            <a:r>
              <a:rPr lang="en-US" b="1" dirty="0" smtClean="0"/>
              <a:t>benefits </a:t>
            </a:r>
            <a:r>
              <a:rPr lang="en-US" b="1" dirty="0"/>
              <a:t>will be severely reduced and the project will suffer a loss with an NPV of –£50,000.</a:t>
            </a:r>
          </a:p>
          <a:p>
            <a:r>
              <a:rPr lang="en-US" b="1" dirty="0"/>
              <a:t>The company estimate the likelihood of the market increasing </a:t>
            </a:r>
            <a:r>
              <a:rPr lang="en-US" b="1" dirty="0" smtClean="0"/>
              <a:t>significantly </a:t>
            </a:r>
            <a:r>
              <a:rPr lang="en-US" b="1" dirty="0"/>
              <a:t>at 20% – and, hence, the </a:t>
            </a:r>
            <a:r>
              <a:rPr lang="en-US" b="1" dirty="0" smtClean="0"/>
              <a:t>probability that </a:t>
            </a:r>
            <a:r>
              <a:rPr lang="en-US" b="1" dirty="0"/>
              <a:t>it will not increase as 80%.</a:t>
            </a:r>
          </a:p>
        </p:txBody>
      </p:sp>
      <p:sp>
        <p:nvSpPr>
          <p:cNvPr id="4" name="Slide Number Placeholder 3"/>
          <p:cNvSpPr>
            <a:spLocks noGrp="1"/>
          </p:cNvSpPr>
          <p:nvPr>
            <p:ph type="sldNum" sz="quarter" idx="12"/>
          </p:nvPr>
        </p:nvSpPr>
        <p:spPr/>
        <p:txBody>
          <a:bodyPr/>
          <a:lstStyle/>
          <a:p>
            <a:fld id="{E5CE4F79-B2B3-4E4E-AB5D-F771515B9CEF}" type="slidenum">
              <a:rPr lang="en-US" smtClean="0"/>
              <a:t>12</a:t>
            </a:fld>
            <a:endParaRPr lang="en-US" dirty="0"/>
          </a:p>
        </p:txBody>
      </p:sp>
      <p:sp>
        <p:nvSpPr>
          <p:cNvPr id="5" name="Title 1"/>
          <p:cNvSpPr>
            <a:spLocks noGrp="1"/>
          </p:cNvSpPr>
          <p:nvPr>
            <p:ph type="title"/>
          </p:nvPr>
        </p:nvSpPr>
        <p:spPr>
          <a:xfrm>
            <a:off x="457201" y="286605"/>
            <a:ext cx="8381999" cy="780195"/>
          </a:xfrm>
        </p:spPr>
        <p:txBody>
          <a:bodyPr>
            <a:normAutofit fontScale="90000"/>
          </a:bodyPr>
          <a:lstStyle/>
          <a:p>
            <a:r>
              <a:rPr lang="en-US" dirty="0" smtClean="0"/>
              <a:t>Risk Analysis Approach – Decision Tree</a:t>
            </a:r>
            <a:endParaRPr lang="en-US" dirty="0"/>
          </a:p>
        </p:txBody>
      </p:sp>
    </p:spTree>
    <p:extLst>
      <p:ext uri="{BB962C8B-B14F-4D97-AF65-F5344CB8AC3E}">
        <p14:creationId xmlns:p14="http://schemas.microsoft.com/office/powerpoint/2010/main" val="18933933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a:lstStyle/>
          <a:p>
            <a:endParaRPr lang="en-US" dirty="0"/>
          </a:p>
        </p:txBody>
      </p:sp>
      <p:pic>
        <p:nvPicPr>
          <p:cNvPr id="4"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685800" y="137220"/>
            <a:ext cx="7543800" cy="3573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824345" y="3886200"/>
            <a:ext cx="7772400" cy="2369880"/>
          </a:xfrm>
          <a:prstGeom prst="rect">
            <a:avLst/>
          </a:prstGeom>
          <a:noFill/>
        </p:spPr>
        <p:txBody>
          <a:bodyPr wrap="square" rtlCol="0">
            <a:spAutoFit/>
          </a:bodyPr>
          <a:lstStyle/>
          <a:p>
            <a:r>
              <a:rPr lang="en-US" dirty="0"/>
              <a:t>The analysis of a decision tree consists of evaluating the expected </a:t>
            </a:r>
            <a:r>
              <a:rPr lang="en-US" dirty="0" smtClean="0"/>
              <a:t>benefi</a:t>
            </a:r>
            <a:r>
              <a:rPr lang="en-US" dirty="0"/>
              <a:t>t</a:t>
            </a:r>
            <a:r>
              <a:rPr lang="en-US" dirty="0" smtClean="0"/>
              <a:t> </a:t>
            </a:r>
            <a:r>
              <a:rPr lang="en-US" dirty="0"/>
              <a:t>of taking each path from a </a:t>
            </a:r>
            <a:r>
              <a:rPr lang="en-US" dirty="0" smtClean="0"/>
              <a:t>decision point </a:t>
            </a:r>
            <a:r>
              <a:rPr lang="en-US" dirty="0"/>
              <a:t>(denoted by D in Figure </a:t>
            </a:r>
            <a:r>
              <a:rPr lang="en-US" dirty="0" smtClean="0"/>
              <a:t>).</a:t>
            </a:r>
          </a:p>
          <a:p>
            <a:r>
              <a:rPr lang="en-US" dirty="0" smtClean="0"/>
              <a:t>The </a:t>
            </a:r>
            <a:r>
              <a:rPr lang="en-US" dirty="0"/>
              <a:t>expected value of each path is the sum of the value of each </a:t>
            </a:r>
            <a:r>
              <a:rPr lang="en-US" dirty="0" smtClean="0"/>
              <a:t>possible outcome </a:t>
            </a:r>
            <a:r>
              <a:rPr lang="en-US" dirty="0"/>
              <a:t>multiplied by its probability of occurrence. </a:t>
            </a:r>
            <a:r>
              <a:rPr lang="en-US" b="1" dirty="0"/>
              <a:t>The expected value of extending the system is </a:t>
            </a:r>
            <a:r>
              <a:rPr lang="en-US" b="1" dirty="0" smtClean="0"/>
              <a:t>therefore £40,000 </a:t>
            </a:r>
            <a:r>
              <a:rPr lang="en-US" b="1" dirty="0"/>
              <a:t>(75,000 </a:t>
            </a:r>
            <a:r>
              <a:rPr lang="en-US" b="1" dirty="0" smtClean="0"/>
              <a:t>* </a:t>
            </a:r>
            <a:r>
              <a:rPr lang="en-US" b="1" dirty="0"/>
              <a:t>0.8 – 100,000 </a:t>
            </a:r>
            <a:r>
              <a:rPr lang="en-US" b="1" dirty="0" smtClean="0"/>
              <a:t>* </a:t>
            </a:r>
            <a:r>
              <a:rPr lang="en-US" b="1" dirty="0"/>
              <a:t>0.2) and the expected value of replacing the system £10,000 (250,000 *</a:t>
            </a:r>
            <a:r>
              <a:rPr lang="en-US" b="1" dirty="0" smtClean="0"/>
              <a:t> 0.2 </a:t>
            </a:r>
            <a:r>
              <a:rPr lang="en-US" b="1" dirty="0"/>
              <a:t>– 50,000 </a:t>
            </a:r>
            <a:r>
              <a:rPr lang="en-US" b="1" dirty="0" smtClean="0"/>
              <a:t>* </a:t>
            </a:r>
            <a:r>
              <a:rPr lang="en-US" b="1" dirty="0"/>
              <a:t>0.8). </a:t>
            </a:r>
            <a:r>
              <a:rPr lang="en-US" sz="2000" b="1" dirty="0">
                <a:solidFill>
                  <a:srgbClr val="00B050"/>
                </a:solidFill>
              </a:rPr>
              <a:t>The company should therefore choose the option of extending the existing system.</a:t>
            </a:r>
            <a:endParaRPr lang="en-US" b="1" dirty="0">
              <a:solidFill>
                <a:srgbClr val="00B050"/>
              </a:solidFill>
            </a:endParaRPr>
          </a:p>
        </p:txBody>
      </p:sp>
      <p:sp>
        <p:nvSpPr>
          <p:cNvPr id="6" name="Slide Number Placeholder 5"/>
          <p:cNvSpPr>
            <a:spLocks noGrp="1"/>
          </p:cNvSpPr>
          <p:nvPr>
            <p:ph type="sldNum" sz="quarter" idx="12"/>
          </p:nvPr>
        </p:nvSpPr>
        <p:spPr/>
        <p:txBody>
          <a:bodyPr/>
          <a:lstStyle/>
          <a:p>
            <a:fld id="{E5CE4F79-B2B3-4E4E-AB5D-F771515B9CEF}" type="slidenum">
              <a:rPr lang="en-US" smtClean="0"/>
              <a:t>13</a:t>
            </a:fld>
            <a:endParaRPr lang="en-US" dirty="0"/>
          </a:p>
        </p:txBody>
      </p:sp>
    </p:spTree>
    <p:extLst>
      <p:ext uri="{BB962C8B-B14F-4D97-AF65-F5344CB8AC3E}">
        <p14:creationId xmlns:p14="http://schemas.microsoft.com/office/powerpoint/2010/main" val="40694460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1516"/>
            <a:ext cx="8381999" cy="780195"/>
          </a:xfrm>
        </p:spPr>
        <p:txBody>
          <a:bodyPr>
            <a:noAutofit/>
          </a:bodyPr>
          <a:lstStyle/>
          <a:p>
            <a:r>
              <a:rPr lang="en-US" sz="4000" dirty="0" smtClean="0"/>
              <a:t>Project approach- Choosing Methodologies and Technologies</a:t>
            </a:r>
            <a:endParaRPr lang="en-US" sz="4000" dirty="0"/>
          </a:p>
        </p:txBody>
      </p:sp>
      <p:sp>
        <p:nvSpPr>
          <p:cNvPr id="3" name="Content Placeholder 2"/>
          <p:cNvSpPr>
            <a:spLocks noGrp="1"/>
          </p:cNvSpPr>
          <p:nvPr>
            <p:ph type="body" sz="quarter" idx="13"/>
          </p:nvPr>
        </p:nvSpPr>
        <p:spPr/>
        <p:txBody>
          <a:bodyPr>
            <a:normAutofit fontScale="92500" lnSpcReduction="10000"/>
          </a:bodyPr>
          <a:lstStyle/>
          <a:p>
            <a:r>
              <a:rPr lang="en-US" b="1" dirty="0"/>
              <a:t>Project analysis should select the most appropriate methodologies and technologies for a project. </a:t>
            </a:r>
            <a:endParaRPr lang="en-US" b="1" dirty="0" smtClean="0"/>
          </a:p>
          <a:p>
            <a:r>
              <a:rPr lang="en-US" b="1" dirty="0" smtClean="0">
                <a:solidFill>
                  <a:schemeClr val="tx1"/>
                </a:solidFill>
              </a:rPr>
              <a:t>Methodologies</a:t>
            </a:r>
            <a:r>
              <a:rPr lang="en-US" b="1" dirty="0">
                <a:solidFill>
                  <a:schemeClr val="tx1"/>
                </a:solidFill>
              </a:rPr>
              <a:t> </a:t>
            </a:r>
            <a:r>
              <a:rPr lang="en-US" b="1" dirty="0" smtClean="0">
                <a:solidFill>
                  <a:schemeClr val="tx1"/>
                </a:solidFill>
              </a:rPr>
              <a:t>include </a:t>
            </a:r>
            <a:r>
              <a:rPr lang="en-US" b="1" dirty="0">
                <a:solidFill>
                  <a:schemeClr val="tx1"/>
                </a:solidFill>
              </a:rPr>
              <a:t>approaches </a:t>
            </a:r>
            <a:r>
              <a:rPr lang="en-US" dirty="0" smtClean="0"/>
              <a:t>like Object Oriented (OO) development, </a:t>
            </a:r>
            <a:r>
              <a:rPr lang="en-US" dirty="0"/>
              <a:t>the </a:t>
            </a:r>
            <a:r>
              <a:rPr lang="en-US" dirty="0" smtClean="0"/>
              <a:t>Unified </a:t>
            </a:r>
            <a:r>
              <a:rPr lang="en-US" dirty="0"/>
              <a:t>Software Development Process (USDP), Structured Systems </a:t>
            </a:r>
            <a:r>
              <a:rPr lang="en-US" dirty="0" smtClean="0"/>
              <a:t>Analysis and </a:t>
            </a:r>
            <a:r>
              <a:rPr lang="en-US" dirty="0"/>
              <a:t>Design Method (SSADM) and Human-</a:t>
            </a:r>
            <a:r>
              <a:rPr lang="en-US" dirty="0" err="1"/>
              <a:t>Centred</a:t>
            </a:r>
            <a:r>
              <a:rPr lang="en-US" dirty="0"/>
              <a:t> Design</a:t>
            </a:r>
            <a:r>
              <a:rPr lang="en-US" dirty="0" smtClean="0"/>
              <a:t>,</a:t>
            </a:r>
          </a:p>
          <a:p>
            <a:r>
              <a:rPr lang="en-US" sz="2100" b="1" dirty="0">
                <a:solidFill>
                  <a:schemeClr val="tx1"/>
                </a:solidFill>
              </a:rPr>
              <a:t>while technologies might include </a:t>
            </a:r>
            <a:r>
              <a:rPr lang="en-US" dirty="0" smtClean="0"/>
              <a:t>appropriate application-building </a:t>
            </a:r>
            <a:r>
              <a:rPr lang="en-US" dirty="0"/>
              <a:t>and automated testing environments</a:t>
            </a:r>
            <a:r>
              <a:rPr lang="en-US" dirty="0" smtClean="0"/>
              <a:t>.</a:t>
            </a:r>
          </a:p>
          <a:p>
            <a:r>
              <a:rPr lang="en-US" b="1" dirty="0" smtClean="0"/>
              <a:t>Project analysis identifies </a:t>
            </a:r>
            <a:r>
              <a:rPr lang="en-US" b="1" dirty="0"/>
              <a:t>the methodology, </a:t>
            </a:r>
            <a:r>
              <a:rPr lang="en-US" dirty="0" smtClean="0"/>
              <a:t>as well as selects </a:t>
            </a:r>
            <a:r>
              <a:rPr lang="en-US" dirty="0"/>
              <a:t>the methods within the methodology that are to be deployed.</a:t>
            </a:r>
          </a:p>
          <a:p>
            <a:r>
              <a:rPr lang="en-US" b="1" dirty="0" smtClean="0"/>
              <a:t>the </a:t>
            </a:r>
            <a:r>
              <a:rPr lang="en-US" b="1" dirty="0"/>
              <a:t>chosen methods and technologies will affect:</a:t>
            </a:r>
          </a:p>
          <a:p>
            <a:pPr lvl="1"/>
            <a:r>
              <a:rPr lang="en-US" dirty="0" smtClean="0"/>
              <a:t>the </a:t>
            </a:r>
            <a:r>
              <a:rPr lang="en-US" dirty="0"/>
              <a:t>training requirements for development staff;</a:t>
            </a:r>
          </a:p>
          <a:p>
            <a:pPr lvl="1"/>
            <a:r>
              <a:rPr lang="en-US" dirty="0" smtClean="0"/>
              <a:t>the </a:t>
            </a:r>
            <a:r>
              <a:rPr lang="en-US" dirty="0"/>
              <a:t>types of staff to be recruited;</a:t>
            </a:r>
          </a:p>
          <a:p>
            <a:pPr lvl="1"/>
            <a:r>
              <a:rPr lang="en-US" dirty="0" smtClean="0"/>
              <a:t>the </a:t>
            </a:r>
            <a:r>
              <a:rPr lang="en-US" dirty="0"/>
              <a:t>development environment – both hardware and software;</a:t>
            </a:r>
          </a:p>
          <a:p>
            <a:pPr lvl="1"/>
            <a:r>
              <a:rPr lang="en-US" dirty="0" smtClean="0"/>
              <a:t>system </a:t>
            </a:r>
            <a:r>
              <a:rPr lang="en-US" dirty="0"/>
              <a:t>maintenance arrangements.</a:t>
            </a:r>
          </a:p>
        </p:txBody>
      </p:sp>
      <p:sp>
        <p:nvSpPr>
          <p:cNvPr id="4" name="Slide Number Placeholder 3"/>
          <p:cNvSpPr>
            <a:spLocks noGrp="1"/>
          </p:cNvSpPr>
          <p:nvPr>
            <p:ph type="sldNum" sz="quarter" idx="12"/>
          </p:nvPr>
        </p:nvSpPr>
        <p:spPr/>
        <p:txBody>
          <a:bodyPr/>
          <a:lstStyle/>
          <a:p>
            <a:fld id="{E5CE4F79-B2B3-4E4E-AB5D-F771515B9CEF}" type="slidenum">
              <a:rPr lang="en-US" smtClean="0"/>
              <a:t>14</a:t>
            </a:fld>
            <a:endParaRPr lang="en-US" dirty="0"/>
          </a:p>
        </p:txBody>
      </p:sp>
    </p:spTree>
    <p:extLst>
      <p:ext uri="{BB962C8B-B14F-4D97-AF65-F5344CB8AC3E}">
        <p14:creationId xmlns:p14="http://schemas.microsoft.com/office/powerpoint/2010/main" val="24999393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9512"/>
            <a:ext cx="8381999" cy="780195"/>
          </a:xfrm>
        </p:spPr>
        <p:txBody>
          <a:bodyPr>
            <a:noAutofit/>
          </a:bodyPr>
          <a:lstStyle/>
          <a:p>
            <a:r>
              <a:rPr lang="en-US" b="1" dirty="0" smtClean="0"/>
              <a:t>Project Analysis Steps</a:t>
            </a:r>
            <a:endParaRPr lang="en-US" sz="3600" b="1" dirty="0"/>
          </a:p>
        </p:txBody>
      </p:sp>
      <p:sp>
        <p:nvSpPr>
          <p:cNvPr id="3" name="Content Placeholder 2"/>
          <p:cNvSpPr>
            <a:spLocks noGrp="1"/>
          </p:cNvSpPr>
          <p:nvPr>
            <p:ph type="body" sz="quarter" idx="13"/>
          </p:nvPr>
        </p:nvSpPr>
        <p:spPr/>
        <p:txBody>
          <a:bodyPr/>
          <a:lstStyle/>
          <a:p>
            <a:r>
              <a:rPr lang="en-US" dirty="0" smtClean="0"/>
              <a:t>1. Identify the project as either product driven or objective driven.</a:t>
            </a:r>
          </a:p>
          <a:p>
            <a:pPr lvl="1"/>
            <a:r>
              <a:rPr lang="en-US" dirty="0"/>
              <a:t>A product-driven project creates products </a:t>
            </a:r>
            <a:r>
              <a:rPr lang="en-US" dirty="0" smtClean="0"/>
              <a:t>that are defined </a:t>
            </a:r>
            <a:r>
              <a:rPr lang="en-US" dirty="0"/>
              <a:t>before the start of the project. </a:t>
            </a:r>
            <a:endParaRPr lang="en-US" dirty="0" smtClean="0"/>
          </a:p>
          <a:p>
            <a:pPr lvl="1"/>
            <a:r>
              <a:rPr lang="en-US" dirty="0" smtClean="0"/>
              <a:t>In an objective-driven project, a problem is given we want to find the solution and get recommendation</a:t>
            </a:r>
          </a:p>
          <a:p>
            <a:r>
              <a:rPr lang="en-US" dirty="0"/>
              <a:t>2. Analyze other Project Characteristics </a:t>
            </a:r>
            <a:r>
              <a:rPr lang="en-US" dirty="0" smtClean="0"/>
              <a:t>The sort of questions that need to be asked</a:t>
            </a:r>
          </a:p>
        </p:txBody>
      </p:sp>
      <p:sp>
        <p:nvSpPr>
          <p:cNvPr id="4" name="Slide Number Placeholder 3"/>
          <p:cNvSpPr>
            <a:spLocks noGrp="1"/>
          </p:cNvSpPr>
          <p:nvPr>
            <p:ph type="sldNum" sz="quarter" idx="12"/>
          </p:nvPr>
        </p:nvSpPr>
        <p:spPr/>
        <p:txBody>
          <a:bodyPr/>
          <a:lstStyle/>
          <a:p>
            <a:fld id="{E5CE4F79-B2B3-4E4E-AB5D-F771515B9CEF}" type="slidenum">
              <a:rPr lang="en-US" smtClean="0"/>
              <a:t>15</a:t>
            </a:fld>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669078"/>
            <a:ext cx="4114800" cy="2532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389832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normAutofit lnSpcReduction="10000"/>
          </a:bodyPr>
          <a:lstStyle/>
          <a:p>
            <a:r>
              <a:rPr lang="en-US" sz="2800" dirty="0"/>
              <a:t>3</a:t>
            </a:r>
            <a:r>
              <a:rPr lang="en-US" sz="2600" dirty="0"/>
              <a:t>. Identify high-level project </a:t>
            </a:r>
            <a:r>
              <a:rPr lang="en-US" sz="2600" dirty="0" smtClean="0"/>
              <a:t>risks </a:t>
            </a:r>
            <a:r>
              <a:rPr lang="en-US" sz="2600" dirty="0" smtClean="0">
                <a:sym typeface="Wingdings" pitchFamily="2" charset="2"/>
              </a:rPr>
              <a:t> </a:t>
            </a:r>
            <a:r>
              <a:rPr lang="en-US" sz="2600" dirty="0"/>
              <a:t>where are </a:t>
            </a:r>
            <a:r>
              <a:rPr lang="en-US" sz="2600" dirty="0" smtClean="0"/>
              <a:t>risks/uncertainty  </a:t>
            </a:r>
            <a:r>
              <a:rPr lang="en-US" sz="2600" dirty="0"/>
              <a:t>in a project</a:t>
            </a:r>
            <a:endParaRPr lang="en-US" sz="2600" dirty="0" smtClean="0"/>
          </a:p>
          <a:p>
            <a:pPr lvl="1"/>
            <a:r>
              <a:rPr lang="en-US" sz="2400" dirty="0" smtClean="0"/>
              <a:t>Identify areas of uncertainty and reduce them</a:t>
            </a:r>
          </a:p>
          <a:p>
            <a:pPr lvl="1"/>
            <a:r>
              <a:rPr lang="en-US" sz="2400" dirty="0"/>
              <a:t>uncertainty can be associated with the </a:t>
            </a:r>
            <a:r>
              <a:rPr lang="en-US" sz="2400" i="1" dirty="0"/>
              <a:t>products, processes</a:t>
            </a:r>
            <a:r>
              <a:rPr lang="en-US" sz="2400" dirty="0"/>
              <a:t>, or </a:t>
            </a:r>
            <a:r>
              <a:rPr lang="en-US" sz="2400" i="1" dirty="0"/>
              <a:t>resources </a:t>
            </a:r>
            <a:r>
              <a:rPr lang="en-US" sz="2400" dirty="0"/>
              <a:t>of a </a:t>
            </a:r>
            <a:r>
              <a:rPr lang="en-US" sz="2400" dirty="0" smtClean="0"/>
              <a:t>project</a:t>
            </a:r>
          </a:p>
          <a:p>
            <a:pPr lvl="1"/>
            <a:r>
              <a:rPr lang="en-US" sz="2400" dirty="0" smtClean="0"/>
              <a:t>3.1 Product </a:t>
            </a:r>
            <a:r>
              <a:rPr lang="en-US" sz="2400" dirty="0"/>
              <a:t>uncertainty </a:t>
            </a:r>
            <a:endParaRPr lang="en-US" sz="2400" dirty="0" smtClean="0"/>
          </a:p>
          <a:p>
            <a:pPr lvl="2"/>
            <a:r>
              <a:rPr lang="en-US" sz="2000" dirty="0" smtClean="0"/>
              <a:t>How </a:t>
            </a:r>
            <a:r>
              <a:rPr lang="en-US" sz="2000" dirty="0"/>
              <a:t>well are the requirements understood? </a:t>
            </a:r>
            <a:endParaRPr lang="en-US" sz="2000" dirty="0" smtClean="0"/>
          </a:p>
          <a:p>
            <a:pPr lvl="2"/>
            <a:r>
              <a:rPr lang="en-US" sz="2000" dirty="0" smtClean="0"/>
              <a:t>The </a:t>
            </a:r>
            <a:r>
              <a:rPr lang="en-US" sz="2000" dirty="0"/>
              <a:t>users themselves could </a:t>
            </a:r>
            <a:r>
              <a:rPr lang="en-US" sz="2000" dirty="0" smtClean="0"/>
              <a:t>be uncertain </a:t>
            </a:r>
            <a:r>
              <a:rPr lang="en-US" sz="2000" dirty="0"/>
              <a:t>about what a proposed information system is to do. </a:t>
            </a:r>
            <a:endParaRPr lang="en-US" sz="2000" dirty="0" smtClean="0"/>
          </a:p>
          <a:p>
            <a:pPr lvl="2"/>
            <a:r>
              <a:rPr lang="en-US" sz="2000" dirty="0" smtClean="0"/>
              <a:t>The </a:t>
            </a:r>
            <a:r>
              <a:rPr lang="en-US" sz="2000" dirty="0"/>
              <a:t>government, say, might </a:t>
            </a:r>
            <a:r>
              <a:rPr lang="en-US" sz="2000" dirty="0" smtClean="0"/>
              <a:t>introduce a </a:t>
            </a:r>
            <a:r>
              <a:rPr lang="en-US" sz="2000" dirty="0"/>
              <a:t>new form of taxation but its detailed operation might not be known until case law has been built up.</a:t>
            </a:r>
          </a:p>
          <a:p>
            <a:pPr lvl="2"/>
            <a:r>
              <a:rPr lang="en-US" sz="2000" dirty="0"/>
              <a:t>Some environments change so quickly that a seemingly precise and valid statement of </a:t>
            </a:r>
            <a:r>
              <a:rPr lang="en-US" sz="2000" dirty="0" smtClean="0"/>
              <a:t>requirements rapidly </a:t>
            </a:r>
            <a:r>
              <a:rPr lang="en-US" sz="2000" dirty="0"/>
              <a:t>becomes out of date.</a:t>
            </a:r>
          </a:p>
          <a:p>
            <a:pPr marL="0" indent="0">
              <a:buNone/>
            </a:pPr>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16</a:t>
            </a:fld>
            <a:endParaRPr lang="en-US" dirty="0"/>
          </a:p>
        </p:txBody>
      </p:sp>
      <p:sp>
        <p:nvSpPr>
          <p:cNvPr id="6" name="Title 1"/>
          <p:cNvSpPr txBox="1">
            <a:spLocks/>
          </p:cNvSpPr>
          <p:nvPr/>
        </p:nvSpPr>
        <p:spPr>
          <a:xfrm>
            <a:off x="457200" y="541516"/>
            <a:ext cx="8381999" cy="780195"/>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b="1" kern="1200" spc="-50" baseline="0">
                <a:solidFill>
                  <a:schemeClr val="tx1">
                    <a:lumMod val="75000"/>
                    <a:lumOff val="25000"/>
                  </a:schemeClr>
                </a:solidFill>
                <a:latin typeface="+mj-lt"/>
                <a:ea typeface="+mj-ea"/>
                <a:cs typeface="+mj-cs"/>
              </a:defRPr>
            </a:lvl1pPr>
          </a:lstStyle>
          <a:p>
            <a:r>
              <a:rPr lang="en-US" sz="4000" dirty="0" smtClean="0"/>
              <a:t>Project approach- Choosing Methodologies and Technologies</a:t>
            </a:r>
            <a:endParaRPr lang="en-US" sz="4000" dirty="0"/>
          </a:p>
        </p:txBody>
      </p:sp>
    </p:spTree>
    <p:extLst>
      <p:ext uri="{BB962C8B-B14F-4D97-AF65-F5344CB8AC3E}">
        <p14:creationId xmlns:p14="http://schemas.microsoft.com/office/powerpoint/2010/main" val="31385596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3"/>
          </p:nvPr>
        </p:nvSpPr>
        <p:spPr/>
        <p:txBody>
          <a:bodyPr>
            <a:normAutofit/>
          </a:bodyPr>
          <a:lstStyle/>
          <a:p>
            <a:r>
              <a:rPr lang="en-US" sz="2400" dirty="0"/>
              <a:t>3.2 </a:t>
            </a:r>
            <a:r>
              <a:rPr lang="en-US" sz="2400" i="1" dirty="0"/>
              <a:t>Process uncertainty </a:t>
            </a:r>
            <a:endParaRPr lang="en-US" sz="2400" dirty="0" smtClean="0"/>
          </a:p>
          <a:p>
            <a:pPr lvl="1"/>
            <a:r>
              <a:rPr lang="en-US" sz="2000" dirty="0" smtClean="0"/>
              <a:t>The project under consideration might be the first where an organization is using an approach like extreme programming (XP) or a new application-building tool. </a:t>
            </a:r>
          </a:p>
          <a:p>
            <a:pPr lvl="1"/>
            <a:r>
              <a:rPr lang="en-US" sz="2000" dirty="0" smtClean="0"/>
              <a:t>Any change in the way that the systems are developed introduces uncertainty.</a:t>
            </a:r>
          </a:p>
          <a:p>
            <a:r>
              <a:rPr lang="en-US" sz="2400" dirty="0"/>
              <a:t> </a:t>
            </a:r>
            <a:r>
              <a:rPr lang="en-US" sz="2400" i="1" dirty="0"/>
              <a:t>3.3 Resource uncertainty</a:t>
            </a:r>
          </a:p>
          <a:p>
            <a:pPr lvl="1"/>
            <a:r>
              <a:rPr lang="en-US" dirty="0"/>
              <a:t>The main area of uncertainty here is likely to be the availability of staff of the right ability and experience. </a:t>
            </a:r>
          </a:p>
          <a:p>
            <a:pPr lvl="1"/>
            <a:r>
              <a:rPr lang="en-US" dirty="0"/>
              <a:t>The larger the number of resources needed or the longer the duration of the project, the more inherently risky it will be.</a:t>
            </a:r>
          </a:p>
          <a:p>
            <a:pPr lvl="1"/>
            <a:r>
              <a:rPr lang="en-US" dirty="0"/>
              <a:t>Some factors – such as continually changing requirements – increase </a:t>
            </a:r>
            <a:r>
              <a:rPr lang="en-US" i="1" dirty="0"/>
              <a:t>uncertainty</a:t>
            </a:r>
            <a:r>
              <a:rPr lang="en-US" dirty="0"/>
              <a:t>, while others – for instance, software size – increase </a:t>
            </a:r>
            <a:r>
              <a:rPr lang="en-US" i="1" dirty="0"/>
              <a:t>complexity</a:t>
            </a:r>
            <a:r>
              <a:rPr lang="en-US" dirty="0"/>
              <a:t>. Different strategies are needed to deal with the two distinct types of </a:t>
            </a:r>
            <a:r>
              <a:rPr lang="en-US" dirty="0" smtClean="0"/>
              <a:t>risks</a:t>
            </a:r>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17</a:t>
            </a:fld>
            <a:endParaRPr lang="en-US" dirty="0"/>
          </a:p>
        </p:txBody>
      </p:sp>
      <p:sp>
        <p:nvSpPr>
          <p:cNvPr id="5" name="Title 1"/>
          <p:cNvSpPr txBox="1">
            <a:spLocks noGrp="1"/>
          </p:cNvSpPr>
          <p:nvPr>
            <p:ph type="title"/>
          </p:nvPr>
        </p:nvSpPr>
        <p:spPr>
          <a:xfrm>
            <a:off x="457201" y="409512"/>
            <a:ext cx="8381999" cy="780195"/>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b="1" kern="1200" spc="-50" baseline="0">
                <a:solidFill>
                  <a:schemeClr val="tx1">
                    <a:lumMod val="75000"/>
                    <a:lumOff val="25000"/>
                  </a:schemeClr>
                </a:solidFill>
                <a:latin typeface="+mj-lt"/>
                <a:ea typeface="+mj-ea"/>
                <a:cs typeface="+mj-cs"/>
              </a:defRPr>
            </a:lvl1pPr>
          </a:lstStyle>
          <a:p>
            <a:r>
              <a:rPr lang="en-US" sz="3600" dirty="0" smtClean="0"/>
              <a:t>Project approach- Choosing Methodologies and Technologies</a:t>
            </a:r>
            <a:endParaRPr lang="en-US" sz="3600" dirty="0"/>
          </a:p>
        </p:txBody>
      </p:sp>
    </p:spTree>
    <p:extLst>
      <p:ext uri="{BB962C8B-B14F-4D97-AF65-F5344CB8AC3E}">
        <p14:creationId xmlns:p14="http://schemas.microsoft.com/office/powerpoint/2010/main" val="2508978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399" y="511102"/>
            <a:ext cx="8381999" cy="780195"/>
          </a:xfrm>
        </p:spPr>
        <p:txBody>
          <a:bodyPr>
            <a:normAutofit fontScale="90000"/>
          </a:bodyPr>
          <a:lstStyle/>
          <a:p>
            <a:r>
              <a:rPr lang="en-US" dirty="0"/>
              <a:t>Project approach- Choosing Methodologies and Technologies</a:t>
            </a:r>
          </a:p>
        </p:txBody>
      </p:sp>
      <p:sp>
        <p:nvSpPr>
          <p:cNvPr id="4" name="Slide Number Placeholder 3"/>
          <p:cNvSpPr>
            <a:spLocks noGrp="1"/>
          </p:cNvSpPr>
          <p:nvPr>
            <p:ph type="sldNum" sz="quarter" idx="12"/>
          </p:nvPr>
        </p:nvSpPr>
        <p:spPr/>
        <p:txBody>
          <a:bodyPr/>
          <a:lstStyle/>
          <a:p>
            <a:fld id="{E5CE4F79-B2B3-4E4E-AB5D-F771515B9CEF}" type="slidenum">
              <a:rPr lang="en-US" smtClean="0"/>
              <a:t>18</a:t>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99" y="1789812"/>
            <a:ext cx="7875963" cy="4171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8103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Process Model</a:t>
            </a:r>
            <a:endParaRPr lang="en-US" dirty="0"/>
          </a:p>
        </p:txBody>
      </p:sp>
      <p:sp>
        <p:nvSpPr>
          <p:cNvPr id="3" name="Content Placeholder 2"/>
          <p:cNvSpPr>
            <a:spLocks noGrp="1"/>
          </p:cNvSpPr>
          <p:nvPr>
            <p:ph type="body" sz="quarter" idx="13"/>
          </p:nvPr>
        </p:nvSpPr>
        <p:spPr/>
        <p:txBody>
          <a:bodyPr>
            <a:normAutofit/>
          </a:bodyPr>
          <a:lstStyle/>
          <a:p>
            <a:r>
              <a:rPr lang="en-GB" dirty="0"/>
              <a:t>A structured set of activities required to develop a </a:t>
            </a:r>
            <a:r>
              <a:rPr lang="en-GB" dirty="0" smtClean="0"/>
              <a:t>software </a:t>
            </a:r>
            <a:r>
              <a:rPr lang="en-GB" dirty="0"/>
              <a:t>system. </a:t>
            </a:r>
          </a:p>
          <a:p>
            <a:r>
              <a:rPr lang="en-GB" dirty="0">
                <a:solidFill>
                  <a:srgbClr val="FF0000"/>
                </a:solidFill>
              </a:rPr>
              <a:t>Many different software processes but all involve:</a:t>
            </a:r>
          </a:p>
          <a:p>
            <a:pPr lvl="1"/>
            <a:r>
              <a:rPr lang="en-GB" dirty="0"/>
              <a:t>Specification – defining what the system should do;</a:t>
            </a:r>
          </a:p>
          <a:p>
            <a:pPr lvl="1"/>
            <a:r>
              <a:rPr lang="en-GB" dirty="0"/>
              <a:t>Design and implementation – defining the organization of the system and implementing the system;</a:t>
            </a:r>
          </a:p>
          <a:p>
            <a:pPr lvl="1"/>
            <a:r>
              <a:rPr lang="en-GB" dirty="0"/>
              <a:t>Validation – checking that it does what the customer wants;</a:t>
            </a:r>
          </a:p>
          <a:p>
            <a:pPr lvl="1"/>
            <a:r>
              <a:rPr lang="en-GB" dirty="0"/>
              <a:t>Evolution – changing the system in response to changing customer needs.</a:t>
            </a:r>
          </a:p>
          <a:p>
            <a:r>
              <a:rPr lang="en-GB" dirty="0"/>
              <a:t>A software process model is an abstract representation of a process. It presents a description of a process from some particular perspective.</a:t>
            </a:r>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19</a:t>
            </a:fld>
            <a:endParaRPr lang="en-US" dirty="0"/>
          </a:p>
        </p:txBody>
      </p:sp>
    </p:spTree>
    <p:extLst>
      <p:ext uri="{BB962C8B-B14F-4D97-AF65-F5344CB8AC3E}">
        <p14:creationId xmlns:p14="http://schemas.microsoft.com/office/powerpoint/2010/main" val="3031426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409512"/>
            <a:ext cx="8381999" cy="780195"/>
          </a:xfrm>
        </p:spPr>
        <p:txBody>
          <a:bodyPr>
            <a:noAutofit/>
          </a:bodyPr>
          <a:lstStyle/>
          <a:p>
            <a:r>
              <a:rPr lang="en-US" sz="3600" dirty="0"/>
              <a:t>A short overview of software development process/SDLC</a:t>
            </a:r>
          </a:p>
        </p:txBody>
      </p:sp>
      <p:sp>
        <p:nvSpPr>
          <p:cNvPr id="3" name="Content Placeholder 2"/>
          <p:cNvSpPr>
            <a:spLocks noGrp="1"/>
          </p:cNvSpPr>
          <p:nvPr>
            <p:ph type="body" sz="quarter" idx="13"/>
          </p:nvPr>
        </p:nvSpPr>
        <p:spPr/>
        <p:txBody>
          <a:bodyPr>
            <a:noAutofit/>
          </a:bodyPr>
          <a:lstStyle/>
          <a:p>
            <a:r>
              <a:rPr lang="en-US" sz="2400" u="sng" dirty="0" smtClean="0"/>
              <a:t>Inception phase</a:t>
            </a:r>
            <a:r>
              <a:rPr lang="en-US" sz="2400" dirty="0" smtClean="0"/>
              <a:t> goal </a:t>
            </a:r>
            <a:r>
              <a:rPr lang="en-US" sz="2400" dirty="0"/>
              <a:t>is to achieve concurrence among stakeholders on the life-cycle objectives for the project</a:t>
            </a:r>
            <a:r>
              <a:rPr lang="en-US" sz="2400" dirty="0" smtClean="0"/>
              <a:t>.</a:t>
            </a:r>
          </a:p>
          <a:p>
            <a:r>
              <a:rPr lang="en-US" sz="2400" dirty="0" smtClean="0"/>
              <a:t>In inception phase  following things happen </a:t>
            </a:r>
            <a:r>
              <a:rPr lang="en-US" sz="2400" dirty="0" smtClean="0">
                <a:sym typeface="Wingdings" pitchFamily="2" charset="2"/>
              </a:rPr>
              <a:t></a:t>
            </a:r>
          </a:p>
          <a:p>
            <a:pPr lvl="1"/>
            <a:r>
              <a:rPr lang="en-US" sz="2200" dirty="0" smtClean="0"/>
              <a:t>define goals,</a:t>
            </a:r>
          </a:p>
          <a:p>
            <a:pPr lvl="1"/>
            <a:r>
              <a:rPr lang="en-US" sz="2200" dirty="0" smtClean="0"/>
              <a:t> scope of project, </a:t>
            </a:r>
          </a:p>
          <a:p>
            <a:pPr lvl="1"/>
            <a:r>
              <a:rPr lang="en-US" sz="2200" dirty="0" smtClean="0"/>
              <a:t>business case, </a:t>
            </a:r>
          </a:p>
          <a:p>
            <a:pPr lvl="1"/>
            <a:r>
              <a:rPr lang="en-US" sz="2200" dirty="0" smtClean="0"/>
              <a:t>major users and what the system does for them i.e. a simplified use case diagram, and could be architecture of the system, </a:t>
            </a:r>
          </a:p>
          <a:p>
            <a:pPr lvl="1"/>
            <a:r>
              <a:rPr lang="en-US" sz="2200" dirty="0" smtClean="0"/>
              <a:t>planning, </a:t>
            </a:r>
          </a:p>
          <a:p>
            <a:pPr lvl="1"/>
            <a:r>
              <a:rPr lang="en-US" sz="2200" dirty="0" smtClean="0"/>
              <a:t>Budgeting and costing</a:t>
            </a:r>
          </a:p>
          <a:p>
            <a:pPr lvl="1"/>
            <a:r>
              <a:rPr lang="en-US" sz="2200" dirty="0" smtClean="0"/>
              <a:t>Scheduling </a:t>
            </a:r>
            <a:r>
              <a:rPr lang="en-US" sz="2200" dirty="0" err="1" smtClean="0"/>
              <a:t>etc</a:t>
            </a:r>
            <a:r>
              <a:rPr lang="en-US" sz="2200" dirty="0" smtClean="0"/>
              <a:t> </a:t>
            </a:r>
            <a:r>
              <a:rPr lang="en-US" sz="2200" dirty="0" err="1" smtClean="0"/>
              <a:t>etc</a:t>
            </a:r>
            <a:endParaRPr lang="en-US" sz="2200" b="1" u="sng" dirty="0" smtClean="0"/>
          </a:p>
          <a:p>
            <a:endParaRPr lang="en-US" sz="1800" b="1" dirty="0"/>
          </a:p>
        </p:txBody>
      </p:sp>
      <p:sp>
        <p:nvSpPr>
          <p:cNvPr id="4" name="Slide Number Placeholder 3"/>
          <p:cNvSpPr>
            <a:spLocks noGrp="1"/>
          </p:cNvSpPr>
          <p:nvPr>
            <p:ph type="sldNum" sz="quarter" idx="12"/>
          </p:nvPr>
        </p:nvSpPr>
        <p:spPr/>
        <p:txBody>
          <a:bodyPr/>
          <a:lstStyle/>
          <a:p>
            <a:fld id="{E5CE4F79-B2B3-4E4E-AB5D-F771515B9CEF}" type="slidenum">
              <a:rPr lang="en-US" smtClean="0"/>
              <a:t>20</a:t>
            </a:fld>
            <a:endParaRPr lang="en-US" dirty="0"/>
          </a:p>
        </p:txBody>
      </p:sp>
    </p:spTree>
    <p:extLst>
      <p:ext uri="{BB962C8B-B14F-4D97-AF65-F5344CB8AC3E}">
        <p14:creationId xmlns:p14="http://schemas.microsoft.com/office/powerpoint/2010/main" val="707515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09512"/>
            <a:ext cx="8381999" cy="780195"/>
          </a:xfrm>
        </p:spPr>
        <p:txBody>
          <a:bodyPr>
            <a:normAutofit fontScale="90000"/>
          </a:bodyPr>
          <a:lstStyle/>
          <a:p>
            <a:r>
              <a:rPr lang="en-US" dirty="0"/>
              <a:t>A short overview of software development process/SDLC</a:t>
            </a:r>
          </a:p>
        </p:txBody>
      </p:sp>
      <p:sp>
        <p:nvSpPr>
          <p:cNvPr id="3" name="Content Placeholder 2"/>
          <p:cNvSpPr>
            <a:spLocks noGrp="1"/>
          </p:cNvSpPr>
          <p:nvPr>
            <p:ph type="body" sz="quarter" idx="13"/>
          </p:nvPr>
        </p:nvSpPr>
        <p:spPr/>
        <p:txBody>
          <a:bodyPr>
            <a:normAutofit/>
          </a:bodyPr>
          <a:lstStyle/>
          <a:p>
            <a:r>
              <a:rPr lang="en-US" b="1" u="sng" dirty="0" smtClean="0"/>
              <a:t>From </a:t>
            </a:r>
            <a:r>
              <a:rPr lang="en-US" b="1" u="sng" dirty="0"/>
              <a:t>the inception stage, a product undergoes a series of transformations through a few identifiable stages until it is fully developed and released to the customer.</a:t>
            </a:r>
            <a:r>
              <a:rPr lang="en-US" b="1" dirty="0"/>
              <a:t> </a:t>
            </a:r>
          </a:p>
          <a:p>
            <a:r>
              <a:rPr lang="en-US" b="1" dirty="0" smtClean="0"/>
              <a:t>After </a:t>
            </a:r>
            <a:r>
              <a:rPr lang="en-US" b="1" dirty="0"/>
              <a:t>release, the product is used by the customer and during this time the product needs to be maintained for fixing bugs and enhancing functionalities. </a:t>
            </a:r>
            <a:r>
              <a:rPr lang="en-US" dirty="0">
                <a:solidFill>
                  <a:srgbClr val="FF0000"/>
                </a:solidFill>
              </a:rPr>
              <a:t>This stage is called the maintenance stage. </a:t>
            </a:r>
          </a:p>
          <a:p>
            <a:r>
              <a:rPr lang="en-US" b="1" dirty="0" smtClean="0"/>
              <a:t>When </a:t>
            </a:r>
            <a:r>
              <a:rPr lang="en-US" b="1" dirty="0"/>
              <a:t>the product is no longer useful to the customer, it is retired. This set of identifiable stages through which a product transits from inception to retirement form the life cycle of the product. </a:t>
            </a:r>
          </a:p>
          <a:p>
            <a:r>
              <a:rPr lang="en-US" b="1" dirty="0"/>
              <a:t>The software life cycle is also commonly referred to as Software Development Life Cycle (SDLC) and software process</a:t>
            </a:r>
            <a:r>
              <a:rPr lang="en-US" sz="2400" b="1" dirty="0"/>
              <a:t>.</a:t>
            </a:r>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21</a:t>
            </a:fld>
            <a:endParaRPr lang="en-US" dirty="0"/>
          </a:p>
        </p:txBody>
      </p:sp>
    </p:spTree>
    <p:extLst>
      <p:ext uri="{BB962C8B-B14F-4D97-AF65-F5344CB8AC3E}">
        <p14:creationId xmlns:p14="http://schemas.microsoft.com/office/powerpoint/2010/main" val="2556928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409512"/>
            <a:ext cx="8381999" cy="780195"/>
          </a:xfrm>
        </p:spPr>
        <p:txBody>
          <a:bodyPr>
            <a:normAutofit fontScale="90000"/>
          </a:bodyPr>
          <a:lstStyle/>
          <a:p>
            <a:r>
              <a:rPr lang="en-US" dirty="0"/>
              <a:t>A short overview of software development process/SDLC</a:t>
            </a:r>
          </a:p>
        </p:txBody>
      </p:sp>
      <p:sp>
        <p:nvSpPr>
          <p:cNvPr id="3" name="Content Placeholder 2"/>
          <p:cNvSpPr>
            <a:spLocks noGrp="1"/>
          </p:cNvSpPr>
          <p:nvPr>
            <p:ph type="body" sz="quarter" idx="13"/>
          </p:nvPr>
        </p:nvSpPr>
        <p:spPr/>
        <p:txBody>
          <a:bodyPr>
            <a:normAutofit fontScale="85000" lnSpcReduction="20000"/>
          </a:bodyPr>
          <a:lstStyle/>
          <a:p>
            <a:r>
              <a:rPr lang="en-US" b="1" dirty="0"/>
              <a:t>Software processes </a:t>
            </a:r>
            <a:r>
              <a:rPr lang="en-US" dirty="0"/>
              <a:t>are the </a:t>
            </a:r>
            <a:r>
              <a:rPr lang="en-US" b="1" dirty="0" smtClean="0"/>
              <a:t>actions/activities </a:t>
            </a:r>
            <a:r>
              <a:rPr lang="en-US" b="1" dirty="0"/>
              <a:t>for designing, implementing, and testing a software </a:t>
            </a:r>
            <a:r>
              <a:rPr lang="en-US" b="1" dirty="0" smtClean="0"/>
              <a:t>system</a:t>
            </a:r>
          </a:p>
          <a:p>
            <a:r>
              <a:rPr lang="en-US" dirty="0"/>
              <a:t>A software process model is an abstraction of the software development process. </a:t>
            </a:r>
            <a:endParaRPr lang="en-US" dirty="0" smtClean="0"/>
          </a:p>
          <a:p>
            <a:r>
              <a:rPr lang="en-US" b="1" dirty="0" smtClean="0"/>
              <a:t>The </a:t>
            </a:r>
            <a:r>
              <a:rPr lang="en-US" b="1" dirty="0"/>
              <a:t>models specify the stages and order of a process. </a:t>
            </a:r>
            <a:endParaRPr lang="en-US" b="1" dirty="0" smtClean="0"/>
          </a:p>
          <a:p>
            <a:r>
              <a:rPr lang="en-US" dirty="0" smtClean="0"/>
              <a:t>So</a:t>
            </a:r>
            <a:r>
              <a:rPr lang="en-US" dirty="0"/>
              <a:t>, </a:t>
            </a:r>
            <a:r>
              <a:rPr lang="en-US" sz="3300" b="1" u="sng" dirty="0">
                <a:solidFill>
                  <a:srgbClr val="FF0000"/>
                </a:solidFill>
              </a:rPr>
              <a:t>think of </a:t>
            </a:r>
            <a:r>
              <a:rPr lang="en-US" sz="4200" u="sng" dirty="0">
                <a:solidFill>
                  <a:srgbClr val="002060"/>
                </a:solidFill>
              </a:rPr>
              <a:t>software process </a:t>
            </a:r>
            <a:r>
              <a:rPr lang="en-US" sz="4200" u="sng" dirty="0" smtClean="0">
                <a:solidFill>
                  <a:srgbClr val="002060"/>
                </a:solidFill>
              </a:rPr>
              <a:t>model</a:t>
            </a:r>
            <a:r>
              <a:rPr lang="en-US" sz="4200" b="1" u="sng" dirty="0" smtClean="0">
                <a:solidFill>
                  <a:srgbClr val="002060"/>
                </a:solidFill>
              </a:rPr>
              <a:t> </a:t>
            </a:r>
            <a:r>
              <a:rPr lang="en-US" sz="3300" b="1" u="sng" dirty="0">
                <a:solidFill>
                  <a:srgbClr val="FF0000"/>
                </a:solidFill>
              </a:rPr>
              <a:t>as a representation of the order of activities of the process and the sequence in which they are performed.</a:t>
            </a:r>
          </a:p>
          <a:p>
            <a:r>
              <a:rPr lang="en-US" b="1" dirty="0"/>
              <a:t>A model will define the following:</a:t>
            </a:r>
            <a:endParaRPr lang="en-US" dirty="0"/>
          </a:p>
          <a:p>
            <a:r>
              <a:rPr lang="en-US" dirty="0"/>
              <a:t>The tasks to be performed</a:t>
            </a:r>
          </a:p>
          <a:p>
            <a:r>
              <a:rPr lang="en-US" dirty="0"/>
              <a:t>The input and output of each task</a:t>
            </a:r>
          </a:p>
          <a:p>
            <a:r>
              <a:rPr lang="en-US" dirty="0"/>
              <a:t>The pre and post conditions for each task</a:t>
            </a:r>
          </a:p>
          <a:p>
            <a:r>
              <a:rPr lang="en-US" dirty="0"/>
              <a:t>The flow and sequence of each task</a:t>
            </a: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22</a:t>
            </a:fld>
            <a:endParaRPr lang="en-US" dirty="0"/>
          </a:p>
        </p:txBody>
      </p:sp>
    </p:spTree>
    <p:extLst>
      <p:ext uri="{BB962C8B-B14F-4D97-AF65-F5344CB8AC3E}">
        <p14:creationId xmlns:p14="http://schemas.microsoft.com/office/powerpoint/2010/main" val="8289080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 Task/Assignment </a:t>
            </a:r>
          </a:p>
        </p:txBody>
      </p:sp>
      <p:sp>
        <p:nvSpPr>
          <p:cNvPr id="3" name="Content Placeholder 2"/>
          <p:cNvSpPr>
            <a:spLocks noGrp="1"/>
          </p:cNvSpPr>
          <p:nvPr>
            <p:ph type="body" sz="quarter" idx="13"/>
          </p:nvPr>
        </p:nvSpPr>
        <p:spPr/>
        <p:txBody>
          <a:bodyPr/>
          <a:lstStyle/>
          <a:p>
            <a:r>
              <a:rPr lang="en-US" dirty="0"/>
              <a:t>Write about Software development lifecycle stages with </a:t>
            </a:r>
            <a:r>
              <a:rPr lang="en-US" dirty="0" smtClean="0"/>
              <a:t> the input, activities and output and what </a:t>
            </a:r>
            <a:r>
              <a:rPr lang="en-US" dirty="0"/>
              <a:t>happens at each </a:t>
            </a:r>
            <a:r>
              <a:rPr lang="en-US" dirty="0" smtClean="0"/>
              <a:t>stage. </a:t>
            </a:r>
          </a:p>
          <a:p>
            <a:r>
              <a:rPr lang="en-US" dirty="0" smtClean="0"/>
              <a:t>Also describe what each step’s output does to the input of the next process till the end</a:t>
            </a:r>
            <a:endParaRPr lang="en-US" dirty="0"/>
          </a:p>
          <a:p>
            <a:r>
              <a:rPr lang="en-US" dirty="0"/>
              <a:t>What is the </a:t>
            </a:r>
            <a:r>
              <a:rPr lang="en-US" dirty="0" smtClean="0"/>
              <a:t>deliverable in each step </a:t>
            </a:r>
            <a:r>
              <a:rPr lang="en-US" dirty="0"/>
              <a:t>with example and describe in short each stage clearly in point</a:t>
            </a: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23</a:t>
            </a:fld>
            <a:endParaRPr lang="en-US" dirty="0"/>
          </a:p>
        </p:txBody>
      </p:sp>
    </p:spTree>
    <p:extLst>
      <p:ext uri="{BB962C8B-B14F-4D97-AF65-F5344CB8AC3E}">
        <p14:creationId xmlns:p14="http://schemas.microsoft.com/office/powerpoint/2010/main" val="37162003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Structured Methods</a:t>
            </a:r>
            <a:endParaRPr lang="en-US" dirty="0"/>
          </a:p>
        </p:txBody>
      </p:sp>
      <p:sp>
        <p:nvSpPr>
          <p:cNvPr id="3" name="Content Placeholder 2"/>
          <p:cNvSpPr>
            <a:spLocks noGrp="1"/>
          </p:cNvSpPr>
          <p:nvPr>
            <p:ph type="body" sz="quarter" idx="13"/>
          </p:nvPr>
        </p:nvSpPr>
        <p:spPr/>
        <p:txBody>
          <a:bodyPr/>
          <a:lstStyle/>
          <a:p>
            <a:r>
              <a:rPr lang="en-US" b="1" dirty="0" smtClean="0"/>
              <a:t>Structured methods </a:t>
            </a:r>
            <a:r>
              <a:rPr lang="en-US" b="1" dirty="0"/>
              <a:t>consist of sets of steps and rules which, when applied, generate </a:t>
            </a:r>
            <a:r>
              <a:rPr lang="en-US" b="1" dirty="0" smtClean="0"/>
              <a:t>system products </a:t>
            </a:r>
            <a:r>
              <a:rPr lang="en-US" b="1" dirty="0"/>
              <a:t>such as use case </a:t>
            </a:r>
            <a:r>
              <a:rPr lang="en-US" b="1" dirty="0" smtClean="0"/>
              <a:t>diagrams.</a:t>
            </a:r>
          </a:p>
          <a:p>
            <a:r>
              <a:rPr lang="en-US" dirty="0" smtClean="0"/>
              <a:t>Each </a:t>
            </a:r>
            <a:r>
              <a:rPr lang="en-US" dirty="0"/>
              <a:t>of these products is carefully </a:t>
            </a:r>
            <a:r>
              <a:rPr lang="en-US" dirty="0" smtClean="0"/>
              <a:t>defined</a:t>
            </a:r>
            <a:r>
              <a:rPr lang="en-US" dirty="0"/>
              <a:t>. </a:t>
            </a:r>
            <a:endParaRPr lang="en-US" dirty="0" smtClean="0"/>
          </a:p>
          <a:p>
            <a:r>
              <a:rPr lang="en-US" dirty="0" smtClean="0"/>
              <a:t>Such</a:t>
            </a:r>
            <a:r>
              <a:rPr lang="en-US" dirty="0"/>
              <a:t> </a:t>
            </a:r>
            <a:r>
              <a:rPr lang="en-US" dirty="0" smtClean="0"/>
              <a:t>methods </a:t>
            </a:r>
            <a:r>
              <a:rPr lang="en-US" dirty="0"/>
              <a:t>are more time consuming and expensive than more intuitive approaches.</a:t>
            </a:r>
          </a:p>
        </p:txBody>
      </p:sp>
      <p:sp>
        <p:nvSpPr>
          <p:cNvPr id="4" name="Slide Number Placeholder 3"/>
          <p:cNvSpPr>
            <a:spLocks noGrp="1"/>
          </p:cNvSpPr>
          <p:nvPr>
            <p:ph type="sldNum" sz="quarter" idx="12"/>
          </p:nvPr>
        </p:nvSpPr>
        <p:spPr/>
        <p:txBody>
          <a:bodyPr/>
          <a:lstStyle/>
          <a:p>
            <a:fld id="{E5CE4F79-B2B3-4E4E-AB5D-F771515B9CEF}" type="slidenum">
              <a:rPr lang="en-US" smtClean="0"/>
              <a:t>24</a:t>
            </a:fld>
            <a:endParaRPr lang="en-US" dirty="0"/>
          </a:p>
        </p:txBody>
      </p:sp>
    </p:spTree>
    <p:extLst>
      <p:ext uri="{BB962C8B-B14F-4D97-AF65-F5344CB8AC3E}">
        <p14:creationId xmlns:p14="http://schemas.microsoft.com/office/powerpoint/2010/main" val="1009883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Structured Methods</a:t>
            </a:r>
          </a:p>
        </p:txBody>
      </p:sp>
      <p:sp>
        <p:nvSpPr>
          <p:cNvPr id="3" name="Content Placeholder 2"/>
          <p:cNvSpPr>
            <a:spLocks noGrp="1"/>
          </p:cNvSpPr>
          <p:nvPr>
            <p:ph type="body" sz="quarter" idx="13"/>
          </p:nvPr>
        </p:nvSpPr>
        <p:spPr/>
        <p:txBody>
          <a:bodyPr>
            <a:normAutofit lnSpcReduction="10000"/>
          </a:bodyPr>
          <a:lstStyle/>
          <a:p>
            <a:r>
              <a:rPr lang="en-US" b="1" dirty="0"/>
              <a:t>A structured method includes a design process model, notations to represent the design, report formats, rules and design guidelines. </a:t>
            </a:r>
            <a:endParaRPr lang="en-US" b="1" dirty="0" smtClean="0"/>
          </a:p>
          <a:p>
            <a:r>
              <a:rPr lang="en-US" u="sng" dirty="0" smtClean="0"/>
              <a:t>Structured </a:t>
            </a:r>
            <a:r>
              <a:rPr lang="en-US" u="sng" dirty="0"/>
              <a:t>methods may support some or all of the following models of a system:</a:t>
            </a:r>
          </a:p>
          <a:p>
            <a:pPr marL="544068" lvl="1" indent="-342900">
              <a:buFont typeface="+mj-lt"/>
              <a:buAutoNum type="arabicPeriod"/>
            </a:pPr>
            <a:r>
              <a:rPr lang="en-US" dirty="0" smtClean="0"/>
              <a:t>An </a:t>
            </a:r>
            <a:r>
              <a:rPr lang="en-US" dirty="0"/>
              <a:t>object model that shows the object classes used in the system and their dependencies.</a:t>
            </a:r>
          </a:p>
          <a:p>
            <a:pPr marL="544068" lvl="1" indent="-342900">
              <a:buFont typeface="+mj-lt"/>
              <a:buAutoNum type="arabicPeriod"/>
            </a:pPr>
            <a:r>
              <a:rPr lang="en-US" dirty="0" smtClean="0"/>
              <a:t>A </a:t>
            </a:r>
            <a:r>
              <a:rPr lang="en-US" dirty="0"/>
              <a:t>sequence model that shows how objects in the system interact when the system is executing.</a:t>
            </a:r>
          </a:p>
          <a:p>
            <a:pPr marL="544068" lvl="1" indent="-342900">
              <a:buFont typeface="+mj-lt"/>
              <a:buAutoNum type="arabicPeriod"/>
            </a:pPr>
            <a:r>
              <a:rPr lang="en-US" dirty="0" smtClean="0"/>
              <a:t>A </a:t>
            </a:r>
            <a:r>
              <a:rPr lang="en-US" dirty="0"/>
              <a:t>state transition model that shows  system states and the triggers for the transitions from one state to another. </a:t>
            </a:r>
          </a:p>
          <a:p>
            <a:pPr marL="544068" lvl="1" indent="-342900">
              <a:buFont typeface="+mj-lt"/>
              <a:buAutoNum type="arabicPeriod"/>
            </a:pPr>
            <a:r>
              <a:rPr lang="en-US" dirty="0" smtClean="0"/>
              <a:t>A </a:t>
            </a:r>
            <a:r>
              <a:rPr lang="en-US" dirty="0"/>
              <a:t>structural model where the system components and their aggregations are documented. </a:t>
            </a:r>
          </a:p>
          <a:p>
            <a:pPr marL="544068" lvl="1" indent="-342900">
              <a:buFont typeface="+mj-lt"/>
              <a:buAutoNum type="arabicPeriod"/>
            </a:pPr>
            <a:r>
              <a:rPr lang="en-US" dirty="0" smtClean="0"/>
              <a:t>A </a:t>
            </a:r>
            <a:r>
              <a:rPr lang="en-US" dirty="0"/>
              <a:t>data flow model where the system is modelled using the data transformations that take place as it is processed. This is not normally used in object-oriented methods but is still frequently used in real-time and business system design.</a:t>
            </a:r>
          </a:p>
          <a:p>
            <a:pPr marL="544068" lvl="1" indent="-342900">
              <a:buFont typeface="+mj-lt"/>
              <a:buAutoNum type="arabicPeriod"/>
            </a:pPr>
            <a:r>
              <a:rPr lang="en-US" dirty="0" smtClean="0"/>
              <a:t>A </a:t>
            </a:r>
            <a:r>
              <a:rPr lang="en-US" dirty="0"/>
              <a:t>use-case model that shows the interactions between users and the system. </a:t>
            </a: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25</a:t>
            </a:fld>
            <a:endParaRPr lang="en-US" dirty="0"/>
          </a:p>
        </p:txBody>
      </p:sp>
    </p:spTree>
    <p:extLst>
      <p:ext uri="{BB962C8B-B14F-4D97-AF65-F5344CB8AC3E}">
        <p14:creationId xmlns:p14="http://schemas.microsoft.com/office/powerpoint/2010/main" val="32324664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9037" y="409512"/>
            <a:ext cx="8381999" cy="780195"/>
          </a:xfrm>
        </p:spPr>
        <p:txBody>
          <a:bodyPr>
            <a:noAutofit/>
          </a:bodyPr>
          <a:lstStyle/>
          <a:p>
            <a:r>
              <a:rPr lang="en-US" sz="3600" dirty="0" smtClean="0"/>
              <a:t>Software Process models</a:t>
            </a:r>
            <a:r>
              <a:rPr lang="en-US" sz="3600" dirty="0" smtClean="0">
                <a:sym typeface="Wingdings" pitchFamily="2" charset="2"/>
              </a:rPr>
              <a:t></a:t>
            </a:r>
            <a:br>
              <a:rPr lang="en-US" sz="3600" dirty="0" smtClean="0">
                <a:sym typeface="Wingdings" pitchFamily="2" charset="2"/>
              </a:rPr>
            </a:br>
            <a:r>
              <a:rPr lang="en-US" sz="3600" dirty="0" smtClean="0">
                <a:sym typeface="Wingdings" pitchFamily="2" charset="2"/>
              </a:rPr>
              <a:t>what they are and when to use which???</a:t>
            </a:r>
            <a:endParaRPr lang="en-US" sz="3600" dirty="0"/>
          </a:p>
        </p:txBody>
      </p:sp>
      <p:sp>
        <p:nvSpPr>
          <p:cNvPr id="3" name="Content Placeholder 2"/>
          <p:cNvSpPr>
            <a:spLocks noGrp="1"/>
          </p:cNvSpPr>
          <p:nvPr>
            <p:ph type="body" sz="quarter" idx="13"/>
          </p:nvPr>
        </p:nvSpPr>
        <p:spPr/>
        <p:txBody>
          <a:bodyPr/>
          <a:lstStyle/>
          <a:p>
            <a:r>
              <a:rPr lang="en-US" b="1" dirty="0" smtClean="0"/>
              <a:t>There </a:t>
            </a:r>
            <a:r>
              <a:rPr lang="en-US" b="1" dirty="0"/>
              <a:t>is a specific methodology, which NASA uses to build a space station </a:t>
            </a:r>
            <a:r>
              <a:rPr lang="en-US" dirty="0" smtClean="0">
                <a:solidFill>
                  <a:srgbClr val="FF0000"/>
                </a:solidFill>
              </a:rPr>
              <a:t>while </a:t>
            </a:r>
            <a:r>
              <a:rPr lang="en-US" dirty="0">
                <a:solidFill>
                  <a:srgbClr val="FF0000"/>
                </a:solidFill>
              </a:rPr>
              <a:t>the Navy employs a </a:t>
            </a:r>
            <a:r>
              <a:rPr lang="en-US" dirty="0" smtClean="0">
                <a:solidFill>
                  <a:srgbClr val="FF0000"/>
                </a:solidFill>
              </a:rPr>
              <a:t>different methodology </a:t>
            </a:r>
            <a:r>
              <a:rPr lang="en-US" dirty="0">
                <a:solidFill>
                  <a:srgbClr val="FF0000"/>
                </a:solidFill>
              </a:rPr>
              <a:t>to build submarines. </a:t>
            </a:r>
            <a:endParaRPr lang="en-US" dirty="0" smtClean="0">
              <a:solidFill>
                <a:srgbClr val="FF0000"/>
              </a:solidFill>
            </a:endParaRPr>
          </a:p>
          <a:p>
            <a:r>
              <a:rPr lang="en-US" dirty="0" smtClean="0"/>
              <a:t>Hence</a:t>
            </a:r>
            <a:r>
              <a:rPr lang="en-US" dirty="0"/>
              <a:t>, there are different project management methodologies that cater to the needs of different projects spanned across different business domains.</a:t>
            </a:r>
          </a:p>
        </p:txBody>
      </p:sp>
      <p:sp>
        <p:nvSpPr>
          <p:cNvPr id="4" name="Slide Number Placeholder 3"/>
          <p:cNvSpPr>
            <a:spLocks noGrp="1"/>
          </p:cNvSpPr>
          <p:nvPr>
            <p:ph type="sldNum" sz="quarter" idx="12"/>
          </p:nvPr>
        </p:nvSpPr>
        <p:spPr/>
        <p:txBody>
          <a:bodyPr/>
          <a:lstStyle/>
          <a:p>
            <a:fld id="{E5CE4F79-B2B3-4E4E-AB5D-F771515B9CEF}" type="slidenum">
              <a:rPr lang="en-US" smtClean="0"/>
              <a:t>26</a:t>
            </a:fld>
            <a:endParaRPr lang="en-US" dirty="0"/>
          </a:p>
        </p:txBody>
      </p:sp>
    </p:spTree>
    <p:extLst>
      <p:ext uri="{BB962C8B-B14F-4D97-AF65-F5344CB8AC3E}">
        <p14:creationId xmlns:p14="http://schemas.microsoft.com/office/powerpoint/2010/main" val="12784409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Software Process Models</a:t>
            </a:r>
            <a:endParaRPr lang="en-US" dirty="0"/>
          </a:p>
        </p:txBody>
      </p:sp>
      <p:sp>
        <p:nvSpPr>
          <p:cNvPr id="3" name="Content Placeholder 2"/>
          <p:cNvSpPr>
            <a:spLocks noGrp="1"/>
          </p:cNvSpPr>
          <p:nvPr>
            <p:ph type="body" sz="quarter" idx="13"/>
          </p:nvPr>
        </p:nvSpPr>
        <p:spPr>
          <a:xfrm>
            <a:off x="457201" y="1447800"/>
            <a:ext cx="8381999" cy="4724400"/>
          </a:xfrm>
        </p:spPr>
        <p:txBody>
          <a:bodyPr>
            <a:normAutofit fontScale="85000" lnSpcReduction="20000"/>
          </a:bodyPr>
          <a:lstStyle/>
          <a:p>
            <a:endParaRPr lang="en-US" dirty="0" smtClean="0"/>
          </a:p>
          <a:p>
            <a:endParaRPr lang="en-US" dirty="0"/>
          </a:p>
          <a:p>
            <a:endParaRPr lang="en-US" dirty="0" smtClean="0"/>
          </a:p>
          <a:p>
            <a:endParaRPr lang="en-US" dirty="0" smtClean="0"/>
          </a:p>
          <a:p>
            <a:endParaRPr lang="en-US" dirty="0"/>
          </a:p>
          <a:p>
            <a:endParaRPr lang="en-US" dirty="0"/>
          </a:p>
          <a:p>
            <a:endParaRPr lang="en-US" dirty="0" smtClean="0"/>
          </a:p>
          <a:p>
            <a:endParaRPr lang="en-US" dirty="0" smtClean="0"/>
          </a:p>
          <a:p>
            <a:endParaRPr lang="en-US" dirty="0" smtClean="0"/>
          </a:p>
          <a:p>
            <a:endParaRPr lang="en-US" sz="2800" dirty="0" smtClean="0"/>
          </a:p>
          <a:p>
            <a:r>
              <a:rPr lang="en-US" sz="2800" dirty="0" smtClean="0"/>
              <a:t>The </a:t>
            </a:r>
            <a:r>
              <a:rPr lang="en-US" sz="2800" dirty="0"/>
              <a:t>goal of a </a:t>
            </a:r>
            <a:r>
              <a:rPr lang="en-US" sz="2800" b="1" dirty="0"/>
              <a:t>software process model </a:t>
            </a:r>
            <a:r>
              <a:rPr lang="en-US" sz="2800" b="1" dirty="0">
                <a:solidFill>
                  <a:srgbClr val="FF0000"/>
                </a:solidFill>
              </a:rPr>
              <a:t>is to provide </a:t>
            </a:r>
            <a:r>
              <a:rPr lang="en-US" sz="2800" b="1" dirty="0" smtClean="0">
                <a:solidFill>
                  <a:srgbClr val="FF0000"/>
                </a:solidFill>
              </a:rPr>
              <a:t>guidance for </a:t>
            </a:r>
            <a:r>
              <a:rPr lang="en-US" sz="2800" b="1" dirty="0">
                <a:solidFill>
                  <a:srgbClr val="FF0000"/>
                </a:solidFill>
              </a:rPr>
              <a:t>controlling and coordinating the tasks to achieve the end product and objectives</a:t>
            </a:r>
            <a:r>
              <a:rPr lang="en-US" sz="2800" dirty="0"/>
              <a:t> as effectively as possible</a:t>
            </a:r>
            <a:r>
              <a:rPr lang="en-US" sz="2800" dirty="0" smtClean="0"/>
              <a:t>.</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8418" y="1066800"/>
            <a:ext cx="5638800" cy="3933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E5CE4F79-B2B3-4E4E-AB5D-F771515B9CEF}" type="slidenum">
              <a:rPr lang="en-US" smtClean="0"/>
              <a:t>27</a:t>
            </a:fld>
            <a:endParaRPr lang="en-US" dirty="0"/>
          </a:p>
        </p:txBody>
      </p:sp>
    </p:spTree>
    <p:extLst>
      <p:ext uri="{BB962C8B-B14F-4D97-AF65-F5344CB8AC3E}">
        <p14:creationId xmlns:p14="http://schemas.microsoft.com/office/powerpoint/2010/main" val="2693598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795" y="541516"/>
            <a:ext cx="8381999" cy="780195"/>
          </a:xfrm>
        </p:spPr>
        <p:txBody>
          <a:bodyPr>
            <a:normAutofit fontScale="90000"/>
          </a:bodyPr>
          <a:lstStyle/>
          <a:p>
            <a:r>
              <a:rPr lang="en-US" dirty="0" smtClean="0"/>
              <a:t>Software Processes models</a:t>
            </a:r>
            <a:br>
              <a:rPr lang="en-US" dirty="0" smtClean="0"/>
            </a:br>
            <a:r>
              <a:rPr lang="en-US" dirty="0" smtClean="0">
                <a:sym typeface="Wingdings" pitchFamily="2" charset="2"/>
              </a:rPr>
              <a:t>Plan driven </a:t>
            </a:r>
            <a:r>
              <a:rPr lang="en-US" dirty="0" err="1" smtClean="0">
                <a:sym typeface="Wingdings" pitchFamily="2" charset="2"/>
              </a:rPr>
              <a:t>vs</a:t>
            </a:r>
            <a:r>
              <a:rPr lang="en-US" dirty="0" smtClean="0">
                <a:sym typeface="Wingdings" pitchFamily="2" charset="2"/>
              </a:rPr>
              <a:t> </a:t>
            </a:r>
            <a:r>
              <a:rPr lang="en-GB" dirty="0"/>
              <a:t>agile processes</a:t>
            </a:r>
            <a:endParaRPr lang="en-US" dirty="0"/>
          </a:p>
        </p:txBody>
      </p:sp>
      <p:sp>
        <p:nvSpPr>
          <p:cNvPr id="3" name="Content Placeholder 2"/>
          <p:cNvSpPr>
            <a:spLocks noGrp="1"/>
          </p:cNvSpPr>
          <p:nvPr>
            <p:ph type="body" sz="quarter" idx="13"/>
          </p:nvPr>
        </p:nvSpPr>
        <p:spPr/>
        <p:txBody>
          <a:bodyPr>
            <a:normAutofit/>
          </a:bodyPr>
          <a:lstStyle/>
          <a:p>
            <a:endParaRPr lang="en-US" dirty="0" smtClean="0"/>
          </a:p>
          <a:p>
            <a:r>
              <a:rPr lang="en-US" dirty="0" smtClean="0">
                <a:solidFill>
                  <a:srgbClr val="FF0000"/>
                </a:solidFill>
              </a:rPr>
              <a:t>Many </a:t>
            </a:r>
            <a:r>
              <a:rPr lang="en-US" dirty="0">
                <a:solidFill>
                  <a:srgbClr val="FF0000"/>
                </a:solidFill>
              </a:rPr>
              <a:t>kinds of process models for meeting different requirements</a:t>
            </a:r>
            <a:r>
              <a:rPr lang="en-US" dirty="0" smtClean="0">
                <a:solidFill>
                  <a:srgbClr val="FF0000"/>
                </a:solidFill>
              </a:rPr>
              <a:t>.</a:t>
            </a:r>
          </a:p>
          <a:p>
            <a:r>
              <a:rPr lang="en-GB" b="1" dirty="0"/>
              <a:t>Plan-driven processes </a:t>
            </a:r>
            <a:r>
              <a:rPr lang="en-GB" dirty="0"/>
              <a:t>are processes where all of the process activities are planned in advance and progress is measured against this plan. </a:t>
            </a:r>
          </a:p>
          <a:p>
            <a:r>
              <a:rPr lang="en-GB" dirty="0" smtClean="0"/>
              <a:t>Agile processes</a:t>
            </a:r>
            <a:r>
              <a:rPr lang="en-GB" dirty="0"/>
              <a:t>, </a:t>
            </a:r>
            <a:r>
              <a:rPr lang="en-GB" b="1" dirty="0"/>
              <a:t>planning is incremental and it is easier to change the process to reflect changing customer requirements.</a:t>
            </a:r>
            <a:r>
              <a:rPr lang="en-GB" dirty="0"/>
              <a:t> </a:t>
            </a:r>
          </a:p>
          <a:p>
            <a:r>
              <a:rPr lang="en-GB" dirty="0">
                <a:solidFill>
                  <a:srgbClr val="FF0000"/>
                </a:solidFill>
              </a:rPr>
              <a:t>In practice, most practical processes include elements of both plan-driven and agile approaches.</a:t>
            </a:r>
            <a:r>
              <a:rPr lang="en-GB" dirty="0"/>
              <a:t> </a:t>
            </a:r>
          </a:p>
          <a:p>
            <a:r>
              <a:rPr lang="en-GB" b="1" dirty="0"/>
              <a:t>There are no right or wrong software processes.</a:t>
            </a:r>
            <a:endParaRPr lang="en-US" b="1" dirty="0"/>
          </a:p>
        </p:txBody>
      </p:sp>
      <p:sp>
        <p:nvSpPr>
          <p:cNvPr id="4" name="Slide Number Placeholder 3"/>
          <p:cNvSpPr>
            <a:spLocks noGrp="1"/>
          </p:cNvSpPr>
          <p:nvPr>
            <p:ph type="sldNum" sz="quarter" idx="12"/>
          </p:nvPr>
        </p:nvSpPr>
        <p:spPr/>
        <p:txBody>
          <a:bodyPr/>
          <a:lstStyle/>
          <a:p>
            <a:fld id="{E5CE4F79-B2B3-4E4E-AB5D-F771515B9CEF}" type="slidenum">
              <a:rPr lang="en-US" smtClean="0"/>
              <a:t>28</a:t>
            </a:fld>
            <a:endParaRPr lang="en-US" dirty="0"/>
          </a:p>
        </p:txBody>
      </p:sp>
    </p:spTree>
    <p:extLst>
      <p:ext uri="{BB962C8B-B14F-4D97-AF65-F5344CB8AC3E}">
        <p14:creationId xmlns:p14="http://schemas.microsoft.com/office/powerpoint/2010/main" val="199465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Software process </a:t>
            </a:r>
            <a:r>
              <a:rPr lang="en-GB" dirty="0" smtClean="0"/>
              <a:t>models </a:t>
            </a:r>
            <a:endParaRPr lang="en-US" dirty="0"/>
          </a:p>
        </p:txBody>
      </p:sp>
      <p:sp>
        <p:nvSpPr>
          <p:cNvPr id="3" name="Content Placeholder 2"/>
          <p:cNvSpPr>
            <a:spLocks noGrp="1"/>
          </p:cNvSpPr>
          <p:nvPr>
            <p:ph type="body" sz="quarter" idx="13"/>
          </p:nvPr>
        </p:nvSpPr>
        <p:spPr/>
        <p:txBody>
          <a:bodyPr>
            <a:normAutofit/>
          </a:bodyPr>
          <a:lstStyle/>
          <a:p>
            <a:r>
              <a:rPr lang="en-GB" dirty="0"/>
              <a:t>The waterfall model</a:t>
            </a:r>
          </a:p>
          <a:p>
            <a:pPr lvl="1"/>
            <a:r>
              <a:rPr lang="en-GB" dirty="0"/>
              <a:t>Plan-driven model. Separate and distinct phases of specification and development.</a:t>
            </a:r>
          </a:p>
          <a:p>
            <a:r>
              <a:rPr lang="en-GB" dirty="0"/>
              <a:t>Incremental development</a:t>
            </a:r>
          </a:p>
          <a:p>
            <a:pPr lvl="1"/>
            <a:r>
              <a:rPr lang="en-GB" dirty="0"/>
              <a:t>Specification, development and validation are interleaved. May be plan-driven or agile.</a:t>
            </a:r>
          </a:p>
          <a:p>
            <a:r>
              <a:rPr lang="en-GB" dirty="0"/>
              <a:t>Reuse-oriented software engineering</a:t>
            </a:r>
          </a:p>
          <a:p>
            <a:pPr lvl="1"/>
            <a:r>
              <a:rPr lang="en-GB" dirty="0"/>
              <a:t>The system is assembled from existing components. May be plan-driven or agile.</a:t>
            </a:r>
          </a:p>
          <a:p>
            <a:r>
              <a:rPr lang="en-GB" b="1" dirty="0"/>
              <a:t>In practice, most large systems are developed using a process that incorporates elements from all of these models.</a:t>
            </a:r>
            <a:endParaRPr lang="en-US" b="1" dirty="0"/>
          </a:p>
        </p:txBody>
      </p:sp>
      <p:sp>
        <p:nvSpPr>
          <p:cNvPr id="4" name="Slide Number Placeholder 3"/>
          <p:cNvSpPr>
            <a:spLocks noGrp="1"/>
          </p:cNvSpPr>
          <p:nvPr>
            <p:ph type="sldNum" sz="quarter" idx="12"/>
          </p:nvPr>
        </p:nvSpPr>
        <p:spPr/>
        <p:txBody>
          <a:bodyPr/>
          <a:lstStyle/>
          <a:p>
            <a:fld id="{E5CE4F79-B2B3-4E4E-AB5D-F771515B9CEF}" type="slidenum">
              <a:rPr lang="en-US" smtClean="0"/>
              <a:t>29</a:t>
            </a:fld>
            <a:endParaRPr lang="en-US" dirty="0"/>
          </a:p>
        </p:txBody>
      </p:sp>
    </p:spTree>
    <p:extLst>
      <p:ext uri="{BB962C8B-B14F-4D97-AF65-F5344CB8AC3E}">
        <p14:creationId xmlns:p14="http://schemas.microsoft.com/office/powerpoint/2010/main" val="3252047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474414"/>
            <a:ext cx="8381999" cy="780195"/>
          </a:xfrm>
        </p:spPr>
        <p:txBody>
          <a:bodyPr>
            <a:noAutofit/>
          </a:bodyPr>
          <a:lstStyle/>
          <a:p>
            <a:r>
              <a:rPr lang="en-GB" sz="4000" dirty="0"/>
              <a:t>Software process </a:t>
            </a:r>
            <a:r>
              <a:rPr lang="en-GB" sz="4000" dirty="0" smtClean="0"/>
              <a:t>models/SW project management methodologies </a:t>
            </a:r>
            <a:endParaRPr lang="en-US" sz="4000" dirty="0"/>
          </a:p>
        </p:txBody>
      </p:sp>
      <p:sp>
        <p:nvSpPr>
          <p:cNvPr id="3" name="Content Placeholder 2"/>
          <p:cNvSpPr>
            <a:spLocks noGrp="1"/>
          </p:cNvSpPr>
          <p:nvPr>
            <p:ph type="body" sz="quarter" idx="13"/>
          </p:nvPr>
        </p:nvSpPr>
        <p:spPr>
          <a:xfrm>
            <a:off x="457201" y="1447800"/>
            <a:ext cx="8381999" cy="4800600"/>
          </a:xfrm>
        </p:spPr>
        <p:txBody>
          <a:bodyPr>
            <a:normAutofit fontScale="25000" lnSpcReduction="20000"/>
          </a:bodyPr>
          <a:lstStyle/>
          <a:p>
            <a:r>
              <a:rPr lang="en-GB" sz="7200" b="1" dirty="0" smtClean="0"/>
              <a:t>There </a:t>
            </a:r>
            <a:r>
              <a:rPr lang="en-GB" sz="7200" b="1" dirty="0"/>
              <a:t>are separate identified phases in the waterfall model:</a:t>
            </a:r>
          </a:p>
          <a:p>
            <a:pPr lvl="1"/>
            <a:r>
              <a:rPr lang="en-GB" sz="6400" b="1" dirty="0"/>
              <a:t>Requirements analysis and definition</a:t>
            </a:r>
          </a:p>
          <a:p>
            <a:pPr lvl="1"/>
            <a:r>
              <a:rPr lang="en-GB" sz="6400" b="1" dirty="0"/>
              <a:t>System and software design</a:t>
            </a:r>
          </a:p>
          <a:p>
            <a:pPr lvl="1"/>
            <a:r>
              <a:rPr lang="en-GB" sz="6400" b="1" dirty="0"/>
              <a:t>Implementation and unit testing</a:t>
            </a:r>
          </a:p>
          <a:p>
            <a:pPr lvl="1"/>
            <a:r>
              <a:rPr lang="en-GB" sz="6400" b="1" dirty="0"/>
              <a:t>Integration and system testing</a:t>
            </a:r>
          </a:p>
          <a:p>
            <a:pPr lvl="1"/>
            <a:r>
              <a:rPr lang="en-GB" sz="6400" b="1" dirty="0"/>
              <a:t>Operation and maintenance</a:t>
            </a:r>
          </a:p>
          <a:p>
            <a:r>
              <a:rPr lang="en-GB" sz="7200" dirty="0">
                <a:solidFill>
                  <a:srgbClr val="FF0000"/>
                </a:solidFill>
              </a:rPr>
              <a:t>The main drawback of the waterfall model</a:t>
            </a:r>
            <a:r>
              <a:rPr lang="en-GB" sz="7200" dirty="0"/>
              <a:t> is the difficulty of accommodating change after the process is underway. </a:t>
            </a:r>
            <a:r>
              <a:rPr lang="en-GB" sz="7200" b="1" dirty="0"/>
              <a:t>In principle, a phase has to be complete before moving onto the next phase</a:t>
            </a:r>
            <a:r>
              <a:rPr lang="en-GB" sz="7200" b="1" dirty="0" smtClean="0"/>
              <a:t>.</a:t>
            </a:r>
          </a:p>
          <a:p>
            <a:r>
              <a:rPr lang="en-US" sz="7200" b="1" dirty="0">
                <a:solidFill>
                  <a:srgbClr val="00B050"/>
                </a:solidFill>
              </a:rPr>
              <a:t>When to Use It:</a:t>
            </a:r>
            <a:r>
              <a:rPr lang="en-US" sz="7200" dirty="0">
                <a:solidFill>
                  <a:srgbClr val="00B050"/>
                </a:solidFill>
              </a:rPr>
              <a:t> </a:t>
            </a:r>
            <a:r>
              <a:rPr lang="en-US" sz="7200" dirty="0"/>
              <a:t>The Waterfall approach is g</a:t>
            </a:r>
            <a:r>
              <a:rPr lang="en-US" sz="7200" b="1" dirty="0"/>
              <a:t>reat for manufacturing and construction projects, which are highly structured</a:t>
            </a:r>
            <a:r>
              <a:rPr lang="en-US" sz="7200" dirty="0" smtClean="0"/>
              <a:t>,</a:t>
            </a:r>
          </a:p>
          <a:p>
            <a:r>
              <a:rPr lang="en-US" sz="7200" b="1" dirty="0" smtClean="0"/>
              <a:t> when </a:t>
            </a:r>
            <a:r>
              <a:rPr lang="en-US" sz="7200" b="1" dirty="0"/>
              <a:t>it’s too expensive to pivot or change anything after the fact. </a:t>
            </a:r>
            <a:endParaRPr lang="en-US" sz="7200" b="1" dirty="0" smtClean="0"/>
          </a:p>
          <a:p>
            <a:r>
              <a:rPr lang="en-US" sz="7200" b="1" dirty="0" smtClean="0"/>
              <a:t>And where </a:t>
            </a:r>
            <a:r>
              <a:rPr lang="en-US" sz="7200" b="1" dirty="0"/>
              <a:t>there is uncertainty about how a system is to be implemented, and </a:t>
            </a:r>
            <a:r>
              <a:rPr lang="en-US" sz="7200" b="1" dirty="0" smtClean="0"/>
              <a:t>unfortunately this model is not a choice</a:t>
            </a:r>
          </a:p>
          <a:p>
            <a:r>
              <a:rPr lang="en-US" sz="7200" dirty="0" smtClean="0"/>
              <a:t>The </a:t>
            </a:r>
            <a:r>
              <a:rPr lang="en-US" sz="7200" dirty="0"/>
              <a:t>waterfall method makes use of Gantt charts for planning and </a:t>
            </a:r>
            <a:r>
              <a:rPr lang="en-US" sz="7200" dirty="0" smtClean="0"/>
              <a:t>scheduling</a:t>
            </a:r>
          </a:p>
          <a:p>
            <a:r>
              <a:rPr lang="en-US" sz="7200" dirty="0" smtClean="0"/>
              <a:t>!!! </a:t>
            </a:r>
            <a:r>
              <a:rPr lang="en-US" sz="7200" b="1" dirty="0" smtClean="0">
                <a:solidFill>
                  <a:srgbClr val="FF0000"/>
                </a:solidFill>
              </a:rPr>
              <a:t>Also see V model the expanded version of waterfall </a:t>
            </a:r>
            <a:endParaRPr lang="en-GB" sz="7200" b="1" dirty="0">
              <a:solidFill>
                <a:srgbClr val="FF0000"/>
              </a:solidFill>
            </a:endParaRP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30</a:t>
            </a:fld>
            <a:endParaRPr lang="en-US" dirty="0"/>
          </a:p>
        </p:txBody>
      </p:sp>
    </p:spTree>
    <p:extLst>
      <p:ext uri="{BB962C8B-B14F-4D97-AF65-F5344CB8AC3E}">
        <p14:creationId xmlns:p14="http://schemas.microsoft.com/office/powerpoint/2010/main" val="22550273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dirty="0" smtClean="0"/>
              <a:t>The </a:t>
            </a:r>
            <a:r>
              <a:rPr lang="en-US" sz="4400" dirty="0"/>
              <a:t>Waterfall </a:t>
            </a:r>
            <a:r>
              <a:rPr lang="en-US" sz="4400" dirty="0" smtClean="0"/>
              <a:t>Model</a:t>
            </a:r>
            <a:endParaRPr lang="en-US" sz="4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95400"/>
            <a:ext cx="83820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E5CE4F79-B2B3-4E4E-AB5D-F771515B9CEF}" type="slidenum">
              <a:rPr lang="en-US" smtClean="0"/>
              <a:t>31</a:t>
            </a:fld>
            <a:endParaRPr lang="en-US" dirty="0"/>
          </a:p>
        </p:txBody>
      </p:sp>
    </p:spTree>
    <p:extLst>
      <p:ext uri="{BB962C8B-B14F-4D97-AF65-F5344CB8AC3E}">
        <p14:creationId xmlns:p14="http://schemas.microsoft.com/office/powerpoint/2010/main" val="2927977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Spiral Model</a:t>
            </a:r>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32</a:t>
            </a:fld>
            <a:endParaRPr 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066800"/>
            <a:ext cx="7162800" cy="5208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29980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The Spiral Model</a:t>
            </a:r>
          </a:p>
        </p:txBody>
      </p:sp>
      <p:sp>
        <p:nvSpPr>
          <p:cNvPr id="3" name="Content Placeholder 2"/>
          <p:cNvSpPr>
            <a:spLocks noGrp="1"/>
          </p:cNvSpPr>
          <p:nvPr>
            <p:ph type="body" sz="quarter" idx="13"/>
          </p:nvPr>
        </p:nvSpPr>
        <p:spPr/>
        <p:txBody>
          <a:bodyPr>
            <a:normAutofit/>
          </a:bodyPr>
          <a:lstStyle/>
          <a:p>
            <a:r>
              <a:rPr lang="en-GB" b="1" dirty="0"/>
              <a:t>Process is represented as a spiral rather than as a sequence of activities with backtracking.</a:t>
            </a:r>
          </a:p>
          <a:p>
            <a:r>
              <a:rPr lang="en-GB" b="1" dirty="0">
                <a:solidFill>
                  <a:srgbClr val="00B050"/>
                </a:solidFill>
              </a:rPr>
              <a:t>Each loop in the spiral represents a phase in the process. </a:t>
            </a:r>
          </a:p>
          <a:p>
            <a:r>
              <a:rPr lang="en-GB" b="1" dirty="0"/>
              <a:t>No fixed phases such as specification or design - loops in the spiral are chosen depending on what is required.</a:t>
            </a:r>
          </a:p>
          <a:p>
            <a:r>
              <a:rPr lang="en-GB" b="1" dirty="0"/>
              <a:t>Risks are explicitly assessed and resolved throughout the process</a:t>
            </a:r>
            <a:r>
              <a:rPr lang="en-GB" b="1" dirty="0" smtClean="0"/>
              <a:t>.</a:t>
            </a:r>
          </a:p>
          <a:p>
            <a:r>
              <a:rPr lang="en-US" dirty="0"/>
              <a:t>Spiral model has been very influential in helping people think about iteration in software processes and introducing the risk-driven approach to development.</a:t>
            </a:r>
          </a:p>
          <a:p>
            <a:r>
              <a:rPr lang="en-US" dirty="0">
                <a:solidFill>
                  <a:srgbClr val="FF0000"/>
                </a:solidFill>
              </a:rPr>
              <a:t>In practice, however, the model is rarely used as published for practical software development.</a:t>
            </a:r>
          </a:p>
          <a:p>
            <a:endParaRPr lang="en-GB" dirty="0"/>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33</a:t>
            </a:fld>
            <a:endParaRPr lang="en-US" dirty="0"/>
          </a:p>
        </p:txBody>
      </p:sp>
    </p:spTree>
    <p:extLst>
      <p:ext uri="{BB962C8B-B14F-4D97-AF65-F5344CB8AC3E}">
        <p14:creationId xmlns:p14="http://schemas.microsoft.com/office/powerpoint/2010/main" val="33517243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34</a:t>
            </a:fld>
            <a:endParaRPr lang="en-US" dirty="0"/>
          </a:p>
        </p:txBody>
      </p:sp>
      <p:sp>
        <p:nvSpPr>
          <p:cNvPr id="3" name="Title 2"/>
          <p:cNvSpPr>
            <a:spLocks noGrp="1"/>
          </p:cNvSpPr>
          <p:nvPr>
            <p:ph type="title"/>
          </p:nvPr>
        </p:nvSpPr>
        <p:spPr/>
        <p:txBody>
          <a:bodyPr/>
          <a:lstStyle/>
          <a:p>
            <a:r>
              <a:rPr lang="en-US" dirty="0" smtClean="0"/>
              <a:t>V Process Model</a:t>
            </a:r>
            <a:endParaRPr lang="en-US"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174044"/>
            <a:ext cx="6248400" cy="5152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1534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Iterative Process Model</a:t>
            </a:r>
            <a:endParaRPr lang="en-US" dirty="0"/>
          </a:p>
        </p:txBody>
      </p:sp>
      <p:sp>
        <p:nvSpPr>
          <p:cNvPr id="3" name="Content Placeholder 2"/>
          <p:cNvSpPr>
            <a:spLocks noGrp="1"/>
          </p:cNvSpPr>
          <p:nvPr>
            <p:ph type="body" sz="quarter" idx="13"/>
          </p:nvPr>
        </p:nvSpPr>
        <p:spPr/>
        <p:txBody>
          <a:bodyPr/>
          <a:lstStyle/>
          <a:p>
            <a:r>
              <a:rPr lang="en-US" dirty="0" smtClean="0"/>
              <a:t>The </a:t>
            </a:r>
            <a:r>
              <a:rPr lang="en-US" dirty="0"/>
              <a:t>iterative process model is the implementation of the software development life cycle in which </a:t>
            </a:r>
            <a:r>
              <a:rPr lang="en-US" b="1" dirty="0"/>
              <a:t>the initial development is started based on the initial requirements</a:t>
            </a:r>
            <a:r>
              <a:rPr lang="en-US" dirty="0"/>
              <a:t> and </a:t>
            </a:r>
            <a:r>
              <a:rPr lang="en-US" b="1" dirty="0"/>
              <a:t>more features are added to the base software product with the ongoing iterations until the final system is created</a:t>
            </a:r>
            <a:r>
              <a:rPr lang="en-US" dirty="0"/>
              <a:t>.</a:t>
            </a:r>
          </a:p>
        </p:txBody>
      </p:sp>
      <p:sp>
        <p:nvSpPr>
          <p:cNvPr id="4" name="Slide Number Placeholder 3"/>
          <p:cNvSpPr>
            <a:spLocks noGrp="1"/>
          </p:cNvSpPr>
          <p:nvPr>
            <p:ph type="sldNum" sz="quarter" idx="12"/>
          </p:nvPr>
        </p:nvSpPr>
        <p:spPr/>
        <p:txBody>
          <a:bodyPr/>
          <a:lstStyle/>
          <a:p>
            <a:fld id="{E5CE4F79-B2B3-4E4E-AB5D-F771515B9CEF}" type="slidenum">
              <a:rPr lang="en-US" smtClean="0"/>
              <a:t>35</a:t>
            </a:fld>
            <a:endParaRPr lang="en-US" dirty="0"/>
          </a:p>
        </p:txBody>
      </p:sp>
    </p:spTree>
    <p:extLst>
      <p:ext uri="{BB962C8B-B14F-4D97-AF65-F5344CB8AC3E}">
        <p14:creationId xmlns:p14="http://schemas.microsoft.com/office/powerpoint/2010/main" val="18494126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Software Prototype and why</a:t>
            </a:r>
            <a:endParaRPr lang="en-US" dirty="0"/>
          </a:p>
        </p:txBody>
      </p:sp>
      <p:sp>
        <p:nvSpPr>
          <p:cNvPr id="3" name="Content Placeholder 2"/>
          <p:cNvSpPr>
            <a:spLocks noGrp="1"/>
          </p:cNvSpPr>
          <p:nvPr>
            <p:ph type="body" sz="quarter" idx="13"/>
          </p:nvPr>
        </p:nvSpPr>
        <p:spPr/>
        <p:txBody>
          <a:bodyPr>
            <a:normAutofit lnSpcReduction="10000"/>
          </a:bodyPr>
          <a:lstStyle/>
          <a:p>
            <a:r>
              <a:rPr lang="en-US" b="1" dirty="0"/>
              <a:t>A prototype is a working model </a:t>
            </a:r>
            <a:r>
              <a:rPr lang="en-US" b="1" dirty="0" smtClean="0"/>
              <a:t>of one </a:t>
            </a:r>
            <a:r>
              <a:rPr lang="en-US" b="1" dirty="0"/>
              <a:t>or more aspects of the projected system. </a:t>
            </a:r>
            <a:endParaRPr lang="en-US" b="1" dirty="0" smtClean="0"/>
          </a:p>
          <a:p>
            <a:r>
              <a:rPr lang="en-US" u="sng" dirty="0" smtClean="0">
                <a:solidFill>
                  <a:srgbClr val="FF0000"/>
                </a:solidFill>
              </a:rPr>
              <a:t>It </a:t>
            </a:r>
            <a:r>
              <a:rPr lang="en-US" u="sng" dirty="0">
                <a:solidFill>
                  <a:srgbClr val="FF0000"/>
                </a:solidFill>
              </a:rPr>
              <a:t>is constructed and tested quickly and inexpensively in </a:t>
            </a:r>
            <a:r>
              <a:rPr lang="en-US" u="sng" dirty="0" smtClean="0">
                <a:solidFill>
                  <a:srgbClr val="FF0000"/>
                </a:solidFill>
              </a:rPr>
              <a:t>order to </a:t>
            </a:r>
            <a:r>
              <a:rPr lang="en-US" u="sng" dirty="0">
                <a:solidFill>
                  <a:srgbClr val="FF0000"/>
                </a:solidFill>
              </a:rPr>
              <a:t>test out assumptions.</a:t>
            </a:r>
            <a:endParaRPr lang="en-US" u="sng" dirty="0" smtClean="0">
              <a:solidFill>
                <a:srgbClr val="FF0000"/>
              </a:solidFill>
            </a:endParaRPr>
          </a:p>
          <a:p>
            <a:r>
              <a:rPr lang="en-US" dirty="0" smtClean="0"/>
              <a:t>Because Uncertainty </a:t>
            </a:r>
            <a:r>
              <a:rPr lang="en-US" dirty="0"/>
              <a:t>about a project is usually because of a lack of knowledge about </a:t>
            </a:r>
            <a:r>
              <a:rPr lang="en-US" dirty="0" smtClean="0"/>
              <a:t>some aspect</a:t>
            </a:r>
          </a:p>
          <a:p>
            <a:r>
              <a:rPr lang="en-US" b="1" dirty="0" smtClean="0"/>
              <a:t>So, prototyping  </a:t>
            </a:r>
            <a:r>
              <a:rPr lang="en-US" b="1" dirty="0"/>
              <a:t>is the </a:t>
            </a:r>
            <a:r>
              <a:rPr lang="en-US" b="1" dirty="0" smtClean="0"/>
              <a:t>need to </a:t>
            </a:r>
            <a:r>
              <a:rPr lang="en-US" b="1" dirty="0"/>
              <a:t>reduce </a:t>
            </a:r>
            <a:r>
              <a:rPr lang="en-US" b="1" dirty="0" smtClean="0"/>
              <a:t>uncertainty by </a:t>
            </a:r>
            <a:r>
              <a:rPr lang="en-US" b="1" dirty="0"/>
              <a:t>conducting </a:t>
            </a:r>
            <a:r>
              <a:rPr lang="en-US" b="1" dirty="0" smtClean="0"/>
              <a:t>an experiment.</a:t>
            </a:r>
          </a:p>
          <a:p>
            <a:r>
              <a:rPr lang="en-US" dirty="0" smtClean="0"/>
              <a:t>OR </a:t>
            </a:r>
          </a:p>
          <a:p>
            <a:r>
              <a:rPr lang="en-US" b="1" u="sng" dirty="0"/>
              <a:t>The most important reason for prototyping is a need to learn about an area of uncertainty. </a:t>
            </a:r>
            <a:endParaRPr lang="en-US" b="1" u="sng" dirty="0" smtClean="0"/>
          </a:p>
          <a:p>
            <a:r>
              <a:rPr lang="en-US" b="1" dirty="0" smtClean="0"/>
              <a:t>Thus </a:t>
            </a:r>
            <a:r>
              <a:rPr lang="en-US" b="1" dirty="0"/>
              <a:t>it is </a:t>
            </a:r>
            <a:r>
              <a:rPr lang="en-US" b="1" dirty="0" smtClean="0"/>
              <a:t>essential to </a:t>
            </a:r>
            <a:r>
              <a:rPr lang="en-US" b="1" dirty="0"/>
              <a:t>identify at the outset what is to be learnt from the prototype.</a:t>
            </a:r>
          </a:p>
        </p:txBody>
      </p:sp>
      <p:sp>
        <p:nvSpPr>
          <p:cNvPr id="4" name="Slide Number Placeholder 3"/>
          <p:cNvSpPr>
            <a:spLocks noGrp="1"/>
          </p:cNvSpPr>
          <p:nvPr>
            <p:ph type="sldNum" sz="quarter" idx="12"/>
          </p:nvPr>
        </p:nvSpPr>
        <p:spPr/>
        <p:txBody>
          <a:bodyPr/>
          <a:lstStyle/>
          <a:p>
            <a:fld id="{E5CE4F79-B2B3-4E4E-AB5D-F771515B9CEF}" type="slidenum">
              <a:rPr lang="en-US" smtClean="0"/>
              <a:t>36</a:t>
            </a:fld>
            <a:endParaRPr lang="en-US" dirty="0"/>
          </a:p>
        </p:txBody>
      </p:sp>
    </p:spTree>
    <p:extLst>
      <p:ext uri="{BB962C8B-B14F-4D97-AF65-F5344CB8AC3E}">
        <p14:creationId xmlns:p14="http://schemas.microsoft.com/office/powerpoint/2010/main" val="295442875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Prototype advantages</a:t>
            </a:r>
            <a:endParaRPr lang="en-US" dirty="0"/>
          </a:p>
        </p:txBody>
      </p:sp>
      <p:sp>
        <p:nvSpPr>
          <p:cNvPr id="4" name="Text Placeholder 3"/>
          <p:cNvSpPr>
            <a:spLocks noGrp="1"/>
          </p:cNvSpPr>
          <p:nvPr>
            <p:ph type="body" sz="quarter" idx="13"/>
          </p:nvPr>
        </p:nvSpPr>
        <p:spPr/>
        <p:txBody>
          <a:bodyPr/>
          <a:lstStyle/>
          <a:p>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47800"/>
            <a:ext cx="8610600"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E5CE4F79-B2B3-4E4E-AB5D-F771515B9CEF}" type="slidenum">
              <a:rPr lang="en-US" smtClean="0"/>
              <a:t>37</a:t>
            </a:fld>
            <a:endParaRPr lang="en-US" dirty="0"/>
          </a:p>
        </p:txBody>
      </p:sp>
    </p:spTree>
    <p:extLst>
      <p:ext uri="{BB962C8B-B14F-4D97-AF65-F5344CB8AC3E}">
        <p14:creationId xmlns:p14="http://schemas.microsoft.com/office/powerpoint/2010/main" val="20321772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Prototype disadvantages</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1" y="1295401"/>
            <a:ext cx="54864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p:cNvSpPr>
            <a:spLocks noGrp="1"/>
          </p:cNvSpPr>
          <p:nvPr>
            <p:ph type="sldNum" sz="quarter" idx="12"/>
          </p:nvPr>
        </p:nvSpPr>
        <p:spPr/>
        <p:txBody>
          <a:bodyPr/>
          <a:lstStyle/>
          <a:p>
            <a:fld id="{E5CE4F79-B2B3-4E4E-AB5D-F771515B9CEF}" type="slidenum">
              <a:rPr lang="en-US" smtClean="0"/>
              <a:t>38</a:t>
            </a:fld>
            <a:endParaRPr lang="en-US" dirty="0"/>
          </a:p>
        </p:txBody>
      </p:sp>
    </p:spTree>
    <p:extLst>
      <p:ext uri="{BB962C8B-B14F-4D97-AF65-F5344CB8AC3E}">
        <p14:creationId xmlns:p14="http://schemas.microsoft.com/office/powerpoint/2010/main" val="1680457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dirty="0" smtClean="0"/>
              <a:t>Incremental Delivery</a:t>
            </a:r>
            <a:endParaRPr lang="en-US" sz="4400" dirty="0"/>
          </a:p>
        </p:txBody>
      </p:sp>
      <p:sp>
        <p:nvSpPr>
          <p:cNvPr id="3" name="Content Placeholder 2"/>
          <p:cNvSpPr>
            <a:spLocks noGrp="1"/>
          </p:cNvSpPr>
          <p:nvPr>
            <p:ph type="body" sz="quarter" idx="13"/>
          </p:nvPr>
        </p:nvSpPr>
        <p:spPr/>
        <p:txBody>
          <a:bodyPr>
            <a:normAutofit fontScale="70000" lnSpcReduction="20000"/>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This </a:t>
            </a:r>
            <a:r>
              <a:rPr lang="en-US" dirty="0"/>
              <a:t>approach breaks the application down into small components which are then implemented and </a:t>
            </a:r>
            <a:r>
              <a:rPr lang="en-US" dirty="0" smtClean="0"/>
              <a:t>delivered in </a:t>
            </a:r>
            <a:r>
              <a:rPr lang="en-US" dirty="0"/>
              <a:t>sequence. </a:t>
            </a:r>
            <a:endParaRPr lang="en-US" dirty="0" smtClean="0"/>
          </a:p>
          <a:p>
            <a:r>
              <a:rPr lang="en-US" dirty="0" smtClean="0"/>
              <a:t>Each </a:t>
            </a:r>
            <a:r>
              <a:rPr lang="en-US" dirty="0"/>
              <a:t>component delivered must give some </a:t>
            </a:r>
            <a:r>
              <a:rPr lang="en-US" dirty="0" smtClean="0"/>
              <a:t>benefit </a:t>
            </a:r>
            <a:r>
              <a:rPr lang="en-US" dirty="0"/>
              <a:t>to the user. </a:t>
            </a:r>
            <a:r>
              <a:rPr lang="en-US" dirty="0" smtClean="0"/>
              <a:t>Above figure of incremental delivery</a:t>
            </a:r>
          </a:p>
          <a:p>
            <a:r>
              <a:rPr lang="en-US" dirty="0" smtClean="0"/>
              <a:t>Great </a:t>
            </a:r>
            <a:r>
              <a:rPr lang="en-US" dirty="0"/>
              <a:t>for projects that have loosely-coupled parts and projects with complete and clear requirements.</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6730" y="1129631"/>
            <a:ext cx="7060623"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E5CE4F79-B2B3-4E4E-AB5D-F771515B9CEF}" type="slidenum">
              <a:rPr lang="en-US" smtClean="0"/>
              <a:t>39</a:t>
            </a:fld>
            <a:endParaRPr lang="en-US" dirty="0"/>
          </a:p>
        </p:txBody>
      </p:sp>
    </p:spTree>
    <p:extLst>
      <p:ext uri="{BB962C8B-B14F-4D97-AF65-F5344CB8AC3E}">
        <p14:creationId xmlns:p14="http://schemas.microsoft.com/office/powerpoint/2010/main" val="9348590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90600"/>
            <a:ext cx="7629525"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smtClean="0"/>
              <a:t>Incremental Delivery</a:t>
            </a:r>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40</a:t>
            </a:fld>
            <a:endParaRPr lang="en-US" dirty="0"/>
          </a:p>
        </p:txBody>
      </p:sp>
    </p:spTree>
    <p:extLst>
      <p:ext uri="{BB962C8B-B14F-4D97-AF65-F5344CB8AC3E}">
        <p14:creationId xmlns:p14="http://schemas.microsoft.com/office/powerpoint/2010/main" val="42260466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Iterative </a:t>
            </a:r>
            <a:r>
              <a:rPr lang="en-US" dirty="0" err="1" smtClean="0"/>
              <a:t>vs</a:t>
            </a:r>
            <a:r>
              <a:rPr lang="en-US" dirty="0" smtClean="0"/>
              <a:t> Incrementa</a:t>
            </a:r>
            <a:r>
              <a:rPr lang="en-US" dirty="0"/>
              <a:t>l</a:t>
            </a:r>
          </a:p>
        </p:txBody>
      </p:sp>
      <p:sp>
        <p:nvSpPr>
          <p:cNvPr id="3" name="Content Placeholder 2"/>
          <p:cNvSpPr>
            <a:spLocks noGrp="1"/>
          </p:cNvSpPr>
          <p:nvPr>
            <p:ph type="body" sz="quarter" idx="13"/>
          </p:nvPr>
        </p:nvSpPr>
        <p:spPr/>
        <p:txBody>
          <a:bodyPr>
            <a:normAutofit/>
          </a:bodyPr>
          <a:lstStyle/>
          <a:p>
            <a:r>
              <a:rPr lang="en-US" b="1" dirty="0"/>
              <a:t>Incremental: An incremental approach breaks the software development process down into small, manageable portions known as increments.</a:t>
            </a:r>
            <a:r>
              <a:rPr lang="en-US" dirty="0"/>
              <a:t> </a:t>
            </a:r>
            <a:endParaRPr lang="en-US" dirty="0" smtClean="0"/>
          </a:p>
          <a:p>
            <a:r>
              <a:rPr lang="en-US" dirty="0" smtClean="0">
                <a:solidFill>
                  <a:srgbClr val="FF0000"/>
                </a:solidFill>
              </a:rPr>
              <a:t>Each </a:t>
            </a:r>
            <a:r>
              <a:rPr lang="en-US" dirty="0">
                <a:solidFill>
                  <a:srgbClr val="FF0000"/>
                </a:solidFill>
              </a:rPr>
              <a:t>increment builds on the previous version so that improvements are made step by step</a:t>
            </a:r>
            <a:r>
              <a:rPr lang="en-US" dirty="0"/>
              <a:t>. </a:t>
            </a:r>
          </a:p>
          <a:p>
            <a:r>
              <a:rPr lang="en-US" b="1" dirty="0"/>
              <a:t>Iterative: </a:t>
            </a:r>
            <a:r>
              <a:rPr lang="en-US" b="1" dirty="0" smtClean="0"/>
              <a:t>In it software </a:t>
            </a:r>
            <a:r>
              <a:rPr lang="en-US" b="1" dirty="0"/>
              <a:t>development activities are systematically repeated in cycles </a:t>
            </a:r>
            <a:r>
              <a:rPr lang="en-US" dirty="0"/>
              <a:t>known as iterations. </a:t>
            </a:r>
            <a:endParaRPr lang="en-US" dirty="0" smtClean="0"/>
          </a:p>
          <a:p>
            <a:r>
              <a:rPr lang="en-US" b="1" dirty="0" smtClean="0"/>
              <a:t>A </a:t>
            </a:r>
            <a:r>
              <a:rPr lang="en-US" b="1" dirty="0"/>
              <a:t>new version of the software is produced after each iteration </a:t>
            </a:r>
            <a:r>
              <a:rPr lang="en-US" dirty="0"/>
              <a:t>until the optimal product is achieved.</a:t>
            </a:r>
          </a:p>
          <a:p>
            <a:r>
              <a:rPr lang="en-US" dirty="0">
                <a:solidFill>
                  <a:srgbClr val="00B050"/>
                </a:solidFill>
              </a:rPr>
              <a:t>Iterative and incremental development models are complementary in nature, which is why they are often used together to boost their efficacy and achieve project deliverables.</a:t>
            </a: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41</a:t>
            </a:fld>
            <a:endParaRPr lang="en-US" dirty="0"/>
          </a:p>
        </p:txBody>
      </p:sp>
    </p:spTree>
    <p:extLst>
      <p:ext uri="{BB962C8B-B14F-4D97-AF65-F5344CB8AC3E}">
        <p14:creationId xmlns:p14="http://schemas.microsoft.com/office/powerpoint/2010/main" val="22393912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541516"/>
            <a:ext cx="8381999" cy="780195"/>
          </a:xfrm>
        </p:spPr>
        <p:txBody>
          <a:bodyPr>
            <a:normAutofit fontScale="90000"/>
          </a:bodyPr>
          <a:lstStyle/>
          <a:p>
            <a:r>
              <a:rPr lang="en-US" dirty="0" smtClean="0"/>
              <a:t>Incremental and Iterative working together for </a:t>
            </a:r>
            <a:r>
              <a:rPr lang="en-US" dirty="0"/>
              <a:t>a</a:t>
            </a:r>
            <a:r>
              <a:rPr lang="en-US" dirty="0" smtClean="0"/>
              <a:t>gile</a:t>
            </a:r>
            <a:endParaRPr lang="en-US" dirty="0"/>
          </a:p>
        </p:txBody>
      </p:sp>
      <p:sp>
        <p:nvSpPr>
          <p:cNvPr id="3" name="Content Placeholder 2"/>
          <p:cNvSpPr>
            <a:spLocks noGrp="1"/>
          </p:cNvSpPr>
          <p:nvPr>
            <p:ph type="body" sz="quarter" idx="13"/>
          </p:nvPr>
        </p:nvSpPr>
        <p:spPr/>
        <p:txBody>
          <a:bodyPr>
            <a:normAutofit/>
          </a:bodyPr>
          <a:lstStyle/>
          <a:p>
            <a:r>
              <a:rPr lang="en-US" dirty="0">
                <a:solidFill>
                  <a:srgbClr val="FF0000"/>
                </a:solidFill>
              </a:rPr>
              <a:t>Incremental development </a:t>
            </a:r>
            <a:r>
              <a:rPr lang="en-US" dirty="0"/>
              <a:t>ensures </a:t>
            </a:r>
            <a:r>
              <a:rPr lang="en-US" b="1" dirty="0"/>
              <a:t>that developers can make changes early on in the process</a:t>
            </a:r>
            <a:r>
              <a:rPr lang="en-US" dirty="0"/>
              <a:t> rather than waiting until the end when the allotted time has run out and the money has been spent.</a:t>
            </a:r>
          </a:p>
          <a:p>
            <a:r>
              <a:rPr lang="en-US" dirty="0">
                <a:solidFill>
                  <a:srgbClr val="FF0000"/>
                </a:solidFill>
              </a:rPr>
              <a:t>Iterative development </a:t>
            </a:r>
            <a:r>
              <a:rPr lang="en-US" b="1" dirty="0"/>
              <a:t>means improvements are made on an ongoing basis, so the end result is likely to be delivered on time and be of higher </a:t>
            </a:r>
            <a:r>
              <a:rPr lang="en-US" b="1" dirty="0" smtClean="0"/>
              <a:t>quality</a:t>
            </a:r>
            <a:r>
              <a:rPr lang="en-US" dirty="0" smtClean="0"/>
              <a:t>. </a:t>
            </a:r>
            <a:r>
              <a:rPr lang="en-US" dirty="0"/>
              <a:t>I</a:t>
            </a:r>
            <a:r>
              <a:rPr lang="en-US" dirty="0" smtClean="0"/>
              <a:t>terative </a:t>
            </a:r>
            <a:r>
              <a:rPr lang="en-US" dirty="0"/>
              <a:t>sprints can help teams to “</a:t>
            </a:r>
            <a:r>
              <a:rPr lang="en-US" dirty="0">
                <a:hlinkClick r:id="rId2"/>
              </a:rPr>
              <a:t>deliver a better product, in a faster manner</a:t>
            </a:r>
            <a:r>
              <a:rPr lang="en-US" dirty="0"/>
              <a:t>.”</a:t>
            </a: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42</a:t>
            </a:fld>
            <a:endParaRPr lang="en-US" dirty="0"/>
          </a:p>
        </p:txBody>
      </p:sp>
    </p:spTree>
    <p:extLst>
      <p:ext uri="{BB962C8B-B14F-4D97-AF65-F5344CB8AC3E}">
        <p14:creationId xmlns:p14="http://schemas.microsoft.com/office/powerpoint/2010/main" val="23501816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667605"/>
            <a:ext cx="8381999" cy="780195"/>
          </a:xfrm>
        </p:spPr>
        <p:txBody>
          <a:bodyPr>
            <a:normAutofit fontScale="90000"/>
          </a:bodyPr>
          <a:lstStyle/>
          <a:p>
            <a:r>
              <a:rPr lang="en-US" dirty="0"/>
              <a:t>An example of iterative and incremental development in Agile</a:t>
            </a:r>
          </a:p>
        </p:txBody>
      </p:sp>
      <p:sp>
        <p:nvSpPr>
          <p:cNvPr id="3" name="Content Placeholder 2"/>
          <p:cNvSpPr>
            <a:spLocks noGrp="1"/>
          </p:cNvSpPr>
          <p:nvPr>
            <p:ph type="body" sz="quarter" idx="13"/>
          </p:nvPr>
        </p:nvSpPr>
        <p:spPr/>
        <p:txBody>
          <a:bodyPr>
            <a:normAutofit/>
          </a:bodyPr>
          <a:lstStyle/>
          <a:p>
            <a:r>
              <a:rPr lang="en-US" dirty="0"/>
              <a:t>An example of iterative and incremental development in Agile could be </a:t>
            </a:r>
            <a:r>
              <a:rPr lang="en-US" b="1" dirty="0"/>
              <a:t>the creation of a new e-commerce website. </a:t>
            </a:r>
            <a:endParaRPr lang="en-US" b="1" dirty="0" smtClean="0"/>
          </a:p>
          <a:p>
            <a:r>
              <a:rPr lang="en-US" b="1" dirty="0" smtClean="0"/>
              <a:t>Incremental </a:t>
            </a:r>
            <a:r>
              <a:rPr lang="en-US" b="1" dirty="0"/>
              <a:t>phase </a:t>
            </a:r>
            <a:r>
              <a:rPr lang="en-US" b="1" dirty="0" smtClean="0">
                <a:sym typeface="Wingdings" pitchFamily="2" charset="2"/>
              </a:rPr>
              <a:t></a:t>
            </a:r>
            <a:r>
              <a:rPr lang="en-US" b="1" dirty="0" smtClean="0">
                <a:solidFill>
                  <a:srgbClr val="002060"/>
                </a:solidFill>
              </a:rPr>
              <a:t>The </a:t>
            </a:r>
            <a:r>
              <a:rPr lang="en-US" b="1" dirty="0">
                <a:solidFill>
                  <a:srgbClr val="002060"/>
                </a:solidFill>
              </a:rPr>
              <a:t>project would be broken down into smaller increments, such as building a wireframe, uploading products, and creating advertising copy. </a:t>
            </a:r>
            <a:endParaRPr lang="en-US" b="1" dirty="0" smtClean="0">
              <a:solidFill>
                <a:srgbClr val="002060"/>
              </a:solidFill>
            </a:endParaRPr>
          </a:p>
          <a:p>
            <a:r>
              <a:rPr lang="en-US" b="1" dirty="0" smtClean="0"/>
              <a:t>Iterative phase </a:t>
            </a:r>
            <a:r>
              <a:rPr lang="en-US" b="1" dirty="0" smtClean="0">
                <a:sym typeface="Wingdings" pitchFamily="2" charset="2"/>
              </a:rPr>
              <a:t></a:t>
            </a:r>
            <a:r>
              <a:rPr lang="en-US" dirty="0" smtClean="0"/>
              <a:t>As </a:t>
            </a:r>
            <a:r>
              <a:rPr lang="en-US" dirty="0"/>
              <a:t>these </a:t>
            </a:r>
            <a:r>
              <a:rPr lang="en-US" dirty="0" smtClean="0"/>
              <a:t>incremental steps </a:t>
            </a:r>
            <a:r>
              <a:rPr lang="en-US" dirty="0"/>
              <a:t>are unfolding, </a:t>
            </a:r>
            <a:r>
              <a:rPr lang="en-US" b="1" dirty="0">
                <a:solidFill>
                  <a:srgbClr val="00B050"/>
                </a:solidFill>
              </a:rPr>
              <a:t>the software development team would repeat the cycles of prototyping and testing to make improvements to the website with each iteration</a:t>
            </a:r>
            <a:r>
              <a:rPr lang="en-US" dirty="0"/>
              <a:t>.</a:t>
            </a:r>
          </a:p>
        </p:txBody>
      </p:sp>
      <p:sp>
        <p:nvSpPr>
          <p:cNvPr id="4" name="Slide Number Placeholder 3"/>
          <p:cNvSpPr>
            <a:spLocks noGrp="1"/>
          </p:cNvSpPr>
          <p:nvPr>
            <p:ph type="sldNum" sz="quarter" idx="12"/>
          </p:nvPr>
        </p:nvSpPr>
        <p:spPr/>
        <p:txBody>
          <a:bodyPr/>
          <a:lstStyle/>
          <a:p>
            <a:fld id="{E5CE4F79-B2B3-4E4E-AB5D-F771515B9CEF}" type="slidenum">
              <a:rPr lang="en-US" smtClean="0"/>
              <a:t>43</a:t>
            </a:fld>
            <a:endParaRPr lang="en-US" dirty="0"/>
          </a:p>
        </p:txBody>
      </p:sp>
    </p:spTree>
    <p:extLst>
      <p:ext uri="{BB962C8B-B14F-4D97-AF65-F5344CB8AC3E}">
        <p14:creationId xmlns:p14="http://schemas.microsoft.com/office/powerpoint/2010/main" val="25272145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Rapid Application Development (RAD)</a:t>
            </a:r>
          </a:p>
        </p:txBody>
      </p:sp>
      <p:sp>
        <p:nvSpPr>
          <p:cNvPr id="3" name="Content Placeholder 2"/>
          <p:cNvSpPr>
            <a:spLocks noGrp="1"/>
          </p:cNvSpPr>
          <p:nvPr>
            <p:ph type="body" sz="quarter" idx="13"/>
          </p:nvPr>
        </p:nvSpPr>
        <p:spPr/>
        <p:txBody>
          <a:bodyPr>
            <a:normAutofit/>
          </a:bodyPr>
          <a:lstStyle/>
          <a:p>
            <a:r>
              <a:rPr lang="en-US" sz="2400" dirty="0" smtClean="0"/>
              <a:t>Includes </a:t>
            </a:r>
            <a:r>
              <a:rPr lang="en-US" sz="2400" b="1" dirty="0" smtClean="0"/>
              <a:t>features </a:t>
            </a:r>
            <a:r>
              <a:rPr lang="en-US" sz="2400" b="1" dirty="0"/>
              <a:t>of both the prototyping and the incremental delivery models</a:t>
            </a:r>
            <a:r>
              <a:rPr lang="en-US" sz="2400" dirty="0" smtClean="0"/>
              <a:t>.</a:t>
            </a:r>
          </a:p>
          <a:p>
            <a:r>
              <a:rPr lang="en-US" sz="2400" b="1" dirty="0"/>
              <a:t>major aims of the RAD model are as follows:</a:t>
            </a:r>
          </a:p>
          <a:p>
            <a:r>
              <a:rPr lang="en-US" sz="2400" dirty="0" smtClean="0"/>
              <a:t> </a:t>
            </a:r>
            <a:r>
              <a:rPr lang="en-US" sz="2400" dirty="0"/>
              <a:t>to decrease the time taken and the cost incurred to develop software systems; </a:t>
            </a:r>
            <a:endParaRPr lang="en-US" sz="2400" dirty="0" smtClean="0"/>
          </a:p>
          <a:p>
            <a:r>
              <a:rPr lang="en-US" sz="2400" dirty="0" smtClean="0"/>
              <a:t>And to </a:t>
            </a:r>
            <a:r>
              <a:rPr lang="en-US" sz="2400" dirty="0"/>
              <a:t>limit the costs of accommodating change requests by incorporating them as early as possible </a:t>
            </a:r>
            <a:r>
              <a:rPr lang="en-US" sz="2400" dirty="0" smtClean="0"/>
              <a:t>before large </a:t>
            </a:r>
            <a:r>
              <a:rPr lang="en-US" sz="2400" dirty="0"/>
              <a:t>investments have been made on development and testing</a:t>
            </a:r>
            <a:r>
              <a:rPr lang="en-US" sz="2400" dirty="0" smtClean="0"/>
              <a:t>.</a:t>
            </a:r>
          </a:p>
          <a:p>
            <a:r>
              <a:rPr lang="en-US" sz="2400" dirty="0" smtClean="0"/>
              <a:t>Great for </a:t>
            </a:r>
            <a:r>
              <a:rPr lang="en-US" sz="2400" dirty="0"/>
              <a:t>systems that need to be produced in a short time and have known requirements.</a:t>
            </a:r>
          </a:p>
        </p:txBody>
      </p:sp>
      <p:sp>
        <p:nvSpPr>
          <p:cNvPr id="4" name="Slide Number Placeholder 3"/>
          <p:cNvSpPr>
            <a:spLocks noGrp="1"/>
          </p:cNvSpPr>
          <p:nvPr>
            <p:ph type="sldNum" sz="quarter" idx="12"/>
          </p:nvPr>
        </p:nvSpPr>
        <p:spPr/>
        <p:txBody>
          <a:bodyPr/>
          <a:lstStyle/>
          <a:p>
            <a:fld id="{E5CE4F79-B2B3-4E4E-AB5D-F771515B9CEF}" type="slidenum">
              <a:rPr lang="en-US" smtClean="0"/>
              <a:t>44</a:t>
            </a:fld>
            <a:endParaRPr lang="en-US" dirty="0"/>
          </a:p>
        </p:txBody>
      </p:sp>
    </p:spTree>
    <p:extLst>
      <p:ext uri="{BB962C8B-B14F-4D97-AF65-F5344CB8AC3E}">
        <p14:creationId xmlns:p14="http://schemas.microsoft.com/office/powerpoint/2010/main" val="29536349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Rapid Application Development (RAD)</a:t>
            </a:r>
          </a:p>
        </p:txBody>
      </p:sp>
      <p:sp>
        <p:nvSpPr>
          <p:cNvPr id="4" name="Slide Number Placeholder 3"/>
          <p:cNvSpPr>
            <a:spLocks noGrp="1"/>
          </p:cNvSpPr>
          <p:nvPr>
            <p:ph type="sldNum" sz="quarter" idx="12"/>
          </p:nvPr>
        </p:nvSpPr>
        <p:spPr/>
        <p:txBody>
          <a:bodyPr/>
          <a:lstStyle/>
          <a:p>
            <a:fld id="{E5CE4F79-B2B3-4E4E-AB5D-F771515B9CEF}" type="slidenum">
              <a:rPr lang="en-US" smtClean="0"/>
              <a:t>45</a:t>
            </a:fld>
            <a:endParaRPr lang="en-US" dirty="0"/>
          </a:p>
        </p:txBody>
      </p:sp>
      <p:sp>
        <p:nvSpPr>
          <p:cNvPr id="5" name="Text Placeholder 4"/>
          <p:cNvSpPr>
            <a:spLocks noGrp="1"/>
          </p:cNvSpPr>
          <p:nvPr>
            <p:ph type="body" sz="quarter" idx="13"/>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087" y="1418112"/>
            <a:ext cx="8371113" cy="475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10772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Methods—Motivation</a:t>
            </a:r>
            <a:endParaRPr lang="en-US" dirty="0"/>
          </a:p>
        </p:txBody>
      </p:sp>
      <p:sp>
        <p:nvSpPr>
          <p:cNvPr id="3" name="Content Placeholder 2"/>
          <p:cNvSpPr>
            <a:spLocks noGrp="1"/>
          </p:cNvSpPr>
          <p:nvPr>
            <p:ph type="body" sz="quarter" idx="13"/>
          </p:nvPr>
        </p:nvSpPr>
        <p:spPr/>
        <p:txBody>
          <a:bodyPr>
            <a:normAutofit fontScale="92500" lnSpcReduction="10000"/>
          </a:bodyPr>
          <a:lstStyle/>
          <a:p>
            <a:r>
              <a:rPr lang="en-US" sz="2400" b="1" dirty="0"/>
              <a:t>Dissatisfaction with the overheads involved in software design </a:t>
            </a:r>
            <a:r>
              <a:rPr lang="en-US" sz="2400" dirty="0"/>
              <a:t>methods of the 1980s and 1990s </a:t>
            </a:r>
            <a:r>
              <a:rPr lang="en-US" sz="2400" b="1" dirty="0"/>
              <a:t>led to the creation of agile methods. </a:t>
            </a:r>
            <a:r>
              <a:rPr lang="en-US" sz="2400" dirty="0"/>
              <a:t>These methods:</a:t>
            </a:r>
          </a:p>
          <a:p>
            <a:pPr lvl="1"/>
            <a:r>
              <a:rPr lang="en-US" sz="2200" dirty="0"/>
              <a:t>Focus on the code rather than the design</a:t>
            </a:r>
          </a:p>
          <a:p>
            <a:pPr lvl="1"/>
            <a:r>
              <a:rPr lang="en-US" sz="2200" dirty="0"/>
              <a:t>Are based on an iterative approach to software development</a:t>
            </a:r>
          </a:p>
          <a:p>
            <a:pPr lvl="1"/>
            <a:r>
              <a:rPr lang="en-US" sz="2200" dirty="0"/>
              <a:t>Are intended to deliver working software quickly and evolve this quickly to meet changing requirements.</a:t>
            </a:r>
          </a:p>
          <a:p>
            <a:r>
              <a:rPr lang="en-US" sz="2200" b="1" dirty="0"/>
              <a:t>The aim of agile methods is </a:t>
            </a:r>
            <a:r>
              <a:rPr lang="en-US" sz="2200" b="1" u="sng" dirty="0" smtClean="0"/>
              <a:t>to</a:t>
            </a:r>
          </a:p>
          <a:p>
            <a:pPr lvl="1"/>
            <a:r>
              <a:rPr lang="en-US" b="1" u="sng" dirty="0" smtClean="0"/>
              <a:t>1.  </a:t>
            </a:r>
            <a:r>
              <a:rPr lang="en-US" b="1" u="sng" dirty="0"/>
              <a:t>reduce overheads in the software process</a:t>
            </a:r>
            <a:r>
              <a:rPr lang="en-US" b="1" dirty="0"/>
              <a:t> (e.g. by limiting documentation) </a:t>
            </a:r>
            <a:endParaRPr lang="en-US" b="1" dirty="0" smtClean="0"/>
          </a:p>
          <a:p>
            <a:pPr lvl="1"/>
            <a:r>
              <a:rPr lang="en-US" b="1" dirty="0" smtClean="0"/>
              <a:t>2. and </a:t>
            </a:r>
            <a:r>
              <a:rPr lang="en-US" b="1" u="sng" dirty="0"/>
              <a:t>to be able to respond quickly to changing requirements without excessive rework</a:t>
            </a:r>
            <a:r>
              <a:rPr lang="en-US" b="1" dirty="0" smtClean="0"/>
              <a:t>.</a:t>
            </a:r>
          </a:p>
          <a:p>
            <a:r>
              <a:rPr lang="en-US" sz="2200" u="sng" dirty="0"/>
              <a:t>overhead is any combination of excess or indirect computation time, memory, bandwidth, or other resources that are required to perform a specific </a:t>
            </a:r>
            <a:r>
              <a:rPr lang="en-US" sz="2200" u="sng" dirty="0">
                <a:hlinkClick r:id="rId2" tooltip="Task (computing)"/>
              </a:rPr>
              <a:t>task</a:t>
            </a:r>
            <a:r>
              <a:rPr lang="en-US" sz="2200" u="sng" dirty="0"/>
              <a:t>. Overhead can be a deciding factor in software design, with regard to structure, error correction, and feature inclusion</a:t>
            </a:r>
            <a:endParaRPr lang="en-US" sz="2200" u="sng" dirty="0" smtClean="0"/>
          </a:p>
          <a:p>
            <a:endParaRPr lang="en-US" sz="3600" b="1" dirty="0"/>
          </a:p>
        </p:txBody>
      </p:sp>
      <p:sp>
        <p:nvSpPr>
          <p:cNvPr id="4" name="Slide Number Placeholder 3"/>
          <p:cNvSpPr>
            <a:spLocks noGrp="1"/>
          </p:cNvSpPr>
          <p:nvPr>
            <p:ph type="sldNum" sz="quarter" idx="12"/>
          </p:nvPr>
        </p:nvSpPr>
        <p:spPr/>
        <p:txBody>
          <a:bodyPr/>
          <a:lstStyle/>
          <a:p>
            <a:fld id="{E5CE4F79-B2B3-4E4E-AB5D-F771515B9CEF}" type="slidenum">
              <a:rPr lang="en-US" smtClean="0"/>
              <a:t>46</a:t>
            </a:fld>
            <a:endParaRPr lang="en-US" dirty="0"/>
          </a:p>
        </p:txBody>
      </p:sp>
    </p:spTree>
    <p:extLst>
      <p:ext uri="{BB962C8B-B14F-4D97-AF65-F5344CB8AC3E}">
        <p14:creationId xmlns:p14="http://schemas.microsoft.com/office/powerpoint/2010/main" val="20937695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45929"/>
            <a:ext cx="8686800" cy="5750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E5CE4F79-B2B3-4E4E-AB5D-F771515B9CEF}" type="slidenum">
              <a:rPr lang="en-US" smtClean="0"/>
              <a:t>47</a:t>
            </a:fld>
            <a:endParaRPr lang="en-US" dirty="0"/>
          </a:p>
        </p:txBody>
      </p:sp>
    </p:spTree>
    <p:extLst>
      <p:ext uri="{BB962C8B-B14F-4D97-AF65-F5344CB8AC3E}">
        <p14:creationId xmlns:p14="http://schemas.microsoft.com/office/powerpoint/2010/main" val="21983785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Agile </a:t>
            </a:r>
            <a:r>
              <a:rPr lang="en-US" dirty="0"/>
              <a:t>manifesto </a:t>
            </a:r>
          </a:p>
        </p:txBody>
      </p:sp>
      <p:sp>
        <p:nvSpPr>
          <p:cNvPr id="3" name="Content Placeholder 2"/>
          <p:cNvSpPr>
            <a:spLocks noGrp="1"/>
          </p:cNvSpPr>
          <p:nvPr>
            <p:ph type="body" sz="quarter" idx="13"/>
          </p:nvPr>
        </p:nvSpPr>
        <p:spPr/>
        <p:txBody>
          <a:bodyPr>
            <a:normAutofit/>
          </a:bodyPr>
          <a:lstStyle/>
          <a:p>
            <a:r>
              <a:rPr lang="en-US" sz="2400" i="1" dirty="0"/>
              <a:t>We are uncovering better ways of </a:t>
            </a:r>
            <a:r>
              <a:rPr lang="en-US" sz="2400" i="1" dirty="0" smtClean="0"/>
              <a:t>developing software </a:t>
            </a:r>
            <a:r>
              <a:rPr lang="en-US" sz="2400" i="1" dirty="0"/>
              <a:t>by doing it and helping others do it. </a:t>
            </a:r>
            <a:r>
              <a:rPr lang="en-US" sz="2400" i="1" dirty="0" smtClean="0"/>
              <a:t>Through </a:t>
            </a:r>
            <a:r>
              <a:rPr lang="en-US" sz="2400" i="1" dirty="0"/>
              <a:t>this work we have come to value:</a:t>
            </a:r>
            <a:endParaRPr lang="en-GB" sz="2400" dirty="0"/>
          </a:p>
          <a:p>
            <a:pPr lvl="1"/>
            <a:r>
              <a:rPr lang="en-US" sz="2000" i="1" dirty="0">
                <a:solidFill>
                  <a:srgbClr val="00B050"/>
                </a:solidFill>
              </a:rPr>
              <a:t>Individuals and interactions </a:t>
            </a:r>
            <a:r>
              <a:rPr lang="en-US" sz="2000" i="1" dirty="0"/>
              <a:t>over </a:t>
            </a:r>
            <a:r>
              <a:rPr lang="en-US" sz="2000" i="1" dirty="0">
                <a:solidFill>
                  <a:srgbClr val="FF0000"/>
                </a:solidFill>
              </a:rPr>
              <a:t>processes and tools</a:t>
            </a:r>
            <a:r>
              <a:rPr lang="en-US" sz="2000" i="1" dirty="0"/>
              <a:t/>
            </a:r>
            <a:br>
              <a:rPr lang="en-US" sz="2000" i="1" dirty="0"/>
            </a:br>
            <a:r>
              <a:rPr lang="en-US" sz="2000" i="1" dirty="0">
                <a:solidFill>
                  <a:srgbClr val="00B050"/>
                </a:solidFill>
              </a:rPr>
              <a:t>Working software </a:t>
            </a:r>
            <a:r>
              <a:rPr lang="en-US" sz="2000" i="1" dirty="0"/>
              <a:t>over </a:t>
            </a:r>
            <a:r>
              <a:rPr lang="en-US" sz="2000" i="1" dirty="0">
                <a:solidFill>
                  <a:srgbClr val="FF0000"/>
                </a:solidFill>
              </a:rPr>
              <a:t>comprehensive documentation</a:t>
            </a:r>
            <a:r>
              <a:rPr lang="en-US" sz="2000" i="1" dirty="0"/>
              <a:t> </a:t>
            </a:r>
            <a:br>
              <a:rPr lang="en-US" sz="2000" i="1" dirty="0"/>
            </a:br>
            <a:r>
              <a:rPr lang="en-US" sz="2000" i="1" dirty="0">
                <a:solidFill>
                  <a:srgbClr val="00B050"/>
                </a:solidFill>
              </a:rPr>
              <a:t>Customer collaboration </a:t>
            </a:r>
            <a:r>
              <a:rPr lang="en-US" sz="2000" i="1" dirty="0"/>
              <a:t>over </a:t>
            </a:r>
            <a:r>
              <a:rPr lang="en-US" sz="2000" i="1" dirty="0">
                <a:solidFill>
                  <a:srgbClr val="FF0000"/>
                </a:solidFill>
              </a:rPr>
              <a:t>contract negotiation </a:t>
            </a:r>
            <a:r>
              <a:rPr lang="en-US" sz="2000" i="1" dirty="0"/>
              <a:t/>
            </a:r>
            <a:br>
              <a:rPr lang="en-US" sz="2000" i="1" dirty="0"/>
            </a:br>
            <a:r>
              <a:rPr lang="en-US" sz="2000" i="1" dirty="0">
                <a:solidFill>
                  <a:srgbClr val="00B050"/>
                </a:solidFill>
              </a:rPr>
              <a:t>Responding to change </a:t>
            </a:r>
            <a:r>
              <a:rPr lang="en-US" sz="2000" i="1" dirty="0"/>
              <a:t>over </a:t>
            </a:r>
            <a:r>
              <a:rPr lang="en-US" sz="2000" i="1" dirty="0">
                <a:solidFill>
                  <a:srgbClr val="FF0000"/>
                </a:solidFill>
              </a:rPr>
              <a:t>following a plan </a:t>
            </a:r>
            <a:endParaRPr lang="en-GB" sz="2000" dirty="0">
              <a:solidFill>
                <a:srgbClr val="FF0000"/>
              </a:solidFill>
            </a:endParaRPr>
          </a:p>
          <a:p>
            <a:r>
              <a:rPr lang="en-US" sz="2400" i="1" dirty="0"/>
              <a:t>That is, </a:t>
            </a:r>
            <a:r>
              <a:rPr lang="en-US" sz="2400" i="1" dirty="0">
                <a:solidFill>
                  <a:srgbClr val="FF0000"/>
                </a:solidFill>
              </a:rPr>
              <a:t>while there is value in the items on </a:t>
            </a:r>
            <a:r>
              <a:rPr lang="en-US" sz="2400" i="1" dirty="0" smtClean="0">
                <a:solidFill>
                  <a:srgbClr val="FF0000"/>
                </a:solidFill>
              </a:rPr>
              <a:t>the </a:t>
            </a:r>
            <a:r>
              <a:rPr lang="en-US" sz="2400" i="1" dirty="0">
                <a:solidFill>
                  <a:srgbClr val="FF0000"/>
                </a:solidFill>
              </a:rPr>
              <a:t>right</a:t>
            </a:r>
            <a:r>
              <a:rPr lang="en-US" sz="2400" i="1" dirty="0"/>
              <a:t>, </a:t>
            </a:r>
            <a:r>
              <a:rPr lang="en-US" sz="2400" b="1" i="1" dirty="0">
                <a:solidFill>
                  <a:srgbClr val="00B050"/>
                </a:solidFill>
              </a:rPr>
              <a:t>we value the items on the left more</a:t>
            </a:r>
            <a:r>
              <a:rPr lang="en-US" sz="2400" i="1" dirty="0"/>
              <a:t>.</a:t>
            </a:r>
            <a:r>
              <a:rPr lang="en-GB" sz="2400" dirty="0"/>
              <a:t> </a:t>
            </a:r>
            <a:endParaRPr lang="en-US" sz="2400" dirty="0"/>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48</a:t>
            </a:fld>
            <a:endParaRPr lang="en-US" dirty="0"/>
          </a:p>
        </p:txBody>
      </p:sp>
    </p:spTree>
    <p:extLst>
      <p:ext uri="{BB962C8B-B14F-4D97-AF65-F5344CB8AC3E}">
        <p14:creationId xmlns:p14="http://schemas.microsoft.com/office/powerpoint/2010/main" val="42073532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Principle Of Agile Methods</a:t>
            </a:r>
            <a:endParaRPr lang="en-US" dirty="0"/>
          </a:p>
        </p:txBody>
      </p:sp>
      <p:sp>
        <p:nvSpPr>
          <p:cNvPr id="3" name="Text Placeholder 2"/>
          <p:cNvSpPr>
            <a:spLocks noGrp="1"/>
          </p:cNvSpPr>
          <p:nvPr>
            <p:ph type="body" sz="quarter" idx="13"/>
          </p:nvPr>
        </p:nvSpPr>
        <p:spPr/>
        <p:txBody>
          <a:bodyPr/>
          <a:lstStyle/>
          <a:p>
            <a:endParaRPr 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447800"/>
            <a:ext cx="8210550" cy="466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E5CE4F79-B2B3-4E4E-AB5D-F771515B9CEF}" type="slidenum">
              <a:rPr lang="en-US" smtClean="0"/>
              <a:t>49</a:t>
            </a:fld>
            <a:endParaRPr lang="en-US" dirty="0"/>
          </a:p>
        </p:txBody>
      </p:sp>
    </p:spTree>
    <p:extLst>
      <p:ext uri="{BB962C8B-B14F-4D97-AF65-F5344CB8AC3E}">
        <p14:creationId xmlns:p14="http://schemas.microsoft.com/office/powerpoint/2010/main" val="12433334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Agile Way </a:t>
            </a:r>
            <a:endParaRPr lang="en-US" dirty="0"/>
          </a:p>
        </p:txBody>
      </p:sp>
      <p:sp>
        <p:nvSpPr>
          <p:cNvPr id="3" name="Content Placeholder 2"/>
          <p:cNvSpPr>
            <a:spLocks noGrp="1"/>
          </p:cNvSpPr>
          <p:nvPr>
            <p:ph type="body" sz="quarter" idx="13"/>
          </p:nvPr>
        </p:nvSpPr>
        <p:spPr/>
        <p:txBody>
          <a:bodyPr>
            <a:normAutofit/>
          </a:bodyPr>
          <a:lstStyle/>
          <a:p>
            <a:r>
              <a:rPr lang="en-US" dirty="0"/>
              <a:t>The agile process model encourages </a:t>
            </a:r>
            <a:r>
              <a:rPr lang="en-US" b="1" dirty="0"/>
              <a:t>continuous iterations of development</a:t>
            </a:r>
            <a:r>
              <a:rPr lang="en-US" dirty="0"/>
              <a:t> and testing. </a:t>
            </a:r>
          </a:p>
          <a:p>
            <a:r>
              <a:rPr lang="en-US" dirty="0"/>
              <a:t>Each incremental part is developed over an iteration, and </a:t>
            </a:r>
            <a:r>
              <a:rPr lang="en-US" b="1" u="sng" dirty="0" smtClean="0"/>
              <a:t>each iteration is designed to be small and manageable so it can be completed within a few weeks</a:t>
            </a:r>
            <a:r>
              <a:rPr lang="en-US" dirty="0" smtClean="0"/>
              <a:t>.</a:t>
            </a:r>
            <a:endParaRPr lang="en-US" dirty="0"/>
          </a:p>
          <a:p>
            <a:r>
              <a:rPr lang="en-US" b="1" dirty="0"/>
              <a:t>Each iteration focuses on implementing a small set of features completely. </a:t>
            </a:r>
          </a:p>
          <a:p>
            <a:r>
              <a:rPr lang="en-US" dirty="0" smtClean="0">
                <a:solidFill>
                  <a:srgbClr val="FF0000"/>
                </a:solidFill>
              </a:rPr>
              <a:t>involves </a:t>
            </a:r>
            <a:r>
              <a:rPr lang="en-US" dirty="0">
                <a:solidFill>
                  <a:srgbClr val="FF0000"/>
                </a:solidFill>
              </a:rPr>
              <a:t>customers in the development process and minimizes documentation by using informal communication</a:t>
            </a:r>
            <a:r>
              <a:rPr lang="en-US" dirty="0"/>
              <a:t>.</a:t>
            </a: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50</a:t>
            </a:fld>
            <a:endParaRPr lang="en-US" dirty="0"/>
          </a:p>
        </p:txBody>
      </p:sp>
    </p:spTree>
    <p:extLst>
      <p:ext uri="{BB962C8B-B14F-4D97-AF65-F5344CB8AC3E}">
        <p14:creationId xmlns:p14="http://schemas.microsoft.com/office/powerpoint/2010/main" val="5810272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In summary</a:t>
            </a:r>
            <a:endParaRPr lang="en-US" dirty="0"/>
          </a:p>
        </p:txBody>
      </p:sp>
      <p:sp>
        <p:nvSpPr>
          <p:cNvPr id="3" name="Content Placeholder 2"/>
          <p:cNvSpPr>
            <a:spLocks noGrp="1"/>
          </p:cNvSpPr>
          <p:nvPr>
            <p:ph type="body" sz="quarter" idx="13"/>
          </p:nvPr>
        </p:nvSpPr>
        <p:spPr/>
        <p:txBody>
          <a:bodyPr>
            <a:normAutofit/>
          </a:bodyPr>
          <a:lstStyle/>
          <a:p>
            <a:r>
              <a:rPr lang="en-US" dirty="0" smtClean="0"/>
              <a:t>In agile project </a:t>
            </a:r>
            <a:r>
              <a:rPr lang="en-US" dirty="0"/>
              <a:t>planning and work management are adaptive, evolutionary in development, seeking early delivery and are always open to change if that leads to process improvement. </a:t>
            </a:r>
            <a:endParaRPr lang="en-US" dirty="0" smtClean="0"/>
          </a:p>
          <a:p>
            <a:r>
              <a:rPr lang="en-US" dirty="0" smtClean="0"/>
              <a:t>It’s </a:t>
            </a:r>
            <a:r>
              <a:rPr lang="en-US" dirty="0"/>
              <a:t>fast and flexible</a:t>
            </a:r>
            <a:r>
              <a:rPr lang="en-US" dirty="0" smtClean="0"/>
              <a:t>,</a:t>
            </a:r>
          </a:p>
          <a:p>
            <a:r>
              <a:rPr lang="en-US" dirty="0"/>
              <a:t>It suggests </a:t>
            </a:r>
            <a:r>
              <a:rPr lang="en-US" b="1" dirty="0"/>
              <a:t>simultaneous activities </a:t>
            </a:r>
            <a:r>
              <a:rPr lang="en-US" dirty="0"/>
              <a:t>(</a:t>
            </a:r>
            <a:r>
              <a:rPr lang="en-US" dirty="0" smtClean="0"/>
              <a:t>that </a:t>
            </a:r>
            <a:r>
              <a:rPr lang="en-US" dirty="0"/>
              <a:t>don’t have any </a:t>
            </a:r>
            <a:r>
              <a:rPr lang="en-US" dirty="0" smtClean="0"/>
              <a:t>dependencies) </a:t>
            </a:r>
            <a:r>
              <a:rPr lang="en-US" b="1" dirty="0"/>
              <a:t>can be done in parallel providing two significant benefits </a:t>
            </a:r>
            <a:r>
              <a:rPr lang="en-US" dirty="0"/>
              <a:t>over the traditional approaches: </a:t>
            </a:r>
          </a:p>
          <a:p>
            <a:r>
              <a:rPr lang="en-US" dirty="0"/>
              <a:t>You can quickly detect and fix unexpected issues</a:t>
            </a:r>
          </a:p>
          <a:p>
            <a:r>
              <a:rPr lang="en-US" dirty="0"/>
              <a:t>You can introduce changes at any stage of the project. Other work processes will change dynamically</a:t>
            </a:r>
          </a:p>
          <a:p>
            <a:r>
              <a:rPr lang="en-US" b="1" dirty="0"/>
              <a:t>Best for: projects that require a responsive and fast-paced approach and involve teams that boast strong communication and collaboration skills. </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51</a:t>
            </a:fld>
            <a:endParaRPr lang="en-US" dirty="0"/>
          </a:p>
        </p:txBody>
      </p:sp>
    </p:spTree>
    <p:extLst>
      <p:ext uri="{BB962C8B-B14F-4D97-AF65-F5344CB8AC3E}">
        <p14:creationId xmlns:p14="http://schemas.microsoft.com/office/powerpoint/2010/main" val="42206977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Agile Types</a:t>
            </a:r>
            <a:endParaRPr lang="en-US" dirty="0"/>
          </a:p>
        </p:txBody>
      </p:sp>
      <p:sp>
        <p:nvSpPr>
          <p:cNvPr id="3" name="Content Placeholder 2"/>
          <p:cNvSpPr>
            <a:spLocks noGrp="1"/>
          </p:cNvSpPr>
          <p:nvPr>
            <p:ph type="body" sz="quarter" idx="13"/>
          </p:nvPr>
        </p:nvSpPr>
        <p:spPr/>
        <p:txBody>
          <a:bodyPr>
            <a:noAutofit/>
          </a:bodyPr>
          <a:lstStyle/>
          <a:p>
            <a:r>
              <a:rPr lang="en-US" sz="1800" b="1" dirty="0" smtClean="0"/>
              <a:t>Some </a:t>
            </a:r>
            <a:r>
              <a:rPr lang="en-US" sz="1800" b="1" dirty="0"/>
              <a:t>commonly used agile methodologies include</a:t>
            </a:r>
            <a:r>
              <a:rPr lang="en-US" sz="1800" dirty="0"/>
              <a:t>:</a:t>
            </a:r>
          </a:p>
          <a:p>
            <a:r>
              <a:rPr lang="en-US" sz="1800" b="1" dirty="0"/>
              <a:t>Scrum:</a:t>
            </a:r>
            <a:r>
              <a:rPr lang="en-US" sz="1800" dirty="0"/>
              <a:t> One of the most popular agile models, Scrum consists of iterations called sprints. Each sprint is between 2 to 4 weeks long and is preceded by planning. You cannot make changes after the sprint activities have been defined.</a:t>
            </a:r>
          </a:p>
          <a:p>
            <a:r>
              <a:rPr lang="en-US" sz="1800" b="1" dirty="0"/>
              <a:t>Extreme Programming (XP):</a:t>
            </a:r>
            <a:r>
              <a:rPr lang="en-US" sz="1800" dirty="0"/>
              <a:t> </a:t>
            </a:r>
            <a:r>
              <a:rPr lang="en-US" sz="1800" dirty="0" smtClean="0"/>
              <a:t>a type of </a:t>
            </a:r>
            <a:r>
              <a:rPr lang="en-US" sz="1800" dirty="0"/>
              <a:t>agile software development with short development cycles and multiple releases to improve productivity. Customer requirements are sought and can adapt the course of the project</a:t>
            </a:r>
            <a:r>
              <a:rPr lang="en-US" sz="1800" dirty="0" smtClean="0"/>
              <a:t>.</a:t>
            </a:r>
          </a:p>
          <a:p>
            <a:r>
              <a:rPr lang="en-US" sz="1800" dirty="0"/>
              <a:t>When requirements change frequently, then you’ll want to use a methodology such as XP. </a:t>
            </a:r>
            <a:r>
              <a:rPr lang="en-US" sz="1800" b="1" dirty="0"/>
              <a:t>It’s good for when your customer doesn’t have a clear idea of what they want</a:t>
            </a:r>
          </a:p>
          <a:p>
            <a:r>
              <a:rPr lang="en-US" sz="1800" b="1" dirty="0" err="1"/>
              <a:t>Kanban</a:t>
            </a:r>
            <a:r>
              <a:rPr lang="en-US" sz="1800" b="1" dirty="0"/>
              <a:t>:</a:t>
            </a:r>
            <a:r>
              <a:rPr lang="en-US" sz="1800" dirty="0"/>
              <a:t> </a:t>
            </a:r>
            <a:r>
              <a:rPr lang="en-US" sz="1800" dirty="0" err="1"/>
              <a:t>Kanban</a:t>
            </a:r>
            <a:r>
              <a:rPr lang="en-US" sz="1800" dirty="0"/>
              <a:t> focuses on visualizations, and if any iterations are used they are kept very short. You use the </a:t>
            </a:r>
            <a:r>
              <a:rPr lang="en-US" sz="1800" dirty="0" err="1"/>
              <a:t>Kanban</a:t>
            </a:r>
            <a:r>
              <a:rPr lang="en-US" sz="1800" dirty="0"/>
              <a:t> Board that has a clear representation of all project activities and their numbers, responsible people, and progress</a:t>
            </a:r>
            <a:r>
              <a:rPr lang="en-US" sz="1800" dirty="0" smtClean="0"/>
              <a:t>.</a:t>
            </a:r>
          </a:p>
          <a:p>
            <a:r>
              <a:rPr lang="en-US" sz="1800" dirty="0">
                <a:solidFill>
                  <a:srgbClr val="FF0000"/>
                </a:solidFill>
              </a:rPr>
              <a:t>Though agile provides a very realistic approach to software development, it isn’t great for complex projects. It can also present challenges during transfers as there is very little documentation. </a:t>
            </a:r>
            <a:r>
              <a:rPr lang="en-US" sz="1800" dirty="0"/>
              <a:t>Agile is great for projects with </a:t>
            </a:r>
            <a:r>
              <a:rPr lang="en-US" sz="1800" b="1" dirty="0"/>
              <a:t>changing requirements</a:t>
            </a:r>
            <a:r>
              <a:rPr lang="en-US" sz="1800" dirty="0" smtClean="0"/>
              <a:t>.</a:t>
            </a:r>
          </a:p>
          <a:p>
            <a:endParaRPr lang="en-US" sz="1800" dirty="0"/>
          </a:p>
          <a:p>
            <a:endParaRPr lang="en-US" sz="1800" dirty="0"/>
          </a:p>
        </p:txBody>
      </p:sp>
      <p:sp>
        <p:nvSpPr>
          <p:cNvPr id="4" name="Slide Number Placeholder 3"/>
          <p:cNvSpPr>
            <a:spLocks noGrp="1"/>
          </p:cNvSpPr>
          <p:nvPr>
            <p:ph type="sldNum" sz="quarter" idx="12"/>
          </p:nvPr>
        </p:nvSpPr>
        <p:spPr/>
        <p:txBody>
          <a:bodyPr/>
          <a:lstStyle/>
          <a:p>
            <a:fld id="{E5CE4F79-B2B3-4E4E-AB5D-F771515B9CEF}" type="slidenum">
              <a:rPr lang="en-US" smtClean="0"/>
              <a:t>52</a:t>
            </a:fld>
            <a:endParaRPr lang="en-US" dirty="0"/>
          </a:p>
        </p:txBody>
      </p:sp>
    </p:spTree>
    <p:extLst>
      <p:ext uri="{BB962C8B-B14F-4D97-AF65-F5344CB8AC3E}">
        <p14:creationId xmlns:p14="http://schemas.microsoft.com/office/powerpoint/2010/main" val="16722051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541516"/>
            <a:ext cx="8381999" cy="780195"/>
          </a:xfrm>
        </p:spPr>
        <p:txBody>
          <a:bodyPr>
            <a:normAutofit fontScale="90000"/>
          </a:bodyPr>
          <a:lstStyle/>
          <a:p>
            <a:r>
              <a:rPr lang="en-US" b="1" dirty="0"/>
              <a:t>Selecting the Most Appropriate Process </a:t>
            </a:r>
            <a:r>
              <a:rPr lang="en-US" b="1" dirty="0" smtClean="0"/>
              <a:t>Model</a:t>
            </a:r>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53</a:t>
            </a:fld>
            <a:endParaRPr lang="en-US" dirty="0"/>
          </a:p>
        </p:txBody>
      </p:sp>
      <p:sp>
        <p:nvSpPr>
          <p:cNvPr id="5" name="Text Placeholder 4"/>
          <p:cNvSpPr>
            <a:spLocks noGrp="1"/>
          </p:cNvSpPr>
          <p:nvPr>
            <p:ph type="body" sz="quarter" idx="13"/>
          </p:nvPr>
        </p:nvSpPr>
        <p:spPr>
          <a:xfrm>
            <a:off x="457201" y="2971800"/>
            <a:ext cx="8381999" cy="2971800"/>
          </a:xfrm>
        </p:spPr>
        <p:txBody>
          <a:bodyPr>
            <a:normAutofit fontScale="92500" lnSpcReduction="10000"/>
          </a:bodyPr>
          <a:lstStyle/>
          <a:p>
            <a:r>
              <a:rPr lang="en-US" dirty="0"/>
              <a:t>A spiral model is a complex model and is normally deployed for projects in which the risks cannot be anticipated before project execution. </a:t>
            </a:r>
          </a:p>
          <a:p>
            <a:r>
              <a:rPr lang="en-US" dirty="0"/>
              <a:t>In the given case, a prototyping model would be appropriate for developing the user interface part of the software. </a:t>
            </a:r>
            <a:r>
              <a:rPr lang="en-US" b="1" dirty="0"/>
              <a:t>(user is unsure so)</a:t>
            </a:r>
          </a:p>
          <a:p>
            <a:r>
              <a:rPr lang="en-US" dirty="0"/>
              <a:t>For the other parts, a waterfall model would be appropriate assuming that the programmers are experienced in developing similar software products. </a:t>
            </a:r>
            <a:r>
              <a:rPr lang="en-US" b="1" dirty="0"/>
              <a:t>(their activities are simple so )</a:t>
            </a:r>
          </a:p>
          <a:p>
            <a:r>
              <a:rPr lang="en-US" b="1" dirty="0">
                <a:solidFill>
                  <a:srgbClr val="FF0000"/>
                </a:solidFill>
              </a:rPr>
              <a:t>Note </a:t>
            </a:r>
            <a:r>
              <a:rPr lang="en-US" b="1" dirty="0">
                <a:solidFill>
                  <a:srgbClr val="FF0000"/>
                </a:solidFill>
                <a:sym typeface="Wingdings" pitchFamily="2" charset="2"/>
              </a:rPr>
              <a:t></a:t>
            </a:r>
            <a:r>
              <a:rPr lang="en-US" b="1" dirty="0">
                <a:sym typeface="Wingdings" pitchFamily="2" charset="2"/>
              </a:rPr>
              <a:t> there is no rule to just apply single software process in any scenario the thing is you just need to work on thins that makes the software development best ,efficient and simple</a:t>
            </a:r>
            <a:endParaRPr lang="en-US" b="1" dirty="0"/>
          </a:p>
          <a:p>
            <a:endParaRPr 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986" y="1460955"/>
            <a:ext cx="83820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9006144"/>
      </p:ext>
    </p:extLst>
  </p:cSld>
  <p:clrMapOvr>
    <a:masterClrMapping/>
  </p:clrMapOvr>
</p:sld>
</file>

<file path=ppt/theme/theme1.xml><?xml version="1.0" encoding="utf-8"?>
<a:theme xmlns:a="http://schemas.openxmlformats.org/drawingml/2006/main" name="Retrospect">
  <a:themeElements>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9974</TotalTime>
  <Words>3819</Words>
  <Application>Microsoft Office PowerPoint</Application>
  <PresentationFormat>On-screen Show (4:3)</PresentationFormat>
  <Paragraphs>353</Paragraphs>
  <Slides>53</Slides>
  <Notes>7</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Calibri Light</vt:lpstr>
      <vt:lpstr>Wingdings</vt:lpstr>
      <vt:lpstr>Retrospect</vt:lpstr>
      <vt:lpstr>Software Evaluation and Costing</vt:lpstr>
      <vt:lpstr>Risk Evaluation</vt:lpstr>
      <vt:lpstr>How do we identify and evaluate risk</vt:lpstr>
      <vt:lpstr>How do we identify and evaluate risk</vt:lpstr>
      <vt:lpstr> Business Risk Evaluation Cost–benefit analysis</vt:lpstr>
      <vt:lpstr>PowerPoint Presentation</vt:lpstr>
      <vt:lpstr>PowerPoint Presentation</vt:lpstr>
      <vt:lpstr>Quantitative Risk  analysis</vt:lpstr>
      <vt:lpstr>Risk profile analysisdone using sensitivity analysis</vt:lpstr>
      <vt:lpstr>More on Sensitivity Analysis</vt:lpstr>
      <vt:lpstr>Risk Analysis Approach – Decision Tree</vt:lpstr>
      <vt:lpstr>Risk Analysis Approach – Decision Tree</vt:lpstr>
      <vt:lpstr>PowerPoint Presentation</vt:lpstr>
      <vt:lpstr>Project approach- Choosing Methodologies and Technologies</vt:lpstr>
      <vt:lpstr>Project Analysis Steps</vt:lpstr>
      <vt:lpstr>PowerPoint Presentation</vt:lpstr>
      <vt:lpstr>Project approach- Choosing Methodologies and Technologies</vt:lpstr>
      <vt:lpstr>Project approach- Choosing Methodologies and Technologies</vt:lpstr>
      <vt:lpstr>Software Process Model</vt:lpstr>
      <vt:lpstr>A short overview of software development process/SDLC</vt:lpstr>
      <vt:lpstr>A short overview of software development process/SDLC</vt:lpstr>
      <vt:lpstr>A short overview of software development process/SDLC</vt:lpstr>
      <vt:lpstr>Your Task/Assignment </vt:lpstr>
      <vt:lpstr>Structured Methods</vt:lpstr>
      <vt:lpstr>Structured Methods</vt:lpstr>
      <vt:lpstr>Software Process models what they are and when to use which???</vt:lpstr>
      <vt:lpstr>Software Process Models</vt:lpstr>
      <vt:lpstr>Software Processes models Plan driven vs agile processes</vt:lpstr>
      <vt:lpstr>Software process models </vt:lpstr>
      <vt:lpstr>Software process models/SW project management methodologies </vt:lpstr>
      <vt:lpstr>The Waterfall Model</vt:lpstr>
      <vt:lpstr>The Spiral Model</vt:lpstr>
      <vt:lpstr>The Spiral Model</vt:lpstr>
      <vt:lpstr>V Process Model</vt:lpstr>
      <vt:lpstr>Iterative Process Model</vt:lpstr>
      <vt:lpstr>Software Prototype and why</vt:lpstr>
      <vt:lpstr>Software Prototype advantages</vt:lpstr>
      <vt:lpstr>Prototype disadvantages</vt:lpstr>
      <vt:lpstr>Incremental Delivery</vt:lpstr>
      <vt:lpstr>Incremental Delivery</vt:lpstr>
      <vt:lpstr>Iterative vs Incremental</vt:lpstr>
      <vt:lpstr>Incremental and Iterative working together for agile</vt:lpstr>
      <vt:lpstr>An example of iterative and incremental development in Agile</vt:lpstr>
      <vt:lpstr>Rapid Application Development (RAD)</vt:lpstr>
      <vt:lpstr>Rapid Application Development (RAD)</vt:lpstr>
      <vt:lpstr>Agile Methods—Motivation</vt:lpstr>
      <vt:lpstr>PowerPoint Presentation</vt:lpstr>
      <vt:lpstr>The Agile manifesto </vt:lpstr>
      <vt:lpstr>The Principle Of Agile Methods</vt:lpstr>
      <vt:lpstr>The Agile Way </vt:lpstr>
      <vt:lpstr>Agile In summary</vt:lpstr>
      <vt:lpstr>Agile Types</vt:lpstr>
      <vt:lpstr>Selecting the Most Appropriate Process Model</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Microsoft account</cp:lastModifiedBy>
  <cp:revision>955</cp:revision>
  <dcterms:created xsi:type="dcterms:W3CDTF">2022-08-07T01:15:18Z</dcterms:created>
  <dcterms:modified xsi:type="dcterms:W3CDTF">2022-12-29T05:48:43Z</dcterms:modified>
</cp:coreProperties>
</file>