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6"/>
  </p:notesMasterIdLst>
  <p:sldIdLst>
    <p:sldId id="256" r:id="rId2"/>
    <p:sldId id="311" r:id="rId3"/>
    <p:sldId id="383" r:id="rId4"/>
    <p:sldId id="404" r:id="rId5"/>
    <p:sldId id="396" r:id="rId6"/>
    <p:sldId id="398" r:id="rId7"/>
    <p:sldId id="384" r:id="rId8"/>
    <p:sldId id="388" r:id="rId9"/>
    <p:sldId id="389" r:id="rId10"/>
    <p:sldId id="390" r:id="rId11"/>
    <p:sldId id="391" r:id="rId12"/>
    <p:sldId id="408" r:id="rId13"/>
    <p:sldId id="409" r:id="rId14"/>
    <p:sldId id="385" r:id="rId15"/>
    <p:sldId id="386" r:id="rId16"/>
    <p:sldId id="400" r:id="rId17"/>
    <p:sldId id="401" r:id="rId18"/>
    <p:sldId id="387" r:id="rId19"/>
    <p:sldId id="402" r:id="rId20"/>
    <p:sldId id="419" r:id="rId21"/>
    <p:sldId id="424" r:id="rId22"/>
    <p:sldId id="420" r:id="rId23"/>
    <p:sldId id="392" r:id="rId24"/>
    <p:sldId id="405" r:id="rId25"/>
    <p:sldId id="407" r:id="rId26"/>
    <p:sldId id="421" r:id="rId27"/>
    <p:sldId id="422" r:id="rId28"/>
    <p:sldId id="395" r:id="rId29"/>
    <p:sldId id="418" r:id="rId30"/>
    <p:sldId id="410" r:id="rId31"/>
    <p:sldId id="411" r:id="rId32"/>
    <p:sldId id="394" r:id="rId33"/>
    <p:sldId id="427" r:id="rId34"/>
    <p:sldId id="425" r:id="rId35"/>
    <p:sldId id="412" r:id="rId36"/>
    <p:sldId id="416" r:id="rId37"/>
    <p:sldId id="428" r:id="rId38"/>
    <p:sldId id="393" r:id="rId39"/>
    <p:sldId id="417" r:id="rId40"/>
    <p:sldId id="413" r:id="rId41"/>
    <p:sldId id="414" r:id="rId42"/>
    <p:sldId id="423" r:id="rId43"/>
    <p:sldId id="415" r:id="rId44"/>
    <p:sldId id="426"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A0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97" autoAdjust="0"/>
    <p:restoredTop sz="84355" autoAdjust="0"/>
  </p:normalViewPr>
  <p:slideViewPr>
    <p:cSldViewPr>
      <p:cViewPr varScale="1">
        <p:scale>
          <a:sx n="58" d="100"/>
          <a:sy n="58" d="100"/>
        </p:scale>
        <p:origin x="1660" y="48"/>
      </p:cViewPr>
      <p:guideLst>
        <p:guide orient="horz" pos="2160"/>
        <p:guide pos="2880"/>
      </p:guideLst>
    </p:cSldViewPr>
  </p:slideViewPr>
  <p:notesTextViewPr>
    <p:cViewPr>
      <p:scale>
        <a:sx n="1" d="1"/>
        <a:sy n="1" d="1"/>
      </p:scale>
      <p:origin x="0" y="0"/>
    </p:cViewPr>
  </p:notesTextViewPr>
  <p:notesViewPr>
    <p:cSldViewPr>
      <p:cViewPr varScale="1">
        <p:scale>
          <a:sx n="52" d="100"/>
          <a:sy n="52" d="100"/>
        </p:scale>
        <p:origin x="268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14B5D1-1C9B-428B-A527-01D2760AA9E4}"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tr-TR"/>
        </a:p>
      </dgm:t>
    </dgm:pt>
    <dgm:pt modelId="{6E7348F9-DDFF-4A18-805E-552B7986B2CC}">
      <dgm:prSet/>
      <dgm:spPr>
        <a:ln>
          <a:solidFill>
            <a:schemeClr val="accent1">
              <a:lumMod val="75000"/>
            </a:schemeClr>
          </a:solidFill>
        </a:ln>
      </dgm:spPr>
      <dgm:t>
        <a:bodyPr/>
        <a:lstStyle/>
        <a:p>
          <a:pPr rtl="0"/>
          <a:r>
            <a:rPr lang="en-US" u="sng" dirty="0" smtClean="0"/>
            <a:t>Identify the risk</a:t>
          </a:r>
          <a:endParaRPr lang="tr-TR" dirty="0"/>
        </a:p>
      </dgm:t>
    </dgm:pt>
    <dgm:pt modelId="{F9129BCD-2367-45D4-A95C-BCF06D09948C}" type="parTrans" cxnId="{8F9A3BB7-50D0-4406-9D7C-C39E475D8B05}">
      <dgm:prSet/>
      <dgm:spPr/>
      <dgm:t>
        <a:bodyPr/>
        <a:lstStyle/>
        <a:p>
          <a:endParaRPr lang="tr-TR"/>
        </a:p>
      </dgm:t>
    </dgm:pt>
    <dgm:pt modelId="{5AE52171-2FC5-4B4E-BEAF-66D84AF0EEC2}" type="sibTrans" cxnId="{8F9A3BB7-50D0-4406-9D7C-C39E475D8B05}">
      <dgm:prSet/>
      <dgm:spPr/>
      <dgm:t>
        <a:bodyPr/>
        <a:lstStyle/>
        <a:p>
          <a:endParaRPr lang="tr-TR"/>
        </a:p>
      </dgm:t>
    </dgm:pt>
    <dgm:pt modelId="{EE439AE7-6E57-4207-84A1-79F21CA2E7EE}">
      <dgm:prSet/>
      <dgm:spPr>
        <a:ln>
          <a:solidFill>
            <a:schemeClr val="accent1">
              <a:lumMod val="75000"/>
            </a:schemeClr>
          </a:solidFill>
        </a:ln>
      </dgm:spPr>
      <dgm:t>
        <a:bodyPr/>
        <a:lstStyle/>
        <a:p>
          <a:pPr rtl="0"/>
          <a:r>
            <a:rPr lang="en-US" u="sng" smtClean="0"/>
            <a:t>Reduce the impact of risk</a:t>
          </a:r>
          <a:endParaRPr lang="tr-TR"/>
        </a:p>
      </dgm:t>
    </dgm:pt>
    <dgm:pt modelId="{08C87220-8114-437E-9255-D11C4FDA01E5}" type="parTrans" cxnId="{B5A716E7-B726-4F88-BC37-2EEC6B029CE6}">
      <dgm:prSet/>
      <dgm:spPr/>
      <dgm:t>
        <a:bodyPr/>
        <a:lstStyle/>
        <a:p>
          <a:endParaRPr lang="tr-TR"/>
        </a:p>
      </dgm:t>
    </dgm:pt>
    <dgm:pt modelId="{59D8A7DE-DC93-49B5-B5E3-71CEC58CF8C9}" type="sibTrans" cxnId="{B5A716E7-B726-4F88-BC37-2EEC6B029CE6}">
      <dgm:prSet/>
      <dgm:spPr/>
      <dgm:t>
        <a:bodyPr/>
        <a:lstStyle/>
        <a:p>
          <a:endParaRPr lang="tr-TR"/>
        </a:p>
      </dgm:t>
    </dgm:pt>
    <dgm:pt modelId="{BCE5B9E2-3BF0-44B8-BBAE-D04D111E9AB6}">
      <dgm:prSet/>
      <dgm:spPr>
        <a:ln>
          <a:solidFill>
            <a:schemeClr val="accent1">
              <a:lumMod val="75000"/>
            </a:schemeClr>
          </a:solidFill>
        </a:ln>
      </dgm:spPr>
      <dgm:t>
        <a:bodyPr/>
        <a:lstStyle/>
        <a:p>
          <a:pPr rtl="0"/>
          <a:r>
            <a:rPr lang="en-US" u="sng" smtClean="0"/>
            <a:t>Reduce the probability or likelihood of risk</a:t>
          </a:r>
          <a:endParaRPr lang="tr-TR"/>
        </a:p>
      </dgm:t>
    </dgm:pt>
    <dgm:pt modelId="{ABB0DA53-05BC-4057-9587-DF580DF9CFCF}" type="parTrans" cxnId="{D777EAA1-2370-4BFC-94E7-248C2CE9BFDC}">
      <dgm:prSet/>
      <dgm:spPr/>
      <dgm:t>
        <a:bodyPr/>
        <a:lstStyle/>
        <a:p>
          <a:endParaRPr lang="tr-TR"/>
        </a:p>
      </dgm:t>
    </dgm:pt>
    <dgm:pt modelId="{FDA2A577-A4D7-41D6-9F66-2175D6B04959}" type="sibTrans" cxnId="{D777EAA1-2370-4BFC-94E7-248C2CE9BFDC}">
      <dgm:prSet/>
      <dgm:spPr/>
      <dgm:t>
        <a:bodyPr/>
        <a:lstStyle/>
        <a:p>
          <a:endParaRPr lang="tr-TR"/>
        </a:p>
      </dgm:t>
    </dgm:pt>
    <dgm:pt modelId="{75C2029A-ACA4-4399-AFFF-FA278BBEEB94}">
      <dgm:prSet/>
      <dgm:spPr>
        <a:ln>
          <a:solidFill>
            <a:schemeClr val="accent1">
              <a:lumMod val="75000"/>
            </a:schemeClr>
          </a:solidFill>
        </a:ln>
      </dgm:spPr>
      <dgm:t>
        <a:bodyPr/>
        <a:lstStyle/>
        <a:p>
          <a:pPr rtl="0"/>
          <a:r>
            <a:rPr lang="en-US" u="sng" smtClean="0"/>
            <a:t>Risk monitoring</a:t>
          </a:r>
          <a:endParaRPr lang="tr-TR"/>
        </a:p>
      </dgm:t>
    </dgm:pt>
    <dgm:pt modelId="{90CBBF5A-BCB7-4DAE-9BB7-069D5CFB6282}" type="parTrans" cxnId="{6E4F24EF-1E06-4093-8BDE-E95CB6BC708D}">
      <dgm:prSet/>
      <dgm:spPr/>
      <dgm:t>
        <a:bodyPr/>
        <a:lstStyle/>
        <a:p>
          <a:endParaRPr lang="tr-TR"/>
        </a:p>
      </dgm:t>
    </dgm:pt>
    <dgm:pt modelId="{5E8904A0-3D69-4DA1-8A11-30CD601080A3}" type="sibTrans" cxnId="{6E4F24EF-1E06-4093-8BDE-E95CB6BC708D}">
      <dgm:prSet/>
      <dgm:spPr/>
      <dgm:t>
        <a:bodyPr/>
        <a:lstStyle/>
        <a:p>
          <a:endParaRPr lang="tr-TR"/>
        </a:p>
      </dgm:t>
    </dgm:pt>
    <dgm:pt modelId="{02758BD5-8FED-4E5C-95F8-D9FF70D0EB4E}" type="pres">
      <dgm:prSet presAssocID="{4314B5D1-1C9B-428B-A527-01D2760AA9E4}" presName="Name0" presStyleCnt="0">
        <dgm:presLayoutVars>
          <dgm:chMax val="11"/>
          <dgm:chPref val="11"/>
          <dgm:dir/>
          <dgm:resizeHandles/>
        </dgm:presLayoutVars>
      </dgm:prSet>
      <dgm:spPr/>
      <dgm:t>
        <a:bodyPr/>
        <a:lstStyle/>
        <a:p>
          <a:endParaRPr lang="en-US"/>
        </a:p>
      </dgm:t>
    </dgm:pt>
    <dgm:pt modelId="{17365BFA-92E2-4FB9-9302-7FC6F73292E0}" type="pres">
      <dgm:prSet presAssocID="{75C2029A-ACA4-4399-AFFF-FA278BBEEB94}" presName="Accent4" presStyleCnt="0"/>
      <dgm:spPr/>
    </dgm:pt>
    <dgm:pt modelId="{5ED8C858-4B96-44AF-9DDA-B63E3CB394A7}" type="pres">
      <dgm:prSet presAssocID="{75C2029A-ACA4-4399-AFFF-FA278BBEEB94}" presName="Accent" presStyleLbl="node1" presStyleIdx="0" presStyleCnt="4"/>
      <dgm:spPr>
        <a:ln>
          <a:solidFill>
            <a:schemeClr val="accent1">
              <a:lumMod val="75000"/>
            </a:schemeClr>
          </a:solidFill>
        </a:ln>
      </dgm:spPr>
      <dgm:t>
        <a:bodyPr/>
        <a:lstStyle/>
        <a:p>
          <a:endParaRPr lang="en-US"/>
        </a:p>
      </dgm:t>
    </dgm:pt>
    <dgm:pt modelId="{91EF8E1C-2D04-4B6E-B041-E7F4F975098E}" type="pres">
      <dgm:prSet presAssocID="{75C2029A-ACA4-4399-AFFF-FA278BBEEB94}" presName="ParentBackground4" presStyleCnt="0"/>
      <dgm:spPr/>
    </dgm:pt>
    <dgm:pt modelId="{04268326-BA51-40DA-91E4-DF27E7940348}" type="pres">
      <dgm:prSet presAssocID="{75C2029A-ACA4-4399-AFFF-FA278BBEEB94}" presName="ParentBackground" presStyleLbl="fgAcc1" presStyleIdx="0" presStyleCnt="4"/>
      <dgm:spPr/>
      <dgm:t>
        <a:bodyPr/>
        <a:lstStyle/>
        <a:p>
          <a:endParaRPr lang="en-US"/>
        </a:p>
      </dgm:t>
    </dgm:pt>
    <dgm:pt modelId="{5BCC2312-DC2D-4E6E-9DA4-4F4E84BE48C8}" type="pres">
      <dgm:prSet presAssocID="{75C2029A-ACA4-4399-AFFF-FA278BBEEB94}" presName="Parent4" presStyleLbl="revTx" presStyleIdx="0" presStyleCnt="0">
        <dgm:presLayoutVars>
          <dgm:chMax val="1"/>
          <dgm:chPref val="1"/>
          <dgm:bulletEnabled val="1"/>
        </dgm:presLayoutVars>
      </dgm:prSet>
      <dgm:spPr/>
      <dgm:t>
        <a:bodyPr/>
        <a:lstStyle/>
        <a:p>
          <a:endParaRPr lang="en-US"/>
        </a:p>
      </dgm:t>
    </dgm:pt>
    <dgm:pt modelId="{3FE289B6-EA22-4EAB-BD92-26621FCBC027}" type="pres">
      <dgm:prSet presAssocID="{BCE5B9E2-3BF0-44B8-BBAE-D04D111E9AB6}" presName="Accent3" presStyleCnt="0"/>
      <dgm:spPr/>
    </dgm:pt>
    <dgm:pt modelId="{12F810E6-D638-49C9-A2FC-0568F5ABF91A}" type="pres">
      <dgm:prSet presAssocID="{BCE5B9E2-3BF0-44B8-BBAE-D04D111E9AB6}" presName="Accent" presStyleLbl="node1" presStyleIdx="1" presStyleCnt="4"/>
      <dgm:spPr>
        <a:ln>
          <a:solidFill>
            <a:schemeClr val="accent1">
              <a:lumMod val="75000"/>
            </a:schemeClr>
          </a:solidFill>
        </a:ln>
      </dgm:spPr>
      <dgm:t>
        <a:bodyPr/>
        <a:lstStyle/>
        <a:p>
          <a:endParaRPr lang="en-US"/>
        </a:p>
      </dgm:t>
    </dgm:pt>
    <dgm:pt modelId="{6AEF2CEE-1A7C-4986-B35B-6746F9F99291}" type="pres">
      <dgm:prSet presAssocID="{BCE5B9E2-3BF0-44B8-BBAE-D04D111E9AB6}" presName="ParentBackground3" presStyleCnt="0"/>
      <dgm:spPr/>
    </dgm:pt>
    <dgm:pt modelId="{56FB2EE3-6B7E-415B-993B-6BEC1343827D}" type="pres">
      <dgm:prSet presAssocID="{BCE5B9E2-3BF0-44B8-BBAE-D04D111E9AB6}" presName="ParentBackground" presStyleLbl="fgAcc1" presStyleIdx="1" presStyleCnt="4"/>
      <dgm:spPr/>
      <dgm:t>
        <a:bodyPr/>
        <a:lstStyle/>
        <a:p>
          <a:endParaRPr lang="en-US"/>
        </a:p>
      </dgm:t>
    </dgm:pt>
    <dgm:pt modelId="{1A738573-9F84-4C9C-BCDF-AB8EA2A43483}" type="pres">
      <dgm:prSet presAssocID="{BCE5B9E2-3BF0-44B8-BBAE-D04D111E9AB6}" presName="Parent3" presStyleLbl="revTx" presStyleIdx="0" presStyleCnt="0">
        <dgm:presLayoutVars>
          <dgm:chMax val="1"/>
          <dgm:chPref val="1"/>
          <dgm:bulletEnabled val="1"/>
        </dgm:presLayoutVars>
      </dgm:prSet>
      <dgm:spPr/>
      <dgm:t>
        <a:bodyPr/>
        <a:lstStyle/>
        <a:p>
          <a:endParaRPr lang="en-US"/>
        </a:p>
      </dgm:t>
    </dgm:pt>
    <dgm:pt modelId="{D1CFB8B1-A5E7-4CCB-93F4-50C512E0633E}" type="pres">
      <dgm:prSet presAssocID="{EE439AE7-6E57-4207-84A1-79F21CA2E7EE}" presName="Accent2" presStyleCnt="0"/>
      <dgm:spPr/>
    </dgm:pt>
    <dgm:pt modelId="{030B5053-11CA-4123-A1F2-B2EB0D97EB84}" type="pres">
      <dgm:prSet presAssocID="{EE439AE7-6E57-4207-84A1-79F21CA2E7EE}" presName="Accent" presStyleLbl="node1" presStyleIdx="2" presStyleCnt="4"/>
      <dgm:spPr>
        <a:ln>
          <a:solidFill>
            <a:schemeClr val="accent1">
              <a:lumMod val="75000"/>
            </a:schemeClr>
          </a:solidFill>
        </a:ln>
      </dgm:spPr>
      <dgm:t>
        <a:bodyPr/>
        <a:lstStyle/>
        <a:p>
          <a:endParaRPr lang="en-US"/>
        </a:p>
      </dgm:t>
    </dgm:pt>
    <dgm:pt modelId="{DE2F8AA6-A79E-4B5D-B540-2EE8B8A8AFBC}" type="pres">
      <dgm:prSet presAssocID="{EE439AE7-6E57-4207-84A1-79F21CA2E7EE}" presName="ParentBackground2" presStyleCnt="0"/>
      <dgm:spPr/>
    </dgm:pt>
    <dgm:pt modelId="{82065260-E57D-4F50-A339-E62AFA327639}" type="pres">
      <dgm:prSet presAssocID="{EE439AE7-6E57-4207-84A1-79F21CA2E7EE}" presName="ParentBackground" presStyleLbl="fgAcc1" presStyleIdx="2" presStyleCnt="4"/>
      <dgm:spPr/>
      <dgm:t>
        <a:bodyPr/>
        <a:lstStyle/>
        <a:p>
          <a:endParaRPr lang="en-US"/>
        </a:p>
      </dgm:t>
    </dgm:pt>
    <dgm:pt modelId="{A5BE577B-0A24-4C51-BAE9-F5DAFB88F145}" type="pres">
      <dgm:prSet presAssocID="{EE439AE7-6E57-4207-84A1-79F21CA2E7EE}" presName="Parent2" presStyleLbl="revTx" presStyleIdx="0" presStyleCnt="0">
        <dgm:presLayoutVars>
          <dgm:chMax val="1"/>
          <dgm:chPref val="1"/>
          <dgm:bulletEnabled val="1"/>
        </dgm:presLayoutVars>
      </dgm:prSet>
      <dgm:spPr/>
      <dgm:t>
        <a:bodyPr/>
        <a:lstStyle/>
        <a:p>
          <a:endParaRPr lang="en-US"/>
        </a:p>
      </dgm:t>
    </dgm:pt>
    <dgm:pt modelId="{B06B645B-7BFF-43BB-9B31-53DC08A6305D}" type="pres">
      <dgm:prSet presAssocID="{6E7348F9-DDFF-4A18-805E-552B7986B2CC}" presName="Accent1" presStyleCnt="0"/>
      <dgm:spPr/>
    </dgm:pt>
    <dgm:pt modelId="{E13D3A04-4EE2-4A5B-9446-322C52273A35}" type="pres">
      <dgm:prSet presAssocID="{6E7348F9-DDFF-4A18-805E-552B7986B2CC}" presName="Accent" presStyleLbl="node1" presStyleIdx="3" presStyleCnt="4"/>
      <dgm:spPr>
        <a:ln>
          <a:solidFill>
            <a:schemeClr val="accent1">
              <a:lumMod val="75000"/>
            </a:schemeClr>
          </a:solidFill>
        </a:ln>
      </dgm:spPr>
      <dgm:t>
        <a:bodyPr/>
        <a:lstStyle/>
        <a:p>
          <a:endParaRPr lang="en-US"/>
        </a:p>
      </dgm:t>
    </dgm:pt>
    <dgm:pt modelId="{ADE0E7A5-0C1B-4773-879A-3A8F4641C715}" type="pres">
      <dgm:prSet presAssocID="{6E7348F9-DDFF-4A18-805E-552B7986B2CC}" presName="ParentBackground1" presStyleCnt="0"/>
      <dgm:spPr/>
    </dgm:pt>
    <dgm:pt modelId="{BD82E01B-237D-4AAB-8E42-572C3ADBF7D7}" type="pres">
      <dgm:prSet presAssocID="{6E7348F9-DDFF-4A18-805E-552B7986B2CC}" presName="ParentBackground" presStyleLbl="fgAcc1" presStyleIdx="3" presStyleCnt="4"/>
      <dgm:spPr/>
      <dgm:t>
        <a:bodyPr/>
        <a:lstStyle/>
        <a:p>
          <a:endParaRPr lang="en-US"/>
        </a:p>
      </dgm:t>
    </dgm:pt>
    <dgm:pt modelId="{5BEF65AB-CEE2-4707-9854-2A33DE708446}" type="pres">
      <dgm:prSet presAssocID="{6E7348F9-DDFF-4A18-805E-552B7986B2CC}" presName="Parent1" presStyleLbl="revTx" presStyleIdx="0" presStyleCnt="0">
        <dgm:presLayoutVars>
          <dgm:chMax val="1"/>
          <dgm:chPref val="1"/>
          <dgm:bulletEnabled val="1"/>
        </dgm:presLayoutVars>
      </dgm:prSet>
      <dgm:spPr/>
      <dgm:t>
        <a:bodyPr/>
        <a:lstStyle/>
        <a:p>
          <a:endParaRPr lang="en-US"/>
        </a:p>
      </dgm:t>
    </dgm:pt>
  </dgm:ptLst>
  <dgm:cxnLst>
    <dgm:cxn modelId="{BA1A3836-23E6-48A5-A703-43728CF02AD2}" type="presOf" srcId="{6E7348F9-DDFF-4A18-805E-552B7986B2CC}" destId="{5BEF65AB-CEE2-4707-9854-2A33DE708446}" srcOrd="1" destOrd="0" presId="urn:microsoft.com/office/officeart/2011/layout/CircleProcess"/>
    <dgm:cxn modelId="{D777EAA1-2370-4BFC-94E7-248C2CE9BFDC}" srcId="{4314B5D1-1C9B-428B-A527-01D2760AA9E4}" destId="{BCE5B9E2-3BF0-44B8-BBAE-D04D111E9AB6}" srcOrd="2" destOrd="0" parTransId="{ABB0DA53-05BC-4057-9587-DF580DF9CFCF}" sibTransId="{FDA2A577-A4D7-41D6-9F66-2175D6B04959}"/>
    <dgm:cxn modelId="{3C42F478-43F6-4343-A67A-810AB97B8B3E}" type="presOf" srcId="{EE439AE7-6E57-4207-84A1-79F21CA2E7EE}" destId="{82065260-E57D-4F50-A339-E62AFA327639}" srcOrd="0" destOrd="0" presId="urn:microsoft.com/office/officeart/2011/layout/CircleProcess"/>
    <dgm:cxn modelId="{6E4F24EF-1E06-4093-8BDE-E95CB6BC708D}" srcId="{4314B5D1-1C9B-428B-A527-01D2760AA9E4}" destId="{75C2029A-ACA4-4399-AFFF-FA278BBEEB94}" srcOrd="3" destOrd="0" parTransId="{90CBBF5A-BCB7-4DAE-9BB7-069D5CFB6282}" sibTransId="{5E8904A0-3D69-4DA1-8A11-30CD601080A3}"/>
    <dgm:cxn modelId="{B5A716E7-B726-4F88-BC37-2EEC6B029CE6}" srcId="{4314B5D1-1C9B-428B-A527-01D2760AA9E4}" destId="{EE439AE7-6E57-4207-84A1-79F21CA2E7EE}" srcOrd="1" destOrd="0" parTransId="{08C87220-8114-437E-9255-D11C4FDA01E5}" sibTransId="{59D8A7DE-DC93-49B5-B5E3-71CEC58CF8C9}"/>
    <dgm:cxn modelId="{549420B5-5EDE-44B7-9E25-34642ED2A2D8}" type="presOf" srcId="{4314B5D1-1C9B-428B-A527-01D2760AA9E4}" destId="{02758BD5-8FED-4E5C-95F8-D9FF70D0EB4E}" srcOrd="0" destOrd="0" presId="urn:microsoft.com/office/officeart/2011/layout/CircleProcess"/>
    <dgm:cxn modelId="{77A37AB8-8402-4FDF-B478-4BFAF85A75A1}" type="presOf" srcId="{75C2029A-ACA4-4399-AFFF-FA278BBEEB94}" destId="{04268326-BA51-40DA-91E4-DF27E7940348}" srcOrd="0" destOrd="0" presId="urn:microsoft.com/office/officeart/2011/layout/CircleProcess"/>
    <dgm:cxn modelId="{17FE6490-B18A-4C31-B657-8967D41AE5D5}" type="presOf" srcId="{BCE5B9E2-3BF0-44B8-BBAE-D04D111E9AB6}" destId="{1A738573-9F84-4C9C-BCDF-AB8EA2A43483}" srcOrd="1" destOrd="0" presId="urn:microsoft.com/office/officeart/2011/layout/CircleProcess"/>
    <dgm:cxn modelId="{C8922334-763F-4787-A1F5-A73648107A13}" type="presOf" srcId="{BCE5B9E2-3BF0-44B8-BBAE-D04D111E9AB6}" destId="{56FB2EE3-6B7E-415B-993B-6BEC1343827D}" srcOrd="0" destOrd="0" presId="urn:microsoft.com/office/officeart/2011/layout/CircleProcess"/>
    <dgm:cxn modelId="{4C3BFCA6-BDDA-4DAD-AC4C-91B993F6A402}" type="presOf" srcId="{6E7348F9-DDFF-4A18-805E-552B7986B2CC}" destId="{BD82E01B-237D-4AAB-8E42-572C3ADBF7D7}" srcOrd="0" destOrd="0" presId="urn:microsoft.com/office/officeart/2011/layout/CircleProcess"/>
    <dgm:cxn modelId="{8F9A3BB7-50D0-4406-9D7C-C39E475D8B05}" srcId="{4314B5D1-1C9B-428B-A527-01D2760AA9E4}" destId="{6E7348F9-DDFF-4A18-805E-552B7986B2CC}" srcOrd="0" destOrd="0" parTransId="{F9129BCD-2367-45D4-A95C-BCF06D09948C}" sibTransId="{5AE52171-2FC5-4B4E-BEAF-66D84AF0EEC2}"/>
    <dgm:cxn modelId="{C0C4037C-908E-49BD-B5BC-A7106665DDD4}" type="presOf" srcId="{EE439AE7-6E57-4207-84A1-79F21CA2E7EE}" destId="{A5BE577B-0A24-4C51-BAE9-F5DAFB88F145}" srcOrd="1" destOrd="0" presId="urn:microsoft.com/office/officeart/2011/layout/CircleProcess"/>
    <dgm:cxn modelId="{26DA7EFC-82AC-42A2-B3A3-E3A8B7615717}" type="presOf" srcId="{75C2029A-ACA4-4399-AFFF-FA278BBEEB94}" destId="{5BCC2312-DC2D-4E6E-9DA4-4F4E84BE48C8}" srcOrd="1" destOrd="0" presId="urn:microsoft.com/office/officeart/2011/layout/CircleProcess"/>
    <dgm:cxn modelId="{8A19AA91-CC7A-4DDC-BD7E-19E9AA14C535}" type="presParOf" srcId="{02758BD5-8FED-4E5C-95F8-D9FF70D0EB4E}" destId="{17365BFA-92E2-4FB9-9302-7FC6F73292E0}" srcOrd="0" destOrd="0" presId="urn:microsoft.com/office/officeart/2011/layout/CircleProcess"/>
    <dgm:cxn modelId="{C158AC97-F3BB-495B-A088-C8A93DCABE85}" type="presParOf" srcId="{17365BFA-92E2-4FB9-9302-7FC6F73292E0}" destId="{5ED8C858-4B96-44AF-9DDA-B63E3CB394A7}" srcOrd="0" destOrd="0" presId="urn:microsoft.com/office/officeart/2011/layout/CircleProcess"/>
    <dgm:cxn modelId="{7D0598E1-B289-42DF-A214-49E234E191E4}" type="presParOf" srcId="{02758BD5-8FED-4E5C-95F8-D9FF70D0EB4E}" destId="{91EF8E1C-2D04-4B6E-B041-E7F4F975098E}" srcOrd="1" destOrd="0" presId="urn:microsoft.com/office/officeart/2011/layout/CircleProcess"/>
    <dgm:cxn modelId="{3F8C99D7-5359-4438-9D25-DC6933633249}" type="presParOf" srcId="{91EF8E1C-2D04-4B6E-B041-E7F4F975098E}" destId="{04268326-BA51-40DA-91E4-DF27E7940348}" srcOrd="0" destOrd="0" presId="urn:microsoft.com/office/officeart/2011/layout/CircleProcess"/>
    <dgm:cxn modelId="{3BDC5F2D-6AF7-41A5-81AA-7530B9F9F8E8}" type="presParOf" srcId="{02758BD5-8FED-4E5C-95F8-D9FF70D0EB4E}" destId="{5BCC2312-DC2D-4E6E-9DA4-4F4E84BE48C8}" srcOrd="2" destOrd="0" presId="urn:microsoft.com/office/officeart/2011/layout/CircleProcess"/>
    <dgm:cxn modelId="{895DFB8B-7513-4B19-8ACB-02075F4AD8B0}" type="presParOf" srcId="{02758BD5-8FED-4E5C-95F8-D9FF70D0EB4E}" destId="{3FE289B6-EA22-4EAB-BD92-26621FCBC027}" srcOrd="3" destOrd="0" presId="urn:microsoft.com/office/officeart/2011/layout/CircleProcess"/>
    <dgm:cxn modelId="{2C1650F7-4CB7-48BB-A4A3-87FB6A89D264}" type="presParOf" srcId="{3FE289B6-EA22-4EAB-BD92-26621FCBC027}" destId="{12F810E6-D638-49C9-A2FC-0568F5ABF91A}" srcOrd="0" destOrd="0" presId="urn:microsoft.com/office/officeart/2011/layout/CircleProcess"/>
    <dgm:cxn modelId="{EBE481BE-4775-4163-BC80-F67252D61687}" type="presParOf" srcId="{02758BD5-8FED-4E5C-95F8-D9FF70D0EB4E}" destId="{6AEF2CEE-1A7C-4986-B35B-6746F9F99291}" srcOrd="4" destOrd="0" presId="urn:microsoft.com/office/officeart/2011/layout/CircleProcess"/>
    <dgm:cxn modelId="{9BBF1462-D4E7-4177-B98D-A9A6343F26E1}" type="presParOf" srcId="{6AEF2CEE-1A7C-4986-B35B-6746F9F99291}" destId="{56FB2EE3-6B7E-415B-993B-6BEC1343827D}" srcOrd="0" destOrd="0" presId="urn:microsoft.com/office/officeart/2011/layout/CircleProcess"/>
    <dgm:cxn modelId="{8B5F36B3-3AC8-4109-8D17-DE3F7EBB2F78}" type="presParOf" srcId="{02758BD5-8FED-4E5C-95F8-D9FF70D0EB4E}" destId="{1A738573-9F84-4C9C-BCDF-AB8EA2A43483}" srcOrd="5" destOrd="0" presId="urn:microsoft.com/office/officeart/2011/layout/CircleProcess"/>
    <dgm:cxn modelId="{2C0641A4-9BAC-4EA9-8652-CC2F36AFD3DF}" type="presParOf" srcId="{02758BD5-8FED-4E5C-95F8-D9FF70D0EB4E}" destId="{D1CFB8B1-A5E7-4CCB-93F4-50C512E0633E}" srcOrd="6" destOrd="0" presId="urn:microsoft.com/office/officeart/2011/layout/CircleProcess"/>
    <dgm:cxn modelId="{1AB9B584-BAEA-45F5-8A7A-586B62B3A0B8}" type="presParOf" srcId="{D1CFB8B1-A5E7-4CCB-93F4-50C512E0633E}" destId="{030B5053-11CA-4123-A1F2-B2EB0D97EB84}" srcOrd="0" destOrd="0" presId="urn:microsoft.com/office/officeart/2011/layout/CircleProcess"/>
    <dgm:cxn modelId="{1C35F53B-14E9-4F85-8B44-44C4F12E246A}" type="presParOf" srcId="{02758BD5-8FED-4E5C-95F8-D9FF70D0EB4E}" destId="{DE2F8AA6-A79E-4B5D-B540-2EE8B8A8AFBC}" srcOrd="7" destOrd="0" presId="urn:microsoft.com/office/officeart/2011/layout/CircleProcess"/>
    <dgm:cxn modelId="{E5BE7DF0-AD61-477B-AC2E-BEDBF15F0E07}" type="presParOf" srcId="{DE2F8AA6-A79E-4B5D-B540-2EE8B8A8AFBC}" destId="{82065260-E57D-4F50-A339-E62AFA327639}" srcOrd="0" destOrd="0" presId="urn:microsoft.com/office/officeart/2011/layout/CircleProcess"/>
    <dgm:cxn modelId="{EB2A8460-8145-4EA5-A2BF-B952C9417968}" type="presParOf" srcId="{02758BD5-8FED-4E5C-95F8-D9FF70D0EB4E}" destId="{A5BE577B-0A24-4C51-BAE9-F5DAFB88F145}" srcOrd="8" destOrd="0" presId="urn:microsoft.com/office/officeart/2011/layout/CircleProcess"/>
    <dgm:cxn modelId="{3BCD2F53-532E-478A-912F-9CF357AC518E}" type="presParOf" srcId="{02758BD5-8FED-4E5C-95F8-D9FF70D0EB4E}" destId="{B06B645B-7BFF-43BB-9B31-53DC08A6305D}" srcOrd="9" destOrd="0" presId="urn:microsoft.com/office/officeart/2011/layout/CircleProcess"/>
    <dgm:cxn modelId="{66534539-E5DE-40A5-A571-6C6F5F063FD8}" type="presParOf" srcId="{B06B645B-7BFF-43BB-9B31-53DC08A6305D}" destId="{E13D3A04-4EE2-4A5B-9446-322C52273A35}" srcOrd="0" destOrd="0" presId="urn:microsoft.com/office/officeart/2011/layout/CircleProcess"/>
    <dgm:cxn modelId="{3BFFB098-78FC-4DBB-913B-F9066576FCEF}" type="presParOf" srcId="{02758BD5-8FED-4E5C-95F8-D9FF70D0EB4E}" destId="{ADE0E7A5-0C1B-4773-879A-3A8F4641C715}" srcOrd="10" destOrd="0" presId="urn:microsoft.com/office/officeart/2011/layout/CircleProcess"/>
    <dgm:cxn modelId="{4A5BC5A5-BCE7-42BE-B4F9-A08F363FBB97}" type="presParOf" srcId="{ADE0E7A5-0C1B-4773-879A-3A8F4641C715}" destId="{BD82E01B-237D-4AAB-8E42-572C3ADBF7D7}" srcOrd="0" destOrd="0" presId="urn:microsoft.com/office/officeart/2011/layout/CircleProcess"/>
    <dgm:cxn modelId="{C38F5C2F-0C1B-479D-9DA4-2A553E19FC2D}" type="presParOf" srcId="{02758BD5-8FED-4E5C-95F8-D9FF70D0EB4E}" destId="{5BEF65AB-CEE2-4707-9854-2A33DE708446}" srcOrd="11"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D8C858-4B96-44AF-9DDA-B63E3CB394A7}">
      <dsp:nvSpPr>
        <dsp:cNvPr id="0" name=""/>
        <dsp:cNvSpPr/>
      </dsp:nvSpPr>
      <dsp:spPr>
        <a:xfrm>
          <a:off x="5158492" y="540890"/>
          <a:ext cx="1432997" cy="1433070"/>
        </a:xfrm>
        <a:prstGeom prst="ellipse">
          <a:avLst/>
        </a:prstGeom>
        <a:solidFill>
          <a:schemeClr val="accent1">
            <a:hueOff val="0"/>
            <a:satOff val="0"/>
            <a:lumOff val="0"/>
            <a:alphaOff val="0"/>
          </a:schemeClr>
        </a:solidFill>
        <a:ln w="15875" cap="flat" cmpd="sng" algn="ctr">
          <a:solidFill>
            <a:schemeClr val="accent1">
              <a:lumMod val="75000"/>
            </a:schemeClr>
          </a:solidFill>
          <a:prstDash val="solid"/>
        </a:ln>
        <a:effectLst/>
      </dsp:spPr>
      <dsp:style>
        <a:lnRef idx="2">
          <a:scrgbClr r="0" g="0" b="0"/>
        </a:lnRef>
        <a:fillRef idx="1">
          <a:scrgbClr r="0" g="0" b="0"/>
        </a:fillRef>
        <a:effectRef idx="0">
          <a:scrgbClr r="0" g="0" b="0"/>
        </a:effectRef>
        <a:fontRef idx="minor">
          <a:schemeClr val="lt1"/>
        </a:fontRef>
      </dsp:style>
    </dsp:sp>
    <dsp:sp modelId="{04268326-BA51-40DA-91E4-DF27E7940348}">
      <dsp:nvSpPr>
        <dsp:cNvPr id="0" name=""/>
        <dsp:cNvSpPr/>
      </dsp:nvSpPr>
      <dsp:spPr>
        <a:xfrm>
          <a:off x="5206423" y="588667"/>
          <a:ext cx="1337750" cy="1337515"/>
        </a:xfrm>
        <a:prstGeom prst="ellipse">
          <a:avLst/>
        </a:prstGeom>
        <a:solidFill>
          <a:schemeClr val="lt1">
            <a:alpha val="90000"/>
            <a:hueOff val="0"/>
            <a:satOff val="0"/>
            <a:lumOff val="0"/>
            <a:alphaOff val="0"/>
          </a:schemeClr>
        </a:solidFill>
        <a:ln w="15875" cap="flat" cmpd="sng" algn="ctr">
          <a:solidFill>
            <a:schemeClr val="accent1">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rtl="0">
            <a:lnSpc>
              <a:spcPct val="90000"/>
            </a:lnSpc>
            <a:spcBef>
              <a:spcPct val="0"/>
            </a:spcBef>
            <a:spcAft>
              <a:spcPct val="35000"/>
            </a:spcAft>
          </a:pPr>
          <a:r>
            <a:rPr lang="en-US" sz="1400" u="sng" kern="1200" smtClean="0"/>
            <a:t>Risk monitoring</a:t>
          </a:r>
          <a:endParaRPr lang="tr-TR" sz="1400" kern="1200"/>
        </a:p>
      </dsp:txBody>
      <dsp:txXfrm>
        <a:off x="5397530" y="779777"/>
        <a:ext cx="955536" cy="955296"/>
      </dsp:txXfrm>
    </dsp:sp>
    <dsp:sp modelId="{12F810E6-D638-49C9-A2FC-0568F5ABF91A}">
      <dsp:nvSpPr>
        <dsp:cNvPr id="0" name=""/>
        <dsp:cNvSpPr/>
      </dsp:nvSpPr>
      <dsp:spPr>
        <a:xfrm rot="2700000">
          <a:off x="3671408" y="540789"/>
          <a:ext cx="1433020" cy="1433020"/>
        </a:xfrm>
        <a:prstGeom prst="teardrop">
          <a:avLst>
            <a:gd name="adj" fmla="val 100000"/>
          </a:avLst>
        </a:prstGeom>
        <a:solidFill>
          <a:schemeClr val="accent1">
            <a:hueOff val="0"/>
            <a:satOff val="0"/>
            <a:lumOff val="0"/>
            <a:alphaOff val="0"/>
          </a:schemeClr>
        </a:solidFill>
        <a:ln w="15875" cap="flat" cmpd="sng" algn="ctr">
          <a:solidFill>
            <a:schemeClr val="accent1">
              <a:lumMod val="75000"/>
            </a:schemeClr>
          </a:solidFill>
          <a:prstDash val="solid"/>
        </a:ln>
        <a:effectLst/>
      </dsp:spPr>
      <dsp:style>
        <a:lnRef idx="2">
          <a:scrgbClr r="0" g="0" b="0"/>
        </a:lnRef>
        <a:fillRef idx="1">
          <a:scrgbClr r="0" g="0" b="0"/>
        </a:fillRef>
        <a:effectRef idx="0">
          <a:scrgbClr r="0" g="0" b="0"/>
        </a:effectRef>
        <a:fontRef idx="minor">
          <a:schemeClr val="lt1"/>
        </a:fontRef>
      </dsp:style>
    </dsp:sp>
    <dsp:sp modelId="{56FB2EE3-6B7E-415B-993B-6BEC1343827D}">
      <dsp:nvSpPr>
        <dsp:cNvPr id="0" name=""/>
        <dsp:cNvSpPr/>
      </dsp:nvSpPr>
      <dsp:spPr>
        <a:xfrm>
          <a:off x="3725495" y="588667"/>
          <a:ext cx="1337750" cy="1337515"/>
        </a:xfrm>
        <a:prstGeom prst="ellipse">
          <a:avLst/>
        </a:prstGeom>
        <a:solidFill>
          <a:schemeClr val="lt1">
            <a:alpha val="90000"/>
            <a:hueOff val="0"/>
            <a:satOff val="0"/>
            <a:lumOff val="0"/>
            <a:alphaOff val="0"/>
          </a:schemeClr>
        </a:solidFill>
        <a:ln w="15875" cap="flat" cmpd="sng" algn="ctr">
          <a:solidFill>
            <a:schemeClr val="accent1">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rtl="0">
            <a:lnSpc>
              <a:spcPct val="90000"/>
            </a:lnSpc>
            <a:spcBef>
              <a:spcPct val="0"/>
            </a:spcBef>
            <a:spcAft>
              <a:spcPct val="35000"/>
            </a:spcAft>
          </a:pPr>
          <a:r>
            <a:rPr lang="en-US" sz="1400" u="sng" kern="1200" smtClean="0"/>
            <a:t>Reduce the probability or likelihood of risk</a:t>
          </a:r>
          <a:endParaRPr lang="tr-TR" sz="1400" kern="1200"/>
        </a:p>
      </dsp:txBody>
      <dsp:txXfrm>
        <a:off x="3916602" y="779777"/>
        <a:ext cx="955536" cy="955296"/>
      </dsp:txXfrm>
    </dsp:sp>
    <dsp:sp modelId="{030B5053-11CA-4123-A1F2-B2EB0D97EB84}">
      <dsp:nvSpPr>
        <dsp:cNvPr id="0" name=""/>
        <dsp:cNvSpPr/>
      </dsp:nvSpPr>
      <dsp:spPr>
        <a:xfrm rot="2700000">
          <a:off x="2196625" y="540789"/>
          <a:ext cx="1433020" cy="1433020"/>
        </a:xfrm>
        <a:prstGeom prst="teardrop">
          <a:avLst>
            <a:gd name="adj" fmla="val 100000"/>
          </a:avLst>
        </a:prstGeom>
        <a:solidFill>
          <a:schemeClr val="accent1">
            <a:hueOff val="0"/>
            <a:satOff val="0"/>
            <a:lumOff val="0"/>
            <a:alphaOff val="0"/>
          </a:schemeClr>
        </a:solidFill>
        <a:ln w="15875" cap="flat" cmpd="sng" algn="ctr">
          <a:solidFill>
            <a:schemeClr val="accent1">
              <a:lumMod val="75000"/>
            </a:schemeClr>
          </a:solidFill>
          <a:prstDash val="solid"/>
        </a:ln>
        <a:effectLst/>
      </dsp:spPr>
      <dsp:style>
        <a:lnRef idx="2">
          <a:scrgbClr r="0" g="0" b="0"/>
        </a:lnRef>
        <a:fillRef idx="1">
          <a:scrgbClr r="0" g="0" b="0"/>
        </a:fillRef>
        <a:effectRef idx="0">
          <a:scrgbClr r="0" g="0" b="0"/>
        </a:effectRef>
        <a:fontRef idx="minor">
          <a:schemeClr val="lt1"/>
        </a:fontRef>
      </dsp:style>
    </dsp:sp>
    <dsp:sp modelId="{82065260-E57D-4F50-A339-E62AFA327639}">
      <dsp:nvSpPr>
        <dsp:cNvPr id="0" name=""/>
        <dsp:cNvSpPr/>
      </dsp:nvSpPr>
      <dsp:spPr>
        <a:xfrm>
          <a:off x="2244568" y="588667"/>
          <a:ext cx="1337750" cy="1337515"/>
        </a:xfrm>
        <a:prstGeom prst="ellipse">
          <a:avLst/>
        </a:prstGeom>
        <a:solidFill>
          <a:schemeClr val="lt1">
            <a:alpha val="90000"/>
            <a:hueOff val="0"/>
            <a:satOff val="0"/>
            <a:lumOff val="0"/>
            <a:alphaOff val="0"/>
          </a:schemeClr>
        </a:solidFill>
        <a:ln w="15875" cap="flat" cmpd="sng" algn="ctr">
          <a:solidFill>
            <a:schemeClr val="accent1">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rtl="0">
            <a:lnSpc>
              <a:spcPct val="90000"/>
            </a:lnSpc>
            <a:spcBef>
              <a:spcPct val="0"/>
            </a:spcBef>
            <a:spcAft>
              <a:spcPct val="35000"/>
            </a:spcAft>
          </a:pPr>
          <a:r>
            <a:rPr lang="en-US" sz="1400" u="sng" kern="1200" smtClean="0"/>
            <a:t>Reduce the impact of risk</a:t>
          </a:r>
          <a:endParaRPr lang="tr-TR" sz="1400" kern="1200"/>
        </a:p>
      </dsp:txBody>
      <dsp:txXfrm>
        <a:off x="2435675" y="779777"/>
        <a:ext cx="955536" cy="955296"/>
      </dsp:txXfrm>
    </dsp:sp>
    <dsp:sp modelId="{E13D3A04-4EE2-4A5B-9446-322C52273A35}">
      <dsp:nvSpPr>
        <dsp:cNvPr id="0" name=""/>
        <dsp:cNvSpPr/>
      </dsp:nvSpPr>
      <dsp:spPr>
        <a:xfrm rot="2700000">
          <a:off x="715698" y="540789"/>
          <a:ext cx="1433020" cy="1433020"/>
        </a:xfrm>
        <a:prstGeom prst="teardrop">
          <a:avLst>
            <a:gd name="adj" fmla="val 100000"/>
          </a:avLst>
        </a:prstGeom>
        <a:solidFill>
          <a:schemeClr val="accent1">
            <a:hueOff val="0"/>
            <a:satOff val="0"/>
            <a:lumOff val="0"/>
            <a:alphaOff val="0"/>
          </a:schemeClr>
        </a:solidFill>
        <a:ln w="15875" cap="flat" cmpd="sng" algn="ctr">
          <a:solidFill>
            <a:schemeClr val="accent1">
              <a:lumMod val="75000"/>
            </a:schemeClr>
          </a:solidFill>
          <a:prstDash val="solid"/>
        </a:ln>
        <a:effectLst/>
      </dsp:spPr>
      <dsp:style>
        <a:lnRef idx="2">
          <a:scrgbClr r="0" g="0" b="0"/>
        </a:lnRef>
        <a:fillRef idx="1">
          <a:scrgbClr r="0" g="0" b="0"/>
        </a:fillRef>
        <a:effectRef idx="0">
          <a:scrgbClr r="0" g="0" b="0"/>
        </a:effectRef>
        <a:fontRef idx="minor">
          <a:schemeClr val="lt1"/>
        </a:fontRef>
      </dsp:style>
    </dsp:sp>
    <dsp:sp modelId="{BD82E01B-237D-4AAB-8E42-572C3ADBF7D7}">
      <dsp:nvSpPr>
        <dsp:cNvPr id="0" name=""/>
        <dsp:cNvSpPr/>
      </dsp:nvSpPr>
      <dsp:spPr>
        <a:xfrm>
          <a:off x="763640" y="588667"/>
          <a:ext cx="1337750" cy="1337515"/>
        </a:xfrm>
        <a:prstGeom prst="ellipse">
          <a:avLst/>
        </a:prstGeom>
        <a:solidFill>
          <a:schemeClr val="lt1">
            <a:alpha val="90000"/>
            <a:hueOff val="0"/>
            <a:satOff val="0"/>
            <a:lumOff val="0"/>
            <a:alphaOff val="0"/>
          </a:schemeClr>
        </a:solidFill>
        <a:ln w="15875" cap="flat" cmpd="sng" algn="ctr">
          <a:solidFill>
            <a:schemeClr val="accent1">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rtl="0">
            <a:lnSpc>
              <a:spcPct val="90000"/>
            </a:lnSpc>
            <a:spcBef>
              <a:spcPct val="0"/>
            </a:spcBef>
            <a:spcAft>
              <a:spcPct val="35000"/>
            </a:spcAft>
          </a:pPr>
          <a:r>
            <a:rPr lang="en-US" sz="1400" u="sng" kern="1200" dirty="0" smtClean="0"/>
            <a:t>Identify the risk</a:t>
          </a:r>
          <a:endParaRPr lang="tr-TR" sz="1400" kern="1200" dirty="0"/>
        </a:p>
      </dsp:txBody>
      <dsp:txXfrm>
        <a:off x="954747" y="779777"/>
        <a:ext cx="955536" cy="955296"/>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598602-0560-4791-93EC-3BF081516261}" type="datetimeFigureOut">
              <a:rPr lang="en-US" smtClean="0"/>
              <a:t>1/31/2024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88E1D-6BDD-4280-B096-4D15059FE1C4}" type="slidenum">
              <a:rPr lang="en-US" smtClean="0"/>
              <a:t>‹#›</a:t>
            </a:fld>
            <a:endParaRPr lang="en-US"/>
          </a:p>
        </p:txBody>
      </p:sp>
    </p:spTree>
    <p:extLst>
      <p:ext uri="{BB962C8B-B14F-4D97-AF65-F5344CB8AC3E}">
        <p14:creationId xmlns:p14="http://schemas.microsoft.com/office/powerpoint/2010/main" val="4186589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M.Sc. Computer Engineering,</a:t>
            </a:r>
            <a:r>
              <a:rPr lang="en-US" baseline="0" dirty="0" smtClean="0"/>
              <a:t> </a:t>
            </a:r>
            <a:r>
              <a:rPr lang="en-US" dirty="0" smtClean="0"/>
              <a:t>Computer System and Knowledge Engineering</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a:t>
            </a:fld>
            <a:endParaRPr lang="en-US"/>
          </a:p>
        </p:txBody>
      </p:sp>
    </p:spTree>
    <p:extLst>
      <p:ext uri="{BB962C8B-B14F-4D97-AF65-F5344CB8AC3E}">
        <p14:creationId xmlns:p14="http://schemas.microsoft.com/office/powerpoint/2010/main" val="355287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2</a:t>
            </a:fld>
            <a:endParaRPr lang="en-US"/>
          </a:p>
        </p:txBody>
      </p:sp>
    </p:spTree>
    <p:extLst>
      <p:ext uri="{BB962C8B-B14F-4D97-AF65-F5344CB8AC3E}">
        <p14:creationId xmlns:p14="http://schemas.microsoft.com/office/powerpoint/2010/main" val="600732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3</a:t>
            </a:fld>
            <a:endParaRPr lang="en-US"/>
          </a:p>
        </p:txBody>
      </p:sp>
    </p:spTree>
    <p:extLst>
      <p:ext uri="{BB962C8B-B14F-4D97-AF65-F5344CB8AC3E}">
        <p14:creationId xmlns:p14="http://schemas.microsoft.com/office/powerpoint/2010/main" val="1260679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6</a:t>
            </a:fld>
            <a:endParaRPr lang="en-US"/>
          </a:p>
        </p:txBody>
      </p:sp>
    </p:spTree>
    <p:extLst>
      <p:ext uri="{BB962C8B-B14F-4D97-AF65-F5344CB8AC3E}">
        <p14:creationId xmlns:p14="http://schemas.microsoft.com/office/powerpoint/2010/main" val="1677825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17</a:t>
            </a:fld>
            <a:endParaRPr lang="en-US"/>
          </a:p>
        </p:txBody>
      </p:sp>
    </p:spTree>
    <p:extLst>
      <p:ext uri="{BB962C8B-B14F-4D97-AF65-F5344CB8AC3E}">
        <p14:creationId xmlns:p14="http://schemas.microsoft.com/office/powerpoint/2010/main" val="1240281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18</a:t>
            </a:fld>
            <a:endParaRPr lang="en-US"/>
          </a:p>
        </p:txBody>
      </p:sp>
    </p:spTree>
    <p:extLst>
      <p:ext uri="{BB962C8B-B14F-4D97-AF65-F5344CB8AC3E}">
        <p14:creationId xmlns:p14="http://schemas.microsoft.com/office/powerpoint/2010/main" val="1299524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19</a:t>
            </a:fld>
            <a:endParaRPr lang="en-US"/>
          </a:p>
        </p:txBody>
      </p:sp>
    </p:spTree>
    <p:extLst>
      <p:ext uri="{BB962C8B-B14F-4D97-AF65-F5344CB8AC3E}">
        <p14:creationId xmlns:p14="http://schemas.microsoft.com/office/powerpoint/2010/main" val="3516826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32</a:t>
            </a:fld>
            <a:endParaRPr lang="en-US"/>
          </a:p>
        </p:txBody>
      </p:sp>
    </p:spTree>
    <p:extLst>
      <p:ext uri="{BB962C8B-B14F-4D97-AF65-F5344CB8AC3E}">
        <p14:creationId xmlns:p14="http://schemas.microsoft.com/office/powerpoint/2010/main" val="1912298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33</a:t>
            </a:fld>
            <a:endParaRPr lang="en-US"/>
          </a:p>
        </p:txBody>
      </p:sp>
    </p:spTree>
    <p:extLst>
      <p:ext uri="{BB962C8B-B14F-4D97-AF65-F5344CB8AC3E}">
        <p14:creationId xmlns:p14="http://schemas.microsoft.com/office/powerpoint/2010/main" val="3660817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060DDFC-83D1-4D3D-9835-8D97B423CF88}" type="datetime1">
              <a:rPr lang="en-US" smtClean="0"/>
              <a:t>1/31/2024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19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E52FCD1-2787-48DC-86CB-DE641A80E625}" type="datetime1">
              <a:rPr lang="en-US" smtClean="0"/>
              <a:t>1/31/2024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833194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8AC0FD-B30F-4E0E-8A73-21C9C64649EE}" type="datetime1">
              <a:rPr lang="en-US" smtClean="0"/>
              <a:t>1/31/2024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066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6796EA2-5665-4ACB-8B80-650818173596}" type="datetime1">
              <a:rPr lang="en-US" smtClean="0"/>
              <a:t>1/31/2024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13809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E953130-5DDD-49A6-B8AE-337B3C493C83}" type="datetime1">
              <a:rPr lang="en-US" smtClean="0"/>
              <a:t>1/31/2024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613409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008796"/>
          </a:xfrm>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B465C325-79AB-4911-8BA2-D8B007D0DD1A}" type="datetime1">
              <a:rPr lang="en-US" smtClean="0"/>
              <a:t>1/31/2024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5CE4F79-B2B3-4E4E-AB5D-F771515B9CEF}" type="slidenum">
              <a:rPr lang="en-US" smtClean="0"/>
              <a:t>‹#›</a:t>
            </a:fld>
            <a:endParaRPr lang="en-US" dirty="0"/>
          </a:p>
        </p:txBody>
      </p:sp>
      <p:sp>
        <p:nvSpPr>
          <p:cNvPr id="6" name="Content Placeholder 2"/>
          <p:cNvSpPr>
            <a:spLocks noGrp="1"/>
          </p:cNvSpPr>
          <p:nvPr>
            <p:ph idx="1"/>
          </p:nvPr>
        </p:nvSpPr>
        <p:spPr>
          <a:xfrm>
            <a:off x="822959" y="1447800"/>
            <a:ext cx="7543801"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1944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3365220-16C0-4609-BF42-E630FA57F234}" type="datetime1">
              <a:rPr lang="en-US" smtClean="0"/>
              <a:t>1/31/2024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69166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34A58131-4C4D-4FA9-B9FC-1CFC94DF23DF}" type="datetime1">
              <a:rPr lang="en-US" smtClean="0"/>
              <a:t>1/31/2024</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5CE4F79-B2B3-4E4E-AB5D-F771515B9CEF}" type="slidenum">
              <a:rPr lang="en-US" smtClean="0"/>
              <a:t>‹#›</a:t>
            </a:fld>
            <a:endParaRPr lang="en-US" dirty="0"/>
          </a:p>
        </p:txBody>
      </p:sp>
    </p:spTree>
    <p:extLst>
      <p:ext uri="{BB962C8B-B14F-4D97-AF65-F5344CB8AC3E}">
        <p14:creationId xmlns:p14="http://schemas.microsoft.com/office/powerpoint/2010/main" val="242952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D3077A-1EF4-43C9-ACCA-D93C9B7F64D2}" type="datetime1">
              <a:rPr lang="en-US" smtClean="0"/>
              <a:t>1/31/2024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69972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968438"/>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01289" y="1845734"/>
            <a:ext cx="7543801" cy="4023360"/>
          </a:xfrm>
        </p:spPr>
        <p:txBody>
          <a:bodyPr vert="eaVert" lIns="45720" tIns="0" rIns="45720" bIns="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4FB1F57E-8296-45AF-842F-5750147EEE78}" type="datetime1">
              <a:rPr lang="en-US" smtClean="0"/>
              <a:t>1/31/2024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123204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CFC29B-475C-4248-8BBB-9E7BC8F95896}" type="datetime1">
              <a:rPr lang="en-US" smtClean="0"/>
              <a:t>1/31/2024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433690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1628CA5-D83D-4046-8574-759C09E41F2B}" type="datetime1">
              <a:rPr lang="en-US" smtClean="0"/>
              <a:t>1/31/2024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lvl1pPr marL="91440" indent="-91440">
              <a:buClrTx/>
              <a:buFont typeface="Arial" panose="020B0604020202020204" pitchFamily="34" charset="0"/>
              <a:buChar char="•"/>
              <a:defRPr/>
            </a:lvl1pPr>
            <a:lvl2pPr marL="384048" indent="-182880">
              <a:buClrTx/>
              <a:buFont typeface="Arial" panose="020B0604020202020204" pitchFamily="34" charset="0"/>
              <a:buChar char="•"/>
              <a:defRPr/>
            </a:lvl2pPr>
            <a:lvl3pPr marL="566928" indent="-182880">
              <a:buClrTx/>
              <a:buFont typeface="Arial" panose="020B0604020202020204" pitchFamily="34" charset="0"/>
              <a:buChar char="•"/>
              <a:defRPr/>
            </a:lvl3pPr>
            <a:lvl4pPr marL="749808" indent="-182880">
              <a:buClrTx/>
              <a:buFont typeface="Arial" panose="020B0604020202020204" pitchFamily="34" charset="0"/>
              <a:buChar char="•"/>
              <a:defRPr/>
            </a:lvl4pPr>
            <a:lvl5pPr marL="932688" indent="-182880">
              <a:buClrTx/>
              <a:buFont typeface="Arial" panose="020B0604020202020204"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07707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3"/>
          <p:cNvSpPr>
            <a:spLocks noGrp="1"/>
          </p:cNvSpPr>
          <p:nvPr>
            <p:ph type="dt" sz="half" idx="10"/>
          </p:nvPr>
        </p:nvSpPr>
        <p:spPr>
          <a:xfrm>
            <a:off x="471544" y="6173786"/>
            <a:ext cx="2133600" cy="365125"/>
          </a:xfrm>
        </p:spPr>
        <p:txBody>
          <a:bodyPr/>
          <a:lstStyle>
            <a:lvl1pPr>
              <a:defRPr/>
            </a:lvl1pPr>
          </a:lstStyle>
          <a:p>
            <a:pPr>
              <a:defRPr/>
            </a:pPr>
            <a:fld id="{C9051E02-2DE6-4E49-B716-6B277249D2D8}" type="datetime1">
              <a:rPr lang="en-US" smtClean="0">
                <a:solidFill>
                  <a:prstClr val="black">
                    <a:tint val="75000"/>
                  </a:prstClr>
                </a:solidFill>
              </a:rPr>
              <a:t>1/31/2024</a:t>
            </a:fld>
            <a:endParaRPr lang="en-MY">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5" name="Slide Number Placeholder 5"/>
          <p:cNvSpPr>
            <a:spLocks noGrp="1"/>
          </p:cNvSpPr>
          <p:nvPr>
            <p:ph type="sldNum" sz="quarter" idx="12"/>
          </p:nvPr>
        </p:nvSpPr>
        <p:spPr>
          <a:xfrm>
            <a:off x="6553200" y="6173787"/>
            <a:ext cx="2133600" cy="365125"/>
          </a:xfrm>
        </p:spPr>
        <p:txBody>
          <a:bodyPr/>
          <a:lstStyle>
            <a:lvl1pPr>
              <a:defRPr/>
            </a:lvl1pPr>
          </a:lstStyle>
          <a:p>
            <a:pPr>
              <a:defRPr/>
            </a:pPr>
            <a:fld id="{7302620F-2723-4C1D-A0D6-2D78DF04BBE5}" type="slidenum">
              <a:rPr lang="en-MY">
                <a:solidFill>
                  <a:prstClr val="black">
                    <a:tint val="75000"/>
                  </a:prstClr>
                </a:solidFill>
              </a:rPr>
              <a:pPr>
                <a:defRPr/>
              </a:pPr>
              <a:t>‹#›</a:t>
            </a:fld>
            <a:endParaRPr lang="en-MY">
              <a:solidFill>
                <a:prstClr val="black">
                  <a:tint val="75000"/>
                </a:prstClr>
              </a:solidFill>
            </a:endParaRPr>
          </a:p>
        </p:txBody>
      </p:sp>
    </p:spTree>
    <p:extLst>
      <p:ext uri="{BB962C8B-B14F-4D97-AF65-F5344CB8AC3E}">
        <p14:creationId xmlns:p14="http://schemas.microsoft.com/office/powerpoint/2010/main" val="1019353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347" y="274638"/>
            <a:ext cx="8229307" cy="1143000"/>
          </a:xfrm>
          <a:prstGeom prst="rect">
            <a:avLst/>
          </a:prstGeom>
        </p:spPr>
        <p:txBody>
          <a:bodyPr/>
          <a:lstStyle/>
          <a:p>
            <a:r>
              <a:rPr lang="en-US"/>
              <a:t>Click to edit Master title style</a:t>
            </a:r>
          </a:p>
        </p:txBody>
      </p:sp>
      <p:sp>
        <p:nvSpPr>
          <p:cNvPr id="3" name="ClipArt Placeholder 2"/>
          <p:cNvSpPr>
            <a:spLocks noGrp="1"/>
          </p:cNvSpPr>
          <p:nvPr>
            <p:ph type="clipArt" sz="half" idx="1"/>
          </p:nvPr>
        </p:nvSpPr>
        <p:spPr>
          <a:xfrm>
            <a:off x="703610" y="1981200"/>
            <a:ext cx="3799495" cy="4114800"/>
          </a:xfrm>
        </p:spPr>
        <p:txBody>
          <a:bodyPr rtlCol="0">
            <a:normAutofit/>
          </a:bodyPr>
          <a:lstStyle/>
          <a:p>
            <a:pPr lvl="0"/>
            <a:endParaRPr lang="en-US" noProof="0"/>
          </a:p>
        </p:txBody>
      </p:sp>
      <p:sp>
        <p:nvSpPr>
          <p:cNvPr id="4" name="Text Placeholder 3"/>
          <p:cNvSpPr>
            <a:spLocks noGrp="1"/>
          </p:cNvSpPr>
          <p:nvPr>
            <p:ph type="body" sz="half" idx="2"/>
          </p:nvPr>
        </p:nvSpPr>
        <p:spPr>
          <a:xfrm>
            <a:off x="4643827" y="1981200"/>
            <a:ext cx="3799495"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701675" y="6104965"/>
            <a:ext cx="1900238" cy="457200"/>
          </a:xfrm>
        </p:spPr>
        <p:txBody>
          <a:bodyPr/>
          <a:lstStyle>
            <a:lvl1pPr>
              <a:defRPr/>
            </a:lvl1pPr>
          </a:lstStyle>
          <a:p>
            <a:pPr>
              <a:defRPr/>
            </a:pPr>
            <a:fld id="{328E6985-44D3-4AB4-9BF5-64ABE08BB98F}" type="datetime1">
              <a:rPr lang="en-US" smtClean="0"/>
              <a:t>1/31/2024</a:t>
            </a:fld>
            <a:endParaRPr lang="en-US"/>
          </a:p>
        </p:txBody>
      </p:sp>
      <p:sp>
        <p:nvSpPr>
          <p:cNvPr id="6" name="Footer Placeholder 5"/>
          <p:cNvSpPr>
            <a:spLocks noGrp="1"/>
          </p:cNvSpPr>
          <p:nvPr>
            <p:ph type="ftr" sz="quarter" idx="11"/>
          </p:nvPr>
        </p:nvSpPr>
        <p:spPr>
          <a:xfrm>
            <a:off x="3165475" y="6248400"/>
            <a:ext cx="281305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42087" y="6096000"/>
            <a:ext cx="1900237" cy="457200"/>
          </a:xfrm>
        </p:spPr>
        <p:txBody>
          <a:bodyPr/>
          <a:lstStyle>
            <a:lvl1pPr>
              <a:defRPr/>
            </a:lvl1pPr>
          </a:lstStyle>
          <a:p>
            <a:pPr>
              <a:defRPr/>
            </a:pPr>
            <a:fld id="{4109A845-B5D7-4212-A085-B80A81F92DF0}" type="slidenum">
              <a:rPr lang="en-US"/>
              <a:pPr>
                <a:defRPr/>
              </a:pPr>
              <a:t>‹#›</a:t>
            </a:fld>
            <a:endParaRPr lang="en-US"/>
          </a:p>
        </p:txBody>
      </p:sp>
    </p:spTree>
    <p:extLst>
      <p:ext uri="{BB962C8B-B14F-4D97-AF65-F5344CB8AC3E}">
        <p14:creationId xmlns:p14="http://schemas.microsoft.com/office/powerpoint/2010/main" val="3016415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9AEF1DE-E42D-40C9-B850-0FD6C5C40B0D}" type="datetime1">
              <a:rPr lang="en-US" smtClean="0"/>
              <a:t>1/31/2024</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E5CE4F79-B2B3-4E4E-AB5D-F771515B9CEF}" type="slidenum">
              <a:rPr lang="en-US" smtClean="0"/>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45213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4" r:id="rId12"/>
    <p:sldLayoutId id="2147483705" r:id="rId13"/>
    <p:sldLayoutId id="2147483706" r:id="rId14"/>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ubhash@achsnepal.edu.np"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a:t>
            </a:fld>
            <a:endParaRPr lang="en-US" dirty="0"/>
          </a:p>
        </p:txBody>
      </p:sp>
      <p:sp>
        <p:nvSpPr>
          <p:cNvPr id="2" name="Title 1"/>
          <p:cNvSpPr>
            <a:spLocks noGrp="1"/>
          </p:cNvSpPr>
          <p:nvPr>
            <p:ph type="ctrTitle"/>
          </p:nvPr>
        </p:nvSpPr>
        <p:spPr>
          <a:xfrm>
            <a:off x="762000" y="1238250"/>
            <a:ext cx="7543800" cy="1581150"/>
          </a:xfrm>
        </p:spPr>
        <p:txBody>
          <a:bodyPr>
            <a:normAutofit/>
          </a:bodyPr>
          <a:lstStyle/>
          <a:p>
            <a:r>
              <a:rPr lang="en-US" sz="4400" b="1" dirty="0" smtClean="0">
                <a:latin typeface="+mn-lt"/>
              </a:rPr>
              <a:t>Risk Management</a:t>
            </a:r>
            <a:endParaRPr lang="en-US" sz="4400" b="1" dirty="0">
              <a:latin typeface="+mn-lt"/>
            </a:endParaRPr>
          </a:p>
        </p:txBody>
      </p:sp>
      <p:sp>
        <p:nvSpPr>
          <p:cNvPr id="3" name="Subtitle 2"/>
          <p:cNvSpPr>
            <a:spLocks noGrp="1"/>
          </p:cNvSpPr>
          <p:nvPr>
            <p:ph type="subTitle" idx="4294967295"/>
          </p:nvPr>
        </p:nvSpPr>
        <p:spPr>
          <a:xfrm>
            <a:off x="865563" y="2877468"/>
            <a:ext cx="7543800" cy="1143000"/>
          </a:xfrm>
        </p:spPr>
        <p:txBody>
          <a:bodyPr>
            <a:normAutofit/>
          </a:bodyPr>
          <a:lstStyle/>
          <a:p>
            <a:pPr marL="0" indent="0">
              <a:lnSpc>
                <a:spcPct val="100000"/>
              </a:lnSpc>
              <a:spcBef>
                <a:spcPts val="0"/>
              </a:spcBef>
              <a:spcAft>
                <a:spcPts val="0"/>
              </a:spcAft>
              <a:buNone/>
            </a:pPr>
            <a:r>
              <a:rPr lang="en-US" sz="2000" b="1" dirty="0" smtClean="0">
                <a:latin typeface="+mn-lt"/>
              </a:rPr>
              <a:t>Subhash Paudel</a:t>
            </a:r>
          </a:p>
          <a:p>
            <a:pPr marL="0" indent="0">
              <a:lnSpc>
                <a:spcPct val="100000"/>
              </a:lnSpc>
              <a:spcBef>
                <a:spcPts val="0"/>
              </a:spcBef>
              <a:spcAft>
                <a:spcPts val="0"/>
              </a:spcAft>
              <a:buNone/>
            </a:pPr>
            <a:r>
              <a:rPr lang="en-US" b="1" dirty="0" smtClean="0"/>
              <a:t>MSCSKE, IOE, Pulchowk Campus</a:t>
            </a:r>
          </a:p>
          <a:p>
            <a:pPr marL="0" indent="0">
              <a:lnSpc>
                <a:spcPct val="100000"/>
              </a:lnSpc>
              <a:spcBef>
                <a:spcPts val="0"/>
              </a:spcBef>
              <a:spcAft>
                <a:spcPts val="0"/>
              </a:spcAft>
              <a:buNone/>
            </a:pPr>
            <a:r>
              <a:rPr lang="en-US" b="1" dirty="0" smtClean="0">
                <a:hlinkClick r:id="rId3"/>
              </a:rPr>
              <a:t>subhash@achsnepal.edu.np</a:t>
            </a:r>
            <a:endParaRPr lang="en-US" sz="2000" b="1" dirty="0">
              <a:latin typeface="+mn-lt"/>
            </a:endParaRPr>
          </a:p>
        </p:txBody>
      </p:sp>
    </p:spTree>
    <p:extLst>
      <p:ext uri="{BB962C8B-B14F-4D97-AF65-F5344CB8AC3E}">
        <p14:creationId xmlns:p14="http://schemas.microsoft.com/office/powerpoint/2010/main" val="946450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409512"/>
            <a:ext cx="8381999" cy="780195"/>
          </a:xfrm>
        </p:spPr>
        <p:txBody>
          <a:bodyPr>
            <a:noAutofit/>
          </a:bodyPr>
          <a:lstStyle/>
          <a:p>
            <a:r>
              <a:rPr lang="en-US" dirty="0" smtClean="0"/>
              <a:t>What is Risk? </a:t>
            </a:r>
            <a:endParaRPr lang="en-US" dirty="0"/>
          </a:p>
        </p:txBody>
      </p:sp>
      <p:sp>
        <p:nvSpPr>
          <p:cNvPr id="3" name="Content Placeholder 2"/>
          <p:cNvSpPr>
            <a:spLocks noGrp="1"/>
          </p:cNvSpPr>
          <p:nvPr>
            <p:ph type="body" sz="quarter" idx="13"/>
          </p:nvPr>
        </p:nvSpPr>
        <p:spPr/>
        <p:txBody>
          <a:bodyPr>
            <a:normAutofit/>
          </a:bodyPr>
          <a:lstStyle/>
          <a:p>
            <a:r>
              <a:rPr lang="en-US" sz="2400" dirty="0"/>
              <a:t>Risk is defined as “uncertain event or condition that, if it occurs, has a positive Or negative effect on a project’s object”</a:t>
            </a:r>
            <a:endParaRPr lang="en-US" sz="2400" dirty="0" smtClean="0"/>
          </a:p>
          <a:p>
            <a:r>
              <a:rPr lang="en-US" sz="2400" dirty="0" smtClean="0"/>
              <a:t>A </a:t>
            </a:r>
            <a:r>
              <a:rPr lang="en-US" sz="2400" dirty="0"/>
              <a:t>risk is a potential problem – it might happen and it might </a:t>
            </a:r>
            <a:r>
              <a:rPr lang="en-US" sz="2400" dirty="0" smtClean="0"/>
              <a:t>not</a:t>
            </a:r>
          </a:p>
          <a:p>
            <a:r>
              <a:rPr lang="en-US" sz="2400" dirty="0"/>
              <a:t>Risks cannot be eliminated from a project, but luckily can be managed</a:t>
            </a:r>
          </a:p>
          <a:p>
            <a:r>
              <a:rPr lang="en-US" sz="2400" dirty="0" smtClean="0"/>
              <a:t>Key Elements of Risk</a:t>
            </a:r>
          </a:p>
          <a:p>
            <a:pPr marL="0" indent="0">
              <a:buNone/>
            </a:pPr>
            <a:r>
              <a:rPr lang="en-US" sz="2400" dirty="0" smtClean="0"/>
              <a:t>    –</a:t>
            </a:r>
            <a:r>
              <a:rPr lang="en-US" sz="2400" dirty="0"/>
              <a:t>  Risk concerns future </a:t>
            </a:r>
            <a:r>
              <a:rPr lang="en-US" sz="2400" dirty="0" smtClean="0"/>
              <a:t>happenings</a:t>
            </a:r>
            <a:r>
              <a:rPr lang="en-US" sz="2400" b="1" dirty="0"/>
              <a:t> </a:t>
            </a:r>
            <a:endParaRPr lang="en-US" sz="2400" dirty="0"/>
          </a:p>
          <a:p>
            <a:pPr marL="0" indent="0">
              <a:buNone/>
            </a:pPr>
            <a:r>
              <a:rPr lang="en-US" sz="2400" dirty="0" smtClean="0"/>
              <a:t>    –</a:t>
            </a:r>
            <a:r>
              <a:rPr lang="en-US" sz="2400" dirty="0"/>
              <a:t>  Risk involves change in mind, opinion, actions, places, etc</a:t>
            </a:r>
            <a:r>
              <a:rPr lang="en-US" sz="2400" dirty="0" smtClean="0"/>
              <a:t>.</a:t>
            </a:r>
          </a:p>
          <a:p>
            <a:pPr marL="0" indent="0">
              <a:buNone/>
            </a:pPr>
            <a:r>
              <a:rPr lang="en-US" sz="2400" dirty="0" smtClean="0"/>
              <a:t>    –  Risk involves choice and the uncertainty that choice entails </a:t>
            </a:r>
          </a:p>
        </p:txBody>
      </p:sp>
      <p:sp>
        <p:nvSpPr>
          <p:cNvPr id="4" name="Slide Number Placeholder 3"/>
          <p:cNvSpPr>
            <a:spLocks noGrp="1"/>
          </p:cNvSpPr>
          <p:nvPr>
            <p:ph type="sldNum" sz="quarter" idx="12"/>
          </p:nvPr>
        </p:nvSpPr>
        <p:spPr/>
        <p:txBody>
          <a:bodyPr/>
          <a:lstStyle/>
          <a:p>
            <a:fld id="{E5CE4F79-B2B3-4E4E-AB5D-F771515B9CEF}" type="slidenum">
              <a:rPr lang="en-US" smtClean="0"/>
              <a:t>2</a:t>
            </a:fld>
            <a:endParaRPr lang="en-US" dirty="0"/>
          </a:p>
        </p:txBody>
      </p:sp>
    </p:spTree>
    <p:extLst>
      <p:ext uri="{BB962C8B-B14F-4D97-AF65-F5344CB8AC3E}">
        <p14:creationId xmlns:p14="http://schemas.microsoft.com/office/powerpoint/2010/main" val="21622872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409512"/>
            <a:ext cx="8381999" cy="780195"/>
          </a:xfrm>
        </p:spPr>
        <p:txBody>
          <a:bodyPr>
            <a:noAutofit/>
          </a:bodyPr>
          <a:lstStyle/>
          <a:p>
            <a:r>
              <a:rPr lang="en-US" dirty="0"/>
              <a:t>What is Risk? </a:t>
            </a:r>
          </a:p>
        </p:txBody>
      </p:sp>
      <p:sp>
        <p:nvSpPr>
          <p:cNvPr id="3" name="Content Placeholder 2"/>
          <p:cNvSpPr>
            <a:spLocks noGrp="1"/>
          </p:cNvSpPr>
          <p:nvPr>
            <p:ph type="body" sz="quarter" idx="13"/>
          </p:nvPr>
        </p:nvSpPr>
        <p:spPr/>
        <p:txBody>
          <a:bodyPr>
            <a:normAutofit/>
          </a:bodyPr>
          <a:lstStyle/>
          <a:p>
            <a:r>
              <a:rPr lang="en-US" sz="2800" b="1" dirty="0"/>
              <a:t>Two</a:t>
            </a:r>
            <a:r>
              <a:rPr lang="en-US" sz="2800" b="1" dirty="0" smtClean="0"/>
              <a:t> </a:t>
            </a:r>
            <a:r>
              <a:rPr lang="en-US" sz="2800" b="1" dirty="0"/>
              <a:t>characteristics of risk</a:t>
            </a:r>
          </a:p>
          <a:p>
            <a:pPr lvl="1"/>
            <a:r>
              <a:rPr lang="en-US" sz="2400" dirty="0"/>
              <a:t>Uncertainty – the risk may or may not happen, that is, there are no 100% risks (those, instead, are called constraints)</a:t>
            </a:r>
          </a:p>
          <a:p>
            <a:pPr lvl="1"/>
            <a:r>
              <a:rPr lang="en-US" sz="2400" dirty="0"/>
              <a:t>Loss/Benefit – </a:t>
            </a:r>
            <a:endParaRPr lang="en-US" sz="2400" dirty="0" smtClean="0"/>
          </a:p>
          <a:p>
            <a:pPr lvl="2"/>
            <a:r>
              <a:rPr lang="en-US" sz="2000" dirty="0" smtClean="0"/>
              <a:t>the </a:t>
            </a:r>
            <a:r>
              <a:rPr lang="en-US" sz="2000" dirty="0"/>
              <a:t>risk becomes a reality and unwanted consequences or losses </a:t>
            </a:r>
            <a:r>
              <a:rPr lang="en-US" sz="2000" dirty="0" smtClean="0"/>
              <a:t>occur. </a:t>
            </a:r>
          </a:p>
          <a:p>
            <a:pPr lvl="2"/>
            <a:r>
              <a:rPr lang="en-US" sz="2000" dirty="0"/>
              <a:t>some risks present opportunities for improvement or </a:t>
            </a:r>
            <a:r>
              <a:rPr lang="en-US" sz="2000" dirty="0" smtClean="0"/>
              <a:t>innovation</a:t>
            </a:r>
            <a:r>
              <a:rPr lang="en-US" sz="2000" dirty="0" smtClean="0"/>
              <a:t> </a:t>
            </a:r>
            <a:endParaRPr lang="en-US" sz="2000" b="1" dirty="0" smtClean="0"/>
          </a:p>
          <a:p>
            <a:r>
              <a:rPr lang="en-US" sz="2800" b="1" dirty="0" smtClean="0"/>
              <a:t>Every project involves risk.</a:t>
            </a:r>
          </a:p>
          <a:p>
            <a:r>
              <a:rPr lang="en-US" sz="2800" i="1" dirty="0" smtClean="0"/>
              <a:t>project </a:t>
            </a:r>
            <a:r>
              <a:rPr lang="en-US" sz="2800" dirty="0"/>
              <a:t>risks, which prevent the project from </a:t>
            </a:r>
            <a:r>
              <a:rPr lang="en-US" sz="2800" dirty="0" smtClean="0"/>
              <a:t>being completed </a:t>
            </a:r>
            <a:r>
              <a:rPr lang="en-US" sz="2800" dirty="0"/>
              <a:t>successfully, </a:t>
            </a:r>
            <a:r>
              <a:rPr lang="en-US" sz="2800" b="1" dirty="0"/>
              <a:t>are different from the </a:t>
            </a:r>
            <a:r>
              <a:rPr lang="en-US" sz="2800" b="1" i="1" dirty="0"/>
              <a:t>business </a:t>
            </a:r>
            <a:r>
              <a:rPr lang="en-US" sz="2800" b="1" dirty="0"/>
              <a:t>risk that the delivered products are not </a:t>
            </a:r>
            <a:r>
              <a:rPr lang="en-US" sz="2800" b="1" dirty="0" smtClean="0"/>
              <a:t>profitable.</a:t>
            </a:r>
            <a:endParaRPr lang="en-US" sz="2800" b="1" dirty="0"/>
          </a:p>
        </p:txBody>
      </p:sp>
      <p:sp>
        <p:nvSpPr>
          <p:cNvPr id="4" name="Slide Number Placeholder 3"/>
          <p:cNvSpPr>
            <a:spLocks noGrp="1"/>
          </p:cNvSpPr>
          <p:nvPr>
            <p:ph type="sldNum" sz="quarter" idx="12"/>
          </p:nvPr>
        </p:nvSpPr>
        <p:spPr/>
        <p:txBody>
          <a:bodyPr/>
          <a:lstStyle/>
          <a:p>
            <a:fld id="{E5CE4F79-B2B3-4E4E-AB5D-F771515B9CEF}" type="slidenum">
              <a:rPr lang="en-US" smtClean="0"/>
              <a:t>3</a:t>
            </a:fld>
            <a:endParaRPr lang="en-US" dirty="0"/>
          </a:p>
        </p:txBody>
      </p:sp>
    </p:spTree>
    <p:extLst>
      <p:ext uri="{BB962C8B-B14F-4D97-AF65-F5344CB8AC3E}">
        <p14:creationId xmlns:p14="http://schemas.microsoft.com/office/powerpoint/2010/main" val="18624445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CE8D23-64FC-4821-90FF-CC257C5EA139}" type="slidenum">
              <a:rPr lang="en-US" altLang="tr-TR" sz="1400" smtClean="0"/>
              <a:pPr>
                <a:spcBef>
                  <a:spcPct val="0"/>
                </a:spcBef>
                <a:buFontTx/>
                <a:buNone/>
              </a:pPr>
              <a:t>4</a:t>
            </a:fld>
            <a:endParaRPr lang="en-US" altLang="tr-TR" sz="1400" smtClean="0"/>
          </a:p>
        </p:txBody>
      </p:sp>
      <p:sp>
        <p:nvSpPr>
          <p:cNvPr id="8194" name="Title 1"/>
          <p:cNvSpPr>
            <a:spLocks noGrp="1"/>
          </p:cNvSpPr>
          <p:nvPr>
            <p:ph type="title"/>
          </p:nvPr>
        </p:nvSpPr>
        <p:spPr/>
        <p:txBody>
          <a:bodyPr/>
          <a:lstStyle/>
          <a:p>
            <a:r>
              <a:rPr lang="tr-TR" altLang="tr-TR" dirty="0" smtClean="0"/>
              <a:t>Types Of Software Risks</a:t>
            </a:r>
          </a:p>
        </p:txBody>
      </p:sp>
      <p:sp>
        <p:nvSpPr>
          <p:cNvPr id="8195" name="Content Placeholder 2"/>
          <p:cNvSpPr>
            <a:spLocks noGrp="1"/>
          </p:cNvSpPr>
          <p:nvPr>
            <p:ph type="body" sz="quarter" idx="13"/>
          </p:nvPr>
        </p:nvSpPr>
        <p:spPr/>
        <p:txBody>
          <a:bodyPr/>
          <a:lstStyle/>
          <a:p>
            <a:r>
              <a:rPr lang="en-US" altLang="tr-TR" sz="2800" dirty="0" smtClean="0"/>
              <a:t>Software risk exists because the future is uncertain and there are many known and unknown things that cannot be incorporated in the project plan. </a:t>
            </a:r>
            <a:endParaRPr lang="tr-TR" altLang="tr-TR" sz="2800" dirty="0" smtClean="0"/>
          </a:p>
          <a:p>
            <a:r>
              <a:rPr lang="en-US" altLang="tr-TR" sz="2800" dirty="0" smtClean="0"/>
              <a:t>A software risk can be of two types </a:t>
            </a:r>
            <a:endParaRPr lang="tr-TR" altLang="tr-TR" sz="2800" dirty="0" smtClean="0"/>
          </a:p>
          <a:p>
            <a:pPr marL="544068" lvl="1" indent="-342900">
              <a:buFont typeface="+mj-lt"/>
              <a:buAutoNum type="arabicPeriod"/>
            </a:pPr>
            <a:r>
              <a:rPr lang="en-US" altLang="tr-TR" sz="2800" dirty="0"/>
              <a:t>I</a:t>
            </a:r>
            <a:r>
              <a:rPr lang="en-US" altLang="tr-TR" sz="2800" dirty="0" smtClean="0"/>
              <a:t>nternal risks </a:t>
            </a:r>
          </a:p>
          <a:p>
            <a:pPr lvl="2"/>
            <a:r>
              <a:rPr lang="en-US" altLang="tr-TR" sz="2400" dirty="0" smtClean="0"/>
              <a:t>that are within the control of the project manager and </a:t>
            </a:r>
            <a:endParaRPr lang="tr-TR" altLang="tr-TR" sz="2400" dirty="0" smtClean="0"/>
          </a:p>
          <a:p>
            <a:pPr marL="544068" lvl="1" indent="-342900">
              <a:buFont typeface="+mj-lt"/>
              <a:buAutoNum type="arabicPeriod"/>
            </a:pPr>
            <a:r>
              <a:rPr lang="en-US" altLang="tr-TR" sz="2800" dirty="0"/>
              <a:t>E</a:t>
            </a:r>
            <a:r>
              <a:rPr lang="en-US" altLang="tr-TR" sz="2800" dirty="0" smtClean="0"/>
              <a:t>xternal risks</a:t>
            </a:r>
          </a:p>
          <a:p>
            <a:pPr lvl="2"/>
            <a:r>
              <a:rPr lang="en-US" altLang="tr-TR" sz="2400" dirty="0" smtClean="0"/>
              <a:t>that are beyond the control of project manager. </a:t>
            </a:r>
            <a:endParaRPr lang="tr-TR" altLang="tr-TR" sz="2400" dirty="0" smtClean="0"/>
          </a:p>
          <a:p>
            <a:endParaRPr lang="tr-TR" altLang="tr-TR" dirty="0" smtClean="0"/>
          </a:p>
        </p:txBody>
      </p:sp>
    </p:spTree>
    <p:extLst>
      <p:ext uri="{BB962C8B-B14F-4D97-AF65-F5344CB8AC3E}">
        <p14:creationId xmlns:p14="http://schemas.microsoft.com/office/powerpoint/2010/main" val="6380289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5</a:t>
            </a:fld>
            <a:endParaRPr lang="en-US" dirty="0"/>
          </a:p>
        </p:txBody>
      </p:sp>
      <p:sp>
        <p:nvSpPr>
          <p:cNvPr id="3" name="Title 2"/>
          <p:cNvSpPr>
            <a:spLocks noGrp="1"/>
          </p:cNvSpPr>
          <p:nvPr>
            <p:ph type="title"/>
          </p:nvPr>
        </p:nvSpPr>
        <p:spPr/>
        <p:txBody>
          <a:bodyPr/>
          <a:lstStyle/>
          <a:p>
            <a:r>
              <a:rPr lang="en-US" dirty="0" smtClean="0"/>
              <a:t>Risk During The Project</a:t>
            </a:r>
            <a:endParaRPr lang="en-US" dirty="0"/>
          </a:p>
        </p:txBody>
      </p:sp>
      <p:pic>
        <p:nvPicPr>
          <p:cNvPr id="5" name="Picture 7" descr="C:\My Documents\Phil\Editing\McGraw-Hill\Larson\Revised Original Files\Chap007\gra93925_07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371600"/>
            <a:ext cx="7848599" cy="47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36902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 xmlns:a16="http://schemas.microsoft.com/office/drawing/2014/main" id="{E0F48389-1736-47EF-8D16-23ACCF2AF3CF}"/>
              </a:ext>
            </a:extLst>
          </p:cNvPr>
          <p:cNvSpPr>
            <a:spLocks noGrp="1" noChangeArrowheads="1"/>
          </p:cNvSpPr>
          <p:nvPr>
            <p:ph type="title"/>
          </p:nvPr>
        </p:nvSpPr>
        <p:spPr>
          <a:xfrm>
            <a:off x="342900" y="252108"/>
            <a:ext cx="8381999" cy="780195"/>
          </a:xfrm>
        </p:spPr>
        <p:txBody>
          <a:bodyPr rtlCol="0">
            <a:normAutofit/>
          </a:bodyPr>
          <a:lstStyle/>
          <a:p>
            <a:pPr fontAlgn="auto">
              <a:spcAft>
                <a:spcPts val="0"/>
              </a:spcAft>
              <a:defRPr/>
            </a:pPr>
            <a:r>
              <a:rPr lang="en-US" sz="4400" dirty="0">
                <a:latin typeface="+mn-lt"/>
              </a:rPr>
              <a:t>Risk and the Project Life Cycle </a:t>
            </a:r>
          </a:p>
        </p:txBody>
      </p:sp>
      <p:pic>
        <p:nvPicPr>
          <p:cNvPr id="4" name="Picture 3"/>
          <p:cNvPicPr>
            <a:picLocks noChangeAspect="1"/>
          </p:cNvPicPr>
          <p:nvPr/>
        </p:nvPicPr>
        <p:blipFill>
          <a:blip r:embed="rId3"/>
          <a:stretch>
            <a:fillRect/>
          </a:stretch>
        </p:blipFill>
        <p:spPr>
          <a:xfrm>
            <a:off x="533400" y="1447799"/>
            <a:ext cx="7772400" cy="4840135"/>
          </a:xfrm>
          <a:prstGeom prst="rect">
            <a:avLst/>
          </a:prstGeom>
        </p:spPr>
      </p:pic>
    </p:spTree>
    <p:extLst>
      <p:ext uri="{BB962C8B-B14F-4D97-AF65-F5344CB8AC3E}">
        <p14:creationId xmlns:p14="http://schemas.microsoft.com/office/powerpoint/2010/main" val="39733018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7</a:t>
            </a:fld>
            <a:endParaRPr lang="en-US" dirty="0"/>
          </a:p>
        </p:txBody>
      </p:sp>
      <p:pic>
        <p:nvPicPr>
          <p:cNvPr id="5" name="Picture 4"/>
          <p:cNvPicPr>
            <a:picLocks noChangeAspect="1"/>
          </p:cNvPicPr>
          <p:nvPr/>
        </p:nvPicPr>
        <p:blipFill>
          <a:blip r:embed="rId2"/>
          <a:stretch>
            <a:fillRect/>
          </a:stretch>
        </p:blipFill>
        <p:spPr>
          <a:xfrm>
            <a:off x="1066800" y="-76200"/>
            <a:ext cx="6705600" cy="6400800"/>
          </a:xfrm>
          <a:prstGeom prst="rect">
            <a:avLst/>
          </a:prstGeom>
        </p:spPr>
      </p:pic>
    </p:spTree>
    <p:extLst>
      <p:ext uri="{BB962C8B-B14F-4D97-AF65-F5344CB8AC3E}">
        <p14:creationId xmlns:p14="http://schemas.microsoft.com/office/powerpoint/2010/main" val="22132549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8</a:t>
            </a:fld>
            <a:endParaRPr lang="en-US" dirty="0"/>
          </a:p>
        </p:txBody>
      </p:sp>
      <p:sp>
        <p:nvSpPr>
          <p:cNvPr id="3" name="Title 2"/>
          <p:cNvSpPr>
            <a:spLocks noGrp="1"/>
          </p:cNvSpPr>
          <p:nvPr>
            <p:ph type="title"/>
          </p:nvPr>
        </p:nvSpPr>
        <p:spPr/>
        <p:txBody>
          <a:bodyPr>
            <a:normAutofit/>
          </a:bodyPr>
          <a:lstStyle/>
          <a:p>
            <a:r>
              <a:rPr lang="en-US" dirty="0"/>
              <a:t>Nature of Project Risks </a:t>
            </a:r>
          </a:p>
        </p:txBody>
      </p:sp>
      <p:sp>
        <p:nvSpPr>
          <p:cNvPr id="4" name="Text Placeholder 3"/>
          <p:cNvSpPr>
            <a:spLocks noGrp="1"/>
          </p:cNvSpPr>
          <p:nvPr>
            <p:ph type="body" sz="quarter" idx="13"/>
          </p:nvPr>
        </p:nvSpPr>
        <p:spPr/>
        <p:txBody>
          <a:bodyPr>
            <a:normAutofit/>
          </a:bodyPr>
          <a:lstStyle/>
          <a:p>
            <a:r>
              <a:rPr lang="en-US" sz="2800" dirty="0" smtClean="0"/>
              <a:t>Planning assumptions</a:t>
            </a:r>
          </a:p>
          <a:p>
            <a:pPr lvl="1"/>
            <a:r>
              <a:rPr lang="en-US" sz="2600" dirty="0"/>
              <a:t>Those due to assumptions made during the planning process</a:t>
            </a:r>
            <a:endParaRPr lang="en-US" sz="2600" dirty="0" smtClean="0"/>
          </a:p>
          <a:p>
            <a:r>
              <a:rPr lang="en-US" sz="2800" dirty="0" smtClean="0"/>
              <a:t>Estimation errors</a:t>
            </a:r>
          </a:p>
          <a:p>
            <a:pPr lvl="1"/>
            <a:r>
              <a:rPr lang="en-US" sz="2400" dirty="0"/>
              <a:t>Those caused by the inherent difficulties of estimation</a:t>
            </a:r>
            <a:endParaRPr lang="en-US" sz="2600" dirty="0" smtClean="0"/>
          </a:p>
          <a:p>
            <a:r>
              <a:rPr lang="en-US" sz="2800" dirty="0" smtClean="0"/>
              <a:t>Eventualities</a:t>
            </a:r>
          </a:p>
          <a:p>
            <a:pPr lvl="1"/>
            <a:r>
              <a:rPr lang="en-US" sz="2600" dirty="0" smtClean="0"/>
              <a:t>Those </a:t>
            </a:r>
            <a:r>
              <a:rPr lang="en-US" sz="2600" dirty="0"/>
              <a:t>of unforeseen (or at least unplanned) events </a:t>
            </a:r>
            <a:r>
              <a:rPr lang="en-US" sz="2600" dirty="0" smtClean="0"/>
              <a:t>occurring</a:t>
            </a:r>
            <a:endParaRPr lang="en-US" sz="2600" dirty="0"/>
          </a:p>
        </p:txBody>
      </p:sp>
    </p:spTree>
    <p:extLst>
      <p:ext uri="{BB962C8B-B14F-4D97-AF65-F5344CB8AC3E}">
        <p14:creationId xmlns:p14="http://schemas.microsoft.com/office/powerpoint/2010/main" val="40282528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9</a:t>
            </a:fld>
            <a:endParaRPr lang="en-US" dirty="0"/>
          </a:p>
        </p:txBody>
      </p:sp>
      <p:sp>
        <p:nvSpPr>
          <p:cNvPr id="3" name="Title 2"/>
          <p:cNvSpPr>
            <a:spLocks noGrp="1"/>
          </p:cNvSpPr>
          <p:nvPr>
            <p:ph type="title"/>
          </p:nvPr>
        </p:nvSpPr>
        <p:spPr/>
        <p:txBody>
          <a:bodyPr>
            <a:normAutofit/>
          </a:bodyPr>
          <a:lstStyle/>
          <a:p>
            <a:r>
              <a:rPr lang="en-US" dirty="0"/>
              <a:t>Planning </a:t>
            </a:r>
            <a:r>
              <a:rPr lang="en-US" dirty="0" smtClean="0"/>
              <a:t>assumptions</a:t>
            </a:r>
            <a:endParaRPr lang="en-US" dirty="0"/>
          </a:p>
        </p:txBody>
      </p:sp>
      <p:sp>
        <p:nvSpPr>
          <p:cNvPr id="4" name="Text Placeholder 3"/>
          <p:cNvSpPr>
            <a:spLocks noGrp="1"/>
          </p:cNvSpPr>
          <p:nvPr>
            <p:ph type="body" sz="quarter" idx="13"/>
          </p:nvPr>
        </p:nvSpPr>
        <p:spPr/>
        <p:txBody>
          <a:bodyPr>
            <a:noAutofit/>
          </a:bodyPr>
          <a:lstStyle/>
          <a:p>
            <a:r>
              <a:rPr lang="en-US" sz="2800" dirty="0"/>
              <a:t>Why assumptions </a:t>
            </a:r>
            <a:r>
              <a:rPr lang="en-US" sz="2800" dirty="0" smtClean="0"/>
              <a:t>?</a:t>
            </a:r>
          </a:p>
          <a:p>
            <a:pPr lvl="1"/>
            <a:r>
              <a:rPr lang="en-US" sz="2600" dirty="0" smtClean="0"/>
              <a:t>Due </a:t>
            </a:r>
            <a:r>
              <a:rPr lang="en-US" sz="2600" dirty="0"/>
              <a:t>to uncertainties in early stage of the project</a:t>
            </a:r>
            <a:r>
              <a:rPr lang="en-US" sz="2600" dirty="0" smtClean="0"/>
              <a:t>.</a:t>
            </a:r>
          </a:p>
          <a:p>
            <a:r>
              <a:rPr lang="en-US" sz="2800" dirty="0" smtClean="0"/>
              <a:t> </a:t>
            </a:r>
            <a:r>
              <a:rPr lang="en-US" sz="2800" dirty="0"/>
              <a:t>Some of the common assumption made are: </a:t>
            </a:r>
            <a:endParaRPr lang="en-US" sz="2800" dirty="0" smtClean="0"/>
          </a:p>
          <a:p>
            <a:pPr lvl="1"/>
            <a:r>
              <a:rPr lang="en-US" sz="2400" dirty="0" smtClean="0"/>
              <a:t>Everything </a:t>
            </a:r>
            <a:r>
              <a:rPr lang="en-US" sz="2400" dirty="0"/>
              <a:t>will go smoothly </a:t>
            </a:r>
            <a:endParaRPr lang="en-US" sz="2400" dirty="0" smtClean="0"/>
          </a:p>
          <a:p>
            <a:pPr lvl="1"/>
            <a:r>
              <a:rPr lang="en-US" sz="2400" dirty="0" smtClean="0"/>
              <a:t>Environment </a:t>
            </a:r>
            <a:r>
              <a:rPr lang="en-US" sz="2400" dirty="0"/>
              <a:t>is reliable and fixed </a:t>
            </a:r>
            <a:endParaRPr lang="en-US" sz="2400" dirty="0" smtClean="0"/>
          </a:p>
          <a:p>
            <a:pPr lvl="1"/>
            <a:r>
              <a:rPr lang="en-US" sz="2400" dirty="0" smtClean="0"/>
              <a:t>Design </a:t>
            </a:r>
            <a:r>
              <a:rPr lang="en-US" sz="2400" dirty="0"/>
              <a:t>will be perfect first time </a:t>
            </a:r>
            <a:endParaRPr lang="en-US" sz="2400" dirty="0" smtClean="0"/>
          </a:p>
          <a:p>
            <a:pPr lvl="1"/>
            <a:r>
              <a:rPr lang="en-US" sz="2400" dirty="0" smtClean="0"/>
              <a:t>Coding </a:t>
            </a:r>
            <a:r>
              <a:rPr lang="en-US" sz="2400" dirty="0"/>
              <a:t>will be ‘nearly perfect’ </a:t>
            </a:r>
            <a:endParaRPr lang="en-US" sz="2400" dirty="0" smtClean="0"/>
          </a:p>
          <a:p>
            <a:r>
              <a:rPr lang="en-US" sz="2800" dirty="0" smtClean="0"/>
              <a:t>Guidelines </a:t>
            </a:r>
            <a:r>
              <a:rPr lang="en-US" sz="2800" dirty="0"/>
              <a:t>to reduce the risk made due to assumptions: </a:t>
            </a:r>
            <a:endParaRPr lang="en-US" sz="2800" dirty="0" smtClean="0"/>
          </a:p>
          <a:p>
            <a:pPr lvl="1"/>
            <a:r>
              <a:rPr lang="en-US" sz="2400" dirty="0" smtClean="0"/>
              <a:t>List </a:t>
            </a:r>
            <a:r>
              <a:rPr lang="en-US" sz="2400" dirty="0"/>
              <a:t>all the </a:t>
            </a:r>
            <a:r>
              <a:rPr lang="en-US" sz="2400" dirty="0" smtClean="0"/>
              <a:t>assumptions</a:t>
            </a:r>
          </a:p>
          <a:p>
            <a:pPr lvl="1"/>
            <a:r>
              <a:rPr lang="en-US" sz="2400" dirty="0" smtClean="0"/>
              <a:t>Identify </a:t>
            </a:r>
            <a:r>
              <a:rPr lang="en-US" sz="2400" dirty="0"/>
              <a:t>the effects of these assumptions</a:t>
            </a:r>
          </a:p>
        </p:txBody>
      </p:sp>
    </p:spTree>
    <p:extLst>
      <p:ext uri="{BB962C8B-B14F-4D97-AF65-F5344CB8AC3E}">
        <p14:creationId xmlns:p14="http://schemas.microsoft.com/office/powerpoint/2010/main" val="21837717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10</a:t>
            </a:fld>
            <a:endParaRPr lang="en-US" dirty="0"/>
          </a:p>
        </p:txBody>
      </p:sp>
      <p:sp>
        <p:nvSpPr>
          <p:cNvPr id="3" name="Title 2"/>
          <p:cNvSpPr>
            <a:spLocks noGrp="1"/>
          </p:cNvSpPr>
          <p:nvPr>
            <p:ph type="title"/>
          </p:nvPr>
        </p:nvSpPr>
        <p:spPr/>
        <p:txBody>
          <a:bodyPr/>
          <a:lstStyle/>
          <a:p>
            <a:r>
              <a:rPr lang="en-US" dirty="0"/>
              <a:t>Estimation </a:t>
            </a:r>
            <a:r>
              <a:rPr lang="en-US" dirty="0" smtClean="0"/>
              <a:t>Errors</a:t>
            </a:r>
            <a:endParaRPr lang="en-US" dirty="0"/>
          </a:p>
        </p:txBody>
      </p:sp>
      <p:sp>
        <p:nvSpPr>
          <p:cNvPr id="4" name="Text Placeholder 3"/>
          <p:cNvSpPr>
            <a:spLocks noGrp="1"/>
          </p:cNvSpPr>
          <p:nvPr>
            <p:ph type="body" sz="quarter" idx="13"/>
          </p:nvPr>
        </p:nvSpPr>
        <p:spPr>
          <a:xfrm>
            <a:off x="457201" y="1295400"/>
            <a:ext cx="8381999" cy="4648200"/>
          </a:xfrm>
        </p:spPr>
        <p:txBody>
          <a:bodyPr>
            <a:noAutofit/>
          </a:bodyPr>
          <a:lstStyle/>
          <a:p>
            <a:r>
              <a:rPr lang="en-US" sz="2800" dirty="0"/>
              <a:t>Estimation error can occur due to: </a:t>
            </a:r>
            <a:endParaRPr lang="en-US" sz="2800" dirty="0" smtClean="0"/>
          </a:p>
          <a:p>
            <a:pPr lvl="1"/>
            <a:r>
              <a:rPr lang="en-US" sz="2400" dirty="0" smtClean="0"/>
              <a:t>Difficult </a:t>
            </a:r>
            <a:r>
              <a:rPr lang="en-US" sz="2400" dirty="0"/>
              <a:t>to have accurate size or time estimations due to </a:t>
            </a:r>
            <a:endParaRPr lang="en-US" sz="2400" dirty="0" smtClean="0"/>
          </a:p>
          <a:p>
            <a:pPr lvl="3"/>
            <a:r>
              <a:rPr lang="en-US" sz="2400" dirty="0"/>
              <a:t>Lack of experience of similar tasks </a:t>
            </a:r>
          </a:p>
          <a:p>
            <a:pPr lvl="3"/>
            <a:r>
              <a:rPr lang="en-US" sz="2400" dirty="0"/>
              <a:t>Lack of historical data </a:t>
            </a:r>
          </a:p>
          <a:p>
            <a:pPr lvl="3"/>
            <a:r>
              <a:rPr lang="en-US" sz="2400" dirty="0"/>
              <a:t>Nature of the task </a:t>
            </a:r>
          </a:p>
          <a:p>
            <a:pPr lvl="1"/>
            <a:r>
              <a:rPr lang="en-US" sz="2800" dirty="0" smtClean="0"/>
              <a:t> </a:t>
            </a:r>
            <a:r>
              <a:rPr lang="en-US" sz="2400" dirty="0"/>
              <a:t>Estimation can be improved by analyzing historic data for similar tasks and similar projects </a:t>
            </a:r>
            <a:endParaRPr lang="en-US" sz="2400" dirty="0" smtClean="0"/>
          </a:p>
          <a:p>
            <a:pPr lvl="3"/>
            <a:r>
              <a:rPr lang="en-US" sz="2400" dirty="0" smtClean="0"/>
              <a:t>Keep </a:t>
            </a:r>
            <a:r>
              <a:rPr lang="en-US" sz="2400" dirty="0"/>
              <a:t>historic data of your estimation and the </a:t>
            </a:r>
            <a:r>
              <a:rPr lang="en-US" sz="2400" dirty="0" smtClean="0"/>
              <a:t>actual performance </a:t>
            </a:r>
          </a:p>
          <a:p>
            <a:pPr lvl="3"/>
            <a:r>
              <a:rPr lang="en-US" sz="2400" dirty="0" smtClean="0"/>
              <a:t>Compare </a:t>
            </a:r>
            <a:r>
              <a:rPr lang="en-US" sz="2400" dirty="0"/>
              <a:t>your estimation and the actual value </a:t>
            </a:r>
            <a:endParaRPr lang="en-US" sz="2400" dirty="0" smtClean="0"/>
          </a:p>
          <a:p>
            <a:pPr lvl="3"/>
            <a:r>
              <a:rPr lang="en-US" sz="2400" dirty="0" smtClean="0"/>
              <a:t>Classify </a:t>
            </a:r>
            <a:r>
              <a:rPr lang="en-US" sz="2400" dirty="0"/>
              <a:t>the tasks that are easy or difficult to give accurate estimation </a:t>
            </a:r>
          </a:p>
        </p:txBody>
      </p:sp>
    </p:spTree>
    <p:extLst>
      <p:ext uri="{BB962C8B-B14F-4D97-AF65-F5344CB8AC3E}">
        <p14:creationId xmlns:p14="http://schemas.microsoft.com/office/powerpoint/2010/main" val="32928084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11</a:t>
            </a:fld>
            <a:endParaRPr lang="en-US" dirty="0"/>
          </a:p>
        </p:txBody>
      </p:sp>
      <p:sp>
        <p:nvSpPr>
          <p:cNvPr id="3" name="Title 2"/>
          <p:cNvSpPr>
            <a:spLocks noGrp="1"/>
          </p:cNvSpPr>
          <p:nvPr>
            <p:ph type="title"/>
          </p:nvPr>
        </p:nvSpPr>
        <p:spPr/>
        <p:txBody>
          <a:bodyPr/>
          <a:lstStyle/>
          <a:p>
            <a:r>
              <a:rPr lang="en-US" dirty="0" smtClean="0"/>
              <a:t>Eventualities</a:t>
            </a:r>
            <a:endParaRPr lang="en-US" dirty="0"/>
          </a:p>
        </p:txBody>
      </p:sp>
      <p:sp>
        <p:nvSpPr>
          <p:cNvPr id="4" name="Text Placeholder 3"/>
          <p:cNvSpPr>
            <a:spLocks noGrp="1"/>
          </p:cNvSpPr>
          <p:nvPr>
            <p:ph type="body" sz="quarter" idx="13"/>
          </p:nvPr>
        </p:nvSpPr>
        <p:spPr/>
        <p:txBody>
          <a:bodyPr>
            <a:normAutofit/>
          </a:bodyPr>
          <a:lstStyle/>
          <a:p>
            <a:r>
              <a:rPr lang="en-US" sz="2800" dirty="0"/>
              <a:t>Unexpected and unimaginable events </a:t>
            </a:r>
            <a:endParaRPr lang="en-US" sz="2800" dirty="0" smtClean="0"/>
          </a:p>
          <a:p>
            <a:r>
              <a:rPr lang="en-US" sz="2800" dirty="0" smtClean="0"/>
              <a:t>Common </a:t>
            </a:r>
            <a:r>
              <a:rPr lang="en-US" sz="2800" dirty="0"/>
              <a:t>unexpected </a:t>
            </a:r>
            <a:r>
              <a:rPr lang="en-US" sz="2800" dirty="0" smtClean="0"/>
              <a:t>events</a:t>
            </a:r>
          </a:p>
          <a:p>
            <a:pPr lvl="1"/>
            <a:r>
              <a:rPr lang="en-US" sz="2400" dirty="0" smtClean="0"/>
              <a:t>Hardware </a:t>
            </a:r>
            <a:r>
              <a:rPr lang="en-US" sz="2400" dirty="0"/>
              <a:t>cannot be delivered on time </a:t>
            </a:r>
          </a:p>
          <a:p>
            <a:pPr lvl="1"/>
            <a:r>
              <a:rPr lang="en-US" sz="2400" dirty="0" smtClean="0"/>
              <a:t>Requirements </a:t>
            </a:r>
            <a:r>
              <a:rPr lang="en-US" sz="2400" dirty="0"/>
              <a:t>specification needs to be rewritten </a:t>
            </a:r>
          </a:p>
          <a:p>
            <a:pPr lvl="1"/>
            <a:r>
              <a:rPr lang="en-US" sz="2400" dirty="0" smtClean="0"/>
              <a:t>Staffing </a:t>
            </a:r>
            <a:r>
              <a:rPr lang="en-US" sz="2400" dirty="0"/>
              <a:t>problem</a:t>
            </a:r>
          </a:p>
        </p:txBody>
      </p:sp>
    </p:spTree>
    <p:extLst>
      <p:ext uri="{BB962C8B-B14F-4D97-AF65-F5344CB8AC3E}">
        <p14:creationId xmlns:p14="http://schemas.microsoft.com/office/powerpoint/2010/main" val="5144025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CE8D23-64FC-4821-90FF-CC257C5EA139}" type="slidenum">
              <a:rPr lang="en-US" altLang="tr-TR" sz="1400" smtClean="0"/>
              <a:pPr>
                <a:spcBef>
                  <a:spcPct val="0"/>
                </a:spcBef>
                <a:buFontTx/>
                <a:buNone/>
              </a:pPr>
              <a:t>12</a:t>
            </a:fld>
            <a:endParaRPr lang="en-US" altLang="tr-TR" sz="1400" smtClean="0"/>
          </a:p>
        </p:txBody>
      </p:sp>
      <p:sp>
        <p:nvSpPr>
          <p:cNvPr id="8194" name="Title 1"/>
          <p:cNvSpPr>
            <a:spLocks noGrp="1"/>
          </p:cNvSpPr>
          <p:nvPr>
            <p:ph type="title"/>
          </p:nvPr>
        </p:nvSpPr>
        <p:spPr/>
        <p:txBody>
          <a:bodyPr/>
          <a:lstStyle/>
          <a:p>
            <a:r>
              <a:rPr lang="tr-TR" altLang="tr-TR" dirty="0" smtClean="0"/>
              <a:t>Software </a:t>
            </a:r>
            <a:r>
              <a:rPr lang="en-US" dirty="0" smtClean="0"/>
              <a:t>Risks </a:t>
            </a:r>
            <a:r>
              <a:rPr lang="en-US" dirty="0"/>
              <a:t>Generation</a:t>
            </a:r>
            <a:endParaRPr lang="tr-TR" altLang="tr-TR" dirty="0" smtClean="0"/>
          </a:p>
        </p:txBody>
      </p:sp>
      <p:graphicFrame>
        <p:nvGraphicFramePr>
          <p:cNvPr id="6" name="Content Placeholder 4"/>
          <p:cNvGraphicFramePr>
            <a:graphicFrameLocks/>
          </p:cNvGraphicFramePr>
          <p:nvPr>
            <p:extLst>
              <p:ext uri="{D42A27DB-BD31-4B8C-83A1-F6EECF244321}">
                <p14:modId xmlns:p14="http://schemas.microsoft.com/office/powerpoint/2010/main" val="2916973834"/>
              </p:ext>
            </p:extLst>
          </p:nvPr>
        </p:nvGraphicFramePr>
        <p:xfrm>
          <a:off x="304800" y="1295400"/>
          <a:ext cx="8305801" cy="4894071"/>
        </p:xfrm>
        <a:graphic>
          <a:graphicData uri="http://schemas.openxmlformats.org/drawingml/2006/table">
            <a:tbl>
              <a:tblPr firstRow="1" bandRow="1">
                <a:tableStyleId>{5C22544A-7EE6-4342-B048-85BDC9FD1C3A}</a:tableStyleId>
              </a:tblPr>
              <a:tblGrid>
                <a:gridCol w="2422513"/>
                <a:gridCol w="1658288"/>
                <a:gridCol w="4225000"/>
              </a:tblGrid>
              <a:tr h="487123">
                <a:tc>
                  <a:txBody>
                    <a:bodyPr/>
                    <a:lstStyle/>
                    <a:p>
                      <a:r>
                        <a:rPr lang="en-US" sz="2400" dirty="0" smtClean="0"/>
                        <a:t>Risk</a:t>
                      </a:r>
                      <a:endParaRPr lang="en-IN" sz="2400" dirty="0"/>
                    </a:p>
                  </a:txBody>
                  <a:tcPr/>
                </a:tc>
                <a:tc>
                  <a:txBody>
                    <a:bodyPr/>
                    <a:lstStyle/>
                    <a:p>
                      <a:r>
                        <a:rPr lang="en-US" sz="2400" dirty="0" smtClean="0"/>
                        <a:t>Affects</a:t>
                      </a:r>
                      <a:endParaRPr lang="en-IN" sz="2400" dirty="0"/>
                    </a:p>
                  </a:txBody>
                  <a:tcPr/>
                </a:tc>
                <a:tc>
                  <a:txBody>
                    <a:bodyPr/>
                    <a:lstStyle/>
                    <a:p>
                      <a:r>
                        <a:rPr lang="en-US" sz="2400" dirty="0" smtClean="0"/>
                        <a:t>Description</a:t>
                      </a:r>
                      <a:endParaRPr lang="en-IN" sz="2400" dirty="0"/>
                    </a:p>
                  </a:txBody>
                  <a:tcPr/>
                </a:tc>
              </a:tr>
              <a:tr h="840788">
                <a:tc>
                  <a:txBody>
                    <a:bodyPr/>
                    <a:lstStyle/>
                    <a:p>
                      <a:r>
                        <a:rPr lang="en-US" sz="2400" dirty="0" smtClean="0"/>
                        <a:t>Staff Turnover</a:t>
                      </a:r>
                      <a:endParaRPr lang="en-IN" sz="2400" dirty="0"/>
                    </a:p>
                  </a:txBody>
                  <a:tcPr/>
                </a:tc>
                <a:tc>
                  <a:txBody>
                    <a:bodyPr/>
                    <a:lstStyle/>
                    <a:p>
                      <a:r>
                        <a:rPr lang="en-US" sz="2400" dirty="0" smtClean="0"/>
                        <a:t>Project</a:t>
                      </a:r>
                      <a:endParaRPr lang="en-IN" sz="2400" dirty="0"/>
                    </a:p>
                  </a:txBody>
                  <a:tcPr/>
                </a:tc>
                <a:tc>
                  <a:txBody>
                    <a:bodyPr/>
                    <a:lstStyle/>
                    <a:p>
                      <a:r>
                        <a:rPr lang="en-US" sz="2400" dirty="0" smtClean="0"/>
                        <a:t>Experienced staff will leave the project during development</a:t>
                      </a:r>
                      <a:endParaRPr lang="en-IN" sz="2400" dirty="0"/>
                    </a:p>
                  </a:txBody>
                  <a:tcPr/>
                </a:tc>
              </a:tr>
              <a:tr h="840788">
                <a:tc>
                  <a:txBody>
                    <a:bodyPr/>
                    <a:lstStyle/>
                    <a:p>
                      <a:r>
                        <a:rPr lang="en-US" sz="2400" dirty="0" smtClean="0"/>
                        <a:t>Management Change</a:t>
                      </a:r>
                      <a:endParaRPr lang="en-IN" sz="2400" dirty="0"/>
                    </a:p>
                  </a:txBody>
                  <a:tcPr/>
                </a:tc>
                <a:tc>
                  <a:txBody>
                    <a:bodyPr/>
                    <a:lstStyle/>
                    <a:p>
                      <a:r>
                        <a:rPr lang="en-US" sz="2400" dirty="0" smtClean="0"/>
                        <a:t>Project</a:t>
                      </a:r>
                      <a:endParaRPr lang="en-IN" sz="2400" dirty="0"/>
                    </a:p>
                  </a:txBody>
                  <a:tcPr/>
                </a:tc>
                <a:tc>
                  <a:txBody>
                    <a:bodyPr/>
                    <a:lstStyle/>
                    <a:p>
                      <a:r>
                        <a:rPr lang="en-US" sz="2400" dirty="0" smtClean="0"/>
                        <a:t>There is a change of</a:t>
                      </a:r>
                      <a:r>
                        <a:rPr lang="en-US" sz="2400" baseline="0" dirty="0" smtClean="0"/>
                        <a:t> Organizational management with different priorities.</a:t>
                      </a:r>
                      <a:endParaRPr lang="en-IN" sz="2400" dirty="0"/>
                    </a:p>
                  </a:txBody>
                  <a:tcPr/>
                </a:tc>
              </a:tr>
              <a:tr h="840788">
                <a:tc>
                  <a:txBody>
                    <a:bodyPr/>
                    <a:lstStyle/>
                    <a:p>
                      <a:r>
                        <a:rPr lang="en-US" sz="2400" dirty="0" smtClean="0"/>
                        <a:t>Hardware Unavailability</a:t>
                      </a:r>
                      <a:endParaRPr lang="en-IN" sz="2400" dirty="0"/>
                    </a:p>
                  </a:txBody>
                  <a:tcPr/>
                </a:tc>
                <a:tc>
                  <a:txBody>
                    <a:bodyPr/>
                    <a:lstStyle/>
                    <a:p>
                      <a:r>
                        <a:rPr lang="en-US" sz="2400" dirty="0" smtClean="0"/>
                        <a:t>Project</a:t>
                      </a:r>
                      <a:endParaRPr lang="en-IN" sz="2400" dirty="0"/>
                    </a:p>
                  </a:txBody>
                  <a:tcPr/>
                </a:tc>
                <a:tc>
                  <a:txBody>
                    <a:bodyPr/>
                    <a:lstStyle/>
                    <a:p>
                      <a:r>
                        <a:rPr lang="en-US" sz="2400" dirty="0" smtClean="0"/>
                        <a:t>Hardware that is essential for the project will not be delivered in schedule</a:t>
                      </a:r>
                      <a:endParaRPr lang="en-IN" sz="2400" dirty="0"/>
                    </a:p>
                  </a:txBody>
                  <a:tcPr/>
                </a:tc>
              </a:tr>
              <a:tr h="840788">
                <a:tc>
                  <a:txBody>
                    <a:bodyPr/>
                    <a:lstStyle/>
                    <a:p>
                      <a:r>
                        <a:rPr lang="en-US" sz="2400" dirty="0" smtClean="0"/>
                        <a:t>Requirements change</a:t>
                      </a:r>
                      <a:endParaRPr lang="en-IN" sz="2400" dirty="0"/>
                    </a:p>
                  </a:txBody>
                  <a:tcPr/>
                </a:tc>
                <a:tc>
                  <a:txBody>
                    <a:bodyPr/>
                    <a:lstStyle/>
                    <a:p>
                      <a:r>
                        <a:rPr lang="en-US" sz="2400" dirty="0" smtClean="0"/>
                        <a:t>Project and product</a:t>
                      </a:r>
                      <a:endParaRPr lang="en-IN" sz="2400" dirty="0"/>
                    </a:p>
                  </a:txBody>
                  <a:tcPr/>
                </a:tc>
                <a:tc>
                  <a:txBody>
                    <a:bodyPr/>
                    <a:lstStyle/>
                    <a:p>
                      <a:r>
                        <a:rPr lang="en-US" sz="2400" dirty="0" smtClean="0"/>
                        <a:t>There will be large number of changes to the requirements than anticipated.</a:t>
                      </a:r>
                      <a:endParaRPr lang="en-IN" sz="2400" dirty="0"/>
                    </a:p>
                  </a:txBody>
                  <a:tcPr/>
                </a:tc>
              </a:tr>
            </a:tbl>
          </a:graphicData>
        </a:graphic>
      </p:graphicFrame>
    </p:spTree>
    <p:extLst>
      <p:ext uri="{BB962C8B-B14F-4D97-AF65-F5344CB8AC3E}">
        <p14:creationId xmlns:p14="http://schemas.microsoft.com/office/powerpoint/2010/main" val="785246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CE8D23-64FC-4821-90FF-CC257C5EA139}" type="slidenum">
              <a:rPr lang="en-US" altLang="tr-TR" sz="1400" smtClean="0"/>
              <a:pPr>
                <a:spcBef>
                  <a:spcPct val="0"/>
                </a:spcBef>
                <a:buFontTx/>
                <a:buNone/>
              </a:pPr>
              <a:t>13</a:t>
            </a:fld>
            <a:endParaRPr lang="en-US" altLang="tr-TR" sz="1400" smtClean="0"/>
          </a:p>
        </p:txBody>
      </p:sp>
      <p:sp>
        <p:nvSpPr>
          <p:cNvPr id="8194" name="Title 1"/>
          <p:cNvSpPr>
            <a:spLocks noGrp="1"/>
          </p:cNvSpPr>
          <p:nvPr>
            <p:ph type="title"/>
          </p:nvPr>
        </p:nvSpPr>
        <p:spPr/>
        <p:txBody>
          <a:bodyPr/>
          <a:lstStyle/>
          <a:p>
            <a:r>
              <a:rPr lang="tr-TR" altLang="tr-TR" dirty="0"/>
              <a:t>Software </a:t>
            </a:r>
            <a:r>
              <a:rPr lang="en-US" dirty="0" smtClean="0"/>
              <a:t>Risks </a:t>
            </a:r>
            <a:r>
              <a:rPr lang="en-US" dirty="0"/>
              <a:t>Generation</a:t>
            </a:r>
            <a:endParaRPr lang="tr-TR" altLang="tr-TR" dirty="0" smtClean="0"/>
          </a:p>
        </p:txBody>
      </p:sp>
      <p:graphicFrame>
        <p:nvGraphicFramePr>
          <p:cNvPr id="5" name="Content Placeholder 4"/>
          <p:cNvGraphicFramePr>
            <a:graphicFrameLocks/>
          </p:cNvGraphicFramePr>
          <p:nvPr>
            <p:extLst>
              <p:ext uri="{D42A27DB-BD31-4B8C-83A1-F6EECF244321}">
                <p14:modId xmlns:p14="http://schemas.microsoft.com/office/powerpoint/2010/main" val="3208789212"/>
              </p:ext>
            </p:extLst>
          </p:nvPr>
        </p:nvGraphicFramePr>
        <p:xfrm>
          <a:off x="457201" y="1371600"/>
          <a:ext cx="8223814" cy="4034512"/>
        </p:xfrm>
        <a:graphic>
          <a:graphicData uri="http://schemas.openxmlformats.org/drawingml/2006/table">
            <a:tbl>
              <a:tblPr firstRow="1" bandRow="1">
                <a:tableStyleId>{5C22544A-7EE6-4342-B048-85BDC9FD1C3A}</a:tableStyleId>
              </a:tblPr>
              <a:tblGrid>
                <a:gridCol w="2398600"/>
                <a:gridCol w="1641919"/>
                <a:gridCol w="4183295"/>
              </a:tblGrid>
              <a:tr h="458467">
                <a:tc>
                  <a:txBody>
                    <a:bodyPr/>
                    <a:lstStyle/>
                    <a:p>
                      <a:r>
                        <a:rPr lang="en-US" sz="2400" dirty="0" smtClean="0"/>
                        <a:t>Risk</a:t>
                      </a:r>
                      <a:endParaRPr lang="en-IN" sz="2400" dirty="0"/>
                    </a:p>
                  </a:txBody>
                  <a:tcPr/>
                </a:tc>
                <a:tc>
                  <a:txBody>
                    <a:bodyPr/>
                    <a:lstStyle/>
                    <a:p>
                      <a:r>
                        <a:rPr lang="en-US" sz="2400" dirty="0" smtClean="0"/>
                        <a:t>Affects</a:t>
                      </a:r>
                      <a:endParaRPr lang="en-IN" sz="2400" dirty="0"/>
                    </a:p>
                  </a:txBody>
                  <a:tcPr/>
                </a:tc>
                <a:tc>
                  <a:txBody>
                    <a:bodyPr/>
                    <a:lstStyle/>
                    <a:p>
                      <a:r>
                        <a:rPr lang="en-US" sz="2400" dirty="0" smtClean="0"/>
                        <a:t>Description</a:t>
                      </a:r>
                      <a:endParaRPr lang="en-IN" sz="2400" dirty="0"/>
                    </a:p>
                  </a:txBody>
                  <a:tcPr/>
                </a:tc>
              </a:tr>
              <a:tr h="1192015">
                <a:tc>
                  <a:txBody>
                    <a:bodyPr/>
                    <a:lstStyle/>
                    <a:p>
                      <a:r>
                        <a:rPr lang="en-US" sz="2400" dirty="0" smtClean="0"/>
                        <a:t>Technology change</a:t>
                      </a:r>
                      <a:endParaRPr lang="en-IN" sz="2400" dirty="0"/>
                    </a:p>
                  </a:txBody>
                  <a:tcPr/>
                </a:tc>
                <a:tc>
                  <a:txBody>
                    <a:bodyPr/>
                    <a:lstStyle/>
                    <a:p>
                      <a:r>
                        <a:rPr lang="en-US" sz="2400" dirty="0" smtClean="0"/>
                        <a:t>Business</a:t>
                      </a:r>
                      <a:endParaRPr lang="en-IN" sz="2400" dirty="0"/>
                    </a:p>
                  </a:txBody>
                  <a:tcPr/>
                </a:tc>
                <a:tc>
                  <a:txBody>
                    <a:bodyPr/>
                    <a:lstStyle/>
                    <a:p>
                      <a:r>
                        <a:rPr lang="en-US" sz="2400" dirty="0" smtClean="0"/>
                        <a:t>The underlying technology in which the system is built is superseded by new technology</a:t>
                      </a:r>
                      <a:endParaRPr lang="en-IN" sz="2400" dirty="0"/>
                    </a:p>
                  </a:txBody>
                  <a:tcPr/>
                </a:tc>
              </a:tr>
              <a:tr h="1192015">
                <a:tc>
                  <a:txBody>
                    <a:bodyPr/>
                    <a:lstStyle/>
                    <a:p>
                      <a:r>
                        <a:rPr lang="en-US" sz="2400" dirty="0" smtClean="0"/>
                        <a:t>Product Competition</a:t>
                      </a:r>
                      <a:endParaRPr lang="en-IN" sz="2400" dirty="0"/>
                    </a:p>
                  </a:txBody>
                  <a:tcPr/>
                </a:tc>
                <a:tc>
                  <a:txBody>
                    <a:bodyPr/>
                    <a:lstStyle/>
                    <a:p>
                      <a:r>
                        <a:rPr lang="en-US" sz="2400" dirty="0" smtClean="0"/>
                        <a:t>Business</a:t>
                      </a:r>
                      <a:endParaRPr lang="en-IN" sz="2400" dirty="0"/>
                    </a:p>
                  </a:txBody>
                  <a:tcPr/>
                </a:tc>
                <a:tc>
                  <a:txBody>
                    <a:bodyPr/>
                    <a:lstStyle/>
                    <a:p>
                      <a:r>
                        <a:rPr lang="en-US" sz="2400" dirty="0" smtClean="0"/>
                        <a:t>A competitive product is marketed before  the system is completed.</a:t>
                      </a:r>
                      <a:endParaRPr lang="en-IN" sz="2400" dirty="0"/>
                    </a:p>
                  </a:txBody>
                  <a:tcPr/>
                </a:tc>
              </a:tr>
              <a:tr h="1192015">
                <a:tc>
                  <a:txBody>
                    <a:bodyPr/>
                    <a:lstStyle/>
                    <a:p>
                      <a:r>
                        <a:rPr lang="en-US" sz="2400" dirty="0" smtClean="0"/>
                        <a:t>Specification delays</a:t>
                      </a:r>
                      <a:endParaRPr lang="en-IN" sz="2400" dirty="0"/>
                    </a:p>
                  </a:txBody>
                  <a:tcPr/>
                </a:tc>
                <a:tc>
                  <a:txBody>
                    <a:bodyPr/>
                    <a:lstStyle/>
                    <a:p>
                      <a:r>
                        <a:rPr lang="en-US" sz="2400" dirty="0" smtClean="0"/>
                        <a:t>Project and product</a:t>
                      </a:r>
                      <a:endParaRPr lang="en-IN" sz="2400" dirty="0"/>
                    </a:p>
                  </a:txBody>
                  <a:tcPr/>
                </a:tc>
                <a:tc>
                  <a:txBody>
                    <a:bodyPr/>
                    <a:lstStyle/>
                    <a:p>
                      <a:r>
                        <a:rPr lang="en-US" sz="2400" dirty="0" smtClean="0"/>
                        <a:t>Specification of essential interfaces are not available on schedule</a:t>
                      </a:r>
                      <a:endParaRPr lang="en-IN" sz="2400" dirty="0"/>
                    </a:p>
                  </a:txBody>
                  <a:tcPr/>
                </a:tc>
              </a:tr>
            </a:tbl>
          </a:graphicData>
        </a:graphic>
      </p:graphicFrame>
    </p:spTree>
    <p:extLst>
      <p:ext uri="{BB962C8B-B14F-4D97-AF65-F5344CB8AC3E}">
        <p14:creationId xmlns:p14="http://schemas.microsoft.com/office/powerpoint/2010/main" val="22921485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14</a:t>
            </a:fld>
            <a:endParaRPr lang="en-US" dirty="0"/>
          </a:p>
        </p:txBody>
      </p:sp>
      <p:sp>
        <p:nvSpPr>
          <p:cNvPr id="3" name="Title 2"/>
          <p:cNvSpPr>
            <a:spLocks noGrp="1"/>
          </p:cNvSpPr>
          <p:nvPr>
            <p:ph type="title"/>
          </p:nvPr>
        </p:nvSpPr>
        <p:spPr/>
        <p:txBody>
          <a:bodyPr/>
          <a:lstStyle/>
          <a:p>
            <a:r>
              <a:rPr lang="en-US" dirty="0"/>
              <a:t>Risk </a:t>
            </a:r>
            <a:r>
              <a:rPr lang="en-US" dirty="0" smtClean="0"/>
              <a:t>Categorization</a:t>
            </a:r>
            <a:endParaRPr lang="en-US" dirty="0"/>
          </a:p>
        </p:txBody>
      </p:sp>
      <p:sp>
        <p:nvSpPr>
          <p:cNvPr id="4" name="Text Placeholder 3"/>
          <p:cNvSpPr>
            <a:spLocks noGrp="1"/>
          </p:cNvSpPr>
          <p:nvPr>
            <p:ph type="body" sz="quarter" idx="13"/>
          </p:nvPr>
        </p:nvSpPr>
        <p:spPr>
          <a:xfrm>
            <a:off x="457201" y="1219200"/>
            <a:ext cx="8381999" cy="5105400"/>
          </a:xfrm>
        </p:spPr>
        <p:txBody>
          <a:bodyPr>
            <a:normAutofit lnSpcReduction="10000"/>
          </a:bodyPr>
          <a:lstStyle/>
          <a:p>
            <a:r>
              <a:rPr lang="en-US" sz="2400" b="1" dirty="0" smtClean="0"/>
              <a:t>Approach 1</a:t>
            </a:r>
          </a:p>
          <a:p>
            <a:pPr lvl="1"/>
            <a:r>
              <a:rPr lang="en-US" sz="2200" dirty="0"/>
              <a:t>Project </a:t>
            </a:r>
            <a:r>
              <a:rPr lang="en-US" sz="2200" dirty="0" smtClean="0"/>
              <a:t>risks</a:t>
            </a:r>
          </a:p>
          <a:p>
            <a:pPr lvl="1"/>
            <a:r>
              <a:rPr lang="en-US" sz="2200" dirty="0"/>
              <a:t>Technical </a:t>
            </a:r>
            <a:r>
              <a:rPr lang="en-US" sz="2200" dirty="0" smtClean="0"/>
              <a:t>risks</a:t>
            </a:r>
          </a:p>
          <a:p>
            <a:pPr lvl="1"/>
            <a:r>
              <a:rPr lang="en-US" sz="2200" dirty="0"/>
              <a:t>Business </a:t>
            </a:r>
            <a:r>
              <a:rPr lang="en-US" sz="2200" dirty="0" smtClean="0"/>
              <a:t>risks</a:t>
            </a:r>
          </a:p>
          <a:p>
            <a:r>
              <a:rPr lang="en-US" sz="2400" b="1" dirty="0" smtClean="0"/>
              <a:t>Approach 2</a:t>
            </a:r>
          </a:p>
          <a:p>
            <a:pPr lvl="1"/>
            <a:r>
              <a:rPr lang="en-US" sz="2200" dirty="0" smtClean="0"/>
              <a:t>Known risks</a:t>
            </a:r>
          </a:p>
          <a:p>
            <a:pPr lvl="1"/>
            <a:r>
              <a:rPr lang="en-US" sz="2200" dirty="0" smtClean="0"/>
              <a:t>Predictable risks</a:t>
            </a:r>
          </a:p>
          <a:p>
            <a:pPr lvl="1"/>
            <a:r>
              <a:rPr lang="en-US" sz="2200" dirty="0" smtClean="0"/>
              <a:t>Unpredictable risks</a:t>
            </a:r>
            <a:endParaRPr lang="en-US" sz="2400" dirty="0" smtClean="0"/>
          </a:p>
          <a:p>
            <a:r>
              <a:rPr lang="en-US" sz="2400" b="1" dirty="0" smtClean="0"/>
              <a:t>Approach 3: </a:t>
            </a:r>
            <a:r>
              <a:rPr lang="en-US" sz="2400" dirty="0" smtClean="0"/>
              <a:t>Socio-technical </a:t>
            </a:r>
            <a:r>
              <a:rPr lang="en-US" sz="2400" dirty="0"/>
              <a:t>model of </a:t>
            </a:r>
            <a:r>
              <a:rPr lang="en-US" sz="2400" dirty="0" smtClean="0"/>
              <a:t>risk</a:t>
            </a:r>
          </a:p>
          <a:p>
            <a:pPr lvl="1"/>
            <a:r>
              <a:rPr lang="en-US" sz="2200" dirty="0" smtClean="0"/>
              <a:t>Actor </a:t>
            </a:r>
          </a:p>
          <a:p>
            <a:pPr lvl="1"/>
            <a:r>
              <a:rPr lang="en-US" sz="2200" dirty="0" smtClean="0"/>
              <a:t>Technology </a:t>
            </a:r>
          </a:p>
          <a:p>
            <a:pPr lvl="1"/>
            <a:r>
              <a:rPr lang="en-US" sz="2200" dirty="0" smtClean="0"/>
              <a:t>Structure </a:t>
            </a:r>
          </a:p>
          <a:p>
            <a:pPr lvl="1"/>
            <a:r>
              <a:rPr lang="en-US" sz="2200" dirty="0" smtClean="0"/>
              <a:t>Tasks</a:t>
            </a:r>
            <a:endParaRPr lang="en-US" sz="2200" dirty="0"/>
          </a:p>
        </p:txBody>
      </p:sp>
    </p:spTree>
    <p:extLst>
      <p:ext uri="{BB962C8B-B14F-4D97-AF65-F5344CB8AC3E}">
        <p14:creationId xmlns:p14="http://schemas.microsoft.com/office/powerpoint/2010/main" val="40595961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15</a:t>
            </a:fld>
            <a:endParaRPr lang="en-US" dirty="0"/>
          </a:p>
        </p:txBody>
      </p:sp>
      <p:sp>
        <p:nvSpPr>
          <p:cNvPr id="3" name="Title 2"/>
          <p:cNvSpPr>
            <a:spLocks noGrp="1"/>
          </p:cNvSpPr>
          <p:nvPr>
            <p:ph type="title"/>
          </p:nvPr>
        </p:nvSpPr>
        <p:spPr/>
        <p:txBody>
          <a:bodyPr>
            <a:normAutofit/>
          </a:bodyPr>
          <a:lstStyle/>
          <a:p>
            <a:r>
              <a:rPr lang="en-US" dirty="0"/>
              <a:t>Risk </a:t>
            </a:r>
            <a:r>
              <a:rPr lang="en-US" dirty="0" smtClean="0"/>
              <a:t>Categorization #</a:t>
            </a:r>
            <a:r>
              <a:rPr lang="en-US" dirty="0"/>
              <a:t>Approach </a:t>
            </a:r>
            <a:r>
              <a:rPr lang="en-US" dirty="0" smtClean="0"/>
              <a:t>1</a:t>
            </a:r>
            <a:endParaRPr lang="en-US" dirty="0"/>
          </a:p>
        </p:txBody>
      </p:sp>
      <p:sp>
        <p:nvSpPr>
          <p:cNvPr id="4" name="Text Placeholder 3"/>
          <p:cNvSpPr>
            <a:spLocks noGrp="1"/>
          </p:cNvSpPr>
          <p:nvPr>
            <p:ph type="body" sz="quarter" idx="13"/>
          </p:nvPr>
        </p:nvSpPr>
        <p:spPr>
          <a:xfrm>
            <a:off x="457201" y="1447800"/>
            <a:ext cx="8381999" cy="4648200"/>
          </a:xfrm>
        </p:spPr>
        <p:txBody>
          <a:bodyPr>
            <a:noAutofit/>
          </a:bodyPr>
          <a:lstStyle/>
          <a:p>
            <a:r>
              <a:rPr lang="en-US" altLang="tr-TR" sz="2400" b="1" dirty="0"/>
              <a:t>Project risks </a:t>
            </a:r>
          </a:p>
          <a:p>
            <a:pPr lvl="1"/>
            <a:r>
              <a:rPr lang="en-US" altLang="tr-TR" sz="2000" dirty="0"/>
              <a:t>They threaten the </a:t>
            </a:r>
            <a:r>
              <a:rPr lang="en-US" altLang="tr-TR" sz="2000" u="sng" dirty="0"/>
              <a:t>project plan</a:t>
            </a:r>
          </a:p>
          <a:p>
            <a:pPr lvl="1"/>
            <a:r>
              <a:rPr lang="en-US" altLang="tr-TR" sz="2000" dirty="0"/>
              <a:t>If they become real, it is likely that the </a:t>
            </a:r>
            <a:r>
              <a:rPr lang="en-US" altLang="tr-TR" sz="2000" u="sng" dirty="0"/>
              <a:t>project schedule</a:t>
            </a:r>
            <a:r>
              <a:rPr lang="en-US" altLang="tr-TR" sz="2000" dirty="0"/>
              <a:t> will slip and that costs will increase</a:t>
            </a:r>
          </a:p>
          <a:p>
            <a:r>
              <a:rPr lang="en-US" altLang="tr-TR" sz="2400" b="1" dirty="0"/>
              <a:t>Technical risks </a:t>
            </a:r>
          </a:p>
          <a:p>
            <a:pPr lvl="1"/>
            <a:r>
              <a:rPr lang="en-US" altLang="tr-TR" sz="2000" dirty="0"/>
              <a:t>They threaten the </a:t>
            </a:r>
            <a:r>
              <a:rPr lang="en-US" altLang="tr-TR" sz="2000" u="sng" dirty="0"/>
              <a:t>quality</a:t>
            </a:r>
            <a:r>
              <a:rPr lang="en-US" altLang="tr-TR" sz="2000" dirty="0"/>
              <a:t> and </a:t>
            </a:r>
            <a:r>
              <a:rPr lang="en-US" altLang="tr-TR" sz="2000" u="sng" dirty="0"/>
              <a:t>timeliness</a:t>
            </a:r>
            <a:r>
              <a:rPr lang="en-US" altLang="tr-TR" sz="2000" dirty="0"/>
              <a:t> of the software to be produced</a:t>
            </a:r>
          </a:p>
          <a:p>
            <a:pPr lvl="1"/>
            <a:r>
              <a:rPr lang="en-US" altLang="tr-TR" sz="2000" dirty="0"/>
              <a:t>If they become real, </a:t>
            </a:r>
            <a:r>
              <a:rPr lang="en-US" altLang="tr-TR" sz="2000" u="sng" dirty="0"/>
              <a:t>implementation</a:t>
            </a:r>
            <a:r>
              <a:rPr lang="en-US" altLang="tr-TR" sz="2000" dirty="0"/>
              <a:t> may become difficult or impossible</a:t>
            </a:r>
          </a:p>
          <a:p>
            <a:r>
              <a:rPr lang="en-US" altLang="tr-TR" sz="2400" b="1" dirty="0"/>
              <a:t>Business risks</a:t>
            </a:r>
            <a:r>
              <a:rPr lang="en-US" altLang="tr-TR" sz="2400" dirty="0"/>
              <a:t> </a:t>
            </a:r>
          </a:p>
          <a:p>
            <a:pPr lvl="1"/>
            <a:r>
              <a:rPr lang="en-US" altLang="tr-TR" sz="2000" dirty="0"/>
              <a:t>They threaten the </a:t>
            </a:r>
            <a:r>
              <a:rPr lang="en-US" altLang="tr-TR" sz="2000" u="sng" dirty="0"/>
              <a:t>viability</a:t>
            </a:r>
            <a:r>
              <a:rPr lang="en-US" altLang="tr-TR" sz="2000" dirty="0"/>
              <a:t> of the software to be built</a:t>
            </a:r>
          </a:p>
          <a:p>
            <a:pPr lvl="1"/>
            <a:r>
              <a:rPr lang="en-US" altLang="tr-TR" sz="2000" dirty="0"/>
              <a:t>If they become real, they </a:t>
            </a:r>
            <a:r>
              <a:rPr lang="en-US" altLang="tr-TR" sz="2000" u="sng" dirty="0"/>
              <a:t>jeopardize</a:t>
            </a:r>
            <a:r>
              <a:rPr lang="en-US" altLang="tr-TR" sz="2000" dirty="0"/>
              <a:t> the project or the product </a:t>
            </a:r>
          </a:p>
        </p:txBody>
      </p:sp>
    </p:spTree>
    <p:extLst>
      <p:ext uri="{BB962C8B-B14F-4D97-AF65-F5344CB8AC3E}">
        <p14:creationId xmlns:p14="http://schemas.microsoft.com/office/powerpoint/2010/main" val="20487267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16</a:t>
            </a:fld>
            <a:endParaRPr lang="en-US" dirty="0"/>
          </a:p>
        </p:txBody>
      </p:sp>
      <p:sp>
        <p:nvSpPr>
          <p:cNvPr id="3" name="Title 2"/>
          <p:cNvSpPr>
            <a:spLocks noGrp="1"/>
          </p:cNvSpPr>
          <p:nvPr>
            <p:ph type="title"/>
          </p:nvPr>
        </p:nvSpPr>
        <p:spPr/>
        <p:txBody>
          <a:bodyPr/>
          <a:lstStyle/>
          <a:p>
            <a:r>
              <a:rPr lang="en-US" dirty="0"/>
              <a:t>Risk </a:t>
            </a:r>
            <a:r>
              <a:rPr lang="en-US" dirty="0" smtClean="0"/>
              <a:t>Categorization </a:t>
            </a:r>
            <a:r>
              <a:rPr lang="en-US" dirty="0"/>
              <a:t>#Approach 1</a:t>
            </a:r>
          </a:p>
        </p:txBody>
      </p:sp>
      <p:sp>
        <p:nvSpPr>
          <p:cNvPr id="4" name="Text Placeholder 3"/>
          <p:cNvSpPr>
            <a:spLocks noGrp="1"/>
          </p:cNvSpPr>
          <p:nvPr>
            <p:ph type="body" sz="quarter" idx="13"/>
          </p:nvPr>
        </p:nvSpPr>
        <p:spPr/>
        <p:txBody>
          <a:bodyPr/>
          <a:lstStyle/>
          <a:p>
            <a:r>
              <a:rPr lang="en-US" altLang="tr-TR" sz="2800" dirty="0"/>
              <a:t>Sub-categories of Business risks </a:t>
            </a:r>
          </a:p>
          <a:p>
            <a:pPr lvl="1"/>
            <a:r>
              <a:rPr lang="en-US" altLang="tr-TR" sz="2400" b="1" dirty="0"/>
              <a:t>Market risk</a:t>
            </a:r>
            <a:r>
              <a:rPr lang="en-US" altLang="tr-TR" sz="2400" dirty="0"/>
              <a:t> – building an excellent product or system that no one really wants</a:t>
            </a:r>
          </a:p>
          <a:p>
            <a:pPr lvl="1"/>
            <a:r>
              <a:rPr lang="en-US" altLang="tr-TR" sz="2400" b="1" dirty="0"/>
              <a:t>Strategic risk</a:t>
            </a:r>
            <a:r>
              <a:rPr lang="en-US" altLang="tr-TR" sz="2400" dirty="0"/>
              <a:t> – building a product that no longer fits into the overall business strategy for the company</a:t>
            </a:r>
          </a:p>
          <a:p>
            <a:pPr lvl="1"/>
            <a:r>
              <a:rPr lang="en-US" altLang="tr-TR" sz="2400" b="1" dirty="0"/>
              <a:t>Sales risk</a:t>
            </a:r>
            <a:r>
              <a:rPr lang="en-US" altLang="tr-TR" sz="2400" dirty="0"/>
              <a:t> – building a product that the sales force doesn't understand how to sell</a:t>
            </a:r>
          </a:p>
          <a:p>
            <a:pPr lvl="1"/>
            <a:r>
              <a:rPr lang="en-US" altLang="tr-TR" sz="2400" b="1" dirty="0"/>
              <a:t>Management risk</a:t>
            </a:r>
            <a:r>
              <a:rPr lang="en-US" altLang="tr-TR" sz="2400" dirty="0"/>
              <a:t> – losing the support of senior management due to a change in focus or a change in people</a:t>
            </a:r>
          </a:p>
          <a:p>
            <a:pPr lvl="1"/>
            <a:r>
              <a:rPr lang="en-US" altLang="tr-TR" sz="2400" b="1" dirty="0"/>
              <a:t>Budget risk</a:t>
            </a:r>
            <a:r>
              <a:rPr lang="en-US" altLang="tr-TR" sz="2400" dirty="0"/>
              <a:t> – losing budgetary or personnel commitment</a:t>
            </a:r>
          </a:p>
          <a:p>
            <a:endParaRPr lang="en-US" dirty="0"/>
          </a:p>
        </p:txBody>
      </p:sp>
    </p:spTree>
    <p:extLst>
      <p:ext uri="{BB962C8B-B14F-4D97-AF65-F5344CB8AC3E}">
        <p14:creationId xmlns:p14="http://schemas.microsoft.com/office/powerpoint/2010/main" val="6354465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17</a:t>
            </a:fld>
            <a:endParaRPr lang="en-US" dirty="0"/>
          </a:p>
        </p:txBody>
      </p:sp>
      <p:sp>
        <p:nvSpPr>
          <p:cNvPr id="3" name="Title 2"/>
          <p:cNvSpPr>
            <a:spLocks noGrp="1"/>
          </p:cNvSpPr>
          <p:nvPr>
            <p:ph type="title"/>
          </p:nvPr>
        </p:nvSpPr>
        <p:spPr/>
        <p:txBody>
          <a:bodyPr/>
          <a:lstStyle/>
          <a:p>
            <a:r>
              <a:rPr lang="en-US" dirty="0"/>
              <a:t>Risk </a:t>
            </a:r>
            <a:r>
              <a:rPr lang="en-US" dirty="0" smtClean="0"/>
              <a:t>Categorization </a:t>
            </a:r>
            <a:r>
              <a:rPr lang="en-US" dirty="0"/>
              <a:t>#Approach </a:t>
            </a:r>
            <a:r>
              <a:rPr lang="en-US" dirty="0" smtClean="0"/>
              <a:t>2</a:t>
            </a:r>
            <a:endParaRPr lang="en-US" dirty="0"/>
          </a:p>
        </p:txBody>
      </p:sp>
      <p:sp>
        <p:nvSpPr>
          <p:cNvPr id="4" name="Text Placeholder 3"/>
          <p:cNvSpPr>
            <a:spLocks noGrp="1"/>
          </p:cNvSpPr>
          <p:nvPr>
            <p:ph type="body" sz="quarter" idx="13"/>
          </p:nvPr>
        </p:nvSpPr>
        <p:spPr/>
        <p:txBody>
          <a:bodyPr/>
          <a:lstStyle/>
          <a:p>
            <a:r>
              <a:rPr lang="en-US" altLang="tr-TR" sz="2800" b="1" dirty="0"/>
              <a:t>Known risks</a:t>
            </a:r>
          </a:p>
          <a:p>
            <a:pPr lvl="1"/>
            <a:r>
              <a:rPr lang="en-US" altLang="tr-TR" sz="2400" dirty="0"/>
              <a:t>Those risks that can be </a:t>
            </a:r>
            <a:r>
              <a:rPr lang="en-US" altLang="tr-TR" sz="2400" u="sng" dirty="0"/>
              <a:t>uncovered</a:t>
            </a:r>
            <a:r>
              <a:rPr lang="en-US" altLang="tr-TR" sz="2400" dirty="0"/>
              <a:t> after careful evaluation of the project plan, the business and technical environment in which the project is being developed, and other reliable information sources (e.g., unrealistic delivery date)</a:t>
            </a:r>
          </a:p>
          <a:p>
            <a:r>
              <a:rPr lang="en-US" altLang="tr-TR" sz="2800" b="1" dirty="0"/>
              <a:t>Predictable risks</a:t>
            </a:r>
          </a:p>
          <a:p>
            <a:pPr lvl="1"/>
            <a:r>
              <a:rPr lang="en-US" altLang="tr-TR" sz="2400" dirty="0"/>
              <a:t>Those risks that are </a:t>
            </a:r>
            <a:r>
              <a:rPr lang="en-US" altLang="tr-TR" sz="2400" u="sng" dirty="0"/>
              <a:t>extrapolated</a:t>
            </a:r>
            <a:r>
              <a:rPr lang="en-US" altLang="tr-TR" sz="2400" dirty="0"/>
              <a:t> from past project experience (e.g., past turnover)</a:t>
            </a:r>
          </a:p>
          <a:p>
            <a:r>
              <a:rPr lang="en-US" altLang="tr-TR" sz="2800" b="1" dirty="0"/>
              <a:t>Unpredictable risks</a:t>
            </a:r>
          </a:p>
          <a:p>
            <a:pPr lvl="1"/>
            <a:r>
              <a:rPr lang="en-US" altLang="tr-TR" sz="2400" dirty="0"/>
              <a:t>Those risks that can and do occur, but are extremely </a:t>
            </a:r>
            <a:r>
              <a:rPr lang="en-US" altLang="tr-TR" sz="2400" u="sng" dirty="0"/>
              <a:t>difficult to identify</a:t>
            </a:r>
            <a:r>
              <a:rPr lang="en-US" altLang="tr-TR" sz="2400" dirty="0"/>
              <a:t> in advance</a:t>
            </a:r>
          </a:p>
          <a:p>
            <a:pPr marL="0" indent="0">
              <a:buNone/>
            </a:pPr>
            <a:endParaRPr lang="en-US" dirty="0"/>
          </a:p>
        </p:txBody>
      </p:sp>
    </p:spTree>
    <p:extLst>
      <p:ext uri="{BB962C8B-B14F-4D97-AF65-F5344CB8AC3E}">
        <p14:creationId xmlns:p14="http://schemas.microsoft.com/office/powerpoint/2010/main" val="29243920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18</a:t>
            </a:fld>
            <a:endParaRPr lang="en-US" dirty="0"/>
          </a:p>
        </p:txBody>
      </p:sp>
      <p:sp>
        <p:nvSpPr>
          <p:cNvPr id="3" name="Title 2"/>
          <p:cNvSpPr>
            <a:spLocks noGrp="1"/>
          </p:cNvSpPr>
          <p:nvPr>
            <p:ph type="title"/>
          </p:nvPr>
        </p:nvSpPr>
        <p:spPr>
          <a:xfrm>
            <a:off x="457201" y="612726"/>
            <a:ext cx="8381999" cy="932595"/>
          </a:xfrm>
        </p:spPr>
        <p:txBody>
          <a:bodyPr>
            <a:noAutofit/>
          </a:bodyPr>
          <a:lstStyle/>
          <a:p>
            <a:r>
              <a:rPr lang="en-US" dirty="0" smtClean="0"/>
              <a:t>Socio-technical Model Of Risk Categorization </a:t>
            </a:r>
            <a:r>
              <a:rPr lang="en-US" dirty="0"/>
              <a:t>#Approach </a:t>
            </a:r>
            <a:r>
              <a:rPr lang="en-US" dirty="0" smtClean="0"/>
              <a:t>3</a:t>
            </a:r>
            <a:endParaRPr lang="en-US" dirty="0"/>
          </a:p>
        </p:txBody>
      </p:sp>
      <p:sp>
        <p:nvSpPr>
          <p:cNvPr id="4" name="Text Placeholder 3"/>
          <p:cNvSpPr>
            <a:spLocks noGrp="1"/>
          </p:cNvSpPr>
          <p:nvPr>
            <p:ph type="body" sz="quarter" idx="13"/>
          </p:nvPr>
        </p:nvSpPr>
        <p:spPr>
          <a:xfrm>
            <a:off x="457201" y="2971800"/>
            <a:ext cx="8381999" cy="2971800"/>
          </a:xfrm>
        </p:spPr>
        <p:txBody>
          <a:bodyPr>
            <a:noAutofit/>
          </a:bodyPr>
          <a:lstStyle/>
          <a:p>
            <a:r>
              <a:rPr lang="en-US" sz="2400" b="1" dirty="0" smtClean="0"/>
              <a:t>Actor</a:t>
            </a:r>
            <a:r>
              <a:rPr lang="en-US" sz="2400" b="1" dirty="0"/>
              <a:t>: </a:t>
            </a:r>
            <a:endParaRPr lang="en-US" sz="2400" b="1" dirty="0" smtClean="0"/>
          </a:p>
          <a:p>
            <a:pPr lvl="1"/>
            <a:r>
              <a:rPr lang="en-US" sz="2000" dirty="0" smtClean="0"/>
              <a:t>Actor </a:t>
            </a:r>
            <a:r>
              <a:rPr lang="en-US" sz="2000" dirty="0"/>
              <a:t>refers to all the people involved in the development of the application in question. </a:t>
            </a:r>
            <a:endParaRPr lang="en-US" sz="2000" dirty="0" smtClean="0"/>
          </a:p>
          <a:p>
            <a:pPr lvl="1"/>
            <a:r>
              <a:rPr lang="en-US" sz="2000" dirty="0" smtClean="0"/>
              <a:t>A </a:t>
            </a:r>
            <a:r>
              <a:rPr lang="en-US" sz="2000" dirty="0"/>
              <a:t>typical risk in this area is that high staff turnover (left) leads to expertise of value to the project being lost. </a:t>
            </a:r>
          </a:p>
          <a:p>
            <a:r>
              <a:rPr lang="en-US" sz="2400" b="1" dirty="0" smtClean="0"/>
              <a:t>Technology: </a:t>
            </a:r>
          </a:p>
          <a:p>
            <a:pPr lvl="1"/>
            <a:r>
              <a:rPr lang="en-US" sz="2000" dirty="0" smtClean="0"/>
              <a:t>It </a:t>
            </a:r>
            <a:r>
              <a:rPr lang="en-US" sz="2000" dirty="0"/>
              <a:t>encompasses both the technology used to implement the application and that embedded in the delivered </a:t>
            </a:r>
            <a:r>
              <a:rPr lang="en-US" sz="2000" dirty="0" smtClean="0"/>
              <a:t>products.</a:t>
            </a:r>
          </a:p>
          <a:p>
            <a:pPr lvl="1"/>
            <a:r>
              <a:rPr lang="en-US" sz="2000" dirty="0" smtClean="0"/>
              <a:t>Risk </a:t>
            </a:r>
            <a:r>
              <a:rPr lang="en-US" sz="2000" dirty="0"/>
              <a:t>here could relate to the appropriateness of the technologies and to possible fault within them especially when they are new</a:t>
            </a:r>
            <a:r>
              <a:rPr lang="en-US" sz="2000" dirty="0" smtClean="0"/>
              <a:t>.</a:t>
            </a:r>
            <a:endParaRPr lang="en-US" sz="2000" dirty="0"/>
          </a:p>
        </p:txBody>
      </p:sp>
      <p:pic>
        <p:nvPicPr>
          <p:cNvPr id="5" name="Picture 4"/>
          <p:cNvPicPr>
            <a:picLocks noChangeAspect="1"/>
          </p:cNvPicPr>
          <p:nvPr/>
        </p:nvPicPr>
        <p:blipFill>
          <a:blip r:embed="rId3"/>
          <a:stretch>
            <a:fillRect/>
          </a:stretch>
        </p:blipFill>
        <p:spPr>
          <a:xfrm>
            <a:off x="2895600" y="1595210"/>
            <a:ext cx="3733800" cy="1771650"/>
          </a:xfrm>
          <a:prstGeom prst="rect">
            <a:avLst/>
          </a:prstGeom>
        </p:spPr>
      </p:pic>
    </p:spTree>
    <p:extLst>
      <p:ext uri="{BB962C8B-B14F-4D97-AF65-F5344CB8AC3E}">
        <p14:creationId xmlns:p14="http://schemas.microsoft.com/office/powerpoint/2010/main" val="7323540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19</a:t>
            </a:fld>
            <a:endParaRPr lang="en-US" dirty="0"/>
          </a:p>
        </p:txBody>
      </p:sp>
      <p:sp>
        <p:nvSpPr>
          <p:cNvPr id="3" name="Title 2"/>
          <p:cNvSpPr>
            <a:spLocks noGrp="1"/>
          </p:cNvSpPr>
          <p:nvPr>
            <p:ph type="title"/>
          </p:nvPr>
        </p:nvSpPr>
        <p:spPr>
          <a:xfrm>
            <a:off x="457201" y="685800"/>
            <a:ext cx="8381999" cy="932595"/>
          </a:xfrm>
        </p:spPr>
        <p:txBody>
          <a:bodyPr>
            <a:noAutofit/>
          </a:bodyPr>
          <a:lstStyle/>
          <a:p>
            <a:r>
              <a:rPr lang="en-US" dirty="0" smtClean="0"/>
              <a:t>Socio-technical Model Of Risk Categorization </a:t>
            </a:r>
            <a:r>
              <a:rPr lang="en-US" dirty="0"/>
              <a:t>#Approach </a:t>
            </a:r>
            <a:r>
              <a:rPr lang="en-US" dirty="0" smtClean="0"/>
              <a:t>3</a:t>
            </a:r>
            <a:endParaRPr lang="en-US" dirty="0"/>
          </a:p>
        </p:txBody>
      </p:sp>
      <p:sp>
        <p:nvSpPr>
          <p:cNvPr id="4" name="Text Placeholder 3"/>
          <p:cNvSpPr>
            <a:spLocks noGrp="1"/>
          </p:cNvSpPr>
          <p:nvPr>
            <p:ph type="body" sz="quarter" idx="13"/>
          </p:nvPr>
        </p:nvSpPr>
        <p:spPr>
          <a:xfrm>
            <a:off x="457201" y="1828800"/>
            <a:ext cx="8381999" cy="4495800"/>
          </a:xfrm>
        </p:spPr>
        <p:txBody>
          <a:bodyPr>
            <a:noAutofit/>
          </a:bodyPr>
          <a:lstStyle/>
          <a:p>
            <a:r>
              <a:rPr lang="en-US" sz="2800" b="1" dirty="0" smtClean="0"/>
              <a:t>Structure: </a:t>
            </a:r>
          </a:p>
          <a:p>
            <a:pPr lvl="1"/>
            <a:r>
              <a:rPr lang="en-US" sz="2400" dirty="0" smtClean="0"/>
              <a:t>It </a:t>
            </a:r>
            <a:r>
              <a:rPr lang="en-US" sz="2400" dirty="0"/>
              <a:t>describes the management structures and systems, including those affecting planning and control. </a:t>
            </a:r>
            <a:endParaRPr lang="en-US" sz="2400" dirty="0" smtClean="0"/>
          </a:p>
          <a:p>
            <a:pPr lvl="1"/>
            <a:r>
              <a:rPr lang="en-US" sz="2400" dirty="0" smtClean="0"/>
              <a:t>Risk </a:t>
            </a:r>
            <a:r>
              <a:rPr lang="en-US" sz="2400" dirty="0"/>
              <a:t>here might be implementation might need user participation in some task but the responsibility for managing the users contribution might not be clearly allocated. </a:t>
            </a:r>
          </a:p>
          <a:p>
            <a:r>
              <a:rPr lang="en-US" sz="2800" b="1" dirty="0" smtClean="0"/>
              <a:t>Tasks:</a:t>
            </a:r>
          </a:p>
          <a:p>
            <a:pPr lvl="1"/>
            <a:r>
              <a:rPr lang="en-US" sz="2400" dirty="0" smtClean="0"/>
              <a:t> </a:t>
            </a:r>
            <a:r>
              <a:rPr lang="en-US" sz="2400" dirty="0"/>
              <a:t>It relate to the work planned. </a:t>
            </a:r>
            <a:endParaRPr lang="en-US" sz="2400" dirty="0" smtClean="0"/>
          </a:p>
          <a:p>
            <a:pPr lvl="1"/>
            <a:r>
              <a:rPr lang="en-US" sz="2400" dirty="0" smtClean="0"/>
              <a:t>Risk </a:t>
            </a:r>
            <a:r>
              <a:rPr lang="en-US" sz="2400" dirty="0"/>
              <a:t>in this might be the complexity of the work might lead to delays because of the additional rime required integrate the large no. of components.</a:t>
            </a:r>
          </a:p>
        </p:txBody>
      </p:sp>
    </p:spTree>
    <p:extLst>
      <p:ext uri="{BB962C8B-B14F-4D97-AF65-F5344CB8AC3E}">
        <p14:creationId xmlns:p14="http://schemas.microsoft.com/office/powerpoint/2010/main" val="9767723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CE8D23-64FC-4821-90FF-CC257C5EA139}" type="slidenum">
              <a:rPr lang="en-US" altLang="tr-TR" sz="1400" smtClean="0"/>
              <a:pPr>
                <a:spcBef>
                  <a:spcPct val="0"/>
                </a:spcBef>
                <a:buFontTx/>
                <a:buNone/>
              </a:pPr>
              <a:t>20</a:t>
            </a:fld>
            <a:endParaRPr lang="en-US" altLang="tr-TR" sz="1400" smtClean="0"/>
          </a:p>
        </p:txBody>
      </p:sp>
      <p:sp>
        <p:nvSpPr>
          <p:cNvPr id="8194" name="Title 1"/>
          <p:cNvSpPr>
            <a:spLocks noGrp="1"/>
          </p:cNvSpPr>
          <p:nvPr>
            <p:ph type="title"/>
          </p:nvPr>
        </p:nvSpPr>
        <p:spPr/>
        <p:txBody>
          <a:bodyPr/>
          <a:lstStyle/>
          <a:p>
            <a:r>
              <a:rPr lang="tr-TR" altLang="tr-TR" dirty="0" smtClean="0"/>
              <a:t>Types Of Software Risks</a:t>
            </a:r>
          </a:p>
        </p:txBody>
      </p:sp>
      <p:sp>
        <p:nvSpPr>
          <p:cNvPr id="8195" name="Content Placeholder 2"/>
          <p:cNvSpPr>
            <a:spLocks noGrp="1"/>
          </p:cNvSpPr>
          <p:nvPr>
            <p:ph type="body" sz="quarter" idx="13"/>
          </p:nvPr>
        </p:nvSpPr>
        <p:spPr/>
        <p:txBody>
          <a:bodyPr/>
          <a:lstStyle/>
          <a:p>
            <a:pPr marL="678942" indent="-514350">
              <a:buFontTx/>
              <a:buAutoNum type="arabicPeriod"/>
              <a:defRPr/>
            </a:pPr>
            <a:r>
              <a:rPr lang="en-US" sz="2800" dirty="0">
                <a:cs typeface="Arial" charset="0"/>
              </a:rPr>
              <a:t>Scope Risk </a:t>
            </a:r>
          </a:p>
          <a:p>
            <a:pPr marL="678942" indent="-514350">
              <a:buFontTx/>
              <a:buAutoNum type="arabicPeriod"/>
              <a:defRPr/>
            </a:pPr>
            <a:r>
              <a:rPr lang="en-US" sz="2800" dirty="0">
                <a:cs typeface="Arial" charset="0"/>
              </a:rPr>
              <a:t>Scheduling Risk</a:t>
            </a:r>
          </a:p>
          <a:p>
            <a:pPr marL="678942" indent="-514350">
              <a:buFontTx/>
              <a:buAutoNum type="arabicPeriod"/>
              <a:defRPr/>
            </a:pPr>
            <a:r>
              <a:rPr lang="en-US" sz="2800" dirty="0">
                <a:cs typeface="Arial" charset="0"/>
              </a:rPr>
              <a:t>Resource Risk</a:t>
            </a:r>
          </a:p>
          <a:p>
            <a:pPr marL="678942" indent="-514350">
              <a:buFontTx/>
              <a:buAutoNum type="arabicPeriod"/>
              <a:defRPr/>
            </a:pPr>
            <a:r>
              <a:rPr lang="en-US" sz="2800" dirty="0">
                <a:cs typeface="Arial" charset="0"/>
              </a:rPr>
              <a:t>Technology Risk</a:t>
            </a:r>
          </a:p>
          <a:p>
            <a:pPr marL="678942" indent="-514350">
              <a:buFontTx/>
              <a:buAutoNum type="arabicPeriod"/>
              <a:defRPr/>
            </a:pPr>
            <a:r>
              <a:rPr lang="en-US" sz="2800" dirty="0">
                <a:cs typeface="Arial" charset="0"/>
              </a:rPr>
              <a:t>Financial Risk</a:t>
            </a:r>
          </a:p>
          <a:p>
            <a:pPr marL="678942" indent="-514350">
              <a:buFontTx/>
              <a:buAutoNum type="arabicPeriod"/>
              <a:defRPr/>
            </a:pPr>
            <a:r>
              <a:rPr lang="en-US" sz="2800" dirty="0">
                <a:cs typeface="Arial" charset="0"/>
              </a:rPr>
              <a:t>Political/ Social  and Environmental  Risk</a:t>
            </a:r>
            <a:endParaRPr lang="en-US" sz="2800" b="1" dirty="0">
              <a:cs typeface="Arial" charset="0"/>
            </a:endParaRPr>
          </a:p>
          <a:p>
            <a:endParaRPr lang="tr-TR" altLang="tr-TR" dirty="0" smtClean="0"/>
          </a:p>
        </p:txBody>
      </p:sp>
    </p:spTree>
    <p:extLst>
      <p:ext uri="{BB962C8B-B14F-4D97-AF65-F5344CB8AC3E}">
        <p14:creationId xmlns:p14="http://schemas.microsoft.com/office/powerpoint/2010/main" val="31164243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CE8D23-64FC-4821-90FF-CC257C5EA139}" type="slidenum">
              <a:rPr lang="en-US" altLang="tr-TR" sz="1400" smtClean="0"/>
              <a:pPr>
                <a:spcBef>
                  <a:spcPct val="0"/>
                </a:spcBef>
                <a:buFontTx/>
                <a:buNone/>
              </a:pPr>
              <a:t>21</a:t>
            </a:fld>
            <a:endParaRPr lang="en-US" altLang="tr-TR" sz="1400" smtClean="0"/>
          </a:p>
        </p:txBody>
      </p:sp>
      <p:sp>
        <p:nvSpPr>
          <p:cNvPr id="8194" name="Title 1"/>
          <p:cNvSpPr>
            <a:spLocks noGrp="1"/>
          </p:cNvSpPr>
          <p:nvPr>
            <p:ph type="title"/>
          </p:nvPr>
        </p:nvSpPr>
        <p:spPr/>
        <p:txBody>
          <a:bodyPr/>
          <a:lstStyle/>
          <a:p>
            <a:r>
              <a:rPr lang="en-US" altLang="tr-TR" dirty="0" smtClean="0"/>
              <a:t>Examples</a:t>
            </a:r>
            <a:r>
              <a:rPr lang="tr-TR" altLang="tr-TR" dirty="0" smtClean="0"/>
              <a:t> Of Software Risks</a:t>
            </a:r>
          </a:p>
        </p:txBody>
      </p:sp>
      <p:sp>
        <p:nvSpPr>
          <p:cNvPr id="8195" name="Content Placeholder 2"/>
          <p:cNvSpPr>
            <a:spLocks noGrp="1"/>
          </p:cNvSpPr>
          <p:nvPr>
            <p:ph type="body" sz="quarter" idx="13"/>
          </p:nvPr>
        </p:nvSpPr>
        <p:spPr/>
        <p:txBody>
          <a:bodyPr>
            <a:normAutofit/>
          </a:bodyPr>
          <a:lstStyle/>
          <a:p>
            <a:r>
              <a:rPr lang="en-US" sz="2400" dirty="0" smtClean="0"/>
              <a:t>Nobody </a:t>
            </a:r>
            <a:r>
              <a:rPr lang="en-US" sz="2400" dirty="0"/>
              <a:t>uses/likes your system -&gt; people use workarounds/competitor </a:t>
            </a:r>
            <a:endParaRPr lang="en-US" sz="2400" dirty="0" smtClean="0"/>
          </a:p>
          <a:p>
            <a:r>
              <a:rPr lang="en-US" sz="2400" dirty="0" smtClean="0"/>
              <a:t>Solving </a:t>
            </a:r>
            <a:r>
              <a:rPr lang="en-US" sz="2400" dirty="0"/>
              <a:t>the wrong problem -&gt; no business case </a:t>
            </a:r>
            <a:endParaRPr lang="en-US" sz="2400" dirty="0" smtClean="0"/>
          </a:p>
          <a:p>
            <a:r>
              <a:rPr lang="en-US" sz="2400" dirty="0" smtClean="0"/>
              <a:t>It </a:t>
            </a:r>
            <a:r>
              <a:rPr lang="en-US" sz="2400" dirty="0"/>
              <a:t>is harder than expected, unknown </a:t>
            </a:r>
            <a:r>
              <a:rPr lang="en-US" sz="2400" dirty="0" smtClean="0"/>
              <a:t>technical </a:t>
            </a:r>
            <a:r>
              <a:rPr lang="en-US" sz="2400" dirty="0"/>
              <a:t>effects -&gt; delay of delivery </a:t>
            </a:r>
            <a:endParaRPr lang="en-US" sz="2400" dirty="0" smtClean="0"/>
          </a:p>
          <a:p>
            <a:r>
              <a:rPr lang="en-US" sz="2400" dirty="0" smtClean="0"/>
              <a:t>The </a:t>
            </a:r>
            <a:r>
              <a:rPr lang="en-US" sz="2400" dirty="0"/>
              <a:t>application crashes in production -&gt; lose of customers </a:t>
            </a:r>
            <a:endParaRPr lang="en-US" sz="2400" dirty="0" smtClean="0"/>
          </a:p>
          <a:p>
            <a:r>
              <a:rPr lang="en-US" sz="2400" dirty="0" smtClean="0"/>
              <a:t>The </a:t>
            </a:r>
            <a:r>
              <a:rPr lang="en-US" sz="2400" dirty="0"/>
              <a:t>database gets corrupt -&gt; your business cannot operate anymore </a:t>
            </a:r>
            <a:endParaRPr lang="en-US" sz="2400" dirty="0" smtClean="0"/>
          </a:p>
          <a:p>
            <a:r>
              <a:rPr lang="en-US" sz="2400" dirty="0" smtClean="0"/>
              <a:t>Someone </a:t>
            </a:r>
            <a:r>
              <a:rPr lang="en-US" sz="2400" dirty="0"/>
              <a:t>steals information -&gt; privacy claim</a:t>
            </a:r>
            <a:endParaRPr lang="tr-TR" altLang="tr-TR" sz="2400" dirty="0" smtClean="0"/>
          </a:p>
        </p:txBody>
      </p:sp>
    </p:spTree>
    <p:extLst>
      <p:ext uri="{BB962C8B-B14F-4D97-AF65-F5344CB8AC3E}">
        <p14:creationId xmlns:p14="http://schemas.microsoft.com/office/powerpoint/2010/main" val="10463836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CE8D23-64FC-4821-90FF-CC257C5EA139}" type="slidenum">
              <a:rPr lang="en-US" altLang="tr-TR" sz="1400" smtClean="0"/>
              <a:pPr>
                <a:spcBef>
                  <a:spcPct val="0"/>
                </a:spcBef>
                <a:buFontTx/>
                <a:buNone/>
              </a:pPr>
              <a:t>22</a:t>
            </a:fld>
            <a:endParaRPr lang="en-US" altLang="tr-TR" sz="1400" smtClean="0"/>
          </a:p>
        </p:txBody>
      </p:sp>
      <p:sp>
        <p:nvSpPr>
          <p:cNvPr id="8194" name="Title 1"/>
          <p:cNvSpPr>
            <a:spLocks noGrp="1"/>
          </p:cNvSpPr>
          <p:nvPr>
            <p:ph type="title"/>
          </p:nvPr>
        </p:nvSpPr>
        <p:spPr/>
        <p:txBody>
          <a:bodyPr/>
          <a:lstStyle/>
          <a:p>
            <a:r>
              <a:rPr lang="en-US" altLang="tr-TR" dirty="0" smtClean="0"/>
              <a:t>Sources</a:t>
            </a:r>
            <a:r>
              <a:rPr lang="tr-TR" altLang="tr-TR" dirty="0" smtClean="0"/>
              <a:t> Of Software Risks</a:t>
            </a:r>
          </a:p>
        </p:txBody>
      </p:sp>
      <p:sp>
        <p:nvSpPr>
          <p:cNvPr id="8195" name="Content Placeholder 2"/>
          <p:cNvSpPr>
            <a:spLocks noGrp="1"/>
          </p:cNvSpPr>
          <p:nvPr>
            <p:ph type="body" sz="quarter" idx="13"/>
          </p:nvPr>
        </p:nvSpPr>
        <p:spPr>
          <a:xfrm>
            <a:off x="457201" y="1219200"/>
            <a:ext cx="8381999" cy="5029200"/>
          </a:xfrm>
        </p:spPr>
        <p:txBody>
          <a:bodyPr>
            <a:normAutofit fontScale="77500" lnSpcReduction="20000"/>
          </a:bodyPr>
          <a:lstStyle/>
          <a:p>
            <a:pPr fontAlgn="auto">
              <a:spcAft>
                <a:spcPts val="0"/>
              </a:spcAft>
              <a:defRPr/>
            </a:pPr>
            <a:r>
              <a:rPr lang="en-US" altLang="en-US" sz="2800" dirty="0"/>
              <a:t>New technology.</a:t>
            </a:r>
          </a:p>
          <a:p>
            <a:pPr fontAlgn="auto">
              <a:spcAft>
                <a:spcPts val="0"/>
              </a:spcAft>
              <a:defRPr/>
            </a:pPr>
            <a:r>
              <a:rPr lang="en-US" altLang="en-US" sz="2800" dirty="0"/>
              <a:t>Uncommon systems or methods.</a:t>
            </a:r>
          </a:p>
          <a:p>
            <a:pPr fontAlgn="auto">
              <a:spcAft>
                <a:spcPts val="0"/>
              </a:spcAft>
              <a:defRPr/>
            </a:pPr>
            <a:r>
              <a:rPr lang="en-US" altLang="en-US" sz="2800" dirty="0"/>
              <a:t>Uncertain funding.</a:t>
            </a:r>
          </a:p>
          <a:p>
            <a:pPr fontAlgn="auto">
              <a:spcAft>
                <a:spcPts val="0"/>
              </a:spcAft>
              <a:defRPr/>
            </a:pPr>
            <a:r>
              <a:rPr lang="en-US" altLang="en-US" sz="2800" dirty="0"/>
              <a:t>Unusual financing arrangements.</a:t>
            </a:r>
          </a:p>
          <a:p>
            <a:pPr fontAlgn="auto">
              <a:spcAft>
                <a:spcPts val="0"/>
              </a:spcAft>
              <a:defRPr/>
            </a:pPr>
            <a:r>
              <a:rPr lang="en-US" altLang="en-US" sz="2800" dirty="0"/>
              <a:t>Controversial functions provided by the project.</a:t>
            </a:r>
          </a:p>
          <a:p>
            <a:pPr fontAlgn="auto">
              <a:spcAft>
                <a:spcPts val="0"/>
              </a:spcAft>
              <a:defRPr/>
            </a:pPr>
            <a:r>
              <a:rPr lang="en-US" altLang="en-US" sz="2800" dirty="0"/>
              <a:t>Unrealistic completion dates and/or budgets.</a:t>
            </a:r>
          </a:p>
          <a:p>
            <a:pPr fontAlgn="auto">
              <a:spcAft>
                <a:spcPts val="0"/>
              </a:spcAft>
              <a:defRPr/>
            </a:pPr>
            <a:r>
              <a:rPr lang="en-US" altLang="en-US" sz="2800" dirty="0"/>
              <a:t>Changing customer ownership/control</a:t>
            </a:r>
          </a:p>
          <a:p>
            <a:pPr fontAlgn="auto">
              <a:spcAft>
                <a:spcPts val="0"/>
              </a:spcAft>
              <a:defRPr/>
            </a:pPr>
            <a:r>
              <a:rPr lang="en-US" altLang="en-US" sz="2800" dirty="0"/>
              <a:t>Unusual contracting arrangements</a:t>
            </a:r>
          </a:p>
          <a:p>
            <a:pPr fontAlgn="auto">
              <a:spcAft>
                <a:spcPts val="0"/>
              </a:spcAft>
              <a:defRPr/>
            </a:pPr>
            <a:r>
              <a:rPr lang="en-US" altLang="en-US" sz="2800" dirty="0"/>
              <a:t>Project scope not clearly defined.</a:t>
            </a:r>
          </a:p>
          <a:p>
            <a:pPr fontAlgn="auto">
              <a:spcAft>
                <a:spcPts val="0"/>
              </a:spcAft>
              <a:defRPr/>
            </a:pPr>
            <a:r>
              <a:rPr lang="en-US" altLang="en-US" sz="2800" dirty="0"/>
              <a:t>Project need and alternatives have not been rigorously evaluated.</a:t>
            </a:r>
          </a:p>
          <a:p>
            <a:pPr fontAlgn="auto">
              <a:spcAft>
                <a:spcPts val="0"/>
              </a:spcAft>
              <a:defRPr/>
            </a:pPr>
            <a:r>
              <a:rPr lang="en-US" altLang="en-US" sz="2800" dirty="0"/>
              <a:t>Large number of approvals required.</a:t>
            </a:r>
          </a:p>
          <a:p>
            <a:pPr fontAlgn="auto">
              <a:spcAft>
                <a:spcPts val="0"/>
              </a:spcAft>
              <a:defRPr/>
            </a:pPr>
            <a:r>
              <a:rPr lang="en-US" altLang="en-US" sz="2800" dirty="0"/>
              <a:t>Conflict among project participants.</a:t>
            </a:r>
          </a:p>
          <a:p>
            <a:pPr fontAlgn="auto">
              <a:spcAft>
                <a:spcPts val="0"/>
              </a:spcAft>
              <a:defRPr/>
            </a:pPr>
            <a:r>
              <a:rPr lang="en-US" altLang="en-US" sz="2800" dirty="0"/>
              <a:t>Relationship between parent organization's role and the project not clear</a:t>
            </a:r>
          </a:p>
          <a:p>
            <a:endParaRPr lang="tr-TR" altLang="tr-TR" dirty="0" smtClean="0"/>
          </a:p>
        </p:txBody>
      </p:sp>
    </p:spTree>
    <p:extLst>
      <p:ext uri="{BB962C8B-B14F-4D97-AF65-F5344CB8AC3E}">
        <p14:creationId xmlns:p14="http://schemas.microsoft.com/office/powerpoint/2010/main" val="6866937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23</a:t>
            </a:fld>
            <a:endParaRPr lang="en-US" dirty="0"/>
          </a:p>
        </p:txBody>
      </p:sp>
      <p:sp>
        <p:nvSpPr>
          <p:cNvPr id="3" name="Title 2"/>
          <p:cNvSpPr>
            <a:spLocks noGrp="1"/>
          </p:cNvSpPr>
          <p:nvPr>
            <p:ph type="title"/>
          </p:nvPr>
        </p:nvSpPr>
        <p:spPr/>
        <p:txBody>
          <a:bodyPr>
            <a:noAutofit/>
          </a:bodyPr>
          <a:lstStyle/>
          <a:p>
            <a:r>
              <a:rPr lang="en-US" dirty="0" smtClean="0"/>
              <a:t>Why Risk Management</a:t>
            </a:r>
            <a:endParaRPr lang="en-US" dirty="0"/>
          </a:p>
        </p:txBody>
      </p:sp>
      <p:sp>
        <p:nvSpPr>
          <p:cNvPr id="4" name="Text Placeholder 3"/>
          <p:cNvSpPr>
            <a:spLocks noGrp="1"/>
          </p:cNvSpPr>
          <p:nvPr>
            <p:ph type="body" sz="quarter" idx="13"/>
          </p:nvPr>
        </p:nvSpPr>
        <p:spPr/>
        <p:txBody>
          <a:bodyPr>
            <a:normAutofit/>
          </a:bodyPr>
          <a:lstStyle/>
          <a:p>
            <a:r>
              <a:rPr lang="en-US" altLang="tr-TR" sz="2800" dirty="0"/>
              <a:t>Risk management is carried out to: </a:t>
            </a:r>
          </a:p>
          <a:p>
            <a:pPr lvl="1"/>
            <a:r>
              <a:rPr lang="en-US" altLang="tr-TR" sz="2400" dirty="0"/>
              <a:t>Identify the risk</a:t>
            </a:r>
          </a:p>
          <a:p>
            <a:pPr lvl="1"/>
            <a:r>
              <a:rPr lang="en-US" altLang="tr-TR" sz="2400" dirty="0"/>
              <a:t>Reduce the impact of risk</a:t>
            </a:r>
          </a:p>
          <a:p>
            <a:pPr lvl="1"/>
            <a:r>
              <a:rPr lang="en-US" altLang="tr-TR" sz="2400" dirty="0"/>
              <a:t>Reduce the probability or likelihood of risk</a:t>
            </a:r>
          </a:p>
          <a:p>
            <a:pPr lvl="1"/>
            <a:r>
              <a:rPr lang="en-US" altLang="tr-TR" sz="2400" dirty="0"/>
              <a:t>Risk monitoring</a:t>
            </a:r>
          </a:p>
          <a:p>
            <a:endParaRPr lang="en-US" dirty="0" smtClean="0"/>
          </a:p>
        </p:txBody>
      </p:sp>
      <p:graphicFrame>
        <p:nvGraphicFramePr>
          <p:cNvPr id="5" name="Diagram 4"/>
          <p:cNvGraphicFramePr/>
          <p:nvPr>
            <p:extLst>
              <p:ext uri="{D42A27DB-BD31-4B8C-83A1-F6EECF244321}">
                <p14:modId xmlns:p14="http://schemas.microsoft.com/office/powerpoint/2010/main" val="1970597531"/>
              </p:ext>
            </p:extLst>
          </p:nvPr>
        </p:nvGraphicFramePr>
        <p:xfrm>
          <a:off x="228600" y="3441539"/>
          <a:ext cx="7010400" cy="2514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37370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24</a:t>
            </a:fld>
            <a:endParaRPr lang="en-US" dirty="0"/>
          </a:p>
        </p:txBody>
      </p:sp>
      <p:sp>
        <p:nvSpPr>
          <p:cNvPr id="3" name="Title 2"/>
          <p:cNvSpPr>
            <a:spLocks noGrp="1"/>
          </p:cNvSpPr>
          <p:nvPr>
            <p:ph type="title"/>
          </p:nvPr>
        </p:nvSpPr>
        <p:spPr/>
        <p:txBody>
          <a:bodyPr>
            <a:noAutofit/>
          </a:bodyPr>
          <a:lstStyle/>
          <a:p>
            <a:r>
              <a:rPr lang="en-US" sz="4400" dirty="0" smtClean="0"/>
              <a:t>A Framework For Dealing With Risk</a:t>
            </a:r>
            <a:endParaRPr lang="en-US" sz="4400" dirty="0"/>
          </a:p>
        </p:txBody>
      </p:sp>
      <p:sp>
        <p:nvSpPr>
          <p:cNvPr id="4" name="Text Placeholder 3"/>
          <p:cNvSpPr>
            <a:spLocks noGrp="1"/>
          </p:cNvSpPr>
          <p:nvPr>
            <p:ph type="body" sz="quarter" idx="13"/>
          </p:nvPr>
        </p:nvSpPr>
        <p:spPr/>
        <p:txBody>
          <a:bodyPr>
            <a:normAutofit/>
          </a:bodyPr>
          <a:lstStyle/>
          <a:p>
            <a:pPr marL="0" indent="0">
              <a:lnSpc>
                <a:spcPct val="250000"/>
              </a:lnSpc>
              <a:buNone/>
            </a:pPr>
            <a:r>
              <a:rPr lang="en-US" sz="2800" b="1" dirty="0"/>
              <a:t>Steps in Risk </a:t>
            </a:r>
            <a:r>
              <a:rPr lang="en-US" sz="2800" b="1" dirty="0" smtClean="0"/>
              <a:t>Management</a:t>
            </a:r>
          </a:p>
          <a:p>
            <a:pPr lvl="1"/>
            <a:r>
              <a:rPr lang="en-US" sz="2400" b="1" dirty="0" smtClean="0"/>
              <a:t>Step </a:t>
            </a:r>
            <a:r>
              <a:rPr lang="en-US" sz="2400" b="1" dirty="0"/>
              <a:t>1: </a:t>
            </a:r>
            <a:r>
              <a:rPr lang="en-US" sz="2400" dirty="0"/>
              <a:t>Risk Identification </a:t>
            </a:r>
            <a:endParaRPr lang="en-US" sz="2400" dirty="0" smtClean="0"/>
          </a:p>
          <a:p>
            <a:pPr lvl="1"/>
            <a:r>
              <a:rPr lang="en-US" sz="2400" b="1" dirty="0" smtClean="0"/>
              <a:t>Step 2: </a:t>
            </a:r>
            <a:r>
              <a:rPr lang="en-US" sz="2400" dirty="0" smtClean="0"/>
              <a:t>Risk Analysis</a:t>
            </a:r>
          </a:p>
          <a:p>
            <a:pPr lvl="1"/>
            <a:r>
              <a:rPr lang="en-US" sz="2400" b="1" dirty="0" smtClean="0"/>
              <a:t>Step 3: </a:t>
            </a:r>
            <a:r>
              <a:rPr lang="en-US" sz="2400" dirty="0" smtClean="0"/>
              <a:t>Risk Planning</a:t>
            </a:r>
          </a:p>
          <a:p>
            <a:pPr lvl="1"/>
            <a:r>
              <a:rPr lang="en-US" sz="2400" b="1" dirty="0" smtClean="0"/>
              <a:t>Step 4: </a:t>
            </a:r>
            <a:r>
              <a:rPr lang="en-US" sz="2400" dirty="0" smtClean="0"/>
              <a:t>Risk Monitoring</a:t>
            </a:r>
          </a:p>
          <a:p>
            <a:endParaRPr lang="en-US" dirty="0" smtClean="0"/>
          </a:p>
        </p:txBody>
      </p:sp>
    </p:spTree>
    <p:extLst>
      <p:ext uri="{BB962C8B-B14F-4D97-AF65-F5344CB8AC3E}">
        <p14:creationId xmlns:p14="http://schemas.microsoft.com/office/powerpoint/2010/main" val="39820824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25</a:t>
            </a:fld>
            <a:endParaRPr lang="en-US" dirty="0"/>
          </a:p>
        </p:txBody>
      </p:sp>
      <p:sp>
        <p:nvSpPr>
          <p:cNvPr id="3" name="Title 2"/>
          <p:cNvSpPr>
            <a:spLocks noGrp="1"/>
          </p:cNvSpPr>
          <p:nvPr>
            <p:ph type="title"/>
          </p:nvPr>
        </p:nvSpPr>
        <p:spPr/>
        <p:txBody>
          <a:bodyPr>
            <a:noAutofit/>
          </a:bodyPr>
          <a:lstStyle/>
          <a:p>
            <a:r>
              <a:rPr lang="en-US" dirty="0" smtClean="0"/>
              <a:t>Risk Management Process</a:t>
            </a:r>
            <a:endParaRPr lang="en-US" dirty="0"/>
          </a:p>
        </p:txBody>
      </p:sp>
      <p:sp>
        <p:nvSpPr>
          <p:cNvPr id="7" name="Rectangle 6"/>
          <p:cNvSpPr>
            <a:spLocks noChangeArrowheads="1"/>
          </p:cNvSpPr>
          <p:nvPr/>
        </p:nvSpPr>
        <p:spPr bwMode="auto">
          <a:xfrm>
            <a:off x="381000" y="1447800"/>
            <a:ext cx="8418665" cy="3906029"/>
          </a:xfrm>
          <a:prstGeom prst="rect">
            <a:avLst/>
          </a:prstGeom>
          <a:solidFill>
            <a:schemeClr val="accent2">
              <a:lumMod val="40000"/>
              <a:lumOff val="60000"/>
            </a:schemeClr>
          </a:solidFill>
          <a:ln w="12700">
            <a:noFill/>
            <a:miter lim="800000"/>
            <a:headEnd/>
            <a:tailEnd/>
          </a:ln>
          <a:effectLst/>
        </p:spPr>
        <p:txBody>
          <a:bodyPr wrap="none" lIns="91797" tIns="45898" rIns="91797" bIns="45898" anchor="ctr"/>
          <a:lstStyle/>
          <a:p>
            <a:endParaRPr lang="en-IN"/>
          </a:p>
        </p:txBody>
      </p:sp>
      <p:pic>
        <p:nvPicPr>
          <p:cNvPr id="8" name="Picture 5" descr="5.10 Risk-man-process.eps                                      000FF90EMacintosh HD                   B8AA5F2E:"/>
          <p:cNvPicPr>
            <a:picLocks noChangeAspect="1" noChangeArrowheads="1"/>
          </p:cNvPicPr>
          <p:nvPr/>
        </p:nvPicPr>
        <p:blipFill>
          <a:blip r:embed="rId2"/>
          <a:srcRect/>
          <a:stretch>
            <a:fillRect/>
          </a:stretch>
        </p:blipFill>
        <p:spPr bwMode="auto">
          <a:xfrm>
            <a:off x="736794" y="1905001"/>
            <a:ext cx="7756796" cy="2895599"/>
          </a:xfrm>
          <a:prstGeom prst="rect">
            <a:avLst/>
          </a:prstGeom>
          <a:solidFill>
            <a:schemeClr val="accent2">
              <a:lumMod val="40000"/>
              <a:lumOff val="60000"/>
            </a:schemeClr>
          </a:solidFill>
        </p:spPr>
      </p:pic>
    </p:spTree>
    <p:extLst>
      <p:ext uri="{BB962C8B-B14F-4D97-AF65-F5344CB8AC3E}">
        <p14:creationId xmlns:p14="http://schemas.microsoft.com/office/powerpoint/2010/main" val="27287991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26</a:t>
            </a:fld>
            <a:endParaRPr lang="en-US" dirty="0"/>
          </a:p>
        </p:txBody>
      </p:sp>
      <p:sp>
        <p:nvSpPr>
          <p:cNvPr id="3" name="Title 2"/>
          <p:cNvSpPr>
            <a:spLocks noGrp="1"/>
          </p:cNvSpPr>
          <p:nvPr>
            <p:ph type="title"/>
          </p:nvPr>
        </p:nvSpPr>
        <p:spPr/>
        <p:txBody>
          <a:bodyPr/>
          <a:lstStyle/>
          <a:p>
            <a:r>
              <a:rPr lang="en-US" dirty="0"/>
              <a:t>Effective Risk Management</a:t>
            </a:r>
          </a:p>
        </p:txBody>
      </p:sp>
      <p:sp>
        <p:nvSpPr>
          <p:cNvPr id="21" name="Oval 6">
            <a:extLst>
              <a:ext uri="{FF2B5EF4-FFF2-40B4-BE49-F238E27FC236}">
                <a16:creationId xmlns="" xmlns:a16="http://schemas.microsoft.com/office/drawing/2014/main" id="{B8DCFCED-076A-4393-8B99-3AE32D318396}"/>
              </a:ext>
            </a:extLst>
          </p:cNvPr>
          <p:cNvSpPr>
            <a:spLocks noChangeArrowheads="1"/>
          </p:cNvSpPr>
          <p:nvPr/>
        </p:nvSpPr>
        <p:spPr bwMode="auto">
          <a:xfrm>
            <a:off x="1847850" y="2152650"/>
            <a:ext cx="3808413" cy="3121025"/>
          </a:xfrm>
          <a:prstGeom prst="ellipse">
            <a:avLst/>
          </a:prstGeom>
          <a:solidFill>
            <a:srgbClr val="ED7D31">
              <a:lumMod val="60000"/>
              <a:lumOff val="40000"/>
            </a:srgbClr>
          </a:solidFill>
          <a:ln w="12700">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imes New Roman" panose="02020603050405020304" pitchFamily="18" charset="0"/>
              <a:cs typeface="Arial" charset="0"/>
            </a:endParaRPr>
          </a:p>
        </p:txBody>
      </p:sp>
      <p:sp>
        <p:nvSpPr>
          <p:cNvPr id="22" name="TextBox 4">
            <a:extLst>
              <a:ext uri="{FF2B5EF4-FFF2-40B4-BE49-F238E27FC236}">
                <a16:creationId xmlns="" xmlns:a16="http://schemas.microsoft.com/office/drawing/2014/main" id="{FB52A3B0-380F-40FE-B830-8E065B4A231A}"/>
              </a:ext>
            </a:extLst>
          </p:cNvPr>
          <p:cNvSpPr txBox="1">
            <a:spLocks noChangeArrowheads="1"/>
          </p:cNvSpPr>
          <p:nvPr/>
        </p:nvSpPr>
        <p:spPr bwMode="auto">
          <a:xfrm>
            <a:off x="2457450" y="2914650"/>
            <a:ext cx="1447800" cy="400050"/>
          </a:xfrm>
          <a:prstGeom prst="rect">
            <a:avLst/>
          </a:prstGeom>
          <a:noFill/>
          <a:ln w="9525">
            <a:noFill/>
            <a:miter lim="800000"/>
            <a:headEnd/>
            <a:tailEnd/>
          </a:ln>
        </p:spPr>
        <p:txBody>
          <a:bodyPr>
            <a:spAutoFit/>
          </a:bodyPr>
          <a:lstStyle/>
          <a:p>
            <a:pPr algn="ctr" fontAlgn="base">
              <a:spcBef>
                <a:spcPct val="50000"/>
              </a:spcBef>
              <a:spcAft>
                <a:spcPct val="0"/>
              </a:spcAft>
              <a:defRPr/>
            </a:pPr>
            <a:r>
              <a:rPr lang="en-US" sz="2000" b="1" i="1" smtClean="0">
                <a:solidFill>
                  <a:prstClr val="black"/>
                </a:solidFill>
                <a:cs typeface="Arial" charset="0"/>
              </a:rPr>
              <a:t>ACCESS</a:t>
            </a:r>
            <a:endParaRPr lang="en-US" sz="2000" b="1" i="1" dirty="0">
              <a:solidFill>
                <a:prstClr val="black"/>
              </a:solidFill>
              <a:cs typeface="Arial" charset="0"/>
            </a:endParaRPr>
          </a:p>
        </p:txBody>
      </p:sp>
      <p:sp>
        <p:nvSpPr>
          <p:cNvPr id="23" name="TextBox 5">
            <a:extLst>
              <a:ext uri="{FF2B5EF4-FFF2-40B4-BE49-F238E27FC236}">
                <a16:creationId xmlns="" xmlns:a16="http://schemas.microsoft.com/office/drawing/2014/main" id="{163EEC9D-0A84-44E8-BB53-74B27D80C0B2}"/>
              </a:ext>
            </a:extLst>
          </p:cNvPr>
          <p:cNvSpPr txBox="1">
            <a:spLocks noChangeArrowheads="1"/>
          </p:cNvSpPr>
          <p:nvPr/>
        </p:nvSpPr>
        <p:spPr bwMode="auto">
          <a:xfrm>
            <a:off x="3676650" y="4057650"/>
            <a:ext cx="1600200" cy="400050"/>
          </a:xfrm>
          <a:prstGeom prst="rect">
            <a:avLst/>
          </a:prstGeom>
          <a:noFill/>
          <a:ln w="9525">
            <a:noFill/>
            <a:miter lim="800000"/>
            <a:headEnd/>
            <a:tailEnd/>
          </a:ln>
        </p:spPr>
        <p:txBody>
          <a:bodyPr>
            <a:spAutoFit/>
          </a:bodyPr>
          <a:lstStyle/>
          <a:p>
            <a:pPr fontAlgn="base">
              <a:spcBef>
                <a:spcPct val="50000"/>
              </a:spcBef>
              <a:spcAft>
                <a:spcPct val="0"/>
              </a:spcAft>
              <a:defRPr/>
            </a:pPr>
            <a:r>
              <a:rPr lang="en-US" sz="2000" b="1" i="1">
                <a:solidFill>
                  <a:prstClr val="black"/>
                </a:solidFill>
                <a:cs typeface="Arial" charset="0"/>
              </a:rPr>
              <a:t>CONTROL</a:t>
            </a:r>
          </a:p>
        </p:txBody>
      </p:sp>
      <p:sp>
        <p:nvSpPr>
          <p:cNvPr id="24" name="TextBox 6">
            <a:extLst>
              <a:ext uri="{FF2B5EF4-FFF2-40B4-BE49-F238E27FC236}">
                <a16:creationId xmlns="" xmlns:a16="http://schemas.microsoft.com/office/drawing/2014/main" id="{AC4EA7D3-E1A1-42DD-89FD-41CF2E7AAF45}"/>
              </a:ext>
            </a:extLst>
          </p:cNvPr>
          <p:cNvSpPr txBox="1">
            <a:spLocks noChangeArrowheads="1"/>
          </p:cNvSpPr>
          <p:nvPr/>
        </p:nvSpPr>
        <p:spPr bwMode="auto">
          <a:xfrm>
            <a:off x="1085850" y="1695450"/>
            <a:ext cx="1676400" cy="708025"/>
          </a:xfrm>
          <a:prstGeom prst="rect">
            <a:avLst/>
          </a:prstGeom>
          <a:noFill/>
          <a:ln w="9525">
            <a:noFill/>
            <a:miter lim="800000"/>
            <a:headEnd/>
            <a:tailEnd/>
          </a:ln>
        </p:spPr>
        <p:txBody>
          <a:bodyPr>
            <a:spAutoFit/>
          </a:bodyPr>
          <a:lstStyle/>
          <a:p>
            <a:pPr fontAlgn="base">
              <a:spcBef>
                <a:spcPct val="50000"/>
              </a:spcBef>
              <a:spcAft>
                <a:spcPct val="0"/>
              </a:spcAft>
              <a:defRPr/>
            </a:pPr>
            <a:r>
              <a:rPr lang="en-US" sz="2000" b="1" dirty="0">
                <a:solidFill>
                  <a:prstClr val="black"/>
                </a:solidFill>
                <a:cs typeface="Arial" charset="0"/>
              </a:rPr>
              <a:t>ANALYSE RISKS</a:t>
            </a:r>
          </a:p>
        </p:txBody>
      </p:sp>
      <p:sp>
        <p:nvSpPr>
          <p:cNvPr id="25" name="TextBox 7">
            <a:extLst>
              <a:ext uri="{FF2B5EF4-FFF2-40B4-BE49-F238E27FC236}">
                <a16:creationId xmlns="" xmlns:a16="http://schemas.microsoft.com/office/drawing/2014/main" id="{E02CD08D-4B49-470B-AD27-B435B427AE28}"/>
              </a:ext>
            </a:extLst>
          </p:cNvPr>
          <p:cNvSpPr txBox="1">
            <a:spLocks noChangeArrowheads="1"/>
          </p:cNvSpPr>
          <p:nvPr/>
        </p:nvSpPr>
        <p:spPr bwMode="auto">
          <a:xfrm>
            <a:off x="762000" y="4629150"/>
            <a:ext cx="1524000" cy="708025"/>
          </a:xfrm>
          <a:prstGeom prst="rect">
            <a:avLst/>
          </a:prstGeom>
          <a:noFill/>
          <a:ln w="9525">
            <a:noFill/>
            <a:miter lim="800000"/>
            <a:headEnd/>
            <a:tailEnd/>
          </a:ln>
        </p:spPr>
        <p:txBody>
          <a:bodyPr>
            <a:spAutoFit/>
          </a:bodyPr>
          <a:lstStyle/>
          <a:p>
            <a:pPr fontAlgn="base">
              <a:spcBef>
                <a:spcPct val="50000"/>
              </a:spcBef>
              <a:spcAft>
                <a:spcPct val="0"/>
              </a:spcAft>
              <a:defRPr/>
            </a:pPr>
            <a:r>
              <a:rPr lang="en-US" sz="2000" b="1" dirty="0">
                <a:solidFill>
                  <a:prstClr val="black"/>
                </a:solidFill>
                <a:cs typeface="Arial" charset="0"/>
              </a:rPr>
              <a:t>PRIORITIZE RISKS</a:t>
            </a:r>
          </a:p>
        </p:txBody>
      </p:sp>
      <p:sp>
        <p:nvSpPr>
          <p:cNvPr id="26" name="TextBox 8">
            <a:extLst>
              <a:ext uri="{FF2B5EF4-FFF2-40B4-BE49-F238E27FC236}">
                <a16:creationId xmlns="" xmlns:a16="http://schemas.microsoft.com/office/drawing/2014/main" id="{E0B82B66-5A23-4800-909E-1C319FAE0079}"/>
              </a:ext>
            </a:extLst>
          </p:cNvPr>
          <p:cNvSpPr txBox="1">
            <a:spLocks noChangeArrowheads="1"/>
          </p:cNvSpPr>
          <p:nvPr/>
        </p:nvSpPr>
        <p:spPr bwMode="auto">
          <a:xfrm>
            <a:off x="3105150" y="5505450"/>
            <a:ext cx="2362200" cy="400050"/>
          </a:xfrm>
          <a:prstGeom prst="rect">
            <a:avLst/>
          </a:prstGeom>
          <a:noFill/>
          <a:ln w="9525">
            <a:noFill/>
            <a:miter lim="800000"/>
            <a:headEnd/>
            <a:tailEnd/>
          </a:ln>
        </p:spPr>
        <p:txBody>
          <a:bodyPr>
            <a:spAutoFit/>
          </a:bodyPr>
          <a:lstStyle/>
          <a:p>
            <a:pPr fontAlgn="base">
              <a:spcBef>
                <a:spcPct val="50000"/>
              </a:spcBef>
              <a:spcAft>
                <a:spcPct val="0"/>
              </a:spcAft>
              <a:defRPr/>
            </a:pPr>
            <a:r>
              <a:rPr lang="en-US" sz="2000" b="1" dirty="0">
                <a:solidFill>
                  <a:prstClr val="black"/>
                </a:solidFill>
                <a:cs typeface="Arial" charset="0"/>
              </a:rPr>
              <a:t>MITIGATE RISKS</a:t>
            </a:r>
          </a:p>
        </p:txBody>
      </p:sp>
      <p:sp>
        <p:nvSpPr>
          <p:cNvPr id="27" name="TextBox 9">
            <a:extLst>
              <a:ext uri="{FF2B5EF4-FFF2-40B4-BE49-F238E27FC236}">
                <a16:creationId xmlns="" xmlns:a16="http://schemas.microsoft.com/office/drawing/2014/main" id="{0FF0FD93-A887-4B18-B0A3-7FE05FAE0D98}"/>
              </a:ext>
            </a:extLst>
          </p:cNvPr>
          <p:cNvSpPr txBox="1">
            <a:spLocks noChangeArrowheads="1"/>
          </p:cNvSpPr>
          <p:nvPr/>
        </p:nvSpPr>
        <p:spPr bwMode="auto">
          <a:xfrm>
            <a:off x="5962650" y="4819650"/>
            <a:ext cx="2209800" cy="708025"/>
          </a:xfrm>
          <a:prstGeom prst="rect">
            <a:avLst/>
          </a:prstGeom>
          <a:noFill/>
          <a:ln w="9525">
            <a:noFill/>
            <a:miter lim="800000"/>
            <a:headEnd/>
            <a:tailEnd/>
          </a:ln>
        </p:spPr>
        <p:txBody>
          <a:bodyPr>
            <a:spAutoFit/>
          </a:bodyPr>
          <a:lstStyle/>
          <a:p>
            <a:pPr fontAlgn="base">
              <a:spcBef>
                <a:spcPct val="50000"/>
              </a:spcBef>
              <a:spcAft>
                <a:spcPct val="0"/>
              </a:spcAft>
              <a:defRPr/>
            </a:pPr>
            <a:r>
              <a:rPr lang="en-US" sz="2000" b="1" dirty="0">
                <a:solidFill>
                  <a:prstClr val="black"/>
                </a:solidFill>
                <a:cs typeface="Arial" charset="0"/>
              </a:rPr>
              <a:t>PLAN FOR EMERGENCIES</a:t>
            </a:r>
          </a:p>
        </p:txBody>
      </p:sp>
      <p:sp>
        <p:nvSpPr>
          <p:cNvPr id="28" name="TextBox 10">
            <a:extLst>
              <a:ext uri="{FF2B5EF4-FFF2-40B4-BE49-F238E27FC236}">
                <a16:creationId xmlns="" xmlns:a16="http://schemas.microsoft.com/office/drawing/2014/main" id="{7023F603-7EFF-436A-820C-F81CF596107D}"/>
              </a:ext>
            </a:extLst>
          </p:cNvPr>
          <p:cNvSpPr txBox="1">
            <a:spLocks noChangeArrowheads="1"/>
          </p:cNvSpPr>
          <p:nvPr/>
        </p:nvSpPr>
        <p:spPr bwMode="auto">
          <a:xfrm>
            <a:off x="6419850" y="3143250"/>
            <a:ext cx="1676400" cy="1016000"/>
          </a:xfrm>
          <a:prstGeom prst="rect">
            <a:avLst/>
          </a:prstGeom>
          <a:noFill/>
          <a:ln w="9525">
            <a:noFill/>
            <a:miter lim="800000"/>
            <a:headEnd/>
            <a:tailEnd/>
          </a:ln>
        </p:spPr>
        <p:txBody>
          <a:bodyPr>
            <a:spAutoFit/>
          </a:bodyPr>
          <a:lstStyle/>
          <a:p>
            <a:pPr fontAlgn="base">
              <a:spcBef>
                <a:spcPct val="50000"/>
              </a:spcBef>
              <a:spcAft>
                <a:spcPct val="0"/>
              </a:spcAft>
              <a:defRPr/>
            </a:pPr>
            <a:r>
              <a:rPr lang="en-US" sz="2000" b="1" dirty="0">
                <a:solidFill>
                  <a:prstClr val="black"/>
                </a:solidFill>
                <a:cs typeface="Arial" charset="0"/>
              </a:rPr>
              <a:t>MEASURE &amp; CONTROL</a:t>
            </a:r>
          </a:p>
        </p:txBody>
      </p:sp>
      <p:sp>
        <p:nvSpPr>
          <p:cNvPr id="29" name="TextBox 11">
            <a:extLst>
              <a:ext uri="{FF2B5EF4-FFF2-40B4-BE49-F238E27FC236}">
                <a16:creationId xmlns="" xmlns:a16="http://schemas.microsoft.com/office/drawing/2014/main" id="{77DEDAC0-D80E-4E94-B5EA-8492CB6CB12D}"/>
              </a:ext>
            </a:extLst>
          </p:cNvPr>
          <p:cNvSpPr txBox="1">
            <a:spLocks noChangeArrowheads="1"/>
          </p:cNvSpPr>
          <p:nvPr/>
        </p:nvSpPr>
        <p:spPr bwMode="auto">
          <a:xfrm>
            <a:off x="4667250" y="1619250"/>
            <a:ext cx="2590800" cy="708025"/>
          </a:xfrm>
          <a:prstGeom prst="rect">
            <a:avLst/>
          </a:prstGeom>
          <a:noFill/>
          <a:ln w="9525">
            <a:noFill/>
            <a:miter lim="800000"/>
            <a:headEnd/>
            <a:tailEnd/>
          </a:ln>
        </p:spPr>
        <p:txBody>
          <a:bodyPr>
            <a:spAutoFit/>
          </a:bodyPr>
          <a:lstStyle/>
          <a:p>
            <a:pPr algn="ctr" fontAlgn="base">
              <a:spcBef>
                <a:spcPct val="50000"/>
              </a:spcBef>
              <a:spcAft>
                <a:spcPct val="0"/>
              </a:spcAft>
              <a:defRPr/>
            </a:pPr>
            <a:r>
              <a:rPr lang="en-US" sz="2000" b="1" dirty="0">
                <a:solidFill>
                  <a:prstClr val="black"/>
                </a:solidFill>
                <a:cs typeface="Arial" charset="0"/>
              </a:rPr>
              <a:t>IDENTIFY UNCERTAINTIES</a:t>
            </a:r>
          </a:p>
        </p:txBody>
      </p:sp>
      <p:cxnSp>
        <p:nvCxnSpPr>
          <p:cNvPr id="30" name="Straight Connector 13"/>
          <p:cNvCxnSpPr>
            <a:cxnSpLocks noChangeShapeType="1"/>
            <a:endCxn id="21" idx="3"/>
          </p:cNvCxnSpPr>
          <p:nvPr/>
        </p:nvCxnSpPr>
        <p:spPr bwMode="auto">
          <a:xfrm rot="10800000" flipV="1">
            <a:off x="2405063" y="2457450"/>
            <a:ext cx="2414587" cy="2359025"/>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
        <p:nvSpPr>
          <p:cNvPr id="31" name="Left Arrow 13"/>
          <p:cNvSpPr>
            <a:spLocks noChangeArrowheads="1"/>
          </p:cNvSpPr>
          <p:nvPr/>
        </p:nvSpPr>
        <p:spPr bwMode="auto">
          <a:xfrm>
            <a:off x="3162300" y="1600200"/>
            <a:ext cx="1143000" cy="457200"/>
          </a:xfrm>
          <a:prstGeom prst="leftArrow">
            <a:avLst>
              <a:gd name="adj1" fmla="val 50000"/>
              <a:gd name="adj2" fmla="val 50000"/>
            </a:avLst>
          </a:prstGeom>
          <a:solidFill>
            <a:srgbClr val="4472C4"/>
          </a:solidFill>
          <a:ln w="9525" algn="ctr">
            <a:solidFill>
              <a:sysClr val="windowText" lastClr="000000"/>
            </a:solidFill>
            <a:round/>
            <a:headEnd/>
            <a:tailEnd/>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smtClean="0">
              <a:ln>
                <a:noFill/>
              </a:ln>
              <a:solidFill>
                <a:prstClr val="black"/>
              </a:solidFill>
              <a:effectLst/>
              <a:uLnTx/>
              <a:uFillTx/>
              <a:latin typeface="Times New Roman" panose="02020603050405020304" pitchFamily="18" charset="0"/>
              <a:cs typeface="Arial" panose="020B0604020202020204" pitchFamily="34" charset="0"/>
            </a:endParaRPr>
          </a:p>
        </p:txBody>
      </p:sp>
      <p:sp>
        <p:nvSpPr>
          <p:cNvPr id="32" name="Down Arrow 15"/>
          <p:cNvSpPr>
            <a:spLocks noChangeArrowheads="1"/>
          </p:cNvSpPr>
          <p:nvPr/>
        </p:nvSpPr>
        <p:spPr bwMode="auto">
          <a:xfrm>
            <a:off x="1200150" y="2463800"/>
            <a:ext cx="400050" cy="2000250"/>
          </a:xfrm>
          <a:prstGeom prst="downArrow">
            <a:avLst>
              <a:gd name="adj1" fmla="val 50000"/>
              <a:gd name="adj2" fmla="val 50000"/>
            </a:avLst>
          </a:prstGeom>
          <a:solidFill>
            <a:srgbClr val="4472C4"/>
          </a:solidFill>
          <a:ln w="9525" algn="ctr">
            <a:solidFill>
              <a:sysClr val="windowText" lastClr="000000"/>
            </a:solidFill>
            <a:round/>
            <a:headEnd/>
            <a:tailEnd/>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smtClean="0">
              <a:ln>
                <a:noFill/>
              </a:ln>
              <a:solidFill>
                <a:prstClr val="black"/>
              </a:solidFill>
              <a:effectLst/>
              <a:uLnTx/>
              <a:uFillTx/>
              <a:latin typeface="Times New Roman" panose="02020603050405020304" pitchFamily="18" charset="0"/>
              <a:cs typeface="Arial" panose="020B0604020202020204" pitchFamily="34" charset="0"/>
            </a:endParaRPr>
          </a:p>
        </p:txBody>
      </p:sp>
      <p:sp>
        <p:nvSpPr>
          <p:cNvPr id="33" name="Right Arrow 17"/>
          <p:cNvSpPr>
            <a:spLocks noChangeArrowheads="1"/>
          </p:cNvSpPr>
          <p:nvPr/>
        </p:nvSpPr>
        <p:spPr bwMode="auto">
          <a:xfrm rot="1141253">
            <a:off x="2052638" y="5338763"/>
            <a:ext cx="725487" cy="358775"/>
          </a:xfrm>
          <a:prstGeom prst="rightArrow">
            <a:avLst>
              <a:gd name="adj1" fmla="val 50000"/>
              <a:gd name="adj2" fmla="val 49916"/>
            </a:avLst>
          </a:prstGeom>
          <a:solidFill>
            <a:srgbClr val="4472C4"/>
          </a:solidFill>
          <a:ln w="9525" algn="ctr">
            <a:solidFill>
              <a:sysClr val="windowText" lastClr="000000"/>
            </a:solidFill>
            <a:round/>
            <a:headEnd/>
            <a:tailEnd/>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smtClean="0">
              <a:ln>
                <a:noFill/>
              </a:ln>
              <a:solidFill>
                <a:prstClr val="black"/>
              </a:solidFill>
              <a:effectLst/>
              <a:uLnTx/>
              <a:uFillTx/>
              <a:latin typeface="Times New Roman" panose="02020603050405020304" pitchFamily="18" charset="0"/>
              <a:cs typeface="Arial" panose="020B0604020202020204" pitchFamily="34" charset="0"/>
            </a:endParaRPr>
          </a:p>
        </p:txBody>
      </p:sp>
      <p:sp>
        <p:nvSpPr>
          <p:cNvPr id="34" name="Right Arrow 18"/>
          <p:cNvSpPr>
            <a:spLocks noChangeArrowheads="1"/>
          </p:cNvSpPr>
          <p:nvPr/>
        </p:nvSpPr>
        <p:spPr bwMode="auto">
          <a:xfrm rot="20349909">
            <a:off x="5334000" y="5383213"/>
            <a:ext cx="727075" cy="358775"/>
          </a:xfrm>
          <a:prstGeom prst="rightArrow">
            <a:avLst>
              <a:gd name="adj1" fmla="val 50000"/>
              <a:gd name="adj2" fmla="val 50026"/>
            </a:avLst>
          </a:prstGeom>
          <a:solidFill>
            <a:srgbClr val="4472C4"/>
          </a:solidFill>
          <a:ln w="9525" algn="ctr">
            <a:solidFill>
              <a:sysClr val="windowText" lastClr="000000"/>
            </a:solidFill>
            <a:round/>
            <a:headEnd/>
            <a:tailEnd/>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smtClean="0">
              <a:ln>
                <a:noFill/>
              </a:ln>
              <a:solidFill>
                <a:prstClr val="black"/>
              </a:solidFill>
              <a:effectLst/>
              <a:uLnTx/>
              <a:uFillTx/>
              <a:latin typeface="Times New Roman" panose="02020603050405020304" pitchFamily="18" charset="0"/>
              <a:cs typeface="Arial" panose="020B0604020202020204" pitchFamily="34" charset="0"/>
            </a:endParaRPr>
          </a:p>
        </p:txBody>
      </p:sp>
      <p:sp>
        <p:nvSpPr>
          <p:cNvPr id="35" name="Right Arrow 19"/>
          <p:cNvSpPr>
            <a:spLocks noChangeArrowheads="1"/>
          </p:cNvSpPr>
          <p:nvPr/>
        </p:nvSpPr>
        <p:spPr bwMode="auto">
          <a:xfrm rot="13633666">
            <a:off x="6294438" y="2520950"/>
            <a:ext cx="727075" cy="358775"/>
          </a:xfrm>
          <a:prstGeom prst="rightArrow">
            <a:avLst>
              <a:gd name="adj1" fmla="val 50000"/>
              <a:gd name="adj2" fmla="val 50026"/>
            </a:avLst>
          </a:prstGeom>
          <a:solidFill>
            <a:srgbClr val="4472C4"/>
          </a:solidFill>
          <a:ln w="9525" algn="ctr">
            <a:solidFill>
              <a:sysClr val="windowText" lastClr="000000"/>
            </a:solidFill>
            <a:round/>
            <a:headEnd/>
            <a:tailEnd/>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smtClean="0">
              <a:ln>
                <a:noFill/>
              </a:ln>
              <a:solidFill>
                <a:prstClr val="black"/>
              </a:solidFill>
              <a:effectLst/>
              <a:uLnTx/>
              <a:uFillTx/>
              <a:latin typeface="Times New Roman" panose="02020603050405020304" pitchFamily="18" charset="0"/>
              <a:cs typeface="Arial" panose="020B0604020202020204" pitchFamily="34" charset="0"/>
            </a:endParaRPr>
          </a:p>
        </p:txBody>
      </p:sp>
      <p:sp>
        <p:nvSpPr>
          <p:cNvPr id="36" name="Right Arrow 20"/>
          <p:cNvSpPr>
            <a:spLocks noChangeArrowheads="1"/>
          </p:cNvSpPr>
          <p:nvPr/>
        </p:nvSpPr>
        <p:spPr bwMode="auto">
          <a:xfrm rot="16200000">
            <a:off x="6491288" y="4278313"/>
            <a:ext cx="727075" cy="358775"/>
          </a:xfrm>
          <a:prstGeom prst="rightArrow">
            <a:avLst>
              <a:gd name="adj1" fmla="val 50000"/>
              <a:gd name="adj2" fmla="val 50026"/>
            </a:avLst>
          </a:prstGeom>
          <a:solidFill>
            <a:srgbClr val="4472C4"/>
          </a:solidFill>
          <a:ln w="9525" algn="ctr">
            <a:solidFill>
              <a:sysClr val="windowText" lastClr="000000"/>
            </a:solidFill>
            <a:round/>
            <a:headEnd/>
            <a:tailEnd/>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smtClean="0">
              <a:ln>
                <a:noFill/>
              </a:ln>
              <a:solidFill>
                <a:prstClr val="black"/>
              </a:solidFill>
              <a:effectLst/>
              <a:uLnTx/>
              <a:uFillTx/>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5065415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27</a:t>
            </a:fld>
            <a:endParaRPr lang="en-US" dirty="0"/>
          </a:p>
        </p:txBody>
      </p:sp>
      <p:sp>
        <p:nvSpPr>
          <p:cNvPr id="3" name="Title 2"/>
          <p:cNvSpPr>
            <a:spLocks noGrp="1"/>
          </p:cNvSpPr>
          <p:nvPr>
            <p:ph type="title"/>
          </p:nvPr>
        </p:nvSpPr>
        <p:spPr/>
        <p:txBody>
          <a:bodyPr/>
          <a:lstStyle/>
          <a:p>
            <a:r>
              <a:rPr lang="en-US" dirty="0"/>
              <a:t>Effective Risk Management</a:t>
            </a:r>
          </a:p>
        </p:txBody>
      </p:sp>
      <p:sp>
        <p:nvSpPr>
          <p:cNvPr id="5" name="Rectangle 3">
            <a:extLst>
              <a:ext uri="{FF2B5EF4-FFF2-40B4-BE49-F238E27FC236}">
                <a16:creationId xmlns="" xmlns:a16="http://schemas.microsoft.com/office/drawing/2014/main" id="{1B9ADE16-9B8F-4730-90E3-8D6488F639EC}"/>
              </a:ext>
            </a:extLst>
          </p:cNvPr>
          <p:cNvSpPr>
            <a:spLocks noChangeArrowheads="1"/>
          </p:cNvSpPr>
          <p:nvPr/>
        </p:nvSpPr>
        <p:spPr bwMode="auto">
          <a:xfrm>
            <a:off x="482907" y="1420258"/>
            <a:ext cx="3825875" cy="4629150"/>
          </a:xfrm>
          <a:prstGeom prst="rect">
            <a:avLst/>
          </a:prstGeom>
          <a:noFill/>
          <a:ln w="9525">
            <a:noFill/>
            <a:miter lim="800000"/>
            <a:headEnd/>
            <a:tailEnd/>
          </a:ln>
        </p:spPr>
        <p:txBody>
          <a:bodyPr>
            <a:spAutoFit/>
          </a:bodyPr>
          <a:lstStyle/>
          <a:p>
            <a:pPr marL="342900" indent="-342900" eaLnBrk="1" hangingPunct="1">
              <a:spcBef>
                <a:spcPct val="20000"/>
              </a:spcBef>
              <a:defRPr/>
            </a:pPr>
            <a:r>
              <a:rPr lang="en-US" sz="2000" b="1" u="sng" dirty="0">
                <a:latin typeface="+mn-lt"/>
                <a:cs typeface="Arial" charset="0"/>
              </a:rPr>
              <a:t>IDENTIFY UNCERTAINTIES</a:t>
            </a:r>
            <a:endParaRPr lang="en-US" sz="2000" u="sng" dirty="0">
              <a:latin typeface="+mn-lt"/>
              <a:cs typeface="Arial" charset="0"/>
            </a:endParaRPr>
          </a:p>
          <a:p>
            <a:pPr marL="342900" indent="-342900" eaLnBrk="1" hangingPunct="1">
              <a:spcBef>
                <a:spcPct val="20000"/>
              </a:spcBef>
              <a:defRPr/>
            </a:pPr>
            <a:r>
              <a:rPr lang="en-US" sz="1800" dirty="0">
                <a:latin typeface="+mn-lt"/>
                <a:cs typeface="Arial" charset="0"/>
              </a:rPr>
              <a:t>Explore the contract and </a:t>
            </a:r>
          </a:p>
          <a:p>
            <a:pPr marL="342900" indent="-342900" eaLnBrk="1" hangingPunct="1">
              <a:spcBef>
                <a:spcPct val="20000"/>
              </a:spcBef>
              <a:defRPr/>
            </a:pPr>
            <a:r>
              <a:rPr lang="en-US" sz="1800" dirty="0">
                <a:latin typeface="+mn-lt"/>
                <a:cs typeface="Arial" charset="0"/>
              </a:rPr>
              <a:t>relationship for areas of</a:t>
            </a:r>
          </a:p>
          <a:p>
            <a:pPr marL="342900" indent="-342900" eaLnBrk="1" hangingPunct="1">
              <a:spcBef>
                <a:spcPct val="20000"/>
              </a:spcBef>
              <a:defRPr/>
            </a:pPr>
            <a:r>
              <a:rPr lang="en-US" sz="1800" dirty="0">
                <a:latin typeface="+mn-lt"/>
                <a:cs typeface="Arial" charset="0"/>
              </a:rPr>
              <a:t>uncertainty</a:t>
            </a:r>
          </a:p>
          <a:p>
            <a:pPr marL="342900" indent="-342900" eaLnBrk="1" hangingPunct="1">
              <a:spcBef>
                <a:spcPct val="20000"/>
              </a:spcBef>
              <a:defRPr/>
            </a:pPr>
            <a:r>
              <a:rPr lang="en-US" sz="2000" b="1" u="sng" dirty="0" err="1">
                <a:latin typeface="+mn-lt"/>
                <a:cs typeface="Arial" charset="0"/>
              </a:rPr>
              <a:t>ANALYSE</a:t>
            </a:r>
            <a:r>
              <a:rPr lang="en-US" sz="2000" b="1" u="sng" dirty="0">
                <a:latin typeface="+mn-lt"/>
                <a:cs typeface="Arial" charset="0"/>
              </a:rPr>
              <a:t> RISKS</a:t>
            </a:r>
            <a:endParaRPr lang="en-US" sz="2000" dirty="0">
              <a:latin typeface="+mn-lt"/>
              <a:cs typeface="Arial" charset="0"/>
            </a:endParaRPr>
          </a:p>
          <a:p>
            <a:pPr marL="342900" indent="-342900" eaLnBrk="1" hangingPunct="1">
              <a:spcBef>
                <a:spcPct val="20000"/>
              </a:spcBef>
              <a:defRPr/>
            </a:pPr>
            <a:r>
              <a:rPr lang="en-US" sz="1800" dirty="0">
                <a:latin typeface="+mn-lt"/>
                <a:cs typeface="Arial" charset="0"/>
              </a:rPr>
              <a:t>Specify how each uncertainty</a:t>
            </a:r>
          </a:p>
          <a:p>
            <a:pPr marL="342900" indent="-342900" eaLnBrk="1" hangingPunct="1">
              <a:spcBef>
                <a:spcPct val="20000"/>
              </a:spcBef>
              <a:defRPr/>
            </a:pPr>
            <a:r>
              <a:rPr lang="en-US" sz="1800" dirty="0">
                <a:latin typeface="+mn-lt"/>
                <a:cs typeface="Arial" charset="0"/>
              </a:rPr>
              <a:t>can impact performance -</a:t>
            </a:r>
          </a:p>
          <a:p>
            <a:pPr marL="342900" indent="-342900" eaLnBrk="1" hangingPunct="1">
              <a:spcBef>
                <a:spcPct val="20000"/>
              </a:spcBef>
              <a:defRPr/>
            </a:pPr>
            <a:r>
              <a:rPr lang="en-US" sz="1800" dirty="0">
                <a:latin typeface="+mn-lt"/>
                <a:cs typeface="Arial" charset="0"/>
              </a:rPr>
              <a:t>duration, cost, meeting</a:t>
            </a:r>
          </a:p>
          <a:p>
            <a:pPr marL="342900" indent="-342900" eaLnBrk="1" hangingPunct="1">
              <a:spcBef>
                <a:spcPct val="20000"/>
              </a:spcBef>
              <a:defRPr/>
            </a:pPr>
            <a:r>
              <a:rPr lang="en-US" sz="1800" dirty="0">
                <a:latin typeface="+mn-lt"/>
                <a:cs typeface="Arial" charset="0"/>
              </a:rPr>
              <a:t>requirements</a:t>
            </a:r>
          </a:p>
          <a:p>
            <a:pPr marL="342900" indent="-342900" eaLnBrk="1" hangingPunct="1">
              <a:spcBef>
                <a:spcPct val="20000"/>
              </a:spcBef>
              <a:defRPr/>
            </a:pPr>
            <a:r>
              <a:rPr lang="en-US" sz="2000" b="1" u="sng" dirty="0">
                <a:latin typeface="+mn-lt"/>
                <a:cs typeface="Arial" charset="0"/>
              </a:rPr>
              <a:t>PRIORITIZE RISKS</a:t>
            </a:r>
          </a:p>
          <a:p>
            <a:pPr eaLnBrk="1" hangingPunct="1">
              <a:spcBef>
                <a:spcPct val="20000"/>
              </a:spcBef>
              <a:defRPr/>
            </a:pPr>
            <a:r>
              <a:rPr lang="en-US" sz="1800" dirty="0">
                <a:latin typeface="+mn-lt"/>
                <a:cs typeface="Arial" charset="0"/>
              </a:rPr>
              <a:t>Establish risks to be eliminated (too severe), requiring committed management attention, minor in effect</a:t>
            </a:r>
          </a:p>
        </p:txBody>
      </p:sp>
      <p:sp>
        <p:nvSpPr>
          <p:cNvPr id="6" name="Rectangle 4">
            <a:extLst>
              <a:ext uri="{FF2B5EF4-FFF2-40B4-BE49-F238E27FC236}">
                <a16:creationId xmlns="" xmlns:a16="http://schemas.microsoft.com/office/drawing/2014/main" id="{B865D357-0C86-4E74-9171-FC6D57D5823C}"/>
              </a:ext>
            </a:extLst>
          </p:cNvPr>
          <p:cNvSpPr>
            <a:spLocks noChangeArrowheads="1"/>
          </p:cNvSpPr>
          <p:nvPr/>
        </p:nvSpPr>
        <p:spPr bwMode="auto">
          <a:xfrm>
            <a:off x="4999038" y="1447800"/>
            <a:ext cx="3721100" cy="4094163"/>
          </a:xfrm>
          <a:prstGeom prst="rect">
            <a:avLst/>
          </a:prstGeom>
          <a:noFill/>
          <a:ln w="9525">
            <a:noFill/>
            <a:miter lim="800000"/>
            <a:headEnd/>
            <a:tailEnd/>
          </a:ln>
        </p:spPr>
        <p:txBody>
          <a:bodyPr>
            <a:spAutoFit/>
          </a:bodyPr>
          <a:lstStyle/>
          <a:p>
            <a:pPr marL="342900" indent="-342900" eaLnBrk="1" hangingPunct="1">
              <a:spcBef>
                <a:spcPct val="20000"/>
              </a:spcBef>
              <a:defRPr/>
            </a:pPr>
            <a:r>
              <a:rPr lang="en-US" sz="2000" b="1" u="sng" dirty="0">
                <a:latin typeface="+mn-lt"/>
                <a:cs typeface="Arial" charset="0"/>
              </a:rPr>
              <a:t>MITIGATE RISKS</a:t>
            </a:r>
          </a:p>
          <a:p>
            <a:pPr marL="342900" indent="-342900" eaLnBrk="1" hangingPunct="1">
              <a:spcBef>
                <a:spcPct val="20000"/>
              </a:spcBef>
              <a:defRPr/>
            </a:pPr>
            <a:r>
              <a:rPr lang="en-US" sz="1800" dirty="0">
                <a:latin typeface="+mn-lt"/>
                <a:cs typeface="Arial" charset="0"/>
              </a:rPr>
              <a:t>Take advance action to </a:t>
            </a:r>
          </a:p>
          <a:p>
            <a:pPr marL="342900" indent="-342900" eaLnBrk="1" hangingPunct="1">
              <a:spcBef>
                <a:spcPct val="20000"/>
              </a:spcBef>
              <a:defRPr/>
            </a:pPr>
            <a:r>
              <a:rPr lang="en-US" sz="1800" dirty="0">
                <a:latin typeface="+mn-lt"/>
                <a:cs typeface="Arial" charset="0"/>
              </a:rPr>
              <a:t>reduce effect. </a:t>
            </a:r>
            <a:r>
              <a:rPr lang="en-US" sz="1800" i="1" dirty="0">
                <a:latin typeface="+mn-lt"/>
                <a:cs typeface="Arial" charset="0"/>
              </a:rPr>
              <a:t>It is better to</a:t>
            </a:r>
          </a:p>
          <a:p>
            <a:pPr marL="342900" indent="-342900" eaLnBrk="1" hangingPunct="1">
              <a:spcBef>
                <a:spcPct val="20000"/>
              </a:spcBef>
              <a:defRPr/>
            </a:pPr>
            <a:r>
              <a:rPr lang="en-US" sz="1800" i="1" dirty="0">
                <a:latin typeface="+mn-lt"/>
                <a:cs typeface="Arial" charset="0"/>
              </a:rPr>
              <a:t>spend on mitigation than to</a:t>
            </a:r>
          </a:p>
          <a:p>
            <a:pPr marL="342900" indent="-342900" eaLnBrk="1" hangingPunct="1">
              <a:spcBef>
                <a:spcPct val="20000"/>
              </a:spcBef>
              <a:defRPr/>
            </a:pPr>
            <a:r>
              <a:rPr lang="en-US" sz="1800" i="1" dirty="0">
                <a:latin typeface="+mn-lt"/>
                <a:cs typeface="Arial" charset="0"/>
              </a:rPr>
              <a:t>include contingency.</a:t>
            </a:r>
          </a:p>
          <a:p>
            <a:pPr marL="342900" indent="-342900" eaLnBrk="1" hangingPunct="1">
              <a:spcBef>
                <a:spcPct val="20000"/>
              </a:spcBef>
              <a:defRPr/>
            </a:pPr>
            <a:r>
              <a:rPr lang="en-US" sz="2000" b="1" u="sng" dirty="0">
                <a:latin typeface="+mn-lt"/>
                <a:cs typeface="Arial" charset="0"/>
              </a:rPr>
              <a:t>PLAN FOR EMERGENCIES</a:t>
            </a:r>
          </a:p>
          <a:p>
            <a:pPr marL="342900" indent="-342900" eaLnBrk="1" hangingPunct="1">
              <a:spcBef>
                <a:spcPct val="20000"/>
              </a:spcBef>
              <a:defRPr/>
            </a:pPr>
            <a:r>
              <a:rPr lang="en-US" sz="1800" dirty="0">
                <a:latin typeface="+mn-lt"/>
                <a:cs typeface="Arial" charset="0"/>
              </a:rPr>
              <a:t>For all significant risks, have </a:t>
            </a:r>
          </a:p>
          <a:p>
            <a:pPr marL="342900" indent="-342900" eaLnBrk="1" hangingPunct="1">
              <a:spcBef>
                <a:spcPct val="20000"/>
              </a:spcBef>
              <a:defRPr/>
            </a:pPr>
            <a:r>
              <a:rPr lang="en-US" sz="1800" dirty="0">
                <a:latin typeface="+mn-lt"/>
                <a:cs typeface="Arial" charset="0"/>
              </a:rPr>
              <a:t>an emergency plan in place.</a:t>
            </a:r>
          </a:p>
          <a:p>
            <a:pPr marL="342900" indent="-342900" eaLnBrk="1" hangingPunct="1">
              <a:spcBef>
                <a:spcPct val="20000"/>
              </a:spcBef>
              <a:defRPr/>
            </a:pPr>
            <a:r>
              <a:rPr lang="en-US" sz="2000" b="1" u="sng" dirty="0">
                <a:latin typeface="+mn-lt"/>
                <a:cs typeface="Arial" charset="0"/>
              </a:rPr>
              <a:t>MEASURE AND CONTROL</a:t>
            </a:r>
          </a:p>
          <a:p>
            <a:pPr marL="342900" indent="-342900" eaLnBrk="1" hangingPunct="1">
              <a:spcBef>
                <a:spcPct val="20000"/>
              </a:spcBef>
              <a:defRPr/>
            </a:pPr>
            <a:r>
              <a:rPr lang="en-US" sz="1800" dirty="0">
                <a:latin typeface="+mn-lt"/>
                <a:cs typeface="Arial" charset="0"/>
              </a:rPr>
              <a:t>Track the effects of the risks</a:t>
            </a:r>
          </a:p>
          <a:p>
            <a:pPr marL="342900" indent="-342900" eaLnBrk="1" hangingPunct="1">
              <a:spcBef>
                <a:spcPct val="20000"/>
              </a:spcBef>
              <a:defRPr/>
            </a:pPr>
            <a:r>
              <a:rPr lang="en-US" sz="1800" dirty="0">
                <a:latin typeface="+mn-lt"/>
                <a:cs typeface="Arial" charset="0"/>
              </a:rPr>
              <a:t>identified and manage to a</a:t>
            </a:r>
          </a:p>
          <a:p>
            <a:pPr marL="342900" indent="-342900" eaLnBrk="1" hangingPunct="1">
              <a:spcBef>
                <a:spcPct val="20000"/>
              </a:spcBef>
              <a:defRPr/>
            </a:pPr>
            <a:r>
              <a:rPr lang="en-US" sz="1800" dirty="0">
                <a:latin typeface="+mn-lt"/>
                <a:cs typeface="Arial" charset="0"/>
              </a:rPr>
              <a:t>successful conclusion.</a:t>
            </a:r>
          </a:p>
        </p:txBody>
      </p:sp>
    </p:spTree>
    <p:extLst>
      <p:ext uri="{BB962C8B-B14F-4D97-AF65-F5344CB8AC3E}">
        <p14:creationId xmlns:p14="http://schemas.microsoft.com/office/powerpoint/2010/main" val="314768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wipe(down)">
                                      <p:cBhvr>
                                        <p:cTn id="10" dur="500"/>
                                        <p:tgtEl>
                                          <p:spTgt spid="5">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wipe(down)">
                                      <p:cBhvr>
                                        <p:cTn id="13" dur="500"/>
                                        <p:tgtEl>
                                          <p:spTgt spid="5">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wipe(down)">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wipe(down)">
                                      <p:cBhvr>
                                        <p:cTn id="21" dur="500"/>
                                        <p:tgtEl>
                                          <p:spTgt spid="5">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wipe(up)">
                                      <p:cBhvr>
                                        <p:cTn id="24" dur="500"/>
                                        <p:tgtEl>
                                          <p:spTgt spid="5">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wipe(down)">
                                      <p:cBhvr>
                                        <p:cTn id="27" dur="500"/>
                                        <p:tgtEl>
                                          <p:spTgt spid="5">
                                            <p:txEl>
                                              <p:pRg st="6" end="6"/>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wipe(down)">
                                      <p:cBhvr>
                                        <p:cTn id="30" dur="500"/>
                                        <p:tgtEl>
                                          <p:spTgt spid="5">
                                            <p:txEl>
                                              <p:pRg st="7" end="7"/>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wipe(up)">
                                      <p:cBhvr>
                                        <p:cTn id="33" dur="500"/>
                                        <p:tgtEl>
                                          <p:spTgt spid="5">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5">
                                            <p:txEl>
                                              <p:pRg st="9" end="9"/>
                                            </p:txEl>
                                          </p:spTgt>
                                        </p:tgtEl>
                                        <p:attrNameLst>
                                          <p:attrName>style.visibility</p:attrName>
                                        </p:attrNameLst>
                                      </p:cBhvr>
                                      <p:to>
                                        <p:strVal val="visible"/>
                                      </p:to>
                                    </p:set>
                                    <p:animEffect transition="in" filter="wipe(down)">
                                      <p:cBhvr>
                                        <p:cTn id="38" dur="500"/>
                                        <p:tgtEl>
                                          <p:spTgt spid="5">
                                            <p:txEl>
                                              <p:pRg st="9" end="9"/>
                                            </p:txEl>
                                          </p:spTgt>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5">
                                            <p:txEl>
                                              <p:pRg st="10" end="10"/>
                                            </p:txEl>
                                          </p:spTgt>
                                        </p:tgtEl>
                                        <p:attrNameLst>
                                          <p:attrName>style.visibility</p:attrName>
                                        </p:attrNameLst>
                                      </p:cBhvr>
                                      <p:to>
                                        <p:strVal val="visible"/>
                                      </p:to>
                                    </p:set>
                                    <p:animEffect transition="in" filter="wipe(up)">
                                      <p:cBhvr>
                                        <p:cTn id="41" dur="500"/>
                                        <p:tgtEl>
                                          <p:spTgt spid="5">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6">
                                            <p:txEl>
                                              <p:pRg st="0" end="0"/>
                                            </p:txEl>
                                          </p:spTgt>
                                        </p:tgtEl>
                                        <p:attrNameLst>
                                          <p:attrName>style.visibility</p:attrName>
                                        </p:attrNameLst>
                                      </p:cBhvr>
                                      <p:to>
                                        <p:strVal val="visible"/>
                                      </p:to>
                                    </p:set>
                                    <p:animEffect transition="in" filter="wipe(down)">
                                      <p:cBhvr>
                                        <p:cTn id="46" dur="500"/>
                                        <p:tgtEl>
                                          <p:spTgt spid="6">
                                            <p:txEl>
                                              <p:pRg st="0" end="0"/>
                                            </p:txEl>
                                          </p:spTgt>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Effect transition="in" filter="wipe(down)">
                                      <p:cBhvr>
                                        <p:cTn id="49" dur="500"/>
                                        <p:tgtEl>
                                          <p:spTgt spid="6">
                                            <p:txEl>
                                              <p:pRg st="1" end="1"/>
                                            </p:txEl>
                                          </p:spTgt>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6">
                                            <p:txEl>
                                              <p:pRg st="2" end="2"/>
                                            </p:txEl>
                                          </p:spTgt>
                                        </p:tgtEl>
                                        <p:attrNameLst>
                                          <p:attrName>style.visibility</p:attrName>
                                        </p:attrNameLst>
                                      </p:cBhvr>
                                      <p:to>
                                        <p:strVal val="visible"/>
                                      </p:to>
                                    </p:set>
                                    <p:animEffect transition="in" filter="wipe(down)">
                                      <p:cBhvr>
                                        <p:cTn id="52" dur="500"/>
                                        <p:tgtEl>
                                          <p:spTgt spid="6">
                                            <p:txEl>
                                              <p:pRg st="2" end="2"/>
                                            </p:txEl>
                                          </p:spTgt>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6">
                                            <p:txEl>
                                              <p:pRg st="3" end="3"/>
                                            </p:txEl>
                                          </p:spTgt>
                                        </p:tgtEl>
                                        <p:attrNameLst>
                                          <p:attrName>style.visibility</p:attrName>
                                        </p:attrNameLst>
                                      </p:cBhvr>
                                      <p:to>
                                        <p:strVal val="visible"/>
                                      </p:to>
                                    </p:set>
                                    <p:animEffect transition="in" filter="wipe(down)">
                                      <p:cBhvr>
                                        <p:cTn id="55" dur="500"/>
                                        <p:tgtEl>
                                          <p:spTgt spid="6">
                                            <p:txEl>
                                              <p:pRg st="3" end="3"/>
                                            </p:txEl>
                                          </p:spTgt>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6">
                                            <p:txEl>
                                              <p:pRg st="4" end="4"/>
                                            </p:txEl>
                                          </p:spTgt>
                                        </p:tgtEl>
                                        <p:attrNameLst>
                                          <p:attrName>style.visibility</p:attrName>
                                        </p:attrNameLst>
                                      </p:cBhvr>
                                      <p:to>
                                        <p:strVal val="visible"/>
                                      </p:to>
                                    </p:set>
                                    <p:animEffect transition="in" filter="wipe(down)">
                                      <p:cBhvr>
                                        <p:cTn id="58" dur="500"/>
                                        <p:tgtEl>
                                          <p:spTgt spid="6">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6">
                                            <p:txEl>
                                              <p:pRg st="5" end="5"/>
                                            </p:txEl>
                                          </p:spTgt>
                                        </p:tgtEl>
                                        <p:attrNameLst>
                                          <p:attrName>style.visibility</p:attrName>
                                        </p:attrNameLst>
                                      </p:cBhvr>
                                      <p:to>
                                        <p:strVal val="visible"/>
                                      </p:to>
                                    </p:set>
                                    <p:animEffect transition="in" filter="wipe(down)">
                                      <p:cBhvr>
                                        <p:cTn id="63" dur="500"/>
                                        <p:tgtEl>
                                          <p:spTgt spid="6">
                                            <p:txEl>
                                              <p:pRg st="5" end="5"/>
                                            </p:txEl>
                                          </p:spTgt>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6">
                                            <p:txEl>
                                              <p:pRg st="6" end="6"/>
                                            </p:txEl>
                                          </p:spTgt>
                                        </p:tgtEl>
                                        <p:attrNameLst>
                                          <p:attrName>style.visibility</p:attrName>
                                        </p:attrNameLst>
                                      </p:cBhvr>
                                      <p:to>
                                        <p:strVal val="visible"/>
                                      </p:to>
                                    </p:set>
                                    <p:animEffect transition="in" filter="wipe(down)">
                                      <p:cBhvr>
                                        <p:cTn id="66" dur="500"/>
                                        <p:tgtEl>
                                          <p:spTgt spid="6">
                                            <p:txEl>
                                              <p:pRg st="6" end="6"/>
                                            </p:txEl>
                                          </p:spTgt>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6">
                                            <p:txEl>
                                              <p:pRg st="7" end="7"/>
                                            </p:txEl>
                                          </p:spTgt>
                                        </p:tgtEl>
                                        <p:attrNameLst>
                                          <p:attrName>style.visibility</p:attrName>
                                        </p:attrNameLst>
                                      </p:cBhvr>
                                      <p:to>
                                        <p:strVal val="visible"/>
                                      </p:to>
                                    </p:set>
                                    <p:animEffect transition="in" filter="wipe(down)">
                                      <p:cBhvr>
                                        <p:cTn id="69" dur="500"/>
                                        <p:tgtEl>
                                          <p:spTgt spid="6">
                                            <p:txEl>
                                              <p:pRg st="7" end="7"/>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6">
                                            <p:txEl>
                                              <p:pRg st="8" end="8"/>
                                            </p:txEl>
                                          </p:spTgt>
                                        </p:tgtEl>
                                        <p:attrNameLst>
                                          <p:attrName>style.visibility</p:attrName>
                                        </p:attrNameLst>
                                      </p:cBhvr>
                                      <p:to>
                                        <p:strVal val="visible"/>
                                      </p:to>
                                    </p:set>
                                    <p:animEffect transition="in" filter="wipe(down)">
                                      <p:cBhvr>
                                        <p:cTn id="74" dur="500"/>
                                        <p:tgtEl>
                                          <p:spTgt spid="6">
                                            <p:txEl>
                                              <p:pRg st="8" end="8"/>
                                            </p:txEl>
                                          </p:spTgt>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6">
                                            <p:txEl>
                                              <p:pRg st="9" end="9"/>
                                            </p:txEl>
                                          </p:spTgt>
                                        </p:tgtEl>
                                        <p:attrNameLst>
                                          <p:attrName>style.visibility</p:attrName>
                                        </p:attrNameLst>
                                      </p:cBhvr>
                                      <p:to>
                                        <p:strVal val="visible"/>
                                      </p:to>
                                    </p:set>
                                    <p:animEffect transition="in" filter="wipe(down)">
                                      <p:cBhvr>
                                        <p:cTn id="77" dur="500"/>
                                        <p:tgtEl>
                                          <p:spTgt spid="6">
                                            <p:txEl>
                                              <p:pRg st="9" end="9"/>
                                            </p:txEl>
                                          </p:spTgt>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6">
                                            <p:txEl>
                                              <p:pRg st="10" end="10"/>
                                            </p:txEl>
                                          </p:spTgt>
                                        </p:tgtEl>
                                        <p:attrNameLst>
                                          <p:attrName>style.visibility</p:attrName>
                                        </p:attrNameLst>
                                      </p:cBhvr>
                                      <p:to>
                                        <p:strVal val="visible"/>
                                      </p:to>
                                    </p:set>
                                    <p:animEffect transition="in" filter="wipe(down)">
                                      <p:cBhvr>
                                        <p:cTn id="80" dur="500"/>
                                        <p:tgtEl>
                                          <p:spTgt spid="6">
                                            <p:txEl>
                                              <p:pRg st="10" end="10"/>
                                            </p:txEl>
                                          </p:spTgt>
                                        </p:tgtEl>
                                      </p:cBhvr>
                                    </p:animEffect>
                                  </p:childTnLst>
                                </p:cTn>
                              </p:par>
                              <p:par>
                                <p:cTn id="81" presetID="22" presetClass="entr" presetSubtype="4" fill="hold" grpId="0" nodeType="withEffect">
                                  <p:stCondLst>
                                    <p:cond delay="0"/>
                                  </p:stCondLst>
                                  <p:childTnLst>
                                    <p:set>
                                      <p:cBhvr>
                                        <p:cTn id="82" dur="1" fill="hold">
                                          <p:stCondLst>
                                            <p:cond delay="0"/>
                                          </p:stCondLst>
                                        </p:cTn>
                                        <p:tgtEl>
                                          <p:spTgt spid="6">
                                            <p:txEl>
                                              <p:pRg st="11" end="11"/>
                                            </p:txEl>
                                          </p:spTgt>
                                        </p:tgtEl>
                                        <p:attrNameLst>
                                          <p:attrName>style.visibility</p:attrName>
                                        </p:attrNameLst>
                                      </p:cBhvr>
                                      <p:to>
                                        <p:strVal val="visible"/>
                                      </p:to>
                                    </p:set>
                                    <p:animEffect transition="in" filter="wipe(down)">
                                      <p:cBhvr>
                                        <p:cTn id="83"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28</a:t>
            </a:fld>
            <a:endParaRPr lang="en-US" dirty="0"/>
          </a:p>
        </p:txBody>
      </p:sp>
      <p:sp>
        <p:nvSpPr>
          <p:cNvPr id="3" name="Title 2"/>
          <p:cNvSpPr>
            <a:spLocks noGrp="1"/>
          </p:cNvSpPr>
          <p:nvPr>
            <p:ph type="title"/>
          </p:nvPr>
        </p:nvSpPr>
        <p:spPr/>
        <p:txBody>
          <a:bodyPr/>
          <a:lstStyle/>
          <a:p>
            <a:r>
              <a:rPr lang="en-US" dirty="0" smtClean="0"/>
              <a:t>Step 1:Risk Identification</a:t>
            </a:r>
            <a:endParaRPr lang="en-US" dirty="0"/>
          </a:p>
        </p:txBody>
      </p:sp>
      <p:sp>
        <p:nvSpPr>
          <p:cNvPr id="4" name="Text Placeholder 3"/>
          <p:cNvSpPr>
            <a:spLocks noGrp="1"/>
          </p:cNvSpPr>
          <p:nvPr>
            <p:ph type="body" sz="quarter" idx="13"/>
          </p:nvPr>
        </p:nvSpPr>
        <p:spPr>
          <a:xfrm>
            <a:off x="457201" y="1447800"/>
            <a:ext cx="8381999" cy="4953000"/>
          </a:xfrm>
        </p:spPr>
        <p:txBody>
          <a:bodyPr>
            <a:normAutofit fontScale="92500" lnSpcReduction="10000"/>
          </a:bodyPr>
          <a:lstStyle/>
          <a:p>
            <a:r>
              <a:rPr lang="en-US" sz="2800" dirty="0"/>
              <a:t>The categories of factors that will need to be considered </a:t>
            </a:r>
            <a:r>
              <a:rPr lang="en-US" sz="2800" dirty="0" smtClean="0"/>
              <a:t>in risk identification include </a:t>
            </a:r>
            <a:r>
              <a:rPr lang="en-US" sz="2800" dirty="0"/>
              <a:t>the following:</a:t>
            </a:r>
          </a:p>
          <a:p>
            <a:pPr lvl="1"/>
            <a:r>
              <a:rPr lang="en-US" sz="2600" dirty="0" smtClean="0"/>
              <a:t>Application </a:t>
            </a:r>
            <a:r>
              <a:rPr lang="en-US" sz="2600" dirty="0"/>
              <a:t>factors – Nature of application (Software) – simple or complex.</a:t>
            </a:r>
          </a:p>
          <a:p>
            <a:pPr lvl="1"/>
            <a:r>
              <a:rPr lang="en-US" sz="2600" dirty="0" smtClean="0"/>
              <a:t>Staff </a:t>
            </a:r>
            <a:r>
              <a:rPr lang="en-US" sz="2600" dirty="0"/>
              <a:t>factors – include factors like experienced, unexperienced etc.</a:t>
            </a:r>
          </a:p>
          <a:p>
            <a:pPr lvl="1"/>
            <a:r>
              <a:rPr lang="en-US" sz="2600" dirty="0" smtClean="0"/>
              <a:t>Project </a:t>
            </a:r>
            <a:r>
              <a:rPr lang="en-US" sz="2600" dirty="0"/>
              <a:t>factors</a:t>
            </a:r>
          </a:p>
          <a:p>
            <a:pPr lvl="1"/>
            <a:r>
              <a:rPr lang="en-US" sz="2600" dirty="0" smtClean="0"/>
              <a:t>Project methods</a:t>
            </a:r>
          </a:p>
          <a:p>
            <a:pPr lvl="1"/>
            <a:r>
              <a:rPr lang="en-US" sz="2600" dirty="0" smtClean="0"/>
              <a:t>Hardware/Software </a:t>
            </a:r>
            <a:r>
              <a:rPr lang="en-US" sz="2600" dirty="0"/>
              <a:t>factors</a:t>
            </a:r>
          </a:p>
          <a:p>
            <a:pPr lvl="1"/>
            <a:r>
              <a:rPr lang="en-US" sz="2600" dirty="0" smtClean="0"/>
              <a:t>Changeover </a:t>
            </a:r>
            <a:r>
              <a:rPr lang="en-US" sz="2600" dirty="0"/>
              <a:t>factors</a:t>
            </a:r>
          </a:p>
          <a:p>
            <a:pPr lvl="1"/>
            <a:r>
              <a:rPr lang="en-US" sz="2600" dirty="0" smtClean="0"/>
              <a:t>Supplier </a:t>
            </a:r>
            <a:r>
              <a:rPr lang="en-US" sz="2600" dirty="0"/>
              <a:t>factors</a:t>
            </a:r>
          </a:p>
          <a:p>
            <a:pPr lvl="1"/>
            <a:r>
              <a:rPr lang="en-US" sz="2600" dirty="0" smtClean="0"/>
              <a:t>Environment </a:t>
            </a:r>
            <a:r>
              <a:rPr lang="en-US" sz="2600" dirty="0"/>
              <a:t>factors</a:t>
            </a:r>
          </a:p>
          <a:p>
            <a:pPr lvl="1"/>
            <a:r>
              <a:rPr lang="en-US" sz="2600" dirty="0" smtClean="0"/>
              <a:t>Health </a:t>
            </a:r>
            <a:r>
              <a:rPr lang="en-US" sz="2600" dirty="0"/>
              <a:t>&amp; safety factors</a:t>
            </a:r>
          </a:p>
        </p:txBody>
      </p:sp>
    </p:spTree>
    <p:extLst>
      <p:ext uri="{BB962C8B-B14F-4D97-AF65-F5344CB8AC3E}">
        <p14:creationId xmlns:p14="http://schemas.microsoft.com/office/powerpoint/2010/main" val="332608016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29</a:t>
            </a:fld>
            <a:endParaRPr lang="en-US" dirty="0"/>
          </a:p>
        </p:txBody>
      </p:sp>
      <p:sp>
        <p:nvSpPr>
          <p:cNvPr id="3" name="Title 2"/>
          <p:cNvSpPr>
            <a:spLocks noGrp="1"/>
          </p:cNvSpPr>
          <p:nvPr>
            <p:ph type="title"/>
          </p:nvPr>
        </p:nvSpPr>
        <p:spPr/>
        <p:txBody>
          <a:bodyPr/>
          <a:lstStyle/>
          <a:p>
            <a:r>
              <a:rPr lang="en-US" dirty="0" smtClean="0"/>
              <a:t>Step 1:Risk Identification</a:t>
            </a:r>
            <a:endParaRPr lang="en-US" dirty="0"/>
          </a:p>
        </p:txBody>
      </p:sp>
      <p:sp>
        <p:nvSpPr>
          <p:cNvPr id="4" name="Text Placeholder 3"/>
          <p:cNvSpPr>
            <a:spLocks noGrp="1"/>
          </p:cNvSpPr>
          <p:nvPr>
            <p:ph type="body" sz="quarter" idx="13"/>
          </p:nvPr>
        </p:nvSpPr>
        <p:spPr/>
        <p:txBody>
          <a:bodyPr>
            <a:normAutofit/>
          </a:bodyPr>
          <a:lstStyle/>
          <a:p>
            <a:r>
              <a:rPr lang="en-US" sz="2800" dirty="0" smtClean="0"/>
              <a:t>Two </a:t>
            </a:r>
            <a:r>
              <a:rPr lang="en-US" sz="2800" dirty="0"/>
              <a:t>main approaches for identification of risks are </a:t>
            </a:r>
            <a:endParaRPr lang="en-US" sz="2800" dirty="0" smtClean="0"/>
          </a:p>
          <a:p>
            <a:pPr marL="658368" lvl="1" indent="-457200">
              <a:buFont typeface="+mj-lt"/>
              <a:buAutoNum type="arabicPeriod"/>
            </a:pPr>
            <a:r>
              <a:rPr lang="en-US" sz="2400" dirty="0" smtClean="0"/>
              <a:t>Check-List </a:t>
            </a:r>
          </a:p>
          <a:p>
            <a:pPr marL="658368" lvl="1" indent="-457200">
              <a:buFont typeface="+mj-lt"/>
              <a:buAutoNum type="arabicPeriod"/>
            </a:pPr>
            <a:r>
              <a:rPr lang="en-US" sz="2400" dirty="0" smtClean="0"/>
              <a:t>Brain-Storming</a:t>
            </a:r>
            <a:r>
              <a:rPr lang="en-US" sz="2400" dirty="0"/>
              <a:t>. </a:t>
            </a:r>
            <a:endParaRPr lang="en-US" sz="2400" dirty="0" smtClean="0"/>
          </a:p>
        </p:txBody>
      </p:sp>
    </p:spTree>
    <p:extLst>
      <p:ext uri="{BB962C8B-B14F-4D97-AF65-F5344CB8AC3E}">
        <p14:creationId xmlns:p14="http://schemas.microsoft.com/office/powerpoint/2010/main" val="8658160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30</a:t>
            </a:fld>
            <a:endParaRPr lang="en-US" dirty="0"/>
          </a:p>
        </p:txBody>
      </p:sp>
      <p:sp>
        <p:nvSpPr>
          <p:cNvPr id="3" name="Title 2"/>
          <p:cNvSpPr>
            <a:spLocks noGrp="1"/>
          </p:cNvSpPr>
          <p:nvPr>
            <p:ph type="title"/>
          </p:nvPr>
        </p:nvSpPr>
        <p:spPr>
          <a:xfrm>
            <a:off x="478317" y="838200"/>
            <a:ext cx="8229599" cy="780195"/>
          </a:xfrm>
        </p:spPr>
        <p:txBody>
          <a:bodyPr>
            <a:noAutofit/>
          </a:bodyPr>
          <a:lstStyle/>
          <a:p>
            <a:r>
              <a:rPr lang="en-US" sz="4400" u="sng" dirty="0" smtClean="0"/>
              <a:t>Step 1:Risk Identification</a:t>
            </a:r>
            <a:r>
              <a:rPr lang="en-US" sz="4400" dirty="0" smtClean="0"/>
              <a:t> </a:t>
            </a:r>
            <a:br>
              <a:rPr lang="en-US" sz="4400" dirty="0" smtClean="0"/>
            </a:br>
            <a:r>
              <a:rPr lang="en-US" sz="4400" dirty="0" smtClean="0"/>
              <a:t>Check-List </a:t>
            </a:r>
            <a:endParaRPr lang="en-US" sz="4400" dirty="0"/>
          </a:p>
        </p:txBody>
      </p:sp>
      <p:sp>
        <p:nvSpPr>
          <p:cNvPr id="4" name="Text Placeholder 3"/>
          <p:cNvSpPr>
            <a:spLocks noGrp="1"/>
          </p:cNvSpPr>
          <p:nvPr>
            <p:ph type="body" sz="quarter" idx="13"/>
          </p:nvPr>
        </p:nvSpPr>
        <p:spPr>
          <a:xfrm>
            <a:off x="457201" y="1828800"/>
            <a:ext cx="8381999" cy="4114800"/>
          </a:xfrm>
        </p:spPr>
        <p:txBody>
          <a:bodyPr>
            <a:normAutofit/>
          </a:bodyPr>
          <a:lstStyle/>
          <a:p>
            <a:r>
              <a:rPr lang="en-US" sz="3200" dirty="0" smtClean="0"/>
              <a:t>Check-Lists </a:t>
            </a:r>
          </a:p>
          <a:p>
            <a:pPr lvl="1"/>
            <a:r>
              <a:rPr lang="en-US" sz="2800" dirty="0" smtClean="0"/>
              <a:t>are </a:t>
            </a:r>
            <a:r>
              <a:rPr lang="en-US" sz="2800" dirty="0"/>
              <a:t>simply list of the risks that have been found to occur regularly in software development projects. </a:t>
            </a:r>
            <a:endParaRPr lang="en-US" sz="2800" dirty="0" smtClean="0"/>
          </a:p>
          <a:p>
            <a:pPr lvl="1"/>
            <a:r>
              <a:rPr lang="en-US" sz="2800" dirty="0" smtClean="0"/>
              <a:t>Ideally </a:t>
            </a:r>
            <a:r>
              <a:rPr lang="en-US" sz="2800" dirty="0"/>
              <a:t>a group of representative project stakeholders examines a checklist identifying risks applicable to their project. </a:t>
            </a:r>
            <a:endParaRPr lang="en-US" sz="2800" dirty="0" smtClean="0"/>
          </a:p>
          <a:p>
            <a:pPr lvl="1"/>
            <a:r>
              <a:rPr lang="en-US" sz="2800" dirty="0" smtClean="0"/>
              <a:t>Often </a:t>
            </a:r>
            <a:r>
              <a:rPr lang="en-US" sz="2800" dirty="0"/>
              <a:t>the checklist suggests potential counter measures for each risk. </a:t>
            </a:r>
            <a:endParaRPr lang="en-US" sz="2800" dirty="0" smtClean="0"/>
          </a:p>
        </p:txBody>
      </p:sp>
    </p:spTree>
    <p:extLst>
      <p:ext uri="{BB962C8B-B14F-4D97-AF65-F5344CB8AC3E}">
        <p14:creationId xmlns:p14="http://schemas.microsoft.com/office/powerpoint/2010/main" val="287104205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31</a:t>
            </a:fld>
            <a:endParaRPr lang="en-US" dirty="0"/>
          </a:p>
        </p:txBody>
      </p:sp>
      <p:sp>
        <p:nvSpPr>
          <p:cNvPr id="3" name="Title 2"/>
          <p:cNvSpPr>
            <a:spLocks noGrp="1"/>
          </p:cNvSpPr>
          <p:nvPr>
            <p:ph type="title"/>
          </p:nvPr>
        </p:nvSpPr>
        <p:spPr>
          <a:xfrm>
            <a:off x="381000" y="381000"/>
            <a:ext cx="8610599" cy="1161195"/>
          </a:xfrm>
        </p:spPr>
        <p:txBody>
          <a:bodyPr>
            <a:noAutofit/>
          </a:bodyPr>
          <a:lstStyle/>
          <a:p>
            <a:r>
              <a:rPr lang="en-US" sz="4400" u="sng" dirty="0" smtClean="0"/>
              <a:t>Step </a:t>
            </a:r>
            <a:r>
              <a:rPr lang="en-US" sz="4400" u="sng" dirty="0"/>
              <a:t>1:Risk Identification </a:t>
            </a:r>
            <a:r>
              <a:rPr lang="en-US" sz="4400" u="sng" dirty="0" smtClean="0"/>
              <a:t/>
            </a:r>
            <a:br>
              <a:rPr lang="en-US" sz="4400" u="sng" dirty="0" smtClean="0"/>
            </a:br>
            <a:r>
              <a:rPr lang="en-US" sz="4400" dirty="0" smtClean="0"/>
              <a:t>Brain-Storming </a:t>
            </a:r>
            <a:endParaRPr lang="en-US" sz="4400" dirty="0"/>
          </a:p>
        </p:txBody>
      </p:sp>
      <p:sp>
        <p:nvSpPr>
          <p:cNvPr id="4" name="Text Placeholder 3"/>
          <p:cNvSpPr>
            <a:spLocks noGrp="1"/>
          </p:cNvSpPr>
          <p:nvPr>
            <p:ph type="body" sz="quarter" idx="13"/>
          </p:nvPr>
        </p:nvSpPr>
        <p:spPr>
          <a:xfrm>
            <a:off x="457201" y="1905000"/>
            <a:ext cx="8381999" cy="4038600"/>
          </a:xfrm>
        </p:spPr>
        <p:txBody>
          <a:bodyPr>
            <a:normAutofit/>
          </a:bodyPr>
          <a:lstStyle/>
          <a:p>
            <a:r>
              <a:rPr lang="en-US" sz="2800" dirty="0" smtClean="0"/>
              <a:t>Brain-Storming </a:t>
            </a:r>
          </a:p>
          <a:p>
            <a:pPr lvl="1"/>
            <a:r>
              <a:rPr lang="en-US" sz="2400" dirty="0" smtClean="0"/>
              <a:t>In </a:t>
            </a:r>
            <a:r>
              <a:rPr lang="en-US" sz="2400" dirty="0"/>
              <a:t>this method representatives of the main stakeholders should be brought together once some kind of preliminary plan has been drafted. </a:t>
            </a:r>
            <a:endParaRPr lang="en-US" sz="2400" dirty="0" smtClean="0"/>
          </a:p>
          <a:p>
            <a:pPr lvl="1"/>
            <a:r>
              <a:rPr lang="en-US" sz="2400" dirty="0" smtClean="0"/>
              <a:t>They </a:t>
            </a:r>
            <a:r>
              <a:rPr lang="en-US" sz="2400" dirty="0"/>
              <a:t>then identify, using their individual knowledge of different parts of the project, the problems that might occur. </a:t>
            </a:r>
          </a:p>
        </p:txBody>
      </p:sp>
    </p:spTree>
    <p:extLst>
      <p:ext uri="{BB962C8B-B14F-4D97-AF65-F5344CB8AC3E}">
        <p14:creationId xmlns:p14="http://schemas.microsoft.com/office/powerpoint/2010/main" val="25350055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32</a:t>
            </a:fld>
            <a:endParaRPr lang="en-US" dirty="0"/>
          </a:p>
        </p:txBody>
      </p:sp>
      <p:sp>
        <p:nvSpPr>
          <p:cNvPr id="3" name="Title 2"/>
          <p:cNvSpPr>
            <a:spLocks noGrp="1"/>
          </p:cNvSpPr>
          <p:nvPr>
            <p:ph type="title"/>
          </p:nvPr>
        </p:nvSpPr>
        <p:spPr/>
        <p:txBody>
          <a:bodyPr/>
          <a:lstStyle/>
          <a:p>
            <a:r>
              <a:rPr lang="en-US" dirty="0"/>
              <a:t>Step 2: Risk </a:t>
            </a:r>
            <a:r>
              <a:rPr lang="en-US" dirty="0" smtClean="0"/>
              <a:t>Analysis</a:t>
            </a:r>
            <a:endParaRPr lang="en-US" dirty="0"/>
          </a:p>
        </p:txBody>
      </p:sp>
      <p:sp>
        <p:nvSpPr>
          <p:cNvPr id="4" name="Text Placeholder 3"/>
          <p:cNvSpPr>
            <a:spLocks noGrp="1"/>
          </p:cNvSpPr>
          <p:nvPr>
            <p:ph type="body" sz="quarter" idx="13"/>
          </p:nvPr>
        </p:nvSpPr>
        <p:spPr/>
        <p:txBody>
          <a:bodyPr>
            <a:normAutofit/>
          </a:bodyPr>
          <a:lstStyle/>
          <a:p>
            <a:r>
              <a:rPr lang="en-US" sz="2800" b="1" dirty="0"/>
              <a:t>Qualitative</a:t>
            </a:r>
            <a:r>
              <a:rPr lang="en-US" sz="2800" dirty="0"/>
              <a:t> allows for risks to be quickly categorized and ready for comparison </a:t>
            </a:r>
            <a:endParaRPr lang="en-US" sz="2800" dirty="0" smtClean="0"/>
          </a:p>
          <a:p>
            <a:pPr lvl="1"/>
            <a:r>
              <a:rPr lang="en-US" sz="2400" dirty="0" smtClean="0"/>
              <a:t>May </a:t>
            </a:r>
            <a:r>
              <a:rPr lang="en-US" sz="2400" dirty="0"/>
              <a:t>give a lot of discussion between stakeholders </a:t>
            </a:r>
            <a:endParaRPr lang="en-US" sz="2400" dirty="0" smtClean="0"/>
          </a:p>
          <a:p>
            <a:pPr lvl="1"/>
            <a:r>
              <a:rPr lang="en-US" sz="2400" dirty="0" smtClean="0"/>
              <a:t>‘</a:t>
            </a:r>
            <a:r>
              <a:rPr lang="en-US" sz="2400" dirty="0"/>
              <a:t>Uncountable’ aspects have value, like aesthetics, emotions, though hard to explain in scientific and business language </a:t>
            </a:r>
            <a:endParaRPr lang="en-US" sz="2400" dirty="0" smtClean="0"/>
          </a:p>
          <a:p>
            <a:pPr>
              <a:buClr>
                <a:schemeClr val="tx1"/>
              </a:buClr>
              <a:buSzPct val="50000"/>
            </a:pPr>
            <a:r>
              <a:rPr lang="en-US" altLang="en-US" sz="2800" b="1" dirty="0"/>
              <a:t>Results of qualitative risk analysis</a:t>
            </a:r>
          </a:p>
          <a:p>
            <a:pPr lvl="1">
              <a:buClr>
                <a:schemeClr val="tx1"/>
              </a:buClr>
              <a:buSzPct val="50000"/>
            </a:pPr>
            <a:r>
              <a:rPr lang="en-US" altLang="en-US" sz="2800" dirty="0"/>
              <a:t>Ranking or prioritization of project risks.</a:t>
            </a:r>
          </a:p>
          <a:p>
            <a:pPr lvl="1">
              <a:buClr>
                <a:schemeClr val="tx1"/>
              </a:buClr>
              <a:buSzPct val="50000"/>
            </a:pPr>
            <a:r>
              <a:rPr lang="en-US" altLang="en-US" sz="2800" dirty="0"/>
              <a:t>Updated risk register.</a:t>
            </a:r>
          </a:p>
          <a:p>
            <a:pPr lvl="1">
              <a:buClr>
                <a:schemeClr val="tx1"/>
              </a:buClr>
              <a:buSzPct val="50000"/>
            </a:pPr>
            <a:r>
              <a:rPr lang="en-US" altLang="en-US" sz="2800" dirty="0"/>
              <a:t>Risks identified for further/quantitative analysis.</a:t>
            </a:r>
          </a:p>
          <a:p>
            <a:pPr lvl="1"/>
            <a:endParaRPr lang="en-US" sz="2200" dirty="0"/>
          </a:p>
        </p:txBody>
      </p:sp>
    </p:spTree>
    <p:extLst>
      <p:ext uri="{BB962C8B-B14F-4D97-AF65-F5344CB8AC3E}">
        <p14:creationId xmlns:p14="http://schemas.microsoft.com/office/powerpoint/2010/main" val="5482194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33</a:t>
            </a:fld>
            <a:endParaRPr lang="en-US" dirty="0"/>
          </a:p>
        </p:txBody>
      </p:sp>
      <p:sp>
        <p:nvSpPr>
          <p:cNvPr id="3" name="Title 2"/>
          <p:cNvSpPr>
            <a:spLocks noGrp="1"/>
          </p:cNvSpPr>
          <p:nvPr>
            <p:ph type="title"/>
          </p:nvPr>
        </p:nvSpPr>
        <p:spPr/>
        <p:txBody>
          <a:bodyPr/>
          <a:lstStyle/>
          <a:p>
            <a:r>
              <a:rPr lang="en-US" dirty="0"/>
              <a:t>Step 2: Risk </a:t>
            </a:r>
            <a:r>
              <a:rPr lang="en-US" dirty="0" smtClean="0"/>
              <a:t>Analysis</a:t>
            </a:r>
            <a:endParaRPr lang="en-US" dirty="0"/>
          </a:p>
        </p:txBody>
      </p:sp>
      <p:sp>
        <p:nvSpPr>
          <p:cNvPr id="4" name="Text Placeholder 3"/>
          <p:cNvSpPr>
            <a:spLocks noGrp="1"/>
          </p:cNvSpPr>
          <p:nvPr>
            <p:ph type="body" sz="quarter" idx="13"/>
          </p:nvPr>
        </p:nvSpPr>
        <p:spPr/>
        <p:txBody>
          <a:bodyPr>
            <a:normAutofit fontScale="92500" lnSpcReduction="20000"/>
          </a:bodyPr>
          <a:lstStyle/>
          <a:p>
            <a:r>
              <a:rPr lang="en-US" sz="2800" b="1" dirty="0" smtClean="0"/>
              <a:t>Quantitative</a:t>
            </a:r>
            <a:r>
              <a:rPr lang="en-US" sz="2800" dirty="0" smtClean="0"/>
              <a:t> </a:t>
            </a:r>
            <a:r>
              <a:rPr lang="en-US" sz="2800" dirty="0"/>
              <a:t>ensures risks are fully understood </a:t>
            </a:r>
            <a:endParaRPr lang="en-US" sz="2800" dirty="0" smtClean="0"/>
          </a:p>
          <a:p>
            <a:pPr lvl="1"/>
            <a:r>
              <a:rPr lang="en-US" sz="2400" dirty="0" smtClean="0"/>
              <a:t>Reduce </a:t>
            </a:r>
            <a:r>
              <a:rPr lang="en-US" sz="2400" dirty="0"/>
              <a:t>discussion as you must understand the risk in every detail in order to generate valid metrics </a:t>
            </a:r>
            <a:endParaRPr lang="en-US" sz="2400" dirty="0" smtClean="0"/>
          </a:p>
          <a:p>
            <a:pPr lvl="1"/>
            <a:r>
              <a:rPr lang="en-US" sz="2400" dirty="0" smtClean="0"/>
              <a:t>Expensive </a:t>
            </a:r>
            <a:r>
              <a:rPr lang="en-US" sz="2400" dirty="0"/>
              <a:t>to obtain (i.e. very time consuming to obtain </a:t>
            </a:r>
            <a:r>
              <a:rPr lang="en-US" sz="2400" dirty="0" smtClean="0"/>
              <a:t>data)</a:t>
            </a:r>
          </a:p>
          <a:p>
            <a:pPr lvl="1"/>
            <a:r>
              <a:rPr lang="en-US" altLang="en-US" sz="2400" dirty="0" smtClean="0"/>
              <a:t>Conducted </a:t>
            </a:r>
            <a:r>
              <a:rPr lang="en-US" altLang="en-US" sz="2400" dirty="0"/>
              <a:t>using various quantitative techniques</a:t>
            </a:r>
          </a:p>
          <a:p>
            <a:pPr lvl="2">
              <a:buClr>
                <a:schemeClr val="tx1"/>
              </a:buClr>
            </a:pPr>
            <a:r>
              <a:rPr lang="en-US" altLang="en-US" sz="2400" dirty="0"/>
              <a:t>Probability distributions</a:t>
            </a:r>
          </a:p>
          <a:p>
            <a:pPr lvl="2">
              <a:buClr>
                <a:schemeClr val="tx1"/>
              </a:buClr>
            </a:pPr>
            <a:r>
              <a:rPr lang="en-US" altLang="en-US" sz="2400" dirty="0"/>
              <a:t>Expected value analysis</a:t>
            </a:r>
          </a:p>
          <a:p>
            <a:pPr lvl="2">
              <a:buClr>
                <a:schemeClr val="tx1"/>
              </a:buClr>
            </a:pPr>
            <a:r>
              <a:rPr lang="en-US" altLang="en-US" sz="2400" dirty="0"/>
              <a:t>Decision tree analysis</a:t>
            </a:r>
            <a:endParaRPr lang="en-US" sz="2400" dirty="0"/>
          </a:p>
          <a:p>
            <a:pPr>
              <a:buClr>
                <a:schemeClr val="tx1"/>
              </a:buClr>
              <a:buSzPct val="50000"/>
            </a:pPr>
            <a:r>
              <a:rPr lang="en-US" altLang="en-US" sz="2800" b="1" dirty="0"/>
              <a:t>Results of quantitative risk analysis</a:t>
            </a:r>
          </a:p>
          <a:p>
            <a:pPr lvl="1">
              <a:buClr>
                <a:schemeClr val="tx1"/>
              </a:buClr>
              <a:buSzPct val="50000"/>
            </a:pPr>
            <a:r>
              <a:rPr lang="en-US" altLang="en-US" sz="2400" dirty="0"/>
              <a:t>Updated risk register.</a:t>
            </a:r>
          </a:p>
          <a:p>
            <a:pPr lvl="1">
              <a:buClr>
                <a:schemeClr val="tx1"/>
              </a:buClr>
              <a:buSzPct val="50000"/>
            </a:pPr>
            <a:r>
              <a:rPr lang="en-US" altLang="en-US" sz="2400" dirty="0"/>
              <a:t>Updated prioritized risks.</a:t>
            </a:r>
          </a:p>
          <a:p>
            <a:pPr lvl="1">
              <a:buClr>
                <a:schemeClr val="tx1"/>
              </a:buClr>
              <a:buSzPct val="50000"/>
            </a:pPr>
            <a:r>
              <a:rPr lang="en-US" altLang="en-US" sz="2400" dirty="0"/>
              <a:t>Updates to Risk Management Plan</a:t>
            </a:r>
          </a:p>
          <a:p>
            <a:pPr lvl="1">
              <a:buClr>
                <a:schemeClr val="tx1"/>
              </a:buClr>
              <a:buSzPct val="50000"/>
            </a:pPr>
            <a:r>
              <a:rPr lang="en-US" altLang="en-US" sz="2400" dirty="0"/>
              <a:t>Updates to Project Management Plan</a:t>
            </a:r>
            <a:r>
              <a:rPr lang="en-US" altLang="en-US" sz="2400" dirty="0" smtClean="0"/>
              <a:t>.</a:t>
            </a:r>
            <a:endParaRPr lang="en-US" altLang="en-US" sz="2400" dirty="0"/>
          </a:p>
        </p:txBody>
      </p:sp>
    </p:spTree>
    <p:extLst>
      <p:ext uri="{BB962C8B-B14F-4D97-AF65-F5344CB8AC3E}">
        <p14:creationId xmlns:p14="http://schemas.microsoft.com/office/powerpoint/2010/main" val="397638215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34</a:t>
            </a:fld>
            <a:endParaRPr lang="en-US" dirty="0"/>
          </a:p>
        </p:txBody>
      </p:sp>
      <p:sp>
        <p:nvSpPr>
          <p:cNvPr id="3" name="Title 2"/>
          <p:cNvSpPr>
            <a:spLocks noGrp="1"/>
          </p:cNvSpPr>
          <p:nvPr>
            <p:ph type="title"/>
          </p:nvPr>
        </p:nvSpPr>
        <p:spPr/>
        <p:txBody>
          <a:bodyPr/>
          <a:lstStyle/>
          <a:p>
            <a:r>
              <a:rPr lang="en-US" dirty="0"/>
              <a:t>Step 2: Risk </a:t>
            </a:r>
            <a:r>
              <a:rPr lang="en-US" dirty="0" smtClean="0"/>
              <a:t>Analysis</a:t>
            </a:r>
            <a:endParaRPr lang="en-US" dirty="0"/>
          </a:p>
        </p:txBody>
      </p:sp>
      <p:sp>
        <p:nvSpPr>
          <p:cNvPr id="4" name="Text Placeholder 3"/>
          <p:cNvSpPr>
            <a:spLocks noGrp="1"/>
          </p:cNvSpPr>
          <p:nvPr>
            <p:ph type="body" sz="quarter" idx="13"/>
          </p:nvPr>
        </p:nvSpPr>
        <p:spPr/>
        <p:txBody>
          <a:bodyPr>
            <a:normAutofit/>
          </a:bodyPr>
          <a:lstStyle/>
          <a:p>
            <a:r>
              <a:rPr lang="en-US" sz="2400" dirty="0" smtClean="0"/>
              <a:t>No</a:t>
            </a:r>
            <a:r>
              <a:rPr lang="en-US" sz="2400" dirty="0"/>
              <a:t>. of risks is potentially endless, which is a problem in risk management. So a way is needed of distinguishing the damaging and likely risks. This can be done by estimating the risk exposure for each risk using the formula: </a:t>
            </a:r>
            <a:endParaRPr lang="en-US" sz="2400" dirty="0" smtClean="0"/>
          </a:p>
          <a:p>
            <a:pPr marL="0" indent="0" algn="ctr">
              <a:buNone/>
            </a:pPr>
            <a:r>
              <a:rPr lang="en-US" sz="2400" b="1" dirty="0" smtClean="0"/>
              <a:t>Risk </a:t>
            </a:r>
            <a:r>
              <a:rPr lang="en-US" sz="2400" b="1" dirty="0"/>
              <a:t>exposure= (potential damage) X (probability of occurrence</a:t>
            </a:r>
            <a:r>
              <a:rPr lang="en-US" sz="2400" b="1" dirty="0" smtClean="0"/>
              <a:t>)</a:t>
            </a:r>
          </a:p>
          <a:p>
            <a:pPr marL="0" indent="0" algn="ctr">
              <a:buNone/>
            </a:pPr>
            <a:r>
              <a:rPr lang="en-US" b="1" dirty="0" smtClean="0"/>
              <a:t> Risk exposure = (Risk impact) </a:t>
            </a:r>
            <a:r>
              <a:rPr lang="en-US" b="1" dirty="0"/>
              <a:t>x</a:t>
            </a:r>
            <a:r>
              <a:rPr lang="en-US" b="1" dirty="0" smtClean="0"/>
              <a:t> (Risk likelihood)</a:t>
            </a:r>
          </a:p>
          <a:p>
            <a:r>
              <a:rPr lang="en-US" sz="2400" dirty="0" smtClean="0"/>
              <a:t>Risk exposure is expressed in term of money value. </a:t>
            </a:r>
          </a:p>
          <a:p>
            <a:r>
              <a:rPr lang="en-US" sz="2400" dirty="0" smtClean="0"/>
              <a:t>The </a:t>
            </a:r>
            <a:r>
              <a:rPr lang="en-US" sz="2400" dirty="0"/>
              <a:t>calculation of risk exposure assumes that the amount of damage sustained will always be the same. </a:t>
            </a:r>
          </a:p>
        </p:txBody>
      </p:sp>
    </p:spTree>
    <p:extLst>
      <p:ext uri="{BB962C8B-B14F-4D97-AF65-F5344CB8AC3E}">
        <p14:creationId xmlns:p14="http://schemas.microsoft.com/office/powerpoint/2010/main" val="21927040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35</a:t>
            </a:fld>
            <a:endParaRPr lang="en-US" dirty="0"/>
          </a:p>
        </p:txBody>
      </p:sp>
      <p:sp>
        <p:nvSpPr>
          <p:cNvPr id="3" name="Title 2"/>
          <p:cNvSpPr>
            <a:spLocks noGrp="1"/>
          </p:cNvSpPr>
          <p:nvPr>
            <p:ph type="title"/>
          </p:nvPr>
        </p:nvSpPr>
        <p:spPr/>
        <p:txBody>
          <a:bodyPr/>
          <a:lstStyle/>
          <a:p>
            <a:r>
              <a:rPr lang="en-US" dirty="0"/>
              <a:t>Step 2: Risk Analysis</a:t>
            </a:r>
          </a:p>
        </p:txBody>
      </p:sp>
      <p:sp>
        <p:nvSpPr>
          <p:cNvPr id="4" name="Text Placeholder 3"/>
          <p:cNvSpPr>
            <a:spLocks noGrp="1"/>
          </p:cNvSpPr>
          <p:nvPr>
            <p:ph type="body" sz="quarter" idx="13"/>
          </p:nvPr>
        </p:nvSpPr>
        <p:spPr/>
        <p:txBody>
          <a:bodyPr>
            <a:normAutofit/>
          </a:bodyPr>
          <a:lstStyle/>
          <a:p>
            <a:r>
              <a:rPr lang="en-US" sz="2400" dirty="0" smtClean="0"/>
              <a:t>Example</a:t>
            </a:r>
            <a:r>
              <a:rPr lang="en-US" sz="2400" dirty="0"/>
              <a:t>: supposed a project depended on a data </a:t>
            </a:r>
            <a:r>
              <a:rPr lang="en-US" sz="2400" dirty="0" smtClean="0"/>
              <a:t>center </a:t>
            </a:r>
            <a:r>
              <a:rPr lang="en-US" sz="2400" dirty="0"/>
              <a:t>vulnerable to fire. It might be estimated that if a fire occurred a new computer configuration could be established for $500,000. It might also be estimated that where the computer is located there is a 1 in 1000 chances of a fire actually happening that is a probability of 0.001. </a:t>
            </a:r>
            <a:endParaRPr lang="en-US" sz="2400" dirty="0" smtClean="0"/>
          </a:p>
          <a:p>
            <a:r>
              <a:rPr lang="en-US" sz="2400" dirty="0" smtClean="0"/>
              <a:t>The </a:t>
            </a:r>
            <a:r>
              <a:rPr lang="en-US" sz="2400" dirty="0"/>
              <a:t>risk exposure in this case would be: </a:t>
            </a:r>
          </a:p>
          <a:p>
            <a:pPr marL="0" indent="0">
              <a:buNone/>
            </a:pPr>
            <a:r>
              <a:rPr lang="en-US" sz="2400" dirty="0" smtClean="0"/>
              <a:t>	$</a:t>
            </a:r>
            <a:r>
              <a:rPr lang="en-US" sz="2400" dirty="0"/>
              <a:t>500,000 x 0.001=$500 </a:t>
            </a:r>
            <a:endParaRPr lang="en-US" sz="2400" dirty="0" smtClean="0"/>
          </a:p>
          <a:p>
            <a:r>
              <a:rPr lang="en-US" sz="2400" dirty="0"/>
              <a:t>With some there could be not be only damage but also gains.</a:t>
            </a:r>
          </a:p>
          <a:p>
            <a:r>
              <a:rPr lang="en-US" sz="2400" dirty="0"/>
              <a:t>Based on the risk exposure of the risk they should be ranked based on the potential damaged caused by them.</a:t>
            </a:r>
          </a:p>
          <a:p>
            <a:pPr marL="0" indent="0">
              <a:buNone/>
            </a:pPr>
            <a:endParaRPr lang="en-US" dirty="0" smtClean="0"/>
          </a:p>
        </p:txBody>
      </p:sp>
    </p:spTree>
    <p:extLst>
      <p:ext uri="{BB962C8B-B14F-4D97-AF65-F5344CB8AC3E}">
        <p14:creationId xmlns:p14="http://schemas.microsoft.com/office/powerpoint/2010/main" val="24667053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36</a:t>
            </a:fld>
            <a:endParaRPr lang="en-US" dirty="0"/>
          </a:p>
        </p:txBody>
      </p:sp>
      <p:sp>
        <p:nvSpPr>
          <p:cNvPr id="3" name="Title 2"/>
          <p:cNvSpPr>
            <a:spLocks noGrp="1"/>
          </p:cNvSpPr>
          <p:nvPr>
            <p:ph type="title"/>
          </p:nvPr>
        </p:nvSpPr>
        <p:spPr/>
        <p:txBody>
          <a:bodyPr/>
          <a:lstStyle/>
          <a:p>
            <a:r>
              <a:rPr lang="en-US" dirty="0"/>
              <a:t>Step 2: Risk Analysis</a:t>
            </a:r>
          </a:p>
        </p:txBody>
      </p:sp>
      <p:sp>
        <p:nvSpPr>
          <p:cNvPr id="6" name="Text Placeholder 5"/>
          <p:cNvSpPr>
            <a:spLocks noGrp="1"/>
          </p:cNvSpPr>
          <p:nvPr>
            <p:ph type="body" sz="quarter" idx="13"/>
          </p:nvPr>
        </p:nvSpPr>
        <p:spPr>
          <a:xfrm>
            <a:off x="457201" y="4681538"/>
            <a:ext cx="8381999" cy="1490662"/>
          </a:xfrm>
        </p:spPr>
        <p:txBody>
          <a:bodyPr>
            <a:normAutofit fontScale="92500"/>
          </a:bodyPr>
          <a:lstStyle/>
          <a:p>
            <a:r>
              <a:rPr lang="en-US" dirty="0"/>
              <a:t>The risk exposure allows us to obtain an approximate ranking in order of importance considering above table, R3 and R4 are, clearly the most important and we could classify them as being high risk concerns. R2 and R5 have similar scores and might be thought of as medium priority risks. The two remaining risks, R1 and R6 have quite low exposure values and can therefore classified as low risks items.</a:t>
            </a:r>
          </a:p>
        </p:txBody>
      </p:sp>
      <p:pic>
        <p:nvPicPr>
          <p:cNvPr id="5" name="Picture 4"/>
          <p:cNvPicPr>
            <a:picLocks noChangeAspect="1"/>
          </p:cNvPicPr>
          <p:nvPr/>
        </p:nvPicPr>
        <p:blipFill>
          <a:blip r:embed="rId2"/>
          <a:stretch>
            <a:fillRect/>
          </a:stretch>
        </p:blipFill>
        <p:spPr>
          <a:xfrm>
            <a:off x="401631" y="1295400"/>
            <a:ext cx="8416349" cy="3386138"/>
          </a:xfrm>
          <a:prstGeom prst="rect">
            <a:avLst/>
          </a:prstGeom>
        </p:spPr>
      </p:pic>
    </p:spTree>
    <p:extLst>
      <p:ext uri="{BB962C8B-B14F-4D97-AF65-F5344CB8AC3E}">
        <p14:creationId xmlns:p14="http://schemas.microsoft.com/office/powerpoint/2010/main" val="42241314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37</a:t>
            </a:fld>
            <a:endParaRPr lang="en-US" dirty="0"/>
          </a:p>
        </p:txBody>
      </p:sp>
      <p:sp>
        <p:nvSpPr>
          <p:cNvPr id="3" name="Title 2"/>
          <p:cNvSpPr>
            <a:spLocks noGrp="1"/>
          </p:cNvSpPr>
          <p:nvPr>
            <p:ph type="title"/>
          </p:nvPr>
        </p:nvSpPr>
        <p:spPr/>
        <p:txBody>
          <a:bodyPr/>
          <a:lstStyle/>
          <a:p>
            <a:r>
              <a:rPr lang="en-US" dirty="0"/>
              <a:t>Step 2: Risk Analysis</a:t>
            </a:r>
          </a:p>
        </p:txBody>
      </p:sp>
      <p:pic>
        <p:nvPicPr>
          <p:cNvPr id="7"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4286" t="10623" r="21978" b="14652"/>
          <a:stretch/>
        </p:blipFill>
        <p:spPr bwMode="auto">
          <a:xfrm>
            <a:off x="2438400" y="1284165"/>
            <a:ext cx="5638800" cy="4958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4">
            <a:extLst>
              <a:ext uri="{FF2B5EF4-FFF2-40B4-BE49-F238E27FC236}">
                <a16:creationId xmlns="" xmlns:a16="http://schemas.microsoft.com/office/drawing/2014/main" id="{33D0845A-427A-4FFF-BF42-E972A1873F2F}"/>
              </a:ext>
            </a:extLst>
          </p:cNvPr>
          <p:cNvSpPr txBox="1">
            <a:spLocks noChangeArrowheads="1"/>
          </p:cNvSpPr>
          <p:nvPr/>
        </p:nvSpPr>
        <p:spPr bwMode="auto">
          <a:xfrm rot="17628597">
            <a:off x="152400" y="2704478"/>
            <a:ext cx="2466975" cy="646113"/>
          </a:xfrm>
          <a:prstGeom prst="rect">
            <a:avLst/>
          </a:prstGeom>
          <a:noFill/>
          <a:ln w="9525">
            <a:noFill/>
            <a:miter lim="800000"/>
            <a:headEnd/>
            <a:tailEnd/>
          </a:ln>
        </p:spPr>
        <p:txBody>
          <a:bodyPr wrap="none">
            <a:spAutoFit/>
          </a:bodyPr>
          <a:lstStyle/>
          <a:p>
            <a:pPr eaLnBrk="1" hangingPunct="1">
              <a:defRPr/>
            </a:pPr>
            <a:r>
              <a:rPr lang="en-US" sz="3600" dirty="0">
                <a:solidFill>
                  <a:srgbClr val="004250"/>
                </a:solidFill>
                <a:latin typeface="+mn-lt"/>
                <a:cs typeface="Arial" charset="0"/>
              </a:rPr>
              <a:t>Risk Matrix</a:t>
            </a:r>
          </a:p>
        </p:txBody>
      </p:sp>
      <p:graphicFrame>
        <p:nvGraphicFramePr>
          <p:cNvPr id="9" name="Table 8">
            <a:extLst>
              <a:ext uri="{FF2B5EF4-FFF2-40B4-BE49-F238E27FC236}">
                <a16:creationId xmlns="" xmlns:a16="http://schemas.microsoft.com/office/drawing/2014/main" id="{79F4BC74-698A-4C9D-96B5-575587B89EB1}"/>
              </a:ext>
            </a:extLst>
          </p:cNvPr>
          <p:cNvGraphicFramePr>
            <a:graphicFrameLocks noGrp="1"/>
          </p:cNvGraphicFramePr>
          <p:nvPr>
            <p:extLst>
              <p:ext uri="{D42A27DB-BD31-4B8C-83A1-F6EECF244321}">
                <p14:modId xmlns:p14="http://schemas.microsoft.com/office/powerpoint/2010/main" val="1176934769"/>
              </p:ext>
            </p:extLst>
          </p:nvPr>
        </p:nvGraphicFramePr>
        <p:xfrm>
          <a:off x="707679" y="4800600"/>
          <a:ext cx="1730375" cy="1108076"/>
        </p:xfrm>
        <a:graphic>
          <a:graphicData uri="http://schemas.openxmlformats.org/drawingml/2006/table">
            <a:tbl>
              <a:tblPr firstRow="1" bandRow="1">
                <a:tableStyleId>{5C22544A-7EE6-4342-B048-85BDC9FD1C3A}</a:tableStyleId>
              </a:tblPr>
              <a:tblGrid>
                <a:gridCol w="501809">
                  <a:extLst>
                    <a:ext uri="{9D8B030D-6E8A-4147-A177-3AD203B41FA5}">
                      <a16:colId xmlns="" xmlns:a16="http://schemas.microsoft.com/office/drawing/2014/main" val="20000"/>
                    </a:ext>
                  </a:extLst>
                </a:gridCol>
                <a:gridCol w="1228566">
                  <a:extLst>
                    <a:ext uri="{9D8B030D-6E8A-4147-A177-3AD203B41FA5}">
                      <a16:colId xmlns="" xmlns:a16="http://schemas.microsoft.com/office/drawing/2014/main" val="20001"/>
                    </a:ext>
                  </a:extLst>
                </a:gridCol>
              </a:tblGrid>
              <a:tr h="371053">
                <a:tc>
                  <a:txBody>
                    <a:bodyPr/>
                    <a:lstStyle/>
                    <a:p>
                      <a:endParaRPr lang="en-US" sz="1800" dirty="0"/>
                    </a:p>
                  </a:txBody>
                  <a:tcPr marL="91457" marR="91457" marT="45746" marB="45746">
                    <a:solidFill>
                      <a:srgbClr val="00B050"/>
                    </a:solidFill>
                  </a:tcPr>
                </a:tc>
                <a:tc>
                  <a:txBody>
                    <a:bodyPr/>
                    <a:lstStyle/>
                    <a:p>
                      <a:r>
                        <a:rPr lang="en-US" sz="1800" dirty="0"/>
                        <a:t>LOW</a:t>
                      </a:r>
                    </a:p>
                  </a:txBody>
                  <a:tcPr marL="91457" marR="91457" marT="45746" marB="45746">
                    <a:solidFill>
                      <a:srgbClr val="00B050"/>
                    </a:solidFill>
                  </a:tcPr>
                </a:tc>
                <a:extLst>
                  <a:ext uri="{0D108BD9-81ED-4DB2-BD59-A6C34878D82A}">
                    <a16:rowId xmlns="" xmlns:a16="http://schemas.microsoft.com/office/drawing/2014/main" val="10000"/>
                  </a:ext>
                </a:extLst>
              </a:tr>
              <a:tr h="365970">
                <a:tc>
                  <a:txBody>
                    <a:bodyPr/>
                    <a:lstStyle/>
                    <a:p>
                      <a:endParaRPr lang="en-US" sz="1800" dirty="0"/>
                    </a:p>
                  </a:txBody>
                  <a:tcPr marL="91457" marR="91457" marT="45746" marB="45746">
                    <a:solidFill>
                      <a:srgbClr val="FFFF00"/>
                    </a:solidFill>
                  </a:tcPr>
                </a:tc>
                <a:tc>
                  <a:txBody>
                    <a:bodyPr/>
                    <a:lstStyle/>
                    <a:p>
                      <a:r>
                        <a:rPr lang="en-US" sz="1800" b="1" dirty="0">
                          <a:solidFill>
                            <a:schemeClr val="tx1">
                              <a:lumMod val="25000"/>
                            </a:schemeClr>
                          </a:solidFill>
                        </a:rPr>
                        <a:t>Medium</a:t>
                      </a:r>
                    </a:p>
                  </a:txBody>
                  <a:tcPr marL="91457" marR="91457" marT="45746" marB="45746">
                    <a:solidFill>
                      <a:srgbClr val="FFFF00"/>
                    </a:solidFill>
                  </a:tcPr>
                </a:tc>
                <a:extLst>
                  <a:ext uri="{0D108BD9-81ED-4DB2-BD59-A6C34878D82A}">
                    <a16:rowId xmlns="" xmlns:a16="http://schemas.microsoft.com/office/drawing/2014/main" val="10001"/>
                  </a:ext>
                </a:extLst>
              </a:tr>
              <a:tr h="371053">
                <a:tc>
                  <a:txBody>
                    <a:bodyPr/>
                    <a:lstStyle/>
                    <a:p>
                      <a:endParaRPr lang="en-US" sz="1800" dirty="0"/>
                    </a:p>
                  </a:txBody>
                  <a:tcPr marL="91457" marR="91457" marT="45746" marB="45746">
                    <a:solidFill>
                      <a:srgbClr val="FF0000"/>
                    </a:solidFill>
                  </a:tcPr>
                </a:tc>
                <a:tc>
                  <a:txBody>
                    <a:bodyPr/>
                    <a:lstStyle/>
                    <a:p>
                      <a:r>
                        <a:rPr lang="en-US" sz="1800" dirty="0"/>
                        <a:t>High</a:t>
                      </a:r>
                    </a:p>
                  </a:txBody>
                  <a:tcPr marL="91457" marR="91457" marT="45746" marB="45746">
                    <a:solidFill>
                      <a:srgbClr val="FF0000"/>
                    </a:solidFill>
                  </a:tcP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2582650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38</a:t>
            </a:fld>
            <a:endParaRPr lang="en-US" dirty="0"/>
          </a:p>
        </p:txBody>
      </p:sp>
      <p:sp>
        <p:nvSpPr>
          <p:cNvPr id="3" name="Title 2"/>
          <p:cNvSpPr>
            <a:spLocks noGrp="1"/>
          </p:cNvSpPr>
          <p:nvPr>
            <p:ph type="title"/>
          </p:nvPr>
        </p:nvSpPr>
        <p:spPr/>
        <p:txBody>
          <a:bodyPr/>
          <a:lstStyle/>
          <a:p>
            <a:r>
              <a:rPr lang="en-US" dirty="0"/>
              <a:t>Step 3: Risk Planning</a:t>
            </a:r>
          </a:p>
        </p:txBody>
      </p:sp>
      <p:sp>
        <p:nvSpPr>
          <p:cNvPr id="4" name="Text Placeholder 3"/>
          <p:cNvSpPr>
            <a:spLocks noGrp="1"/>
          </p:cNvSpPr>
          <p:nvPr>
            <p:ph type="body" sz="quarter" idx="13"/>
          </p:nvPr>
        </p:nvSpPr>
        <p:spPr/>
        <p:txBody>
          <a:bodyPr>
            <a:normAutofit/>
          </a:bodyPr>
          <a:lstStyle/>
          <a:p>
            <a:r>
              <a:rPr lang="en-US" sz="2800" dirty="0" smtClean="0"/>
              <a:t>Once </a:t>
            </a:r>
            <a:r>
              <a:rPr lang="en-US" sz="2800" dirty="0"/>
              <a:t>the major risks are identified and allocated the priorities, the task is to decide how to deal with them . </a:t>
            </a:r>
            <a:endParaRPr lang="en-US" sz="2800" dirty="0" smtClean="0"/>
          </a:p>
          <a:p>
            <a:r>
              <a:rPr lang="en-US" sz="2800" dirty="0"/>
              <a:t>Managing risk involves the use of two strategies: </a:t>
            </a:r>
            <a:endParaRPr lang="en-US" sz="2800" dirty="0" smtClean="0"/>
          </a:p>
          <a:p>
            <a:pPr lvl="1"/>
            <a:r>
              <a:rPr lang="en-US" sz="2600" dirty="0" smtClean="0"/>
              <a:t>Reducing </a:t>
            </a:r>
            <a:r>
              <a:rPr lang="en-US" sz="2600" dirty="0"/>
              <a:t>the risk exposure by reducing the likelihood or impact. </a:t>
            </a:r>
            <a:endParaRPr lang="en-US" sz="2600" dirty="0" smtClean="0"/>
          </a:p>
          <a:p>
            <a:pPr lvl="1"/>
            <a:r>
              <a:rPr lang="en-US" sz="2600" dirty="0" smtClean="0"/>
              <a:t>Drawing </a:t>
            </a:r>
            <a:r>
              <a:rPr lang="en-US" sz="2600" dirty="0"/>
              <a:t>up contingency plans to deal with risk that could occur.</a:t>
            </a:r>
          </a:p>
          <a:p>
            <a:endParaRPr lang="en-US" dirty="0"/>
          </a:p>
        </p:txBody>
      </p:sp>
    </p:spTree>
    <p:extLst>
      <p:ext uri="{BB962C8B-B14F-4D97-AF65-F5344CB8AC3E}">
        <p14:creationId xmlns:p14="http://schemas.microsoft.com/office/powerpoint/2010/main" val="797812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39</a:t>
            </a:fld>
            <a:endParaRPr lang="en-US" dirty="0"/>
          </a:p>
        </p:txBody>
      </p:sp>
      <p:sp>
        <p:nvSpPr>
          <p:cNvPr id="3" name="Title 2"/>
          <p:cNvSpPr>
            <a:spLocks noGrp="1"/>
          </p:cNvSpPr>
          <p:nvPr>
            <p:ph type="title"/>
          </p:nvPr>
        </p:nvSpPr>
        <p:spPr/>
        <p:txBody>
          <a:bodyPr/>
          <a:lstStyle/>
          <a:p>
            <a:r>
              <a:rPr lang="en-US" dirty="0"/>
              <a:t>Step 3: Risk Planning</a:t>
            </a:r>
          </a:p>
        </p:txBody>
      </p:sp>
      <p:sp>
        <p:nvSpPr>
          <p:cNvPr id="4" name="Text Placeholder 3"/>
          <p:cNvSpPr>
            <a:spLocks noGrp="1"/>
          </p:cNvSpPr>
          <p:nvPr>
            <p:ph type="body" sz="quarter" idx="13"/>
          </p:nvPr>
        </p:nvSpPr>
        <p:spPr/>
        <p:txBody>
          <a:bodyPr>
            <a:normAutofit/>
          </a:bodyPr>
          <a:lstStyle/>
          <a:p>
            <a:r>
              <a:rPr lang="en-US" sz="3200" dirty="0"/>
              <a:t>The choice may be: </a:t>
            </a:r>
          </a:p>
          <a:p>
            <a:pPr lvl="1"/>
            <a:r>
              <a:rPr lang="en-US" sz="2800" dirty="0"/>
              <a:t>Risk acceptance </a:t>
            </a:r>
          </a:p>
          <a:p>
            <a:pPr lvl="1"/>
            <a:r>
              <a:rPr lang="en-US" sz="2800" dirty="0"/>
              <a:t>Risk avoidance</a:t>
            </a:r>
          </a:p>
          <a:p>
            <a:pPr lvl="1"/>
            <a:r>
              <a:rPr lang="en-US" sz="2800" dirty="0"/>
              <a:t>Risk reduction and mitigation </a:t>
            </a:r>
          </a:p>
          <a:p>
            <a:pPr lvl="1"/>
            <a:r>
              <a:rPr lang="en-US" sz="2800" dirty="0"/>
              <a:t>Risk transfer </a:t>
            </a:r>
          </a:p>
          <a:p>
            <a:pPr lvl="1"/>
            <a:r>
              <a:rPr lang="en-US" sz="2800" dirty="0" smtClean="0"/>
              <a:t>Contingency planning</a:t>
            </a:r>
            <a:endParaRPr lang="en-US" sz="2800" dirty="0"/>
          </a:p>
          <a:p>
            <a:endParaRPr lang="en-US" dirty="0"/>
          </a:p>
        </p:txBody>
      </p:sp>
    </p:spTree>
    <p:extLst>
      <p:ext uri="{BB962C8B-B14F-4D97-AF65-F5344CB8AC3E}">
        <p14:creationId xmlns:p14="http://schemas.microsoft.com/office/powerpoint/2010/main" val="39971422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40</a:t>
            </a:fld>
            <a:endParaRPr lang="en-US" dirty="0"/>
          </a:p>
        </p:txBody>
      </p:sp>
      <p:sp>
        <p:nvSpPr>
          <p:cNvPr id="3" name="Title 2"/>
          <p:cNvSpPr>
            <a:spLocks noGrp="1"/>
          </p:cNvSpPr>
          <p:nvPr>
            <p:ph type="title"/>
          </p:nvPr>
        </p:nvSpPr>
        <p:spPr/>
        <p:txBody>
          <a:bodyPr/>
          <a:lstStyle/>
          <a:p>
            <a:r>
              <a:rPr lang="en-US" dirty="0"/>
              <a:t>Step 3: Risk Planning</a:t>
            </a:r>
          </a:p>
        </p:txBody>
      </p:sp>
      <p:sp>
        <p:nvSpPr>
          <p:cNvPr id="4" name="Text Placeholder 3"/>
          <p:cNvSpPr>
            <a:spLocks noGrp="1"/>
          </p:cNvSpPr>
          <p:nvPr>
            <p:ph type="body" sz="quarter" idx="13"/>
          </p:nvPr>
        </p:nvSpPr>
        <p:spPr/>
        <p:txBody>
          <a:bodyPr>
            <a:normAutofit lnSpcReduction="10000"/>
          </a:bodyPr>
          <a:lstStyle/>
          <a:p>
            <a:r>
              <a:rPr lang="en-US" sz="2400" b="1" u="sng" dirty="0" smtClean="0"/>
              <a:t>Risk </a:t>
            </a:r>
            <a:r>
              <a:rPr lang="en-US" sz="2400" b="1" u="sng" dirty="0"/>
              <a:t>Acceptance </a:t>
            </a:r>
            <a:endParaRPr lang="en-US" sz="2400" b="1" u="sng" dirty="0" smtClean="0"/>
          </a:p>
          <a:p>
            <a:pPr lvl="1"/>
            <a:r>
              <a:rPr lang="en-US" sz="2200" dirty="0" smtClean="0"/>
              <a:t>This </a:t>
            </a:r>
            <a:r>
              <a:rPr lang="en-US" sz="2200" dirty="0"/>
              <a:t>is do-nothing option. Here in the risk prioritization process have decided to ignore some risks order to concentrate on the more likely or damaging. </a:t>
            </a:r>
            <a:endParaRPr lang="en-US" sz="2200" dirty="0" smtClean="0"/>
          </a:p>
          <a:p>
            <a:pPr lvl="1"/>
            <a:r>
              <a:rPr lang="en-US" sz="2200" dirty="0" smtClean="0"/>
              <a:t>We </a:t>
            </a:r>
            <a:r>
              <a:rPr lang="en-US" sz="2200" dirty="0"/>
              <a:t>choice this option for those risks whose damage would be less than the cost of action that might reduce the risk happening </a:t>
            </a:r>
            <a:endParaRPr lang="en-US" sz="2200" dirty="0" smtClean="0"/>
          </a:p>
          <a:p>
            <a:r>
              <a:rPr lang="en-US" sz="2400" b="1" u="sng" dirty="0" smtClean="0"/>
              <a:t>Risk </a:t>
            </a:r>
            <a:r>
              <a:rPr lang="en-US" sz="2400" b="1" u="sng" dirty="0"/>
              <a:t>Avoidance </a:t>
            </a:r>
            <a:endParaRPr lang="en-US" sz="2400" b="1" u="sng" dirty="0" smtClean="0"/>
          </a:p>
          <a:p>
            <a:pPr lvl="1"/>
            <a:r>
              <a:rPr lang="en-US" sz="2200" dirty="0" smtClean="0"/>
              <a:t>Some </a:t>
            </a:r>
            <a:r>
              <a:rPr lang="en-US" sz="2200" dirty="0"/>
              <a:t>activities may be prone to accident that it is best to avoid them</a:t>
            </a:r>
            <a:r>
              <a:rPr lang="en-US" sz="2200" dirty="0" smtClean="0"/>
              <a:t>.</a:t>
            </a:r>
          </a:p>
          <a:p>
            <a:pPr lvl="1"/>
            <a:r>
              <a:rPr lang="en-US" sz="2200" dirty="0" smtClean="0"/>
              <a:t>For </a:t>
            </a:r>
            <a:r>
              <a:rPr lang="en-US" sz="2200" dirty="0"/>
              <a:t>example, if we are worried about the shark then don’t go into the water. </a:t>
            </a:r>
            <a:endParaRPr lang="en-US" sz="2200" dirty="0" smtClean="0"/>
          </a:p>
          <a:p>
            <a:pPr lvl="1"/>
            <a:r>
              <a:rPr lang="en-US" sz="2200" dirty="0" smtClean="0"/>
              <a:t>In </a:t>
            </a:r>
            <a:r>
              <a:rPr lang="en-US" sz="2200" dirty="0"/>
              <a:t>software development if we identify that most risk occur by developing from scratch then manager might decide to retain existing </a:t>
            </a:r>
            <a:r>
              <a:rPr lang="en-US" sz="2200" dirty="0" smtClean="0"/>
              <a:t>methods </a:t>
            </a:r>
            <a:r>
              <a:rPr lang="en-US" sz="2200" dirty="0"/>
              <a:t>or to buy-off-the –shelf solution. </a:t>
            </a:r>
            <a:endParaRPr lang="en-US" sz="2200" dirty="0" smtClean="0"/>
          </a:p>
        </p:txBody>
      </p:sp>
    </p:spTree>
    <p:extLst>
      <p:ext uri="{BB962C8B-B14F-4D97-AF65-F5344CB8AC3E}">
        <p14:creationId xmlns:p14="http://schemas.microsoft.com/office/powerpoint/2010/main" val="41063938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41</a:t>
            </a:fld>
            <a:endParaRPr lang="en-US" dirty="0"/>
          </a:p>
        </p:txBody>
      </p:sp>
      <p:sp>
        <p:nvSpPr>
          <p:cNvPr id="3" name="Title 2"/>
          <p:cNvSpPr>
            <a:spLocks noGrp="1"/>
          </p:cNvSpPr>
          <p:nvPr>
            <p:ph type="title"/>
          </p:nvPr>
        </p:nvSpPr>
        <p:spPr/>
        <p:txBody>
          <a:bodyPr/>
          <a:lstStyle/>
          <a:p>
            <a:r>
              <a:rPr lang="en-US" dirty="0"/>
              <a:t>Step 3: Risk Planning</a:t>
            </a:r>
          </a:p>
        </p:txBody>
      </p:sp>
      <p:sp>
        <p:nvSpPr>
          <p:cNvPr id="4" name="Text Placeholder 3"/>
          <p:cNvSpPr>
            <a:spLocks noGrp="1"/>
          </p:cNvSpPr>
          <p:nvPr>
            <p:ph type="body" sz="quarter" idx="13"/>
          </p:nvPr>
        </p:nvSpPr>
        <p:spPr/>
        <p:txBody>
          <a:bodyPr>
            <a:normAutofit lnSpcReduction="10000"/>
          </a:bodyPr>
          <a:lstStyle/>
          <a:p>
            <a:r>
              <a:rPr lang="en-US" sz="2400" b="1" u="sng" dirty="0" smtClean="0"/>
              <a:t>Risk </a:t>
            </a:r>
            <a:r>
              <a:rPr lang="en-US" sz="2400" b="1" u="sng" dirty="0"/>
              <a:t>Reduction and Mitigation</a:t>
            </a:r>
            <a:r>
              <a:rPr lang="en-US" sz="2400" dirty="0"/>
              <a:t> </a:t>
            </a:r>
            <a:endParaRPr lang="en-US" sz="2400" dirty="0" smtClean="0"/>
          </a:p>
          <a:p>
            <a:pPr lvl="1"/>
            <a:r>
              <a:rPr lang="en-US" sz="2200" dirty="0" smtClean="0"/>
              <a:t>In </a:t>
            </a:r>
            <a:r>
              <a:rPr lang="en-US" sz="2200" dirty="0"/>
              <a:t>this option we decide to go ahead with a course of action despite the risks but take precautions that reduce the probability of the risk. </a:t>
            </a:r>
            <a:endParaRPr lang="en-US" sz="2200" dirty="0" smtClean="0"/>
          </a:p>
          <a:p>
            <a:pPr lvl="1"/>
            <a:r>
              <a:rPr lang="en-US" sz="2200" u="sng" dirty="0" smtClean="0"/>
              <a:t>Risk </a:t>
            </a:r>
            <a:r>
              <a:rPr lang="en-US" sz="2200" u="sng" dirty="0"/>
              <a:t>reduction </a:t>
            </a:r>
            <a:r>
              <a:rPr lang="en-US" sz="2200" dirty="0"/>
              <a:t>attempts to reduce the likelihood of the risk occurring</a:t>
            </a:r>
            <a:r>
              <a:rPr lang="en-US" sz="2200" dirty="0" smtClean="0"/>
              <a:t>.</a:t>
            </a:r>
          </a:p>
          <a:p>
            <a:pPr lvl="1"/>
            <a:r>
              <a:rPr lang="en-US" sz="2200" u="sng" dirty="0" smtClean="0"/>
              <a:t>Risk </a:t>
            </a:r>
            <a:r>
              <a:rPr lang="en-US" sz="2200" u="sng" dirty="0"/>
              <a:t>mitigation </a:t>
            </a:r>
            <a:r>
              <a:rPr lang="en-US" sz="2200" dirty="0"/>
              <a:t>is action taken to ensure that the impact to the risk is lessened when it occurs. </a:t>
            </a:r>
            <a:r>
              <a:rPr lang="en-US" sz="2200" dirty="0" smtClean="0"/>
              <a:t>For </a:t>
            </a:r>
            <a:r>
              <a:rPr lang="en-US" sz="2200" dirty="0"/>
              <a:t>example, taking regular back up of data storage </a:t>
            </a:r>
            <a:endParaRPr lang="en-US" sz="2200" dirty="0" smtClean="0"/>
          </a:p>
          <a:p>
            <a:r>
              <a:rPr lang="en-US" sz="2400" b="1" u="sng" dirty="0" smtClean="0"/>
              <a:t>Risk </a:t>
            </a:r>
            <a:r>
              <a:rPr lang="en-US" sz="2400" b="1" u="sng" dirty="0"/>
              <a:t>Transfer </a:t>
            </a:r>
            <a:endParaRPr lang="en-US" sz="2400" b="1" u="sng" dirty="0" smtClean="0"/>
          </a:p>
          <a:p>
            <a:pPr lvl="1"/>
            <a:r>
              <a:rPr lang="en-US" sz="2200" dirty="0" smtClean="0"/>
              <a:t>In </a:t>
            </a:r>
            <a:r>
              <a:rPr lang="en-US" sz="2200" dirty="0"/>
              <a:t>this option the risk is transferred to another person or </a:t>
            </a:r>
            <a:r>
              <a:rPr lang="en-US" sz="2200" dirty="0" smtClean="0"/>
              <a:t>organization</a:t>
            </a:r>
          </a:p>
          <a:p>
            <a:pPr lvl="1"/>
            <a:r>
              <a:rPr lang="en-US" sz="2200" dirty="0" smtClean="0"/>
              <a:t>An example </a:t>
            </a:r>
            <a:r>
              <a:rPr lang="en-US" sz="2200" dirty="0"/>
              <a:t>of this would be where a software development task is </a:t>
            </a:r>
            <a:r>
              <a:rPr lang="en-US" sz="2200" dirty="0" smtClean="0"/>
              <a:t>outsourced </a:t>
            </a:r>
            <a:r>
              <a:rPr lang="en-US" sz="2200" dirty="0"/>
              <a:t>to an outside agency for a fixed fee.</a:t>
            </a:r>
          </a:p>
          <a:p>
            <a:pPr lvl="1"/>
            <a:r>
              <a:rPr lang="en-US" sz="2200" dirty="0" smtClean="0"/>
              <a:t>You </a:t>
            </a:r>
            <a:r>
              <a:rPr lang="en-US" sz="2200" dirty="0"/>
              <a:t>might expect the supplier to quote a higher figure to cover the risk that the project </a:t>
            </a:r>
            <a:r>
              <a:rPr lang="en-US" sz="2200" dirty="0" smtClean="0"/>
              <a:t>takes longer </a:t>
            </a:r>
            <a:r>
              <a:rPr lang="en-US" sz="2200" dirty="0"/>
              <a:t>than the 'average' expected time.</a:t>
            </a:r>
          </a:p>
          <a:p>
            <a:endParaRPr lang="en-US" dirty="0"/>
          </a:p>
        </p:txBody>
      </p:sp>
    </p:spTree>
    <p:extLst>
      <p:ext uri="{BB962C8B-B14F-4D97-AF65-F5344CB8AC3E}">
        <p14:creationId xmlns:p14="http://schemas.microsoft.com/office/powerpoint/2010/main" val="12852359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42</a:t>
            </a:fld>
            <a:endParaRPr lang="en-US" dirty="0"/>
          </a:p>
        </p:txBody>
      </p:sp>
      <p:sp>
        <p:nvSpPr>
          <p:cNvPr id="3" name="Title 2"/>
          <p:cNvSpPr>
            <a:spLocks noGrp="1"/>
          </p:cNvSpPr>
          <p:nvPr>
            <p:ph type="title"/>
          </p:nvPr>
        </p:nvSpPr>
        <p:spPr/>
        <p:txBody>
          <a:bodyPr>
            <a:normAutofit/>
          </a:bodyPr>
          <a:lstStyle/>
          <a:p>
            <a:r>
              <a:rPr lang="en-US" dirty="0"/>
              <a:t>Step 3: Risk </a:t>
            </a:r>
            <a:r>
              <a:rPr lang="en-US" dirty="0" smtClean="0"/>
              <a:t>Planning</a:t>
            </a:r>
            <a:endParaRPr lang="en-US" dirty="0"/>
          </a:p>
        </p:txBody>
      </p:sp>
      <p:sp>
        <p:nvSpPr>
          <p:cNvPr id="4" name="Text Placeholder 3"/>
          <p:cNvSpPr>
            <a:spLocks noGrp="1"/>
          </p:cNvSpPr>
          <p:nvPr>
            <p:ph type="body" sz="quarter" idx="13"/>
          </p:nvPr>
        </p:nvSpPr>
        <p:spPr>
          <a:xfrm>
            <a:off x="457201" y="1447800"/>
            <a:ext cx="8381999" cy="4800600"/>
          </a:xfrm>
        </p:spPr>
        <p:txBody>
          <a:bodyPr>
            <a:normAutofit/>
          </a:bodyPr>
          <a:lstStyle/>
          <a:p>
            <a:pPr>
              <a:lnSpc>
                <a:spcPct val="100000"/>
              </a:lnSpc>
            </a:pPr>
            <a:r>
              <a:rPr lang="en-US" sz="2600" b="1" u="sng" dirty="0"/>
              <a:t>Contingency Planning</a:t>
            </a:r>
          </a:p>
          <a:p>
            <a:pPr lvl="1">
              <a:lnSpc>
                <a:spcPct val="100000"/>
              </a:lnSpc>
            </a:pPr>
            <a:r>
              <a:rPr lang="en-US" altLang="en-US" sz="2200" dirty="0"/>
              <a:t>Risks</a:t>
            </a:r>
            <a:r>
              <a:rPr lang="en-US" altLang="en-US" sz="2400" b="1" u="sng" dirty="0"/>
              <a:t> </a:t>
            </a:r>
            <a:r>
              <a:rPr lang="en-US" altLang="en-US" sz="2200" dirty="0"/>
              <a:t>associated</a:t>
            </a:r>
            <a:r>
              <a:rPr lang="en-US" altLang="en-US" sz="2400" b="1" u="sng" dirty="0"/>
              <a:t> </a:t>
            </a:r>
            <a:r>
              <a:rPr lang="en-US" altLang="en-US" dirty="0"/>
              <a:t>with the technical aspects of a project can have the most sever outcomes</a:t>
            </a:r>
          </a:p>
          <a:p>
            <a:pPr lvl="2"/>
            <a:r>
              <a:rPr lang="en-US" altLang="en-US" dirty="0"/>
              <a:t>Can be </a:t>
            </a:r>
            <a:r>
              <a:rPr lang="en-US" altLang="en-US" i="1" dirty="0"/>
              <a:t>mitigated</a:t>
            </a:r>
            <a:r>
              <a:rPr lang="en-US" altLang="en-US" dirty="0"/>
              <a:t> by buildin</a:t>
            </a:r>
            <a:r>
              <a:rPr lang="en-US" altLang="en-US" sz="1600" dirty="0"/>
              <a:t>g and testing prototypes of critical components</a:t>
            </a:r>
          </a:p>
          <a:p>
            <a:pPr lvl="2"/>
            <a:r>
              <a:rPr lang="en-US" altLang="en-US" sz="1600" dirty="0"/>
              <a:t>Have available backup or alternate designs that have much lower risk</a:t>
            </a:r>
          </a:p>
          <a:p>
            <a:pPr lvl="1"/>
            <a:r>
              <a:rPr lang="en-US" altLang="en-US" dirty="0"/>
              <a:t>Risks associated with the schedule usually require a trade-off</a:t>
            </a:r>
          </a:p>
          <a:p>
            <a:pPr lvl="2"/>
            <a:r>
              <a:rPr lang="en-US" altLang="en-US" sz="1600" dirty="0"/>
              <a:t>Manage “slack” time to provide resources for delayed components </a:t>
            </a:r>
          </a:p>
          <a:p>
            <a:pPr lvl="2"/>
            <a:r>
              <a:rPr lang="en-US" altLang="en-US" sz="1600" dirty="0"/>
              <a:t>Bring in more people (increase costs) or reduce performance</a:t>
            </a:r>
          </a:p>
          <a:p>
            <a:pPr lvl="1"/>
            <a:r>
              <a:rPr lang="en-US" altLang="en-US" dirty="0"/>
              <a:t>Risks associated with costs usually result from estimate errors and omissions</a:t>
            </a:r>
          </a:p>
          <a:p>
            <a:pPr lvl="2"/>
            <a:r>
              <a:rPr lang="en-US" altLang="en-US" sz="1600" dirty="0"/>
              <a:t>Time &amp; cost are related; trade-off schedule delays with lower cost</a:t>
            </a:r>
          </a:p>
          <a:p>
            <a:pPr lvl="2"/>
            <a:r>
              <a:rPr lang="en-US" altLang="en-US" sz="1600" dirty="0"/>
              <a:t>“</a:t>
            </a:r>
            <a:r>
              <a:rPr lang="en-US" altLang="en-US" sz="1600" dirty="0" err="1"/>
              <a:t>Descope</a:t>
            </a:r>
            <a:r>
              <a:rPr lang="en-US" altLang="en-US" sz="1600" dirty="0"/>
              <a:t>” options that remove components of the project, but still allow the primary mission to proceed</a:t>
            </a:r>
          </a:p>
          <a:p>
            <a:pPr lvl="1"/>
            <a:r>
              <a:rPr lang="en-US" altLang="en-US" dirty="0"/>
              <a:t>All “budgets” (mass, power, schedule, cost) should include a reserve percentage that can be expended as risk events occur</a:t>
            </a:r>
          </a:p>
          <a:p>
            <a:pPr marL="0" indent="0">
              <a:buNone/>
            </a:pPr>
            <a:endParaRPr lang="en-US" dirty="0"/>
          </a:p>
        </p:txBody>
      </p:sp>
    </p:spTree>
    <p:extLst>
      <p:ext uri="{BB962C8B-B14F-4D97-AF65-F5344CB8AC3E}">
        <p14:creationId xmlns:p14="http://schemas.microsoft.com/office/powerpoint/2010/main" val="13323299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43</a:t>
            </a:fld>
            <a:endParaRPr lang="en-US" dirty="0"/>
          </a:p>
        </p:txBody>
      </p:sp>
      <p:sp>
        <p:nvSpPr>
          <p:cNvPr id="3" name="Title 2"/>
          <p:cNvSpPr>
            <a:spLocks noGrp="1"/>
          </p:cNvSpPr>
          <p:nvPr>
            <p:ph type="title"/>
          </p:nvPr>
        </p:nvSpPr>
        <p:spPr/>
        <p:txBody>
          <a:bodyPr/>
          <a:lstStyle/>
          <a:p>
            <a:r>
              <a:rPr lang="en-US" dirty="0"/>
              <a:t>Step </a:t>
            </a:r>
            <a:r>
              <a:rPr lang="en-US" dirty="0" smtClean="0"/>
              <a:t>4: </a:t>
            </a:r>
            <a:r>
              <a:rPr lang="en-US" dirty="0"/>
              <a:t>Risk </a:t>
            </a:r>
            <a:r>
              <a:rPr lang="en-US" dirty="0" smtClean="0"/>
              <a:t>Monitoring</a:t>
            </a:r>
            <a:endParaRPr lang="en-US" dirty="0"/>
          </a:p>
        </p:txBody>
      </p:sp>
      <p:sp>
        <p:nvSpPr>
          <p:cNvPr id="4" name="Text Placeholder 3"/>
          <p:cNvSpPr>
            <a:spLocks noGrp="1"/>
          </p:cNvSpPr>
          <p:nvPr>
            <p:ph type="body" sz="quarter" idx="13"/>
          </p:nvPr>
        </p:nvSpPr>
        <p:spPr/>
        <p:txBody>
          <a:bodyPr>
            <a:normAutofit lnSpcReduction="10000"/>
          </a:bodyPr>
          <a:lstStyle/>
          <a:p>
            <a:r>
              <a:rPr lang="en-US" sz="2400" dirty="0"/>
              <a:t>Involves executing the risk management process to respond to risk events </a:t>
            </a:r>
            <a:endParaRPr lang="en-US" sz="2400" dirty="0" smtClean="0"/>
          </a:p>
          <a:p>
            <a:pPr lvl="1"/>
            <a:r>
              <a:rPr lang="en-US" sz="2200" dirty="0" smtClean="0"/>
              <a:t>Track </a:t>
            </a:r>
            <a:r>
              <a:rPr lang="en-US" sz="2200" dirty="0"/>
              <a:t>the status of each risk </a:t>
            </a:r>
            <a:endParaRPr lang="en-US" sz="2200" dirty="0" smtClean="0"/>
          </a:p>
          <a:p>
            <a:pPr lvl="1"/>
            <a:r>
              <a:rPr lang="en-US" sz="2200" dirty="0" smtClean="0"/>
              <a:t>Respond </a:t>
            </a:r>
            <a:r>
              <a:rPr lang="en-US" sz="2200" dirty="0"/>
              <a:t>to triggers, symptoms and indicators of actual risk </a:t>
            </a:r>
            <a:r>
              <a:rPr lang="en-US" sz="2200" dirty="0" smtClean="0"/>
              <a:t>events</a:t>
            </a:r>
          </a:p>
          <a:p>
            <a:r>
              <a:rPr lang="en-US" sz="2400" dirty="0" smtClean="0"/>
              <a:t>This </a:t>
            </a:r>
            <a:r>
              <a:rPr lang="en-US" sz="2400" dirty="0"/>
              <a:t>is an ongoing activity – new risks will be identified, old risks disappear, weaken or get </a:t>
            </a:r>
            <a:r>
              <a:rPr lang="en-US" sz="2400" dirty="0" smtClean="0"/>
              <a:t>stronger</a:t>
            </a:r>
          </a:p>
          <a:p>
            <a:r>
              <a:rPr lang="en-US" sz="2400" dirty="0" smtClean="0"/>
              <a:t>Workarounds </a:t>
            </a:r>
            <a:r>
              <a:rPr lang="en-US" sz="2400" dirty="0"/>
              <a:t>are unplanned responses to risk events that must be done when there are no contingency </a:t>
            </a:r>
            <a:r>
              <a:rPr lang="en-US" sz="2400" dirty="0" smtClean="0"/>
              <a:t>plans</a:t>
            </a:r>
          </a:p>
          <a:p>
            <a:r>
              <a:rPr lang="en-US" sz="2400" dirty="0" smtClean="0"/>
              <a:t>Main </a:t>
            </a:r>
            <a:r>
              <a:rPr lang="en-US" sz="2400" dirty="0"/>
              <a:t>outputs of risks monitoring and control are: </a:t>
            </a:r>
            <a:endParaRPr lang="en-US" sz="2400" dirty="0" smtClean="0"/>
          </a:p>
          <a:p>
            <a:pPr lvl="1"/>
            <a:r>
              <a:rPr lang="en-US" sz="2200" dirty="0" smtClean="0"/>
              <a:t>Requested </a:t>
            </a:r>
            <a:r>
              <a:rPr lang="en-US" sz="2200" dirty="0"/>
              <a:t>changes </a:t>
            </a:r>
            <a:endParaRPr lang="en-US" sz="2200" dirty="0" smtClean="0"/>
          </a:p>
          <a:p>
            <a:pPr lvl="1"/>
            <a:r>
              <a:rPr lang="en-US" sz="2200" dirty="0" smtClean="0"/>
              <a:t>Recommend </a:t>
            </a:r>
            <a:r>
              <a:rPr lang="en-US" sz="2200" dirty="0"/>
              <a:t>corrective and preventive actions </a:t>
            </a:r>
            <a:endParaRPr lang="en-US" sz="2200" dirty="0" smtClean="0"/>
          </a:p>
          <a:p>
            <a:pPr lvl="1"/>
            <a:r>
              <a:rPr lang="en-US" sz="2200" dirty="0" smtClean="0"/>
              <a:t>Updates </a:t>
            </a:r>
            <a:r>
              <a:rPr lang="en-US" sz="2200" dirty="0"/>
              <a:t>to the risk register, project management plan</a:t>
            </a:r>
            <a:endParaRPr lang="en-US" dirty="0"/>
          </a:p>
        </p:txBody>
      </p:sp>
    </p:spTree>
    <p:extLst>
      <p:ext uri="{BB962C8B-B14F-4D97-AF65-F5344CB8AC3E}">
        <p14:creationId xmlns:p14="http://schemas.microsoft.com/office/powerpoint/2010/main" val="31344121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44</a:t>
            </a:fld>
            <a:endParaRPr lang="en-US" dirty="0"/>
          </a:p>
        </p:txBody>
      </p:sp>
      <p:sp>
        <p:nvSpPr>
          <p:cNvPr id="3" name="Title 2"/>
          <p:cNvSpPr>
            <a:spLocks noGrp="1"/>
          </p:cNvSpPr>
          <p:nvPr>
            <p:ph type="title"/>
          </p:nvPr>
        </p:nvSpPr>
        <p:spPr/>
        <p:txBody>
          <a:bodyPr/>
          <a:lstStyle/>
          <a:p>
            <a:r>
              <a:rPr lang="en-US" dirty="0"/>
              <a:t>Step </a:t>
            </a:r>
            <a:r>
              <a:rPr lang="en-US" dirty="0" smtClean="0"/>
              <a:t>4: </a:t>
            </a:r>
            <a:r>
              <a:rPr lang="en-US" dirty="0"/>
              <a:t>Risk </a:t>
            </a:r>
            <a:r>
              <a:rPr lang="en-US" dirty="0" smtClean="0"/>
              <a:t>Monitoring</a:t>
            </a:r>
            <a:endParaRPr lang="en-US" dirty="0"/>
          </a:p>
        </p:txBody>
      </p:sp>
      <p:sp>
        <p:nvSpPr>
          <p:cNvPr id="4" name="Text Placeholder 3"/>
          <p:cNvSpPr>
            <a:spLocks noGrp="1"/>
          </p:cNvSpPr>
          <p:nvPr>
            <p:ph type="body" sz="quarter" idx="13"/>
          </p:nvPr>
        </p:nvSpPr>
        <p:spPr/>
        <p:txBody>
          <a:bodyPr>
            <a:normAutofit/>
          </a:bodyPr>
          <a:lstStyle/>
          <a:p>
            <a:r>
              <a:rPr lang="en-US" altLang="en-US" sz="2400" dirty="0"/>
              <a:t>Program reviews</a:t>
            </a:r>
          </a:p>
          <a:p>
            <a:r>
              <a:rPr lang="en-US" altLang="en-US" sz="2400" dirty="0"/>
              <a:t>Earned value reporting</a:t>
            </a:r>
          </a:p>
          <a:p>
            <a:r>
              <a:rPr lang="en-US" altLang="en-US" sz="2400" dirty="0"/>
              <a:t>Critical path assessments</a:t>
            </a:r>
          </a:p>
          <a:p>
            <a:r>
              <a:rPr lang="en-US" altLang="en-US" sz="2400" dirty="0"/>
              <a:t>Risk monitoring assignments</a:t>
            </a:r>
          </a:p>
          <a:p>
            <a:r>
              <a:rPr lang="en-US" altLang="en-US" sz="2400" dirty="0"/>
              <a:t>Feedback loop</a:t>
            </a:r>
          </a:p>
          <a:p>
            <a:pPr marL="0" indent="0">
              <a:buNone/>
            </a:pPr>
            <a:endParaRPr lang="en-US" dirty="0"/>
          </a:p>
        </p:txBody>
      </p:sp>
    </p:spTree>
    <p:extLst>
      <p:ext uri="{BB962C8B-B14F-4D97-AF65-F5344CB8AC3E}">
        <p14:creationId xmlns:p14="http://schemas.microsoft.com/office/powerpoint/2010/main" val="630692657"/>
      </p:ext>
    </p:extLst>
  </p:cSld>
  <p:clrMapOvr>
    <a:masterClrMapping/>
  </p:clrMapOvr>
</p:sld>
</file>

<file path=ppt/theme/theme1.xml><?xml version="1.0" encoding="utf-8"?>
<a:theme xmlns:a="http://schemas.openxmlformats.org/drawingml/2006/main" name="Retrospect">
  <a:themeElements>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11381</TotalTime>
  <Words>2607</Words>
  <Application>Microsoft Office PowerPoint</Application>
  <PresentationFormat>On-screen Show (4:3)</PresentationFormat>
  <Paragraphs>396</Paragraphs>
  <Slides>44</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Calibri Light</vt:lpstr>
      <vt:lpstr>Times New Roman</vt:lpstr>
      <vt:lpstr>Retrospect</vt:lpstr>
      <vt:lpstr>Risk Management</vt:lpstr>
      <vt:lpstr>What is Risk? </vt:lpstr>
      <vt:lpstr>What is Risk? </vt:lpstr>
      <vt:lpstr>Types Of Software Risks</vt:lpstr>
      <vt:lpstr>Risk During The Project</vt:lpstr>
      <vt:lpstr>Risk and the Project Life Cycle </vt:lpstr>
      <vt:lpstr>PowerPoint Presentation</vt:lpstr>
      <vt:lpstr>Nature of Project Risks </vt:lpstr>
      <vt:lpstr>Planning assumptions</vt:lpstr>
      <vt:lpstr>Estimation Errors</vt:lpstr>
      <vt:lpstr>Eventualities</vt:lpstr>
      <vt:lpstr>Software Risks Generation</vt:lpstr>
      <vt:lpstr>Software Risks Generation</vt:lpstr>
      <vt:lpstr>Risk Categorization</vt:lpstr>
      <vt:lpstr>Risk Categorization #Approach 1</vt:lpstr>
      <vt:lpstr>Risk Categorization #Approach 1</vt:lpstr>
      <vt:lpstr>Risk Categorization #Approach 2</vt:lpstr>
      <vt:lpstr>Socio-technical Model Of Risk Categorization #Approach 3</vt:lpstr>
      <vt:lpstr>Socio-technical Model Of Risk Categorization #Approach 3</vt:lpstr>
      <vt:lpstr>Types Of Software Risks</vt:lpstr>
      <vt:lpstr>Examples Of Software Risks</vt:lpstr>
      <vt:lpstr>Sources Of Software Risks</vt:lpstr>
      <vt:lpstr>Why Risk Management</vt:lpstr>
      <vt:lpstr>A Framework For Dealing With Risk</vt:lpstr>
      <vt:lpstr>Risk Management Process</vt:lpstr>
      <vt:lpstr>Effective Risk Management</vt:lpstr>
      <vt:lpstr>Effective Risk Management</vt:lpstr>
      <vt:lpstr>Step 1:Risk Identification</vt:lpstr>
      <vt:lpstr>Step 1:Risk Identification</vt:lpstr>
      <vt:lpstr>Step 1:Risk Identification  Check-List </vt:lpstr>
      <vt:lpstr>Step 1:Risk Identification  Brain-Storming </vt:lpstr>
      <vt:lpstr>Step 2: Risk Analysis</vt:lpstr>
      <vt:lpstr>Step 2: Risk Analysis</vt:lpstr>
      <vt:lpstr>Step 2: Risk Analysis</vt:lpstr>
      <vt:lpstr>Step 2: Risk Analysis</vt:lpstr>
      <vt:lpstr>Step 2: Risk Analysis</vt:lpstr>
      <vt:lpstr>Step 2: Risk Analysis</vt:lpstr>
      <vt:lpstr>Step 3: Risk Planning</vt:lpstr>
      <vt:lpstr>Step 3: Risk Planning</vt:lpstr>
      <vt:lpstr>Step 3: Risk Planning</vt:lpstr>
      <vt:lpstr>Step 3: Risk Planning</vt:lpstr>
      <vt:lpstr>Step 3: Risk Planning</vt:lpstr>
      <vt:lpstr>Step 4: Risk Monitoring</vt:lpstr>
      <vt:lpstr>Step 4: Risk Monitoring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Microsoft account</cp:lastModifiedBy>
  <cp:revision>1045</cp:revision>
  <dcterms:created xsi:type="dcterms:W3CDTF">2022-08-07T01:15:18Z</dcterms:created>
  <dcterms:modified xsi:type="dcterms:W3CDTF">2024-01-31T18:28:18Z</dcterms:modified>
</cp:coreProperties>
</file>