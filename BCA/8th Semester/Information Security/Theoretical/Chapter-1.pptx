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2" r:id="rId27"/>
    <p:sldId id="284" r:id="rId28"/>
    <p:sldId id="280" r:id="rId29"/>
    <p:sldId id="28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299DA-A7B4-6FDA-361D-A2CCA64091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F56F29-5208-43D9-0C31-D5E404A598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100CEC-D73B-5398-E094-792E7A69FFB0}"/>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5" name="Footer Placeholder 4">
            <a:extLst>
              <a:ext uri="{FF2B5EF4-FFF2-40B4-BE49-F238E27FC236}">
                <a16:creationId xmlns:a16="http://schemas.microsoft.com/office/drawing/2014/main" id="{8D87BF97-27D9-D499-95F7-1DF37180F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07A09-58CF-6089-CFF9-B1F15FAD71E5}"/>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3210783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DCBA-BC9C-BB68-07CE-0619FCC8E1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2652C2-A3D6-D991-8C7E-2F4C29A008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90CB8F-A563-A5F8-6AD7-E65CD3AF2D58}"/>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5" name="Footer Placeholder 4">
            <a:extLst>
              <a:ext uri="{FF2B5EF4-FFF2-40B4-BE49-F238E27FC236}">
                <a16:creationId xmlns:a16="http://schemas.microsoft.com/office/drawing/2014/main" id="{98268C53-E824-C544-87C8-9613518A4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473692-771A-9515-B39C-7D5AE3CF9CBC}"/>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3580931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A8DFB-8643-DB69-8AB6-B142EA5D35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54AA7D-2139-6802-903D-FDDC731BFC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60D1C5-56A8-2C9B-7E2C-700C558596DA}"/>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5" name="Footer Placeholder 4">
            <a:extLst>
              <a:ext uri="{FF2B5EF4-FFF2-40B4-BE49-F238E27FC236}">
                <a16:creationId xmlns:a16="http://schemas.microsoft.com/office/drawing/2014/main" id="{766F4AD4-28E6-0318-303B-EFC1FBA07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A5B02-B4FB-802F-7E43-5C68C4C78F40}"/>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1676468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6171C-1064-0A01-DB83-853B541C83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711E92-6131-8868-23FE-2AE4B35351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9FC212-D67D-97F6-D3FE-2723F6E420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0C61ED-215E-9CAD-3668-05B96872737A}"/>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6" name="Footer Placeholder 5">
            <a:extLst>
              <a:ext uri="{FF2B5EF4-FFF2-40B4-BE49-F238E27FC236}">
                <a16:creationId xmlns:a16="http://schemas.microsoft.com/office/drawing/2014/main" id="{E601F2E3-F040-027D-C0A6-3FEED69C04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F2059A-A755-D909-ACFF-6D601321512E}"/>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2796918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ED08C-8466-6013-E983-568BAA2DE2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E6B8EF-64AD-B74D-155C-A6558E762F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A2B959-929D-197E-189E-9CC92E3117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071A8A-54C6-83CC-700A-941A58BC61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9D032E-9455-0A74-FA52-C8E5B48774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874491-2676-FA2E-6124-0E8B6F12A6EE}"/>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8" name="Footer Placeholder 7">
            <a:extLst>
              <a:ext uri="{FF2B5EF4-FFF2-40B4-BE49-F238E27FC236}">
                <a16:creationId xmlns:a16="http://schemas.microsoft.com/office/drawing/2014/main" id="{BAA4BDDA-D646-522B-E05D-C75BED9521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A44D31-5110-CDEA-8F24-5A2DAEFF0C95}"/>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455133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DE1A8-B2D0-E585-67A1-B7091813D2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7FC893-A76B-A67A-7612-4E51901F3ECB}"/>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4" name="Footer Placeholder 3">
            <a:extLst>
              <a:ext uri="{FF2B5EF4-FFF2-40B4-BE49-F238E27FC236}">
                <a16:creationId xmlns:a16="http://schemas.microsoft.com/office/drawing/2014/main" id="{5368147E-38F1-59C1-07A0-5387CF1D6F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F36D7-EB33-D04E-C626-39A709574CB0}"/>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1684080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D68A7B-65E2-C669-83CC-446CFD025500}"/>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3" name="Footer Placeholder 2">
            <a:extLst>
              <a:ext uri="{FF2B5EF4-FFF2-40B4-BE49-F238E27FC236}">
                <a16:creationId xmlns:a16="http://schemas.microsoft.com/office/drawing/2014/main" id="{3A93F713-2119-AF95-BB48-02CF6094BA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31D274-A920-7E55-A768-7143837879E0}"/>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302604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0BB0D-9BF8-38B1-607D-976DF0E957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337476-0D92-3970-CD59-81B348C6AF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E8A927-6FEE-F48C-CFB7-9A0331E0F5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7BD4C5-C14E-4B55-F24E-A28E465898C5}"/>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6" name="Footer Placeholder 5">
            <a:extLst>
              <a:ext uri="{FF2B5EF4-FFF2-40B4-BE49-F238E27FC236}">
                <a16:creationId xmlns:a16="http://schemas.microsoft.com/office/drawing/2014/main" id="{37B85AB1-DC0D-CB3F-1660-D952AB3E4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A04FD4-A0E9-2D02-18AB-B2590D27A274}"/>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3034571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F6BEC-2DFE-DC39-07DA-85E4A7A24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42364F-2F86-447C-BD79-E7A4F24595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9DBA4E-7399-8D77-E026-D909228B81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660E93-94FD-1B8E-D66A-DBF11263DFB3}"/>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6" name="Footer Placeholder 5">
            <a:extLst>
              <a:ext uri="{FF2B5EF4-FFF2-40B4-BE49-F238E27FC236}">
                <a16:creationId xmlns:a16="http://schemas.microsoft.com/office/drawing/2014/main" id="{91ADB659-7AD7-CF69-977E-5A0A64ABE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2DAE0C-E0E7-97D0-D0D8-36E325BB7DB5}"/>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2805586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36F39-7AFB-8B30-95D7-931846D86F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86347E-E035-8A7F-9CB3-159FB762F0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240A3-2FFF-5CBB-A25C-CC83DFF13F26}"/>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5" name="Footer Placeholder 4">
            <a:extLst>
              <a:ext uri="{FF2B5EF4-FFF2-40B4-BE49-F238E27FC236}">
                <a16:creationId xmlns:a16="http://schemas.microsoft.com/office/drawing/2014/main" id="{83F7DDE1-C280-A2CC-5C48-4B56AE219C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6D565-9339-8126-EE09-869963CDE94A}"/>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942032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919365-7DCD-4884-999E-0E69D4EF41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4CDDED-F0B7-8B94-82E5-84B66496D8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97897D-8663-08F0-2343-BA6BC8DF843D}"/>
              </a:ext>
            </a:extLst>
          </p:cNvPr>
          <p:cNvSpPr>
            <a:spLocks noGrp="1"/>
          </p:cNvSpPr>
          <p:nvPr>
            <p:ph type="dt" sz="half" idx="10"/>
          </p:nvPr>
        </p:nvSpPr>
        <p:spPr/>
        <p:txBody>
          <a:bodyPr/>
          <a:lstStyle/>
          <a:p>
            <a:fld id="{C0CD478F-12B0-4F66-9E63-1E26B33F5221}" type="datetimeFigureOut">
              <a:rPr lang="en-US" smtClean="0"/>
              <a:t>4/8/2023</a:t>
            </a:fld>
            <a:endParaRPr lang="en-US"/>
          </a:p>
        </p:txBody>
      </p:sp>
      <p:sp>
        <p:nvSpPr>
          <p:cNvPr id="5" name="Footer Placeholder 4">
            <a:extLst>
              <a:ext uri="{FF2B5EF4-FFF2-40B4-BE49-F238E27FC236}">
                <a16:creationId xmlns:a16="http://schemas.microsoft.com/office/drawing/2014/main" id="{4506B842-9119-2080-4F31-8F5261BFBC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6D54B-F3ED-A6A4-4613-67952970B227}"/>
              </a:ext>
            </a:extLst>
          </p:cNvPr>
          <p:cNvSpPr>
            <a:spLocks noGrp="1"/>
          </p:cNvSpPr>
          <p:nvPr>
            <p:ph type="sldNum" sz="quarter" idx="12"/>
          </p:nvPr>
        </p:nvSpPr>
        <p:spPr/>
        <p:txBody>
          <a:bodyPr/>
          <a:lstStyle/>
          <a:p>
            <a:fld id="{4AE5751C-C0C3-4DAE-BF63-63B4D790AA28}" type="slidenum">
              <a:rPr lang="en-US" smtClean="0"/>
              <a:t>‹#›</a:t>
            </a:fld>
            <a:endParaRPr lang="en-US"/>
          </a:p>
        </p:txBody>
      </p:sp>
    </p:spTree>
    <p:extLst>
      <p:ext uri="{BB962C8B-B14F-4D97-AF65-F5344CB8AC3E}">
        <p14:creationId xmlns:p14="http://schemas.microsoft.com/office/powerpoint/2010/main" val="2504502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92DE4E-D032-CBC9-A535-57EEEB46D9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D42DA9-FE16-A229-D71B-292A7B8CB2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683F5-AEC0-71F7-EEA5-4B5D309499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CD478F-12B0-4F66-9E63-1E26B33F5221}" type="datetimeFigureOut">
              <a:rPr lang="en-US" smtClean="0"/>
              <a:t>4/8/2023</a:t>
            </a:fld>
            <a:endParaRPr lang="en-US"/>
          </a:p>
        </p:txBody>
      </p:sp>
      <p:sp>
        <p:nvSpPr>
          <p:cNvPr id="5" name="Footer Placeholder 4">
            <a:extLst>
              <a:ext uri="{FF2B5EF4-FFF2-40B4-BE49-F238E27FC236}">
                <a16:creationId xmlns:a16="http://schemas.microsoft.com/office/drawing/2014/main" id="{063D385B-D79C-0692-2377-50B8B19C1B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199668A-9377-9BE3-D4CA-024B2C4F42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E5751C-C0C3-4DAE-BF63-63B4D790AA28}" type="slidenum">
              <a:rPr lang="en-US" smtClean="0"/>
              <a:t>‹#›</a:t>
            </a:fld>
            <a:endParaRPr lang="en-US"/>
          </a:p>
        </p:txBody>
      </p:sp>
    </p:spTree>
    <p:extLst>
      <p:ext uri="{BB962C8B-B14F-4D97-AF65-F5344CB8AC3E}">
        <p14:creationId xmlns:p14="http://schemas.microsoft.com/office/powerpoint/2010/main" val="4133450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5886-865D-C60D-5FC1-CEFF4DDFF42B}"/>
              </a:ext>
            </a:extLst>
          </p:cNvPr>
          <p:cNvSpPr>
            <a:spLocks noGrp="1"/>
          </p:cNvSpPr>
          <p:nvPr>
            <p:ph type="ctrTitle"/>
          </p:nvPr>
        </p:nvSpPr>
        <p:spPr/>
        <p:txBody>
          <a:bodyPr/>
          <a:lstStyle/>
          <a:p>
            <a:r>
              <a:rPr lang="en-US" b="1" dirty="0"/>
              <a:t>Information Security</a:t>
            </a:r>
          </a:p>
        </p:txBody>
      </p:sp>
      <p:sp>
        <p:nvSpPr>
          <p:cNvPr id="3" name="Subtitle 2">
            <a:extLst>
              <a:ext uri="{FF2B5EF4-FFF2-40B4-BE49-F238E27FC236}">
                <a16:creationId xmlns:a16="http://schemas.microsoft.com/office/drawing/2014/main" id="{10825C91-D173-9510-1078-2E855652AF63}"/>
              </a:ext>
            </a:extLst>
          </p:cNvPr>
          <p:cNvSpPr>
            <a:spLocks noGrp="1"/>
          </p:cNvSpPr>
          <p:nvPr>
            <p:ph type="subTitle" idx="1"/>
          </p:nvPr>
        </p:nvSpPr>
        <p:spPr/>
        <p:txBody>
          <a:bodyPr>
            <a:normAutofit/>
          </a:bodyPr>
          <a:lstStyle/>
          <a:p>
            <a:r>
              <a:rPr lang="en-US" sz="4800" dirty="0">
                <a:solidFill>
                  <a:schemeClr val="accent1"/>
                </a:solidFill>
              </a:rPr>
              <a:t>Course Code: CACS459</a:t>
            </a:r>
          </a:p>
          <a:p>
            <a:r>
              <a:rPr lang="en-US" sz="4800" dirty="0">
                <a:solidFill>
                  <a:schemeClr val="accent1"/>
                </a:solidFill>
              </a:rPr>
              <a:t>BCA 8th</a:t>
            </a:r>
          </a:p>
        </p:txBody>
      </p:sp>
    </p:spTree>
    <p:extLst>
      <p:ext uri="{BB962C8B-B14F-4D97-AF65-F5344CB8AC3E}">
        <p14:creationId xmlns:p14="http://schemas.microsoft.com/office/powerpoint/2010/main" val="3854111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8CE35-56C8-0A92-C74E-FB436B25F4E5}"/>
              </a:ext>
            </a:extLst>
          </p:cNvPr>
          <p:cNvSpPr>
            <a:spLocks noGrp="1"/>
          </p:cNvSpPr>
          <p:nvPr>
            <p:ph type="title"/>
          </p:nvPr>
        </p:nvSpPr>
        <p:spPr>
          <a:xfrm>
            <a:off x="723900" y="117475"/>
            <a:ext cx="10515600" cy="1325563"/>
          </a:xfrm>
        </p:spPr>
        <p:txBody>
          <a:bodyPr>
            <a:normAutofit fontScale="90000"/>
          </a:bodyPr>
          <a:lstStyle/>
          <a:p>
            <a:r>
              <a:rPr lang="en-US" b="1" dirty="0"/>
              <a:t>Unit 1</a:t>
            </a:r>
            <a:br>
              <a:rPr lang="en-US" b="1" dirty="0"/>
            </a:br>
            <a:br>
              <a:rPr lang="en-US" dirty="0"/>
            </a:br>
            <a:r>
              <a:rPr lang="en-US" b="1" dirty="0"/>
              <a:t>Overview of Computer Security</a:t>
            </a:r>
          </a:p>
        </p:txBody>
      </p:sp>
      <p:sp>
        <p:nvSpPr>
          <p:cNvPr id="3" name="Content Placeholder 2">
            <a:extLst>
              <a:ext uri="{FF2B5EF4-FFF2-40B4-BE49-F238E27FC236}">
                <a16:creationId xmlns:a16="http://schemas.microsoft.com/office/drawing/2014/main" id="{47BED38A-6912-ECD1-32AB-9EB624BA5A52}"/>
              </a:ext>
            </a:extLst>
          </p:cNvPr>
          <p:cNvSpPr>
            <a:spLocks noGrp="1"/>
          </p:cNvSpPr>
          <p:nvPr>
            <p:ph idx="1"/>
          </p:nvPr>
        </p:nvSpPr>
        <p:spPr/>
        <p:txBody>
          <a:bodyPr/>
          <a:lstStyle/>
          <a:p>
            <a:pPr marL="0" indent="0">
              <a:buNone/>
            </a:pPr>
            <a:r>
              <a:rPr lang="en-US" dirty="0"/>
              <a:t>1.1 Computer Security Concepts</a:t>
            </a:r>
          </a:p>
          <a:p>
            <a:pPr marL="0" indent="0">
              <a:buNone/>
            </a:pPr>
            <a:r>
              <a:rPr lang="en-US" dirty="0"/>
              <a:t>1.2 Computer Security, Information Security, Network Security</a:t>
            </a:r>
          </a:p>
          <a:p>
            <a:pPr marL="0" indent="0">
              <a:buNone/>
            </a:pPr>
            <a:r>
              <a:rPr lang="en-US" dirty="0"/>
              <a:t>1.3 Threats, Attacks and Assets</a:t>
            </a:r>
          </a:p>
          <a:p>
            <a:pPr marL="0" indent="0">
              <a:buNone/>
            </a:pPr>
            <a:r>
              <a:rPr lang="en-US" dirty="0"/>
              <a:t>1.4 Security Requirements</a:t>
            </a:r>
          </a:p>
          <a:p>
            <a:pPr marL="0" indent="0">
              <a:buNone/>
            </a:pPr>
            <a:r>
              <a:rPr lang="en-US" dirty="0"/>
              <a:t>1.5 Security Design Principles</a:t>
            </a:r>
          </a:p>
          <a:p>
            <a:pPr marL="0" indent="0">
              <a:buNone/>
            </a:pPr>
            <a:r>
              <a:rPr lang="en-US" dirty="0"/>
              <a:t>1.6 Attack Surfaces and Attack Trees</a:t>
            </a:r>
          </a:p>
          <a:p>
            <a:pPr marL="0" indent="0">
              <a:buNone/>
            </a:pPr>
            <a:r>
              <a:rPr lang="en-US" dirty="0"/>
              <a:t>1.7 Computer Security Strategy</a:t>
            </a:r>
          </a:p>
        </p:txBody>
      </p:sp>
    </p:spTree>
    <p:extLst>
      <p:ext uri="{BB962C8B-B14F-4D97-AF65-F5344CB8AC3E}">
        <p14:creationId xmlns:p14="http://schemas.microsoft.com/office/powerpoint/2010/main" val="3229765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58B42-BB68-3C96-7E07-63313194DD4A}"/>
              </a:ext>
            </a:extLst>
          </p:cNvPr>
          <p:cNvSpPr>
            <a:spLocks noGrp="1"/>
          </p:cNvSpPr>
          <p:nvPr>
            <p:ph type="title"/>
          </p:nvPr>
        </p:nvSpPr>
        <p:spPr>
          <a:xfrm>
            <a:off x="590550" y="165101"/>
            <a:ext cx="9001125" cy="1206500"/>
          </a:xfrm>
        </p:spPr>
        <p:txBody>
          <a:bodyPr>
            <a:normAutofit fontScale="90000"/>
          </a:bodyPr>
          <a:lstStyle/>
          <a:p>
            <a:r>
              <a:rPr lang="en-US" b="1" dirty="0"/>
              <a:t>Unit 1</a:t>
            </a:r>
            <a:br>
              <a:rPr lang="en-US" b="1" dirty="0"/>
            </a:br>
            <a:br>
              <a:rPr lang="en-US" b="1" dirty="0"/>
            </a:br>
            <a:r>
              <a:rPr lang="en-US" b="1" dirty="0"/>
              <a:t>1.1 Computer Security Concepts</a:t>
            </a:r>
          </a:p>
        </p:txBody>
      </p:sp>
      <p:sp>
        <p:nvSpPr>
          <p:cNvPr id="3" name="Content Placeholder 2">
            <a:extLst>
              <a:ext uri="{FF2B5EF4-FFF2-40B4-BE49-F238E27FC236}">
                <a16:creationId xmlns:a16="http://schemas.microsoft.com/office/drawing/2014/main" id="{B7EB4327-7625-1B93-D91C-A4BB29345E61}"/>
              </a:ext>
            </a:extLst>
          </p:cNvPr>
          <p:cNvSpPr>
            <a:spLocks noGrp="1"/>
          </p:cNvSpPr>
          <p:nvPr>
            <p:ph idx="1"/>
          </p:nvPr>
        </p:nvSpPr>
        <p:spPr>
          <a:xfrm>
            <a:off x="838200" y="1635125"/>
            <a:ext cx="10515600" cy="3927475"/>
          </a:xfrm>
        </p:spPr>
        <p:txBody>
          <a:bodyPr>
            <a:noAutofit/>
          </a:bodyPr>
          <a:lstStyle/>
          <a:p>
            <a:pPr marL="0" indent="0" algn="just">
              <a:lnSpc>
                <a:spcPct val="160000"/>
              </a:lnSpc>
              <a:buNone/>
            </a:pPr>
            <a:r>
              <a:rPr lang="en-US" sz="2000" b="1" dirty="0">
                <a:cs typeface="Times New Roman" pitchFamily="18" charset="0"/>
              </a:rPr>
              <a:t>COMPUTER SECURITY: </a:t>
            </a:r>
            <a:r>
              <a:rPr lang="en-US" sz="2000" dirty="0">
                <a:cs typeface="Times New Roman" pitchFamily="18" charset="0"/>
              </a:rPr>
              <a:t>The protection afforded to an automated information system in order to attain the applicable objectives of preserving the integrity, availability, and confidentiality of information system resources (includes hardware, software, firmware, information/data, and telecommunications).</a:t>
            </a:r>
          </a:p>
          <a:p>
            <a:pPr marL="0" indent="0" algn="just">
              <a:lnSpc>
                <a:spcPct val="160000"/>
              </a:lnSpc>
              <a:buNone/>
            </a:pPr>
            <a:r>
              <a:rPr lang="en-US" sz="2000" dirty="0">
                <a:cs typeface="Times New Roman" pitchFamily="18" charset="0"/>
              </a:rPr>
              <a:t>This definition introduces three key objectives that are at the heart of computer security:</a:t>
            </a:r>
          </a:p>
          <a:p>
            <a:pPr algn="just">
              <a:lnSpc>
                <a:spcPct val="160000"/>
              </a:lnSpc>
            </a:pPr>
            <a:r>
              <a:rPr lang="en-US" sz="2000" b="1" dirty="0">
                <a:cs typeface="Times New Roman" pitchFamily="18" charset="0"/>
              </a:rPr>
              <a:t>Confidentiality</a:t>
            </a:r>
          </a:p>
          <a:p>
            <a:pPr algn="just">
              <a:lnSpc>
                <a:spcPct val="160000"/>
              </a:lnSpc>
            </a:pPr>
            <a:r>
              <a:rPr lang="en-US" sz="2000" b="1" dirty="0">
                <a:cs typeface="Times New Roman" pitchFamily="18" charset="0"/>
              </a:rPr>
              <a:t>Integrity</a:t>
            </a:r>
          </a:p>
          <a:p>
            <a:pPr algn="just">
              <a:lnSpc>
                <a:spcPct val="160000"/>
              </a:lnSpc>
            </a:pPr>
            <a:r>
              <a:rPr lang="en-US" sz="2000" b="1" dirty="0">
                <a:cs typeface="Times New Roman" pitchFamily="18" charset="0"/>
              </a:rPr>
              <a:t>Availability</a:t>
            </a:r>
            <a:endParaRPr lang="en-US" sz="2000" dirty="0"/>
          </a:p>
        </p:txBody>
      </p:sp>
    </p:spTree>
    <p:extLst>
      <p:ext uri="{BB962C8B-B14F-4D97-AF65-F5344CB8AC3E}">
        <p14:creationId xmlns:p14="http://schemas.microsoft.com/office/powerpoint/2010/main" val="179402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A97A-7272-DEFA-54B8-90A198A3B5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9663DD-8013-4FA2-E7EF-AC93BB5FC041}"/>
              </a:ext>
            </a:extLst>
          </p:cNvPr>
          <p:cNvSpPr>
            <a:spLocks noGrp="1"/>
          </p:cNvSpPr>
          <p:nvPr>
            <p:ph idx="1"/>
          </p:nvPr>
        </p:nvSpPr>
        <p:spPr>
          <a:xfrm>
            <a:off x="838200" y="1825625"/>
            <a:ext cx="5514975" cy="2727325"/>
          </a:xfrm>
        </p:spPr>
        <p:txBody>
          <a:bodyPr>
            <a:normAutofit fontScale="85000" lnSpcReduction="10000"/>
          </a:bodyPr>
          <a:lstStyle/>
          <a:p>
            <a:pPr>
              <a:lnSpc>
                <a:spcPct val="150000"/>
              </a:lnSpc>
            </a:pPr>
            <a:r>
              <a:rPr lang="en-US" b="1" dirty="0">
                <a:solidFill>
                  <a:schemeClr val="tx1"/>
                </a:solidFill>
                <a:cs typeface="Times New Roman" pitchFamily="18" charset="0"/>
              </a:rPr>
              <a:t>Confidentiality: </a:t>
            </a:r>
            <a:r>
              <a:rPr lang="en-US" dirty="0">
                <a:solidFill>
                  <a:schemeClr val="tx1"/>
                </a:solidFill>
                <a:cs typeface="Times New Roman" pitchFamily="18" charset="0"/>
              </a:rPr>
              <a:t>Data confidentiality, Privacy</a:t>
            </a:r>
          </a:p>
          <a:p>
            <a:pPr>
              <a:lnSpc>
                <a:spcPct val="150000"/>
              </a:lnSpc>
            </a:pPr>
            <a:r>
              <a:rPr lang="en-US" b="1" dirty="0">
                <a:solidFill>
                  <a:schemeClr val="tx1"/>
                </a:solidFill>
                <a:cs typeface="Times New Roman" pitchFamily="18" charset="0"/>
              </a:rPr>
              <a:t>Integrity: </a:t>
            </a:r>
            <a:r>
              <a:rPr lang="en-US" dirty="0">
                <a:solidFill>
                  <a:schemeClr val="tx1"/>
                </a:solidFill>
                <a:cs typeface="Times New Roman" pitchFamily="18" charset="0"/>
              </a:rPr>
              <a:t>Data integrity, System integrity</a:t>
            </a:r>
          </a:p>
          <a:p>
            <a:pPr>
              <a:lnSpc>
                <a:spcPct val="150000"/>
              </a:lnSpc>
            </a:pPr>
            <a:r>
              <a:rPr lang="en-US" b="1" dirty="0">
                <a:solidFill>
                  <a:schemeClr val="tx1"/>
                </a:solidFill>
                <a:cs typeface="Times New Roman" pitchFamily="18" charset="0"/>
              </a:rPr>
              <a:t>Availability</a:t>
            </a:r>
            <a:r>
              <a:rPr lang="en-US" b="1" dirty="0">
                <a:cs typeface="Times New Roman" pitchFamily="18" charset="0"/>
              </a:rPr>
              <a:t>: </a:t>
            </a:r>
            <a:r>
              <a:rPr lang="en-US" dirty="0">
                <a:cs typeface="Times New Roman" pitchFamily="18" charset="0"/>
              </a:rPr>
              <a:t>Information access</a:t>
            </a:r>
            <a:endParaRPr lang="en-US" dirty="0">
              <a:solidFill>
                <a:schemeClr val="tx1"/>
              </a:solidFill>
              <a:cs typeface="Times New Roman" pitchFamily="18" charset="0"/>
            </a:endParaRPr>
          </a:p>
        </p:txBody>
      </p:sp>
      <p:pic>
        <p:nvPicPr>
          <p:cNvPr id="5" name="Picture 2">
            <a:extLst>
              <a:ext uri="{FF2B5EF4-FFF2-40B4-BE49-F238E27FC236}">
                <a16:creationId xmlns:a16="http://schemas.microsoft.com/office/drawing/2014/main" id="{75434CA8-6A0C-3800-B799-1A6834C995DF}"/>
              </a:ext>
            </a:extLst>
          </p:cNvPr>
          <p:cNvPicPr>
            <a:picLocks noChangeAspect="1" noChangeArrowheads="1"/>
          </p:cNvPicPr>
          <p:nvPr/>
        </p:nvPicPr>
        <p:blipFill>
          <a:blip r:embed="rId2"/>
          <a:srcRect/>
          <a:stretch>
            <a:fillRect/>
          </a:stretch>
        </p:blipFill>
        <p:spPr bwMode="auto">
          <a:xfrm>
            <a:off x="6272211" y="1690688"/>
            <a:ext cx="4786314" cy="4168724"/>
          </a:xfrm>
          <a:prstGeom prst="rect">
            <a:avLst/>
          </a:prstGeom>
          <a:noFill/>
          <a:ln w="9525">
            <a:noFill/>
            <a:miter lim="800000"/>
            <a:headEnd/>
            <a:tailEnd/>
          </a:ln>
          <a:effectLst/>
        </p:spPr>
      </p:pic>
    </p:spTree>
    <p:extLst>
      <p:ext uri="{BB962C8B-B14F-4D97-AF65-F5344CB8AC3E}">
        <p14:creationId xmlns:p14="http://schemas.microsoft.com/office/powerpoint/2010/main" val="369580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1A2C2-59A4-5899-ABCA-E9A5A04A77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68A9F2-8383-A8B3-C989-14336A537678}"/>
              </a:ext>
            </a:extLst>
          </p:cNvPr>
          <p:cNvSpPr>
            <a:spLocks noGrp="1"/>
          </p:cNvSpPr>
          <p:nvPr>
            <p:ph idx="1"/>
          </p:nvPr>
        </p:nvSpPr>
        <p:spPr>
          <a:xfrm>
            <a:off x="838200" y="463550"/>
            <a:ext cx="10515600" cy="4351338"/>
          </a:xfrm>
        </p:spPr>
        <p:txBody>
          <a:bodyPr>
            <a:noAutofit/>
          </a:bodyPr>
          <a:lstStyle/>
          <a:p>
            <a:pPr marL="0" indent="0" algn="just">
              <a:lnSpc>
                <a:spcPct val="150000"/>
              </a:lnSpc>
              <a:buNone/>
            </a:pPr>
            <a:r>
              <a:rPr lang="en-US" sz="2000" dirty="0">
                <a:solidFill>
                  <a:schemeClr val="tx1"/>
                </a:solidFill>
                <a:cs typeface="Times New Roman" pitchFamily="18" charset="0"/>
              </a:rPr>
              <a:t>Although the use of the CIA triad to define security objectives is well established, some in the security field feel that additional concepts are needed to present a complete picture. Two of the most commonly mentioned are as follows:</a:t>
            </a:r>
          </a:p>
          <a:p>
            <a:pPr algn="just">
              <a:lnSpc>
                <a:spcPct val="150000"/>
              </a:lnSpc>
              <a:buFont typeface="Wingdings" pitchFamily="2" charset="2"/>
              <a:buChar char="v"/>
            </a:pPr>
            <a:r>
              <a:rPr lang="en-US" sz="2000" b="1" dirty="0">
                <a:solidFill>
                  <a:schemeClr val="tx1"/>
                </a:solidFill>
                <a:cs typeface="Times New Roman" pitchFamily="18" charset="0"/>
              </a:rPr>
              <a:t>Authenticity</a:t>
            </a:r>
            <a:r>
              <a:rPr lang="en-US" sz="2000" dirty="0">
                <a:solidFill>
                  <a:schemeClr val="tx1"/>
                </a:solidFill>
                <a:cs typeface="Times New Roman" pitchFamily="18" charset="0"/>
              </a:rPr>
              <a:t>: The property of being genuine and being able to be verified and trusted; confidence in the validity of a transmission, a message, or message originator. This means verifying that users are who they say they are and that each input arriving at the system came from a trusted source.</a:t>
            </a:r>
          </a:p>
          <a:p>
            <a:pPr algn="just">
              <a:lnSpc>
                <a:spcPct val="150000"/>
              </a:lnSpc>
              <a:buFont typeface="Wingdings" pitchFamily="2" charset="2"/>
              <a:buChar char="v"/>
            </a:pPr>
            <a:r>
              <a:rPr lang="en-US" sz="2000" b="1" dirty="0">
                <a:solidFill>
                  <a:schemeClr val="tx1"/>
                </a:solidFill>
                <a:cs typeface="Times New Roman" pitchFamily="18" charset="0"/>
              </a:rPr>
              <a:t>Accountability</a:t>
            </a:r>
            <a:r>
              <a:rPr lang="en-US" sz="2000" dirty="0">
                <a:solidFill>
                  <a:schemeClr val="tx1"/>
                </a:solidFill>
                <a:cs typeface="Times New Roman" pitchFamily="18" charset="0"/>
              </a:rPr>
              <a:t>: The security goal that generates the requirement for actions of an entity to be traced uniquely to that entity. This supports nonrepudiation, deterrence, fault isolation, intrusion detection and prevention, and after-action recovery and legal action. Because truly secure systems are not yet an achievable goal, we must be able to trace a security breach to a responsible party. Systems must keep records of their activities to permit later forensic analysis to trace security breaches or to aid in transaction disputes.</a:t>
            </a:r>
          </a:p>
          <a:p>
            <a:pPr algn="just">
              <a:lnSpc>
                <a:spcPct val="150000"/>
              </a:lnSpc>
              <a:buFont typeface="Wingdings" pitchFamily="2" charset="2"/>
              <a:buChar char="v"/>
            </a:pPr>
            <a:endParaRPr lang="en-US" sz="2000" dirty="0">
              <a:solidFill>
                <a:schemeClr val="tx1"/>
              </a:solidFill>
              <a:cs typeface="Times New Roman" pitchFamily="18" charset="0"/>
            </a:endParaRPr>
          </a:p>
          <a:p>
            <a:endParaRPr lang="en-US" sz="2000" dirty="0"/>
          </a:p>
        </p:txBody>
      </p:sp>
    </p:spTree>
    <p:extLst>
      <p:ext uri="{BB962C8B-B14F-4D97-AF65-F5344CB8AC3E}">
        <p14:creationId xmlns:p14="http://schemas.microsoft.com/office/powerpoint/2010/main" val="3618242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7A7D5-40C1-1C0A-F81E-019B87A5412B}"/>
              </a:ext>
            </a:extLst>
          </p:cNvPr>
          <p:cNvSpPr>
            <a:spLocks noGrp="1"/>
          </p:cNvSpPr>
          <p:nvPr>
            <p:ph type="title"/>
          </p:nvPr>
        </p:nvSpPr>
        <p:spPr>
          <a:xfrm>
            <a:off x="838200" y="365126"/>
            <a:ext cx="10515600" cy="958850"/>
          </a:xfrm>
        </p:spPr>
        <p:txBody>
          <a:bodyPr>
            <a:normAutofit fontScale="90000"/>
          </a:bodyPr>
          <a:lstStyle/>
          <a:p>
            <a:r>
              <a:rPr lang="en-US" dirty="0"/>
              <a:t>1.2 Computer Security, Network Security and Information Security</a:t>
            </a:r>
          </a:p>
        </p:txBody>
      </p:sp>
      <p:graphicFrame>
        <p:nvGraphicFramePr>
          <p:cNvPr id="4" name="Table 4">
            <a:extLst>
              <a:ext uri="{FF2B5EF4-FFF2-40B4-BE49-F238E27FC236}">
                <a16:creationId xmlns:a16="http://schemas.microsoft.com/office/drawing/2014/main" id="{ECC0F8CC-2942-5439-DC01-D7A17B5D10CA}"/>
              </a:ext>
            </a:extLst>
          </p:cNvPr>
          <p:cNvGraphicFramePr>
            <a:graphicFrameLocks noGrp="1"/>
          </p:cNvGraphicFramePr>
          <p:nvPr>
            <p:ph idx="1"/>
            <p:extLst>
              <p:ext uri="{D42A27DB-BD31-4B8C-83A1-F6EECF244321}">
                <p14:modId xmlns:p14="http://schemas.microsoft.com/office/powerpoint/2010/main" val="425854725"/>
              </p:ext>
            </p:extLst>
          </p:nvPr>
        </p:nvGraphicFramePr>
        <p:xfrm>
          <a:off x="838200" y="1554480"/>
          <a:ext cx="10515597" cy="5029200"/>
        </p:xfrm>
        <a:graphic>
          <a:graphicData uri="http://schemas.openxmlformats.org/drawingml/2006/table">
            <a:tbl>
              <a:tblPr firstRow="1" bandRow="1">
                <a:tableStyleId>{5C22544A-7EE6-4342-B048-85BDC9FD1C3A}</a:tableStyleId>
              </a:tblPr>
              <a:tblGrid>
                <a:gridCol w="2809875">
                  <a:extLst>
                    <a:ext uri="{9D8B030D-6E8A-4147-A177-3AD203B41FA5}">
                      <a16:colId xmlns:a16="http://schemas.microsoft.com/office/drawing/2014/main" val="1725130041"/>
                    </a:ext>
                  </a:extLst>
                </a:gridCol>
                <a:gridCol w="4200523">
                  <a:extLst>
                    <a:ext uri="{9D8B030D-6E8A-4147-A177-3AD203B41FA5}">
                      <a16:colId xmlns:a16="http://schemas.microsoft.com/office/drawing/2014/main" val="1698295612"/>
                    </a:ext>
                  </a:extLst>
                </a:gridCol>
                <a:gridCol w="3505199">
                  <a:extLst>
                    <a:ext uri="{9D8B030D-6E8A-4147-A177-3AD203B41FA5}">
                      <a16:colId xmlns:a16="http://schemas.microsoft.com/office/drawing/2014/main" val="3101890824"/>
                    </a:ext>
                  </a:extLst>
                </a:gridCol>
              </a:tblGrid>
              <a:tr h="216513">
                <a:tc>
                  <a:txBody>
                    <a:bodyPr/>
                    <a:lstStyle/>
                    <a:p>
                      <a:r>
                        <a:rPr lang="en-US" dirty="0"/>
                        <a:t>Computer Security</a:t>
                      </a:r>
                    </a:p>
                  </a:txBody>
                  <a:tcPr/>
                </a:tc>
                <a:tc>
                  <a:txBody>
                    <a:bodyPr/>
                    <a:lstStyle/>
                    <a:p>
                      <a:r>
                        <a:rPr lang="en-US" dirty="0"/>
                        <a:t>Information Security</a:t>
                      </a:r>
                    </a:p>
                  </a:txBody>
                  <a:tcPr/>
                </a:tc>
                <a:tc>
                  <a:txBody>
                    <a:bodyPr/>
                    <a:lstStyle/>
                    <a:p>
                      <a:r>
                        <a:rPr lang="en-US" dirty="0"/>
                        <a:t>Network Security</a:t>
                      </a:r>
                    </a:p>
                  </a:txBody>
                  <a:tcPr/>
                </a:tc>
                <a:extLst>
                  <a:ext uri="{0D108BD9-81ED-4DB2-BD59-A6C34878D82A}">
                    <a16:rowId xmlns:a16="http://schemas.microsoft.com/office/drawing/2014/main" val="844069564"/>
                  </a:ext>
                </a:extLst>
              </a:tr>
              <a:tr h="854187">
                <a:tc>
                  <a:txBody>
                    <a:bodyPr/>
                    <a:lstStyle/>
                    <a:p>
                      <a:r>
                        <a:rPr lang="en-US" dirty="0"/>
                        <a:t>a) Deals with securing a standalone computer’s hardware and software.</a:t>
                      </a:r>
                    </a:p>
                  </a:txBody>
                  <a:tcPr/>
                </a:tc>
                <a:tc>
                  <a:txBody>
                    <a:bodyPr/>
                    <a:lstStyle/>
                    <a:p>
                      <a:pPr algn="just"/>
                      <a:r>
                        <a:rPr lang="en-US" dirty="0"/>
                        <a:t>a) Protects both physical and digital data from unauthorized access, usage, disclosure, disruption, modification, inspection, destruction, and recording.</a:t>
                      </a:r>
                    </a:p>
                  </a:txBody>
                  <a:tcPr/>
                </a:tc>
                <a:tc>
                  <a:txBody>
                    <a:bodyPr/>
                    <a:lstStyle/>
                    <a:p>
                      <a:pPr algn="just"/>
                      <a:r>
                        <a:rPr lang="en-US" dirty="0"/>
                        <a:t>a) Protects any data sent through devices in your network to ensure that the information isn’t modified not intercepted.</a:t>
                      </a:r>
                    </a:p>
                  </a:txBody>
                  <a:tcPr/>
                </a:tc>
                <a:extLst>
                  <a:ext uri="{0D108BD9-81ED-4DB2-BD59-A6C34878D82A}">
                    <a16:rowId xmlns:a16="http://schemas.microsoft.com/office/drawing/2014/main" val="2525945130"/>
                  </a:ext>
                </a:extLst>
              </a:tr>
              <a:tr h="0">
                <a:tc>
                  <a:txBody>
                    <a:bodyPr/>
                    <a:lstStyle/>
                    <a:p>
                      <a:endParaRPr lang="en-US" dirty="0"/>
                    </a:p>
                  </a:txBody>
                  <a:tcPr/>
                </a:tc>
                <a:tc>
                  <a:txBody>
                    <a:bodyPr/>
                    <a:lstStyle/>
                    <a:p>
                      <a:r>
                        <a:rPr lang="en-US" dirty="0"/>
                        <a:t>b) CIA Triad is the information security model is used when managing data.</a:t>
                      </a:r>
                    </a:p>
                  </a:txBody>
                  <a:tcPr/>
                </a:tc>
                <a:tc>
                  <a:txBody>
                    <a:bodyPr/>
                    <a:lstStyle/>
                    <a:p>
                      <a:r>
                        <a:rPr lang="en-US" dirty="0"/>
                        <a:t>b) It protects the organization’s IT infrastructure against threats such as;</a:t>
                      </a:r>
                      <a:br>
                        <a:rPr lang="en-US" dirty="0"/>
                      </a:br>
                      <a:r>
                        <a:rPr lang="en-US" dirty="0"/>
                        <a:t>viruses, spyware, hackers, etc.</a:t>
                      </a:r>
                    </a:p>
                  </a:txBody>
                  <a:tcPr/>
                </a:tc>
                <a:extLst>
                  <a:ext uri="{0D108BD9-81ED-4DB2-BD59-A6C34878D82A}">
                    <a16:rowId xmlns:a16="http://schemas.microsoft.com/office/drawing/2014/main" val="877161603"/>
                  </a:ext>
                </a:extLst>
              </a:tr>
              <a:tr h="216513">
                <a:tc>
                  <a:txBody>
                    <a:bodyPr/>
                    <a:lstStyle/>
                    <a:p>
                      <a:endParaRPr lang="en-US"/>
                    </a:p>
                  </a:txBody>
                  <a:tcPr/>
                </a:tc>
                <a:tc>
                  <a:txBody>
                    <a:bodyPr/>
                    <a:lstStyle/>
                    <a:p>
                      <a:pPr marL="285750" indent="-285750" algn="just">
                        <a:buFont typeface="Arial" panose="020B0604020202020204" pitchFamily="34" charset="0"/>
                        <a:buChar char="•"/>
                      </a:pPr>
                      <a:r>
                        <a:rPr lang="en-US" dirty="0"/>
                        <a:t>Confidentiality. Only authorized parties have access to data.</a:t>
                      </a:r>
                    </a:p>
                    <a:p>
                      <a:pPr marL="285750" indent="-285750" algn="just">
                        <a:buFont typeface="Arial" panose="020B0604020202020204" pitchFamily="34" charset="0"/>
                        <a:buChar char="•"/>
                      </a:pPr>
                      <a:r>
                        <a:rPr lang="en-US" dirty="0"/>
                        <a:t>    Integrity. Data is accurate and trustworthy. It should not be modified or compromised in any way by any unauthorized parties.</a:t>
                      </a:r>
                    </a:p>
                    <a:p>
                      <a:pPr marL="285750" indent="-285750" algn="just">
                        <a:buFont typeface="Arial" panose="020B0604020202020204" pitchFamily="34" charset="0"/>
                        <a:buChar char="•"/>
                      </a:pPr>
                      <a:r>
                        <a:rPr lang="en-US" dirty="0"/>
                        <a:t>    Availability. Authorized parties can access the information when needed. </a:t>
                      </a:r>
                    </a:p>
                  </a:txBody>
                  <a:tcPr/>
                </a:tc>
                <a:tc>
                  <a:txBody>
                    <a:bodyPr/>
                    <a:lstStyle/>
                    <a:p>
                      <a:endParaRPr lang="en-US" dirty="0"/>
                    </a:p>
                  </a:txBody>
                  <a:tcPr/>
                </a:tc>
                <a:extLst>
                  <a:ext uri="{0D108BD9-81ED-4DB2-BD59-A6C34878D82A}">
                    <a16:rowId xmlns:a16="http://schemas.microsoft.com/office/drawing/2014/main" val="1560404976"/>
                  </a:ext>
                </a:extLst>
              </a:tr>
            </a:tbl>
          </a:graphicData>
        </a:graphic>
      </p:graphicFrame>
    </p:spTree>
    <p:extLst>
      <p:ext uri="{BB962C8B-B14F-4D97-AF65-F5344CB8AC3E}">
        <p14:creationId xmlns:p14="http://schemas.microsoft.com/office/powerpoint/2010/main" val="82427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CA1E-AE55-0176-9FB4-540B9C480DB6}"/>
              </a:ext>
            </a:extLst>
          </p:cNvPr>
          <p:cNvSpPr>
            <a:spLocks noGrp="1"/>
          </p:cNvSpPr>
          <p:nvPr>
            <p:ph type="title"/>
          </p:nvPr>
        </p:nvSpPr>
        <p:spPr/>
        <p:txBody>
          <a:bodyPr/>
          <a:lstStyle/>
          <a:p>
            <a:r>
              <a:rPr lang="en-US" b="1" dirty="0"/>
              <a:t>Security Breaches Terminology</a:t>
            </a:r>
          </a:p>
        </p:txBody>
      </p:sp>
      <p:sp>
        <p:nvSpPr>
          <p:cNvPr id="3" name="Content Placeholder 2">
            <a:extLst>
              <a:ext uri="{FF2B5EF4-FFF2-40B4-BE49-F238E27FC236}">
                <a16:creationId xmlns:a16="http://schemas.microsoft.com/office/drawing/2014/main" id="{7F201F03-6996-9CC2-82AB-CA708487783D}"/>
              </a:ext>
            </a:extLst>
          </p:cNvPr>
          <p:cNvSpPr>
            <a:spLocks noGrp="1"/>
          </p:cNvSpPr>
          <p:nvPr>
            <p:ph idx="1"/>
          </p:nvPr>
        </p:nvSpPr>
        <p:spPr/>
        <p:txBody>
          <a:bodyPr/>
          <a:lstStyle/>
          <a:p>
            <a:r>
              <a:rPr lang="en-US" dirty="0"/>
              <a:t>Exposure: a form of possible loss or harm</a:t>
            </a:r>
          </a:p>
          <a:p>
            <a:r>
              <a:rPr lang="en-US" dirty="0"/>
              <a:t>Vulnerability: a weakness in the system</a:t>
            </a:r>
          </a:p>
          <a:p>
            <a:r>
              <a:rPr lang="en-US" dirty="0"/>
              <a:t>Attack</a:t>
            </a:r>
          </a:p>
          <a:p>
            <a:r>
              <a:rPr lang="en-US" dirty="0"/>
              <a:t>Threats: Human attacks, natural disasters, errors</a:t>
            </a:r>
          </a:p>
          <a:p>
            <a:r>
              <a:rPr lang="en-US" dirty="0"/>
              <a:t>Control: a protective measure</a:t>
            </a:r>
          </a:p>
          <a:p>
            <a:r>
              <a:rPr lang="en-US" dirty="0"/>
              <a:t>Assets: data</a:t>
            </a:r>
          </a:p>
        </p:txBody>
      </p:sp>
    </p:spTree>
    <p:extLst>
      <p:ext uri="{BB962C8B-B14F-4D97-AF65-F5344CB8AC3E}">
        <p14:creationId xmlns:p14="http://schemas.microsoft.com/office/powerpoint/2010/main" val="1322853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4ABE-7225-1036-AB60-F91867EC2104}"/>
              </a:ext>
            </a:extLst>
          </p:cNvPr>
          <p:cNvSpPr>
            <a:spLocks noGrp="1"/>
          </p:cNvSpPr>
          <p:nvPr>
            <p:ph type="title"/>
          </p:nvPr>
        </p:nvSpPr>
        <p:spPr/>
        <p:txBody>
          <a:bodyPr/>
          <a:lstStyle/>
          <a:p>
            <a:r>
              <a:rPr lang="en-US" b="1" dirty="0"/>
              <a:t>1.2 Threats, Attacks and Assets</a:t>
            </a:r>
          </a:p>
        </p:txBody>
      </p:sp>
      <p:sp>
        <p:nvSpPr>
          <p:cNvPr id="3" name="Content Placeholder 2">
            <a:extLst>
              <a:ext uri="{FF2B5EF4-FFF2-40B4-BE49-F238E27FC236}">
                <a16:creationId xmlns:a16="http://schemas.microsoft.com/office/drawing/2014/main" id="{CAF87D04-BE91-E505-5548-EFFCC6BE2545}"/>
              </a:ext>
            </a:extLst>
          </p:cNvPr>
          <p:cNvSpPr>
            <a:spLocks noGrp="1"/>
          </p:cNvSpPr>
          <p:nvPr>
            <p:ph idx="1"/>
          </p:nvPr>
        </p:nvSpPr>
        <p:spPr/>
        <p:txBody>
          <a:bodyPr>
            <a:normAutofit fontScale="92500" lnSpcReduction="20000"/>
          </a:bodyPr>
          <a:lstStyle/>
          <a:p>
            <a:pPr algn="just">
              <a:lnSpc>
                <a:spcPct val="150000"/>
              </a:lnSpc>
              <a:buFont typeface="Wingdings" pitchFamily="2" charset="2"/>
              <a:buChar char="v"/>
            </a:pPr>
            <a:r>
              <a:rPr lang="en-US" sz="2400" b="1" dirty="0">
                <a:solidFill>
                  <a:schemeClr val="tx1"/>
                </a:solidFill>
                <a:cs typeface="Times New Roman" pitchFamily="18" charset="0"/>
              </a:rPr>
              <a:t>Threat: </a:t>
            </a:r>
            <a:r>
              <a:rPr lang="en-US" sz="2400" dirty="0">
                <a:solidFill>
                  <a:schemeClr val="tx1"/>
                </a:solidFill>
                <a:cs typeface="Times New Roman" pitchFamily="18" charset="0"/>
              </a:rPr>
              <a:t>A potential for violation of security, which exists when there is a circumstance, capability, action, or event that could breach security and cause harm. That is, a threat is a possible danger that might exploit a vulnerability.</a:t>
            </a:r>
          </a:p>
          <a:p>
            <a:pPr marL="0" indent="0" algn="just">
              <a:lnSpc>
                <a:spcPct val="150000"/>
              </a:lnSpc>
              <a:buNone/>
            </a:pPr>
            <a:r>
              <a:rPr lang="en-US" sz="2400" dirty="0">
                <a:cs typeface="Times New Roman" pitchFamily="18" charset="0"/>
              </a:rPr>
              <a:t>Some common threats in information security include:</a:t>
            </a:r>
          </a:p>
          <a:p>
            <a:pPr marL="457200" indent="-457200" algn="just">
              <a:lnSpc>
                <a:spcPct val="150000"/>
              </a:lnSpc>
              <a:buAutoNum type="arabicPeriod"/>
            </a:pPr>
            <a:r>
              <a:rPr lang="en-US" sz="2400" dirty="0">
                <a:solidFill>
                  <a:schemeClr val="tx1"/>
                </a:solidFill>
                <a:cs typeface="Times New Roman" pitchFamily="18" charset="0"/>
              </a:rPr>
              <a:t>Malware : a type of software designed to damage or disrupt computer systems.</a:t>
            </a:r>
          </a:p>
          <a:p>
            <a:pPr marL="457200" indent="-457200" algn="just">
              <a:lnSpc>
                <a:spcPct val="150000"/>
              </a:lnSpc>
              <a:buAutoNum type="arabicPeriod"/>
            </a:pPr>
            <a:r>
              <a:rPr lang="en-US" sz="2400" dirty="0">
                <a:cs typeface="Times New Roman" pitchFamily="18" charset="0"/>
              </a:rPr>
              <a:t>Phishing: a technique used by attackers to trick people into revealing sensitive information.</a:t>
            </a:r>
          </a:p>
          <a:p>
            <a:pPr marL="457200" indent="-457200" algn="just">
              <a:lnSpc>
                <a:spcPct val="150000"/>
              </a:lnSpc>
              <a:buAutoNum type="arabicPeriod"/>
            </a:pPr>
            <a:r>
              <a:rPr lang="en-US" sz="2400" dirty="0">
                <a:solidFill>
                  <a:schemeClr val="tx1"/>
                </a:solidFill>
                <a:cs typeface="Times New Roman" pitchFamily="18" charset="0"/>
              </a:rPr>
              <a:t>Social Engineering: manipulating people into divulging sensitive information</a:t>
            </a:r>
          </a:p>
          <a:p>
            <a:pPr>
              <a:lnSpc>
                <a:spcPct val="150000"/>
              </a:lnSpc>
            </a:pPr>
            <a:endParaRPr lang="en-US" dirty="0"/>
          </a:p>
        </p:txBody>
      </p:sp>
    </p:spTree>
    <p:extLst>
      <p:ext uri="{BB962C8B-B14F-4D97-AF65-F5344CB8AC3E}">
        <p14:creationId xmlns:p14="http://schemas.microsoft.com/office/powerpoint/2010/main" val="36295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673EF-D8F6-B64E-9E62-1E17DE282BFD}"/>
              </a:ext>
            </a:extLst>
          </p:cNvPr>
          <p:cNvSpPr>
            <a:spLocks noGrp="1"/>
          </p:cNvSpPr>
          <p:nvPr>
            <p:ph type="title"/>
          </p:nvPr>
        </p:nvSpPr>
        <p:spPr/>
        <p:txBody>
          <a:bodyPr/>
          <a:lstStyle/>
          <a:p>
            <a:r>
              <a:rPr lang="en-US" b="1" dirty="0"/>
              <a:t>1.2 Threats, Attacks and Assets</a:t>
            </a:r>
          </a:p>
        </p:txBody>
      </p:sp>
      <p:sp>
        <p:nvSpPr>
          <p:cNvPr id="3" name="Content Placeholder 2">
            <a:extLst>
              <a:ext uri="{FF2B5EF4-FFF2-40B4-BE49-F238E27FC236}">
                <a16:creationId xmlns:a16="http://schemas.microsoft.com/office/drawing/2014/main" id="{CA12B00B-9457-EDBE-1854-F627E7DC868E}"/>
              </a:ext>
            </a:extLst>
          </p:cNvPr>
          <p:cNvSpPr>
            <a:spLocks noGrp="1"/>
          </p:cNvSpPr>
          <p:nvPr>
            <p:ph idx="1"/>
          </p:nvPr>
        </p:nvSpPr>
        <p:spPr/>
        <p:txBody>
          <a:bodyPr>
            <a:normAutofit/>
          </a:bodyPr>
          <a:lstStyle/>
          <a:p>
            <a:pPr algn="just">
              <a:lnSpc>
                <a:spcPct val="150000"/>
              </a:lnSpc>
              <a:buFont typeface="Wingdings" pitchFamily="2" charset="2"/>
              <a:buChar char="v"/>
            </a:pPr>
            <a:r>
              <a:rPr lang="en-US" sz="2800" b="1" dirty="0">
                <a:solidFill>
                  <a:schemeClr val="tx1"/>
                </a:solidFill>
                <a:cs typeface="Times New Roman" pitchFamily="18" charset="0"/>
              </a:rPr>
              <a:t>Attack:</a:t>
            </a:r>
            <a:r>
              <a:rPr lang="en-US" sz="2800" dirty="0">
                <a:solidFill>
                  <a:schemeClr val="tx1"/>
                </a:solidFill>
                <a:cs typeface="Times New Roman" pitchFamily="18" charset="0"/>
              </a:rPr>
              <a:t> An attack is an intentional action that exploits a vulnerability in the information system, causing harm to the system's confidentiality, integrity, or availability. </a:t>
            </a:r>
          </a:p>
          <a:p>
            <a:pPr marL="0" indent="0" algn="just">
              <a:lnSpc>
                <a:spcPct val="150000"/>
              </a:lnSpc>
              <a:buNone/>
            </a:pPr>
            <a:r>
              <a:rPr lang="en-US" dirty="0">
                <a:cs typeface="Times New Roman" pitchFamily="18" charset="0"/>
              </a:rPr>
              <a:t>Consequences of attacks:</a:t>
            </a:r>
          </a:p>
          <a:p>
            <a:pPr marL="0" indent="0" algn="just">
              <a:lnSpc>
                <a:spcPct val="150000"/>
              </a:lnSpc>
              <a:buNone/>
            </a:pPr>
            <a:r>
              <a:rPr lang="en-US" dirty="0">
                <a:cs typeface="Times New Roman" pitchFamily="18" charset="0"/>
              </a:rPr>
              <a:t>Loss of data, reputational damage, financial losses etc.</a:t>
            </a:r>
          </a:p>
        </p:txBody>
      </p:sp>
    </p:spTree>
    <p:extLst>
      <p:ext uri="{BB962C8B-B14F-4D97-AF65-F5344CB8AC3E}">
        <p14:creationId xmlns:p14="http://schemas.microsoft.com/office/powerpoint/2010/main" val="4220600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BD892-86EA-FF2A-ED8E-B573E2517A27}"/>
              </a:ext>
            </a:extLst>
          </p:cNvPr>
          <p:cNvSpPr>
            <a:spLocks noGrp="1"/>
          </p:cNvSpPr>
          <p:nvPr>
            <p:ph type="title"/>
          </p:nvPr>
        </p:nvSpPr>
        <p:spPr/>
        <p:txBody>
          <a:bodyPr/>
          <a:lstStyle/>
          <a:p>
            <a:r>
              <a:rPr lang="en-US" b="1" dirty="0"/>
              <a:t>1.2 Threats, Attacks and Assets</a:t>
            </a:r>
          </a:p>
        </p:txBody>
      </p:sp>
      <p:sp>
        <p:nvSpPr>
          <p:cNvPr id="3" name="Content Placeholder 2">
            <a:extLst>
              <a:ext uri="{FF2B5EF4-FFF2-40B4-BE49-F238E27FC236}">
                <a16:creationId xmlns:a16="http://schemas.microsoft.com/office/drawing/2014/main" id="{53FA54AC-2D7B-4B73-AB21-E839606BC2EE}"/>
              </a:ext>
            </a:extLst>
          </p:cNvPr>
          <p:cNvSpPr>
            <a:spLocks noGrp="1"/>
          </p:cNvSpPr>
          <p:nvPr>
            <p:ph idx="1"/>
          </p:nvPr>
        </p:nvSpPr>
        <p:spPr/>
        <p:txBody>
          <a:bodyPr/>
          <a:lstStyle/>
          <a:p>
            <a:r>
              <a:rPr lang="en-US" b="1" dirty="0">
                <a:cs typeface="Times New Roman" pitchFamily="18" charset="0"/>
              </a:rPr>
              <a:t>Assets: </a:t>
            </a:r>
            <a:r>
              <a:rPr lang="en-US" dirty="0">
                <a:cs typeface="Times New Roman" pitchFamily="18" charset="0"/>
              </a:rPr>
              <a:t>Assets refer to any valuable resources that an organization possesses, including data, software, hardware, and intellectual property.</a:t>
            </a:r>
            <a:endParaRPr lang="en-US" dirty="0"/>
          </a:p>
          <a:p>
            <a:pPr marL="0" indent="0">
              <a:buNone/>
            </a:pPr>
            <a:r>
              <a:rPr lang="en-US" dirty="0"/>
              <a:t>Some important assets in information security include;</a:t>
            </a:r>
          </a:p>
          <a:p>
            <a:pPr marL="514350" indent="-514350">
              <a:buAutoNum type="arabicPeriod"/>
            </a:pPr>
            <a:r>
              <a:rPr lang="en-US" dirty="0"/>
              <a:t>Data</a:t>
            </a:r>
          </a:p>
          <a:p>
            <a:pPr marL="514350" indent="-514350">
              <a:buAutoNum type="arabicPeriod"/>
            </a:pPr>
            <a:r>
              <a:rPr lang="en-US" dirty="0"/>
              <a:t>Software</a:t>
            </a:r>
          </a:p>
          <a:p>
            <a:pPr marL="514350" indent="-514350">
              <a:buAutoNum type="arabicPeriod"/>
            </a:pPr>
            <a:r>
              <a:rPr lang="en-US" dirty="0"/>
              <a:t>Hardware</a:t>
            </a:r>
          </a:p>
          <a:p>
            <a:pPr marL="514350" indent="-514350">
              <a:buAutoNum type="arabicPeriod"/>
            </a:pPr>
            <a:r>
              <a:rPr lang="en-US" dirty="0"/>
              <a:t>Intellectual property</a:t>
            </a:r>
          </a:p>
        </p:txBody>
      </p:sp>
    </p:spTree>
    <p:extLst>
      <p:ext uri="{BB962C8B-B14F-4D97-AF65-F5344CB8AC3E}">
        <p14:creationId xmlns:p14="http://schemas.microsoft.com/office/powerpoint/2010/main" val="3903534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61E5-3325-0A8C-E143-22E3AFA7D601}"/>
              </a:ext>
            </a:extLst>
          </p:cNvPr>
          <p:cNvSpPr>
            <a:spLocks noGrp="1"/>
          </p:cNvSpPr>
          <p:nvPr>
            <p:ph type="title"/>
          </p:nvPr>
        </p:nvSpPr>
        <p:spPr/>
        <p:txBody>
          <a:bodyPr/>
          <a:lstStyle/>
          <a:p>
            <a:r>
              <a:rPr lang="en-US" b="1" dirty="0"/>
              <a:t>1.4 Security Requirements</a:t>
            </a:r>
          </a:p>
        </p:txBody>
      </p:sp>
      <p:sp>
        <p:nvSpPr>
          <p:cNvPr id="3" name="Content Placeholder 2">
            <a:extLst>
              <a:ext uri="{FF2B5EF4-FFF2-40B4-BE49-F238E27FC236}">
                <a16:creationId xmlns:a16="http://schemas.microsoft.com/office/drawing/2014/main" id="{82F5F8A0-44F6-3893-1AF5-416DDC51165D}"/>
              </a:ext>
            </a:extLst>
          </p:cNvPr>
          <p:cNvSpPr>
            <a:spLocks noGrp="1"/>
          </p:cNvSpPr>
          <p:nvPr>
            <p:ph idx="1"/>
          </p:nvPr>
        </p:nvSpPr>
        <p:spPr/>
        <p:txBody>
          <a:bodyPr/>
          <a:lstStyle/>
          <a:p>
            <a:pPr marL="0" indent="0" algn="just">
              <a:buNone/>
            </a:pPr>
            <a:r>
              <a:rPr lang="en-US" dirty="0"/>
              <a:t>Information security requires a set of security requirements that ensure the confidentiality, integrity, and availability of sensitive information. </a:t>
            </a:r>
          </a:p>
          <a:p>
            <a:pPr marL="0" indent="0" algn="just">
              <a:buNone/>
            </a:pPr>
            <a:endParaRPr lang="en-US" dirty="0"/>
          </a:p>
          <a:p>
            <a:pPr marL="0" indent="0" algn="just">
              <a:buNone/>
            </a:pPr>
            <a:r>
              <a:rPr lang="en-US" dirty="0"/>
              <a:t>Such requirements can vary depending upon the organization, its assets, and the regulatory environment in which it operates.</a:t>
            </a:r>
          </a:p>
        </p:txBody>
      </p:sp>
    </p:spTree>
    <p:extLst>
      <p:ext uri="{BB962C8B-B14F-4D97-AF65-F5344CB8AC3E}">
        <p14:creationId xmlns:p14="http://schemas.microsoft.com/office/powerpoint/2010/main" val="3670361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668B-D394-1745-2B26-936BB9EE0CB9}"/>
              </a:ext>
            </a:extLst>
          </p:cNvPr>
          <p:cNvSpPr>
            <a:spLocks noGrp="1"/>
          </p:cNvSpPr>
          <p:nvPr>
            <p:ph type="title"/>
          </p:nvPr>
        </p:nvSpPr>
        <p:spPr/>
        <p:txBody>
          <a:bodyPr/>
          <a:lstStyle/>
          <a:p>
            <a:r>
              <a:rPr lang="en-US" b="1" dirty="0"/>
              <a:t>1.4 Security Requirements</a:t>
            </a:r>
          </a:p>
        </p:txBody>
      </p:sp>
      <p:sp>
        <p:nvSpPr>
          <p:cNvPr id="3" name="Content Placeholder 2">
            <a:extLst>
              <a:ext uri="{FF2B5EF4-FFF2-40B4-BE49-F238E27FC236}">
                <a16:creationId xmlns:a16="http://schemas.microsoft.com/office/drawing/2014/main" id="{EA86ED49-D2C5-AD7D-78F6-464088A390DB}"/>
              </a:ext>
            </a:extLst>
          </p:cNvPr>
          <p:cNvSpPr>
            <a:spLocks noGrp="1"/>
          </p:cNvSpPr>
          <p:nvPr>
            <p:ph idx="1"/>
          </p:nvPr>
        </p:nvSpPr>
        <p:spPr/>
        <p:txBody>
          <a:bodyPr>
            <a:normAutofit fontScale="85000" lnSpcReduction="10000"/>
          </a:bodyPr>
          <a:lstStyle/>
          <a:p>
            <a:pPr marL="0" indent="0" algn="just">
              <a:lnSpc>
                <a:spcPct val="150000"/>
              </a:lnSpc>
              <a:buNone/>
            </a:pPr>
            <a:r>
              <a:rPr lang="en-US" sz="2400" dirty="0"/>
              <a:t>Common security requirements in information security are;</a:t>
            </a:r>
          </a:p>
          <a:p>
            <a:pPr marL="514350" indent="-514350" algn="just">
              <a:lnSpc>
                <a:spcPct val="150000"/>
              </a:lnSpc>
              <a:buAutoNum type="arabicPeriod"/>
            </a:pPr>
            <a:r>
              <a:rPr lang="en-US" sz="2400" b="1" dirty="0"/>
              <a:t>Access Control </a:t>
            </a:r>
            <a:r>
              <a:rPr lang="en-US" sz="2400" dirty="0"/>
              <a:t>: ensures that only authorized users have access to sensitive information</a:t>
            </a:r>
          </a:p>
          <a:p>
            <a:pPr marL="514350" indent="-514350" algn="just">
              <a:lnSpc>
                <a:spcPct val="150000"/>
              </a:lnSpc>
              <a:buAutoNum type="arabicPeriod"/>
            </a:pPr>
            <a:r>
              <a:rPr lang="en-US" sz="2400" b="1" dirty="0"/>
              <a:t>Encryption</a:t>
            </a:r>
            <a:r>
              <a:rPr lang="en-US" sz="2400" dirty="0"/>
              <a:t> : ensures that sensitive data is protected from unauthorized access by encrypting it with a secret key. Encryption can be used to protect data at rest, in transit, or in use.</a:t>
            </a:r>
          </a:p>
          <a:p>
            <a:pPr marL="514350" indent="-514350" algn="just">
              <a:lnSpc>
                <a:spcPct val="150000"/>
              </a:lnSpc>
              <a:buAutoNum type="arabicPeriod"/>
            </a:pPr>
            <a:r>
              <a:rPr lang="en-US" sz="2400" b="1" dirty="0"/>
              <a:t>Authentication</a:t>
            </a:r>
            <a:r>
              <a:rPr lang="en-US" sz="2400" dirty="0"/>
              <a:t>: Authentication is a security requirement that ensures that users are who they claim to be. This can be achieved through various methods, including passwords, biometrics, and two-factor authentication.</a:t>
            </a:r>
          </a:p>
        </p:txBody>
      </p:sp>
    </p:spTree>
    <p:extLst>
      <p:ext uri="{BB962C8B-B14F-4D97-AF65-F5344CB8AC3E}">
        <p14:creationId xmlns:p14="http://schemas.microsoft.com/office/powerpoint/2010/main" val="3524133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70858-642D-E07E-49CB-37D58C4173D5}"/>
              </a:ext>
            </a:extLst>
          </p:cNvPr>
          <p:cNvSpPr>
            <a:spLocks noGrp="1"/>
          </p:cNvSpPr>
          <p:nvPr>
            <p:ph type="title"/>
          </p:nvPr>
        </p:nvSpPr>
        <p:spPr/>
        <p:txBody>
          <a:bodyPr/>
          <a:lstStyle/>
          <a:p>
            <a:r>
              <a:rPr lang="en-US" b="1" dirty="0"/>
              <a:t>1.4 Security Requirements</a:t>
            </a:r>
          </a:p>
        </p:txBody>
      </p:sp>
      <p:sp>
        <p:nvSpPr>
          <p:cNvPr id="3" name="Content Placeholder 2">
            <a:extLst>
              <a:ext uri="{FF2B5EF4-FFF2-40B4-BE49-F238E27FC236}">
                <a16:creationId xmlns:a16="http://schemas.microsoft.com/office/drawing/2014/main" id="{1B270152-AE1D-24F4-F9A9-822BAA0EA3BE}"/>
              </a:ext>
            </a:extLst>
          </p:cNvPr>
          <p:cNvSpPr>
            <a:spLocks noGrp="1"/>
          </p:cNvSpPr>
          <p:nvPr>
            <p:ph idx="1"/>
          </p:nvPr>
        </p:nvSpPr>
        <p:spPr/>
        <p:txBody>
          <a:bodyPr>
            <a:normAutofit fontScale="70000" lnSpcReduction="20000"/>
          </a:bodyPr>
          <a:lstStyle/>
          <a:p>
            <a:pPr marL="0" indent="0" algn="just">
              <a:lnSpc>
                <a:spcPct val="160000"/>
              </a:lnSpc>
              <a:buNone/>
            </a:pPr>
            <a:r>
              <a:rPr lang="en-US" dirty="0"/>
              <a:t>4. </a:t>
            </a:r>
            <a:r>
              <a:rPr lang="en-US" b="1" dirty="0"/>
              <a:t>Authorization</a:t>
            </a:r>
            <a:r>
              <a:rPr lang="en-US" dirty="0"/>
              <a:t>: ensures that users have the necessary permissions to access sensitive information. This can be achieved through role-based access control, attribute-based access control, or other methods.</a:t>
            </a:r>
          </a:p>
          <a:p>
            <a:pPr marL="0" indent="0" algn="just">
              <a:lnSpc>
                <a:spcPct val="160000"/>
              </a:lnSpc>
              <a:buNone/>
            </a:pPr>
            <a:r>
              <a:rPr lang="en-US" dirty="0"/>
              <a:t>5. </a:t>
            </a:r>
            <a:r>
              <a:rPr lang="en-US" b="1" dirty="0"/>
              <a:t>Audit and Monitoring</a:t>
            </a:r>
            <a:r>
              <a:rPr lang="en-US" dirty="0"/>
              <a:t>: ensures that all activity on the information system is logged and monitored for suspicious activity. This can include intrusion detection systems, security information and event management (SIEM) tools, and other monitoring solutions.</a:t>
            </a:r>
          </a:p>
          <a:p>
            <a:pPr marL="0" indent="0" algn="just">
              <a:lnSpc>
                <a:spcPct val="160000"/>
              </a:lnSpc>
              <a:buNone/>
            </a:pPr>
            <a:r>
              <a:rPr lang="en-US" dirty="0"/>
              <a:t>6. </a:t>
            </a:r>
            <a:r>
              <a:rPr lang="en-US" b="1" dirty="0"/>
              <a:t>Incident Response</a:t>
            </a:r>
            <a:r>
              <a:rPr lang="en-US" dirty="0"/>
              <a:t>: ensures that the organization is prepared to respond to security incidents, such as data breaches or cyber attacks. This can include incident response plans, incident response teams, and other measures.</a:t>
            </a:r>
          </a:p>
          <a:p>
            <a:endParaRPr lang="en-US" dirty="0"/>
          </a:p>
        </p:txBody>
      </p:sp>
    </p:spTree>
    <p:extLst>
      <p:ext uri="{BB962C8B-B14F-4D97-AF65-F5344CB8AC3E}">
        <p14:creationId xmlns:p14="http://schemas.microsoft.com/office/powerpoint/2010/main" val="3743238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5B03-D129-6B1D-E54F-8D0B7EDBDA3B}"/>
              </a:ext>
            </a:extLst>
          </p:cNvPr>
          <p:cNvSpPr>
            <a:spLocks noGrp="1"/>
          </p:cNvSpPr>
          <p:nvPr>
            <p:ph type="title"/>
          </p:nvPr>
        </p:nvSpPr>
        <p:spPr/>
        <p:txBody>
          <a:bodyPr/>
          <a:lstStyle/>
          <a:p>
            <a:r>
              <a:rPr lang="en-US" b="1" dirty="0"/>
              <a:t>1.4 Security Requirements</a:t>
            </a:r>
          </a:p>
        </p:txBody>
      </p:sp>
      <p:sp>
        <p:nvSpPr>
          <p:cNvPr id="3" name="Content Placeholder 2">
            <a:extLst>
              <a:ext uri="{FF2B5EF4-FFF2-40B4-BE49-F238E27FC236}">
                <a16:creationId xmlns:a16="http://schemas.microsoft.com/office/drawing/2014/main" id="{03078DFD-87E7-CF1C-8F8F-A083A84DAFEA}"/>
              </a:ext>
            </a:extLst>
          </p:cNvPr>
          <p:cNvSpPr>
            <a:spLocks noGrp="1"/>
          </p:cNvSpPr>
          <p:nvPr>
            <p:ph idx="1"/>
          </p:nvPr>
        </p:nvSpPr>
        <p:spPr/>
        <p:txBody>
          <a:bodyPr/>
          <a:lstStyle/>
          <a:p>
            <a:pPr marL="0" indent="0" algn="just">
              <a:lnSpc>
                <a:spcPct val="150000"/>
              </a:lnSpc>
              <a:buNone/>
            </a:pPr>
            <a:r>
              <a:rPr lang="en-US" dirty="0"/>
              <a:t>7. </a:t>
            </a:r>
            <a:r>
              <a:rPr lang="en-US" b="1" dirty="0"/>
              <a:t>Physical Security </a:t>
            </a:r>
            <a:r>
              <a:rPr lang="en-US" dirty="0"/>
              <a:t>: ensures that the physical environment where sensitive information is stored is protected from unauthorized access or damage. This can include measures such as access control systems, surveillance cameras, and other physical security measures.</a:t>
            </a:r>
          </a:p>
        </p:txBody>
      </p:sp>
    </p:spTree>
    <p:extLst>
      <p:ext uri="{BB962C8B-B14F-4D97-AF65-F5344CB8AC3E}">
        <p14:creationId xmlns:p14="http://schemas.microsoft.com/office/powerpoint/2010/main" val="1282579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8A048-E6EF-22C9-DB92-39ED980B2925}"/>
              </a:ext>
            </a:extLst>
          </p:cNvPr>
          <p:cNvSpPr>
            <a:spLocks noGrp="1"/>
          </p:cNvSpPr>
          <p:nvPr>
            <p:ph type="title"/>
          </p:nvPr>
        </p:nvSpPr>
        <p:spPr/>
        <p:txBody>
          <a:bodyPr/>
          <a:lstStyle/>
          <a:p>
            <a:r>
              <a:rPr lang="en-US" b="1" dirty="0"/>
              <a:t>1.5 Security Design Principles</a:t>
            </a:r>
          </a:p>
        </p:txBody>
      </p:sp>
      <p:sp>
        <p:nvSpPr>
          <p:cNvPr id="3" name="Content Placeholder 2">
            <a:extLst>
              <a:ext uri="{FF2B5EF4-FFF2-40B4-BE49-F238E27FC236}">
                <a16:creationId xmlns:a16="http://schemas.microsoft.com/office/drawing/2014/main" id="{E3966EF0-0FA3-E6FA-07E9-E730BE476C19}"/>
              </a:ext>
            </a:extLst>
          </p:cNvPr>
          <p:cNvSpPr>
            <a:spLocks noGrp="1"/>
          </p:cNvSpPr>
          <p:nvPr>
            <p:ph idx="1"/>
          </p:nvPr>
        </p:nvSpPr>
        <p:spPr/>
        <p:txBody>
          <a:bodyPr/>
          <a:lstStyle/>
          <a:p>
            <a:pPr marL="0" indent="0" algn="just">
              <a:lnSpc>
                <a:spcPct val="150000"/>
              </a:lnSpc>
              <a:buNone/>
            </a:pPr>
            <a:r>
              <a:rPr lang="en-US" dirty="0"/>
              <a:t>Security design principles are fundamental guidelines for building secure information systems. They provide a framework for creating secure architectures and ensuring that sensitive information is protected from unauthorized access, theft, or loss.</a:t>
            </a:r>
          </a:p>
        </p:txBody>
      </p:sp>
    </p:spTree>
    <p:extLst>
      <p:ext uri="{BB962C8B-B14F-4D97-AF65-F5344CB8AC3E}">
        <p14:creationId xmlns:p14="http://schemas.microsoft.com/office/powerpoint/2010/main" val="2805725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DD785-480C-4332-1CC9-306FAD323378}"/>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F90E78BA-7980-10F2-298C-B059EA7C03CC}"/>
              </a:ext>
            </a:extLst>
          </p:cNvPr>
          <p:cNvSpPr>
            <a:spLocks noGrp="1"/>
          </p:cNvSpPr>
          <p:nvPr>
            <p:ph idx="1"/>
          </p:nvPr>
        </p:nvSpPr>
        <p:spPr/>
        <p:txBody>
          <a:bodyPr>
            <a:normAutofit fontScale="92500" lnSpcReduction="20000"/>
          </a:bodyPr>
          <a:lstStyle/>
          <a:p>
            <a:pPr marL="514350" indent="-514350">
              <a:buAutoNum type="arabicPeriod"/>
            </a:pPr>
            <a:r>
              <a:rPr lang="en-US" dirty="0"/>
              <a:t>Defense in Depth</a:t>
            </a:r>
          </a:p>
          <a:p>
            <a:pPr marL="514350" indent="-514350">
              <a:buAutoNum type="arabicPeriod"/>
            </a:pPr>
            <a:r>
              <a:rPr lang="en-US" dirty="0"/>
              <a:t>Least privilege</a:t>
            </a:r>
          </a:p>
          <a:p>
            <a:pPr marL="514350" indent="-514350">
              <a:buAutoNum type="arabicPeriod"/>
            </a:pPr>
            <a:r>
              <a:rPr lang="en-US" dirty="0"/>
              <a:t>Fail-Safe Defaults</a:t>
            </a:r>
          </a:p>
          <a:p>
            <a:pPr marL="514350" indent="-514350">
              <a:buAutoNum type="arabicPeriod"/>
            </a:pPr>
            <a:r>
              <a:rPr lang="en-US" dirty="0"/>
              <a:t>Separation of Duties</a:t>
            </a:r>
          </a:p>
          <a:p>
            <a:pPr marL="514350" indent="-514350">
              <a:buAutoNum type="arabicPeriod"/>
            </a:pPr>
            <a:r>
              <a:rPr lang="en-US" dirty="0"/>
              <a:t>Defense against attacks</a:t>
            </a:r>
          </a:p>
          <a:p>
            <a:pPr marL="514350" indent="-514350">
              <a:buAutoNum type="arabicPeriod"/>
            </a:pPr>
            <a:r>
              <a:rPr lang="en-US" dirty="0"/>
              <a:t>Secure by design</a:t>
            </a:r>
          </a:p>
          <a:p>
            <a:pPr marL="514350" indent="-514350">
              <a:buAutoNum type="arabicPeriod"/>
            </a:pPr>
            <a:r>
              <a:rPr lang="en-US" dirty="0"/>
              <a:t>Open Design</a:t>
            </a:r>
          </a:p>
          <a:p>
            <a:pPr marL="514350" indent="-514350">
              <a:buAutoNum type="arabicPeriod"/>
            </a:pPr>
            <a:r>
              <a:rPr lang="en-US" dirty="0"/>
              <a:t>Separation of Privilege</a:t>
            </a:r>
          </a:p>
          <a:p>
            <a:pPr marL="514350" indent="-514350">
              <a:buAutoNum type="arabicPeriod"/>
            </a:pPr>
            <a:r>
              <a:rPr lang="en-US" dirty="0"/>
              <a:t>Least Common Mechanism</a:t>
            </a:r>
          </a:p>
          <a:p>
            <a:pPr marL="514350" indent="-514350">
              <a:buAutoNum type="arabicPeriod"/>
            </a:pPr>
            <a:r>
              <a:rPr lang="en-US" dirty="0"/>
              <a:t>Psychological Acceptability</a:t>
            </a:r>
          </a:p>
        </p:txBody>
      </p:sp>
    </p:spTree>
    <p:extLst>
      <p:ext uri="{BB962C8B-B14F-4D97-AF65-F5344CB8AC3E}">
        <p14:creationId xmlns:p14="http://schemas.microsoft.com/office/powerpoint/2010/main" val="1771502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49FAC-3B9E-2681-9375-1ACF7F6AF056}"/>
              </a:ext>
            </a:extLst>
          </p:cNvPr>
          <p:cNvSpPr>
            <a:spLocks noGrp="1"/>
          </p:cNvSpPr>
          <p:nvPr>
            <p:ph type="title"/>
          </p:nvPr>
        </p:nvSpPr>
        <p:spPr/>
        <p:txBody>
          <a:bodyPr/>
          <a:lstStyle/>
          <a:p>
            <a:endParaRPr lang="en-US"/>
          </a:p>
        </p:txBody>
      </p:sp>
      <p:pic>
        <p:nvPicPr>
          <p:cNvPr id="5" name="Content Placeholder 4" descr="Chart, bubble chart&#10;&#10;Description automatically generated">
            <a:extLst>
              <a:ext uri="{FF2B5EF4-FFF2-40B4-BE49-F238E27FC236}">
                <a16:creationId xmlns:a16="http://schemas.microsoft.com/office/drawing/2014/main" id="{91B8BB53-98BD-065B-14E0-C5CABC69DD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5548" y="534748"/>
            <a:ext cx="5552338" cy="5635520"/>
          </a:xfrm>
        </p:spPr>
      </p:pic>
      <p:sp>
        <p:nvSpPr>
          <p:cNvPr id="6" name="TextBox 5">
            <a:extLst>
              <a:ext uri="{FF2B5EF4-FFF2-40B4-BE49-F238E27FC236}">
                <a16:creationId xmlns:a16="http://schemas.microsoft.com/office/drawing/2014/main" id="{A5144EA3-7507-BF49-F946-03191E00BC85}"/>
              </a:ext>
            </a:extLst>
          </p:cNvPr>
          <p:cNvSpPr txBox="1"/>
          <p:nvPr/>
        </p:nvSpPr>
        <p:spPr>
          <a:xfrm>
            <a:off x="3993502" y="6095551"/>
            <a:ext cx="7268547" cy="369332"/>
          </a:xfrm>
          <a:prstGeom prst="rect">
            <a:avLst/>
          </a:prstGeom>
          <a:noFill/>
        </p:spPr>
        <p:txBody>
          <a:bodyPr wrap="square" rtlCol="0">
            <a:spAutoFit/>
          </a:bodyPr>
          <a:lstStyle/>
          <a:p>
            <a:r>
              <a:rPr lang="en-US" b="1" dirty="0"/>
              <a:t>Fig: Common Security Design Principles</a:t>
            </a:r>
          </a:p>
        </p:txBody>
      </p:sp>
    </p:spTree>
    <p:extLst>
      <p:ext uri="{BB962C8B-B14F-4D97-AF65-F5344CB8AC3E}">
        <p14:creationId xmlns:p14="http://schemas.microsoft.com/office/powerpoint/2010/main" val="3608720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A4AEE-F3BB-4614-3040-FFAEE903D16E}"/>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747E4FA7-D386-282B-2558-549D7090BD71}"/>
              </a:ext>
            </a:extLst>
          </p:cNvPr>
          <p:cNvSpPr>
            <a:spLocks noGrp="1"/>
          </p:cNvSpPr>
          <p:nvPr>
            <p:ph idx="1"/>
          </p:nvPr>
        </p:nvSpPr>
        <p:spPr>
          <a:xfrm>
            <a:off x="771088" y="1381009"/>
            <a:ext cx="10515600" cy="4351338"/>
          </a:xfrm>
        </p:spPr>
        <p:txBody>
          <a:bodyPr>
            <a:normAutofit fontScale="92500"/>
          </a:bodyPr>
          <a:lstStyle/>
          <a:p>
            <a:pPr marL="457200" indent="-457200" algn="just">
              <a:lnSpc>
                <a:spcPct val="150000"/>
              </a:lnSpc>
              <a:buAutoNum type="arabicPeriod"/>
            </a:pPr>
            <a:r>
              <a:rPr lang="en-US" sz="2400" b="1" dirty="0"/>
              <a:t>Defense in depth </a:t>
            </a:r>
            <a:r>
              <a:rPr lang="en-US" sz="2400" dirty="0"/>
              <a:t>: a strategy that leverages multiple security measures to protect an organization's assets. The thinking is that if one line of defense is compromised, additional layers exist as a backup to ensure that threats are stopped along the way.</a:t>
            </a:r>
          </a:p>
          <a:p>
            <a:pPr marL="457200" indent="-457200" algn="just">
              <a:lnSpc>
                <a:spcPct val="150000"/>
              </a:lnSpc>
              <a:buAutoNum type="arabicPeriod"/>
            </a:pPr>
            <a:r>
              <a:rPr lang="en-US" sz="2400" b="1" dirty="0"/>
              <a:t>Least Privilege: </a:t>
            </a:r>
            <a:r>
              <a:rPr lang="en-US" sz="2400" dirty="0"/>
              <a:t>This principle states that a user should only have those privileges that need to complete his task. Its primary function is to control the assignment of rights granted to the user, not the identity of the user. This means that if the boss demands root access to a UNIX system that you administer, he/she should not be given that right unless he/she has a task that requires such level of access. </a:t>
            </a:r>
          </a:p>
        </p:txBody>
      </p:sp>
    </p:spTree>
    <p:extLst>
      <p:ext uri="{BB962C8B-B14F-4D97-AF65-F5344CB8AC3E}">
        <p14:creationId xmlns:p14="http://schemas.microsoft.com/office/powerpoint/2010/main" val="161194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4014E-16FE-C2F2-FDDC-4C96A63DB7ED}"/>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76D92173-0DE5-55EB-79AD-5AAC35FBAAFC}"/>
              </a:ext>
            </a:extLst>
          </p:cNvPr>
          <p:cNvSpPr>
            <a:spLocks noGrp="1"/>
          </p:cNvSpPr>
          <p:nvPr>
            <p:ph idx="1"/>
          </p:nvPr>
        </p:nvSpPr>
        <p:spPr/>
        <p:txBody>
          <a:bodyPr>
            <a:normAutofit fontScale="85000" lnSpcReduction="20000"/>
          </a:bodyPr>
          <a:lstStyle/>
          <a:p>
            <a:pPr marL="0" indent="0" algn="just">
              <a:lnSpc>
                <a:spcPct val="150000"/>
              </a:lnSpc>
              <a:buNone/>
            </a:pPr>
            <a:r>
              <a:rPr lang="en-US" dirty="0"/>
              <a:t>3. </a:t>
            </a:r>
            <a:r>
              <a:rPr lang="en-US" b="1" dirty="0"/>
              <a:t>Fail Safe Defaults</a:t>
            </a:r>
            <a:r>
              <a:rPr lang="en-US" dirty="0"/>
              <a:t>: states that the default configuration of a system should have a conservative protection scheme. </a:t>
            </a:r>
          </a:p>
          <a:p>
            <a:pPr marL="0" indent="0" algn="just">
              <a:lnSpc>
                <a:spcPct val="150000"/>
              </a:lnSpc>
              <a:buNone/>
            </a:pPr>
            <a:r>
              <a:rPr lang="en-US" b="1" dirty="0"/>
              <a:t>Example:</a:t>
            </a:r>
            <a:r>
              <a:rPr lang="en-US" dirty="0"/>
              <a:t> If we will add a new user to an operating system, the default group of the user should have fewer access rights to files and services.</a:t>
            </a:r>
          </a:p>
          <a:p>
            <a:pPr marL="0" indent="0" algn="just">
              <a:lnSpc>
                <a:spcPct val="150000"/>
              </a:lnSpc>
              <a:buNone/>
            </a:pPr>
            <a:r>
              <a:rPr lang="en-US" dirty="0"/>
              <a:t>4.  </a:t>
            </a:r>
            <a:r>
              <a:rPr lang="en-US" b="1" dirty="0"/>
              <a:t>Separation of Duties</a:t>
            </a:r>
            <a:r>
              <a:rPr lang="en-US" dirty="0"/>
              <a:t>: This principle states that a system should grant access permission based on more than one condition being satisfied. This principle may also be restrictive because it limits access to system entities. Thus before privilege is granted more than two verification should be performed.</a:t>
            </a:r>
          </a:p>
          <a:p>
            <a:pPr marL="0" indent="0" algn="just">
              <a:lnSpc>
                <a:spcPct val="150000"/>
              </a:lnSpc>
              <a:buNone/>
            </a:pPr>
            <a:endParaRPr lang="en-US" dirty="0"/>
          </a:p>
        </p:txBody>
      </p:sp>
    </p:spTree>
    <p:extLst>
      <p:ext uri="{BB962C8B-B14F-4D97-AF65-F5344CB8AC3E}">
        <p14:creationId xmlns:p14="http://schemas.microsoft.com/office/powerpoint/2010/main" val="3381473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2B900-A60C-03CB-736C-C5FA8028A7F5}"/>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A8F8C4BC-D30E-D98D-B5D2-1961A0C9E2A1}"/>
              </a:ext>
            </a:extLst>
          </p:cNvPr>
          <p:cNvSpPr>
            <a:spLocks noGrp="1"/>
          </p:cNvSpPr>
          <p:nvPr>
            <p:ph idx="1"/>
          </p:nvPr>
        </p:nvSpPr>
        <p:spPr/>
        <p:txBody>
          <a:bodyPr>
            <a:normAutofit fontScale="92500" lnSpcReduction="10000"/>
          </a:bodyPr>
          <a:lstStyle/>
          <a:p>
            <a:pPr marL="0" indent="0" algn="just">
              <a:lnSpc>
                <a:spcPct val="170000"/>
              </a:lnSpc>
              <a:buNone/>
            </a:pPr>
            <a:r>
              <a:rPr lang="en-US" dirty="0"/>
              <a:t>5. </a:t>
            </a:r>
            <a:r>
              <a:rPr lang="en-US" b="1" dirty="0"/>
              <a:t>Defense against Attacks</a:t>
            </a:r>
            <a:r>
              <a:rPr lang="en-US" dirty="0"/>
              <a:t>: This principle states that the preventive measures to be executed to save the system from attacks.</a:t>
            </a:r>
          </a:p>
          <a:p>
            <a:pPr marL="0" indent="0" algn="just">
              <a:lnSpc>
                <a:spcPct val="170000"/>
              </a:lnSpc>
              <a:buNone/>
            </a:pPr>
            <a:r>
              <a:rPr lang="en-US" dirty="0"/>
              <a:t>6. </a:t>
            </a:r>
            <a:r>
              <a:rPr lang="en-US" b="1" dirty="0"/>
              <a:t>Secure by design</a:t>
            </a:r>
            <a:r>
              <a:rPr lang="en-US" dirty="0"/>
              <a:t>: This principle states that the system should be developed as free of vulnerabilities to attack as possible through such measures as continuous testing, authentication safeguards.</a:t>
            </a:r>
          </a:p>
          <a:p>
            <a:pPr marL="0" indent="0" algn="just">
              <a:lnSpc>
                <a:spcPct val="170000"/>
              </a:lnSpc>
              <a:buNone/>
            </a:pPr>
            <a:r>
              <a:rPr lang="en-US" dirty="0"/>
              <a:t> </a:t>
            </a:r>
          </a:p>
          <a:p>
            <a:pPr marL="0" indent="0" algn="just">
              <a:lnSpc>
                <a:spcPct val="170000"/>
              </a:lnSpc>
              <a:buNone/>
            </a:pPr>
            <a:endParaRPr lang="en-US" dirty="0"/>
          </a:p>
        </p:txBody>
      </p:sp>
    </p:spTree>
    <p:extLst>
      <p:ext uri="{BB962C8B-B14F-4D97-AF65-F5344CB8AC3E}">
        <p14:creationId xmlns:p14="http://schemas.microsoft.com/office/powerpoint/2010/main" val="1076333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D7B8-6292-DF20-5C86-A3F94800997E}"/>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5F6B46DE-8A8A-9DF2-E1D5-98702D49147E}"/>
              </a:ext>
            </a:extLst>
          </p:cNvPr>
          <p:cNvSpPr>
            <a:spLocks noGrp="1"/>
          </p:cNvSpPr>
          <p:nvPr>
            <p:ph idx="1"/>
          </p:nvPr>
        </p:nvSpPr>
        <p:spPr/>
        <p:txBody>
          <a:bodyPr>
            <a:normAutofit lnSpcReduction="10000"/>
          </a:bodyPr>
          <a:lstStyle/>
          <a:p>
            <a:pPr marL="0" indent="0" algn="just">
              <a:lnSpc>
                <a:spcPct val="150000"/>
              </a:lnSpc>
              <a:buNone/>
            </a:pPr>
            <a:r>
              <a:rPr lang="en-US" dirty="0"/>
              <a:t>7. </a:t>
            </a:r>
            <a:r>
              <a:rPr lang="en-US" b="1" dirty="0"/>
              <a:t>Open Design</a:t>
            </a:r>
            <a:r>
              <a:rPr lang="en-US" dirty="0"/>
              <a:t>: This principle states that the security of a mechanism should not depend on the secrecy of its design or implementation. It suggests that complexity does not add security. This principle is the opposite of the approach known as "security through obscurity." This principle not only applies to information such as passwords or cryptographic systems but also to other computer security related operations.</a:t>
            </a:r>
          </a:p>
          <a:p>
            <a:pPr marL="0" indent="0">
              <a:buNone/>
            </a:pPr>
            <a:endParaRPr lang="en-US" dirty="0"/>
          </a:p>
        </p:txBody>
      </p:sp>
    </p:spTree>
    <p:extLst>
      <p:ext uri="{BB962C8B-B14F-4D97-AF65-F5344CB8AC3E}">
        <p14:creationId xmlns:p14="http://schemas.microsoft.com/office/powerpoint/2010/main" val="2055860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D09F-B7E7-181D-3F30-574FD028567D}"/>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EB8055BD-748F-2DB9-84DE-4403F2D76A22}"/>
              </a:ext>
            </a:extLst>
          </p:cNvPr>
          <p:cNvSpPr>
            <a:spLocks noGrp="1"/>
          </p:cNvSpPr>
          <p:nvPr>
            <p:ph idx="1"/>
          </p:nvPr>
        </p:nvSpPr>
        <p:spPr/>
        <p:txBody>
          <a:bodyPr>
            <a:normAutofit/>
          </a:bodyPr>
          <a:lstStyle/>
          <a:p>
            <a:pPr marL="0" indent="0" algn="just">
              <a:lnSpc>
                <a:spcPct val="150000"/>
              </a:lnSpc>
              <a:buNone/>
            </a:pPr>
            <a:r>
              <a:rPr lang="en-US" dirty="0"/>
              <a:t>8. </a:t>
            </a:r>
            <a:r>
              <a:rPr lang="en-US" b="1" dirty="0"/>
              <a:t>Separation of Privilege : </a:t>
            </a:r>
            <a:r>
              <a:rPr lang="en-US" dirty="0"/>
              <a:t>a system should grant access permission based on more than on more than one condition being satisfied.</a:t>
            </a:r>
            <a:r>
              <a:rPr lang="en-US" b="1" dirty="0"/>
              <a:t> </a:t>
            </a:r>
          </a:p>
          <a:p>
            <a:pPr marL="0" indent="0" algn="just">
              <a:lnSpc>
                <a:spcPct val="150000"/>
              </a:lnSpc>
              <a:buNone/>
            </a:pPr>
            <a:r>
              <a:rPr lang="en-US" dirty="0"/>
              <a:t>9. </a:t>
            </a:r>
            <a:r>
              <a:rPr lang="en-US" b="1" dirty="0"/>
              <a:t>Least Common Mechanism</a:t>
            </a:r>
            <a:r>
              <a:rPr lang="en-US" dirty="0"/>
              <a:t>: It states that in systems with multiple users, the mechanisms allowing resources shared by more than one user should as much as possible. This principle may also be restrictive because it limits the sharing of resources.</a:t>
            </a:r>
          </a:p>
          <a:p>
            <a:pPr marL="0" indent="0" algn="just">
              <a:lnSpc>
                <a:spcPct val="150000"/>
              </a:lnSpc>
              <a:buNone/>
            </a:pPr>
            <a:endParaRPr lang="en-US" dirty="0"/>
          </a:p>
        </p:txBody>
      </p:sp>
    </p:spTree>
    <p:extLst>
      <p:ext uri="{BB962C8B-B14F-4D97-AF65-F5344CB8AC3E}">
        <p14:creationId xmlns:p14="http://schemas.microsoft.com/office/powerpoint/2010/main" val="2723786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F51AA-D238-9DCA-CA3B-AF4180231603}"/>
              </a:ext>
            </a:extLst>
          </p:cNvPr>
          <p:cNvSpPr>
            <a:spLocks noGrp="1"/>
          </p:cNvSpPr>
          <p:nvPr>
            <p:ph type="title"/>
          </p:nvPr>
        </p:nvSpPr>
        <p:spPr/>
        <p:txBody>
          <a:bodyPr/>
          <a:lstStyle/>
          <a:p>
            <a:r>
              <a:rPr lang="en-US" b="1" dirty="0"/>
              <a:t>1.5 Security Design Principles</a:t>
            </a:r>
            <a:endParaRPr lang="en-US" dirty="0"/>
          </a:p>
        </p:txBody>
      </p:sp>
      <p:sp>
        <p:nvSpPr>
          <p:cNvPr id="3" name="Content Placeholder 2">
            <a:extLst>
              <a:ext uri="{FF2B5EF4-FFF2-40B4-BE49-F238E27FC236}">
                <a16:creationId xmlns:a16="http://schemas.microsoft.com/office/drawing/2014/main" id="{81EA41CF-87DF-7E25-796B-5F3629910FFB}"/>
              </a:ext>
            </a:extLst>
          </p:cNvPr>
          <p:cNvSpPr>
            <a:spLocks noGrp="1"/>
          </p:cNvSpPr>
          <p:nvPr>
            <p:ph idx="1"/>
          </p:nvPr>
        </p:nvSpPr>
        <p:spPr/>
        <p:txBody>
          <a:bodyPr>
            <a:normAutofit fontScale="85000" lnSpcReduction="20000"/>
          </a:bodyPr>
          <a:lstStyle/>
          <a:p>
            <a:pPr marL="0" indent="0" algn="just">
              <a:lnSpc>
                <a:spcPct val="150000"/>
              </a:lnSpc>
              <a:buNone/>
            </a:pPr>
            <a:r>
              <a:rPr lang="en-US" dirty="0"/>
              <a:t>10. </a:t>
            </a:r>
            <a:r>
              <a:rPr lang="en-US" b="1" dirty="0"/>
              <a:t>Psychological Acceptability: </a:t>
            </a:r>
            <a:r>
              <a:rPr lang="en-US" dirty="0"/>
              <a:t>This principle states that a security mechanism should not make the resource more complicated to access if the security mechanisms were not present. The psychological acceptability principle recognizes the human element in computer security. If security-related software or computer systems are too complicated to configure, maintain, or operate, the user will not employ the necessary security mechanisms. </a:t>
            </a:r>
            <a:r>
              <a:rPr lang="en-US" b="1" dirty="0"/>
              <a:t>Example: </a:t>
            </a:r>
            <a:r>
              <a:rPr lang="en-US" dirty="0"/>
              <a:t>When we enter a wrong password, the system should only tell us that the user id or password was incorrect. It should not tell us that only the password was wrong as this gives the attacker information. </a:t>
            </a:r>
            <a:endParaRPr lang="en-US" dirty="0">
              <a:effectLst/>
            </a:endParaRPr>
          </a:p>
        </p:txBody>
      </p:sp>
    </p:spTree>
    <p:extLst>
      <p:ext uri="{BB962C8B-B14F-4D97-AF65-F5344CB8AC3E}">
        <p14:creationId xmlns:p14="http://schemas.microsoft.com/office/powerpoint/2010/main" val="3472650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26DC-F531-41E7-E31E-CC1C33476D27}"/>
              </a:ext>
            </a:extLst>
          </p:cNvPr>
          <p:cNvSpPr>
            <a:spLocks noGrp="1"/>
          </p:cNvSpPr>
          <p:nvPr>
            <p:ph type="title"/>
          </p:nvPr>
        </p:nvSpPr>
        <p:spPr/>
        <p:txBody>
          <a:bodyPr/>
          <a:lstStyle/>
          <a:p>
            <a:r>
              <a:rPr lang="en-US" b="1" dirty="0"/>
              <a:t>1.6 Attack Surfaces and Attack Trees</a:t>
            </a:r>
          </a:p>
        </p:txBody>
      </p:sp>
      <p:sp>
        <p:nvSpPr>
          <p:cNvPr id="3" name="Content Placeholder 2">
            <a:extLst>
              <a:ext uri="{FF2B5EF4-FFF2-40B4-BE49-F238E27FC236}">
                <a16:creationId xmlns:a16="http://schemas.microsoft.com/office/drawing/2014/main" id="{593F4C37-54FD-AB13-3774-A11FD0E2DF9D}"/>
              </a:ext>
            </a:extLst>
          </p:cNvPr>
          <p:cNvSpPr>
            <a:spLocks noGrp="1"/>
          </p:cNvSpPr>
          <p:nvPr>
            <p:ph idx="1"/>
          </p:nvPr>
        </p:nvSpPr>
        <p:spPr/>
        <p:txBody>
          <a:bodyPr>
            <a:normAutofit lnSpcReduction="10000"/>
          </a:bodyPr>
          <a:lstStyle/>
          <a:p>
            <a:pPr marL="0" indent="0">
              <a:buNone/>
            </a:pPr>
            <a:r>
              <a:rPr lang="en-US" b="1" dirty="0"/>
              <a:t>Attack Surfaces </a:t>
            </a:r>
          </a:p>
          <a:p>
            <a:pPr marL="0" indent="0" algn="just">
              <a:lnSpc>
                <a:spcPct val="150000"/>
              </a:lnSpc>
              <a:buNone/>
            </a:pPr>
            <a:r>
              <a:rPr lang="en-US" dirty="0"/>
              <a:t>Attack surface is the total sum of separate points which can be easily accessible for a hacker or attacker. If a hacker wants to access the system he has to do by scanning the target’s attack surface. These attack surface has three categories they are network, software, and physical attack surface. These attack surface can be reduced by reducing the codes.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352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6C47-8F45-0C86-81E9-557D2DAE227F}"/>
              </a:ext>
            </a:extLst>
          </p:cNvPr>
          <p:cNvSpPr>
            <a:spLocks noGrp="1"/>
          </p:cNvSpPr>
          <p:nvPr>
            <p:ph type="title"/>
          </p:nvPr>
        </p:nvSpPr>
        <p:spPr/>
        <p:txBody>
          <a:bodyPr/>
          <a:lstStyle/>
          <a:p>
            <a:r>
              <a:rPr lang="en-US" b="1" dirty="0"/>
              <a:t>1.6 Attack Surfaces and Attack Trees</a:t>
            </a:r>
            <a:endParaRPr lang="en-US" dirty="0"/>
          </a:p>
        </p:txBody>
      </p:sp>
      <p:sp>
        <p:nvSpPr>
          <p:cNvPr id="3" name="Content Placeholder 2">
            <a:extLst>
              <a:ext uri="{FF2B5EF4-FFF2-40B4-BE49-F238E27FC236}">
                <a16:creationId xmlns:a16="http://schemas.microsoft.com/office/drawing/2014/main" id="{8A8DB698-9878-C4DF-23F5-DEB055C7B7F8}"/>
              </a:ext>
            </a:extLst>
          </p:cNvPr>
          <p:cNvSpPr>
            <a:spLocks noGrp="1"/>
          </p:cNvSpPr>
          <p:nvPr>
            <p:ph idx="1"/>
          </p:nvPr>
        </p:nvSpPr>
        <p:spPr/>
        <p:txBody>
          <a:bodyPr>
            <a:normAutofit fontScale="70000" lnSpcReduction="20000"/>
          </a:bodyPr>
          <a:lstStyle/>
          <a:p>
            <a:pPr marL="0" indent="0" algn="just">
              <a:lnSpc>
                <a:spcPct val="150000"/>
              </a:lnSpc>
              <a:buNone/>
            </a:pPr>
            <a:r>
              <a:rPr lang="en-US" b="1" dirty="0"/>
              <a:t>Types of Attack Surfaces:</a:t>
            </a:r>
          </a:p>
          <a:p>
            <a:pPr algn="just">
              <a:lnSpc>
                <a:spcPct val="150000"/>
              </a:lnSpc>
            </a:pPr>
            <a:r>
              <a:rPr lang="en-US" b="1" dirty="0"/>
              <a:t>Passive</a:t>
            </a:r>
            <a:r>
              <a:rPr lang="en-US" dirty="0"/>
              <a:t>: A passive attack surface refers to a system or network that has either been compromised by an attacker (i.e., the individual is already providing resources) or has not yet been compromised by an attacker, but provides its own security services (e.g., password authentication).</a:t>
            </a:r>
          </a:p>
          <a:p>
            <a:pPr algn="just">
              <a:lnSpc>
                <a:spcPct val="150000"/>
              </a:lnSpc>
            </a:pPr>
            <a:r>
              <a:rPr lang="en-US" b="1" dirty="0"/>
              <a:t>Active</a:t>
            </a:r>
            <a:r>
              <a:rPr lang="en-US" dirty="0"/>
              <a:t>: An active attack surface includes a system or network in which an attacker may directly interact with elements of the infrastructure, such as users and devices. Active attacks on a target are typically performed during reconnaissance and pre-attack phases when more information about the target is desired before initiating any destructive actions.</a:t>
            </a:r>
          </a:p>
        </p:txBody>
      </p:sp>
    </p:spTree>
    <p:extLst>
      <p:ext uri="{BB962C8B-B14F-4D97-AF65-F5344CB8AC3E}">
        <p14:creationId xmlns:p14="http://schemas.microsoft.com/office/powerpoint/2010/main" val="2192313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A694-6685-CDA1-5049-871E0F482BD2}"/>
              </a:ext>
            </a:extLst>
          </p:cNvPr>
          <p:cNvSpPr>
            <a:spLocks noGrp="1"/>
          </p:cNvSpPr>
          <p:nvPr>
            <p:ph type="title"/>
          </p:nvPr>
        </p:nvSpPr>
        <p:spPr/>
        <p:txBody>
          <a:bodyPr/>
          <a:lstStyle/>
          <a:p>
            <a:r>
              <a:rPr lang="en-US" b="1" dirty="0"/>
              <a:t>1.6 Attack Surfaces and Attack Trees</a:t>
            </a:r>
            <a:endParaRPr lang="en-US" dirty="0"/>
          </a:p>
        </p:txBody>
      </p:sp>
      <p:sp>
        <p:nvSpPr>
          <p:cNvPr id="3" name="Content Placeholder 2">
            <a:extLst>
              <a:ext uri="{FF2B5EF4-FFF2-40B4-BE49-F238E27FC236}">
                <a16:creationId xmlns:a16="http://schemas.microsoft.com/office/drawing/2014/main" id="{FF17ED11-C68E-4D1A-523B-CBDB99515614}"/>
              </a:ext>
            </a:extLst>
          </p:cNvPr>
          <p:cNvSpPr>
            <a:spLocks noGrp="1"/>
          </p:cNvSpPr>
          <p:nvPr>
            <p:ph idx="1"/>
          </p:nvPr>
        </p:nvSpPr>
        <p:spPr/>
        <p:txBody>
          <a:bodyPr/>
          <a:lstStyle/>
          <a:p>
            <a:pPr marL="0" indent="0" algn="just">
              <a:lnSpc>
                <a:spcPct val="150000"/>
              </a:lnSpc>
              <a:buNone/>
            </a:pPr>
            <a:r>
              <a:rPr lang="en-US" b="1" dirty="0"/>
              <a:t>Attack Trees </a:t>
            </a:r>
          </a:p>
          <a:p>
            <a:pPr marL="0" indent="0" algn="just">
              <a:lnSpc>
                <a:spcPct val="150000"/>
              </a:lnSpc>
              <a:buNone/>
            </a:pPr>
            <a:r>
              <a:rPr lang="en-US" dirty="0"/>
              <a:t>Attack trees are conceptual diagrams showing how an asset, or target, might be attacked. Attack trees have been used in a variety of applications. In the field of information technology, they have been used </a:t>
            </a:r>
            <a:r>
              <a:rPr lang="en-US" b="1" dirty="0"/>
              <a:t>to describe threats on computer systems and possible attacks to realize those threats</a:t>
            </a:r>
            <a:r>
              <a:rPr lang="en-US" dirty="0"/>
              <a:t>.</a:t>
            </a:r>
            <a:endParaRPr lang="en-US" b="1" dirty="0"/>
          </a:p>
          <a:p>
            <a:pPr marL="0" indent="0" algn="just">
              <a:lnSpc>
                <a:spcPct val="150000"/>
              </a:lnSpc>
              <a:buNone/>
            </a:pPr>
            <a:endParaRPr lang="en-US" b="1" dirty="0"/>
          </a:p>
        </p:txBody>
      </p:sp>
    </p:spTree>
    <p:extLst>
      <p:ext uri="{BB962C8B-B14F-4D97-AF65-F5344CB8AC3E}">
        <p14:creationId xmlns:p14="http://schemas.microsoft.com/office/powerpoint/2010/main" val="2331724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F57E-612D-29C8-2836-41759DEBBC7C}"/>
              </a:ext>
            </a:extLst>
          </p:cNvPr>
          <p:cNvSpPr>
            <a:spLocks noGrp="1"/>
          </p:cNvSpPr>
          <p:nvPr>
            <p:ph type="title"/>
          </p:nvPr>
        </p:nvSpPr>
        <p:spPr/>
        <p:txBody>
          <a:bodyPr/>
          <a:lstStyle/>
          <a:p>
            <a:r>
              <a:rPr lang="en-US" b="1" dirty="0"/>
              <a:t>1.6 Attack Surfaces and Attack Trees</a:t>
            </a:r>
            <a:endParaRPr lang="en-US" dirty="0"/>
          </a:p>
        </p:txBody>
      </p:sp>
      <p:pic>
        <p:nvPicPr>
          <p:cNvPr id="5" name="Content Placeholder 4" descr="Diagram&#10;&#10;Description automatically generated">
            <a:extLst>
              <a:ext uri="{FF2B5EF4-FFF2-40B4-BE49-F238E27FC236}">
                <a16:creationId xmlns:a16="http://schemas.microsoft.com/office/drawing/2014/main" id="{806A1724-A2CC-0329-2AA7-F89585549B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2708" y="1690689"/>
            <a:ext cx="5654179" cy="4072548"/>
          </a:xfrm>
        </p:spPr>
      </p:pic>
      <p:sp>
        <p:nvSpPr>
          <p:cNvPr id="6" name="TextBox 5">
            <a:extLst>
              <a:ext uri="{FF2B5EF4-FFF2-40B4-BE49-F238E27FC236}">
                <a16:creationId xmlns:a16="http://schemas.microsoft.com/office/drawing/2014/main" id="{1DD66504-55D8-E5A1-F779-B73A72CE1A3F}"/>
              </a:ext>
            </a:extLst>
          </p:cNvPr>
          <p:cNvSpPr txBox="1"/>
          <p:nvPr/>
        </p:nvSpPr>
        <p:spPr>
          <a:xfrm>
            <a:off x="3615655" y="5931017"/>
            <a:ext cx="5763237" cy="369332"/>
          </a:xfrm>
          <a:prstGeom prst="rect">
            <a:avLst/>
          </a:prstGeom>
          <a:noFill/>
        </p:spPr>
        <p:txBody>
          <a:bodyPr wrap="square" rtlCol="0">
            <a:spAutoFit/>
          </a:bodyPr>
          <a:lstStyle/>
          <a:p>
            <a:pPr algn="ctr"/>
            <a:r>
              <a:rPr lang="en-US" b="1" dirty="0"/>
              <a:t>Fig: Attack Tree</a:t>
            </a:r>
          </a:p>
        </p:txBody>
      </p:sp>
    </p:spTree>
    <p:extLst>
      <p:ext uri="{BB962C8B-B14F-4D97-AF65-F5344CB8AC3E}">
        <p14:creationId xmlns:p14="http://schemas.microsoft.com/office/powerpoint/2010/main" val="3359155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45D53-F2C8-9086-2CEC-9822B5DF7D1A}"/>
              </a:ext>
            </a:extLst>
          </p:cNvPr>
          <p:cNvSpPr>
            <a:spLocks noGrp="1"/>
          </p:cNvSpPr>
          <p:nvPr>
            <p:ph type="title"/>
          </p:nvPr>
        </p:nvSpPr>
        <p:spPr/>
        <p:txBody>
          <a:bodyPr/>
          <a:lstStyle/>
          <a:p>
            <a:r>
              <a:rPr lang="en-US" b="1" dirty="0"/>
              <a:t>1.7 Computer Security Strategy</a:t>
            </a:r>
          </a:p>
        </p:txBody>
      </p:sp>
      <p:sp>
        <p:nvSpPr>
          <p:cNvPr id="3" name="Content Placeholder 2">
            <a:extLst>
              <a:ext uri="{FF2B5EF4-FFF2-40B4-BE49-F238E27FC236}">
                <a16:creationId xmlns:a16="http://schemas.microsoft.com/office/drawing/2014/main" id="{B5BE6C71-CDAF-025C-CDE6-D61D909A3EC5}"/>
              </a:ext>
            </a:extLst>
          </p:cNvPr>
          <p:cNvSpPr>
            <a:spLocks noGrp="1"/>
          </p:cNvSpPr>
          <p:nvPr>
            <p:ph idx="1"/>
          </p:nvPr>
        </p:nvSpPr>
        <p:spPr/>
        <p:txBody>
          <a:bodyPr/>
          <a:lstStyle/>
          <a:p>
            <a:pPr marL="0" indent="0" algn="just">
              <a:lnSpc>
                <a:spcPct val="150000"/>
              </a:lnSpc>
              <a:buNone/>
            </a:pPr>
            <a:r>
              <a:rPr lang="en-US" b="1" dirty="0"/>
              <a:t>A plan that involves selecting and implementing best practices to protect a business from internal and external threats</a:t>
            </a:r>
            <a:r>
              <a:rPr lang="en-US" dirty="0"/>
              <a:t>. This strategy also establishes a baseline for a company's security program which allows it to continuously adapt to emerging threats and risks.</a:t>
            </a:r>
          </a:p>
        </p:txBody>
      </p:sp>
    </p:spTree>
    <p:extLst>
      <p:ext uri="{BB962C8B-B14F-4D97-AF65-F5344CB8AC3E}">
        <p14:creationId xmlns:p14="http://schemas.microsoft.com/office/powerpoint/2010/main" val="3182459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2318-BA0D-0F31-F76E-4995423A6F4C}"/>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285EDC33-B6B9-F945-0C71-17D0D6D22687}"/>
              </a:ext>
            </a:extLst>
          </p:cNvPr>
          <p:cNvSpPr>
            <a:spLocks noGrp="1"/>
          </p:cNvSpPr>
          <p:nvPr>
            <p:ph idx="1"/>
          </p:nvPr>
        </p:nvSpPr>
        <p:spPr/>
        <p:txBody>
          <a:bodyPr/>
          <a:lstStyle/>
          <a:p>
            <a:pPr marL="0" indent="0">
              <a:buNone/>
            </a:pPr>
            <a:r>
              <a:rPr lang="en-US" b="1" dirty="0"/>
              <a:t>Theory:</a:t>
            </a:r>
          </a:p>
          <a:p>
            <a:pPr marL="0" indent="0">
              <a:buNone/>
            </a:pPr>
            <a:endParaRPr lang="en-US" dirty="0"/>
          </a:p>
          <a:p>
            <a:pPr marL="514350" indent="-514350">
              <a:buAutoNum type="alphaLcParenR"/>
            </a:pPr>
            <a:r>
              <a:rPr lang="en-US" dirty="0"/>
              <a:t>What is Information Security? List and briefly define fundamental security design principle.</a:t>
            </a:r>
          </a:p>
          <a:p>
            <a:pPr marL="514350" indent="-514350">
              <a:buAutoNum type="alphaLcParenR"/>
            </a:pPr>
            <a:r>
              <a:rPr lang="en-US" dirty="0"/>
              <a:t>Describe about Attack surface and Attack tree.</a:t>
            </a:r>
          </a:p>
          <a:p>
            <a:pPr marL="514350" indent="-514350">
              <a:buAutoNum type="alphaLcParenR"/>
            </a:pPr>
            <a:r>
              <a:rPr lang="en-US" dirty="0"/>
              <a:t>Explain three principles of Information Security.</a:t>
            </a:r>
          </a:p>
          <a:p>
            <a:pPr marL="0" indent="0">
              <a:buNone/>
            </a:pPr>
            <a:r>
              <a:rPr lang="en-US" dirty="0"/>
              <a:t>                              or </a:t>
            </a:r>
          </a:p>
          <a:p>
            <a:pPr marL="0" indent="0">
              <a:buNone/>
            </a:pPr>
            <a:r>
              <a:rPr lang="en-US" dirty="0"/>
              <a:t>      Explain about CIA Triad.</a:t>
            </a:r>
          </a:p>
          <a:p>
            <a:pPr marL="514350" indent="-514350">
              <a:buAutoNum type="alphaLcParenR"/>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75602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TotalTime>
  <Words>2016</Words>
  <Application>Microsoft Office PowerPoint</Application>
  <PresentationFormat>Widescreen</PresentationFormat>
  <Paragraphs>129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Wingdings</vt:lpstr>
      <vt:lpstr>Office Theme</vt:lpstr>
      <vt:lpstr>Information Security</vt:lpstr>
      <vt:lpstr>Unit 1  Overview of Computer Security</vt:lpstr>
      <vt:lpstr>Unit 1  1.1 Computer Security Concepts</vt:lpstr>
      <vt:lpstr>PowerPoint Presentation</vt:lpstr>
      <vt:lpstr>PowerPoint Presentation</vt:lpstr>
      <vt:lpstr>1.2 Computer Security, Network Security and Information Security</vt:lpstr>
      <vt:lpstr>Security Breaches Terminology</vt:lpstr>
      <vt:lpstr>1.2 Threats, Attacks and Assets</vt:lpstr>
      <vt:lpstr>1.2 Threats, Attacks and Assets</vt:lpstr>
      <vt:lpstr>1.2 Threats, Attacks and Assets</vt:lpstr>
      <vt:lpstr>1.4 Security Requirements</vt:lpstr>
      <vt:lpstr>1.4 Security Requirements</vt:lpstr>
      <vt:lpstr>1.4 Security Requirements</vt:lpstr>
      <vt:lpstr>1.4 Security Requirements</vt:lpstr>
      <vt:lpstr>1.5 Security Design Principles</vt:lpstr>
      <vt:lpstr>1.5 Security Design Principles</vt:lpstr>
      <vt:lpstr>PowerPoint Presentation</vt:lpstr>
      <vt:lpstr>1.5 Security Design Principles</vt:lpstr>
      <vt:lpstr>1.5 Security Design Principles</vt:lpstr>
      <vt:lpstr>1.5 Security Design Principles</vt:lpstr>
      <vt:lpstr>1.5 Security Design Principles</vt:lpstr>
      <vt:lpstr>1.5 Security Design Principles</vt:lpstr>
      <vt:lpstr>1.5 Security Design Principles</vt:lpstr>
      <vt:lpstr>1.6 Attack Surfaces and Attack Trees</vt:lpstr>
      <vt:lpstr>1.6 Attack Surfaces and Attack Trees</vt:lpstr>
      <vt:lpstr>1.6 Attack Surfaces and Attack Trees</vt:lpstr>
      <vt:lpstr>1.6 Attack Surfaces and Attack Trees</vt:lpstr>
      <vt:lpstr>1.7 Computer Security Strategy</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dc:title>
  <dc:creator>Govinda Gautam</dc:creator>
  <cp:lastModifiedBy>Govinda Gautam</cp:lastModifiedBy>
  <cp:revision>70</cp:revision>
  <dcterms:created xsi:type="dcterms:W3CDTF">2023-04-03T15:28:13Z</dcterms:created>
  <dcterms:modified xsi:type="dcterms:W3CDTF">2023-04-08T16:15:15Z</dcterms:modified>
</cp:coreProperties>
</file>