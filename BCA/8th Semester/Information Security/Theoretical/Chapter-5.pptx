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8" r:id="rId18"/>
    <p:sldId id="279" r:id="rId19"/>
    <p:sldId id="280" r:id="rId20"/>
    <p:sldId id="277" r:id="rId21"/>
    <p:sldId id="281" r:id="rId22"/>
    <p:sldId id="272" r:id="rId23"/>
    <p:sldId id="282" r:id="rId24"/>
    <p:sldId id="283" r:id="rId25"/>
    <p:sldId id="284" r:id="rId26"/>
    <p:sldId id="285" r:id="rId27"/>
    <p:sldId id="273" r:id="rId28"/>
    <p:sldId id="286" r:id="rId29"/>
    <p:sldId id="287" r:id="rId30"/>
    <p:sldId id="288" r:id="rId31"/>
    <p:sldId id="289" r:id="rId32"/>
    <p:sldId id="274" r:id="rId33"/>
    <p:sldId id="290" r:id="rId34"/>
    <p:sldId id="291" r:id="rId35"/>
    <p:sldId id="292" r:id="rId36"/>
    <p:sldId id="275" r:id="rId37"/>
    <p:sldId id="293" r:id="rId38"/>
    <p:sldId id="276"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79" d="100"/>
          <a:sy n="79" d="100"/>
        </p:scale>
        <p:origin x="802"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BADF5-5A5B-111F-383C-D508BCF83A2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AA33388-14F5-E841-D9A5-09CE5E334E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28825EB-E123-5101-5250-B8EA29EDA10F}"/>
              </a:ext>
            </a:extLst>
          </p:cNvPr>
          <p:cNvSpPr>
            <a:spLocks noGrp="1"/>
          </p:cNvSpPr>
          <p:nvPr>
            <p:ph type="dt" sz="half" idx="10"/>
          </p:nvPr>
        </p:nvSpPr>
        <p:spPr/>
        <p:txBody>
          <a:bodyPr/>
          <a:lstStyle/>
          <a:p>
            <a:fld id="{B8D99D9D-0C42-45FA-B086-8A2DED29DEDD}" type="datetimeFigureOut">
              <a:rPr lang="en-US" smtClean="0"/>
              <a:t>7/5/2024</a:t>
            </a:fld>
            <a:endParaRPr lang="en-US"/>
          </a:p>
        </p:txBody>
      </p:sp>
      <p:sp>
        <p:nvSpPr>
          <p:cNvPr id="5" name="Footer Placeholder 4">
            <a:extLst>
              <a:ext uri="{FF2B5EF4-FFF2-40B4-BE49-F238E27FC236}">
                <a16:creationId xmlns:a16="http://schemas.microsoft.com/office/drawing/2014/main" id="{8C1CDFF8-9E4A-8680-ED88-CD7515117B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2BF30B-E83E-B168-1C6C-2250767B088F}"/>
              </a:ext>
            </a:extLst>
          </p:cNvPr>
          <p:cNvSpPr>
            <a:spLocks noGrp="1"/>
          </p:cNvSpPr>
          <p:nvPr>
            <p:ph type="sldNum" sz="quarter" idx="12"/>
          </p:nvPr>
        </p:nvSpPr>
        <p:spPr/>
        <p:txBody>
          <a:bodyPr/>
          <a:lstStyle/>
          <a:p>
            <a:fld id="{25431534-C123-4DBF-B273-7BF90B9153C1}" type="slidenum">
              <a:rPr lang="en-US" smtClean="0"/>
              <a:t>‹#›</a:t>
            </a:fld>
            <a:endParaRPr lang="en-US"/>
          </a:p>
        </p:txBody>
      </p:sp>
    </p:spTree>
    <p:extLst>
      <p:ext uri="{BB962C8B-B14F-4D97-AF65-F5344CB8AC3E}">
        <p14:creationId xmlns:p14="http://schemas.microsoft.com/office/powerpoint/2010/main" val="2301270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21A92-3336-0E7D-BF9E-ECBBCF3DD4B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9C762C0-0EAD-BF44-BDA6-E0F09C6570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0274D7-853B-9CA0-4058-E7F1038A7ED8}"/>
              </a:ext>
            </a:extLst>
          </p:cNvPr>
          <p:cNvSpPr>
            <a:spLocks noGrp="1"/>
          </p:cNvSpPr>
          <p:nvPr>
            <p:ph type="dt" sz="half" idx="10"/>
          </p:nvPr>
        </p:nvSpPr>
        <p:spPr/>
        <p:txBody>
          <a:bodyPr/>
          <a:lstStyle/>
          <a:p>
            <a:fld id="{B8D99D9D-0C42-45FA-B086-8A2DED29DEDD}" type="datetimeFigureOut">
              <a:rPr lang="en-US" smtClean="0"/>
              <a:t>7/5/2024</a:t>
            </a:fld>
            <a:endParaRPr lang="en-US"/>
          </a:p>
        </p:txBody>
      </p:sp>
      <p:sp>
        <p:nvSpPr>
          <p:cNvPr id="5" name="Footer Placeholder 4">
            <a:extLst>
              <a:ext uri="{FF2B5EF4-FFF2-40B4-BE49-F238E27FC236}">
                <a16:creationId xmlns:a16="http://schemas.microsoft.com/office/drawing/2014/main" id="{A3F4F17C-81EA-5C6D-B4F8-828454184C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FF88C7-BC51-A812-9AD7-332EFA404415}"/>
              </a:ext>
            </a:extLst>
          </p:cNvPr>
          <p:cNvSpPr>
            <a:spLocks noGrp="1"/>
          </p:cNvSpPr>
          <p:nvPr>
            <p:ph type="sldNum" sz="quarter" idx="12"/>
          </p:nvPr>
        </p:nvSpPr>
        <p:spPr/>
        <p:txBody>
          <a:bodyPr/>
          <a:lstStyle/>
          <a:p>
            <a:fld id="{25431534-C123-4DBF-B273-7BF90B9153C1}" type="slidenum">
              <a:rPr lang="en-US" smtClean="0"/>
              <a:t>‹#›</a:t>
            </a:fld>
            <a:endParaRPr lang="en-US"/>
          </a:p>
        </p:txBody>
      </p:sp>
    </p:spTree>
    <p:extLst>
      <p:ext uri="{BB962C8B-B14F-4D97-AF65-F5344CB8AC3E}">
        <p14:creationId xmlns:p14="http://schemas.microsoft.com/office/powerpoint/2010/main" val="3947158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0DFDE-445A-8532-1161-402BE7F8B72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35541BB-36BC-D890-C4CF-FAEB8193703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F057CB-A56F-C3FD-5732-C73A4E11996E}"/>
              </a:ext>
            </a:extLst>
          </p:cNvPr>
          <p:cNvSpPr>
            <a:spLocks noGrp="1"/>
          </p:cNvSpPr>
          <p:nvPr>
            <p:ph type="dt" sz="half" idx="10"/>
          </p:nvPr>
        </p:nvSpPr>
        <p:spPr/>
        <p:txBody>
          <a:bodyPr/>
          <a:lstStyle/>
          <a:p>
            <a:fld id="{B8D99D9D-0C42-45FA-B086-8A2DED29DEDD}" type="datetimeFigureOut">
              <a:rPr lang="en-US" smtClean="0"/>
              <a:t>7/5/2024</a:t>
            </a:fld>
            <a:endParaRPr lang="en-US"/>
          </a:p>
        </p:txBody>
      </p:sp>
      <p:sp>
        <p:nvSpPr>
          <p:cNvPr id="5" name="Footer Placeholder 4">
            <a:extLst>
              <a:ext uri="{FF2B5EF4-FFF2-40B4-BE49-F238E27FC236}">
                <a16:creationId xmlns:a16="http://schemas.microsoft.com/office/drawing/2014/main" id="{E30FD4A6-680E-9118-8A48-247CFFBBE8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BF4E23-772F-4EAD-0D5F-8558813D98B6}"/>
              </a:ext>
            </a:extLst>
          </p:cNvPr>
          <p:cNvSpPr>
            <a:spLocks noGrp="1"/>
          </p:cNvSpPr>
          <p:nvPr>
            <p:ph type="sldNum" sz="quarter" idx="12"/>
          </p:nvPr>
        </p:nvSpPr>
        <p:spPr/>
        <p:txBody>
          <a:bodyPr/>
          <a:lstStyle/>
          <a:p>
            <a:fld id="{25431534-C123-4DBF-B273-7BF90B9153C1}" type="slidenum">
              <a:rPr lang="en-US" smtClean="0"/>
              <a:t>‹#›</a:t>
            </a:fld>
            <a:endParaRPr lang="en-US"/>
          </a:p>
        </p:txBody>
      </p:sp>
    </p:spTree>
    <p:extLst>
      <p:ext uri="{BB962C8B-B14F-4D97-AF65-F5344CB8AC3E}">
        <p14:creationId xmlns:p14="http://schemas.microsoft.com/office/powerpoint/2010/main" val="1004585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9F7DB-9250-B05A-018D-15A1104795F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1A09886-3145-61F4-3787-442EAD5765C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9A4A0CD-3D2C-9C45-04E1-29F70E2C223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430D3F8-05A0-643C-11DB-F5DC42BC0F2F}"/>
              </a:ext>
            </a:extLst>
          </p:cNvPr>
          <p:cNvSpPr>
            <a:spLocks noGrp="1"/>
          </p:cNvSpPr>
          <p:nvPr>
            <p:ph type="dt" sz="half" idx="10"/>
          </p:nvPr>
        </p:nvSpPr>
        <p:spPr/>
        <p:txBody>
          <a:bodyPr/>
          <a:lstStyle/>
          <a:p>
            <a:fld id="{B8D99D9D-0C42-45FA-B086-8A2DED29DEDD}" type="datetimeFigureOut">
              <a:rPr lang="en-US" smtClean="0"/>
              <a:t>7/5/2024</a:t>
            </a:fld>
            <a:endParaRPr lang="en-US"/>
          </a:p>
        </p:txBody>
      </p:sp>
      <p:sp>
        <p:nvSpPr>
          <p:cNvPr id="6" name="Footer Placeholder 5">
            <a:extLst>
              <a:ext uri="{FF2B5EF4-FFF2-40B4-BE49-F238E27FC236}">
                <a16:creationId xmlns:a16="http://schemas.microsoft.com/office/drawing/2014/main" id="{9A3A3173-D50D-EDA8-3AB8-FEE063EB4D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80E473-345E-23E0-4669-15589EFD5F49}"/>
              </a:ext>
            </a:extLst>
          </p:cNvPr>
          <p:cNvSpPr>
            <a:spLocks noGrp="1"/>
          </p:cNvSpPr>
          <p:nvPr>
            <p:ph type="sldNum" sz="quarter" idx="12"/>
          </p:nvPr>
        </p:nvSpPr>
        <p:spPr/>
        <p:txBody>
          <a:bodyPr/>
          <a:lstStyle/>
          <a:p>
            <a:fld id="{25431534-C123-4DBF-B273-7BF90B9153C1}" type="slidenum">
              <a:rPr lang="en-US" smtClean="0"/>
              <a:t>‹#›</a:t>
            </a:fld>
            <a:endParaRPr lang="en-US"/>
          </a:p>
        </p:txBody>
      </p:sp>
    </p:spTree>
    <p:extLst>
      <p:ext uri="{BB962C8B-B14F-4D97-AF65-F5344CB8AC3E}">
        <p14:creationId xmlns:p14="http://schemas.microsoft.com/office/powerpoint/2010/main" val="4772299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FE5C1-49E8-C300-6F93-09EBF0CEABB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A22D295-67F8-2C38-AF0C-8F67EB4943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90AC930-DB3F-F595-79B4-DC2BAB365FA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2996259-AD21-4B66-3926-DF3EF13408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F161B40-CEE1-7E74-CFB9-3F0F31B0C27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71C302D-5B45-721E-A653-5BDC63466266}"/>
              </a:ext>
            </a:extLst>
          </p:cNvPr>
          <p:cNvSpPr>
            <a:spLocks noGrp="1"/>
          </p:cNvSpPr>
          <p:nvPr>
            <p:ph type="dt" sz="half" idx="10"/>
          </p:nvPr>
        </p:nvSpPr>
        <p:spPr/>
        <p:txBody>
          <a:bodyPr/>
          <a:lstStyle/>
          <a:p>
            <a:fld id="{B8D99D9D-0C42-45FA-B086-8A2DED29DEDD}" type="datetimeFigureOut">
              <a:rPr lang="en-US" smtClean="0"/>
              <a:t>7/5/2024</a:t>
            </a:fld>
            <a:endParaRPr lang="en-US"/>
          </a:p>
        </p:txBody>
      </p:sp>
      <p:sp>
        <p:nvSpPr>
          <p:cNvPr id="8" name="Footer Placeholder 7">
            <a:extLst>
              <a:ext uri="{FF2B5EF4-FFF2-40B4-BE49-F238E27FC236}">
                <a16:creationId xmlns:a16="http://schemas.microsoft.com/office/drawing/2014/main" id="{FB1C2E49-07B1-2F30-C426-1A6C18D9B9E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6F6B7D6-F284-31FB-1BDE-1356DBFAC846}"/>
              </a:ext>
            </a:extLst>
          </p:cNvPr>
          <p:cNvSpPr>
            <a:spLocks noGrp="1"/>
          </p:cNvSpPr>
          <p:nvPr>
            <p:ph type="sldNum" sz="quarter" idx="12"/>
          </p:nvPr>
        </p:nvSpPr>
        <p:spPr/>
        <p:txBody>
          <a:bodyPr/>
          <a:lstStyle/>
          <a:p>
            <a:fld id="{25431534-C123-4DBF-B273-7BF90B9153C1}" type="slidenum">
              <a:rPr lang="en-US" smtClean="0"/>
              <a:t>‹#›</a:t>
            </a:fld>
            <a:endParaRPr lang="en-US"/>
          </a:p>
        </p:txBody>
      </p:sp>
    </p:spTree>
    <p:extLst>
      <p:ext uri="{BB962C8B-B14F-4D97-AF65-F5344CB8AC3E}">
        <p14:creationId xmlns:p14="http://schemas.microsoft.com/office/powerpoint/2010/main" val="3239255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A69FB-79C7-A4E1-E3E2-A8479A1C003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18A3259-C6EE-D29B-DA2F-7B6D89D73D97}"/>
              </a:ext>
            </a:extLst>
          </p:cNvPr>
          <p:cNvSpPr>
            <a:spLocks noGrp="1"/>
          </p:cNvSpPr>
          <p:nvPr>
            <p:ph type="dt" sz="half" idx="10"/>
          </p:nvPr>
        </p:nvSpPr>
        <p:spPr/>
        <p:txBody>
          <a:bodyPr/>
          <a:lstStyle/>
          <a:p>
            <a:fld id="{B8D99D9D-0C42-45FA-B086-8A2DED29DEDD}" type="datetimeFigureOut">
              <a:rPr lang="en-US" smtClean="0"/>
              <a:t>7/5/2024</a:t>
            </a:fld>
            <a:endParaRPr lang="en-US"/>
          </a:p>
        </p:txBody>
      </p:sp>
      <p:sp>
        <p:nvSpPr>
          <p:cNvPr id="4" name="Footer Placeholder 3">
            <a:extLst>
              <a:ext uri="{FF2B5EF4-FFF2-40B4-BE49-F238E27FC236}">
                <a16:creationId xmlns:a16="http://schemas.microsoft.com/office/drawing/2014/main" id="{4760E0C1-CD34-5502-0F69-0C5F4F94069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E35FFD-7BE6-5335-B59A-BEBD862D8B0D}"/>
              </a:ext>
            </a:extLst>
          </p:cNvPr>
          <p:cNvSpPr>
            <a:spLocks noGrp="1"/>
          </p:cNvSpPr>
          <p:nvPr>
            <p:ph type="sldNum" sz="quarter" idx="12"/>
          </p:nvPr>
        </p:nvSpPr>
        <p:spPr/>
        <p:txBody>
          <a:bodyPr/>
          <a:lstStyle/>
          <a:p>
            <a:fld id="{25431534-C123-4DBF-B273-7BF90B9153C1}" type="slidenum">
              <a:rPr lang="en-US" smtClean="0"/>
              <a:t>‹#›</a:t>
            </a:fld>
            <a:endParaRPr lang="en-US"/>
          </a:p>
        </p:txBody>
      </p:sp>
    </p:spTree>
    <p:extLst>
      <p:ext uri="{BB962C8B-B14F-4D97-AF65-F5344CB8AC3E}">
        <p14:creationId xmlns:p14="http://schemas.microsoft.com/office/powerpoint/2010/main" val="2550131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38809A-9436-DF39-4C01-82D027FD99B5}"/>
              </a:ext>
            </a:extLst>
          </p:cNvPr>
          <p:cNvSpPr>
            <a:spLocks noGrp="1"/>
          </p:cNvSpPr>
          <p:nvPr>
            <p:ph type="dt" sz="half" idx="10"/>
          </p:nvPr>
        </p:nvSpPr>
        <p:spPr/>
        <p:txBody>
          <a:bodyPr/>
          <a:lstStyle/>
          <a:p>
            <a:fld id="{B8D99D9D-0C42-45FA-B086-8A2DED29DEDD}" type="datetimeFigureOut">
              <a:rPr lang="en-US" smtClean="0"/>
              <a:t>7/5/2024</a:t>
            </a:fld>
            <a:endParaRPr lang="en-US"/>
          </a:p>
        </p:txBody>
      </p:sp>
      <p:sp>
        <p:nvSpPr>
          <p:cNvPr id="3" name="Footer Placeholder 2">
            <a:extLst>
              <a:ext uri="{FF2B5EF4-FFF2-40B4-BE49-F238E27FC236}">
                <a16:creationId xmlns:a16="http://schemas.microsoft.com/office/drawing/2014/main" id="{A1ACAAF4-5172-4A08-AF2C-04E7AD996DD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DD1C723-8AE3-EC71-4739-C1A3D4B18A6C}"/>
              </a:ext>
            </a:extLst>
          </p:cNvPr>
          <p:cNvSpPr>
            <a:spLocks noGrp="1"/>
          </p:cNvSpPr>
          <p:nvPr>
            <p:ph type="sldNum" sz="quarter" idx="12"/>
          </p:nvPr>
        </p:nvSpPr>
        <p:spPr/>
        <p:txBody>
          <a:bodyPr/>
          <a:lstStyle/>
          <a:p>
            <a:fld id="{25431534-C123-4DBF-B273-7BF90B9153C1}" type="slidenum">
              <a:rPr lang="en-US" smtClean="0"/>
              <a:t>‹#›</a:t>
            </a:fld>
            <a:endParaRPr lang="en-US"/>
          </a:p>
        </p:txBody>
      </p:sp>
    </p:spTree>
    <p:extLst>
      <p:ext uri="{BB962C8B-B14F-4D97-AF65-F5344CB8AC3E}">
        <p14:creationId xmlns:p14="http://schemas.microsoft.com/office/powerpoint/2010/main" val="620728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E657D-4244-C271-1056-86F0D29FB0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AB43C58-5237-F398-2723-8E9F7AC0C5F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CEEBEC5-F4FB-EA11-52DB-E45A7080CC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832ECE-2C13-EE89-F1D2-2BEFB39C834D}"/>
              </a:ext>
            </a:extLst>
          </p:cNvPr>
          <p:cNvSpPr>
            <a:spLocks noGrp="1"/>
          </p:cNvSpPr>
          <p:nvPr>
            <p:ph type="dt" sz="half" idx="10"/>
          </p:nvPr>
        </p:nvSpPr>
        <p:spPr/>
        <p:txBody>
          <a:bodyPr/>
          <a:lstStyle/>
          <a:p>
            <a:fld id="{B8D99D9D-0C42-45FA-B086-8A2DED29DEDD}" type="datetimeFigureOut">
              <a:rPr lang="en-US" smtClean="0"/>
              <a:t>7/5/2024</a:t>
            </a:fld>
            <a:endParaRPr lang="en-US"/>
          </a:p>
        </p:txBody>
      </p:sp>
      <p:sp>
        <p:nvSpPr>
          <p:cNvPr id="6" name="Footer Placeholder 5">
            <a:extLst>
              <a:ext uri="{FF2B5EF4-FFF2-40B4-BE49-F238E27FC236}">
                <a16:creationId xmlns:a16="http://schemas.microsoft.com/office/drawing/2014/main" id="{9C37F59A-6415-92B9-C936-B6FCE2C754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DEB25A-65B6-1344-A8CD-A36969A99FF1}"/>
              </a:ext>
            </a:extLst>
          </p:cNvPr>
          <p:cNvSpPr>
            <a:spLocks noGrp="1"/>
          </p:cNvSpPr>
          <p:nvPr>
            <p:ph type="sldNum" sz="quarter" idx="12"/>
          </p:nvPr>
        </p:nvSpPr>
        <p:spPr/>
        <p:txBody>
          <a:bodyPr/>
          <a:lstStyle/>
          <a:p>
            <a:fld id="{25431534-C123-4DBF-B273-7BF90B9153C1}" type="slidenum">
              <a:rPr lang="en-US" smtClean="0"/>
              <a:t>‹#›</a:t>
            </a:fld>
            <a:endParaRPr lang="en-US"/>
          </a:p>
        </p:txBody>
      </p:sp>
    </p:spTree>
    <p:extLst>
      <p:ext uri="{BB962C8B-B14F-4D97-AF65-F5344CB8AC3E}">
        <p14:creationId xmlns:p14="http://schemas.microsoft.com/office/powerpoint/2010/main" val="35016014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17177-D33D-2EFE-17A0-954EE4312C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790DE76-4481-79D3-0879-8CE4188E61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52EAB72-E850-628C-4BBF-5CB5B644E0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A3323B-0481-6D98-08C9-9D233CCBE702}"/>
              </a:ext>
            </a:extLst>
          </p:cNvPr>
          <p:cNvSpPr>
            <a:spLocks noGrp="1"/>
          </p:cNvSpPr>
          <p:nvPr>
            <p:ph type="dt" sz="half" idx="10"/>
          </p:nvPr>
        </p:nvSpPr>
        <p:spPr/>
        <p:txBody>
          <a:bodyPr/>
          <a:lstStyle/>
          <a:p>
            <a:fld id="{B8D99D9D-0C42-45FA-B086-8A2DED29DEDD}" type="datetimeFigureOut">
              <a:rPr lang="en-US" smtClean="0"/>
              <a:t>7/5/2024</a:t>
            </a:fld>
            <a:endParaRPr lang="en-US"/>
          </a:p>
        </p:txBody>
      </p:sp>
      <p:sp>
        <p:nvSpPr>
          <p:cNvPr id="6" name="Footer Placeholder 5">
            <a:extLst>
              <a:ext uri="{FF2B5EF4-FFF2-40B4-BE49-F238E27FC236}">
                <a16:creationId xmlns:a16="http://schemas.microsoft.com/office/drawing/2014/main" id="{97CA7AD4-039A-BA99-68D7-89FE5063AA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ECE3CD-6F37-E7C4-3E68-CA4CD0A9CADB}"/>
              </a:ext>
            </a:extLst>
          </p:cNvPr>
          <p:cNvSpPr>
            <a:spLocks noGrp="1"/>
          </p:cNvSpPr>
          <p:nvPr>
            <p:ph type="sldNum" sz="quarter" idx="12"/>
          </p:nvPr>
        </p:nvSpPr>
        <p:spPr/>
        <p:txBody>
          <a:bodyPr/>
          <a:lstStyle/>
          <a:p>
            <a:fld id="{25431534-C123-4DBF-B273-7BF90B9153C1}" type="slidenum">
              <a:rPr lang="en-US" smtClean="0"/>
              <a:t>‹#›</a:t>
            </a:fld>
            <a:endParaRPr lang="en-US"/>
          </a:p>
        </p:txBody>
      </p:sp>
    </p:spTree>
    <p:extLst>
      <p:ext uri="{BB962C8B-B14F-4D97-AF65-F5344CB8AC3E}">
        <p14:creationId xmlns:p14="http://schemas.microsoft.com/office/powerpoint/2010/main" val="25655810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5E42C-C3C1-C735-2AA3-9E21A9F4637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464AF9A-51B2-5FF9-299A-F52ADBB2D39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F54D0B-1C99-1CD8-F679-639D8FEA2856}"/>
              </a:ext>
            </a:extLst>
          </p:cNvPr>
          <p:cNvSpPr>
            <a:spLocks noGrp="1"/>
          </p:cNvSpPr>
          <p:nvPr>
            <p:ph type="dt" sz="half" idx="10"/>
          </p:nvPr>
        </p:nvSpPr>
        <p:spPr/>
        <p:txBody>
          <a:bodyPr/>
          <a:lstStyle/>
          <a:p>
            <a:fld id="{B8D99D9D-0C42-45FA-B086-8A2DED29DEDD}" type="datetimeFigureOut">
              <a:rPr lang="en-US" smtClean="0"/>
              <a:t>7/5/2024</a:t>
            </a:fld>
            <a:endParaRPr lang="en-US"/>
          </a:p>
        </p:txBody>
      </p:sp>
      <p:sp>
        <p:nvSpPr>
          <p:cNvPr id="5" name="Footer Placeholder 4">
            <a:extLst>
              <a:ext uri="{FF2B5EF4-FFF2-40B4-BE49-F238E27FC236}">
                <a16:creationId xmlns:a16="http://schemas.microsoft.com/office/drawing/2014/main" id="{FA684DA5-498B-B947-025C-64F0F624AD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AB002F-09B7-7004-3E79-7F38C8E84694}"/>
              </a:ext>
            </a:extLst>
          </p:cNvPr>
          <p:cNvSpPr>
            <a:spLocks noGrp="1"/>
          </p:cNvSpPr>
          <p:nvPr>
            <p:ph type="sldNum" sz="quarter" idx="12"/>
          </p:nvPr>
        </p:nvSpPr>
        <p:spPr/>
        <p:txBody>
          <a:bodyPr/>
          <a:lstStyle/>
          <a:p>
            <a:fld id="{25431534-C123-4DBF-B273-7BF90B9153C1}" type="slidenum">
              <a:rPr lang="en-US" smtClean="0"/>
              <a:t>‹#›</a:t>
            </a:fld>
            <a:endParaRPr lang="en-US"/>
          </a:p>
        </p:txBody>
      </p:sp>
    </p:spTree>
    <p:extLst>
      <p:ext uri="{BB962C8B-B14F-4D97-AF65-F5344CB8AC3E}">
        <p14:creationId xmlns:p14="http://schemas.microsoft.com/office/powerpoint/2010/main" val="42192730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EE0510C-D7A8-2DE9-DF52-8942CF2B18F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A20E571-45E8-7EE5-6854-60BE6126529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F87CB9-8574-95C0-484D-0D1074CBAF94}"/>
              </a:ext>
            </a:extLst>
          </p:cNvPr>
          <p:cNvSpPr>
            <a:spLocks noGrp="1"/>
          </p:cNvSpPr>
          <p:nvPr>
            <p:ph type="dt" sz="half" idx="10"/>
          </p:nvPr>
        </p:nvSpPr>
        <p:spPr/>
        <p:txBody>
          <a:bodyPr/>
          <a:lstStyle/>
          <a:p>
            <a:fld id="{B8D99D9D-0C42-45FA-B086-8A2DED29DEDD}" type="datetimeFigureOut">
              <a:rPr lang="en-US" smtClean="0"/>
              <a:t>7/5/2024</a:t>
            </a:fld>
            <a:endParaRPr lang="en-US"/>
          </a:p>
        </p:txBody>
      </p:sp>
      <p:sp>
        <p:nvSpPr>
          <p:cNvPr id="5" name="Footer Placeholder 4">
            <a:extLst>
              <a:ext uri="{FF2B5EF4-FFF2-40B4-BE49-F238E27FC236}">
                <a16:creationId xmlns:a16="http://schemas.microsoft.com/office/drawing/2014/main" id="{29E875A4-A771-FD81-F749-5E4BE42585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3B32DF-97A6-2C7B-BC3F-CC1C0D33C628}"/>
              </a:ext>
            </a:extLst>
          </p:cNvPr>
          <p:cNvSpPr>
            <a:spLocks noGrp="1"/>
          </p:cNvSpPr>
          <p:nvPr>
            <p:ph type="sldNum" sz="quarter" idx="12"/>
          </p:nvPr>
        </p:nvSpPr>
        <p:spPr/>
        <p:txBody>
          <a:bodyPr/>
          <a:lstStyle/>
          <a:p>
            <a:fld id="{25431534-C123-4DBF-B273-7BF90B9153C1}" type="slidenum">
              <a:rPr lang="en-US" smtClean="0"/>
              <a:t>‹#›</a:t>
            </a:fld>
            <a:endParaRPr lang="en-US"/>
          </a:p>
        </p:txBody>
      </p:sp>
    </p:spTree>
    <p:extLst>
      <p:ext uri="{BB962C8B-B14F-4D97-AF65-F5344CB8AC3E}">
        <p14:creationId xmlns:p14="http://schemas.microsoft.com/office/powerpoint/2010/main" val="379840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F6C274B-0488-6495-7299-27F40EDB1E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DA83C8-24F9-494A-1F37-84C08CC508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6BF046-3A52-F44F-C6E5-3128962360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D99D9D-0C42-45FA-B086-8A2DED29DEDD}" type="datetimeFigureOut">
              <a:rPr lang="en-US" smtClean="0"/>
              <a:t>7/5/2024</a:t>
            </a:fld>
            <a:endParaRPr lang="en-US"/>
          </a:p>
        </p:txBody>
      </p:sp>
      <p:sp>
        <p:nvSpPr>
          <p:cNvPr id="5" name="Footer Placeholder 4">
            <a:extLst>
              <a:ext uri="{FF2B5EF4-FFF2-40B4-BE49-F238E27FC236}">
                <a16:creationId xmlns:a16="http://schemas.microsoft.com/office/drawing/2014/main" id="{45CD9F79-2143-5B27-8CC6-99EDD29846F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F58A2E2-C328-0851-938F-BB45E7A00C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431534-C123-4DBF-B273-7BF90B9153C1}" type="slidenum">
              <a:rPr lang="en-US" smtClean="0"/>
              <a:t>‹#›</a:t>
            </a:fld>
            <a:endParaRPr lang="en-US"/>
          </a:p>
        </p:txBody>
      </p:sp>
    </p:spTree>
    <p:extLst>
      <p:ext uri="{BB962C8B-B14F-4D97-AF65-F5344CB8AC3E}">
        <p14:creationId xmlns:p14="http://schemas.microsoft.com/office/powerpoint/2010/main" val="40239168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7175E-8F0F-086A-8C33-E19BB56F34C6}"/>
              </a:ext>
            </a:extLst>
          </p:cNvPr>
          <p:cNvSpPr>
            <a:spLocks noGrp="1"/>
          </p:cNvSpPr>
          <p:nvPr>
            <p:ph type="ctrTitle"/>
          </p:nvPr>
        </p:nvSpPr>
        <p:spPr>
          <a:xfrm>
            <a:off x="1524000" y="1141819"/>
            <a:ext cx="7004180" cy="697106"/>
          </a:xfrm>
        </p:spPr>
        <p:txBody>
          <a:bodyPr>
            <a:normAutofit fontScale="90000"/>
          </a:bodyPr>
          <a:lstStyle/>
          <a:p>
            <a:r>
              <a:rPr lang="en-US" b="1" dirty="0"/>
              <a:t>Unit 5 Access Control</a:t>
            </a:r>
          </a:p>
        </p:txBody>
      </p:sp>
      <p:sp>
        <p:nvSpPr>
          <p:cNvPr id="3" name="Subtitle 2">
            <a:extLst>
              <a:ext uri="{FF2B5EF4-FFF2-40B4-BE49-F238E27FC236}">
                <a16:creationId xmlns:a16="http://schemas.microsoft.com/office/drawing/2014/main" id="{E2DCD08A-ACE7-F567-992E-873F71F51F3A}"/>
              </a:ext>
            </a:extLst>
          </p:cNvPr>
          <p:cNvSpPr>
            <a:spLocks noGrp="1"/>
          </p:cNvSpPr>
          <p:nvPr>
            <p:ph type="subTitle" idx="1"/>
          </p:nvPr>
        </p:nvSpPr>
        <p:spPr/>
        <p:txBody>
          <a:bodyPr/>
          <a:lstStyle/>
          <a:p>
            <a:endParaRPr lang="en-US"/>
          </a:p>
        </p:txBody>
      </p:sp>
      <p:pic>
        <p:nvPicPr>
          <p:cNvPr id="5" name="Picture 4">
            <a:extLst>
              <a:ext uri="{FF2B5EF4-FFF2-40B4-BE49-F238E27FC236}">
                <a16:creationId xmlns:a16="http://schemas.microsoft.com/office/drawing/2014/main" id="{12C72142-AB1E-DB2A-9531-D1FDDA704CD9}"/>
              </a:ext>
            </a:extLst>
          </p:cNvPr>
          <p:cNvPicPr>
            <a:picLocks noChangeAspect="1"/>
          </p:cNvPicPr>
          <p:nvPr/>
        </p:nvPicPr>
        <p:blipFill>
          <a:blip r:embed="rId2"/>
          <a:stretch>
            <a:fillRect/>
          </a:stretch>
        </p:blipFill>
        <p:spPr>
          <a:xfrm>
            <a:off x="2572625" y="2206495"/>
            <a:ext cx="7737702" cy="3274079"/>
          </a:xfrm>
          <a:prstGeom prst="rect">
            <a:avLst/>
          </a:prstGeom>
        </p:spPr>
      </p:pic>
    </p:spTree>
    <p:extLst>
      <p:ext uri="{BB962C8B-B14F-4D97-AF65-F5344CB8AC3E}">
        <p14:creationId xmlns:p14="http://schemas.microsoft.com/office/powerpoint/2010/main" val="32531102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71AA-4776-26B5-9003-62C83D973D50}"/>
              </a:ext>
            </a:extLst>
          </p:cNvPr>
          <p:cNvSpPr>
            <a:spLocks noGrp="1"/>
          </p:cNvSpPr>
          <p:nvPr>
            <p:ph type="title"/>
          </p:nvPr>
        </p:nvSpPr>
        <p:spPr/>
        <p:txBody>
          <a:bodyPr/>
          <a:lstStyle/>
          <a:p>
            <a:r>
              <a:rPr lang="en-US" b="1" dirty="0"/>
              <a:t>Access Control</a:t>
            </a:r>
          </a:p>
        </p:txBody>
      </p:sp>
      <p:sp>
        <p:nvSpPr>
          <p:cNvPr id="3" name="Content Placeholder 2">
            <a:extLst>
              <a:ext uri="{FF2B5EF4-FFF2-40B4-BE49-F238E27FC236}">
                <a16:creationId xmlns:a16="http://schemas.microsoft.com/office/drawing/2014/main" id="{A8187B11-6A21-24FF-BD14-AD2640B9E159}"/>
              </a:ext>
            </a:extLst>
          </p:cNvPr>
          <p:cNvSpPr>
            <a:spLocks noGrp="1"/>
          </p:cNvSpPr>
          <p:nvPr>
            <p:ph idx="1"/>
          </p:nvPr>
        </p:nvSpPr>
        <p:spPr/>
        <p:txBody>
          <a:bodyPr/>
          <a:lstStyle/>
          <a:p>
            <a:r>
              <a:rPr lang="en-US" dirty="0"/>
              <a:t>Access control is a method of restricting access to sensitive data. Only those that have had their identity verified can access company data through an access control gateway.</a:t>
            </a:r>
          </a:p>
          <a:p>
            <a:endParaRPr lang="en-US" dirty="0"/>
          </a:p>
        </p:txBody>
      </p:sp>
      <p:pic>
        <p:nvPicPr>
          <p:cNvPr id="5" name="Picture 4" descr="A person touching a touch screen&#10;&#10;Description automatically generated with low confidence">
            <a:extLst>
              <a:ext uri="{FF2B5EF4-FFF2-40B4-BE49-F238E27FC236}">
                <a16:creationId xmlns:a16="http://schemas.microsoft.com/office/drawing/2014/main" id="{FFEFACFA-80AA-4D19-FC8E-FD8E39A238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9016" y="3528548"/>
            <a:ext cx="4182633" cy="2783352"/>
          </a:xfrm>
          <a:prstGeom prst="rect">
            <a:avLst/>
          </a:prstGeom>
        </p:spPr>
      </p:pic>
    </p:spTree>
    <p:extLst>
      <p:ext uri="{BB962C8B-B14F-4D97-AF65-F5344CB8AC3E}">
        <p14:creationId xmlns:p14="http://schemas.microsoft.com/office/powerpoint/2010/main" val="36805483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A4BB2-4979-DB17-BF8D-42D7E34E62C8}"/>
              </a:ext>
            </a:extLst>
          </p:cNvPr>
          <p:cNvSpPr>
            <a:spLocks noGrp="1"/>
          </p:cNvSpPr>
          <p:nvPr>
            <p:ph type="title"/>
          </p:nvPr>
        </p:nvSpPr>
        <p:spPr>
          <a:xfrm>
            <a:off x="838200" y="0"/>
            <a:ext cx="10515600" cy="1325563"/>
          </a:xfrm>
        </p:spPr>
        <p:txBody>
          <a:bodyPr/>
          <a:lstStyle/>
          <a:p>
            <a:r>
              <a:rPr lang="en-US" b="1" dirty="0"/>
              <a:t>Components of Access Control</a:t>
            </a:r>
          </a:p>
        </p:txBody>
      </p:sp>
      <p:sp>
        <p:nvSpPr>
          <p:cNvPr id="3" name="Content Placeholder 2">
            <a:extLst>
              <a:ext uri="{FF2B5EF4-FFF2-40B4-BE49-F238E27FC236}">
                <a16:creationId xmlns:a16="http://schemas.microsoft.com/office/drawing/2014/main" id="{218B6A44-C67F-8F08-8D5B-45408C95B383}"/>
              </a:ext>
            </a:extLst>
          </p:cNvPr>
          <p:cNvSpPr>
            <a:spLocks noGrp="1"/>
          </p:cNvSpPr>
          <p:nvPr>
            <p:ph idx="1"/>
          </p:nvPr>
        </p:nvSpPr>
        <p:spPr>
          <a:xfrm>
            <a:off x="838199" y="1253330"/>
            <a:ext cx="10824411" cy="4890795"/>
          </a:xfrm>
        </p:spPr>
        <p:txBody>
          <a:bodyPr>
            <a:normAutofit fontScale="92500" lnSpcReduction="20000"/>
          </a:bodyPr>
          <a:lstStyle/>
          <a:p>
            <a:pPr>
              <a:lnSpc>
                <a:spcPct val="120000"/>
              </a:lnSpc>
            </a:pPr>
            <a:r>
              <a:rPr lang="en-US" b="1" dirty="0"/>
              <a:t>Authentication</a:t>
            </a:r>
            <a:r>
              <a:rPr lang="en-US" dirty="0"/>
              <a:t> : The act of proving an assertion, such as the identity of a person or computer user.</a:t>
            </a:r>
          </a:p>
          <a:p>
            <a:pPr>
              <a:lnSpc>
                <a:spcPct val="120000"/>
              </a:lnSpc>
            </a:pPr>
            <a:r>
              <a:rPr lang="en-US" b="1" dirty="0"/>
              <a:t>Authorization</a:t>
            </a:r>
            <a:r>
              <a:rPr lang="en-US" dirty="0"/>
              <a:t> : </a:t>
            </a:r>
            <a:r>
              <a:rPr lang="en-US" b="1" dirty="0"/>
              <a:t> </a:t>
            </a:r>
            <a:r>
              <a:rPr lang="en-US" dirty="0"/>
              <a:t>The function of specifying access rights or privileges to resources.</a:t>
            </a:r>
            <a:endParaRPr lang="en-US" b="1" u="sng" dirty="0"/>
          </a:p>
          <a:p>
            <a:pPr>
              <a:lnSpc>
                <a:spcPct val="120000"/>
              </a:lnSpc>
            </a:pPr>
            <a:r>
              <a:rPr lang="en-US" b="1" dirty="0"/>
              <a:t>Access</a:t>
            </a:r>
            <a:r>
              <a:rPr lang="en-US" dirty="0"/>
              <a:t> : Once authenticated and authorized, the person or computer can access the resource.</a:t>
            </a:r>
          </a:p>
          <a:p>
            <a:pPr>
              <a:lnSpc>
                <a:spcPct val="120000"/>
              </a:lnSpc>
            </a:pPr>
            <a:r>
              <a:rPr lang="en-US" b="1" dirty="0"/>
              <a:t>Manage</a:t>
            </a:r>
            <a:r>
              <a:rPr lang="en-US" dirty="0"/>
              <a:t> : Managing an access control system includes adding and removing authentication and authorization of users or systems.</a:t>
            </a:r>
          </a:p>
          <a:p>
            <a:pPr>
              <a:lnSpc>
                <a:spcPct val="120000"/>
              </a:lnSpc>
            </a:pPr>
            <a:r>
              <a:rPr lang="en-US" b="1" dirty="0"/>
              <a:t>Audit</a:t>
            </a:r>
            <a:r>
              <a:rPr lang="en-US" dirty="0"/>
              <a:t> : Frequently used as part of access control to enforce the  principle of least privilege.</a:t>
            </a:r>
          </a:p>
        </p:txBody>
      </p:sp>
    </p:spTree>
    <p:extLst>
      <p:ext uri="{BB962C8B-B14F-4D97-AF65-F5344CB8AC3E}">
        <p14:creationId xmlns:p14="http://schemas.microsoft.com/office/powerpoint/2010/main" val="38087527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0FF5F-AA2B-D666-7DC7-8B74906726DE}"/>
              </a:ext>
            </a:extLst>
          </p:cNvPr>
          <p:cNvSpPr>
            <a:spLocks noGrp="1"/>
          </p:cNvSpPr>
          <p:nvPr>
            <p:ph type="title"/>
          </p:nvPr>
        </p:nvSpPr>
        <p:spPr/>
        <p:txBody>
          <a:bodyPr/>
          <a:lstStyle/>
          <a:p>
            <a:r>
              <a:rPr lang="en-US" b="1" dirty="0"/>
              <a:t>How does Access Control work?</a:t>
            </a:r>
          </a:p>
        </p:txBody>
      </p:sp>
      <p:sp>
        <p:nvSpPr>
          <p:cNvPr id="3" name="Content Placeholder 2">
            <a:extLst>
              <a:ext uri="{FF2B5EF4-FFF2-40B4-BE49-F238E27FC236}">
                <a16:creationId xmlns:a16="http://schemas.microsoft.com/office/drawing/2014/main" id="{53405535-5FDA-454B-23AE-58E7DF040C2E}"/>
              </a:ext>
            </a:extLst>
          </p:cNvPr>
          <p:cNvSpPr>
            <a:spLocks noGrp="1"/>
          </p:cNvSpPr>
          <p:nvPr>
            <p:ph idx="1"/>
          </p:nvPr>
        </p:nvSpPr>
        <p:spPr/>
        <p:txBody>
          <a:bodyPr/>
          <a:lstStyle/>
          <a:p>
            <a:pPr marL="0" indent="0" algn="just">
              <a:lnSpc>
                <a:spcPct val="100000"/>
              </a:lnSpc>
              <a:buNone/>
            </a:pPr>
            <a:r>
              <a:rPr lang="en-US" dirty="0"/>
              <a:t>Access control can be split into two groups designed to improve physical security or cybersecurity</a:t>
            </a:r>
          </a:p>
          <a:p>
            <a:pPr algn="just">
              <a:lnSpc>
                <a:spcPct val="100000"/>
              </a:lnSpc>
            </a:pPr>
            <a:r>
              <a:rPr lang="en-US" b="1" dirty="0"/>
              <a:t>Physical Access Control</a:t>
            </a:r>
            <a:r>
              <a:rPr lang="en-US" dirty="0"/>
              <a:t>: limits access to campuses, building and other physical assets, e.g. a proximity card to unlock a door.</a:t>
            </a:r>
          </a:p>
          <a:p>
            <a:pPr algn="just">
              <a:lnSpc>
                <a:spcPct val="100000"/>
              </a:lnSpc>
            </a:pPr>
            <a:r>
              <a:rPr lang="en-US" b="1" dirty="0"/>
              <a:t>Logical Access Control</a:t>
            </a:r>
            <a:r>
              <a:rPr lang="en-US" dirty="0"/>
              <a:t>:  limits access to computers, networks, files and other sensitive data e.g. a username and password.</a:t>
            </a:r>
          </a:p>
        </p:txBody>
      </p:sp>
    </p:spTree>
    <p:extLst>
      <p:ext uri="{BB962C8B-B14F-4D97-AF65-F5344CB8AC3E}">
        <p14:creationId xmlns:p14="http://schemas.microsoft.com/office/powerpoint/2010/main" val="435910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F1E58-2473-0B99-252A-161F872BF608}"/>
              </a:ext>
            </a:extLst>
          </p:cNvPr>
          <p:cNvSpPr>
            <a:spLocks noGrp="1"/>
          </p:cNvSpPr>
          <p:nvPr>
            <p:ph type="title"/>
          </p:nvPr>
        </p:nvSpPr>
        <p:spPr/>
        <p:txBody>
          <a:bodyPr/>
          <a:lstStyle/>
          <a:p>
            <a:r>
              <a:rPr lang="en-US" b="1" dirty="0"/>
              <a:t>Why is Access Control Important?</a:t>
            </a:r>
          </a:p>
        </p:txBody>
      </p:sp>
      <p:sp>
        <p:nvSpPr>
          <p:cNvPr id="3" name="Content Placeholder 2">
            <a:extLst>
              <a:ext uri="{FF2B5EF4-FFF2-40B4-BE49-F238E27FC236}">
                <a16:creationId xmlns:a16="http://schemas.microsoft.com/office/drawing/2014/main" id="{642B77F4-813D-EFAB-FB91-03D1675EDFB3}"/>
              </a:ext>
            </a:extLst>
          </p:cNvPr>
          <p:cNvSpPr>
            <a:spLocks noGrp="1"/>
          </p:cNvSpPr>
          <p:nvPr>
            <p:ph idx="1"/>
          </p:nvPr>
        </p:nvSpPr>
        <p:spPr/>
        <p:txBody>
          <a:bodyPr/>
          <a:lstStyle/>
          <a:p>
            <a:pPr algn="just">
              <a:lnSpc>
                <a:spcPct val="150000"/>
              </a:lnSpc>
            </a:pPr>
            <a:r>
              <a:rPr lang="en-US" dirty="0"/>
              <a:t>Access control minimizes the risk of authorized access to physical and computer systems, forming a foundational part of information security, data security and network security.</a:t>
            </a:r>
          </a:p>
        </p:txBody>
      </p:sp>
    </p:spTree>
    <p:extLst>
      <p:ext uri="{BB962C8B-B14F-4D97-AF65-F5344CB8AC3E}">
        <p14:creationId xmlns:p14="http://schemas.microsoft.com/office/powerpoint/2010/main" val="19311991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E385C-EF94-FFCE-834B-50A37FBF006D}"/>
              </a:ext>
            </a:extLst>
          </p:cNvPr>
          <p:cNvSpPr>
            <a:spLocks noGrp="1"/>
          </p:cNvSpPr>
          <p:nvPr>
            <p:ph type="title"/>
          </p:nvPr>
        </p:nvSpPr>
        <p:spPr/>
        <p:txBody>
          <a:bodyPr/>
          <a:lstStyle/>
          <a:p>
            <a:r>
              <a:rPr lang="en-US" b="1" dirty="0"/>
              <a:t>Types of Access Control</a:t>
            </a:r>
          </a:p>
        </p:txBody>
      </p:sp>
      <p:sp>
        <p:nvSpPr>
          <p:cNvPr id="3" name="Content Placeholder 2">
            <a:extLst>
              <a:ext uri="{FF2B5EF4-FFF2-40B4-BE49-F238E27FC236}">
                <a16:creationId xmlns:a16="http://schemas.microsoft.com/office/drawing/2014/main" id="{C7F9494E-1EC2-2051-949C-35881D0B6347}"/>
              </a:ext>
            </a:extLst>
          </p:cNvPr>
          <p:cNvSpPr>
            <a:spLocks noGrp="1"/>
          </p:cNvSpPr>
          <p:nvPr>
            <p:ph idx="1"/>
          </p:nvPr>
        </p:nvSpPr>
        <p:spPr/>
        <p:txBody>
          <a:bodyPr/>
          <a:lstStyle/>
          <a:p>
            <a:r>
              <a:rPr lang="en-US" dirty="0"/>
              <a:t>Attribute based access control</a:t>
            </a:r>
          </a:p>
          <a:p>
            <a:r>
              <a:rPr lang="en-US" dirty="0"/>
              <a:t>Discretionary access control</a:t>
            </a:r>
          </a:p>
          <a:p>
            <a:r>
              <a:rPr lang="en-US" dirty="0"/>
              <a:t>Mandatory access control</a:t>
            </a:r>
          </a:p>
          <a:p>
            <a:r>
              <a:rPr lang="en-US" dirty="0"/>
              <a:t>Role based access control</a:t>
            </a:r>
          </a:p>
          <a:p>
            <a:r>
              <a:rPr lang="en-US" dirty="0"/>
              <a:t>Rule based access control</a:t>
            </a:r>
          </a:p>
          <a:p>
            <a:r>
              <a:rPr lang="en-US" dirty="0"/>
              <a:t>Break-Glass access control</a:t>
            </a:r>
          </a:p>
        </p:txBody>
      </p:sp>
    </p:spTree>
    <p:extLst>
      <p:ext uri="{BB962C8B-B14F-4D97-AF65-F5344CB8AC3E}">
        <p14:creationId xmlns:p14="http://schemas.microsoft.com/office/powerpoint/2010/main" val="21731981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9CCBD-5A2B-2E75-DE19-139CA28ED1BD}"/>
              </a:ext>
            </a:extLst>
          </p:cNvPr>
          <p:cNvSpPr>
            <a:spLocks noGrp="1"/>
          </p:cNvSpPr>
          <p:nvPr>
            <p:ph type="title"/>
          </p:nvPr>
        </p:nvSpPr>
        <p:spPr/>
        <p:txBody>
          <a:bodyPr/>
          <a:lstStyle/>
          <a:p>
            <a:r>
              <a:rPr lang="en-US" b="1" dirty="0"/>
              <a:t>5.1 Access Control Principles</a:t>
            </a:r>
          </a:p>
        </p:txBody>
      </p:sp>
      <p:sp>
        <p:nvSpPr>
          <p:cNvPr id="3" name="Content Placeholder 2">
            <a:extLst>
              <a:ext uri="{FF2B5EF4-FFF2-40B4-BE49-F238E27FC236}">
                <a16:creationId xmlns:a16="http://schemas.microsoft.com/office/drawing/2014/main" id="{2B597319-C5C3-48D8-09C2-E1217DB22E63}"/>
              </a:ext>
            </a:extLst>
          </p:cNvPr>
          <p:cNvSpPr>
            <a:spLocks noGrp="1"/>
          </p:cNvSpPr>
          <p:nvPr>
            <p:ph idx="1"/>
          </p:nvPr>
        </p:nvSpPr>
        <p:spPr/>
        <p:txBody>
          <a:bodyPr/>
          <a:lstStyle/>
          <a:p>
            <a:r>
              <a:rPr lang="en-US" dirty="0"/>
              <a:t>Principle of Least Privilege</a:t>
            </a:r>
          </a:p>
          <a:p>
            <a:r>
              <a:rPr lang="en-US" dirty="0"/>
              <a:t>Separation of Duties</a:t>
            </a:r>
          </a:p>
          <a:p>
            <a:r>
              <a:rPr lang="en-US" dirty="0"/>
              <a:t>Need-to-know</a:t>
            </a:r>
          </a:p>
          <a:p>
            <a:r>
              <a:rPr lang="en-US" dirty="0"/>
              <a:t>Authentication</a:t>
            </a:r>
          </a:p>
          <a:p>
            <a:r>
              <a:rPr lang="en-US" dirty="0"/>
              <a:t>Authorization</a:t>
            </a:r>
          </a:p>
          <a:p>
            <a:r>
              <a:rPr lang="en-US" dirty="0"/>
              <a:t>Accountability</a:t>
            </a:r>
          </a:p>
        </p:txBody>
      </p:sp>
    </p:spTree>
    <p:extLst>
      <p:ext uri="{BB962C8B-B14F-4D97-AF65-F5344CB8AC3E}">
        <p14:creationId xmlns:p14="http://schemas.microsoft.com/office/powerpoint/2010/main" val="28631877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47999-A1F5-590E-B8BA-28CB0D2D3929}"/>
              </a:ext>
            </a:extLst>
          </p:cNvPr>
          <p:cNvSpPr>
            <a:spLocks noGrp="1"/>
          </p:cNvSpPr>
          <p:nvPr>
            <p:ph type="title"/>
          </p:nvPr>
        </p:nvSpPr>
        <p:spPr/>
        <p:txBody>
          <a:bodyPr/>
          <a:lstStyle/>
          <a:p>
            <a:r>
              <a:rPr lang="en-US" b="1" dirty="0"/>
              <a:t>5.1 Access Control Principles</a:t>
            </a:r>
          </a:p>
        </p:txBody>
      </p:sp>
      <p:sp>
        <p:nvSpPr>
          <p:cNvPr id="3" name="Content Placeholder 2">
            <a:extLst>
              <a:ext uri="{FF2B5EF4-FFF2-40B4-BE49-F238E27FC236}">
                <a16:creationId xmlns:a16="http://schemas.microsoft.com/office/drawing/2014/main" id="{D9EE9398-0860-719E-6FF8-4AF05F130A86}"/>
              </a:ext>
            </a:extLst>
          </p:cNvPr>
          <p:cNvSpPr>
            <a:spLocks noGrp="1"/>
          </p:cNvSpPr>
          <p:nvPr>
            <p:ph idx="1"/>
          </p:nvPr>
        </p:nvSpPr>
        <p:spPr/>
        <p:txBody>
          <a:bodyPr>
            <a:normAutofit lnSpcReduction="10000"/>
          </a:bodyPr>
          <a:lstStyle/>
          <a:p>
            <a:pPr algn="just">
              <a:lnSpc>
                <a:spcPct val="100000"/>
              </a:lnSpc>
            </a:pPr>
            <a:r>
              <a:rPr lang="en-US" b="1" dirty="0"/>
              <a:t>Principle of Least Privilege</a:t>
            </a:r>
            <a:r>
              <a:rPr lang="en-US" dirty="0"/>
              <a:t>: This principle states that users should only be given the minimum level of access necessary to perform their job functions. This reduces the risk of unauthorized access or misuse of sensitive information.</a:t>
            </a:r>
          </a:p>
          <a:p>
            <a:pPr algn="just">
              <a:lnSpc>
                <a:spcPct val="100000"/>
              </a:lnSpc>
            </a:pPr>
            <a:r>
              <a:rPr lang="en-US" b="1" dirty="0"/>
              <a:t>Separation of Duties</a:t>
            </a:r>
            <a:r>
              <a:rPr lang="en-US" dirty="0"/>
              <a:t>: This principle involves dividing responsibilities among different individuals or roles to prevent any one person from having too much control over sensitive information or resources. For example, a system administrator might have the ability to create user accounts, but they should not be able to approve or authorize financial transactions.</a:t>
            </a:r>
          </a:p>
        </p:txBody>
      </p:sp>
    </p:spTree>
    <p:extLst>
      <p:ext uri="{BB962C8B-B14F-4D97-AF65-F5344CB8AC3E}">
        <p14:creationId xmlns:p14="http://schemas.microsoft.com/office/powerpoint/2010/main" val="13003924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FAFDB-CB56-5056-6AC9-FA1547D031D3}"/>
              </a:ext>
            </a:extLst>
          </p:cNvPr>
          <p:cNvSpPr>
            <a:spLocks noGrp="1"/>
          </p:cNvSpPr>
          <p:nvPr>
            <p:ph type="title"/>
          </p:nvPr>
        </p:nvSpPr>
        <p:spPr/>
        <p:txBody>
          <a:bodyPr/>
          <a:lstStyle/>
          <a:p>
            <a:r>
              <a:rPr lang="en-US" b="1" dirty="0"/>
              <a:t>5.1 Access Control Principles</a:t>
            </a:r>
          </a:p>
        </p:txBody>
      </p:sp>
      <p:sp>
        <p:nvSpPr>
          <p:cNvPr id="3" name="Content Placeholder 2">
            <a:extLst>
              <a:ext uri="{FF2B5EF4-FFF2-40B4-BE49-F238E27FC236}">
                <a16:creationId xmlns:a16="http://schemas.microsoft.com/office/drawing/2014/main" id="{EBEC30B2-D52A-25F6-D648-3E0D03F515DF}"/>
              </a:ext>
            </a:extLst>
          </p:cNvPr>
          <p:cNvSpPr>
            <a:spLocks noGrp="1"/>
          </p:cNvSpPr>
          <p:nvPr>
            <p:ph idx="1"/>
          </p:nvPr>
        </p:nvSpPr>
        <p:spPr/>
        <p:txBody>
          <a:bodyPr/>
          <a:lstStyle/>
          <a:p>
            <a:pPr algn="just">
              <a:lnSpc>
                <a:spcPct val="100000"/>
              </a:lnSpc>
            </a:pPr>
            <a:r>
              <a:rPr lang="en-US" b="1" dirty="0"/>
              <a:t>Need-to-Know</a:t>
            </a:r>
            <a:r>
              <a:rPr lang="en-US" dirty="0"/>
              <a:t>: This principle dictates that users should only be given access to information or resources that they need to perform their job functions. This helps to limit the amount of sensitive information that is available to potential attackers.</a:t>
            </a:r>
          </a:p>
          <a:p>
            <a:pPr algn="just">
              <a:lnSpc>
                <a:spcPct val="100000"/>
              </a:lnSpc>
            </a:pPr>
            <a:r>
              <a:rPr lang="en-US" b="1" dirty="0"/>
              <a:t>Authentication</a:t>
            </a:r>
            <a:r>
              <a:rPr lang="en-US" dirty="0"/>
              <a:t>: This principle involves verifying the identity of users before granting access to sensitive information or resources. This can include passwords, biometric data, or other forms of identification.</a:t>
            </a:r>
          </a:p>
        </p:txBody>
      </p:sp>
    </p:spTree>
    <p:extLst>
      <p:ext uri="{BB962C8B-B14F-4D97-AF65-F5344CB8AC3E}">
        <p14:creationId xmlns:p14="http://schemas.microsoft.com/office/powerpoint/2010/main" val="28733731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91386-07EC-7866-F122-CF37072BCCA1}"/>
              </a:ext>
            </a:extLst>
          </p:cNvPr>
          <p:cNvSpPr>
            <a:spLocks noGrp="1"/>
          </p:cNvSpPr>
          <p:nvPr>
            <p:ph type="title"/>
          </p:nvPr>
        </p:nvSpPr>
        <p:spPr/>
        <p:txBody>
          <a:bodyPr/>
          <a:lstStyle/>
          <a:p>
            <a:r>
              <a:rPr lang="en-US" b="1" dirty="0"/>
              <a:t>5.1 Access Control Principles</a:t>
            </a:r>
          </a:p>
        </p:txBody>
      </p:sp>
      <p:sp>
        <p:nvSpPr>
          <p:cNvPr id="3" name="Content Placeholder 2">
            <a:extLst>
              <a:ext uri="{FF2B5EF4-FFF2-40B4-BE49-F238E27FC236}">
                <a16:creationId xmlns:a16="http://schemas.microsoft.com/office/drawing/2014/main" id="{96D9C27B-BCAE-8221-5C5A-9A22C3A83A56}"/>
              </a:ext>
            </a:extLst>
          </p:cNvPr>
          <p:cNvSpPr>
            <a:spLocks noGrp="1"/>
          </p:cNvSpPr>
          <p:nvPr>
            <p:ph idx="1"/>
          </p:nvPr>
        </p:nvSpPr>
        <p:spPr/>
        <p:txBody>
          <a:bodyPr/>
          <a:lstStyle/>
          <a:p>
            <a:pPr algn="just">
              <a:lnSpc>
                <a:spcPct val="100000"/>
              </a:lnSpc>
            </a:pPr>
            <a:r>
              <a:rPr lang="en-US" b="1" dirty="0"/>
              <a:t>Authorization</a:t>
            </a:r>
            <a:r>
              <a:rPr lang="en-US" dirty="0"/>
              <a:t>: This principle involves determining which users or processes are allowed to access specific information or resources. This can be accomplished through role-based access control, access control lists, or other methods.</a:t>
            </a:r>
          </a:p>
          <a:p>
            <a:pPr algn="just">
              <a:lnSpc>
                <a:spcPct val="100000"/>
              </a:lnSpc>
            </a:pPr>
            <a:r>
              <a:rPr lang="en-US" b="1" dirty="0"/>
              <a:t>Accountability</a:t>
            </a:r>
            <a:r>
              <a:rPr lang="en-US" dirty="0"/>
              <a:t>: This principle involves tracking and monitoring access to sensitive information or resources to ensure that any unauthorized access or misuse can be identified and addressed. This can include logging access attempts, auditing user activity, and implementing security controls such as intrusion detection systems.</a:t>
            </a:r>
          </a:p>
        </p:txBody>
      </p:sp>
    </p:spTree>
    <p:extLst>
      <p:ext uri="{BB962C8B-B14F-4D97-AF65-F5344CB8AC3E}">
        <p14:creationId xmlns:p14="http://schemas.microsoft.com/office/powerpoint/2010/main" val="6145205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D0503-B715-71A0-E903-4E418B55BA56}"/>
              </a:ext>
            </a:extLst>
          </p:cNvPr>
          <p:cNvSpPr>
            <a:spLocks noGrp="1"/>
          </p:cNvSpPr>
          <p:nvPr>
            <p:ph type="title"/>
          </p:nvPr>
        </p:nvSpPr>
        <p:spPr/>
        <p:txBody>
          <a:bodyPr/>
          <a:lstStyle/>
          <a:p>
            <a:r>
              <a:rPr lang="en-US" b="1" dirty="0"/>
              <a:t>5.2 Subjects, Objects and Access Rights</a:t>
            </a:r>
          </a:p>
        </p:txBody>
      </p:sp>
      <p:sp>
        <p:nvSpPr>
          <p:cNvPr id="3" name="Content Placeholder 2">
            <a:extLst>
              <a:ext uri="{FF2B5EF4-FFF2-40B4-BE49-F238E27FC236}">
                <a16:creationId xmlns:a16="http://schemas.microsoft.com/office/drawing/2014/main" id="{784F365B-FD3E-26BB-78A6-9D2F0293DB21}"/>
              </a:ext>
            </a:extLst>
          </p:cNvPr>
          <p:cNvSpPr>
            <a:spLocks noGrp="1"/>
          </p:cNvSpPr>
          <p:nvPr>
            <p:ph idx="1"/>
          </p:nvPr>
        </p:nvSpPr>
        <p:spPr/>
        <p:txBody>
          <a:bodyPr/>
          <a:lstStyle/>
          <a:p>
            <a:pPr marL="514350" indent="-514350" algn="just">
              <a:lnSpc>
                <a:spcPct val="100000"/>
              </a:lnSpc>
              <a:buAutoNum type="arabicPeriod"/>
            </a:pPr>
            <a:r>
              <a:rPr lang="en-US" b="1" dirty="0"/>
              <a:t>Subjects:</a:t>
            </a:r>
            <a:r>
              <a:rPr lang="en-US" dirty="0"/>
              <a:t> Subjects are entities that request access to resources. In the context of information security, subjects can be users, processes, or devices.</a:t>
            </a:r>
          </a:p>
          <a:p>
            <a:pPr marL="514350" indent="-514350" algn="just">
              <a:lnSpc>
                <a:spcPct val="100000"/>
              </a:lnSpc>
              <a:buAutoNum type="arabicPeriod"/>
            </a:pPr>
            <a:r>
              <a:rPr lang="en-US" b="1" dirty="0"/>
              <a:t>Objects: </a:t>
            </a:r>
            <a:r>
              <a:rPr lang="en-US" dirty="0"/>
              <a:t>Objects are resources that are being accessed, such as files, folders, databases, networks, or applications.</a:t>
            </a:r>
          </a:p>
          <a:p>
            <a:pPr marL="514350" indent="-514350" algn="just">
              <a:lnSpc>
                <a:spcPct val="100000"/>
              </a:lnSpc>
              <a:buAutoNum type="arabicPeriod"/>
            </a:pPr>
            <a:r>
              <a:rPr lang="en-US" b="1" dirty="0"/>
              <a:t>Access Rights</a:t>
            </a:r>
            <a:r>
              <a:rPr lang="en-US" dirty="0"/>
              <a:t>: Access rights are permissions that determine the level of access that subjects have to objects. Access rights can include read, write, execute, create, delete, modify, or control.</a:t>
            </a:r>
          </a:p>
        </p:txBody>
      </p:sp>
    </p:spTree>
    <p:extLst>
      <p:ext uri="{BB962C8B-B14F-4D97-AF65-F5344CB8AC3E}">
        <p14:creationId xmlns:p14="http://schemas.microsoft.com/office/powerpoint/2010/main" val="31551083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7BA23-75DD-428B-1D79-3B413634E2E2}"/>
              </a:ext>
            </a:extLst>
          </p:cNvPr>
          <p:cNvSpPr>
            <a:spLocks noGrp="1"/>
          </p:cNvSpPr>
          <p:nvPr>
            <p:ph type="title"/>
          </p:nvPr>
        </p:nvSpPr>
        <p:spPr/>
        <p:txBody>
          <a:bodyPr/>
          <a:lstStyle/>
          <a:p>
            <a:r>
              <a:rPr lang="en-US" b="1" dirty="0"/>
              <a:t>5.3 Access Control Matrix and Capability Lists </a:t>
            </a:r>
          </a:p>
        </p:txBody>
      </p:sp>
      <p:sp>
        <p:nvSpPr>
          <p:cNvPr id="3" name="Content Placeholder 2">
            <a:extLst>
              <a:ext uri="{FF2B5EF4-FFF2-40B4-BE49-F238E27FC236}">
                <a16:creationId xmlns:a16="http://schemas.microsoft.com/office/drawing/2014/main" id="{DC602C6F-99C5-6455-F673-3174B63BFCBC}"/>
              </a:ext>
            </a:extLst>
          </p:cNvPr>
          <p:cNvSpPr>
            <a:spLocks noGrp="1"/>
          </p:cNvSpPr>
          <p:nvPr>
            <p:ph idx="1"/>
          </p:nvPr>
        </p:nvSpPr>
        <p:spPr/>
        <p:txBody>
          <a:bodyPr>
            <a:normAutofit fontScale="92500"/>
          </a:bodyPr>
          <a:lstStyle/>
          <a:p>
            <a:pPr marL="0" indent="0">
              <a:buNone/>
            </a:pPr>
            <a:r>
              <a:rPr lang="en-US" b="1" dirty="0"/>
              <a:t>1. Access Control Matrix : </a:t>
            </a:r>
          </a:p>
          <a:p>
            <a:pPr>
              <a:buFont typeface="Wingdings" panose="05000000000000000000" pitchFamily="2" charset="2"/>
              <a:buChar char="è"/>
            </a:pPr>
            <a:r>
              <a:rPr lang="en-US" dirty="0"/>
              <a:t>a model that uses a table to define the access rights of subjects to objects.</a:t>
            </a:r>
          </a:p>
          <a:p>
            <a:pPr>
              <a:buFont typeface="Wingdings" panose="05000000000000000000" pitchFamily="2" charset="2"/>
              <a:buChar char="è"/>
            </a:pPr>
            <a:r>
              <a:rPr lang="en-US" dirty="0"/>
              <a:t>The rows of the matrix represent the subjects, and the columns represent the objects.</a:t>
            </a:r>
          </a:p>
          <a:p>
            <a:pPr>
              <a:buFont typeface="Wingdings" panose="05000000000000000000" pitchFamily="2" charset="2"/>
              <a:buChar char="è"/>
            </a:pPr>
            <a:r>
              <a:rPr lang="en-US" dirty="0"/>
              <a:t>The cells of the matrix contain the access rights that each subject has to each object.</a:t>
            </a:r>
          </a:p>
          <a:p>
            <a:pPr marL="0" indent="0">
              <a:buNone/>
            </a:pPr>
            <a:endParaRPr lang="en-US" dirty="0"/>
          </a:p>
          <a:p>
            <a:pPr marL="0" indent="0">
              <a:buNone/>
            </a:pPr>
            <a:r>
              <a:rPr lang="en-US" dirty="0"/>
              <a:t>Access rights can be defined using different methods, such as RBAC (Role-Based Access Control), MAC (Mandatory Access Control), or DAC (Discretionary Access Control).</a:t>
            </a:r>
          </a:p>
        </p:txBody>
      </p:sp>
    </p:spTree>
    <p:extLst>
      <p:ext uri="{BB962C8B-B14F-4D97-AF65-F5344CB8AC3E}">
        <p14:creationId xmlns:p14="http://schemas.microsoft.com/office/powerpoint/2010/main" val="34504673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2D0E8-47AF-61F2-34BB-88894C63D372}"/>
              </a:ext>
            </a:extLst>
          </p:cNvPr>
          <p:cNvSpPr>
            <a:spLocks noGrp="1"/>
          </p:cNvSpPr>
          <p:nvPr>
            <p:ph type="title"/>
          </p:nvPr>
        </p:nvSpPr>
        <p:spPr/>
        <p:txBody>
          <a:bodyPr/>
          <a:lstStyle/>
          <a:p>
            <a:r>
              <a:rPr lang="en-US" b="1" dirty="0"/>
              <a:t>Access Control Matrix</a:t>
            </a:r>
          </a:p>
        </p:txBody>
      </p:sp>
      <p:sp>
        <p:nvSpPr>
          <p:cNvPr id="3" name="Content Placeholder 2">
            <a:extLst>
              <a:ext uri="{FF2B5EF4-FFF2-40B4-BE49-F238E27FC236}">
                <a16:creationId xmlns:a16="http://schemas.microsoft.com/office/drawing/2014/main" id="{750E58AD-4425-02AB-2F75-47DFB285C6B2}"/>
              </a:ext>
            </a:extLst>
          </p:cNvPr>
          <p:cNvSpPr>
            <a:spLocks noGrp="1"/>
          </p:cNvSpPr>
          <p:nvPr>
            <p:ph idx="1"/>
          </p:nvPr>
        </p:nvSpPr>
        <p:spPr/>
        <p:txBody>
          <a:bodyPr/>
          <a:lstStyle/>
          <a:p>
            <a:pPr algn="just">
              <a:lnSpc>
                <a:spcPct val="100000"/>
              </a:lnSpc>
            </a:pPr>
            <a:r>
              <a:rPr lang="en-US" dirty="0"/>
              <a:t>The access control matrix can be useful for managing access to large numbers of resources, as it allows administrators to quickly view and modify access rights for individual subjects or objects. </a:t>
            </a:r>
          </a:p>
          <a:p>
            <a:pPr algn="just">
              <a:lnSpc>
                <a:spcPct val="100000"/>
              </a:lnSpc>
            </a:pPr>
            <a:r>
              <a:rPr lang="en-US" dirty="0"/>
              <a:t>However, the access control matrix can become complex and difficult to manage when dealing with large numbers of subjects or objects.</a:t>
            </a:r>
          </a:p>
        </p:txBody>
      </p:sp>
    </p:spTree>
    <p:extLst>
      <p:ext uri="{BB962C8B-B14F-4D97-AF65-F5344CB8AC3E}">
        <p14:creationId xmlns:p14="http://schemas.microsoft.com/office/powerpoint/2010/main" val="4066985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A783C-BAE1-CA00-78D8-599128F6B9C3}"/>
              </a:ext>
            </a:extLst>
          </p:cNvPr>
          <p:cNvSpPr>
            <a:spLocks noGrp="1"/>
          </p:cNvSpPr>
          <p:nvPr>
            <p:ph type="title"/>
          </p:nvPr>
        </p:nvSpPr>
        <p:spPr/>
        <p:txBody>
          <a:bodyPr/>
          <a:lstStyle/>
          <a:p>
            <a:r>
              <a:rPr lang="en-US" b="1" dirty="0"/>
              <a:t>Capability Lists</a:t>
            </a:r>
          </a:p>
        </p:txBody>
      </p:sp>
      <p:sp>
        <p:nvSpPr>
          <p:cNvPr id="3" name="Content Placeholder 2">
            <a:extLst>
              <a:ext uri="{FF2B5EF4-FFF2-40B4-BE49-F238E27FC236}">
                <a16:creationId xmlns:a16="http://schemas.microsoft.com/office/drawing/2014/main" id="{4FCA28BA-500F-DDF1-78AB-2820792FDB9E}"/>
              </a:ext>
            </a:extLst>
          </p:cNvPr>
          <p:cNvSpPr>
            <a:spLocks noGrp="1"/>
          </p:cNvSpPr>
          <p:nvPr>
            <p:ph idx="1"/>
          </p:nvPr>
        </p:nvSpPr>
        <p:spPr/>
        <p:txBody>
          <a:bodyPr/>
          <a:lstStyle/>
          <a:p>
            <a:pPr algn="just">
              <a:lnSpc>
                <a:spcPct val="100000"/>
              </a:lnSpc>
            </a:pPr>
            <a:r>
              <a:rPr lang="en-US" dirty="0"/>
              <a:t>a model that assigns each subject a list of capabilities or permissions that they can use to access objects.</a:t>
            </a:r>
          </a:p>
          <a:p>
            <a:pPr algn="just">
              <a:lnSpc>
                <a:spcPct val="100000"/>
              </a:lnSpc>
            </a:pPr>
            <a:r>
              <a:rPr lang="en-US" dirty="0"/>
              <a:t>Each object also has a list of capabilities or permissions associated with it. Subjects can only access objects if they have the appropriate capabilities or permissions associated with it.</a:t>
            </a:r>
          </a:p>
          <a:p>
            <a:pPr algn="just">
              <a:lnSpc>
                <a:spcPct val="100000"/>
              </a:lnSpc>
            </a:pPr>
            <a:r>
              <a:rPr lang="en-US" dirty="0"/>
              <a:t>Subjects can only access objects if they have the appropriate capabilities or permissions.</a:t>
            </a:r>
          </a:p>
        </p:txBody>
      </p:sp>
    </p:spTree>
    <p:extLst>
      <p:ext uri="{BB962C8B-B14F-4D97-AF65-F5344CB8AC3E}">
        <p14:creationId xmlns:p14="http://schemas.microsoft.com/office/powerpoint/2010/main" val="16151781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08F07-A8B7-1639-D380-F0ADB25A805E}"/>
              </a:ext>
            </a:extLst>
          </p:cNvPr>
          <p:cNvSpPr>
            <a:spLocks noGrp="1"/>
          </p:cNvSpPr>
          <p:nvPr>
            <p:ph type="title"/>
          </p:nvPr>
        </p:nvSpPr>
        <p:spPr/>
        <p:txBody>
          <a:bodyPr/>
          <a:lstStyle/>
          <a:p>
            <a:r>
              <a:rPr lang="en-US" b="1" dirty="0"/>
              <a:t>Capability Lists</a:t>
            </a:r>
          </a:p>
        </p:txBody>
      </p:sp>
      <p:sp>
        <p:nvSpPr>
          <p:cNvPr id="3" name="Content Placeholder 2">
            <a:extLst>
              <a:ext uri="{FF2B5EF4-FFF2-40B4-BE49-F238E27FC236}">
                <a16:creationId xmlns:a16="http://schemas.microsoft.com/office/drawing/2014/main" id="{143B893F-4093-D49E-E8AB-6C0BD5A4F5AB}"/>
              </a:ext>
            </a:extLst>
          </p:cNvPr>
          <p:cNvSpPr>
            <a:spLocks noGrp="1"/>
          </p:cNvSpPr>
          <p:nvPr>
            <p:ph idx="1"/>
          </p:nvPr>
        </p:nvSpPr>
        <p:spPr/>
        <p:txBody>
          <a:bodyPr/>
          <a:lstStyle/>
          <a:p>
            <a:pPr algn="just"/>
            <a:r>
              <a:rPr lang="en-US" dirty="0"/>
              <a:t>can be useful for managing access to resources in a distributed system, where objects may be spread across multiple servers or networks.</a:t>
            </a:r>
          </a:p>
          <a:p>
            <a:pPr algn="just"/>
            <a:r>
              <a:rPr lang="en-US" dirty="0"/>
              <a:t>this model allows administrators to define specific capabilities for each subject, which can help to limit the potential damage that can be caused by a compromised account.</a:t>
            </a:r>
          </a:p>
        </p:txBody>
      </p:sp>
    </p:spTree>
    <p:extLst>
      <p:ext uri="{BB962C8B-B14F-4D97-AF65-F5344CB8AC3E}">
        <p14:creationId xmlns:p14="http://schemas.microsoft.com/office/powerpoint/2010/main" val="15422472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F46ED-A9AB-93FA-7F3F-CD739EB5370C}"/>
              </a:ext>
            </a:extLst>
          </p:cNvPr>
          <p:cNvSpPr>
            <a:spLocks noGrp="1"/>
          </p:cNvSpPr>
          <p:nvPr>
            <p:ph type="title"/>
          </p:nvPr>
        </p:nvSpPr>
        <p:spPr/>
        <p:txBody>
          <a:bodyPr/>
          <a:lstStyle/>
          <a:p>
            <a:r>
              <a:rPr lang="en-US" b="1" dirty="0"/>
              <a:t>5.4 Discretionary Access Control</a:t>
            </a:r>
          </a:p>
        </p:txBody>
      </p:sp>
      <p:sp>
        <p:nvSpPr>
          <p:cNvPr id="3" name="Content Placeholder 2">
            <a:extLst>
              <a:ext uri="{FF2B5EF4-FFF2-40B4-BE49-F238E27FC236}">
                <a16:creationId xmlns:a16="http://schemas.microsoft.com/office/drawing/2014/main" id="{FBC30A13-99F8-EF9B-E8C4-17BBF29B278B}"/>
              </a:ext>
            </a:extLst>
          </p:cNvPr>
          <p:cNvSpPr>
            <a:spLocks noGrp="1"/>
          </p:cNvSpPr>
          <p:nvPr>
            <p:ph idx="1"/>
          </p:nvPr>
        </p:nvSpPr>
        <p:spPr/>
        <p:txBody>
          <a:bodyPr>
            <a:normAutofit/>
          </a:bodyPr>
          <a:lstStyle/>
          <a:p>
            <a:pPr algn="just">
              <a:lnSpc>
                <a:spcPct val="100000"/>
              </a:lnSpc>
            </a:pPr>
            <a:r>
              <a:rPr lang="en-US" sz="2400" dirty="0"/>
              <a:t>a security model used in computer systems to control access to resources based on the discretion of the resource owner.</a:t>
            </a:r>
          </a:p>
          <a:p>
            <a:pPr algn="just">
              <a:lnSpc>
                <a:spcPct val="100000"/>
              </a:lnSpc>
            </a:pPr>
            <a:r>
              <a:rPr lang="en-US" sz="2400" dirty="0"/>
              <a:t>the resource owner has the authority to determine who can access their resources and what level of access they are granted.</a:t>
            </a:r>
          </a:p>
          <a:p>
            <a:pPr algn="just">
              <a:lnSpc>
                <a:spcPct val="100000"/>
              </a:lnSpc>
            </a:pPr>
            <a:r>
              <a:rPr lang="en-US" sz="2400" dirty="0"/>
              <a:t>In a DAC system, each resource (such as files, folders, or devices) is associated with an access control list (ACL) that specifies the permissions for different users or groups. </a:t>
            </a:r>
          </a:p>
          <a:p>
            <a:pPr algn="just">
              <a:lnSpc>
                <a:spcPct val="100000"/>
              </a:lnSpc>
            </a:pPr>
            <a:r>
              <a:rPr lang="en-US" sz="2400" dirty="0"/>
              <a:t>The ACL typically includes entries for the resource owner and other users or groups, and each entry defines the permissions allowed for that user or group.</a:t>
            </a:r>
          </a:p>
        </p:txBody>
      </p:sp>
    </p:spTree>
    <p:extLst>
      <p:ext uri="{BB962C8B-B14F-4D97-AF65-F5344CB8AC3E}">
        <p14:creationId xmlns:p14="http://schemas.microsoft.com/office/powerpoint/2010/main" val="31194836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7C140-3629-DFA6-8F01-3E2C5650120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F59FF75-6A6C-CFC1-190E-E659227162E2}"/>
              </a:ext>
            </a:extLst>
          </p:cNvPr>
          <p:cNvSpPr>
            <a:spLocks noGrp="1"/>
          </p:cNvSpPr>
          <p:nvPr>
            <p:ph idx="1"/>
          </p:nvPr>
        </p:nvSpPr>
        <p:spPr/>
        <p:txBody>
          <a:bodyPr/>
          <a:lstStyle/>
          <a:p>
            <a:pPr marL="0" indent="0">
              <a:buNone/>
            </a:pPr>
            <a:endParaRPr lang="en-US" dirty="0"/>
          </a:p>
        </p:txBody>
      </p:sp>
      <p:pic>
        <p:nvPicPr>
          <p:cNvPr id="5" name="Picture 4">
            <a:extLst>
              <a:ext uri="{FF2B5EF4-FFF2-40B4-BE49-F238E27FC236}">
                <a16:creationId xmlns:a16="http://schemas.microsoft.com/office/drawing/2014/main" id="{455AA990-FBBA-0A42-7F50-2D04A172E11C}"/>
              </a:ext>
            </a:extLst>
          </p:cNvPr>
          <p:cNvPicPr>
            <a:picLocks noChangeAspect="1"/>
          </p:cNvPicPr>
          <p:nvPr/>
        </p:nvPicPr>
        <p:blipFill>
          <a:blip r:embed="rId2"/>
          <a:stretch>
            <a:fillRect/>
          </a:stretch>
        </p:blipFill>
        <p:spPr>
          <a:xfrm>
            <a:off x="3077754" y="1474670"/>
            <a:ext cx="5982270" cy="3187193"/>
          </a:xfrm>
          <a:prstGeom prst="rect">
            <a:avLst/>
          </a:prstGeom>
        </p:spPr>
      </p:pic>
      <p:sp>
        <p:nvSpPr>
          <p:cNvPr id="7" name="TextBox 6">
            <a:extLst>
              <a:ext uri="{FF2B5EF4-FFF2-40B4-BE49-F238E27FC236}">
                <a16:creationId xmlns:a16="http://schemas.microsoft.com/office/drawing/2014/main" id="{F24A5778-3F34-19BC-E851-F7312A7ABC6B}"/>
              </a:ext>
            </a:extLst>
          </p:cNvPr>
          <p:cNvSpPr txBox="1"/>
          <p:nvPr/>
        </p:nvSpPr>
        <p:spPr>
          <a:xfrm>
            <a:off x="3004457" y="5029200"/>
            <a:ext cx="5747657" cy="369332"/>
          </a:xfrm>
          <a:prstGeom prst="rect">
            <a:avLst/>
          </a:prstGeom>
          <a:noFill/>
        </p:spPr>
        <p:txBody>
          <a:bodyPr wrap="square" rtlCol="0">
            <a:spAutoFit/>
          </a:bodyPr>
          <a:lstStyle/>
          <a:p>
            <a:pPr algn="ctr"/>
            <a:r>
              <a:rPr lang="en-US" dirty="0"/>
              <a:t>Fig: Discretionary Access Control</a:t>
            </a:r>
          </a:p>
        </p:txBody>
      </p:sp>
    </p:spTree>
    <p:extLst>
      <p:ext uri="{BB962C8B-B14F-4D97-AF65-F5344CB8AC3E}">
        <p14:creationId xmlns:p14="http://schemas.microsoft.com/office/powerpoint/2010/main" val="1173219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BAB15-CDB3-7334-2508-246270F60B58}"/>
              </a:ext>
            </a:extLst>
          </p:cNvPr>
          <p:cNvSpPr>
            <a:spLocks noGrp="1"/>
          </p:cNvSpPr>
          <p:nvPr>
            <p:ph type="title"/>
          </p:nvPr>
        </p:nvSpPr>
        <p:spPr/>
        <p:txBody>
          <a:bodyPr/>
          <a:lstStyle/>
          <a:p>
            <a:r>
              <a:rPr lang="en-US" b="1" dirty="0"/>
              <a:t>What are the basic principles of DAC?</a:t>
            </a:r>
            <a:endParaRPr lang="en-US" dirty="0"/>
          </a:p>
        </p:txBody>
      </p:sp>
      <p:sp>
        <p:nvSpPr>
          <p:cNvPr id="3" name="Content Placeholder 2">
            <a:extLst>
              <a:ext uri="{FF2B5EF4-FFF2-40B4-BE49-F238E27FC236}">
                <a16:creationId xmlns:a16="http://schemas.microsoft.com/office/drawing/2014/main" id="{DF827994-9C44-166B-8C05-704AC7917442}"/>
              </a:ext>
            </a:extLst>
          </p:cNvPr>
          <p:cNvSpPr>
            <a:spLocks noGrp="1"/>
          </p:cNvSpPr>
          <p:nvPr>
            <p:ph idx="1"/>
          </p:nvPr>
        </p:nvSpPr>
        <p:spPr/>
        <p:txBody>
          <a:bodyPr>
            <a:normAutofit/>
          </a:bodyPr>
          <a:lstStyle/>
          <a:p>
            <a:pPr algn="just">
              <a:buFont typeface="+mj-lt"/>
              <a:buAutoNum type="arabicPeriod"/>
            </a:pPr>
            <a:r>
              <a:rPr lang="en-US" sz="2400" dirty="0"/>
              <a:t>Object characteristics (size, name, directory path) are invisible to users that aren’t authorized.</a:t>
            </a:r>
          </a:p>
          <a:p>
            <a:pPr algn="just">
              <a:buFont typeface="+mj-lt"/>
              <a:buAutoNum type="arabicPeriod"/>
            </a:pPr>
            <a:r>
              <a:rPr lang="en-US" sz="2400" dirty="0"/>
              <a:t>Several failed access attempts enforce additional multi-factor authentication or deny access.</a:t>
            </a:r>
          </a:p>
          <a:p>
            <a:pPr algn="just">
              <a:buFont typeface="+mj-lt"/>
              <a:buAutoNum type="arabicPeriod"/>
            </a:pPr>
            <a:r>
              <a:rPr lang="en-US" sz="2400" dirty="0"/>
              <a:t>Users can transfer their object ownership to other users. Also, the owner determines the access type of other users. Based on these access privileges, the operating system decides whether to grant access to a file.</a:t>
            </a:r>
          </a:p>
          <a:p>
            <a:pPr algn="just"/>
            <a:endParaRPr lang="en-US" sz="2400" dirty="0"/>
          </a:p>
        </p:txBody>
      </p:sp>
    </p:spTree>
    <p:extLst>
      <p:ext uri="{BB962C8B-B14F-4D97-AF65-F5344CB8AC3E}">
        <p14:creationId xmlns:p14="http://schemas.microsoft.com/office/powerpoint/2010/main" val="12595055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6618F-4941-8DCD-B506-B0E1519FAD34}"/>
              </a:ext>
            </a:extLst>
          </p:cNvPr>
          <p:cNvSpPr>
            <a:spLocks noGrp="1"/>
          </p:cNvSpPr>
          <p:nvPr>
            <p:ph type="title"/>
          </p:nvPr>
        </p:nvSpPr>
        <p:spPr/>
        <p:txBody>
          <a:bodyPr/>
          <a:lstStyle/>
          <a:p>
            <a:r>
              <a:rPr lang="en-US" b="1" dirty="0"/>
              <a:t>Discretionary Access Control</a:t>
            </a:r>
          </a:p>
        </p:txBody>
      </p:sp>
      <p:sp>
        <p:nvSpPr>
          <p:cNvPr id="3" name="Content Placeholder 2">
            <a:extLst>
              <a:ext uri="{FF2B5EF4-FFF2-40B4-BE49-F238E27FC236}">
                <a16:creationId xmlns:a16="http://schemas.microsoft.com/office/drawing/2014/main" id="{D3DC861F-ADD1-D2FD-CD4F-A7D2C9814E0B}"/>
              </a:ext>
            </a:extLst>
          </p:cNvPr>
          <p:cNvSpPr>
            <a:spLocks noGrp="1"/>
          </p:cNvSpPr>
          <p:nvPr>
            <p:ph idx="1"/>
          </p:nvPr>
        </p:nvSpPr>
        <p:spPr>
          <a:xfrm>
            <a:off x="838200" y="1506843"/>
            <a:ext cx="10515600" cy="4351338"/>
          </a:xfrm>
        </p:spPr>
        <p:txBody>
          <a:bodyPr>
            <a:normAutofit lnSpcReduction="10000"/>
          </a:bodyPr>
          <a:lstStyle/>
          <a:p>
            <a:pPr marL="0" indent="0" algn="just">
              <a:buNone/>
            </a:pPr>
            <a:r>
              <a:rPr lang="en-US" dirty="0"/>
              <a:t>Gaining access to a file in the DAC model works like this:</a:t>
            </a:r>
          </a:p>
          <a:p>
            <a:pPr algn="just">
              <a:buFont typeface="Arial" panose="020B0604020202020204" pitchFamily="34" charset="0"/>
              <a:buChar char="•"/>
            </a:pPr>
            <a:r>
              <a:rPr lang="en-US" dirty="0"/>
              <a:t>User 1 creates a file and becomes its owner, or obtains access rights to an existing file.</a:t>
            </a:r>
          </a:p>
          <a:p>
            <a:pPr algn="just">
              <a:buFont typeface="Arial" panose="020B0604020202020204" pitchFamily="34" charset="0"/>
              <a:buChar char="•"/>
            </a:pPr>
            <a:r>
              <a:rPr lang="en-US" dirty="0"/>
              <a:t>User 2 requests access to this file. They provide their credentials: username, password, or something else.</a:t>
            </a:r>
          </a:p>
          <a:p>
            <a:pPr algn="just">
              <a:buFont typeface="Arial" panose="020B0604020202020204" pitchFamily="34" charset="0"/>
              <a:buChar char="•"/>
            </a:pPr>
            <a:r>
              <a:rPr lang="en-US" dirty="0"/>
              <a:t>User 1 grants access at their discretion. However, user 1 can’t grant access rights that exceed their own. For example, if user 1 can only read a document, they can’t allow user 2 to edit it.</a:t>
            </a:r>
          </a:p>
          <a:p>
            <a:pPr algn="just">
              <a:buFont typeface="Arial" panose="020B0604020202020204" pitchFamily="34" charset="0"/>
              <a:buChar char="•"/>
            </a:pPr>
            <a:r>
              <a:rPr lang="en-US" dirty="0"/>
              <a:t>If there’s no contradiction between the ACL created by an administrator and the decision made by user 1, access is granted.</a:t>
            </a:r>
          </a:p>
          <a:p>
            <a:pPr marL="0" indent="0" algn="just">
              <a:buNone/>
            </a:pPr>
            <a:endParaRPr lang="en-US" dirty="0"/>
          </a:p>
        </p:txBody>
      </p:sp>
    </p:spTree>
    <p:extLst>
      <p:ext uri="{BB962C8B-B14F-4D97-AF65-F5344CB8AC3E}">
        <p14:creationId xmlns:p14="http://schemas.microsoft.com/office/powerpoint/2010/main" val="9989793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71B06-2EDB-6051-D729-48255CD5F4B2}"/>
              </a:ext>
            </a:extLst>
          </p:cNvPr>
          <p:cNvSpPr>
            <a:spLocks noGrp="1"/>
          </p:cNvSpPr>
          <p:nvPr>
            <p:ph type="title"/>
          </p:nvPr>
        </p:nvSpPr>
        <p:spPr/>
        <p:txBody>
          <a:bodyPr/>
          <a:lstStyle/>
          <a:p>
            <a:r>
              <a:rPr lang="en-US" b="1" dirty="0"/>
              <a:t>5.4 Discretionary Access Control</a:t>
            </a:r>
          </a:p>
        </p:txBody>
      </p:sp>
      <p:sp>
        <p:nvSpPr>
          <p:cNvPr id="3" name="Content Placeholder 2">
            <a:extLst>
              <a:ext uri="{FF2B5EF4-FFF2-40B4-BE49-F238E27FC236}">
                <a16:creationId xmlns:a16="http://schemas.microsoft.com/office/drawing/2014/main" id="{A258D338-644E-70F6-0B80-5075090A1BF7}"/>
              </a:ext>
            </a:extLst>
          </p:cNvPr>
          <p:cNvSpPr>
            <a:spLocks noGrp="1"/>
          </p:cNvSpPr>
          <p:nvPr>
            <p:ph idx="1"/>
          </p:nvPr>
        </p:nvSpPr>
        <p:spPr>
          <a:xfrm>
            <a:off x="838200" y="1439731"/>
            <a:ext cx="10515600" cy="4351338"/>
          </a:xfrm>
        </p:spPr>
        <p:txBody>
          <a:bodyPr>
            <a:normAutofit/>
          </a:bodyPr>
          <a:lstStyle/>
          <a:p>
            <a:pPr marL="0" indent="0" algn="just">
              <a:lnSpc>
                <a:spcPct val="100000"/>
              </a:lnSpc>
              <a:buNone/>
            </a:pPr>
            <a:r>
              <a:rPr lang="en-US" sz="2400" dirty="0"/>
              <a:t>The permissions in a Discretionary Access Control system commonly include:</a:t>
            </a:r>
          </a:p>
          <a:p>
            <a:pPr algn="just">
              <a:lnSpc>
                <a:spcPct val="100000"/>
              </a:lnSpc>
              <a:buFont typeface="+mj-lt"/>
              <a:buAutoNum type="arabicPeriod"/>
            </a:pPr>
            <a:r>
              <a:rPr lang="en-US" sz="2400" b="1" dirty="0"/>
              <a:t>Read</a:t>
            </a:r>
            <a:r>
              <a:rPr lang="en-US" sz="2400" dirty="0"/>
              <a:t>: Allows users to view the contents of a resource.</a:t>
            </a:r>
          </a:p>
          <a:p>
            <a:pPr algn="just">
              <a:lnSpc>
                <a:spcPct val="100000"/>
              </a:lnSpc>
              <a:buFont typeface="+mj-lt"/>
              <a:buAutoNum type="arabicPeriod"/>
            </a:pPr>
            <a:r>
              <a:rPr lang="en-US" sz="2400" b="1" dirty="0"/>
              <a:t>Write</a:t>
            </a:r>
            <a:r>
              <a:rPr lang="en-US" sz="2400" dirty="0"/>
              <a:t>: Enables users to modify or add to the contents of a resource.</a:t>
            </a:r>
          </a:p>
          <a:p>
            <a:pPr algn="just">
              <a:lnSpc>
                <a:spcPct val="100000"/>
              </a:lnSpc>
              <a:buFont typeface="+mj-lt"/>
              <a:buAutoNum type="arabicPeriod"/>
            </a:pPr>
            <a:r>
              <a:rPr lang="en-US" sz="2400" b="1" dirty="0"/>
              <a:t>Execute</a:t>
            </a:r>
            <a:r>
              <a:rPr lang="en-US" sz="2400" dirty="0"/>
              <a:t>: Grants users the ability to execute or run a resource (typically applicable to executable files or scripts).</a:t>
            </a:r>
          </a:p>
          <a:p>
            <a:pPr algn="just">
              <a:lnSpc>
                <a:spcPct val="100000"/>
              </a:lnSpc>
              <a:buFont typeface="+mj-lt"/>
              <a:buAutoNum type="arabicPeriod"/>
            </a:pPr>
            <a:r>
              <a:rPr lang="en-US" sz="2400" b="1" dirty="0"/>
              <a:t>Delete</a:t>
            </a:r>
            <a:r>
              <a:rPr lang="en-US" sz="2400" dirty="0"/>
              <a:t>: Allows users to remove a resource.</a:t>
            </a:r>
          </a:p>
          <a:p>
            <a:pPr algn="just">
              <a:lnSpc>
                <a:spcPct val="100000"/>
              </a:lnSpc>
              <a:buFont typeface="+mj-lt"/>
              <a:buAutoNum type="arabicPeriod"/>
            </a:pPr>
            <a:r>
              <a:rPr lang="en-US" sz="2400" b="1" dirty="0"/>
              <a:t>Control</a:t>
            </a:r>
            <a:r>
              <a:rPr lang="en-US" sz="2400" dirty="0"/>
              <a:t>: Provides users with the ability to modify access control settings for a resource, including permissions and ACL entries.</a:t>
            </a:r>
          </a:p>
          <a:p>
            <a:pPr marL="0" indent="0" algn="just">
              <a:lnSpc>
                <a:spcPct val="100000"/>
              </a:lnSpc>
              <a:buNone/>
            </a:pPr>
            <a:endParaRPr lang="en-US" sz="2400" dirty="0"/>
          </a:p>
        </p:txBody>
      </p:sp>
    </p:spTree>
    <p:extLst>
      <p:ext uri="{BB962C8B-B14F-4D97-AF65-F5344CB8AC3E}">
        <p14:creationId xmlns:p14="http://schemas.microsoft.com/office/powerpoint/2010/main" val="490733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07FA8-67AE-1CEE-4A17-115C02B8CE76}"/>
              </a:ext>
            </a:extLst>
          </p:cNvPr>
          <p:cNvSpPr>
            <a:spLocks noGrp="1"/>
          </p:cNvSpPr>
          <p:nvPr>
            <p:ph type="title"/>
          </p:nvPr>
        </p:nvSpPr>
        <p:spPr/>
        <p:txBody>
          <a:bodyPr/>
          <a:lstStyle/>
          <a:p>
            <a:r>
              <a:rPr lang="en-US" b="1" dirty="0"/>
              <a:t>5.4 Discretionary Access Control</a:t>
            </a:r>
            <a:endParaRPr lang="en-US" dirty="0"/>
          </a:p>
        </p:txBody>
      </p:sp>
      <p:graphicFrame>
        <p:nvGraphicFramePr>
          <p:cNvPr id="4" name="Table 4">
            <a:extLst>
              <a:ext uri="{FF2B5EF4-FFF2-40B4-BE49-F238E27FC236}">
                <a16:creationId xmlns:a16="http://schemas.microsoft.com/office/drawing/2014/main" id="{114FCD29-12E3-E68A-97E2-977B7106B06C}"/>
              </a:ext>
            </a:extLst>
          </p:cNvPr>
          <p:cNvGraphicFramePr>
            <a:graphicFrameLocks noGrp="1"/>
          </p:cNvGraphicFramePr>
          <p:nvPr>
            <p:ph idx="1"/>
            <p:extLst>
              <p:ext uri="{D42A27DB-BD31-4B8C-83A1-F6EECF244321}">
                <p14:modId xmlns:p14="http://schemas.microsoft.com/office/powerpoint/2010/main" val="3121098994"/>
              </p:ext>
            </p:extLst>
          </p:nvPr>
        </p:nvGraphicFramePr>
        <p:xfrm>
          <a:off x="838200" y="1825625"/>
          <a:ext cx="10515600" cy="385064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228273665"/>
                    </a:ext>
                  </a:extLst>
                </a:gridCol>
                <a:gridCol w="5257800">
                  <a:extLst>
                    <a:ext uri="{9D8B030D-6E8A-4147-A177-3AD203B41FA5}">
                      <a16:colId xmlns:a16="http://schemas.microsoft.com/office/drawing/2014/main" val="3246581060"/>
                    </a:ext>
                  </a:extLst>
                </a:gridCol>
              </a:tblGrid>
              <a:tr h="370840">
                <a:tc>
                  <a:txBody>
                    <a:bodyPr/>
                    <a:lstStyle/>
                    <a:p>
                      <a:pPr algn="ctr"/>
                      <a:r>
                        <a:rPr lang="en-US" dirty="0"/>
                        <a:t>Pros</a:t>
                      </a:r>
                    </a:p>
                  </a:txBody>
                  <a:tcPr/>
                </a:tc>
                <a:tc>
                  <a:txBody>
                    <a:bodyPr/>
                    <a:lstStyle/>
                    <a:p>
                      <a:pPr algn="ctr"/>
                      <a:r>
                        <a:rPr lang="en-US" dirty="0"/>
                        <a:t>Cons</a:t>
                      </a:r>
                    </a:p>
                  </a:txBody>
                  <a:tcPr/>
                </a:tc>
                <a:extLst>
                  <a:ext uri="{0D108BD9-81ED-4DB2-BD59-A6C34878D82A}">
                    <a16:rowId xmlns:a16="http://schemas.microsoft.com/office/drawing/2014/main" val="157818001"/>
                  </a:ext>
                </a:extLst>
              </a:tr>
              <a:tr h="370840">
                <a:tc>
                  <a:txBody>
                    <a:bodyPr/>
                    <a:lstStyle/>
                    <a:p>
                      <a:pPr algn="just"/>
                      <a:r>
                        <a:rPr lang="en-US" b="1" dirty="0"/>
                        <a:t>User-friendly - </a:t>
                      </a:r>
                      <a:r>
                        <a:rPr lang="en-US" dirty="0"/>
                        <a:t>Users can manage their data and quickly access data of other users.</a:t>
                      </a:r>
                    </a:p>
                  </a:txBody>
                  <a:tcPr/>
                </a:tc>
                <a:tc>
                  <a:txBody>
                    <a:bodyPr/>
                    <a:lstStyle/>
                    <a:p>
                      <a:pPr algn="just"/>
                      <a:r>
                        <a:rPr lang="en-US" b="1" dirty="0"/>
                        <a:t>Low level of data protection - </a:t>
                      </a:r>
                      <a:r>
                        <a:rPr lang="en-US" dirty="0"/>
                        <a:t>DAC can’t ensure reliable security because users can share their data however they like.</a:t>
                      </a:r>
                    </a:p>
                  </a:txBody>
                  <a:tcPr/>
                </a:tc>
                <a:extLst>
                  <a:ext uri="{0D108BD9-81ED-4DB2-BD59-A6C34878D82A}">
                    <a16:rowId xmlns:a16="http://schemas.microsoft.com/office/drawing/2014/main" val="4003672721"/>
                  </a:ext>
                </a:extLst>
              </a:tr>
              <a:tr h="370840">
                <a:tc>
                  <a:txBody>
                    <a:bodyPr/>
                    <a:lstStyle/>
                    <a:p>
                      <a:pPr algn="just"/>
                      <a:r>
                        <a:rPr lang="en-US" b="1" dirty="0"/>
                        <a:t>Flexible - </a:t>
                      </a:r>
                      <a:r>
                        <a:rPr lang="en-US" dirty="0"/>
                        <a:t>Users can configure data access parameters without administrators.</a:t>
                      </a:r>
                    </a:p>
                  </a:txBody>
                  <a:tcPr/>
                </a:tc>
                <a:tc>
                  <a:txBody>
                    <a:bodyPr/>
                    <a:lstStyle/>
                    <a:p>
                      <a:pPr algn="just"/>
                      <a:r>
                        <a:rPr lang="en-US" b="1" dirty="0"/>
                        <a:t>Obscure access management - </a:t>
                      </a:r>
                      <a:r>
                        <a:rPr lang="en-US" dirty="0"/>
                        <a:t>There’s no centralized access management, so in order to find out access parameters, you have to check each ACL.</a:t>
                      </a:r>
                    </a:p>
                  </a:txBody>
                  <a:tcPr/>
                </a:tc>
                <a:extLst>
                  <a:ext uri="{0D108BD9-81ED-4DB2-BD59-A6C34878D82A}">
                    <a16:rowId xmlns:a16="http://schemas.microsoft.com/office/drawing/2014/main" val="3842604005"/>
                  </a:ext>
                </a:extLst>
              </a:tr>
              <a:tr h="370840">
                <a:tc>
                  <a:txBody>
                    <a:bodyPr/>
                    <a:lstStyle/>
                    <a:p>
                      <a:pPr algn="just"/>
                      <a:r>
                        <a:rPr lang="en-US" b="1" dirty="0"/>
                        <a:t>Easy to maintain - </a:t>
                      </a:r>
                      <a:r>
                        <a:rPr lang="en-US" dirty="0"/>
                        <a:t>Adding new objects and users doesn’t take much time for the administrator.</a:t>
                      </a:r>
                    </a:p>
                  </a:txBody>
                  <a:tcPr/>
                </a:tc>
                <a:tc>
                  <a:txBody>
                    <a:bodyPr/>
                    <a:lstStyle/>
                    <a:p>
                      <a:pPr algn="just"/>
                      <a:r>
                        <a:rPr lang="en-US" b="1" dirty="0"/>
                        <a:t>Overlay of user privileges - </a:t>
                      </a:r>
                      <a:r>
                        <a:rPr lang="en-US" dirty="0"/>
                        <a:t>A permissions conflict may happen with users of multiple nested workgroups.</a:t>
                      </a:r>
                    </a:p>
                  </a:txBody>
                  <a:tcPr/>
                </a:tc>
                <a:extLst>
                  <a:ext uri="{0D108BD9-81ED-4DB2-BD59-A6C34878D82A}">
                    <a16:rowId xmlns:a16="http://schemas.microsoft.com/office/drawing/2014/main" val="137860138"/>
                  </a:ext>
                </a:extLst>
              </a:tr>
              <a:tr h="370840">
                <a:tc>
                  <a:txBody>
                    <a:bodyPr/>
                    <a:lstStyle/>
                    <a:p>
                      <a:pPr algn="just"/>
                      <a:r>
                        <a:rPr lang="en-US" b="1" dirty="0"/>
                        <a:t>Granular - </a:t>
                      </a:r>
                      <a:r>
                        <a:rPr lang="en-US" dirty="0"/>
                        <a:t>Users can configure access parameters for each piece of data.</a:t>
                      </a:r>
                    </a:p>
                  </a:txBody>
                  <a:tcPr/>
                </a:tc>
                <a:tc>
                  <a:txBody>
                    <a:bodyPr/>
                    <a:lstStyle/>
                    <a:p>
                      <a:pPr algn="just"/>
                      <a:endParaRPr lang="en-US"/>
                    </a:p>
                  </a:txBody>
                  <a:tcPr/>
                </a:tc>
                <a:extLst>
                  <a:ext uri="{0D108BD9-81ED-4DB2-BD59-A6C34878D82A}">
                    <a16:rowId xmlns:a16="http://schemas.microsoft.com/office/drawing/2014/main" val="1791710828"/>
                  </a:ext>
                </a:extLst>
              </a:tr>
              <a:tr h="370840">
                <a:tc>
                  <a:txBody>
                    <a:bodyPr/>
                    <a:lstStyle/>
                    <a:p>
                      <a:pPr algn="just"/>
                      <a:endParaRPr lang="en-US"/>
                    </a:p>
                  </a:txBody>
                  <a:tcPr/>
                </a:tc>
                <a:tc>
                  <a:txBody>
                    <a:bodyPr/>
                    <a:lstStyle/>
                    <a:p>
                      <a:pPr algn="just"/>
                      <a:endParaRPr lang="en-US" dirty="0"/>
                    </a:p>
                  </a:txBody>
                  <a:tcPr/>
                </a:tc>
                <a:extLst>
                  <a:ext uri="{0D108BD9-81ED-4DB2-BD59-A6C34878D82A}">
                    <a16:rowId xmlns:a16="http://schemas.microsoft.com/office/drawing/2014/main" val="1675675493"/>
                  </a:ext>
                </a:extLst>
              </a:tr>
            </a:tbl>
          </a:graphicData>
        </a:graphic>
      </p:graphicFrame>
    </p:spTree>
    <p:extLst>
      <p:ext uri="{BB962C8B-B14F-4D97-AF65-F5344CB8AC3E}">
        <p14:creationId xmlns:p14="http://schemas.microsoft.com/office/powerpoint/2010/main" val="860979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B7812-5593-EF4B-CCA6-BE70FEDD8DDD}"/>
              </a:ext>
            </a:extLst>
          </p:cNvPr>
          <p:cNvSpPr>
            <a:spLocks noGrp="1"/>
          </p:cNvSpPr>
          <p:nvPr>
            <p:ph type="title"/>
          </p:nvPr>
        </p:nvSpPr>
        <p:spPr/>
        <p:txBody>
          <a:bodyPr/>
          <a:lstStyle/>
          <a:p>
            <a:r>
              <a:rPr lang="en-US" b="1" dirty="0"/>
              <a:t>5.5 Role based Access Control</a:t>
            </a:r>
          </a:p>
        </p:txBody>
      </p:sp>
      <p:sp>
        <p:nvSpPr>
          <p:cNvPr id="3" name="Content Placeholder 2">
            <a:extLst>
              <a:ext uri="{FF2B5EF4-FFF2-40B4-BE49-F238E27FC236}">
                <a16:creationId xmlns:a16="http://schemas.microsoft.com/office/drawing/2014/main" id="{D841E689-7B44-EE6A-F1A4-49D11417B8EA}"/>
              </a:ext>
            </a:extLst>
          </p:cNvPr>
          <p:cNvSpPr>
            <a:spLocks noGrp="1"/>
          </p:cNvSpPr>
          <p:nvPr>
            <p:ph idx="1"/>
          </p:nvPr>
        </p:nvSpPr>
        <p:spPr/>
        <p:txBody>
          <a:bodyPr>
            <a:normAutofit/>
          </a:bodyPr>
          <a:lstStyle/>
          <a:p>
            <a:pPr algn="just"/>
            <a:r>
              <a:rPr lang="en-US" dirty="0"/>
              <a:t>a security model used in computer systems to control access to resources based on the roles assigned to users.</a:t>
            </a:r>
          </a:p>
          <a:p>
            <a:pPr algn="just"/>
            <a:r>
              <a:rPr lang="en-US" dirty="0"/>
              <a:t>In an RBAC system, access control is determined by a user's job function or role within an organization, rather than their individual identity.</a:t>
            </a:r>
          </a:p>
          <a:p>
            <a:pPr algn="just"/>
            <a:r>
              <a:rPr lang="en-US" dirty="0"/>
              <a:t>each user is assigned one or more roles, and each role is associated with a set of permissions that define the actions the user is authorized to perform.</a:t>
            </a:r>
          </a:p>
        </p:txBody>
      </p:sp>
    </p:spTree>
    <p:extLst>
      <p:ext uri="{BB962C8B-B14F-4D97-AF65-F5344CB8AC3E}">
        <p14:creationId xmlns:p14="http://schemas.microsoft.com/office/powerpoint/2010/main" val="26807220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B7812-5593-EF4B-CCA6-BE70FEDD8DDD}"/>
              </a:ext>
            </a:extLst>
          </p:cNvPr>
          <p:cNvSpPr>
            <a:spLocks noGrp="1"/>
          </p:cNvSpPr>
          <p:nvPr>
            <p:ph type="title"/>
          </p:nvPr>
        </p:nvSpPr>
        <p:spPr/>
        <p:txBody>
          <a:bodyPr/>
          <a:lstStyle/>
          <a:p>
            <a:r>
              <a:rPr lang="en-US" b="1" dirty="0"/>
              <a:t>5.5 Role based Access Control</a:t>
            </a:r>
          </a:p>
        </p:txBody>
      </p:sp>
      <p:sp>
        <p:nvSpPr>
          <p:cNvPr id="3" name="Content Placeholder 2">
            <a:extLst>
              <a:ext uri="{FF2B5EF4-FFF2-40B4-BE49-F238E27FC236}">
                <a16:creationId xmlns:a16="http://schemas.microsoft.com/office/drawing/2014/main" id="{D841E689-7B44-EE6A-F1A4-49D11417B8EA}"/>
              </a:ext>
            </a:extLst>
          </p:cNvPr>
          <p:cNvSpPr>
            <a:spLocks noGrp="1"/>
          </p:cNvSpPr>
          <p:nvPr>
            <p:ph idx="1"/>
          </p:nvPr>
        </p:nvSpPr>
        <p:spPr/>
        <p:txBody>
          <a:bodyPr>
            <a:normAutofit/>
          </a:bodyPr>
          <a:lstStyle/>
          <a:p>
            <a:pPr marL="0" indent="0" algn="just">
              <a:buNone/>
            </a:pPr>
            <a:r>
              <a:rPr lang="en-US" dirty="0"/>
              <a:t>The RBAC model typically includes three components:</a:t>
            </a:r>
          </a:p>
          <a:p>
            <a:pPr algn="just">
              <a:buFont typeface="+mj-lt"/>
              <a:buAutoNum type="arabicPeriod"/>
            </a:pPr>
            <a:r>
              <a:rPr lang="en-US" b="1" dirty="0"/>
              <a:t>Role Assignment</a:t>
            </a:r>
            <a:r>
              <a:rPr lang="en-US" dirty="0"/>
              <a:t>: Users are assigned roles based on their job function or responsibilities within the organization.</a:t>
            </a:r>
          </a:p>
          <a:p>
            <a:pPr algn="just">
              <a:buFont typeface="+mj-lt"/>
              <a:buAutoNum type="arabicPeriod"/>
            </a:pPr>
            <a:r>
              <a:rPr lang="en-US" b="1" dirty="0"/>
              <a:t>Role Permissions</a:t>
            </a:r>
            <a:r>
              <a:rPr lang="en-US" dirty="0"/>
              <a:t>: Each role is associated with a set of permissions that define the actions users with that role can perform.</a:t>
            </a:r>
          </a:p>
          <a:p>
            <a:pPr algn="just">
              <a:buFont typeface="+mj-lt"/>
              <a:buAutoNum type="arabicPeriod"/>
            </a:pPr>
            <a:r>
              <a:rPr lang="en-US" b="1" dirty="0"/>
              <a:t>Role Management</a:t>
            </a:r>
            <a:r>
              <a:rPr lang="en-US" dirty="0"/>
              <a:t>: Administrators manage the roles and their associated permissions, and can add or remove roles as needed.</a:t>
            </a:r>
          </a:p>
          <a:p>
            <a:pPr marL="0" indent="0" algn="just">
              <a:buNone/>
            </a:pPr>
            <a:endParaRPr lang="en-US" dirty="0"/>
          </a:p>
        </p:txBody>
      </p:sp>
    </p:spTree>
    <p:extLst>
      <p:ext uri="{BB962C8B-B14F-4D97-AF65-F5344CB8AC3E}">
        <p14:creationId xmlns:p14="http://schemas.microsoft.com/office/powerpoint/2010/main" val="31385723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0A6D3-C18F-FDB4-3403-ABA4F2EEB491}"/>
              </a:ext>
            </a:extLst>
          </p:cNvPr>
          <p:cNvSpPr>
            <a:spLocks noGrp="1"/>
          </p:cNvSpPr>
          <p:nvPr>
            <p:ph type="title"/>
          </p:nvPr>
        </p:nvSpPr>
        <p:spPr/>
        <p:txBody>
          <a:bodyPr/>
          <a:lstStyle/>
          <a:p>
            <a:endParaRPr lang="en-US"/>
          </a:p>
        </p:txBody>
      </p:sp>
      <p:pic>
        <p:nvPicPr>
          <p:cNvPr id="5" name="Content Placeholder 4" descr="A diagram of a role-based access control&#10;&#10;Description automatically generated with medium confidence">
            <a:extLst>
              <a:ext uri="{FF2B5EF4-FFF2-40B4-BE49-F238E27FC236}">
                <a16:creationId xmlns:a16="http://schemas.microsoft.com/office/drawing/2014/main" id="{45DD7C9F-6026-D55B-6B4A-8F87DE26F6C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75317" y="741818"/>
            <a:ext cx="9266853" cy="5560112"/>
          </a:xfrm>
        </p:spPr>
      </p:pic>
    </p:spTree>
    <p:extLst>
      <p:ext uri="{BB962C8B-B14F-4D97-AF65-F5344CB8AC3E}">
        <p14:creationId xmlns:p14="http://schemas.microsoft.com/office/powerpoint/2010/main" val="14836910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C80FC-5F1E-0EA4-AFD0-48C0DA64EE8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770298F-8C25-F6F5-D88D-F6ECB90B30A3}"/>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12716477-10E5-9CAC-C858-3B8929BF7235}"/>
              </a:ext>
            </a:extLst>
          </p:cNvPr>
          <p:cNvPicPr>
            <a:picLocks noChangeAspect="1"/>
          </p:cNvPicPr>
          <p:nvPr/>
        </p:nvPicPr>
        <p:blipFill>
          <a:blip r:embed="rId2"/>
          <a:stretch>
            <a:fillRect/>
          </a:stretch>
        </p:blipFill>
        <p:spPr>
          <a:xfrm>
            <a:off x="2890837" y="759072"/>
            <a:ext cx="6410325" cy="5172075"/>
          </a:xfrm>
          <a:prstGeom prst="rect">
            <a:avLst/>
          </a:prstGeom>
        </p:spPr>
      </p:pic>
    </p:spTree>
    <p:extLst>
      <p:ext uri="{BB962C8B-B14F-4D97-AF65-F5344CB8AC3E}">
        <p14:creationId xmlns:p14="http://schemas.microsoft.com/office/powerpoint/2010/main" val="18197965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5B3C6-6CC7-B56D-6B47-7FE97C5AC759}"/>
              </a:ext>
            </a:extLst>
          </p:cNvPr>
          <p:cNvSpPr>
            <a:spLocks noGrp="1"/>
          </p:cNvSpPr>
          <p:nvPr>
            <p:ph type="title"/>
          </p:nvPr>
        </p:nvSpPr>
        <p:spPr/>
        <p:txBody>
          <a:bodyPr/>
          <a:lstStyle/>
          <a:p>
            <a:r>
              <a:rPr lang="en-US" b="1" dirty="0"/>
              <a:t>5.5 Role based Access Control</a:t>
            </a:r>
          </a:p>
        </p:txBody>
      </p:sp>
      <p:graphicFrame>
        <p:nvGraphicFramePr>
          <p:cNvPr id="4" name="Table 4">
            <a:extLst>
              <a:ext uri="{FF2B5EF4-FFF2-40B4-BE49-F238E27FC236}">
                <a16:creationId xmlns:a16="http://schemas.microsoft.com/office/drawing/2014/main" id="{CEA4E420-C44E-1F92-1207-6429BECBA36B}"/>
              </a:ext>
            </a:extLst>
          </p:cNvPr>
          <p:cNvGraphicFramePr>
            <a:graphicFrameLocks noGrp="1"/>
          </p:cNvGraphicFramePr>
          <p:nvPr>
            <p:ph idx="1"/>
            <p:extLst>
              <p:ext uri="{D42A27DB-BD31-4B8C-83A1-F6EECF244321}">
                <p14:modId xmlns:p14="http://schemas.microsoft.com/office/powerpoint/2010/main" val="470821211"/>
              </p:ext>
            </p:extLst>
          </p:nvPr>
        </p:nvGraphicFramePr>
        <p:xfrm>
          <a:off x="838200" y="1825625"/>
          <a:ext cx="10515600" cy="212344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779959937"/>
                    </a:ext>
                  </a:extLst>
                </a:gridCol>
                <a:gridCol w="5257800">
                  <a:extLst>
                    <a:ext uri="{9D8B030D-6E8A-4147-A177-3AD203B41FA5}">
                      <a16:colId xmlns:a16="http://schemas.microsoft.com/office/drawing/2014/main" val="3773151985"/>
                    </a:ext>
                  </a:extLst>
                </a:gridCol>
              </a:tblGrid>
              <a:tr h="370840">
                <a:tc>
                  <a:txBody>
                    <a:bodyPr/>
                    <a:lstStyle/>
                    <a:p>
                      <a:pPr algn="ctr"/>
                      <a:r>
                        <a:rPr lang="en-US" dirty="0"/>
                        <a:t>Pros</a:t>
                      </a:r>
                    </a:p>
                  </a:txBody>
                  <a:tcPr/>
                </a:tc>
                <a:tc>
                  <a:txBody>
                    <a:bodyPr/>
                    <a:lstStyle/>
                    <a:p>
                      <a:pPr algn="ctr"/>
                      <a:r>
                        <a:rPr lang="en-US" dirty="0"/>
                        <a:t>Cons</a:t>
                      </a:r>
                    </a:p>
                  </a:txBody>
                  <a:tcPr/>
                </a:tc>
                <a:extLst>
                  <a:ext uri="{0D108BD9-81ED-4DB2-BD59-A6C34878D82A}">
                    <a16:rowId xmlns:a16="http://schemas.microsoft.com/office/drawing/2014/main" val="2847153983"/>
                  </a:ext>
                </a:extLst>
              </a:tr>
              <a:tr h="370840">
                <a:tc>
                  <a:txBody>
                    <a:bodyPr/>
                    <a:lstStyle/>
                    <a:p>
                      <a:pPr algn="ctr"/>
                      <a:r>
                        <a:rPr lang="en-US" dirty="0"/>
                        <a:t>Improved Security</a:t>
                      </a:r>
                    </a:p>
                  </a:txBody>
                  <a:tcPr/>
                </a:tc>
                <a:tc>
                  <a:txBody>
                    <a:bodyPr/>
                    <a:lstStyle/>
                    <a:p>
                      <a:pPr algn="ctr"/>
                      <a:r>
                        <a:rPr lang="en-US" dirty="0"/>
                        <a:t>Complex Implementation</a:t>
                      </a:r>
                    </a:p>
                  </a:txBody>
                  <a:tcPr/>
                </a:tc>
                <a:extLst>
                  <a:ext uri="{0D108BD9-81ED-4DB2-BD59-A6C34878D82A}">
                    <a16:rowId xmlns:a16="http://schemas.microsoft.com/office/drawing/2014/main" val="3699505916"/>
                  </a:ext>
                </a:extLst>
              </a:tr>
              <a:tr h="370840">
                <a:tc>
                  <a:txBody>
                    <a:bodyPr/>
                    <a:lstStyle/>
                    <a:p>
                      <a:pPr algn="ctr"/>
                      <a:r>
                        <a:rPr lang="en-US" dirty="0"/>
                        <a:t>Simplified Administration</a:t>
                      </a:r>
                    </a:p>
                  </a:txBody>
                  <a:tcPr/>
                </a:tc>
                <a:tc>
                  <a:txBody>
                    <a:bodyPr/>
                    <a:lstStyle/>
                    <a:p>
                      <a:pPr algn="ctr"/>
                      <a:r>
                        <a:rPr lang="en-US" dirty="0"/>
                        <a:t>Limited Flexibility</a:t>
                      </a:r>
                    </a:p>
                  </a:txBody>
                  <a:tcPr/>
                </a:tc>
                <a:extLst>
                  <a:ext uri="{0D108BD9-81ED-4DB2-BD59-A6C34878D82A}">
                    <a16:rowId xmlns:a16="http://schemas.microsoft.com/office/drawing/2014/main" val="2812977921"/>
                  </a:ext>
                </a:extLst>
              </a:tr>
              <a:tr h="370840">
                <a:tc>
                  <a:txBody>
                    <a:bodyPr/>
                    <a:lstStyle/>
                    <a:p>
                      <a:pPr algn="ctr"/>
                      <a:r>
                        <a:rPr lang="en-US" dirty="0"/>
                        <a:t>Enhanced Scalability</a:t>
                      </a:r>
                    </a:p>
                  </a:txBody>
                  <a:tcPr/>
                </a:tc>
                <a:tc>
                  <a:txBody>
                    <a:bodyPr/>
                    <a:lstStyle/>
                    <a:p>
                      <a:pPr algn="ctr"/>
                      <a:r>
                        <a:rPr lang="en-US" dirty="0"/>
                        <a:t>Role Proliferation</a:t>
                      </a:r>
                    </a:p>
                  </a:txBody>
                  <a:tcPr/>
                </a:tc>
                <a:extLst>
                  <a:ext uri="{0D108BD9-81ED-4DB2-BD59-A6C34878D82A}">
                    <a16:rowId xmlns:a16="http://schemas.microsoft.com/office/drawing/2014/main" val="243708979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Auditing and Compliance</a:t>
                      </a:r>
                    </a:p>
                    <a:p>
                      <a:pPr algn="ctr"/>
                      <a:endParaRPr lang="en-US" dirty="0"/>
                    </a:p>
                  </a:txBody>
                  <a:tcPr/>
                </a:tc>
                <a:tc>
                  <a:txBody>
                    <a:bodyPr/>
                    <a:lstStyle/>
                    <a:p>
                      <a:pPr algn="ctr"/>
                      <a:r>
                        <a:rPr lang="en-US" dirty="0"/>
                        <a:t>Initial Setup and Maintenance</a:t>
                      </a:r>
                    </a:p>
                  </a:txBody>
                  <a:tcPr/>
                </a:tc>
                <a:extLst>
                  <a:ext uri="{0D108BD9-81ED-4DB2-BD59-A6C34878D82A}">
                    <a16:rowId xmlns:a16="http://schemas.microsoft.com/office/drawing/2014/main" val="4039302401"/>
                  </a:ext>
                </a:extLst>
              </a:tr>
            </a:tbl>
          </a:graphicData>
        </a:graphic>
      </p:graphicFrame>
    </p:spTree>
    <p:extLst>
      <p:ext uri="{BB962C8B-B14F-4D97-AF65-F5344CB8AC3E}">
        <p14:creationId xmlns:p14="http://schemas.microsoft.com/office/powerpoint/2010/main" val="528390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C13DC-47E9-DC02-1F29-721E365EDC86}"/>
              </a:ext>
            </a:extLst>
          </p:cNvPr>
          <p:cNvSpPr>
            <a:spLocks noGrp="1"/>
          </p:cNvSpPr>
          <p:nvPr>
            <p:ph type="title"/>
          </p:nvPr>
        </p:nvSpPr>
        <p:spPr/>
        <p:txBody>
          <a:bodyPr/>
          <a:lstStyle/>
          <a:p>
            <a:r>
              <a:rPr lang="en-US" b="1" dirty="0"/>
              <a:t>5.6 Attribute based Access Control</a:t>
            </a:r>
          </a:p>
        </p:txBody>
      </p:sp>
      <p:sp>
        <p:nvSpPr>
          <p:cNvPr id="3" name="Content Placeholder 2">
            <a:extLst>
              <a:ext uri="{FF2B5EF4-FFF2-40B4-BE49-F238E27FC236}">
                <a16:creationId xmlns:a16="http://schemas.microsoft.com/office/drawing/2014/main" id="{8EB9454C-788D-8271-8882-FEBBF8836446}"/>
              </a:ext>
            </a:extLst>
          </p:cNvPr>
          <p:cNvSpPr>
            <a:spLocks noGrp="1"/>
          </p:cNvSpPr>
          <p:nvPr>
            <p:ph idx="1"/>
          </p:nvPr>
        </p:nvSpPr>
        <p:spPr/>
        <p:txBody>
          <a:bodyPr>
            <a:normAutofit/>
          </a:bodyPr>
          <a:lstStyle/>
          <a:p>
            <a:pPr algn="just">
              <a:lnSpc>
                <a:spcPct val="100000"/>
              </a:lnSpc>
            </a:pPr>
            <a:r>
              <a:rPr lang="en-US" sz="2400" dirty="0"/>
              <a:t>a security model used in computer systems to control access to resources based on attributes associated with users, resources, and environmental conditions.</a:t>
            </a:r>
          </a:p>
          <a:p>
            <a:pPr algn="just">
              <a:lnSpc>
                <a:spcPct val="100000"/>
              </a:lnSpc>
            </a:pPr>
            <a:r>
              <a:rPr lang="en-US" sz="2400" dirty="0"/>
              <a:t>access control decisions are made by evaluating the attributes and their values, rather than relying solely on roles or identities.</a:t>
            </a:r>
          </a:p>
          <a:p>
            <a:pPr algn="just">
              <a:lnSpc>
                <a:spcPct val="100000"/>
              </a:lnSpc>
            </a:pPr>
            <a:r>
              <a:rPr lang="en-US" sz="2400" dirty="0"/>
              <a:t>access control policies are defined based on attributes such as user attributes (e.g., department, job title), resource attributes (e.g., sensitivity level, type), and environmental attributes (e.g., time of day, location). </a:t>
            </a:r>
          </a:p>
        </p:txBody>
      </p:sp>
    </p:spTree>
    <p:extLst>
      <p:ext uri="{BB962C8B-B14F-4D97-AF65-F5344CB8AC3E}">
        <p14:creationId xmlns:p14="http://schemas.microsoft.com/office/powerpoint/2010/main" val="14497942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5360A-FB85-F499-5305-89C526DC7499}"/>
              </a:ext>
            </a:extLst>
          </p:cNvPr>
          <p:cNvSpPr>
            <a:spLocks noGrp="1"/>
          </p:cNvSpPr>
          <p:nvPr>
            <p:ph type="title"/>
          </p:nvPr>
        </p:nvSpPr>
        <p:spPr/>
        <p:txBody>
          <a:bodyPr/>
          <a:lstStyle/>
          <a:p>
            <a:r>
              <a:rPr lang="en-US" b="1" dirty="0"/>
              <a:t>5.6 Attribute based Access Control</a:t>
            </a:r>
          </a:p>
        </p:txBody>
      </p:sp>
      <p:sp>
        <p:nvSpPr>
          <p:cNvPr id="3" name="Content Placeholder 2">
            <a:extLst>
              <a:ext uri="{FF2B5EF4-FFF2-40B4-BE49-F238E27FC236}">
                <a16:creationId xmlns:a16="http://schemas.microsoft.com/office/drawing/2014/main" id="{8FEE8C1E-5AFA-0DC2-E252-4F5EF270FEEB}"/>
              </a:ext>
            </a:extLst>
          </p:cNvPr>
          <p:cNvSpPr>
            <a:spLocks noGrp="1"/>
          </p:cNvSpPr>
          <p:nvPr>
            <p:ph idx="1"/>
          </p:nvPr>
        </p:nvSpPr>
        <p:spPr>
          <a:xfrm>
            <a:off x="838200" y="1601690"/>
            <a:ext cx="10515600" cy="4351338"/>
          </a:xfrm>
        </p:spPr>
        <p:txBody>
          <a:bodyPr/>
          <a:lstStyle/>
          <a:p>
            <a:pPr marL="0" indent="0">
              <a:buNone/>
            </a:pPr>
            <a:r>
              <a:rPr lang="en-US" dirty="0"/>
              <a:t>Here are the four main categories of attributes:</a:t>
            </a:r>
          </a:p>
          <a:p>
            <a:pPr marL="0" indent="0">
              <a:buNone/>
            </a:pPr>
            <a:endParaRPr lang="en-US" dirty="0"/>
          </a:p>
        </p:txBody>
      </p:sp>
      <p:pic>
        <p:nvPicPr>
          <p:cNvPr id="5" name="Picture 4">
            <a:extLst>
              <a:ext uri="{FF2B5EF4-FFF2-40B4-BE49-F238E27FC236}">
                <a16:creationId xmlns:a16="http://schemas.microsoft.com/office/drawing/2014/main" id="{C218C768-83E8-D517-DB77-5BE22B1E122B}"/>
              </a:ext>
            </a:extLst>
          </p:cNvPr>
          <p:cNvPicPr>
            <a:picLocks noChangeAspect="1"/>
          </p:cNvPicPr>
          <p:nvPr/>
        </p:nvPicPr>
        <p:blipFill>
          <a:blip r:embed="rId2"/>
          <a:stretch>
            <a:fillRect/>
          </a:stretch>
        </p:blipFill>
        <p:spPr>
          <a:xfrm>
            <a:off x="2264110" y="2006488"/>
            <a:ext cx="6791325" cy="4343400"/>
          </a:xfrm>
          <a:prstGeom prst="rect">
            <a:avLst/>
          </a:prstGeom>
        </p:spPr>
      </p:pic>
    </p:spTree>
    <p:extLst>
      <p:ext uri="{BB962C8B-B14F-4D97-AF65-F5344CB8AC3E}">
        <p14:creationId xmlns:p14="http://schemas.microsoft.com/office/powerpoint/2010/main" val="8260919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E05B5-E67D-EB9A-F805-2854955A6AED}"/>
              </a:ext>
            </a:extLst>
          </p:cNvPr>
          <p:cNvSpPr>
            <a:spLocks noGrp="1"/>
          </p:cNvSpPr>
          <p:nvPr>
            <p:ph type="title"/>
          </p:nvPr>
        </p:nvSpPr>
        <p:spPr/>
        <p:txBody>
          <a:bodyPr/>
          <a:lstStyle/>
          <a:p>
            <a:r>
              <a:rPr lang="en-US" b="1" dirty="0"/>
              <a:t>5.6 Attribute based Access Control</a:t>
            </a:r>
          </a:p>
        </p:txBody>
      </p:sp>
      <p:sp>
        <p:nvSpPr>
          <p:cNvPr id="3" name="Content Placeholder 2">
            <a:extLst>
              <a:ext uri="{FF2B5EF4-FFF2-40B4-BE49-F238E27FC236}">
                <a16:creationId xmlns:a16="http://schemas.microsoft.com/office/drawing/2014/main" id="{EF15BCDB-1906-A6AA-5F48-09744F59BEF3}"/>
              </a:ext>
            </a:extLst>
          </p:cNvPr>
          <p:cNvSpPr>
            <a:spLocks noGrp="1"/>
          </p:cNvSpPr>
          <p:nvPr>
            <p:ph idx="1"/>
          </p:nvPr>
        </p:nvSpPr>
        <p:spPr/>
        <p:txBody>
          <a:bodyPr/>
          <a:lstStyle/>
          <a:p>
            <a:pPr marL="0" indent="0">
              <a:buNone/>
            </a:pPr>
            <a:r>
              <a:rPr lang="en-US" dirty="0"/>
              <a:t>Here is how the process typically works:</a:t>
            </a:r>
          </a:p>
          <a:p>
            <a:pPr>
              <a:buFont typeface="+mj-lt"/>
              <a:buAutoNum type="arabicPeriod"/>
            </a:pPr>
            <a:r>
              <a:rPr lang="en-US" dirty="0"/>
              <a:t>An access request is triggered</a:t>
            </a:r>
          </a:p>
          <a:p>
            <a:pPr>
              <a:buFont typeface="+mj-lt"/>
              <a:buAutoNum type="arabicPeriod"/>
            </a:pPr>
            <a:r>
              <a:rPr lang="en-US" dirty="0"/>
              <a:t>The ABAC tool scans attributes to determine if they match existing policies. </a:t>
            </a:r>
          </a:p>
          <a:p>
            <a:pPr>
              <a:buFont typeface="+mj-lt"/>
              <a:buAutoNum type="arabicPeriod"/>
            </a:pPr>
            <a:r>
              <a:rPr lang="en-US" dirty="0"/>
              <a:t>If the attributes match a policy, the system grants access to the user.</a:t>
            </a:r>
          </a:p>
          <a:p>
            <a:endParaRPr lang="en-US" dirty="0"/>
          </a:p>
        </p:txBody>
      </p:sp>
    </p:spTree>
    <p:extLst>
      <p:ext uri="{BB962C8B-B14F-4D97-AF65-F5344CB8AC3E}">
        <p14:creationId xmlns:p14="http://schemas.microsoft.com/office/powerpoint/2010/main" val="35125419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563BA-5FBF-3F68-4A8D-689A2C53DB62}"/>
              </a:ext>
            </a:extLst>
          </p:cNvPr>
          <p:cNvSpPr>
            <a:spLocks noGrp="1"/>
          </p:cNvSpPr>
          <p:nvPr>
            <p:ph type="title"/>
          </p:nvPr>
        </p:nvSpPr>
        <p:spPr>
          <a:xfrm>
            <a:off x="838200" y="365125"/>
            <a:ext cx="10515600" cy="1010669"/>
          </a:xfrm>
        </p:spPr>
        <p:txBody>
          <a:bodyPr/>
          <a:lstStyle/>
          <a:p>
            <a:r>
              <a:rPr lang="en-US" b="1" dirty="0"/>
              <a:t>5.6 Attribute based Access Control</a:t>
            </a:r>
          </a:p>
        </p:txBody>
      </p:sp>
      <p:graphicFrame>
        <p:nvGraphicFramePr>
          <p:cNvPr id="4" name="Table 4">
            <a:extLst>
              <a:ext uri="{FF2B5EF4-FFF2-40B4-BE49-F238E27FC236}">
                <a16:creationId xmlns:a16="http://schemas.microsoft.com/office/drawing/2014/main" id="{ACCCFAF5-8136-285E-3E23-EFB2F04C5AEC}"/>
              </a:ext>
            </a:extLst>
          </p:cNvPr>
          <p:cNvGraphicFramePr>
            <a:graphicFrameLocks noGrp="1"/>
          </p:cNvGraphicFramePr>
          <p:nvPr>
            <p:ph idx="1"/>
            <p:extLst>
              <p:ext uri="{D42A27DB-BD31-4B8C-83A1-F6EECF244321}">
                <p14:modId xmlns:p14="http://schemas.microsoft.com/office/powerpoint/2010/main" val="3069103760"/>
              </p:ext>
            </p:extLst>
          </p:nvPr>
        </p:nvGraphicFramePr>
        <p:xfrm>
          <a:off x="838200" y="1825624"/>
          <a:ext cx="10515600" cy="200422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1775988345"/>
                    </a:ext>
                  </a:extLst>
                </a:gridCol>
                <a:gridCol w="5257800">
                  <a:extLst>
                    <a:ext uri="{9D8B030D-6E8A-4147-A177-3AD203B41FA5}">
                      <a16:colId xmlns:a16="http://schemas.microsoft.com/office/drawing/2014/main" val="3194648798"/>
                    </a:ext>
                  </a:extLst>
                </a:gridCol>
              </a:tblGrid>
              <a:tr h="400844">
                <a:tc>
                  <a:txBody>
                    <a:bodyPr/>
                    <a:lstStyle/>
                    <a:p>
                      <a:pPr algn="ctr"/>
                      <a:r>
                        <a:rPr lang="en-US" dirty="0"/>
                        <a:t>Pros</a:t>
                      </a:r>
                    </a:p>
                  </a:txBody>
                  <a:tcPr/>
                </a:tc>
                <a:tc>
                  <a:txBody>
                    <a:bodyPr/>
                    <a:lstStyle/>
                    <a:p>
                      <a:pPr algn="ctr"/>
                      <a:r>
                        <a:rPr lang="en-US" dirty="0"/>
                        <a:t>Cons</a:t>
                      </a:r>
                    </a:p>
                  </a:txBody>
                  <a:tcPr/>
                </a:tc>
                <a:extLst>
                  <a:ext uri="{0D108BD9-81ED-4DB2-BD59-A6C34878D82A}">
                    <a16:rowId xmlns:a16="http://schemas.microsoft.com/office/drawing/2014/main" val="1778201843"/>
                  </a:ext>
                </a:extLst>
              </a:tr>
              <a:tr h="400844">
                <a:tc>
                  <a:txBody>
                    <a:bodyPr/>
                    <a:lstStyle/>
                    <a:p>
                      <a:r>
                        <a:rPr lang="en-US" dirty="0"/>
                        <a:t>Fine-Grained Access Control</a:t>
                      </a:r>
                    </a:p>
                  </a:txBody>
                  <a:tcPr/>
                </a:tc>
                <a:tc>
                  <a:txBody>
                    <a:bodyPr/>
                    <a:lstStyle/>
                    <a:p>
                      <a:r>
                        <a:rPr lang="en-US" dirty="0"/>
                        <a:t>Complexity</a:t>
                      </a:r>
                    </a:p>
                  </a:txBody>
                  <a:tcPr/>
                </a:tc>
                <a:extLst>
                  <a:ext uri="{0D108BD9-81ED-4DB2-BD59-A6C34878D82A}">
                    <a16:rowId xmlns:a16="http://schemas.microsoft.com/office/drawing/2014/main" val="2854018059"/>
                  </a:ext>
                </a:extLst>
              </a:tr>
              <a:tr h="400844">
                <a:tc>
                  <a:txBody>
                    <a:bodyPr/>
                    <a:lstStyle/>
                    <a:p>
                      <a:r>
                        <a:rPr lang="en-US" dirty="0"/>
                        <a:t>Dynamic and Context-Aware Access Control</a:t>
                      </a:r>
                    </a:p>
                  </a:txBody>
                  <a:tcPr/>
                </a:tc>
                <a:tc>
                  <a:txBody>
                    <a:bodyPr/>
                    <a:lstStyle/>
                    <a:p>
                      <a:r>
                        <a:rPr lang="en-US" dirty="0"/>
                        <a:t>Attribute Management</a:t>
                      </a:r>
                    </a:p>
                  </a:txBody>
                  <a:tcPr/>
                </a:tc>
                <a:extLst>
                  <a:ext uri="{0D108BD9-81ED-4DB2-BD59-A6C34878D82A}">
                    <a16:rowId xmlns:a16="http://schemas.microsoft.com/office/drawing/2014/main" val="3600757692"/>
                  </a:ext>
                </a:extLst>
              </a:tr>
              <a:tr h="400844">
                <a:tc>
                  <a:txBody>
                    <a:bodyPr/>
                    <a:lstStyle/>
                    <a:p>
                      <a:r>
                        <a:rPr lang="en-US" dirty="0"/>
                        <a:t>Attribute based Policies</a:t>
                      </a:r>
                    </a:p>
                  </a:txBody>
                  <a:tcPr/>
                </a:tc>
                <a:tc>
                  <a:txBody>
                    <a:bodyPr/>
                    <a:lstStyle/>
                    <a:p>
                      <a:r>
                        <a:rPr lang="en-US" dirty="0"/>
                        <a:t>Performance Overhead</a:t>
                      </a:r>
                    </a:p>
                  </a:txBody>
                  <a:tcPr/>
                </a:tc>
                <a:extLst>
                  <a:ext uri="{0D108BD9-81ED-4DB2-BD59-A6C34878D82A}">
                    <a16:rowId xmlns:a16="http://schemas.microsoft.com/office/drawing/2014/main" val="1100097043"/>
                  </a:ext>
                </a:extLst>
              </a:tr>
              <a:tr h="400844">
                <a:tc>
                  <a:txBody>
                    <a:bodyPr/>
                    <a:lstStyle/>
                    <a:p>
                      <a:r>
                        <a:rPr lang="en-US" dirty="0"/>
                        <a:t>Policy Reusability</a:t>
                      </a:r>
                    </a:p>
                  </a:txBody>
                  <a:tcPr/>
                </a:tc>
                <a:tc>
                  <a:txBody>
                    <a:bodyPr/>
                    <a:lstStyle/>
                    <a:p>
                      <a:r>
                        <a:rPr lang="en-US" dirty="0"/>
                        <a:t>Scalability</a:t>
                      </a:r>
                    </a:p>
                  </a:txBody>
                  <a:tcPr/>
                </a:tc>
                <a:extLst>
                  <a:ext uri="{0D108BD9-81ED-4DB2-BD59-A6C34878D82A}">
                    <a16:rowId xmlns:a16="http://schemas.microsoft.com/office/drawing/2014/main" val="3362977974"/>
                  </a:ext>
                </a:extLst>
              </a:tr>
            </a:tbl>
          </a:graphicData>
        </a:graphic>
      </p:graphicFrame>
    </p:spTree>
    <p:extLst>
      <p:ext uri="{BB962C8B-B14F-4D97-AF65-F5344CB8AC3E}">
        <p14:creationId xmlns:p14="http://schemas.microsoft.com/office/powerpoint/2010/main" val="2942466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81B10-0758-309E-F3DA-F38EF27779D0}"/>
              </a:ext>
            </a:extLst>
          </p:cNvPr>
          <p:cNvSpPr>
            <a:spLocks noGrp="1"/>
          </p:cNvSpPr>
          <p:nvPr>
            <p:ph type="title"/>
          </p:nvPr>
        </p:nvSpPr>
        <p:spPr>
          <a:xfrm>
            <a:off x="838200" y="365125"/>
            <a:ext cx="11132890" cy="1325563"/>
          </a:xfrm>
        </p:spPr>
        <p:txBody>
          <a:bodyPr/>
          <a:lstStyle/>
          <a:p>
            <a:r>
              <a:rPr lang="en-US" b="1" dirty="0"/>
              <a:t>5.6 Identity, Credential and Access Management</a:t>
            </a:r>
          </a:p>
        </p:txBody>
      </p:sp>
      <p:sp>
        <p:nvSpPr>
          <p:cNvPr id="3" name="Content Placeholder 2">
            <a:extLst>
              <a:ext uri="{FF2B5EF4-FFF2-40B4-BE49-F238E27FC236}">
                <a16:creationId xmlns:a16="http://schemas.microsoft.com/office/drawing/2014/main" id="{57BC3B80-FEC7-90BB-AB3F-27E25B8D62F9}"/>
              </a:ext>
            </a:extLst>
          </p:cNvPr>
          <p:cNvSpPr>
            <a:spLocks noGrp="1"/>
          </p:cNvSpPr>
          <p:nvPr>
            <p:ph idx="1"/>
          </p:nvPr>
        </p:nvSpPr>
        <p:spPr/>
        <p:txBody>
          <a:bodyPr/>
          <a:lstStyle/>
          <a:p>
            <a:pPr marL="0" indent="0" algn="just">
              <a:lnSpc>
                <a:spcPct val="150000"/>
              </a:lnSpc>
              <a:buNone/>
            </a:pPr>
            <a:r>
              <a:rPr lang="en-US" dirty="0"/>
              <a:t>a framework that encompasses the processes, technologies, and policies used to manage digital identities, their associated credentials, and the access to resources and services in an organization's information systems.</a:t>
            </a:r>
          </a:p>
        </p:txBody>
      </p:sp>
    </p:spTree>
    <p:extLst>
      <p:ext uri="{BB962C8B-B14F-4D97-AF65-F5344CB8AC3E}">
        <p14:creationId xmlns:p14="http://schemas.microsoft.com/office/powerpoint/2010/main" val="26954003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AD2A6-9BEF-7BF2-0138-BD1EB9C90FC3}"/>
              </a:ext>
            </a:extLst>
          </p:cNvPr>
          <p:cNvSpPr>
            <a:spLocks noGrp="1"/>
          </p:cNvSpPr>
          <p:nvPr>
            <p:ph type="title"/>
          </p:nvPr>
        </p:nvSpPr>
        <p:spPr>
          <a:xfrm>
            <a:off x="838199" y="365125"/>
            <a:ext cx="10923166" cy="1325563"/>
          </a:xfrm>
        </p:spPr>
        <p:txBody>
          <a:bodyPr/>
          <a:lstStyle/>
          <a:p>
            <a:r>
              <a:rPr lang="en-US" b="1" dirty="0"/>
              <a:t>5.6 Identity, Credential and Access Management </a:t>
            </a:r>
          </a:p>
        </p:txBody>
      </p:sp>
      <p:sp>
        <p:nvSpPr>
          <p:cNvPr id="3" name="Content Placeholder 2">
            <a:extLst>
              <a:ext uri="{FF2B5EF4-FFF2-40B4-BE49-F238E27FC236}">
                <a16:creationId xmlns:a16="http://schemas.microsoft.com/office/drawing/2014/main" id="{81423FBB-6BE7-7875-3F20-69BC727BE0FF}"/>
              </a:ext>
            </a:extLst>
          </p:cNvPr>
          <p:cNvSpPr>
            <a:spLocks noGrp="1"/>
          </p:cNvSpPr>
          <p:nvPr>
            <p:ph idx="1"/>
          </p:nvPr>
        </p:nvSpPr>
        <p:spPr/>
        <p:txBody>
          <a:bodyPr>
            <a:normAutofit lnSpcReduction="10000"/>
          </a:bodyPr>
          <a:lstStyle/>
          <a:p>
            <a:pPr marL="0" indent="0" algn="just">
              <a:lnSpc>
                <a:spcPct val="110000"/>
              </a:lnSpc>
              <a:buNone/>
            </a:pPr>
            <a:r>
              <a:rPr lang="en-US" b="1" dirty="0"/>
              <a:t>Identity Management</a:t>
            </a:r>
          </a:p>
          <a:p>
            <a:pPr algn="just">
              <a:lnSpc>
                <a:spcPct val="110000"/>
              </a:lnSpc>
            </a:pPr>
            <a:r>
              <a:rPr lang="en-US" dirty="0"/>
              <a:t>Identity management focuses on the administration and governance of digital identities within an organization.</a:t>
            </a:r>
          </a:p>
          <a:p>
            <a:pPr algn="just">
              <a:lnSpc>
                <a:spcPct val="110000"/>
              </a:lnSpc>
            </a:pPr>
            <a:r>
              <a:rPr lang="en-US" dirty="0"/>
              <a:t>It involves creating, managing, and maintaining identities for individuals, systems, devices, or entities involved in the organization's ecosystem.</a:t>
            </a:r>
          </a:p>
          <a:p>
            <a:pPr algn="just">
              <a:lnSpc>
                <a:spcPct val="110000"/>
              </a:lnSpc>
            </a:pPr>
            <a:r>
              <a:rPr lang="en-US" dirty="0"/>
              <a:t>Identity management includes activities such as user provisioning, authentication, password management, and identity lifecycle management.</a:t>
            </a:r>
          </a:p>
        </p:txBody>
      </p:sp>
    </p:spTree>
    <p:extLst>
      <p:ext uri="{BB962C8B-B14F-4D97-AF65-F5344CB8AC3E}">
        <p14:creationId xmlns:p14="http://schemas.microsoft.com/office/powerpoint/2010/main" val="27029200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CB978-0C28-8ACE-4093-686CC6F6746D}"/>
              </a:ext>
            </a:extLst>
          </p:cNvPr>
          <p:cNvSpPr>
            <a:spLocks noGrp="1"/>
          </p:cNvSpPr>
          <p:nvPr>
            <p:ph type="title"/>
          </p:nvPr>
        </p:nvSpPr>
        <p:spPr>
          <a:xfrm>
            <a:off x="838200" y="365125"/>
            <a:ext cx="11166446" cy="1325563"/>
          </a:xfrm>
        </p:spPr>
        <p:txBody>
          <a:bodyPr/>
          <a:lstStyle/>
          <a:p>
            <a:r>
              <a:rPr lang="en-US" b="1" dirty="0"/>
              <a:t>5.6 Identity, Credential and Access Management </a:t>
            </a:r>
            <a:endParaRPr lang="en-US" dirty="0"/>
          </a:p>
        </p:txBody>
      </p:sp>
      <p:sp>
        <p:nvSpPr>
          <p:cNvPr id="3" name="Content Placeholder 2">
            <a:extLst>
              <a:ext uri="{FF2B5EF4-FFF2-40B4-BE49-F238E27FC236}">
                <a16:creationId xmlns:a16="http://schemas.microsoft.com/office/drawing/2014/main" id="{4F22FC73-142A-80F5-9857-E0083859E56D}"/>
              </a:ext>
            </a:extLst>
          </p:cNvPr>
          <p:cNvSpPr>
            <a:spLocks noGrp="1"/>
          </p:cNvSpPr>
          <p:nvPr>
            <p:ph idx="1"/>
          </p:nvPr>
        </p:nvSpPr>
        <p:spPr>
          <a:xfrm>
            <a:off x="838200" y="1690688"/>
            <a:ext cx="10515600" cy="4351338"/>
          </a:xfrm>
        </p:spPr>
        <p:txBody>
          <a:bodyPr>
            <a:normAutofit fontScale="92500" lnSpcReduction="20000"/>
          </a:bodyPr>
          <a:lstStyle/>
          <a:p>
            <a:pPr marL="0" indent="0" algn="just">
              <a:lnSpc>
                <a:spcPct val="110000"/>
              </a:lnSpc>
              <a:buNone/>
            </a:pPr>
            <a:r>
              <a:rPr lang="en-US" b="1" dirty="0"/>
              <a:t>Credential Management</a:t>
            </a:r>
          </a:p>
          <a:p>
            <a:pPr algn="just">
              <a:lnSpc>
                <a:spcPct val="110000"/>
              </a:lnSpc>
            </a:pPr>
            <a:r>
              <a:rPr lang="en-US" dirty="0"/>
              <a:t>Credential management involves the management of the credentials associated with digital identities.</a:t>
            </a:r>
          </a:p>
          <a:p>
            <a:pPr algn="just">
              <a:lnSpc>
                <a:spcPct val="110000"/>
              </a:lnSpc>
            </a:pPr>
            <a:r>
              <a:rPr lang="en-US" dirty="0"/>
              <a:t>Credentials are used to verify the identity of individuals or entities and grant them access to resources or services.</a:t>
            </a:r>
          </a:p>
          <a:p>
            <a:pPr algn="just">
              <a:lnSpc>
                <a:spcPct val="110000"/>
              </a:lnSpc>
            </a:pPr>
            <a:r>
              <a:rPr lang="en-US" dirty="0"/>
              <a:t>Common types of credentials include usernames, passwords, digital certificates, smart cards, and biometric data.</a:t>
            </a:r>
          </a:p>
          <a:p>
            <a:pPr algn="just">
              <a:lnSpc>
                <a:spcPct val="110000"/>
              </a:lnSpc>
            </a:pPr>
            <a:r>
              <a:rPr lang="en-US" dirty="0"/>
              <a:t>Credential management encompasses processes such as issuing, revoking, and managing the lifecycle of credentials to ensure their integrity and security.</a:t>
            </a:r>
          </a:p>
        </p:txBody>
      </p:sp>
    </p:spTree>
    <p:extLst>
      <p:ext uri="{BB962C8B-B14F-4D97-AF65-F5344CB8AC3E}">
        <p14:creationId xmlns:p14="http://schemas.microsoft.com/office/powerpoint/2010/main" val="16963883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836D9-ECC7-6811-CED4-A26F934A731B}"/>
              </a:ext>
            </a:extLst>
          </p:cNvPr>
          <p:cNvSpPr>
            <a:spLocks noGrp="1"/>
          </p:cNvSpPr>
          <p:nvPr>
            <p:ph type="title"/>
          </p:nvPr>
        </p:nvSpPr>
        <p:spPr>
          <a:xfrm>
            <a:off x="838199" y="365125"/>
            <a:ext cx="10906387" cy="1325563"/>
          </a:xfrm>
        </p:spPr>
        <p:txBody>
          <a:bodyPr/>
          <a:lstStyle/>
          <a:p>
            <a:r>
              <a:rPr lang="en-US" b="1" dirty="0"/>
              <a:t>5.6 Identity, Credential and Access Management </a:t>
            </a:r>
            <a:endParaRPr lang="en-US" dirty="0"/>
          </a:p>
        </p:txBody>
      </p:sp>
      <p:sp>
        <p:nvSpPr>
          <p:cNvPr id="3" name="Content Placeholder 2">
            <a:extLst>
              <a:ext uri="{FF2B5EF4-FFF2-40B4-BE49-F238E27FC236}">
                <a16:creationId xmlns:a16="http://schemas.microsoft.com/office/drawing/2014/main" id="{37908EB9-D745-FE5A-C065-24C45BA815DC}"/>
              </a:ext>
            </a:extLst>
          </p:cNvPr>
          <p:cNvSpPr>
            <a:spLocks noGrp="1"/>
          </p:cNvSpPr>
          <p:nvPr>
            <p:ph idx="1"/>
          </p:nvPr>
        </p:nvSpPr>
        <p:spPr/>
        <p:txBody>
          <a:bodyPr>
            <a:normAutofit/>
          </a:bodyPr>
          <a:lstStyle/>
          <a:p>
            <a:pPr marL="0" indent="0">
              <a:buNone/>
            </a:pPr>
            <a:r>
              <a:rPr lang="en-US" b="1" dirty="0"/>
              <a:t>Access Management</a:t>
            </a:r>
          </a:p>
          <a:p>
            <a:pPr algn="just">
              <a:lnSpc>
                <a:spcPct val="100000"/>
              </a:lnSpc>
            </a:pPr>
            <a:r>
              <a:rPr lang="en-US" sz="2400" dirty="0"/>
              <a:t>Access management focuses on controlling and managing the access to resources and services based on the verified identity and authorized privileges of users or entities.</a:t>
            </a:r>
          </a:p>
          <a:p>
            <a:pPr algn="just">
              <a:lnSpc>
                <a:spcPct val="100000"/>
              </a:lnSpc>
            </a:pPr>
            <a:r>
              <a:rPr lang="en-US" sz="2400" dirty="0"/>
              <a:t>It includes defining access policies, enforcing authentication and authorization mechanisms, and monitoring and auditing access activities.</a:t>
            </a:r>
          </a:p>
          <a:p>
            <a:pPr algn="just">
              <a:lnSpc>
                <a:spcPct val="100000"/>
              </a:lnSpc>
            </a:pPr>
            <a:r>
              <a:rPr lang="en-US" sz="2400" dirty="0"/>
              <a:t>Access management ensures that users are granted appropriate access rights and privileges based on their roles, responsibilities, and the principle of least privilege.</a:t>
            </a:r>
          </a:p>
        </p:txBody>
      </p:sp>
    </p:spTree>
    <p:extLst>
      <p:ext uri="{BB962C8B-B14F-4D97-AF65-F5344CB8AC3E}">
        <p14:creationId xmlns:p14="http://schemas.microsoft.com/office/powerpoint/2010/main" val="41700408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BC100-917A-0D17-A1E7-EBB5778DA77E}"/>
              </a:ext>
            </a:extLst>
          </p:cNvPr>
          <p:cNvSpPr>
            <a:spLocks noGrp="1"/>
          </p:cNvSpPr>
          <p:nvPr>
            <p:ph type="title"/>
          </p:nvPr>
        </p:nvSpPr>
        <p:spPr>
          <a:xfrm>
            <a:off x="838199" y="365125"/>
            <a:ext cx="10822497" cy="1325563"/>
          </a:xfrm>
        </p:spPr>
        <p:txBody>
          <a:bodyPr/>
          <a:lstStyle/>
          <a:p>
            <a:r>
              <a:rPr lang="en-US" b="1" dirty="0"/>
              <a:t>5.6 Identity, Credential and Access Management </a:t>
            </a:r>
            <a:endParaRPr lang="en-US" dirty="0"/>
          </a:p>
        </p:txBody>
      </p:sp>
      <p:sp>
        <p:nvSpPr>
          <p:cNvPr id="3" name="Content Placeholder 2">
            <a:extLst>
              <a:ext uri="{FF2B5EF4-FFF2-40B4-BE49-F238E27FC236}">
                <a16:creationId xmlns:a16="http://schemas.microsoft.com/office/drawing/2014/main" id="{12886084-4D02-96B5-4BEA-D5E4B3B9E5A4}"/>
              </a:ext>
            </a:extLst>
          </p:cNvPr>
          <p:cNvSpPr>
            <a:spLocks noGrp="1"/>
          </p:cNvSpPr>
          <p:nvPr>
            <p:ph idx="1"/>
          </p:nvPr>
        </p:nvSpPr>
        <p:spPr>
          <a:xfrm>
            <a:off x="838200" y="1518407"/>
            <a:ext cx="10515600" cy="5159230"/>
          </a:xfrm>
        </p:spPr>
        <p:txBody>
          <a:bodyPr>
            <a:normAutofit fontScale="55000" lnSpcReduction="20000"/>
          </a:bodyPr>
          <a:lstStyle/>
          <a:p>
            <a:pPr marL="0" indent="0" algn="just">
              <a:lnSpc>
                <a:spcPct val="120000"/>
              </a:lnSpc>
              <a:buNone/>
            </a:pPr>
            <a:r>
              <a:rPr lang="en-US" sz="3300" dirty="0"/>
              <a:t>The key components of ICAM typically include:</a:t>
            </a:r>
          </a:p>
          <a:p>
            <a:pPr algn="just">
              <a:lnSpc>
                <a:spcPct val="120000"/>
              </a:lnSpc>
              <a:buFont typeface="+mj-lt"/>
              <a:buAutoNum type="arabicPeriod"/>
            </a:pPr>
            <a:r>
              <a:rPr lang="en-US" sz="3300" b="1" dirty="0"/>
              <a:t>Identification</a:t>
            </a:r>
            <a:r>
              <a:rPr lang="en-US" sz="3300" dirty="0"/>
              <a:t>: The process of uniquely identifying individuals or entities within the system. This involves assigning unique identifiers or usernames to establish their digital identities.</a:t>
            </a:r>
          </a:p>
          <a:p>
            <a:pPr algn="just">
              <a:lnSpc>
                <a:spcPct val="120000"/>
              </a:lnSpc>
              <a:buFont typeface="+mj-lt"/>
              <a:buAutoNum type="arabicPeriod"/>
            </a:pPr>
            <a:r>
              <a:rPr lang="en-US" sz="3300" b="1" dirty="0"/>
              <a:t>Authentication</a:t>
            </a:r>
            <a:r>
              <a:rPr lang="en-US" sz="3300" dirty="0"/>
              <a:t>: Verifying the claimed identity of individuals or entities using various factors, such as passwords, biometrics, smart cards, or multi-factor authentication (MFA). It ensures that only authorized users gain access to resources.</a:t>
            </a:r>
          </a:p>
          <a:p>
            <a:pPr algn="just">
              <a:lnSpc>
                <a:spcPct val="120000"/>
              </a:lnSpc>
              <a:buFont typeface="+mj-lt"/>
              <a:buAutoNum type="arabicPeriod"/>
            </a:pPr>
            <a:r>
              <a:rPr lang="en-US" sz="3300" b="1" dirty="0"/>
              <a:t>Authorization</a:t>
            </a:r>
            <a:r>
              <a:rPr lang="en-US" sz="3300" dirty="0"/>
              <a:t>: Determining the access rights and privileges of authenticated users based on their roles, permissions, and other attributes. This includes defining access control policies and enforcing them to regulate resource access.</a:t>
            </a:r>
          </a:p>
          <a:p>
            <a:pPr algn="just">
              <a:lnSpc>
                <a:spcPct val="120000"/>
              </a:lnSpc>
              <a:buFont typeface="+mj-lt"/>
              <a:buAutoNum type="arabicPeriod"/>
            </a:pPr>
            <a:r>
              <a:rPr lang="en-US" sz="3300" b="1" dirty="0"/>
              <a:t>Provisioning</a:t>
            </a:r>
            <a:r>
              <a:rPr lang="en-US" sz="3300" dirty="0"/>
              <a:t>: Managing the creation, modification, and removal of user accounts and associated access privileges throughout the user lifecycle. This includes onboarding new users, updating user attributes, and deprovisioning users when they no longer require access.</a:t>
            </a:r>
          </a:p>
          <a:p>
            <a:pPr algn="just">
              <a:lnSpc>
                <a:spcPct val="120000"/>
              </a:lnSpc>
              <a:buFont typeface="+mj-lt"/>
              <a:buAutoNum type="arabicPeriod"/>
            </a:pPr>
            <a:r>
              <a:rPr lang="en-US" sz="3300" b="1" dirty="0"/>
              <a:t>Federation</a:t>
            </a:r>
            <a:r>
              <a:rPr lang="en-US" sz="3300" dirty="0"/>
              <a:t>: Establishing trust relationships and interoperability between different systems or organizations to enable the secure sharing of identity information and access across boundaries.</a:t>
            </a:r>
          </a:p>
          <a:p>
            <a:pPr marL="0" indent="0" algn="just">
              <a:lnSpc>
                <a:spcPct val="120000"/>
              </a:lnSpc>
              <a:buNone/>
            </a:pPr>
            <a:endParaRPr lang="en-US" dirty="0"/>
          </a:p>
          <a:p>
            <a:pPr algn="just">
              <a:lnSpc>
                <a:spcPct val="120000"/>
              </a:lnSpc>
            </a:pPr>
            <a:endParaRPr lang="en-US" dirty="0"/>
          </a:p>
        </p:txBody>
      </p:sp>
    </p:spTree>
    <p:extLst>
      <p:ext uri="{BB962C8B-B14F-4D97-AF65-F5344CB8AC3E}">
        <p14:creationId xmlns:p14="http://schemas.microsoft.com/office/powerpoint/2010/main" val="1890947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3A02F-DC81-A17C-5CA0-20EC35312B9F}"/>
              </a:ext>
            </a:extLst>
          </p:cNvPr>
          <p:cNvSpPr>
            <a:spLocks noGrp="1"/>
          </p:cNvSpPr>
          <p:nvPr>
            <p:ph type="title"/>
          </p:nvPr>
        </p:nvSpPr>
        <p:spPr/>
        <p:txBody>
          <a:bodyPr/>
          <a:lstStyle/>
          <a:p>
            <a:r>
              <a:rPr lang="en-US" b="1" dirty="0"/>
              <a:t>5.7 Trust Frameworks</a:t>
            </a:r>
          </a:p>
        </p:txBody>
      </p:sp>
      <p:sp>
        <p:nvSpPr>
          <p:cNvPr id="3" name="Content Placeholder 2">
            <a:extLst>
              <a:ext uri="{FF2B5EF4-FFF2-40B4-BE49-F238E27FC236}">
                <a16:creationId xmlns:a16="http://schemas.microsoft.com/office/drawing/2014/main" id="{9FEE8375-CD22-F5E5-8646-4B54C9956320}"/>
              </a:ext>
            </a:extLst>
          </p:cNvPr>
          <p:cNvSpPr>
            <a:spLocks noGrp="1"/>
          </p:cNvSpPr>
          <p:nvPr>
            <p:ph idx="1"/>
          </p:nvPr>
        </p:nvSpPr>
        <p:spPr>
          <a:xfrm>
            <a:off x="896923" y="1557177"/>
            <a:ext cx="10515600" cy="4351338"/>
          </a:xfrm>
        </p:spPr>
        <p:txBody>
          <a:bodyPr/>
          <a:lstStyle/>
          <a:p>
            <a:pPr algn="just"/>
            <a:r>
              <a:rPr lang="en-US" dirty="0"/>
              <a:t>also known as digital trust frameworks or identity trust frameworks</a:t>
            </a:r>
          </a:p>
          <a:p>
            <a:pPr algn="just"/>
            <a:r>
              <a:rPr lang="en-US" dirty="0"/>
              <a:t>are sets of rules, policies, and standards that establish the basis for establishing trust and enabling secure digital transactions between different parties in the digital ecosystem. </a:t>
            </a:r>
          </a:p>
          <a:p>
            <a:pPr algn="just"/>
            <a:r>
              <a:rPr lang="en-US" dirty="0"/>
              <a:t>these frameworks provide a common set of principles and guidelines for managing identity, privacy, and security considerations.</a:t>
            </a:r>
          </a:p>
          <a:p>
            <a:pPr algn="just"/>
            <a:r>
              <a:rPr lang="en-US" dirty="0"/>
              <a:t>are designed to address the challenges associated with verifying and establishing trust in the digital realm, particularly in contexts such as online authentication, electronic transactions, and the sharing of sensitive information. </a:t>
            </a:r>
          </a:p>
        </p:txBody>
      </p:sp>
    </p:spTree>
    <p:extLst>
      <p:ext uri="{BB962C8B-B14F-4D97-AF65-F5344CB8AC3E}">
        <p14:creationId xmlns:p14="http://schemas.microsoft.com/office/powerpoint/2010/main" val="4931795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4820E-8E2E-24D0-97E0-AF619DF5E1F8}"/>
              </a:ext>
            </a:extLst>
          </p:cNvPr>
          <p:cNvSpPr>
            <a:spLocks noGrp="1"/>
          </p:cNvSpPr>
          <p:nvPr>
            <p:ph type="title"/>
          </p:nvPr>
        </p:nvSpPr>
        <p:spPr/>
        <p:txBody>
          <a:bodyPr/>
          <a:lstStyle/>
          <a:p>
            <a:r>
              <a:rPr lang="en-US" b="1" dirty="0"/>
              <a:t>5.7 Trust Frameworks</a:t>
            </a:r>
            <a:endParaRPr lang="en-US" dirty="0"/>
          </a:p>
        </p:txBody>
      </p:sp>
      <p:sp>
        <p:nvSpPr>
          <p:cNvPr id="3" name="Content Placeholder 2">
            <a:extLst>
              <a:ext uri="{FF2B5EF4-FFF2-40B4-BE49-F238E27FC236}">
                <a16:creationId xmlns:a16="http://schemas.microsoft.com/office/drawing/2014/main" id="{21E27E3E-251F-35F0-EB73-7A6EEB196AC8}"/>
              </a:ext>
            </a:extLst>
          </p:cNvPr>
          <p:cNvSpPr>
            <a:spLocks noGrp="1"/>
          </p:cNvSpPr>
          <p:nvPr>
            <p:ph idx="1"/>
          </p:nvPr>
        </p:nvSpPr>
        <p:spPr>
          <a:xfrm>
            <a:off x="838200" y="1464898"/>
            <a:ext cx="10515600" cy="4351338"/>
          </a:xfrm>
        </p:spPr>
        <p:txBody>
          <a:bodyPr>
            <a:normAutofit fontScale="70000" lnSpcReduction="20000"/>
          </a:bodyPr>
          <a:lstStyle/>
          <a:p>
            <a:pPr marL="0" indent="0" algn="just">
              <a:lnSpc>
                <a:spcPct val="120000"/>
              </a:lnSpc>
              <a:buNone/>
            </a:pPr>
            <a:r>
              <a:rPr lang="en-US" dirty="0"/>
              <a:t>Key components of trust frameworks may include:</a:t>
            </a:r>
          </a:p>
          <a:p>
            <a:pPr algn="just">
              <a:lnSpc>
                <a:spcPct val="120000"/>
              </a:lnSpc>
              <a:buFont typeface="+mj-lt"/>
              <a:buAutoNum type="arabicPeriod"/>
            </a:pPr>
            <a:r>
              <a:rPr lang="en-US" b="1" dirty="0"/>
              <a:t>Identity Assurance</a:t>
            </a:r>
            <a:r>
              <a:rPr lang="en-US" dirty="0"/>
              <a:t>: Trust frameworks often specify the level of assurance or confidence in the identity of individuals or entities involved in digital transactions. </a:t>
            </a:r>
          </a:p>
          <a:p>
            <a:pPr algn="just">
              <a:lnSpc>
                <a:spcPct val="120000"/>
              </a:lnSpc>
              <a:buFont typeface="+mj-lt"/>
              <a:buAutoNum type="arabicPeriod"/>
            </a:pPr>
            <a:r>
              <a:rPr lang="en-US" b="1" dirty="0"/>
              <a:t>Privacy Protection</a:t>
            </a:r>
            <a:r>
              <a:rPr lang="en-US" dirty="0"/>
              <a:t>: Trust frameworks address privacy considerations by outlining rules and practices for the collection, use, and protection of personal information. </a:t>
            </a:r>
          </a:p>
          <a:p>
            <a:pPr algn="just">
              <a:lnSpc>
                <a:spcPct val="120000"/>
              </a:lnSpc>
              <a:buFont typeface="+mj-lt"/>
              <a:buAutoNum type="arabicPeriod"/>
            </a:pPr>
            <a:r>
              <a:rPr lang="en-US" b="1" dirty="0"/>
              <a:t>Security Standards</a:t>
            </a:r>
            <a:r>
              <a:rPr lang="en-US" dirty="0"/>
              <a:t>: Trust frameworks incorporate security requirements and standards to ensure the integrity, confidentiality, and availability of digital transactions. </a:t>
            </a:r>
          </a:p>
          <a:p>
            <a:pPr algn="just">
              <a:lnSpc>
                <a:spcPct val="120000"/>
              </a:lnSpc>
              <a:buFont typeface="+mj-lt"/>
              <a:buAutoNum type="arabicPeriod"/>
            </a:pPr>
            <a:r>
              <a:rPr lang="en-US" b="1" dirty="0"/>
              <a:t>Interoperability and Interconnectivity</a:t>
            </a:r>
            <a:r>
              <a:rPr lang="en-US" dirty="0"/>
              <a:t>: Trust frameworks aim to foster interoperability and enable seamless connectivity between different systems and service providers. </a:t>
            </a:r>
          </a:p>
          <a:p>
            <a:pPr algn="just">
              <a:lnSpc>
                <a:spcPct val="120000"/>
              </a:lnSpc>
              <a:buFont typeface="+mj-lt"/>
              <a:buAutoNum type="arabicPeriod"/>
            </a:pPr>
            <a:r>
              <a:rPr lang="en-US" b="1" dirty="0"/>
              <a:t>Compliance and Auditing</a:t>
            </a:r>
            <a:r>
              <a:rPr lang="en-US" dirty="0"/>
              <a:t>: Trust frameworks often include provisions for compliance monitoring and auditing to ensure that entities adhere to the defined rules and standards. </a:t>
            </a:r>
          </a:p>
        </p:txBody>
      </p:sp>
    </p:spTree>
    <p:extLst>
      <p:ext uri="{BB962C8B-B14F-4D97-AF65-F5344CB8AC3E}">
        <p14:creationId xmlns:p14="http://schemas.microsoft.com/office/powerpoint/2010/main" val="16025238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0B9FF-5F66-12E5-F73F-97E0C4FA0A69}"/>
              </a:ext>
            </a:extLst>
          </p:cNvPr>
          <p:cNvSpPr>
            <a:spLocks noGrp="1"/>
          </p:cNvSpPr>
          <p:nvPr>
            <p:ph type="title"/>
          </p:nvPr>
        </p:nvSpPr>
        <p:spPr/>
        <p:txBody>
          <a:bodyPr/>
          <a:lstStyle/>
          <a:p>
            <a:r>
              <a:rPr lang="en-US" b="1" dirty="0"/>
              <a:t>Assignment</a:t>
            </a:r>
          </a:p>
        </p:txBody>
      </p:sp>
      <p:sp>
        <p:nvSpPr>
          <p:cNvPr id="3" name="Content Placeholder 2">
            <a:extLst>
              <a:ext uri="{FF2B5EF4-FFF2-40B4-BE49-F238E27FC236}">
                <a16:creationId xmlns:a16="http://schemas.microsoft.com/office/drawing/2014/main" id="{FB45DF99-5948-ED0B-59BC-319F933EF1FD}"/>
              </a:ext>
            </a:extLst>
          </p:cNvPr>
          <p:cNvSpPr>
            <a:spLocks noGrp="1"/>
          </p:cNvSpPr>
          <p:nvPr>
            <p:ph idx="1"/>
          </p:nvPr>
        </p:nvSpPr>
        <p:spPr/>
        <p:txBody>
          <a:bodyPr/>
          <a:lstStyle/>
          <a:p>
            <a:r>
              <a:rPr lang="en-US" dirty="0"/>
              <a:t>What is access control? Explain about Discretionary and Role based access control.</a:t>
            </a:r>
          </a:p>
          <a:p>
            <a:r>
              <a:rPr lang="en-US" dirty="0"/>
              <a:t>What is Attribute based access control? Explain about trust framework.</a:t>
            </a:r>
          </a:p>
          <a:p>
            <a:r>
              <a:rPr lang="en-US" dirty="0"/>
              <a:t>Define access right. Explain access control principles.</a:t>
            </a:r>
          </a:p>
        </p:txBody>
      </p:sp>
    </p:spTree>
    <p:extLst>
      <p:ext uri="{BB962C8B-B14F-4D97-AF65-F5344CB8AC3E}">
        <p14:creationId xmlns:p14="http://schemas.microsoft.com/office/powerpoint/2010/main" val="23813417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349</TotalTime>
  <Words>2534</Words>
  <Application>Microsoft Office PowerPoint</Application>
  <PresentationFormat>Widescreen</PresentationFormat>
  <Paragraphs>175</Paragraphs>
  <Slides>38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38</vt:i4>
      </vt:variant>
    </vt:vector>
  </HeadingPairs>
  <TitlesOfParts>
    <vt:vector size="43" baseType="lpstr">
      <vt:lpstr>Arial</vt:lpstr>
      <vt:lpstr>Calibri</vt:lpstr>
      <vt:lpstr>Calibri Light</vt:lpstr>
      <vt:lpstr>Wingdings</vt:lpstr>
      <vt:lpstr>Office Theme</vt:lpstr>
      <vt:lpstr>Unit 5 Access Control</vt:lpstr>
      <vt:lpstr>Access Control</vt:lpstr>
      <vt:lpstr>Components of Access Control</vt:lpstr>
      <vt:lpstr>How does Access Control work?</vt:lpstr>
      <vt:lpstr>Why is Access Control Important?</vt:lpstr>
      <vt:lpstr>Types of Access Control</vt:lpstr>
      <vt:lpstr>5.1 Access Control Principles</vt:lpstr>
      <vt:lpstr>5.1 Access Control Principles</vt:lpstr>
      <vt:lpstr>5.1 Access Control Principles</vt:lpstr>
      <vt:lpstr>5.1 Access Control Principles</vt:lpstr>
      <vt:lpstr>5.2 Subjects, Objects and Access Rights</vt:lpstr>
      <vt:lpstr>5.3 Access Control Matrix and Capability Lists </vt:lpstr>
      <vt:lpstr>Access Control Matrix</vt:lpstr>
      <vt:lpstr>Capability Lists</vt:lpstr>
      <vt:lpstr>Capability Lists</vt:lpstr>
      <vt:lpstr>5.4 Discretionary Access Control</vt:lpstr>
      <vt:lpstr>PowerPoint Presentation</vt:lpstr>
      <vt:lpstr>What are the basic principles of DAC?</vt:lpstr>
      <vt:lpstr>Discretionary Access Control</vt:lpstr>
      <vt:lpstr>5.4 Discretionary Access Control</vt:lpstr>
      <vt:lpstr>5.4 Discretionary Access Control</vt:lpstr>
      <vt:lpstr>5.5 Role based Access Control</vt:lpstr>
      <vt:lpstr>5.5 Role based Access Control</vt:lpstr>
      <vt:lpstr>PowerPoint Presentation</vt:lpstr>
      <vt:lpstr>PowerPoint Presentation</vt:lpstr>
      <vt:lpstr>5.5 Role based Access Control</vt:lpstr>
      <vt:lpstr>5.6 Attribute based Access Control</vt:lpstr>
      <vt:lpstr>5.6 Attribute based Access Control</vt:lpstr>
      <vt:lpstr>5.6 Attribute based Access Control</vt:lpstr>
      <vt:lpstr>5.6 Attribute based Access Control</vt:lpstr>
      <vt:lpstr>5.6 Identity, Credential and Access Management</vt:lpstr>
      <vt:lpstr>5.6 Identity, Credential and Access Management </vt:lpstr>
      <vt:lpstr>5.6 Identity, Credential and Access Management </vt:lpstr>
      <vt:lpstr>5.6 Identity, Credential and Access Management </vt:lpstr>
      <vt:lpstr>5.6 Identity, Credential and Access Management </vt:lpstr>
      <vt:lpstr>5.7 Trust Frameworks</vt:lpstr>
      <vt:lpstr>5.7 Trust Frameworks</vt:lpstr>
      <vt:lpstr>Assignment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Govinda Gautam</dc:creator>
  <cp:lastModifiedBy>PC</cp:lastModifiedBy>
  <cp:revision>52</cp:revision>
  <dcterms:created xsi:type="dcterms:W3CDTF">2023-05-08T13:45:57Z</dcterms:created>
  <dcterms:modified xsi:type="dcterms:W3CDTF">2024-07-05T01:50:06Z</dcterms:modified>
</cp:coreProperties>
</file>