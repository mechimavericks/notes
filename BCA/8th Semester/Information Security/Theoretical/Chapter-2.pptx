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5" r:id="rId4"/>
    <p:sldId id="266" r:id="rId5"/>
    <p:sldId id="262" r:id="rId6"/>
    <p:sldId id="263" r:id="rId7"/>
    <p:sldId id="264" r:id="rId8"/>
    <p:sldId id="259" r:id="rId9"/>
    <p:sldId id="260" r:id="rId10"/>
    <p:sldId id="261" r:id="rId11"/>
    <p:sldId id="267" r:id="rId12"/>
    <p:sldId id="268" r:id="rId13"/>
    <p:sldId id="269" r:id="rId14"/>
    <p:sldId id="270" r:id="rId15"/>
    <p:sldId id="271" r:id="rId16"/>
    <p:sldId id="273" r:id="rId17"/>
    <p:sldId id="277" r:id="rId18"/>
    <p:sldId id="279" r:id="rId19"/>
    <p:sldId id="280" r:id="rId20"/>
    <p:sldId id="272" r:id="rId21"/>
    <p:sldId id="276" r:id="rId22"/>
    <p:sldId id="274" r:id="rId23"/>
    <p:sldId id="281" r:id="rId24"/>
    <p:sldId id="283" r:id="rId25"/>
    <p:sldId id="284" r:id="rId26"/>
    <p:sldId id="275" r:id="rId27"/>
    <p:sldId id="285" r:id="rId28"/>
    <p:sldId id="360" r:id="rId29"/>
    <p:sldId id="289" r:id="rId30"/>
    <p:sldId id="286" r:id="rId31"/>
    <p:sldId id="288" r:id="rId32"/>
    <p:sldId id="290" r:id="rId33"/>
    <p:sldId id="361" r:id="rId34"/>
    <p:sldId id="291" r:id="rId35"/>
    <p:sldId id="292" r:id="rId36"/>
    <p:sldId id="293" r:id="rId37"/>
    <p:sldId id="362" r:id="rId38"/>
    <p:sldId id="294" r:id="rId39"/>
    <p:sldId id="363" r:id="rId40"/>
    <p:sldId id="296" r:id="rId41"/>
    <p:sldId id="295" r:id="rId42"/>
    <p:sldId id="297" r:id="rId43"/>
    <p:sldId id="287" r:id="rId44"/>
    <p:sldId id="298" r:id="rId45"/>
    <p:sldId id="299" r:id="rId46"/>
    <p:sldId id="300" r:id="rId47"/>
    <p:sldId id="301" r:id="rId48"/>
    <p:sldId id="303" r:id="rId49"/>
    <p:sldId id="304" r:id="rId50"/>
    <p:sldId id="364" r:id="rId51"/>
    <p:sldId id="302" r:id="rId52"/>
    <p:sldId id="305" r:id="rId53"/>
    <p:sldId id="306" r:id="rId54"/>
    <p:sldId id="307" r:id="rId55"/>
    <p:sldId id="323" r:id="rId56"/>
    <p:sldId id="308" r:id="rId57"/>
    <p:sldId id="317" r:id="rId58"/>
    <p:sldId id="318" r:id="rId59"/>
    <p:sldId id="319" r:id="rId60"/>
    <p:sldId id="320" r:id="rId61"/>
    <p:sldId id="321" r:id="rId62"/>
    <p:sldId id="322" r:id="rId63"/>
    <p:sldId id="309" r:id="rId64"/>
    <p:sldId id="310" r:id="rId65"/>
    <p:sldId id="312" r:id="rId66"/>
    <p:sldId id="313" r:id="rId67"/>
    <p:sldId id="314" r:id="rId68"/>
    <p:sldId id="315" r:id="rId69"/>
    <p:sldId id="316" r:id="rId70"/>
    <p:sldId id="356" r:id="rId71"/>
    <p:sldId id="357" r:id="rId72"/>
    <p:sldId id="358" r:id="rId73"/>
    <p:sldId id="359" r:id="rId74"/>
    <p:sldId id="325" r:id="rId75"/>
    <p:sldId id="331" r:id="rId76"/>
    <p:sldId id="333" r:id="rId77"/>
    <p:sldId id="326" r:id="rId78"/>
    <p:sldId id="328" r:id="rId79"/>
    <p:sldId id="329" r:id="rId80"/>
    <p:sldId id="330" r:id="rId81"/>
    <p:sldId id="327" r:id="rId82"/>
    <p:sldId id="334" r:id="rId83"/>
    <p:sldId id="335" r:id="rId84"/>
    <p:sldId id="336" r:id="rId85"/>
    <p:sldId id="338" r:id="rId86"/>
    <p:sldId id="340" r:id="rId87"/>
    <p:sldId id="341" r:id="rId88"/>
    <p:sldId id="343" r:id="rId89"/>
    <p:sldId id="344" r:id="rId90"/>
    <p:sldId id="345" r:id="rId91"/>
    <p:sldId id="346" r:id="rId92"/>
    <p:sldId id="347" r:id="rId93"/>
    <p:sldId id="350" r:id="rId94"/>
    <p:sldId id="351" r:id="rId95"/>
    <p:sldId id="352" r:id="rId96"/>
    <p:sldId id="353" r:id="rId97"/>
    <p:sldId id="348" r:id="rId98"/>
    <p:sldId id="354" r:id="rId99"/>
    <p:sldId id="355" r:id="rId100"/>
    <p:sldId id="349"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9" d="100"/>
          <a:sy n="79" d="100"/>
        </p:scale>
        <p:origin x="8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_rels/data1.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image" Target="../media/image37.jpg"/><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image" Target="../media/image37.jpg"/><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8D02E4-AFCB-4EE2-ABAE-8E0E89ED9E1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DC640A3-02C6-44BE-8985-CBCB3D60C89B}">
      <dgm:prSet/>
      <dgm:spPr/>
      <dgm:t>
        <a:bodyPr/>
        <a:lstStyle/>
        <a:p>
          <a:pPr>
            <a:defRPr cap="all"/>
          </a:pPr>
          <a:r>
            <a:rPr lang="en-US"/>
            <a:t>Asymmetric encryption methods are what you use to:</a:t>
          </a:r>
        </a:p>
      </dgm:t>
    </dgm:pt>
    <dgm:pt modelId="{A43667AB-7490-4BE9-AA9B-3F677AFA4092}" type="parTrans" cxnId="{031DB240-992E-46EA-A740-BA8B07289548}">
      <dgm:prSet/>
      <dgm:spPr/>
      <dgm:t>
        <a:bodyPr/>
        <a:lstStyle/>
        <a:p>
          <a:endParaRPr lang="en-US"/>
        </a:p>
      </dgm:t>
    </dgm:pt>
    <dgm:pt modelId="{5D5C7A0A-226D-43B4-B082-85BCE5B7CC2A}" type="sibTrans" cxnId="{031DB240-992E-46EA-A740-BA8B07289548}">
      <dgm:prSet/>
      <dgm:spPr/>
      <dgm:t>
        <a:bodyPr/>
        <a:lstStyle/>
        <a:p>
          <a:endParaRPr lang="en-US"/>
        </a:p>
      </dgm:t>
    </dgm:pt>
    <dgm:pt modelId="{67206EB8-0801-4591-B8B5-636F6D05B081}">
      <dgm:prSet/>
      <dgm:spPr/>
      <dgm:t>
        <a:bodyPr/>
        <a:lstStyle/>
        <a:p>
          <a:pPr>
            <a:defRPr cap="all"/>
          </a:pPr>
          <a:r>
            <a:rPr lang="en-US"/>
            <a:t>Authenticate parties,</a:t>
          </a:r>
        </a:p>
      </dgm:t>
    </dgm:pt>
    <dgm:pt modelId="{2BBEC803-04AC-4115-985B-4A3F9DA1FF0E}" type="parTrans" cxnId="{C719B02E-1A1E-4824-AFBC-BCE72CC0BAF0}">
      <dgm:prSet/>
      <dgm:spPr/>
      <dgm:t>
        <a:bodyPr/>
        <a:lstStyle/>
        <a:p>
          <a:endParaRPr lang="en-US"/>
        </a:p>
      </dgm:t>
    </dgm:pt>
    <dgm:pt modelId="{0E634953-E162-4B96-8508-440B8FE39C10}" type="sibTrans" cxnId="{C719B02E-1A1E-4824-AFBC-BCE72CC0BAF0}">
      <dgm:prSet/>
      <dgm:spPr/>
      <dgm:t>
        <a:bodyPr/>
        <a:lstStyle/>
        <a:p>
          <a:endParaRPr lang="en-US"/>
        </a:p>
      </dgm:t>
    </dgm:pt>
    <dgm:pt modelId="{07538858-9BD3-4FE1-88D5-35DECF8E2273}">
      <dgm:prSet/>
      <dgm:spPr/>
      <dgm:t>
        <a:bodyPr/>
        <a:lstStyle/>
        <a:p>
          <a:pPr>
            <a:defRPr cap="all"/>
          </a:pPr>
          <a:r>
            <a:rPr lang="en-US"/>
            <a:t>Verify data integrity and </a:t>
          </a:r>
        </a:p>
      </dgm:t>
    </dgm:pt>
    <dgm:pt modelId="{B73EFFF7-0AEF-4DF4-87AD-3AE3C39AD1E6}" type="parTrans" cxnId="{ECFBB849-87E6-41C5-97C9-970F083BC25A}">
      <dgm:prSet/>
      <dgm:spPr/>
      <dgm:t>
        <a:bodyPr/>
        <a:lstStyle/>
        <a:p>
          <a:endParaRPr lang="en-US"/>
        </a:p>
      </dgm:t>
    </dgm:pt>
    <dgm:pt modelId="{11177A40-D805-4423-97ED-69DD1A901F04}" type="sibTrans" cxnId="{ECFBB849-87E6-41C5-97C9-970F083BC25A}">
      <dgm:prSet/>
      <dgm:spPr/>
      <dgm:t>
        <a:bodyPr/>
        <a:lstStyle/>
        <a:p>
          <a:endParaRPr lang="en-US"/>
        </a:p>
      </dgm:t>
    </dgm:pt>
    <dgm:pt modelId="{4C218804-073F-4CAC-B39F-8EA57CEC90DC}">
      <dgm:prSet/>
      <dgm:spPr/>
      <dgm:t>
        <a:bodyPr/>
        <a:lstStyle/>
        <a:p>
          <a:pPr>
            <a:defRPr cap="all"/>
          </a:pPr>
          <a:r>
            <a:rPr lang="en-US"/>
            <a:t>Exchange symmetric keys</a:t>
          </a:r>
        </a:p>
      </dgm:t>
    </dgm:pt>
    <dgm:pt modelId="{4900B6D7-467C-4F25-B9A9-93F81B804B77}" type="parTrans" cxnId="{F06B8131-D6DA-4E36-BCF7-FAD5E21B745A}">
      <dgm:prSet/>
      <dgm:spPr/>
      <dgm:t>
        <a:bodyPr/>
        <a:lstStyle/>
        <a:p>
          <a:endParaRPr lang="en-US"/>
        </a:p>
      </dgm:t>
    </dgm:pt>
    <dgm:pt modelId="{F98CF8D7-B873-42CE-A330-D35EE96B64FF}" type="sibTrans" cxnId="{F06B8131-D6DA-4E36-BCF7-FAD5E21B745A}">
      <dgm:prSet/>
      <dgm:spPr/>
      <dgm:t>
        <a:bodyPr/>
        <a:lstStyle/>
        <a:p>
          <a:endParaRPr lang="en-US"/>
        </a:p>
      </dgm:t>
    </dgm:pt>
    <dgm:pt modelId="{C7034591-D7C2-4230-A366-F4F4A0EC5593}" type="pres">
      <dgm:prSet presAssocID="{898D02E4-AFCB-4EE2-ABAE-8E0E89ED9E19}" presName="root" presStyleCnt="0">
        <dgm:presLayoutVars>
          <dgm:dir/>
          <dgm:resizeHandles val="exact"/>
        </dgm:presLayoutVars>
      </dgm:prSet>
      <dgm:spPr/>
    </dgm:pt>
    <dgm:pt modelId="{55D03D82-A569-46F4-A820-03501EB4691E}" type="pres">
      <dgm:prSet presAssocID="{2DC640A3-02C6-44BE-8985-CBCB3D60C89B}" presName="compNode" presStyleCnt="0"/>
      <dgm:spPr/>
    </dgm:pt>
    <dgm:pt modelId="{982CE12A-E52D-44BC-8528-A2B72025D584}" type="pres">
      <dgm:prSet presAssocID="{2DC640A3-02C6-44BE-8985-CBCB3D60C89B}" presName="iconBgRect" presStyleLbl="bgShp" presStyleIdx="0" presStyleCnt="4"/>
      <dgm:spPr/>
    </dgm:pt>
    <dgm:pt modelId="{7727FB0A-3308-4580-833F-CA99D4006278}" type="pres">
      <dgm:prSet presAssocID="{2DC640A3-02C6-44BE-8985-CBCB3D60C89B}" presName="iconRect" presStyleLbl="node1" presStyleIdx="0" presStyleCnt="4" custLinFactNeighborX="9165" custLinFactNeighborY="1281"/>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a:noFill/>
        </a:ln>
      </dgm:spPr>
      <dgm:extLst>
        <a:ext uri="{E40237B7-FDA0-4F09-8148-C483321AD2D9}">
          <dgm14:cNvPr xmlns:dgm14="http://schemas.microsoft.com/office/drawing/2010/diagram" id="0" name="" descr="Question mark on green pastel background"/>
        </a:ext>
      </dgm:extLst>
    </dgm:pt>
    <dgm:pt modelId="{0ADAF9E9-BBA5-45BF-8313-2E56202E04B2}" type="pres">
      <dgm:prSet presAssocID="{2DC640A3-02C6-44BE-8985-CBCB3D60C89B}" presName="spaceRect" presStyleCnt="0"/>
      <dgm:spPr/>
    </dgm:pt>
    <dgm:pt modelId="{CDED7566-2E96-48CD-B6D9-5436FAB1D882}" type="pres">
      <dgm:prSet presAssocID="{2DC640A3-02C6-44BE-8985-CBCB3D60C89B}" presName="textRect" presStyleLbl="revTx" presStyleIdx="0" presStyleCnt="4">
        <dgm:presLayoutVars>
          <dgm:chMax val="1"/>
          <dgm:chPref val="1"/>
        </dgm:presLayoutVars>
      </dgm:prSet>
      <dgm:spPr/>
    </dgm:pt>
    <dgm:pt modelId="{885DD2EB-07F8-46CB-A1D3-19E9885FC47E}" type="pres">
      <dgm:prSet presAssocID="{5D5C7A0A-226D-43B4-B082-85BCE5B7CC2A}" presName="sibTrans" presStyleCnt="0"/>
      <dgm:spPr/>
    </dgm:pt>
    <dgm:pt modelId="{59D35538-4B77-4445-887F-DCBCF7CDB689}" type="pres">
      <dgm:prSet presAssocID="{67206EB8-0801-4591-B8B5-636F6D05B081}" presName="compNode" presStyleCnt="0"/>
      <dgm:spPr/>
    </dgm:pt>
    <dgm:pt modelId="{12D46A96-B914-4473-9207-E4B5A13AA753}" type="pres">
      <dgm:prSet presAssocID="{67206EB8-0801-4591-B8B5-636F6D05B081}" presName="iconBgRect" presStyleLbl="bgShp" presStyleIdx="1" presStyleCnt="4"/>
      <dgm:spPr/>
    </dgm:pt>
    <dgm:pt modelId="{CDE55BC7-5DA3-42B2-A2B9-D62ED79F4E09}" type="pres">
      <dgm:prSet presAssocID="{67206EB8-0801-4591-B8B5-636F6D05B081}" presName="iconRect" presStyleLbl="node1" presStyleIdx="1"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
        </a:ext>
      </dgm:extLst>
    </dgm:pt>
    <dgm:pt modelId="{F832A46F-2EC8-4BF0-A381-7E9A3B6BEB5C}" type="pres">
      <dgm:prSet presAssocID="{67206EB8-0801-4591-B8B5-636F6D05B081}" presName="spaceRect" presStyleCnt="0"/>
      <dgm:spPr/>
    </dgm:pt>
    <dgm:pt modelId="{FFAFBBBB-23D1-422C-B9E4-2734D7342AB7}" type="pres">
      <dgm:prSet presAssocID="{67206EB8-0801-4591-B8B5-636F6D05B081}" presName="textRect" presStyleLbl="revTx" presStyleIdx="1" presStyleCnt="4">
        <dgm:presLayoutVars>
          <dgm:chMax val="1"/>
          <dgm:chPref val="1"/>
        </dgm:presLayoutVars>
      </dgm:prSet>
      <dgm:spPr/>
    </dgm:pt>
    <dgm:pt modelId="{9BB5FBCF-F3A5-439A-B07E-250840F0D3CA}" type="pres">
      <dgm:prSet presAssocID="{0E634953-E162-4B96-8508-440B8FE39C10}" presName="sibTrans" presStyleCnt="0"/>
      <dgm:spPr/>
    </dgm:pt>
    <dgm:pt modelId="{86427022-102D-499E-9274-168AAC668087}" type="pres">
      <dgm:prSet presAssocID="{07538858-9BD3-4FE1-88D5-35DECF8E2273}" presName="compNode" presStyleCnt="0"/>
      <dgm:spPr/>
    </dgm:pt>
    <dgm:pt modelId="{18668453-3354-4EAF-AEA3-4E2A25819AD1}" type="pres">
      <dgm:prSet presAssocID="{07538858-9BD3-4FE1-88D5-35DECF8E2273}" presName="iconBgRect" presStyleLbl="bgShp" presStyleIdx="2" presStyleCnt="4"/>
      <dgm:spPr/>
    </dgm:pt>
    <dgm:pt modelId="{43788725-A203-4690-95D9-FF1828B7ABBA}" type="pres">
      <dgm:prSet presAssocID="{07538858-9BD3-4FE1-88D5-35DECF8E2273}" presName="iconRect" presStyleLbl="node1" presStyleIdx="2"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mark"/>
        </a:ext>
      </dgm:extLst>
    </dgm:pt>
    <dgm:pt modelId="{D47031E0-854A-4AEE-9CE6-6DF2C1544334}" type="pres">
      <dgm:prSet presAssocID="{07538858-9BD3-4FE1-88D5-35DECF8E2273}" presName="spaceRect" presStyleCnt="0"/>
      <dgm:spPr/>
    </dgm:pt>
    <dgm:pt modelId="{17A03339-12B7-4557-AD69-757760792457}" type="pres">
      <dgm:prSet presAssocID="{07538858-9BD3-4FE1-88D5-35DECF8E2273}" presName="textRect" presStyleLbl="revTx" presStyleIdx="2" presStyleCnt="4">
        <dgm:presLayoutVars>
          <dgm:chMax val="1"/>
          <dgm:chPref val="1"/>
        </dgm:presLayoutVars>
      </dgm:prSet>
      <dgm:spPr/>
    </dgm:pt>
    <dgm:pt modelId="{4D714F41-7E07-4B57-AC92-B1150EC3C143}" type="pres">
      <dgm:prSet presAssocID="{11177A40-D805-4423-97ED-69DD1A901F04}" presName="sibTrans" presStyleCnt="0"/>
      <dgm:spPr/>
    </dgm:pt>
    <dgm:pt modelId="{07A92A6B-9210-4ABE-B650-78679C1539B7}" type="pres">
      <dgm:prSet presAssocID="{4C218804-073F-4CAC-B39F-8EA57CEC90DC}" presName="compNode" presStyleCnt="0"/>
      <dgm:spPr/>
    </dgm:pt>
    <dgm:pt modelId="{EFDDF3CE-14DE-489E-9408-E7FFF4F7A777}" type="pres">
      <dgm:prSet presAssocID="{4C218804-073F-4CAC-B39F-8EA57CEC90DC}" presName="iconBgRect" presStyleLbl="bgShp" presStyleIdx="3" presStyleCnt="4"/>
      <dgm:spPr/>
    </dgm:pt>
    <dgm:pt modelId="{6E75E755-E179-4222-AF61-445F73D6DC58}" type="pres">
      <dgm:prSet presAssocID="{4C218804-073F-4CAC-B39F-8EA57CEC90DC}" presName="iconRect" presStyleLbl="node1" presStyleIdx="3"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Key"/>
        </a:ext>
      </dgm:extLst>
    </dgm:pt>
    <dgm:pt modelId="{05C9D88B-75C2-41DF-BE2D-0889BE3C25C9}" type="pres">
      <dgm:prSet presAssocID="{4C218804-073F-4CAC-B39F-8EA57CEC90DC}" presName="spaceRect" presStyleCnt="0"/>
      <dgm:spPr/>
    </dgm:pt>
    <dgm:pt modelId="{5A389BEB-80C4-46BD-8FB7-5C3D00409A1B}" type="pres">
      <dgm:prSet presAssocID="{4C218804-073F-4CAC-B39F-8EA57CEC90DC}" presName="textRect" presStyleLbl="revTx" presStyleIdx="3" presStyleCnt="4">
        <dgm:presLayoutVars>
          <dgm:chMax val="1"/>
          <dgm:chPref val="1"/>
        </dgm:presLayoutVars>
      </dgm:prSet>
      <dgm:spPr/>
    </dgm:pt>
  </dgm:ptLst>
  <dgm:cxnLst>
    <dgm:cxn modelId="{F1F84915-E0E4-4D9A-B0A0-3D3A0D008C7C}" type="presOf" srcId="{07538858-9BD3-4FE1-88D5-35DECF8E2273}" destId="{17A03339-12B7-4557-AD69-757760792457}" srcOrd="0" destOrd="0" presId="urn:microsoft.com/office/officeart/2018/5/layout/IconCircleLabelList"/>
    <dgm:cxn modelId="{C719B02E-1A1E-4824-AFBC-BCE72CC0BAF0}" srcId="{898D02E4-AFCB-4EE2-ABAE-8E0E89ED9E19}" destId="{67206EB8-0801-4591-B8B5-636F6D05B081}" srcOrd="1" destOrd="0" parTransId="{2BBEC803-04AC-4115-985B-4A3F9DA1FF0E}" sibTransId="{0E634953-E162-4B96-8508-440B8FE39C10}"/>
    <dgm:cxn modelId="{F06B8131-D6DA-4E36-BCF7-FAD5E21B745A}" srcId="{898D02E4-AFCB-4EE2-ABAE-8E0E89ED9E19}" destId="{4C218804-073F-4CAC-B39F-8EA57CEC90DC}" srcOrd="3" destOrd="0" parTransId="{4900B6D7-467C-4F25-B9A9-93F81B804B77}" sibTransId="{F98CF8D7-B873-42CE-A330-D35EE96B64FF}"/>
    <dgm:cxn modelId="{031DB240-992E-46EA-A740-BA8B07289548}" srcId="{898D02E4-AFCB-4EE2-ABAE-8E0E89ED9E19}" destId="{2DC640A3-02C6-44BE-8985-CBCB3D60C89B}" srcOrd="0" destOrd="0" parTransId="{A43667AB-7490-4BE9-AA9B-3F677AFA4092}" sibTransId="{5D5C7A0A-226D-43B4-B082-85BCE5B7CC2A}"/>
    <dgm:cxn modelId="{ECFBB849-87E6-41C5-97C9-970F083BC25A}" srcId="{898D02E4-AFCB-4EE2-ABAE-8E0E89ED9E19}" destId="{07538858-9BD3-4FE1-88D5-35DECF8E2273}" srcOrd="2" destOrd="0" parTransId="{B73EFFF7-0AEF-4DF4-87AD-3AE3C39AD1E6}" sibTransId="{11177A40-D805-4423-97ED-69DD1A901F04}"/>
    <dgm:cxn modelId="{4BD1F653-42E2-48FF-9082-8ACC9036A5F7}" type="presOf" srcId="{898D02E4-AFCB-4EE2-ABAE-8E0E89ED9E19}" destId="{C7034591-D7C2-4230-A366-F4F4A0EC5593}" srcOrd="0" destOrd="0" presId="urn:microsoft.com/office/officeart/2018/5/layout/IconCircleLabelList"/>
    <dgm:cxn modelId="{3988677B-E43C-4611-BB07-9F939FE49C70}" type="presOf" srcId="{2DC640A3-02C6-44BE-8985-CBCB3D60C89B}" destId="{CDED7566-2E96-48CD-B6D9-5436FAB1D882}" srcOrd="0" destOrd="0" presId="urn:microsoft.com/office/officeart/2018/5/layout/IconCircleLabelList"/>
    <dgm:cxn modelId="{AC5B10D2-B30B-4CA1-ACB4-0FCFD3B903E3}" type="presOf" srcId="{4C218804-073F-4CAC-B39F-8EA57CEC90DC}" destId="{5A389BEB-80C4-46BD-8FB7-5C3D00409A1B}" srcOrd="0" destOrd="0" presId="urn:microsoft.com/office/officeart/2018/5/layout/IconCircleLabelList"/>
    <dgm:cxn modelId="{E13636FB-BA8E-438D-B575-534E41732BA6}" type="presOf" srcId="{67206EB8-0801-4591-B8B5-636F6D05B081}" destId="{FFAFBBBB-23D1-422C-B9E4-2734D7342AB7}" srcOrd="0" destOrd="0" presId="urn:microsoft.com/office/officeart/2018/5/layout/IconCircleLabelList"/>
    <dgm:cxn modelId="{47D81DAC-EE16-4027-BF4B-381C925DECC9}" type="presParOf" srcId="{C7034591-D7C2-4230-A366-F4F4A0EC5593}" destId="{55D03D82-A569-46F4-A820-03501EB4691E}" srcOrd="0" destOrd="0" presId="urn:microsoft.com/office/officeart/2018/5/layout/IconCircleLabelList"/>
    <dgm:cxn modelId="{9C7CA318-3652-4257-9CF4-17F2CDE4DA4D}" type="presParOf" srcId="{55D03D82-A569-46F4-A820-03501EB4691E}" destId="{982CE12A-E52D-44BC-8528-A2B72025D584}" srcOrd="0" destOrd="0" presId="urn:microsoft.com/office/officeart/2018/5/layout/IconCircleLabelList"/>
    <dgm:cxn modelId="{37DCAAA1-9801-48A8-A589-3C587B109261}" type="presParOf" srcId="{55D03D82-A569-46F4-A820-03501EB4691E}" destId="{7727FB0A-3308-4580-833F-CA99D4006278}" srcOrd="1" destOrd="0" presId="urn:microsoft.com/office/officeart/2018/5/layout/IconCircleLabelList"/>
    <dgm:cxn modelId="{ADE116C1-541B-4D07-992F-81EE0A1880B6}" type="presParOf" srcId="{55D03D82-A569-46F4-A820-03501EB4691E}" destId="{0ADAF9E9-BBA5-45BF-8313-2E56202E04B2}" srcOrd="2" destOrd="0" presId="urn:microsoft.com/office/officeart/2018/5/layout/IconCircleLabelList"/>
    <dgm:cxn modelId="{56D906B2-2518-4344-844F-26A6F33CD079}" type="presParOf" srcId="{55D03D82-A569-46F4-A820-03501EB4691E}" destId="{CDED7566-2E96-48CD-B6D9-5436FAB1D882}" srcOrd="3" destOrd="0" presId="urn:microsoft.com/office/officeart/2018/5/layout/IconCircleLabelList"/>
    <dgm:cxn modelId="{16F1F233-47A0-460E-B87E-4CCB179EAC3E}" type="presParOf" srcId="{C7034591-D7C2-4230-A366-F4F4A0EC5593}" destId="{885DD2EB-07F8-46CB-A1D3-19E9885FC47E}" srcOrd="1" destOrd="0" presId="urn:microsoft.com/office/officeart/2018/5/layout/IconCircleLabelList"/>
    <dgm:cxn modelId="{999655B7-42BB-484B-AA5E-5969DB1F642B}" type="presParOf" srcId="{C7034591-D7C2-4230-A366-F4F4A0EC5593}" destId="{59D35538-4B77-4445-887F-DCBCF7CDB689}" srcOrd="2" destOrd="0" presId="urn:microsoft.com/office/officeart/2018/5/layout/IconCircleLabelList"/>
    <dgm:cxn modelId="{30E09947-C1BB-4E87-9880-1F5FF0D76B26}" type="presParOf" srcId="{59D35538-4B77-4445-887F-DCBCF7CDB689}" destId="{12D46A96-B914-4473-9207-E4B5A13AA753}" srcOrd="0" destOrd="0" presId="urn:microsoft.com/office/officeart/2018/5/layout/IconCircleLabelList"/>
    <dgm:cxn modelId="{622FAE19-DD24-470F-B6CB-99473720ABBF}" type="presParOf" srcId="{59D35538-4B77-4445-887F-DCBCF7CDB689}" destId="{CDE55BC7-5DA3-42B2-A2B9-D62ED79F4E09}" srcOrd="1" destOrd="0" presId="urn:microsoft.com/office/officeart/2018/5/layout/IconCircleLabelList"/>
    <dgm:cxn modelId="{B146CFB9-6229-463C-BB62-D7FAB25BEBED}" type="presParOf" srcId="{59D35538-4B77-4445-887F-DCBCF7CDB689}" destId="{F832A46F-2EC8-4BF0-A381-7E9A3B6BEB5C}" srcOrd="2" destOrd="0" presId="urn:microsoft.com/office/officeart/2018/5/layout/IconCircleLabelList"/>
    <dgm:cxn modelId="{5864A6D8-5BF1-4760-B952-2E378DD34AC2}" type="presParOf" srcId="{59D35538-4B77-4445-887F-DCBCF7CDB689}" destId="{FFAFBBBB-23D1-422C-B9E4-2734D7342AB7}" srcOrd="3" destOrd="0" presId="urn:microsoft.com/office/officeart/2018/5/layout/IconCircleLabelList"/>
    <dgm:cxn modelId="{C93948FE-D8BC-4241-9515-DBEC15AD1DE9}" type="presParOf" srcId="{C7034591-D7C2-4230-A366-F4F4A0EC5593}" destId="{9BB5FBCF-F3A5-439A-B07E-250840F0D3CA}" srcOrd="3" destOrd="0" presId="urn:microsoft.com/office/officeart/2018/5/layout/IconCircleLabelList"/>
    <dgm:cxn modelId="{D52D572B-1CDB-4535-AA08-48EB01FD96C2}" type="presParOf" srcId="{C7034591-D7C2-4230-A366-F4F4A0EC5593}" destId="{86427022-102D-499E-9274-168AAC668087}" srcOrd="4" destOrd="0" presId="urn:microsoft.com/office/officeart/2018/5/layout/IconCircleLabelList"/>
    <dgm:cxn modelId="{9C5D7712-2580-4E3F-BC88-C08F84A4700D}" type="presParOf" srcId="{86427022-102D-499E-9274-168AAC668087}" destId="{18668453-3354-4EAF-AEA3-4E2A25819AD1}" srcOrd="0" destOrd="0" presId="urn:microsoft.com/office/officeart/2018/5/layout/IconCircleLabelList"/>
    <dgm:cxn modelId="{52CCC501-5291-4BAF-A369-E564F177CE7C}" type="presParOf" srcId="{86427022-102D-499E-9274-168AAC668087}" destId="{43788725-A203-4690-95D9-FF1828B7ABBA}" srcOrd="1" destOrd="0" presId="urn:microsoft.com/office/officeart/2018/5/layout/IconCircleLabelList"/>
    <dgm:cxn modelId="{379E87AB-D6CF-48BB-9BA4-C40545405504}" type="presParOf" srcId="{86427022-102D-499E-9274-168AAC668087}" destId="{D47031E0-854A-4AEE-9CE6-6DF2C1544334}" srcOrd="2" destOrd="0" presId="urn:microsoft.com/office/officeart/2018/5/layout/IconCircleLabelList"/>
    <dgm:cxn modelId="{A123D073-6F1E-4F85-9989-F9C17A7A77DA}" type="presParOf" srcId="{86427022-102D-499E-9274-168AAC668087}" destId="{17A03339-12B7-4557-AD69-757760792457}" srcOrd="3" destOrd="0" presId="urn:microsoft.com/office/officeart/2018/5/layout/IconCircleLabelList"/>
    <dgm:cxn modelId="{E26B3AF3-031E-4F76-93A0-718285A8B554}" type="presParOf" srcId="{C7034591-D7C2-4230-A366-F4F4A0EC5593}" destId="{4D714F41-7E07-4B57-AC92-B1150EC3C143}" srcOrd="5" destOrd="0" presId="urn:microsoft.com/office/officeart/2018/5/layout/IconCircleLabelList"/>
    <dgm:cxn modelId="{819BAC43-830C-48A8-9B4A-C96FF3BBCF73}" type="presParOf" srcId="{C7034591-D7C2-4230-A366-F4F4A0EC5593}" destId="{07A92A6B-9210-4ABE-B650-78679C1539B7}" srcOrd="6" destOrd="0" presId="urn:microsoft.com/office/officeart/2018/5/layout/IconCircleLabelList"/>
    <dgm:cxn modelId="{F0C87A71-4089-47DE-929A-B83A2176BA5F}" type="presParOf" srcId="{07A92A6B-9210-4ABE-B650-78679C1539B7}" destId="{EFDDF3CE-14DE-489E-9408-E7FFF4F7A777}" srcOrd="0" destOrd="0" presId="urn:microsoft.com/office/officeart/2018/5/layout/IconCircleLabelList"/>
    <dgm:cxn modelId="{9FF7593E-E693-44AA-AD8F-87F490D9F435}" type="presParOf" srcId="{07A92A6B-9210-4ABE-B650-78679C1539B7}" destId="{6E75E755-E179-4222-AF61-445F73D6DC58}" srcOrd="1" destOrd="0" presId="urn:microsoft.com/office/officeart/2018/5/layout/IconCircleLabelList"/>
    <dgm:cxn modelId="{CC10279A-1531-4818-BF1F-A1C73342FC15}" type="presParOf" srcId="{07A92A6B-9210-4ABE-B650-78679C1539B7}" destId="{05C9D88B-75C2-41DF-BE2D-0889BE3C25C9}" srcOrd="2" destOrd="0" presId="urn:microsoft.com/office/officeart/2018/5/layout/IconCircleLabelList"/>
    <dgm:cxn modelId="{753EFF8A-6D0B-482A-9A15-AFF2043967CA}" type="presParOf" srcId="{07A92A6B-9210-4ABE-B650-78679C1539B7}" destId="{5A389BEB-80C4-46BD-8FB7-5C3D00409A1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2CE12A-E52D-44BC-8528-A2B72025D584}">
      <dsp:nvSpPr>
        <dsp:cNvPr id="0" name=""/>
        <dsp:cNvSpPr/>
      </dsp:nvSpPr>
      <dsp:spPr>
        <a:xfrm>
          <a:off x="973190" y="986724"/>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27FB0A-3308-4580-833F-CA99D4006278}">
      <dsp:nvSpPr>
        <dsp:cNvPr id="0" name=""/>
        <dsp:cNvSpPr/>
      </dsp:nvSpPr>
      <dsp:spPr>
        <a:xfrm>
          <a:off x="1309073" y="1265422"/>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ED7566-2E96-48CD-B6D9-5436FAB1D882}">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Asymmetric encryption methods are what you use to:</a:t>
          </a:r>
        </a:p>
      </dsp:txBody>
      <dsp:txXfrm>
        <a:off x="569079" y="2644614"/>
        <a:ext cx="2072362" cy="720000"/>
      </dsp:txXfrm>
    </dsp:sp>
    <dsp:sp modelId="{12D46A96-B914-4473-9207-E4B5A13AA753}">
      <dsp:nvSpPr>
        <dsp:cNvPr id="0" name=""/>
        <dsp:cNvSpPr/>
      </dsp:nvSpPr>
      <dsp:spPr>
        <a:xfrm>
          <a:off x="3408216" y="986724"/>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E55BC7-5DA3-42B2-A2B9-D62ED79F4E09}">
      <dsp:nvSpPr>
        <dsp:cNvPr id="0" name=""/>
        <dsp:cNvSpPr/>
      </dsp:nvSpPr>
      <dsp:spPr>
        <a:xfrm>
          <a:off x="3677623" y="1256131"/>
          <a:ext cx="725326" cy="725326"/>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AFBBBB-23D1-422C-B9E4-2734D7342AB7}">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Authenticate parties,</a:t>
          </a:r>
        </a:p>
      </dsp:txBody>
      <dsp:txXfrm>
        <a:off x="3004105" y="2644614"/>
        <a:ext cx="2072362" cy="720000"/>
      </dsp:txXfrm>
    </dsp:sp>
    <dsp:sp modelId="{18668453-3354-4EAF-AEA3-4E2A25819AD1}">
      <dsp:nvSpPr>
        <dsp:cNvPr id="0" name=""/>
        <dsp:cNvSpPr/>
      </dsp:nvSpPr>
      <dsp:spPr>
        <a:xfrm>
          <a:off x="5843242" y="986724"/>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788725-A203-4690-95D9-FF1828B7ABBA}">
      <dsp:nvSpPr>
        <dsp:cNvPr id="0" name=""/>
        <dsp:cNvSpPr/>
      </dsp:nvSpPr>
      <dsp:spPr>
        <a:xfrm>
          <a:off x="6112649" y="1256131"/>
          <a:ext cx="725326" cy="725326"/>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A03339-12B7-4557-AD69-757760792457}">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Verify data integrity and </a:t>
          </a:r>
        </a:p>
      </dsp:txBody>
      <dsp:txXfrm>
        <a:off x="5439131" y="2644614"/>
        <a:ext cx="2072362" cy="720000"/>
      </dsp:txXfrm>
    </dsp:sp>
    <dsp:sp modelId="{EFDDF3CE-14DE-489E-9408-E7FFF4F7A777}">
      <dsp:nvSpPr>
        <dsp:cNvPr id="0" name=""/>
        <dsp:cNvSpPr/>
      </dsp:nvSpPr>
      <dsp:spPr>
        <a:xfrm>
          <a:off x="8278268" y="986724"/>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75E755-E179-4222-AF61-445F73D6DC58}">
      <dsp:nvSpPr>
        <dsp:cNvPr id="0" name=""/>
        <dsp:cNvSpPr/>
      </dsp:nvSpPr>
      <dsp:spPr>
        <a:xfrm>
          <a:off x="8547675" y="1256131"/>
          <a:ext cx="725326" cy="725326"/>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389BEB-80C4-46BD-8FB7-5C3D00409A1B}">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kern="1200"/>
            <a:t>Exchange symmetric keys</a:t>
          </a:r>
        </a:p>
      </dsp:txBody>
      <dsp:txXfrm>
        <a:off x="7874157" y="2644614"/>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08664-221D-1531-6B73-7CB11075B3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D6EEB0-3217-32C7-28E0-A5A111A6D1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97C1E2-4B23-96DF-5453-02F9F1EC037D}"/>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5" name="Footer Placeholder 4">
            <a:extLst>
              <a:ext uri="{FF2B5EF4-FFF2-40B4-BE49-F238E27FC236}">
                <a16:creationId xmlns:a16="http://schemas.microsoft.com/office/drawing/2014/main" id="{37D9EC69-EAA4-15E6-7F5E-27CA397A7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475DAF-290A-31DF-544F-0CE707BE043B}"/>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2315340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A9816-CE1E-5F21-8C74-8A92BB6042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F3CBEB-4DD3-6AB7-03ED-D26B2F8321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E86184-2F69-7A96-EC8A-83F3FD31B28C}"/>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5" name="Footer Placeholder 4">
            <a:extLst>
              <a:ext uri="{FF2B5EF4-FFF2-40B4-BE49-F238E27FC236}">
                <a16:creationId xmlns:a16="http://schemas.microsoft.com/office/drawing/2014/main" id="{8BB1450C-7E23-86B7-68F7-1C22C8B74D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A1CA1A-7F3D-2023-C03F-AEE1FA9C8BEE}"/>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35623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734C1-6F8C-9C2F-3C0A-D9D002E338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B37467-B09F-7EE8-5F6F-4BD6DB2024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BD08AE-4CFB-491E-9DB9-AAF1C36D6050}"/>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5" name="Footer Placeholder 4">
            <a:extLst>
              <a:ext uri="{FF2B5EF4-FFF2-40B4-BE49-F238E27FC236}">
                <a16:creationId xmlns:a16="http://schemas.microsoft.com/office/drawing/2014/main" id="{9DC7E03B-CAF1-22FC-52BD-37D92CEEE7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3A7E8-CF22-D1BC-0090-94EC697BD867}"/>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1833174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552F7-4720-7B03-E388-485621DD73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D8661E-198D-4BD6-022F-76C42D6384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EB3D1B-CB5E-0AA0-B06C-5B0F524E19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B7B44C-328B-0867-A53D-10E2093E3D62}"/>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6" name="Footer Placeholder 5">
            <a:extLst>
              <a:ext uri="{FF2B5EF4-FFF2-40B4-BE49-F238E27FC236}">
                <a16:creationId xmlns:a16="http://schemas.microsoft.com/office/drawing/2014/main" id="{C71F25D5-EDD7-5BB2-2DCB-192C187207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DA8009-69FE-3C1C-AE74-2B705F6E9C09}"/>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265776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838A1-58CA-7C1B-F380-F566ECD34F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76D67C-7542-E968-D327-E02BF649DD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DFF5D5-C4DC-3724-23EE-E2E08BDF54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95248D-C227-18D7-EF75-E440C6CC5A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6A55D6-F016-34E5-5C2F-99D718855F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4AE1A4-AD0D-0FCA-FC10-FEAEB7B3CF42}"/>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8" name="Footer Placeholder 7">
            <a:extLst>
              <a:ext uri="{FF2B5EF4-FFF2-40B4-BE49-F238E27FC236}">
                <a16:creationId xmlns:a16="http://schemas.microsoft.com/office/drawing/2014/main" id="{EA372C32-CA44-92FE-5CCB-793BDC2345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C2D827-0855-FD17-FF5C-79D5D25D87A0}"/>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3320848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1820-42D8-0C0E-CFC1-8551DD693C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318659-08C9-97B5-E0F6-6146A5ACC589}"/>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4" name="Footer Placeholder 3">
            <a:extLst>
              <a:ext uri="{FF2B5EF4-FFF2-40B4-BE49-F238E27FC236}">
                <a16:creationId xmlns:a16="http://schemas.microsoft.com/office/drawing/2014/main" id="{E42A9204-F3C5-41EE-C472-3B6C369774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589D7F-3EFE-2EB1-96A0-0ACE28D1086E}"/>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911144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0CCA2A-35F6-CC28-827E-26CD38458EE8}"/>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3" name="Footer Placeholder 2">
            <a:extLst>
              <a:ext uri="{FF2B5EF4-FFF2-40B4-BE49-F238E27FC236}">
                <a16:creationId xmlns:a16="http://schemas.microsoft.com/office/drawing/2014/main" id="{5D31A93C-0245-F1A7-0CFF-D11204A4F7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3BFD56-F6C3-7B47-7BCF-DA49B3D56F84}"/>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2848624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29D76-B36E-7908-7DF0-B1C844E6B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3B2CFE-BC4A-2924-B709-7BD6738C7B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19B63A-BA10-A22C-5226-2EE3559CF1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951D8C-29EB-B25B-20F6-25A412BDEA2D}"/>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6" name="Footer Placeholder 5">
            <a:extLst>
              <a:ext uri="{FF2B5EF4-FFF2-40B4-BE49-F238E27FC236}">
                <a16:creationId xmlns:a16="http://schemas.microsoft.com/office/drawing/2014/main" id="{8790B2EF-510B-8151-D50B-BAEE865F06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A9FE11-54EA-5BBC-A51D-5CA3FD6C43DE}"/>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2055198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54D9-5217-1946-29AD-5FA522FEB7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A1EAE1-D0CA-B3F4-4519-F8E1246D35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00368C-BC79-20BB-9B9B-47B26CB5E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05BC9D-FFA5-F5C2-3085-3D28DACD01A5}"/>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6" name="Footer Placeholder 5">
            <a:extLst>
              <a:ext uri="{FF2B5EF4-FFF2-40B4-BE49-F238E27FC236}">
                <a16:creationId xmlns:a16="http://schemas.microsoft.com/office/drawing/2014/main" id="{9212B35D-18B6-379A-B5C5-B19BAE1441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D3A1D8-6002-2722-7294-21FA7D6E0295}"/>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2881901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48D7-CF25-7B25-EDF1-72EB6A53CC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DF4D99-A84F-F68E-9919-DA72E68ECA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FDF111-9842-125E-B9DA-BBFA412688A2}"/>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5" name="Footer Placeholder 4">
            <a:extLst>
              <a:ext uri="{FF2B5EF4-FFF2-40B4-BE49-F238E27FC236}">
                <a16:creationId xmlns:a16="http://schemas.microsoft.com/office/drawing/2014/main" id="{CEAFBF45-0A9D-E692-C158-7D9A4F070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DD3C69-D182-23EB-BA8E-714C05DD8026}"/>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3404551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F33E43-73BE-4151-230F-EA026CBB2A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037A6A-D95A-6D41-3D91-30FA97041C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41DE0-E7E4-0185-C338-EEE06F59D128}"/>
              </a:ext>
            </a:extLst>
          </p:cNvPr>
          <p:cNvSpPr>
            <a:spLocks noGrp="1"/>
          </p:cNvSpPr>
          <p:nvPr>
            <p:ph type="dt" sz="half" idx="10"/>
          </p:nvPr>
        </p:nvSpPr>
        <p:spPr/>
        <p:txBody>
          <a:bodyPr/>
          <a:lstStyle/>
          <a:p>
            <a:fld id="{29A49500-F344-4DDC-9664-80400D3FF13D}" type="datetimeFigureOut">
              <a:rPr lang="en-US" smtClean="0"/>
              <a:t>6/27/2024</a:t>
            </a:fld>
            <a:endParaRPr lang="en-US"/>
          </a:p>
        </p:txBody>
      </p:sp>
      <p:sp>
        <p:nvSpPr>
          <p:cNvPr id="5" name="Footer Placeholder 4">
            <a:extLst>
              <a:ext uri="{FF2B5EF4-FFF2-40B4-BE49-F238E27FC236}">
                <a16:creationId xmlns:a16="http://schemas.microsoft.com/office/drawing/2014/main" id="{C480FDFB-435D-2B81-5CFF-0CDD81A61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9CF9AA-3AE3-4CC6-53F4-AEA701FA1403}"/>
              </a:ext>
            </a:extLst>
          </p:cNvPr>
          <p:cNvSpPr>
            <a:spLocks noGrp="1"/>
          </p:cNvSpPr>
          <p:nvPr>
            <p:ph type="sldNum" sz="quarter" idx="12"/>
          </p:nvPr>
        </p:nvSpPr>
        <p:spPr/>
        <p:txBody>
          <a:bodyPr/>
          <a:lstStyle/>
          <a:p>
            <a:fld id="{7AB40697-C2DF-4970-93CC-0DCE11CB0197}" type="slidenum">
              <a:rPr lang="en-US" smtClean="0"/>
              <a:t>‹#›</a:t>
            </a:fld>
            <a:endParaRPr lang="en-US"/>
          </a:p>
        </p:txBody>
      </p:sp>
    </p:spTree>
    <p:extLst>
      <p:ext uri="{BB962C8B-B14F-4D97-AF65-F5344CB8AC3E}">
        <p14:creationId xmlns:p14="http://schemas.microsoft.com/office/powerpoint/2010/main" val="2480319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1AD628-2449-52E6-7CF1-969DD2BCCF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DEE928-0472-12F4-1884-8C09786A8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BA5C5-D934-606D-55D6-32C92571E9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A49500-F344-4DDC-9664-80400D3FF13D}" type="datetimeFigureOut">
              <a:rPr lang="en-US" smtClean="0"/>
              <a:t>6/27/2024</a:t>
            </a:fld>
            <a:endParaRPr lang="en-US"/>
          </a:p>
        </p:txBody>
      </p:sp>
      <p:sp>
        <p:nvSpPr>
          <p:cNvPr id="5" name="Footer Placeholder 4">
            <a:extLst>
              <a:ext uri="{FF2B5EF4-FFF2-40B4-BE49-F238E27FC236}">
                <a16:creationId xmlns:a16="http://schemas.microsoft.com/office/drawing/2014/main" id="{7A85B335-D6AA-54BD-B837-8E28DE602E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B42A49-2752-43AA-AA62-E834A53779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B40697-C2DF-4970-93CC-0DCE11CB0197}" type="slidenum">
              <a:rPr lang="en-US" smtClean="0"/>
              <a:t>‹#›</a:t>
            </a:fld>
            <a:endParaRPr lang="en-US"/>
          </a:p>
        </p:txBody>
      </p:sp>
    </p:spTree>
    <p:extLst>
      <p:ext uri="{BB962C8B-B14F-4D97-AF65-F5344CB8AC3E}">
        <p14:creationId xmlns:p14="http://schemas.microsoft.com/office/powerpoint/2010/main" val="711629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25886-865D-C60D-5FC1-CEFF4DDFF42B}"/>
              </a:ext>
            </a:extLst>
          </p:cNvPr>
          <p:cNvSpPr>
            <a:spLocks noGrp="1"/>
          </p:cNvSpPr>
          <p:nvPr>
            <p:ph type="ctrTitle"/>
          </p:nvPr>
        </p:nvSpPr>
        <p:spPr/>
        <p:txBody>
          <a:bodyPr/>
          <a:lstStyle/>
          <a:p>
            <a:r>
              <a:rPr lang="en-US" b="1" dirty="0"/>
              <a:t>Information Security</a:t>
            </a:r>
          </a:p>
        </p:txBody>
      </p:sp>
      <p:sp>
        <p:nvSpPr>
          <p:cNvPr id="3" name="Subtitle 2">
            <a:extLst>
              <a:ext uri="{FF2B5EF4-FFF2-40B4-BE49-F238E27FC236}">
                <a16:creationId xmlns:a16="http://schemas.microsoft.com/office/drawing/2014/main" id="{10825C91-D173-9510-1078-2E855652AF63}"/>
              </a:ext>
            </a:extLst>
          </p:cNvPr>
          <p:cNvSpPr>
            <a:spLocks noGrp="1"/>
          </p:cNvSpPr>
          <p:nvPr>
            <p:ph type="subTitle" idx="1"/>
          </p:nvPr>
        </p:nvSpPr>
        <p:spPr/>
        <p:txBody>
          <a:bodyPr>
            <a:normAutofit/>
          </a:bodyPr>
          <a:lstStyle/>
          <a:p>
            <a:r>
              <a:rPr lang="en-US" sz="4800" dirty="0">
                <a:solidFill>
                  <a:schemeClr val="accent1"/>
                </a:solidFill>
              </a:rPr>
              <a:t>Course Code: CACS459</a:t>
            </a:r>
          </a:p>
          <a:p>
            <a:r>
              <a:rPr lang="en-US" sz="4800" dirty="0">
                <a:solidFill>
                  <a:schemeClr val="accent1"/>
                </a:solidFill>
              </a:rPr>
              <a:t>BCA 8th</a:t>
            </a:r>
          </a:p>
        </p:txBody>
      </p:sp>
    </p:spTree>
    <p:extLst>
      <p:ext uri="{BB962C8B-B14F-4D97-AF65-F5344CB8AC3E}">
        <p14:creationId xmlns:p14="http://schemas.microsoft.com/office/powerpoint/2010/main" val="3854111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C20D-2178-A8F7-99B2-56E22A0A82FF}"/>
              </a:ext>
            </a:extLst>
          </p:cNvPr>
          <p:cNvSpPr>
            <a:spLocks noGrp="1"/>
          </p:cNvSpPr>
          <p:nvPr>
            <p:ph type="title"/>
          </p:nvPr>
        </p:nvSpPr>
        <p:spPr/>
        <p:txBody>
          <a:bodyPr/>
          <a:lstStyle/>
          <a:p>
            <a:r>
              <a:rPr lang="en-US" b="1" dirty="0"/>
              <a:t>Unit 2 : Cryptographic Algorithms</a:t>
            </a:r>
          </a:p>
        </p:txBody>
      </p:sp>
      <p:sp>
        <p:nvSpPr>
          <p:cNvPr id="3" name="Content Placeholder 2">
            <a:extLst>
              <a:ext uri="{FF2B5EF4-FFF2-40B4-BE49-F238E27FC236}">
                <a16:creationId xmlns:a16="http://schemas.microsoft.com/office/drawing/2014/main" id="{304181F1-FE47-847D-82D3-EEB32CFBEB95}"/>
              </a:ext>
            </a:extLst>
          </p:cNvPr>
          <p:cNvSpPr>
            <a:spLocks noGrp="1"/>
          </p:cNvSpPr>
          <p:nvPr>
            <p:ph idx="1"/>
          </p:nvPr>
        </p:nvSpPr>
        <p:spPr/>
        <p:txBody>
          <a:bodyPr>
            <a:normAutofit fontScale="92500" lnSpcReduction="10000"/>
          </a:bodyPr>
          <a:lstStyle/>
          <a:p>
            <a:pPr marL="0" indent="0">
              <a:buNone/>
            </a:pPr>
            <a:r>
              <a:rPr lang="en-US" b="1" dirty="0"/>
              <a:t>2.1. Classical Cryptosystems</a:t>
            </a:r>
            <a:r>
              <a:rPr lang="en-US" dirty="0"/>
              <a:t>: </a:t>
            </a:r>
            <a:r>
              <a:rPr lang="en-US" dirty="0" err="1"/>
              <a:t>Ceasar</a:t>
            </a:r>
            <a:r>
              <a:rPr lang="en-US" dirty="0"/>
              <a:t>, </a:t>
            </a:r>
            <a:r>
              <a:rPr lang="en-US" dirty="0" err="1"/>
              <a:t>Vignere</a:t>
            </a:r>
            <a:r>
              <a:rPr lang="en-US" dirty="0"/>
              <a:t>, Playfair, Rail Fence Ciphers</a:t>
            </a:r>
          </a:p>
          <a:p>
            <a:pPr marL="0" indent="0">
              <a:buNone/>
            </a:pPr>
            <a:r>
              <a:rPr lang="en-US" b="1" dirty="0"/>
              <a:t>2.2. Modern Ciphers</a:t>
            </a:r>
            <a:r>
              <a:rPr lang="en-US" dirty="0"/>
              <a:t>: Block vs Stream Ciphers, Symmetric vs Asymmetric Ciphers</a:t>
            </a:r>
          </a:p>
          <a:p>
            <a:pPr marL="0" indent="0">
              <a:buNone/>
            </a:pPr>
            <a:r>
              <a:rPr lang="en-US" b="1" dirty="0"/>
              <a:t>2.3. Symmetric Encryption</a:t>
            </a:r>
            <a:r>
              <a:rPr lang="en-US" dirty="0"/>
              <a:t>: </a:t>
            </a:r>
            <a:r>
              <a:rPr lang="en-US" dirty="0" err="1"/>
              <a:t>Fiestel</a:t>
            </a:r>
            <a:r>
              <a:rPr lang="en-US" dirty="0"/>
              <a:t> Cipher Structure, Data Encryption Standards (DES), Basic Concepts of Fields: Groups, Rings, Fields, Modular Arithmetic, Galois Fields, Polynomial Arithmetic, Advanced Encryption Standards (AES) </a:t>
            </a:r>
          </a:p>
          <a:p>
            <a:pPr marL="0" indent="0">
              <a:buNone/>
            </a:pPr>
            <a:r>
              <a:rPr lang="en-US" b="1" dirty="0"/>
              <a:t>2.4. Number Theory</a:t>
            </a:r>
            <a:r>
              <a:rPr lang="en-US" dirty="0"/>
              <a:t>: Prime Numbers, Fermat’s Theorem, Primality Testing: Miller-Rabin Algorithm, Euclidean Theorem, Extended Euclidean Theorem, Euler Totient Function</a:t>
            </a:r>
          </a:p>
          <a:p>
            <a:pPr marL="0" indent="0">
              <a:buNone/>
            </a:pPr>
            <a:r>
              <a:rPr lang="en-US" b="1" dirty="0"/>
              <a:t>2.5.  Asymmetric Encryption</a:t>
            </a:r>
            <a:r>
              <a:rPr lang="en-US" dirty="0"/>
              <a:t>: Diffie-Helman Key Exchange, RSA Algorithm</a:t>
            </a:r>
          </a:p>
        </p:txBody>
      </p:sp>
    </p:spTree>
    <p:extLst>
      <p:ext uri="{BB962C8B-B14F-4D97-AF65-F5344CB8AC3E}">
        <p14:creationId xmlns:p14="http://schemas.microsoft.com/office/powerpoint/2010/main" val="129314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983BE-786A-A618-299F-7755B3356D76}"/>
              </a:ext>
            </a:extLst>
          </p:cNvPr>
          <p:cNvSpPr>
            <a:spLocks noGrp="1"/>
          </p:cNvSpPr>
          <p:nvPr>
            <p:ph type="title"/>
          </p:nvPr>
        </p:nvSpPr>
        <p:spPr/>
        <p:txBody>
          <a:bodyPr/>
          <a:lstStyle/>
          <a:p>
            <a:r>
              <a:rPr lang="en-US" b="1" dirty="0"/>
              <a:t>Introduction to Cryptography</a:t>
            </a:r>
          </a:p>
        </p:txBody>
      </p:sp>
      <p:sp>
        <p:nvSpPr>
          <p:cNvPr id="3" name="Content Placeholder 2">
            <a:extLst>
              <a:ext uri="{FF2B5EF4-FFF2-40B4-BE49-F238E27FC236}">
                <a16:creationId xmlns:a16="http://schemas.microsoft.com/office/drawing/2014/main" id="{06F8565D-0F57-B918-71F6-0E0FFFA94762}"/>
              </a:ext>
            </a:extLst>
          </p:cNvPr>
          <p:cNvSpPr>
            <a:spLocks noGrp="1"/>
          </p:cNvSpPr>
          <p:nvPr>
            <p:ph idx="1"/>
          </p:nvPr>
        </p:nvSpPr>
        <p:spPr>
          <a:xfrm>
            <a:off x="2374392" y="1690688"/>
            <a:ext cx="6696456" cy="4351338"/>
          </a:xfrm>
        </p:spPr>
        <p:txBody>
          <a:bodyPr/>
          <a:lstStyle/>
          <a:p>
            <a:pPr marL="0" indent="0" algn="ctr">
              <a:buNone/>
            </a:pPr>
            <a:r>
              <a:rPr lang="en-US" dirty="0"/>
              <a:t>Cryptography is the study of </a:t>
            </a:r>
          </a:p>
          <a:p>
            <a:pPr marL="0" indent="0" algn="ctr">
              <a:buNone/>
            </a:pPr>
            <a:r>
              <a:rPr lang="en-US" b="1" dirty="0"/>
              <a:t>secret</a:t>
            </a:r>
            <a:r>
              <a:rPr lang="en-US" dirty="0"/>
              <a:t> (crypto)</a:t>
            </a:r>
          </a:p>
          <a:p>
            <a:pPr marL="0" indent="0" algn="ctr">
              <a:buNone/>
            </a:pPr>
            <a:r>
              <a:rPr lang="en-US" b="1" dirty="0"/>
              <a:t>writing</a:t>
            </a:r>
            <a:r>
              <a:rPr lang="en-US" dirty="0"/>
              <a:t> (</a:t>
            </a:r>
            <a:r>
              <a:rPr lang="en-US" dirty="0" err="1"/>
              <a:t>graphy</a:t>
            </a:r>
            <a:r>
              <a:rPr lang="en-US" dirty="0"/>
              <a:t>)</a:t>
            </a:r>
          </a:p>
        </p:txBody>
      </p:sp>
      <p:pic>
        <p:nvPicPr>
          <p:cNvPr id="7" name="Picture 6" descr="A diagram of a blockchain&#10;&#10;Description automatically generated">
            <a:extLst>
              <a:ext uri="{FF2B5EF4-FFF2-40B4-BE49-F238E27FC236}">
                <a16:creationId xmlns:a16="http://schemas.microsoft.com/office/drawing/2014/main" id="{F3A947B6-2059-60A9-AF94-A41F5CFF0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1350" y="3429000"/>
            <a:ext cx="5829300" cy="2733675"/>
          </a:xfrm>
          <a:prstGeom prst="rect">
            <a:avLst/>
          </a:prstGeom>
        </p:spPr>
      </p:pic>
    </p:spTree>
    <p:extLst>
      <p:ext uri="{BB962C8B-B14F-4D97-AF65-F5344CB8AC3E}">
        <p14:creationId xmlns:p14="http://schemas.microsoft.com/office/powerpoint/2010/main" val="2051806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C470C-6837-0FFF-57F2-201D2808F465}"/>
              </a:ext>
            </a:extLst>
          </p:cNvPr>
          <p:cNvSpPr>
            <a:spLocks noGrp="1"/>
          </p:cNvSpPr>
          <p:nvPr>
            <p:ph type="title"/>
          </p:nvPr>
        </p:nvSpPr>
        <p:spPr>
          <a:xfrm>
            <a:off x="673608" y="-297054"/>
            <a:ext cx="10515600" cy="1325563"/>
          </a:xfrm>
        </p:spPr>
        <p:txBody>
          <a:bodyPr/>
          <a:lstStyle/>
          <a:p>
            <a:r>
              <a:rPr lang="en-US" b="1" dirty="0"/>
              <a:t>Basic Concepts</a:t>
            </a:r>
          </a:p>
        </p:txBody>
      </p:sp>
      <p:sp>
        <p:nvSpPr>
          <p:cNvPr id="3" name="Content Placeholder 2">
            <a:extLst>
              <a:ext uri="{FF2B5EF4-FFF2-40B4-BE49-F238E27FC236}">
                <a16:creationId xmlns:a16="http://schemas.microsoft.com/office/drawing/2014/main" id="{DA22BEE3-3F84-C022-60AB-E0B0160D0229}"/>
              </a:ext>
            </a:extLst>
          </p:cNvPr>
          <p:cNvSpPr>
            <a:spLocks noGrp="1"/>
          </p:cNvSpPr>
          <p:nvPr>
            <p:ph idx="1"/>
          </p:nvPr>
        </p:nvSpPr>
        <p:spPr>
          <a:xfrm>
            <a:off x="673608" y="554608"/>
            <a:ext cx="11231880" cy="6065648"/>
          </a:xfrm>
        </p:spPr>
        <p:txBody>
          <a:bodyPr>
            <a:normAutofit fontScale="70000" lnSpcReduction="20000"/>
          </a:bodyPr>
          <a:lstStyle/>
          <a:p>
            <a:pPr marL="0" indent="0">
              <a:buNone/>
            </a:pPr>
            <a:endParaRPr lang="en-US" dirty="0"/>
          </a:p>
          <a:p>
            <a:pPr algn="just">
              <a:lnSpc>
                <a:spcPct val="170000"/>
              </a:lnSpc>
            </a:pPr>
            <a:r>
              <a:rPr lang="en-US" b="1" dirty="0"/>
              <a:t>Cryptography</a:t>
            </a:r>
            <a:r>
              <a:rPr lang="en-US" dirty="0"/>
              <a:t>: art or science encompassing the principles and methods of transforming an intelligible message into one that is unintelligible, and then retransforming that message back to its original form.</a:t>
            </a:r>
          </a:p>
          <a:p>
            <a:pPr algn="just">
              <a:lnSpc>
                <a:spcPct val="170000"/>
              </a:lnSpc>
            </a:pPr>
            <a:r>
              <a:rPr lang="en-US" b="1" dirty="0"/>
              <a:t>Plaintext</a:t>
            </a:r>
            <a:r>
              <a:rPr lang="en-US" dirty="0"/>
              <a:t>: the original intelligible message </a:t>
            </a:r>
          </a:p>
          <a:p>
            <a:pPr algn="just">
              <a:lnSpc>
                <a:spcPct val="170000"/>
              </a:lnSpc>
            </a:pPr>
            <a:r>
              <a:rPr lang="en-US" b="1" dirty="0"/>
              <a:t>Ciphertext</a:t>
            </a:r>
            <a:r>
              <a:rPr lang="en-US" dirty="0"/>
              <a:t>: the transformed message</a:t>
            </a:r>
          </a:p>
          <a:p>
            <a:pPr algn="just">
              <a:lnSpc>
                <a:spcPct val="170000"/>
              </a:lnSpc>
            </a:pPr>
            <a:r>
              <a:rPr lang="en-US" b="1" dirty="0"/>
              <a:t>Cipher</a:t>
            </a:r>
            <a:r>
              <a:rPr lang="en-US" dirty="0"/>
              <a:t>: an algorithm for transforming an intelligible message into one that is unintelligible by transposition and/or substitution methods</a:t>
            </a:r>
          </a:p>
          <a:p>
            <a:pPr algn="just">
              <a:lnSpc>
                <a:spcPct val="170000"/>
              </a:lnSpc>
            </a:pPr>
            <a:r>
              <a:rPr lang="en-US" b="1" dirty="0"/>
              <a:t>Key</a:t>
            </a:r>
            <a:r>
              <a:rPr lang="en-US" dirty="0"/>
              <a:t>: some critical information used by the cipher, known only to the sender and receiver</a:t>
            </a:r>
          </a:p>
          <a:p>
            <a:pPr algn="just">
              <a:lnSpc>
                <a:spcPct val="170000"/>
              </a:lnSpc>
            </a:pPr>
            <a:r>
              <a:rPr lang="en-US" b="1" dirty="0"/>
              <a:t>Encipher</a:t>
            </a:r>
            <a:r>
              <a:rPr lang="en-US" dirty="0"/>
              <a:t> (encode): process of converting plaintext to ciphertext using a cipher and a key</a:t>
            </a:r>
          </a:p>
          <a:p>
            <a:pPr algn="just">
              <a:lnSpc>
                <a:spcPct val="170000"/>
              </a:lnSpc>
            </a:pPr>
            <a:r>
              <a:rPr lang="en-US" b="1" dirty="0"/>
              <a:t>Decipher</a:t>
            </a:r>
            <a:r>
              <a:rPr lang="en-US" dirty="0"/>
              <a:t> (decode): process of converting ciphertext back into plaintext using a cipher and a key</a:t>
            </a:r>
          </a:p>
        </p:txBody>
      </p:sp>
    </p:spTree>
    <p:extLst>
      <p:ext uri="{BB962C8B-B14F-4D97-AF65-F5344CB8AC3E}">
        <p14:creationId xmlns:p14="http://schemas.microsoft.com/office/powerpoint/2010/main" val="701071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9AF5E-9745-53D7-A7C6-2E7D25A71DA4}"/>
              </a:ext>
            </a:extLst>
          </p:cNvPr>
          <p:cNvSpPr>
            <a:spLocks noGrp="1"/>
          </p:cNvSpPr>
          <p:nvPr>
            <p:ph type="title"/>
          </p:nvPr>
        </p:nvSpPr>
        <p:spPr>
          <a:xfrm>
            <a:off x="838200" y="365125"/>
            <a:ext cx="5441302" cy="1325563"/>
          </a:xfrm>
        </p:spPr>
        <p:txBody>
          <a:bodyPr/>
          <a:lstStyle/>
          <a:p>
            <a:r>
              <a:rPr lang="en-US" b="1" dirty="0"/>
              <a:t>What is Cryptography?</a:t>
            </a:r>
          </a:p>
        </p:txBody>
      </p:sp>
      <p:sp>
        <p:nvSpPr>
          <p:cNvPr id="3" name="Content Placeholder 2">
            <a:extLst>
              <a:ext uri="{FF2B5EF4-FFF2-40B4-BE49-F238E27FC236}">
                <a16:creationId xmlns:a16="http://schemas.microsoft.com/office/drawing/2014/main" id="{C125AB57-A62A-9D08-6A38-F4C04109BCFF}"/>
              </a:ext>
            </a:extLst>
          </p:cNvPr>
          <p:cNvSpPr>
            <a:spLocks noGrp="1"/>
          </p:cNvSpPr>
          <p:nvPr>
            <p:ph idx="1"/>
          </p:nvPr>
        </p:nvSpPr>
        <p:spPr>
          <a:xfrm>
            <a:off x="838200" y="1825625"/>
            <a:ext cx="4824663" cy="4351338"/>
          </a:xfrm>
        </p:spPr>
        <p:txBody>
          <a:bodyPr>
            <a:normAutofit lnSpcReduction="10000"/>
          </a:bodyPr>
          <a:lstStyle/>
          <a:p>
            <a:pPr algn="just">
              <a:lnSpc>
                <a:spcPct val="150000"/>
              </a:lnSpc>
            </a:pPr>
            <a:r>
              <a:rPr lang="en-US" dirty="0"/>
              <a:t>Cryptography is </a:t>
            </a:r>
            <a:r>
              <a:rPr lang="en-US" b="1" dirty="0"/>
              <a:t>a method of protecting information and communications through the use of codes, so that only those for whom the information is intended can read and process it</a:t>
            </a:r>
            <a:r>
              <a:rPr lang="en-US" dirty="0"/>
              <a:t>.</a:t>
            </a:r>
          </a:p>
        </p:txBody>
      </p:sp>
      <p:sp>
        <p:nvSpPr>
          <p:cNvPr id="6" name="TextBox 5">
            <a:extLst>
              <a:ext uri="{FF2B5EF4-FFF2-40B4-BE49-F238E27FC236}">
                <a16:creationId xmlns:a16="http://schemas.microsoft.com/office/drawing/2014/main" id="{B1FDF37E-CB80-69FE-91DD-543712022F86}"/>
              </a:ext>
            </a:extLst>
          </p:cNvPr>
          <p:cNvSpPr txBox="1"/>
          <p:nvPr/>
        </p:nvSpPr>
        <p:spPr>
          <a:xfrm>
            <a:off x="6361049" y="1690688"/>
            <a:ext cx="5441302" cy="3913059"/>
          </a:xfrm>
          <a:prstGeom prst="rect">
            <a:avLst/>
          </a:prstGeom>
          <a:noFill/>
        </p:spPr>
        <p:txBody>
          <a:bodyPr wrap="square" rtlCol="0">
            <a:spAutoFit/>
          </a:bodyPr>
          <a:lstStyle/>
          <a:p>
            <a:pPr algn="just">
              <a:lnSpc>
                <a:spcPct val="150000"/>
              </a:lnSpc>
            </a:pPr>
            <a:r>
              <a:rPr lang="en-US" sz="2400" dirty="0"/>
              <a:t>It includes techniques such as microdots, merging words with images and other ways to hide information in storage or transit.</a:t>
            </a:r>
          </a:p>
          <a:p>
            <a:pPr algn="just">
              <a:lnSpc>
                <a:spcPct val="150000"/>
              </a:lnSpc>
            </a:pPr>
            <a:endParaRPr lang="en-US" sz="2400" dirty="0"/>
          </a:p>
          <a:p>
            <a:pPr algn="just">
              <a:lnSpc>
                <a:spcPct val="150000"/>
              </a:lnSpc>
            </a:pPr>
            <a:endParaRPr lang="en-US" sz="2400" dirty="0"/>
          </a:p>
          <a:p>
            <a:pPr algn="just">
              <a:lnSpc>
                <a:spcPct val="150000"/>
              </a:lnSpc>
            </a:pPr>
            <a:endParaRPr lang="en-US" sz="2400" dirty="0"/>
          </a:p>
        </p:txBody>
      </p:sp>
      <p:cxnSp>
        <p:nvCxnSpPr>
          <p:cNvPr id="8" name="Straight Connector 7">
            <a:extLst>
              <a:ext uri="{FF2B5EF4-FFF2-40B4-BE49-F238E27FC236}">
                <a16:creationId xmlns:a16="http://schemas.microsoft.com/office/drawing/2014/main" id="{461B70A6-2926-9679-0AAF-F3FF5281838D}"/>
              </a:ext>
            </a:extLst>
          </p:cNvPr>
          <p:cNvCxnSpPr/>
          <p:nvPr/>
        </p:nvCxnSpPr>
        <p:spPr>
          <a:xfrm>
            <a:off x="5952744" y="1572768"/>
            <a:ext cx="0" cy="460419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091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F772C-F1EE-410D-2E2D-B5EE1FFA92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8BC75D-ADFC-766C-09E0-8B5B24FCBA60}"/>
              </a:ext>
            </a:extLst>
          </p:cNvPr>
          <p:cNvSpPr>
            <a:spLocks noGrp="1"/>
          </p:cNvSpPr>
          <p:nvPr>
            <p:ph idx="1"/>
          </p:nvPr>
        </p:nvSpPr>
        <p:spPr/>
        <p:txBody>
          <a:bodyPr/>
          <a:lstStyle/>
          <a:p>
            <a:endParaRPr lang="en-US" dirty="0"/>
          </a:p>
        </p:txBody>
      </p:sp>
      <p:pic>
        <p:nvPicPr>
          <p:cNvPr id="4" name="Picture 3" descr="A screenshot of a computer&#10;&#10;Description automatically generated with low confidence">
            <a:extLst>
              <a:ext uri="{FF2B5EF4-FFF2-40B4-BE49-F238E27FC236}">
                <a16:creationId xmlns:a16="http://schemas.microsoft.com/office/drawing/2014/main" id="{EF267B95-2A26-78AE-6ADA-F689DCB433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4153" y="681037"/>
            <a:ext cx="8135332" cy="5086722"/>
          </a:xfrm>
          <a:prstGeom prst="rect">
            <a:avLst/>
          </a:prstGeom>
        </p:spPr>
      </p:pic>
    </p:spTree>
    <p:extLst>
      <p:ext uri="{BB962C8B-B14F-4D97-AF65-F5344CB8AC3E}">
        <p14:creationId xmlns:p14="http://schemas.microsoft.com/office/powerpoint/2010/main" val="836318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A6E46-C88C-5651-30CD-A108047A92C8}"/>
              </a:ext>
            </a:extLst>
          </p:cNvPr>
          <p:cNvSpPr>
            <a:spLocks noGrp="1"/>
          </p:cNvSpPr>
          <p:nvPr>
            <p:ph type="title"/>
          </p:nvPr>
        </p:nvSpPr>
        <p:spPr/>
        <p:txBody>
          <a:bodyPr/>
          <a:lstStyle/>
          <a:p>
            <a:r>
              <a:rPr lang="en-US" b="1" dirty="0"/>
              <a:t>Why Cryptography?</a:t>
            </a:r>
          </a:p>
        </p:txBody>
      </p:sp>
      <p:sp>
        <p:nvSpPr>
          <p:cNvPr id="3" name="Content Placeholder 2">
            <a:extLst>
              <a:ext uri="{FF2B5EF4-FFF2-40B4-BE49-F238E27FC236}">
                <a16:creationId xmlns:a16="http://schemas.microsoft.com/office/drawing/2014/main" id="{B97B8364-F74D-69AE-15C2-A6A9F391FDA1}"/>
              </a:ext>
            </a:extLst>
          </p:cNvPr>
          <p:cNvSpPr>
            <a:spLocks noGrp="1"/>
          </p:cNvSpPr>
          <p:nvPr>
            <p:ph idx="1"/>
          </p:nvPr>
        </p:nvSpPr>
        <p:spPr/>
        <p:txBody>
          <a:bodyPr>
            <a:normAutofit/>
          </a:bodyPr>
          <a:lstStyle/>
          <a:p>
            <a:pPr>
              <a:lnSpc>
                <a:spcPct val="100000"/>
              </a:lnSpc>
              <a:buFont typeface="Arial" panose="020B0604020202020204" pitchFamily="34" charset="0"/>
              <a:buChar char="•"/>
            </a:pPr>
            <a:r>
              <a:rPr lang="en-US" sz="2400" dirty="0">
                <a:effectLst/>
              </a:rPr>
              <a:t>It is a way of secure communication </a:t>
            </a:r>
          </a:p>
          <a:p>
            <a:pPr>
              <a:lnSpc>
                <a:spcPct val="100000"/>
              </a:lnSpc>
              <a:buFont typeface="Arial" panose="020B0604020202020204" pitchFamily="34" charset="0"/>
              <a:buChar char="•"/>
            </a:pPr>
            <a:r>
              <a:rPr lang="en-US" sz="2400" dirty="0">
                <a:effectLst/>
              </a:rPr>
              <a:t>Protect your information from being disclosed or </a:t>
            </a:r>
            <a:br>
              <a:rPr lang="en-US" sz="2400" dirty="0">
                <a:effectLst/>
              </a:rPr>
            </a:br>
            <a:r>
              <a:rPr lang="en-US" sz="2400" dirty="0">
                <a:effectLst/>
              </a:rPr>
              <a:t>modified </a:t>
            </a:r>
          </a:p>
          <a:p>
            <a:pPr>
              <a:lnSpc>
                <a:spcPct val="100000"/>
              </a:lnSpc>
              <a:buFont typeface="Arial" panose="020B0604020202020204" pitchFamily="34" charset="0"/>
              <a:buChar char="•"/>
            </a:pPr>
            <a:r>
              <a:rPr lang="en-US" sz="2400" dirty="0">
                <a:effectLst/>
              </a:rPr>
              <a:t>Intruders are interested in it </a:t>
            </a:r>
          </a:p>
          <a:p>
            <a:pPr>
              <a:lnSpc>
                <a:spcPct val="100000"/>
              </a:lnSpc>
              <a:buFont typeface="Arial" panose="020B0604020202020204" pitchFamily="34" charset="0"/>
              <a:buChar char="•"/>
            </a:pPr>
            <a:r>
              <a:rPr lang="en-US" sz="2400" dirty="0">
                <a:effectLst/>
              </a:rPr>
              <a:t>Important to todays Internet commerce </a:t>
            </a:r>
          </a:p>
          <a:p>
            <a:pPr>
              <a:lnSpc>
                <a:spcPct val="100000"/>
              </a:lnSpc>
              <a:buFont typeface="Arial" panose="020B0604020202020204" pitchFamily="34" charset="0"/>
              <a:buChar char="•"/>
            </a:pPr>
            <a:r>
              <a:rPr lang="en-US" sz="2400" dirty="0">
                <a:effectLst/>
              </a:rPr>
              <a:t>Need to keep up-to-date on the weakness found </a:t>
            </a:r>
          </a:p>
          <a:p>
            <a:pPr>
              <a:lnSpc>
                <a:spcPct val="100000"/>
              </a:lnSpc>
              <a:buFont typeface="Arial" panose="020B0604020202020204" pitchFamily="34" charset="0"/>
              <a:buChar char="•"/>
            </a:pPr>
            <a:r>
              <a:rPr lang="en-US" sz="2400" dirty="0">
                <a:effectLst/>
              </a:rPr>
              <a:t>Part of your defense strategy never use just </a:t>
            </a:r>
            <a:br>
              <a:rPr lang="en-US" sz="2400" dirty="0">
                <a:effectLst/>
              </a:rPr>
            </a:br>
            <a:r>
              <a:rPr lang="en-US" sz="2400" dirty="0">
                <a:effectLst/>
              </a:rPr>
              <a:t>one mechanisms, but combined with several </a:t>
            </a:r>
            <a:br>
              <a:rPr lang="en-US" sz="2400" dirty="0">
                <a:effectLst/>
              </a:rPr>
            </a:br>
            <a:r>
              <a:rPr lang="en-US" sz="2400" dirty="0">
                <a:effectLst/>
              </a:rPr>
              <a:t>protection mechanism</a:t>
            </a:r>
          </a:p>
          <a:p>
            <a:endParaRPr lang="en-US" dirty="0"/>
          </a:p>
        </p:txBody>
      </p:sp>
    </p:spTree>
    <p:extLst>
      <p:ext uri="{BB962C8B-B14F-4D97-AF65-F5344CB8AC3E}">
        <p14:creationId xmlns:p14="http://schemas.microsoft.com/office/powerpoint/2010/main" val="2619786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16F5-1BDD-52A9-8523-3188B72695B4}"/>
              </a:ext>
            </a:extLst>
          </p:cNvPr>
          <p:cNvSpPr>
            <a:spLocks noGrp="1"/>
          </p:cNvSpPr>
          <p:nvPr>
            <p:ph type="title"/>
          </p:nvPr>
        </p:nvSpPr>
        <p:spPr/>
        <p:txBody>
          <a:bodyPr/>
          <a:lstStyle/>
          <a:p>
            <a:r>
              <a:rPr lang="en-US" b="1" dirty="0"/>
              <a:t>What is Cryptographic Algorithms?</a:t>
            </a:r>
          </a:p>
        </p:txBody>
      </p:sp>
      <p:sp>
        <p:nvSpPr>
          <p:cNvPr id="3" name="Content Placeholder 2">
            <a:extLst>
              <a:ext uri="{FF2B5EF4-FFF2-40B4-BE49-F238E27FC236}">
                <a16:creationId xmlns:a16="http://schemas.microsoft.com/office/drawing/2014/main" id="{FD9985BD-B393-5C84-C757-F0FEDCA08235}"/>
              </a:ext>
            </a:extLst>
          </p:cNvPr>
          <p:cNvSpPr>
            <a:spLocks noGrp="1"/>
          </p:cNvSpPr>
          <p:nvPr>
            <p:ph idx="1"/>
          </p:nvPr>
        </p:nvSpPr>
        <p:spPr/>
        <p:txBody>
          <a:bodyPr/>
          <a:lstStyle/>
          <a:p>
            <a:pPr marL="0" indent="0" algn="just">
              <a:lnSpc>
                <a:spcPct val="150000"/>
              </a:lnSpc>
              <a:buNone/>
            </a:pPr>
            <a:r>
              <a:rPr lang="en-US" dirty="0"/>
              <a:t>A set of mathematical rules and procedures used to encrypt and decrypt data. Cryptographic algorithms are designed to provide secure communication over insecure channels by ensuring that only authorized parties have access to the original data.</a:t>
            </a:r>
          </a:p>
        </p:txBody>
      </p:sp>
    </p:spTree>
    <p:extLst>
      <p:ext uri="{BB962C8B-B14F-4D97-AF65-F5344CB8AC3E}">
        <p14:creationId xmlns:p14="http://schemas.microsoft.com/office/powerpoint/2010/main" val="533329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D99E3-5339-F635-ACD7-13AF82EB93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2A4975-CD4C-6EB0-E31D-D02A6FCAFB10}"/>
              </a:ext>
            </a:extLst>
          </p:cNvPr>
          <p:cNvSpPr>
            <a:spLocks noGrp="1"/>
          </p:cNvSpPr>
          <p:nvPr>
            <p:ph idx="1"/>
          </p:nvPr>
        </p:nvSpPr>
        <p:spPr/>
        <p:txBody>
          <a:bodyPr/>
          <a:lstStyle/>
          <a:p>
            <a:pPr marL="0" indent="0" algn="just">
              <a:lnSpc>
                <a:spcPct val="150000"/>
              </a:lnSpc>
              <a:buNone/>
            </a:pPr>
            <a:r>
              <a:rPr lang="en-US" dirty="0"/>
              <a:t>Cryptographic algorithms can be divided into two categories: symmetric key algorithms and public key algorithms. Symmetric key algorithms use a single key for both encryption and decryption, while public key algorithms use two keys, one for encryption and one for decryption.</a:t>
            </a:r>
          </a:p>
        </p:txBody>
      </p:sp>
    </p:spTree>
    <p:extLst>
      <p:ext uri="{BB962C8B-B14F-4D97-AF65-F5344CB8AC3E}">
        <p14:creationId xmlns:p14="http://schemas.microsoft.com/office/powerpoint/2010/main" val="669658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C0007-DF07-0116-329F-030019A9DD06}"/>
              </a:ext>
            </a:extLst>
          </p:cNvPr>
          <p:cNvSpPr>
            <a:spLocks noGrp="1"/>
          </p:cNvSpPr>
          <p:nvPr>
            <p:ph type="title"/>
          </p:nvPr>
        </p:nvSpPr>
        <p:spPr/>
        <p:txBody>
          <a:bodyPr/>
          <a:lstStyle/>
          <a:p>
            <a:r>
              <a:rPr lang="en-US" b="1" dirty="0"/>
              <a:t>2.1 Classical Cryptosystems</a:t>
            </a:r>
          </a:p>
        </p:txBody>
      </p:sp>
      <p:sp>
        <p:nvSpPr>
          <p:cNvPr id="3" name="Content Placeholder 2">
            <a:extLst>
              <a:ext uri="{FF2B5EF4-FFF2-40B4-BE49-F238E27FC236}">
                <a16:creationId xmlns:a16="http://schemas.microsoft.com/office/drawing/2014/main" id="{EFD130CB-6225-A485-18D2-BBBC30C4A7E0}"/>
              </a:ext>
            </a:extLst>
          </p:cNvPr>
          <p:cNvSpPr>
            <a:spLocks noGrp="1"/>
          </p:cNvSpPr>
          <p:nvPr>
            <p:ph idx="1"/>
          </p:nvPr>
        </p:nvSpPr>
        <p:spPr/>
        <p:txBody>
          <a:bodyPr>
            <a:normAutofit lnSpcReduction="10000"/>
          </a:bodyPr>
          <a:lstStyle/>
          <a:p>
            <a:pPr marL="0" indent="0" algn="just">
              <a:buNone/>
            </a:pPr>
            <a:r>
              <a:rPr lang="en-US" dirty="0"/>
              <a:t>Classical Cryptographic have two basic components of classical ciphers: </a:t>
            </a:r>
            <a:r>
              <a:rPr lang="en-US" b="1" dirty="0"/>
              <a:t>substitution</a:t>
            </a:r>
            <a:r>
              <a:rPr lang="en-US" dirty="0"/>
              <a:t> and </a:t>
            </a:r>
            <a:r>
              <a:rPr lang="en-US" b="1" dirty="0"/>
              <a:t>transposition</a:t>
            </a:r>
          </a:p>
          <a:p>
            <a:pPr marL="0" indent="0" algn="just">
              <a:buNone/>
            </a:pPr>
            <a:endParaRPr lang="en-US" b="1" dirty="0"/>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a:ln>
                  <a:noFill/>
                </a:ln>
                <a:solidFill>
                  <a:schemeClr val="tx1"/>
                </a:solidFill>
                <a:effectLst/>
              </a:rPr>
              <a:t>in substitution ciphers letters are replaced by other letters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in transposition ciphers the letters are arranged in a different order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these ciphers may be: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rPr>
              <a:t> monoalphabetic</a:t>
            </a:r>
            <a:r>
              <a:rPr kumimoji="0" lang="en-US" altLang="en-US" sz="2800" b="0" i="0" u="none" strike="noStrike" cap="none" normalizeH="0" baseline="0" dirty="0">
                <a:ln>
                  <a:noFill/>
                </a:ln>
                <a:solidFill>
                  <a:schemeClr val="tx1"/>
                </a:solidFill>
                <a:effectLst/>
              </a:rPr>
              <a:t> - only one substitution/ transposition is used, or </a:t>
            </a:r>
          </a:p>
          <a:p>
            <a:pPr marL="0" marR="0" lvl="0" indent="0" algn="just" defTabSz="914400" rtl="0" eaLnBrk="0" fontAlgn="base" latinLnBrk="0" hangingPunct="0">
              <a:lnSpc>
                <a:spcPct val="100000"/>
              </a:lnSpc>
              <a:spcBef>
                <a:spcPct val="0"/>
              </a:spcBef>
              <a:spcAft>
                <a:spcPct val="0"/>
              </a:spcAft>
              <a:buClrTx/>
              <a:buSzTx/>
              <a:buNone/>
              <a:tabLst/>
            </a:pPr>
            <a:r>
              <a:rPr lang="en-US" altLang="en-US" b="1" dirty="0"/>
              <a:t> </a:t>
            </a:r>
            <a:r>
              <a:rPr kumimoji="0" lang="en-US" altLang="en-US" sz="2800" b="1" i="0" u="none" strike="noStrike" cap="none" normalizeH="0" baseline="0" dirty="0">
                <a:ln>
                  <a:noFill/>
                </a:ln>
                <a:solidFill>
                  <a:schemeClr val="tx1"/>
                </a:solidFill>
                <a:effectLst/>
              </a:rPr>
              <a:t>polyalphabetic</a:t>
            </a:r>
            <a:r>
              <a:rPr kumimoji="0" lang="en-US" altLang="en-US" sz="2800" b="0" i="0" u="none" strike="noStrike" cap="none" normalizeH="0" baseline="0" dirty="0">
                <a:ln>
                  <a:noFill/>
                </a:ln>
                <a:solidFill>
                  <a:schemeClr val="tx1"/>
                </a:solidFill>
                <a:effectLst/>
              </a:rPr>
              <a:t> - where several substitutions/ transpositions are used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rPr>
              <a:t> several such ciphers may be </a:t>
            </a:r>
            <a:r>
              <a:rPr kumimoji="0" lang="en-US" altLang="en-US" sz="2800" b="0" i="0" u="none" strike="noStrike" cap="none" normalizeH="0" baseline="0" dirty="0" err="1">
                <a:ln>
                  <a:noFill/>
                </a:ln>
                <a:solidFill>
                  <a:schemeClr val="tx1"/>
                </a:solidFill>
                <a:effectLst/>
              </a:rPr>
              <a:t>concatentated</a:t>
            </a:r>
            <a:r>
              <a:rPr kumimoji="0" lang="en-US" altLang="en-US" sz="2800" b="0" i="0" u="none" strike="noStrike" cap="none" normalizeH="0" baseline="0" dirty="0">
                <a:ln>
                  <a:noFill/>
                </a:ln>
                <a:solidFill>
                  <a:schemeClr val="tx1"/>
                </a:solidFill>
                <a:effectLst/>
              </a:rPr>
              <a:t> together to form a </a:t>
            </a:r>
            <a:r>
              <a:rPr kumimoji="0" lang="en-US" altLang="en-US" sz="2800" b="1" i="0" u="none" strike="noStrike" cap="none" normalizeH="0" baseline="0" dirty="0">
                <a:ln>
                  <a:noFill/>
                </a:ln>
                <a:solidFill>
                  <a:schemeClr val="tx1"/>
                </a:solidFill>
                <a:effectLst/>
              </a:rPr>
              <a:t>product cipher</a:t>
            </a:r>
            <a:r>
              <a:rPr kumimoji="0" lang="en-US" altLang="en-US" sz="2800" b="0" i="0" u="none" strike="noStrike" cap="none" normalizeH="0" baseline="0" dirty="0">
                <a:ln>
                  <a:noFill/>
                </a:ln>
                <a:solidFill>
                  <a:schemeClr val="tx1"/>
                </a:solidFill>
                <a:effectLst/>
              </a:rPr>
              <a:t> </a:t>
            </a:r>
          </a:p>
          <a:p>
            <a:pPr marL="0" indent="0" algn="just">
              <a:buNone/>
            </a:pPr>
            <a:endParaRPr lang="en-US" b="1" dirty="0"/>
          </a:p>
        </p:txBody>
      </p:sp>
    </p:spTree>
    <p:extLst>
      <p:ext uri="{BB962C8B-B14F-4D97-AF65-F5344CB8AC3E}">
        <p14:creationId xmlns:p14="http://schemas.microsoft.com/office/powerpoint/2010/main" val="250057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39397-8708-77FE-36BE-8DEB2DCB8526}"/>
              </a:ext>
            </a:extLst>
          </p:cNvPr>
          <p:cNvSpPr>
            <a:spLocks noGrp="1"/>
          </p:cNvSpPr>
          <p:nvPr>
            <p:ph type="title"/>
          </p:nvPr>
        </p:nvSpPr>
        <p:spPr>
          <a:xfrm>
            <a:off x="625928" y="-271689"/>
            <a:ext cx="10515600" cy="1325563"/>
          </a:xfrm>
        </p:spPr>
        <p:txBody>
          <a:bodyPr/>
          <a:lstStyle/>
          <a:p>
            <a:r>
              <a:rPr lang="en-US" b="1" dirty="0"/>
              <a:t>2.1 Classical Cryptosystems</a:t>
            </a:r>
          </a:p>
        </p:txBody>
      </p:sp>
      <p:sp>
        <p:nvSpPr>
          <p:cNvPr id="3" name="Content Placeholder 2">
            <a:extLst>
              <a:ext uri="{FF2B5EF4-FFF2-40B4-BE49-F238E27FC236}">
                <a16:creationId xmlns:a16="http://schemas.microsoft.com/office/drawing/2014/main" id="{243AABC4-3198-4E9F-668F-532685B741E5}"/>
              </a:ext>
            </a:extLst>
          </p:cNvPr>
          <p:cNvSpPr>
            <a:spLocks noGrp="1"/>
          </p:cNvSpPr>
          <p:nvPr>
            <p:ph idx="1"/>
          </p:nvPr>
        </p:nvSpPr>
        <p:spPr>
          <a:xfrm>
            <a:off x="625928" y="927553"/>
            <a:ext cx="10515600" cy="4351338"/>
          </a:xfrm>
        </p:spPr>
        <p:txBody>
          <a:bodyPr>
            <a:normAutofit fontScale="92500" lnSpcReduction="20000"/>
          </a:bodyPr>
          <a:lstStyle/>
          <a:p>
            <a:pPr marL="0" indent="0">
              <a:buNone/>
            </a:pPr>
            <a:r>
              <a:rPr lang="en-US" b="1" dirty="0" err="1"/>
              <a:t>Ceasar</a:t>
            </a:r>
            <a:r>
              <a:rPr lang="en-US" b="1" dirty="0"/>
              <a:t> – a </a:t>
            </a:r>
            <a:r>
              <a:rPr lang="en-US" b="1" dirty="0" err="1"/>
              <a:t>monoalphabetic</a:t>
            </a:r>
            <a:r>
              <a:rPr lang="en-US" b="1" dirty="0"/>
              <a:t> cipher</a:t>
            </a:r>
          </a:p>
          <a:p>
            <a:pPr marL="0" indent="0">
              <a:buNone/>
            </a:pPr>
            <a:endParaRPr lang="en-US" b="1" dirty="0"/>
          </a:p>
          <a:p>
            <a:pPr marL="0" indent="0" algn="just">
              <a:buNone/>
            </a:pPr>
            <a:r>
              <a:rPr lang="en-US" dirty="0"/>
              <a:t>One of the earliest and simplest methods of encryption technique. It’s simply a type of substitution cipher i.e. each letter of a given text is replaced by a letter with a fixed number of positions down the alphabet. </a:t>
            </a:r>
          </a:p>
          <a:p>
            <a:pPr marL="0" indent="0" algn="just">
              <a:buNone/>
            </a:pPr>
            <a:endParaRPr lang="en-US" dirty="0"/>
          </a:p>
          <a:p>
            <a:pPr marL="0" indent="0" algn="just">
              <a:buNone/>
            </a:pPr>
            <a:r>
              <a:rPr lang="en-US" dirty="0"/>
              <a:t>For example with a shift of 1, A would be replaced by B, B would become C, and so on.</a:t>
            </a:r>
          </a:p>
          <a:p>
            <a:pPr marL="0" indent="0">
              <a:buNone/>
            </a:pPr>
            <a:endParaRPr lang="en-US" b="1" dirty="0"/>
          </a:p>
          <a:p>
            <a:r>
              <a:rPr lang="en-US" dirty="0"/>
              <a:t>replace each letter of message by a letter a fixed distance away </a:t>
            </a:r>
            <a:r>
              <a:rPr lang="en-US" dirty="0" err="1"/>
              <a:t>eg</a:t>
            </a:r>
            <a:r>
              <a:rPr lang="en-US" dirty="0"/>
              <a:t> use the 3rd letter on</a:t>
            </a:r>
          </a:p>
          <a:p>
            <a:r>
              <a:rPr lang="en-US" dirty="0"/>
              <a:t>reputedly used by Julius Caesar</a:t>
            </a: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243000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9660"/>
            <a:ext cx="10515600" cy="1325563"/>
          </a:xfrm>
        </p:spPr>
        <p:txBody>
          <a:bodyPr/>
          <a:lstStyle/>
          <a:p>
            <a:r>
              <a:rPr lang="en-US" b="1" dirty="0"/>
              <a:t>2.1 Classical Cryptosystems</a:t>
            </a:r>
            <a:endParaRPr lang="en-US" dirty="0"/>
          </a:p>
        </p:txBody>
      </p:sp>
      <p:sp>
        <p:nvSpPr>
          <p:cNvPr id="3" name="Content Placeholder 2"/>
          <p:cNvSpPr>
            <a:spLocks noGrp="1"/>
          </p:cNvSpPr>
          <p:nvPr>
            <p:ph idx="1"/>
          </p:nvPr>
        </p:nvSpPr>
        <p:spPr>
          <a:xfrm>
            <a:off x="838200" y="649967"/>
            <a:ext cx="10515600" cy="6077403"/>
          </a:xfrm>
        </p:spPr>
        <p:txBody>
          <a:bodyPr>
            <a:normAutofit fontScale="92500"/>
          </a:bodyPr>
          <a:lstStyle/>
          <a:p>
            <a:pPr marL="0" indent="0">
              <a:buNone/>
            </a:pPr>
            <a:r>
              <a:rPr lang="en-US" b="1" dirty="0" err="1"/>
              <a:t>Ceasar</a:t>
            </a:r>
            <a:r>
              <a:rPr lang="en-US" b="1" dirty="0"/>
              <a:t> – a </a:t>
            </a:r>
            <a:r>
              <a:rPr lang="en-US" b="1" dirty="0" err="1"/>
              <a:t>monoalphabetic</a:t>
            </a:r>
            <a:r>
              <a:rPr lang="en-US" b="1" dirty="0"/>
              <a:t> cipher</a:t>
            </a:r>
          </a:p>
          <a:p>
            <a:pPr marL="0" indent="0">
              <a:buNone/>
            </a:pPr>
            <a:endParaRPr lang="en-US" b="1" dirty="0"/>
          </a:p>
          <a:p>
            <a:pPr marL="0" indent="0">
              <a:buNone/>
            </a:pPr>
            <a:r>
              <a:rPr lang="en-US" dirty="0"/>
              <a:t>To cipher a given text we need an integer value, known a shift which indicates the number of positions each letter of the text has been moved down.</a:t>
            </a:r>
          </a:p>
          <a:p>
            <a:pPr marL="0" indent="0">
              <a:buNone/>
            </a:pPr>
            <a:endParaRPr lang="en-US" dirty="0"/>
          </a:p>
          <a:p>
            <a:pPr marL="0" indent="0">
              <a:buNone/>
            </a:pPr>
            <a:r>
              <a:rPr lang="en-US" dirty="0"/>
              <a:t>The encryption can be represented using modular arithmetic by first transforming the letters into numbers, according to the scheme, A=0, B=1,…, Z=25. Encryption of a letter by a shift n can be described mathematically as, </a:t>
            </a:r>
          </a:p>
          <a:p>
            <a:pPr marL="0" indent="0">
              <a:buNone/>
            </a:pPr>
            <a:r>
              <a:rPr lang="en-US" dirty="0"/>
              <a:t>                                       </a:t>
            </a:r>
          </a:p>
          <a:p>
            <a:pPr marL="0" indent="0">
              <a:buNone/>
            </a:pPr>
            <a:r>
              <a:rPr lang="en-US" dirty="0"/>
              <a:t>Encryption phase with shift n = En(x) = (</a:t>
            </a:r>
            <a:r>
              <a:rPr lang="en-US" dirty="0" err="1"/>
              <a:t>x+n</a:t>
            </a:r>
            <a:r>
              <a:rPr lang="en-US" dirty="0"/>
              <a:t>)mod 26 [x is encrypted 									         letter, n is shift key]</a:t>
            </a:r>
          </a:p>
          <a:p>
            <a:pPr marL="0" indent="0">
              <a:buNone/>
            </a:pPr>
            <a:r>
              <a:rPr lang="en-US" dirty="0"/>
              <a:t>Decryption phase with shift n = </a:t>
            </a:r>
            <a:r>
              <a:rPr lang="en-US" dirty="0" err="1"/>
              <a:t>Dn</a:t>
            </a:r>
            <a:r>
              <a:rPr lang="en-US" dirty="0"/>
              <a:t>(x) = (x-n) mod 26</a:t>
            </a:r>
          </a:p>
        </p:txBody>
      </p:sp>
    </p:spTree>
    <p:extLst>
      <p:ext uri="{BB962C8B-B14F-4D97-AF65-F5344CB8AC3E}">
        <p14:creationId xmlns:p14="http://schemas.microsoft.com/office/powerpoint/2010/main" val="2675608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Ceasar</a:t>
            </a:r>
            <a:r>
              <a:rPr lang="en-US" dirty="0"/>
              <a:t> </a:t>
            </a:r>
          </a:p>
        </p:txBody>
      </p:sp>
      <p:pic>
        <p:nvPicPr>
          <p:cNvPr id="2050" name="Picture 2" descr="Caesar Ciph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69608" y="1349411"/>
            <a:ext cx="4692141" cy="23911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01088" y="1690688"/>
            <a:ext cx="5660571" cy="2862322"/>
          </a:xfrm>
          <a:prstGeom prst="rect">
            <a:avLst/>
          </a:prstGeom>
          <a:noFill/>
        </p:spPr>
        <p:txBody>
          <a:bodyPr wrap="square" rtlCol="0">
            <a:spAutoFit/>
          </a:bodyPr>
          <a:lstStyle/>
          <a:p>
            <a:r>
              <a:rPr lang="en-US" dirty="0"/>
              <a:t>Example:</a:t>
            </a:r>
          </a:p>
          <a:p>
            <a:endParaRPr lang="en-US" dirty="0"/>
          </a:p>
          <a:p>
            <a:r>
              <a:rPr lang="en-US" dirty="0"/>
              <a:t>Text : ABCDEFGHIJKLMNOPQRSTUVWXYZ</a:t>
            </a:r>
          </a:p>
          <a:p>
            <a:r>
              <a:rPr lang="en-US" dirty="0"/>
              <a:t>Shift: 23</a:t>
            </a:r>
          </a:p>
          <a:p>
            <a:r>
              <a:rPr lang="en-US" dirty="0"/>
              <a:t>Cipher: XYZABCDEFGHIJKLMNOPQRSTUW</a:t>
            </a:r>
          </a:p>
          <a:p>
            <a:endParaRPr lang="en-US" dirty="0"/>
          </a:p>
          <a:p>
            <a:endParaRPr lang="en-US" dirty="0"/>
          </a:p>
          <a:p>
            <a:r>
              <a:rPr lang="en-US" dirty="0"/>
              <a:t>Text: ATTACKATONCE</a:t>
            </a:r>
            <a:br>
              <a:rPr lang="en-US" dirty="0"/>
            </a:br>
            <a:r>
              <a:rPr lang="en-US" dirty="0"/>
              <a:t>Shift: 4</a:t>
            </a:r>
          </a:p>
          <a:p>
            <a:r>
              <a:rPr lang="en-US" dirty="0"/>
              <a:t>Cipher: EXXEGOEXSRGI</a:t>
            </a:r>
          </a:p>
        </p:txBody>
      </p:sp>
    </p:spTree>
    <p:extLst>
      <p:ext uri="{BB962C8B-B14F-4D97-AF65-F5344CB8AC3E}">
        <p14:creationId xmlns:p14="http://schemas.microsoft.com/office/powerpoint/2010/main" val="1644588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3282"/>
          </a:xfrm>
        </p:spPr>
        <p:txBody>
          <a:bodyPr>
            <a:normAutofit fontScale="90000"/>
          </a:bodyPr>
          <a:lstStyle/>
          <a:p>
            <a:r>
              <a:rPr lang="en-US" b="1" dirty="0" err="1"/>
              <a:t>Ceasar</a:t>
            </a:r>
            <a:endParaRPr lang="en-US" b="1" dirty="0"/>
          </a:p>
        </p:txBody>
      </p:sp>
      <p:sp>
        <p:nvSpPr>
          <p:cNvPr id="3" name="Content Placeholder 2"/>
          <p:cNvSpPr>
            <a:spLocks noGrp="1"/>
          </p:cNvSpPr>
          <p:nvPr>
            <p:ph idx="1"/>
          </p:nvPr>
        </p:nvSpPr>
        <p:spPr>
          <a:xfrm>
            <a:off x="838200" y="1418898"/>
            <a:ext cx="10515600" cy="4351338"/>
          </a:xfrm>
        </p:spPr>
        <p:txBody>
          <a:bodyPr>
            <a:normAutofit fontScale="85000" lnSpcReduction="20000"/>
          </a:bodyPr>
          <a:lstStyle/>
          <a:p>
            <a:pPr marL="0" indent="0" fontAlgn="base">
              <a:buNone/>
            </a:pPr>
            <a:r>
              <a:rPr lang="en-US" b="1" dirty="0"/>
              <a:t>Algorithm for Caesar Cipher:</a:t>
            </a:r>
            <a:r>
              <a:rPr lang="en-US" dirty="0"/>
              <a:t> </a:t>
            </a:r>
          </a:p>
          <a:p>
            <a:pPr marL="0" indent="0" fontAlgn="base">
              <a:buNone/>
            </a:pPr>
            <a:br>
              <a:rPr lang="en-US" dirty="0"/>
            </a:br>
            <a:r>
              <a:rPr lang="en-US" b="1" dirty="0"/>
              <a:t>Input:</a:t>
            </a:r>
            <a:r>
              <a:rPr lang="en-US" dirty="0"/>
              <a:t> </a:t>
            </a:r>
          </a:p>
          <a:p>
            <a:pPr fontAlgn="base"/>
            <a:r>
              <a:rPr lang="en-US" dirty="0"/>
              <a:t>A String of lower case letters, called Text.</a:t>
            </a:r>
          </a:p>
          <a:p>
            <a:pPr fontAlgn="base"/>
            <a:r>
              <a:rPr lang="en-US" dirty="0"/>
              <a:t>An Integer between 0-25 denoting the required shift.</a:t>
            </a:r>
          </a:p>
          <a:p>
            <a:pPr marL="0" indent="0" fontAlgn="base">
              <a:buNone/>
            </a:pPr>
            <a:r>
              <a:rPr lang="en-US" b="1" dirty="0"/>
              <a:t>Procedure:</a:t>
            </a:r>
            <a:r>
              <a:rPr lang="en-US" dirty="0"/>
              <a:t> </a:t>
            </a:r>
          </a:p>
          <a:p>
            <a:pPr fontAlgn="base"/>
            <a:r>
              <a:rPr lang="en-US" dirty="0"/>
              <a:t>Traverse the given text one character at a time .</a:t>
            </a:r>
          </a:p>
          <a:p>
            <a:pPr fontAlgn="base"/>
            <a:r>
              <a:rPr lang="en-US" dirty="0"/>
              <a:t>For each character, transform the given character as per the rule, depending on whether we’re encrypting or decrypting the text.</a:t>
            </a:r>
          </a:p>
          <a:p>
            <a:pPr fontAlgn="base"/>
            <a:r>
              <a:rPr lang="en-US" dirty="0"/>
              <a:t>Return the new string generated.</a:t>
            </a:r>
          </a:p>
          <a:p>
            <a:pPr fontAlgn="base"/>
            <a:r>
              <a:rPr lang="en-US" dirty="0"/>
              <a:t>A program that receives a Text (string) and Shift value( integer) and returns the encrypted text. </a:t>
            </a:r>
          </a:p>
          <a:p>
            <a:pPr marL="0" indent="0">
              <a:buNone/>
            </a:pPr>
            <a:endParaRPr lang="en-US" dirty="0"/>
          </a:p>
        </p:txBody>
      </p:sp>
    </p:spTree>
    <p:extLst>
      <p:ext uri="{BB962C8B-B14F-4D97-AF65-F5344CB8AC3E}">
        <p14:creationId xmlns:p14="http://schemas.microsoft.com/office/powerpoint/2010/main" val="152055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314" y="-206375"/>
            <a:ext cx="10515600" cy="1325563"/>
          </a:xfrm>
        </p:spPr>
        <p:txBody>
          <a:bodyPr/>
          <a:lstStyle/>
          <a:p>
            <a:r>
              <a:rPr lang="en-US" b="1" dirty="0" err="1"/>
              <a:t>Vignere</a:t>
            </a:r>
            <a:r>
              <a:rPr lang="en-US" b="1" dirty="0"/>
              <a:t> Cipher</a:t>
            </a:r>
          </a:p>
        </p:txBody>
      </p:sp>
      <p:sp>
        <p:nvSpPr>
          <p:cNvPr id="3" name="Content Placeholder 2"/>
          <p:cNvSpPr>
            <a:spLocks noGrp="1"/>
          </p:cNvSpPr>
          <p:nvPr>
            <p:ph idx="1"/>
          </p:nvPr>
        </p:nvSpPr>
        <p:spPr>
          <a:xfrm>
            <a:off x="446314" y="943882"/>
            <a:ext cx="10515600" cy="4351338"/>
          </a:xfrm>
        </p:spPr>
        <p:txBody>
          <a:bodyPr/>
          <a:lstStyle/>
          <a:p>
            <a:pPr algn="just">
              <a:buFontTx/>
              <a:buChar char="-"/>
            </a:pPr>
            <a:r>
              <a:rPr lang="en-US" dirty="0"/>
              <a:t>a method of encrypting alphabetic text. </a:t>
            </a:r>
          </a:p>
          <a:p>
            <a:pPr algn="just">
              <a:buFontTx/>
              <a:buChar char="-"/>
            </a:pPr>
            <a:r>
              <a:rPr lang="en-US" dirty="0"/>
              <a:t>uses a simple form of polyalphabetic substitution. </a:t>
            </a:r>
          </a:p>
          <a:p>
            <a:pPr algn="just">
              <a:lnSpc>
                <a:spcPct val="150000"/>
              </a:lnSpc>
              <a:buFontTx/>
              <a:buChar char="-"/>
            </a:pPr>
            <a:r>
              <a:rPr lang="en-US" dirty="0"/>
              <a:t>A polyalphabetic cipher is any cipher based on substitution, using multiple substitution alphabets. The encryption of the original text is done using the </a:t>
            </a:r>
            <a:r>
              <a:rPr lang="en-US" dirty="0" err="1"/>
              <a:t>Vignere</a:t>
            </a:r>
            <a:r>
              <a:rPr lang="en-US" dirty="0"/>
              <a:t> square or </a:t>
            </a:r>
            <a:r>
              <a:rPr lang="en-US" dirty="0" err="1"/>
              <a:t>Vignere</a:t>
            </a:r>
            <a:r>
              <a:rPr lang="en-US" dirty="0"/>
              <a:t> table.</a:t>
            </a:r>
          </a:p>
          <a:p>
            <a:pPr marL="0" indent="0">
              <a:buNone/>
            </a:pPr>
            <a:endParaRPr lang="en-US" dirty="0"/>
          </a:p>
        </p:txBody>
      </p:sp>
    </p:spTree>
    <p:extLst>
      <p:ext uri="{BB962C8B-B14F-4D97-AF65-F5344CB8AC3E}">
        <p14:creationId xmlns:p14="http://schemas.microsoft.com/office/powerpoint/2010/main" val="2745402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File:Vigenère square shading.sv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7437" y="365125"/>
            <a:ext cx="6138069" cy="61380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776357" y="2596243"/>
            <a:ext cx="4849586" cy="1569660"/>
          </a:xfrm>
          <a:prstGeom prst="rect">
            <a:avLst/>
          </a:prstGeom>
          <a:noFill/>
        </p:spPr>
        <p:txBody>
          <a:bodyPr wrap="square" rtlCol="0">
            <a:spAutoFit/>
          </a:bodyPr>
          <a:lstStyle/>
          <a:p>
            <a:pPr algn="just"/>
            <a:r>
              <a:rPr lang="en-US" sz="2400" dirty="0"/>
              <a:t>The </a:t>
            </a:r>
            <a:r>
              <a:rPr lang="en-US" sz="2400" dirty="0" err="1"/>
              <a:t>Vigenere</a:t>
            </a:r>
            <a:r>
              <a:rPr lang="en-US" sz="2400" dirty="0"/>
              <a:t> square or </a:t>
            </a:r>
            <a:r>
              <a:rPr lang="en-US" sz="2400" dirty="0" err="1"/>
              <a:t>Vigenere</a:t>
            </a:r>
            <a:r>
              <a:rPr lang="en-US" sz="2400" dirty="0"/>
              <a:t> table also known as tabula recta, can be used for encryption and decryption</a:t>
            </a:r>
          </a:p>
        </p:txBody>
      </p:sp>
    </p:spTree>
    <p:extLst>
      <p:ext uri="{BB962C8B-B14F-4D97-AF65-F5344CB8AC3E}">
        <p14:creationId xmlns:p14="http://schemas.microsoft.com/office/powerpoint/2010/main" val="2834573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1"/>
            <a:ext cx="10515600" cy="1325563"/>
          </a:xfrm>
        </p:spPr>
        <p:txBody>
          <a:bodyPr/>
          <a:lstStyle/>
          <a:p>
            <a:r>
              <a:rPr lang="en-US" b="1" dirty="0" err="1"/>
              <a:t>Vignere</a:t>
            </a:r>
            <a:r>
              <a:rPr lang="en-US" b="1" dirty="0"/>
              <a:t> Cipher</a:t>
            </a:r>
          </a:p>
        </p:txBody>
      </p:sp>
      <p:sp>
        <p:nvSpPr>
          <p:cNvPr id="3" name="Content Placeholder 2"/>
          <p:cNvSpPr>
            <a:spLocks noGrp="1"/>
          </p:cNvSpPr>
          <p:nvPr>
            <p:ph idx="1"/>
          </p:nvPr>
        </p:nvSpPr>
        <p:spPr>
          <a:xfrm>
            <a:off x="333210" y="997934"/>
            <a:ext cx="10515600" cy="4351338"/>
          </a:xfrm>
        </p:spPr>
        <p:txBody>
          <a:bodyPr/>
          <a:lstStyle/>
          <a:p>
            <a:pPr marL="0" indent="0">
              <a:buNone/>
            </a:pPr>
            <a:r>
              <a:rPr lang="en-US" dirty="0"/>
              <a:t>Definition</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838200" y="1568208"/>
            <a:ext cx="7391400" cy="838200"/>
          </a:xfrm>
          <a:prstGeom prst="rect">
            <a:avLst/>
          </a:prstGeom>
        </p:spPr>
      </p:pic>
      <p:pic>
        <p:nvPicPr>
          <p:cNvPr id="5" name="Picture 4"/>
          <p:cNvPicPr>
            <a:picLocks noChangeAspect="1"/>
          </p:cNvPicPr>
          <p:nvPr/>
        </p:nvPicPr>
        <p:blipFill>
          <a:blip r:embed="rId3"/>
          <a:stretch>
            <a:fillRect/>
          </a:stretch>
        </p:blipFill>
        <p:spPr>
          <a:xfrm>
            <a:off x="412037" y="2650754"/>
            <a:ext cx="7229475" cy="3638550"/>
          </a:xfrm>
          <a:prstGeom prst="rect">
            <a:avLst/>
          </a:prstGeom>
        </p:spPr>
      </p:pic>
    </p:spTree>
    <p:extLst>
      <p:ext uri="{BB962C8B-B14F-4D97-AF65-F5344CB8AC3E}">
        <p14:creationId xmlns:p14="http://schemas.microsoft.com/office/powerpoint/2010/main" val="3882119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7782"/>
            <a:ext cx="10515600" cy="1325563"/>
          </a:xfrm>
        </p:spPr>
        <p:txBody>
          <a:bodyPr/>
          <a:lstStyle/>
          <a:p>
            <a:r>
              <a:rPr lang="en-US" b="1" dirty="0"/>
              <a:t>Security of </a:t>
            </a:r>
            <a:r>
              <a:rPr lang="en-US" b="1" dirty="0" err="1"/>
              <a:t>Vigenere</a:t>
            </a:r>
            <a:r>
              <a:rPr lang="en-US" b="1" dirty="0"/>
              <a:t> Cipher</a:t>
            </a:r>
          </a:p>
        </p:txBody>
      </p:sp>
      <p:sp>
        <p:nvSpPr>
          <p:cNvPr id="3" name="Content Placeholder 2"/>
          <p:cNvSpPr>
            <a:spLocks noGrp="1"/>
          </p:cNvSpPr>
          <p:nvPr>
            <p:ph idx="1"/>
          </p:nvPr>
        </p:nvSpPr>
        <p:spPr>
          <a:xfrm>
            <a:off x="130629" y="1417411"/>
            <a:ext cx="11223171" cy="4351338"/>
          </a:xfrm>
        </p:spPr>
        <p:txBody>
          <a:bodyPr>
            <a:normAutofit lnSpcReduction="10000"/>
          </a:bodyPr>
          <a:lstStyle/>
          <a:p>
            <a:pPr algn="just"/>
            <a:r>
              <a:rPr lang="en-US" dirty="0" err="1"/>
              <a:t>Vignere</a:t>
            </a:r>
            <a:r>
              <a:rPr lang="en-US" dirty="0"/>
              <a:t> masks the frequency with which a character appears in a language: one letter in the </a:t>
            </a:r>
            <a:r>
              <a:rPr lang="en-US" dirty="0" err="1"/>
              <a:t>ciphertext</a:t>
            </a:r>
            <a:r>
              <a:rPr lang="en-US" dirty="0"/>
              <a:t> corresponds to multiple letters in the plaintext. Makes the </a:t>
            </a:r>
            <a:r>
              <a:rPr lang="en-US" b="1" dirty="0"/>
              <a:t>use  of frequency analysis more difficult.</a:t>
            </a:r>
          </a:p>
          <a:p>
            <a:pPr algn="just"/>
            <a:r>
              <a:rPr lang="en-US" dirty="0"/>
              <a:t>Any message encrypted by a </a:t>
            </a:r>
            <a:r>
              <a:rPr lang="en-US" dirty="0" err="1"/>
              <a:t>Vignere</a:t>
            </a:r>
            <a:r>
              <a:rPr lang="en-US" dirty="0"/>
              <a:t> cipher is a collection of as many shift ciphers as there are letters in the key. </a:t>
            </a:r>
          </a:p>
          <a:p>
            <a:pPr marL="0" indent="0" algn="just">
              <a:buNone/>
            </a:pPr>
            <a:endParaRPr lang="en-US" dirty="0"/>
          </a:p>
          <a:p>
            <a:pPr marL="0" indent="0" algn="just">
              <a:buNone/>
            </a:pPr>
            <a:r>
              <a:rPr lang="en-US" b="1" dirty="0"/>
              <a:t>Cryptanalysis</a:t>
            </a:r>
          </a:p>
          <a:p>
            <a:pPr algn="just"/>
            <a:r>
              <a:rPr lang="en-US" dirty="0"/>
              <a:t>Find the length of the key</a:t>
            </a:r>
          </a:p>
          <a:p>
            <a:pPr algn="just"/>
            <a:r>
              <a:rPr lang="en-US" dirty="0"/>
              <a:t>Divide the message into that many shift cipher encryptions</a:t>
            </a:r>
          </a:p>
          <a:p>
            <a:pPr algn="just"/>
            <a:r>
              <a:rPr lang="en-US" dirty="0"/>
              <a:t>Use frequency analysis to solve the resulting shift ciphers.</a:t>
            </a:r>
          </a:p>
          <a:p>
            <a:pPr marL="0" indent="0" algn="just">
              <a:buNone/>
            </a:pPr>
            <a:endParaRPr lang="en-US" dirty="0"/>
          </a:p>
        </p:txBody>
      </p:sp>
    </p:spTree>
    <p:extLst>
      <p:ext uri="{BB962C8B-B14F-4D97-AF65-F5344CB8AC3E}">
        <p14:creationId xmlns:p14="http://schemas.microsoft.com/office/powerpoint/2010/main" val="3080248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Vignere</a:t>
            </a:r>
            <a:r>
              <a:rPr lang="en-US" b="1" dirty="0"/>
              <a:t> Cipher</a:t>
            </a:r>
          </a:p>
        </p:txBody>
      </p:sp>
      <p:sp>
        <p:nvSpPr>
          <p:cNvPr id="3" name="Content Placeholder 2"/>
          <p:cNvSpPr>
            <a:spLocks noGrp="1"/>
          </p:cNvSpPr>
          <p:nvPr>
            <p:ph idx="1"/>
          </p:nvPr>
        </p:nvSpPr>
        <p:spPr/>
        <p:txBody>
          <a:bodyPr/>
          <a:lstStyle/>
          <a:p>
            <a:pPr marL="0" indent="0">
              <a:buNone/>
            </a:pPr>
            <a:r>
              <a:rPr lang="en-US" b="1" dirty="0"/>
              <a:t>How to find the key of length?</a:t>
            </a:r>
          </a:p>
          <a:p>
            <a:pPr marL="0" indent="0">
              <a:buNone/>
            </a:pPr>
            <a:r>
              <a:rPr lang="en-US" dirty="0"/>
              <a:t>For </a:t>
            </a:r>
            <a:r>
              <a:rPr lang="en-US" dirty="0" err="1"/>
              <a:t>Vigenere</a:t>
            </a:r>
            <a:r>
              <a:rPr lang="en-US" dirty="0"/>
              <a:t>, as the length of the key increases, the letter frequency shows less English-like characteristics and becomes more random.</a:t>
            </a:r>
          </a:p>
          <a:p>
            <a:pPr marL="0" indent="0">
              <a:buNone/>
            </a:pPr>
            <a:endParaRPr lang="en-US" dirty="0"/>
          </a:p>
          <a:p>
            <a:pPr marL="0" indent="0">
              <a:buNone/>
            </a:pPr>
            <a:r>
              <a:rPr lang="en-US" dirty="0"/>
              <a:t>Two methods to find the key length:</a:t>
            </a:r>
          </a:p>
          <a:p>
            <a:r>
              <a:rPr lang="en-US" dirty="0" err="1"/>
              <a:t>Kasisky</a:t>
            </a:r>
            <a:r>
              <a:rPr lang="en-US" dirty="0"/>
              <a:t> Test</a:t>
            </a:r>
          </a:p>
          <a:p>
            <a:r>
              <a:rPr lang="en-US" dirty="0"/>
              <a:t>Index of Coincidence (Friedman)</a:t>
            </a:r>
          </a:p>
        </p:txBody>
      </p:sp>
    </p:spTree>
    <p:extLst>
      <p:ext uri="{BB962C8B-B14F-4D97-AF65-F5344CB8AC3E}">
        <p14:creationId xmlns:p14="http://schemas.microsoft.com/office/powerpoint/2010/main" val="1423062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286" y="0"/>
            <a:ext cx="10515600" cy="1325563"/>
          </a:xfrm>
        </p:spPr>
        <p:txBody>
          <a:bodyPr/>
          <a:lstStyle/>
          <a:p>
            <a:r>
              <a:rPr lang="en-US" b="1" dirty="0" err="1"/>
              <a:t>Vignere</a:t>
            </a:r>
            <a:r>
              <a:rPr lang="en-US" b="1" dirty="0"/>
              <a:t> Cipher</a:t>
            </a:r>
          </a:p>
        </p:txBody>
      </p:sp>
      <p:sp>
        <p:nvSpPr>
          <p:cNvPr id="3" name="Content Placeholder 2"/>
          <p:cNvSpPr>
            <a:spLocks noGrp="1"/>
          </p:cNvSpPr>
          <p:nvPr>
            <p:ph idx="1"/>
          </p:nvPr>
        </p:nvSpPr>
        <p:spPr>
          <a:xfrm>
            <a:off x="544286" y="1325563"/>
            <a:ext cx="10515600" cy="4351338"/>
          </a:xfrm>
        </p:spPr>
        <p:txBody>
          <a:bodyPr/>
          <a:lstStyle/>
          <a:p>
            <a:pPr marL="0" indent="0">
              <a:buNone/>
            </a:pPr>
            <a:r>
              <a:rPr lang="en-US" dirty="0"/>
              <a:t>Example: </a:t>
            </a:r>
          </a:p>
          <a:p>
            <a:pPr marL="0" indent="0">
              <a:buNone/>
            </a:pPr>
            <a:endParaRPr lang="en-US" dirty="0"/>
          </a:p>
          <a:p>
            <a:pPr marL="0" indent="0">
              <a:buNone/>
            </a:pPr>
            <a:endParaRPr lang="en-US" dirty="0"/>
          </a:p>
        </p:txBody>
      </p:sp>
      <p:sp>
        <p:nvSpPr>
          <p:cNvPr id="4" name="Rectangle 1"/>
          <p:cNvSpPr>
            <a:spLocks noChangeArrowheads="1"/>
          </p:cNvSpPr>
          <p:nvPr/>
        </p:nvSpPr>
        <p:spPr bwMode="auto">
          <a:xfrm>
            <a:off x="1402805" y="2245867"/>
            <a:ext cx="8798562" cy="2280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rPr>
              <a:t>Input : Plaintext : </a:t>
            </a:r>
            <a:r>
              <a:rPr kumimoji="0" lang="en-US" altLang="en-US" sz="2400" b="0" i="0" u="none" strike="noStrike" cap="none" normalizeH="0" baseline="0" dirty="0" err="1">
                <a:ln>
                  <a:noFill/>
                </a:ln>
                <a:solidFill>
                  <a:srgbClr val="273239"/>
                </a:solidFill>
                <a:effectLst/>
              </a:rPr>
              <a:t>attackatdawn</a:t>
            </a:r>
            <a:endParaRPr kumimoji="0" lang="en-US" altLang="en-US" sz="2400" b="0" i="0" u="none" strike="noStrike" cap="none" normalizeH="0" baseline="0" dirty="0">
              <a:ln>
                <a:noFill/>
              </a:ln>
              <a:solidFill>
                <a:srgbClr val="273239"/>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rPr>
              <a:t>Keyword : LEMONLEMONLE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rPr>
              <a:t>Output : </a:t>
            </a:r>
            <a:r>
              <a:rPr kumimoji="0" lang="en-US" altLang="en-US" sz="2400" b="0" i="0" u="none" strike="noStrike" cap="none" normalizeH="0" baseline="0" dirty="0" err="1">
                <a:ln>
                  <a:noFill/>
                </a:ln>
                <a:solidFill>
                  <a:srgbClr val="273239"/>
                </a:solidFill>
                <a:effectLst/>
              </a:rPr>
              <a:t>Ciphertext</a:t>
            </a:r>
            <a:r>
              <a:rPr kumimoji="0" lang="en-US" altLang="en-US" sz="2400" b="0" i="0" u="none" strike="noStrike" cap="none" normalizeH="0" baseline="0" dirty="0">
                <a:ln>
                  <a:noFill/>
                </a:ln>
                <a:solidFill>
                  <a:srgbClr val="273239"/>
                </a:solidFill>
                <a:effectLst/>
              </a:rPr>
              <a:t> : LXFOPVEFRNHR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rPr>
              <a:t>For generating key, the given keyword is repeated in a circular manner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rPr>
              <a:t>until it matches the length of the plain text.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rPr>
              <a:t>The keyword “LEMONLEMONLE" generates the key “LXFOPVEFRNHR" </a:t>
            </a:r>
          </a:p>
        </p:txBody>
      </p:sp>
    </p:spTree>
    <p:extLst>
      <p:ext uri="{BB962C8B-B14F-4D97-AF65-F5344CB8AC3E}">
        <p14:creationId xmlns:p14="http://schemas.microsoft.com/office/powerpoint/2010/main" val="4181908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Vignere</a:t>
            </a:r>
            <a:r>
              <a:rPr lang="en-US" b="1" dirty="0"/>
              <a:t> Cipher</a:t>
            </a:r>
          </a:p>
        </p:txBody>
      </p:sp>
      <p:sp>
        <p:nvSpPr>
          <p:cNvPr id="3" name="Content Placeholder 2"/>
          <p:cNvSpPr>
            <a:spLocks noGrp="1"/>
          </p:cNvSpPr>
          <p:nvPr>
            <p:ph idx="1"/>
          </p:nvPr>
        </p:nvSpPr>
        <p:spPr/>
        <p:txBody>
          <a:bodyPr/>
          <a:lstStyle/>
          <a:p>
            <a:r>
              <a:rPr lang="en-US" dirty="0" err="1"/>
              <a:t>Vignere</a:t>
            </a:r>
            <a:r>
              <a:rPr lang="en-US" dirty="0"/>
              <a:t> cipher is vulnerable: </a:t>
            </a:r>
          </a:p>
          <a:p>
            <a:pPr marL="0" indent="0">
              <a:buNone/>
            </a:pPr>
            <a:r>
              <a:rPr lang="en-US" dirty="0"/>
              <a:t>   once the key length is found, a cryptanalyst can apply frequency analysis.</a:t>
            </a:r>
          </a:p>
        </p:txBody>
      </p:sp>
    </p:spTree>
    <p:extLst>
      <p:ext uri="{BB962C8B-B14F-4D97-AF65-F5344CB8AC3E}">
        <p14:creationId xmlns:p14="http://schemas.microsoft.com/office/powerpoint/2010/main" val="3161998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Playfair</a:t>
            </a:r>
            <a:endParaRPr lang="en-US" b="1" dirty="0"/>
          </a:p>
        </p:txBody>
      </p:sp>
      <p:sp>
        <p:nvSpPr>
          <p:cNvPr id="3" name="Content Placeholder 2"/>
          <p:cNvSpPr>
            <a:spLocks noGrp="1"/>
          </p:cNvSpPr>
          <p:nvPr>
            <p:ph idx="1"/>
          </p:nvPr>
        </p:nvSpPr>
        <p:spPr/>
        <p:txBody>
          <a:bodyPr/>
          <a:lstStyle/>
          <a:p>
            <a:pPr algn="just"/>
            <a:r>
              <a:rPr lang="en-US" dirty="0"/>
              <a:t>First practical digraph substitution cipher</a:t>
            </a:r>
          </a:p>
          <a:p>
            <a:pPr algn="just"/>
            <a:r>
              <a:rPr lang="en-US" dirty="0"/>
              <a:t>Invented in 1854 by Charles Wheatstone but was named after Lord </a:t>
            </a:r>
            <a:r>
              <a:rPr lang="en-US" dirty="0" err="1"/>
              <a:t>Playfair</a:t>
            </a:r>
            <a:r>
              <a:rPr lang="en-US" dirty="0"/>
              <a:t> who promoted the use of the cipher.</a:t>
            </a:r>
          </a:p>
          <a:p>
            <a:pPr algn="just"/>
            <a:r>
              <a:rPr lang="en-US" dirty="0"/>
              <a:t>In </a:t>
            </a:r>
            <a:r>
              <a:rPr lang="en-US" dirty="0" err="1"/>
              <a:t>Playfair</a:t>
            </a:r>
            <a:r>
              <a:rPr lang="en-US" dirty="0"/>
              <a:t> cipher, we encrypt a pair of alphabets (digraphs) instead of single alphabet.</a:t>
            </a:r>
          </a:p>
          <a:p>
            <a:pPr marL="0" indent="0" algn="just">
              <a:buNone/>
            </a:pPr>
            <a:endParaRPr lang="en-US" dirty="0"/>
          </a:p>
          <a:p>
            <a:pPr marL="0" indent="0" algn="just">
              <a:buNone/>
            </a:pPr>
            <a:r>
              <a:rPr lang="en-US" dirty="0"/>
              <a:t>Used for tactical purposes by British forces in the Second War and in World War 1 and for the same purpose by the Australians during World War II. Reasonably fast to use and requires no special equipment.</a:t>
            </a:r>
          </a:p>
        </p:txBody>
      </p:sp>
    </p:spTree>
    <p:extLst>
      <p:ext uri="{BB962C8B-B14F-4D97-AF65-F5344CB8AC3E}">
        <p14:creationId xmlns:p14="http://schemas.microsoft.com/office/powerpoint/2010/main" val="1922422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Playfair</a:t>
            </a:r>
            <a:endParaRPr lang="en-US" b="1"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Encryption Technique</a:t>
            </a:r>
          </a:p>
          <a:p>
            <a:pPr marL="0" indent="0">
              <a:buNone/>
            </a:pPr>
            <a:endParaRPr lang="en-US" dirty="0"/>
          </a:p>
          <a:p>
            <a:pPr marL="0" indent="0">
              <a:buNone/>
            </a:pPr>
            <a:r>
              <a:rPr lang="en-US" b="1" dirty="0"/>
              <a:t>Rules</a:t>
            </a:r>
          </a:p>
          <a:p>
            <a:pPr marL="514350" indent="-514350">
              <a:buAutoNum type="arabicPeriod"/>
            </a:pPr>
            <a:r>
              <a:rPr lang="en-US" dirty="0"/>
              <a:t>Pairs</a:t>
            </a:r>
          </a:p>
          <a:p>
            <a:pPr marL="514350" indent="-514350">
              <a:buAutoNum type="arabicPeriod"/>
            </a:pPr>
            <a:r>
              <a:rPr lang="en-US" dirty="0"/>
              <a:t>Importance of x</a:t>
            </a:r>
          </a:p>
          <a:p>
            <a:pPr marL="514350" indent="-514350">
              <a:buAutoNum type="arabicPeriod"/>
            </a:pPr>
            <a:r>
              <a:rPr lang="en-US" dirty="0"/>
              <a:t>Going down [if both letters lie on same column]</a:t>
            </a:r>
          </a:p>
          <a:p>
            <a:pPr marL="514350" indent="-514350">
              <a:buAutoNum type="arabicPeriod"/>
            </a:pPr>
            <a:r>
              <a:rPr lang="en-US" dirty="0"/>
              <a:t>Always right [if both letters lie on same row]</a:t>
            </a:r>
          </a:p>
          <a:p>
            <a:pPr marL="514350" indent="-514350">
              <a:buAutoNum type="arabicPeriod"/>
            </a:pPr>
            <a:r>
              <a:rPr lang="en-US" dirty="0"/>
              <a:t>Same row different column [quadrilateral form of both letters] for example in off --- of, </a:t>
            </a:r>
            <a:r>
              <a:rPr lang="en-US" dirty="0" err="1"/>
              <a:t>fx</a:t>
            </a:r>
            <a:r>
              <a:rPr lang="en-US" dirty="0"/>
              <a:t>  </a:t>
            </a:r>
            <a:r>
              <a:rPr lang="en-US" dirty="0">
                <a:sym typeface="Wingdings" panose="05000000000000000000" pitchFamily="2" charset="2"/>
              </a:rPr>
              <a:t> </a:t>
            </a:r>
            <a:r>
              <a:rPr lang="en-US" dirty="0" err="1">
                <a:sym typeface="Wingdings" panose="05000000000000000000" pitchFamily="2" charset="2"/>
              </a:rPr>
              <a:t>fx</a:t>
            </a:r>
            <a:r>
              <a:rPr lang="en-US" dirty="0">
                <a:sym typeface="Wingdings" panose="05000000000000000000" pitchFamily="2" charset="2"/>
              </a:rPr>
              <a:t> f-</a:t>
            </a:r>
            <a:r>
              <a:rPr lang="en-US" dirty="0" err="1">
                <a:sym typeface="Wingdings" panose="05000000000000000000" pitchFamily="2" charset="2"/>
              </a:rPr>
              <a:t>i</a:t>
            </a:r>
            <a:r>
              <a:rPr lang="en-US">
                <a:sym typeface="Wingdings" panose="05000000000000000000" pitchFamily="2" charset="2"/>
              </a:rPr>
              <a:t>/j, x-v.</a:t>
            </a:r>
            <a:endParaRPr lang="en-US" dirty="0"/>
          </a:p>
          <a:p>
            <a:pPr marL="514350" indent="-514350">
              <a:buAutoNum type="arabicPeriod"/>
            </a:pPr>
            <a:r>
              <a:rPr lang="en-US" dirty="0" err="1"/>
              <a:t>i</a:t>
            </a:r>
            <a:r>
              <a:rPr lang="en-US" dirty="0"/>
              <a:t>/j</a:t>
            </a:r>
          </a:p>
          <a:p>
            <a:pPr marL="0" indent="0">
              <a:buNone/>
            </a:pPr>
            <a:endParaRPr lang="en-US" dirty="0"/>
          </a:p>
        </p:txBody>
      </p:sp>
    </p:spTree>
    <p:extLst>
      <p:ext uri="{BB962C8B-B14F-4D97-AF65-F5344CB8AC3E}">
        <p14:creationId xmlns:p14="http://schemas.microsoft.com/office/powerpoint/2010/main" val="843252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AF7CB-CEBA-1151-EC03-CE104E66267D}"/>
              </a:ext>
            </a:extLst>
          </p:cNvPr>
          <p:cNvSpPr>
            <a:spLocks noGrp="1"/>
          </p:cNvSpPr>
          <p:nvPr>
            <p:ph type="title"/>
          </p:nvPr>
        </p:nvSpPr>
        <p:spPr/>
        <p:txBody>
          <a:bodyPr/>
          <a:lstStyle/>
          <a:p>
            <a:r>
              <a:rPr lang="en-US" b="1" dirty="0"/>
              <a:t>Playfair</a:t>
            </a:r>
          </a:p>
        </p:txBody>
      </p:sp>
      <p:sp>
        <p:nvSpPr>
          <p:cNvPr id="3" name="Content Placeholder 2">
            <a:extLst>
              <a:ext uri="{FF2B5EF4-FFF2-40B4-BE49-F238E27FC236}">
                <a16:creationId xmlns:a16="http://schemas.microsoft.com/office/drawing/2014/main" id="{F6BEE4F3-E19F-5AD4-0B7C-833CF320B2F3}"/>
              </a:ext>
            </a:extLst>
          </p:cNvPr>
          <p:cNvSpPr>
            <a:spLocks noGrp="1"/>
          </p:cNvSpPr>
          <p:nvPr>
            <p:ph idx="1"/>
          </p:nvPr>
        </p:nvSpPr>
        <p:spPr/>
        <p:txBody>
          <a:bodyPr/>
          <a:lstStyle/>
          <a:p>
            <a:pPr marL="0" indent="0">
              <a:buNone/>
            </a:pPr>
            <a:r>
              <a:rPr lang="en-US" dirty="0"/>
              <a:t>Example:</a:t>
            </a:r>
          </a:p>
          <a:p>
            <a:pPr marL="0" indent="0">
              <a:buNone/>
            </a:pPr>
            <a:r>
              <a:rPr lang="en-US" dirty="0"/>
              <a:t>Keyword: MONARCHY</a:t>
            </a:r>
          </a:p>
          <a:p>
            <a:pPr marL="0" indent="0">
              <a:buNone/>
            </a:pPr>
            <a:r>
              <a:rPr lang="en-US" dirty="0"/>
              <a:t>Plaintext : buzz</a:t>
            </a:r>
          </a:p>
          <a:p>
            <a:pPr marL="0" indent="0">
              <a:buNone/>
            </a:pPr>
            <a:r>
              <a:rPr lang="en-US" dirty="0"/>
              <a:t>Pairs: </a:t>
            </a:r>
            <a:r>
              <a:rPr lang="en-US" dirty="0" err="1"/>
              <a:t>bu</a:t>
            </a:r>
            <a:r>
              <a:rPr lang="en-US" dirty="0"/>
              <a:t> </a:t>
            </a:r>
            <a:r>
              <a:rPr lang="en-US" dirty="0" err="1"/>
              <a:t>zx</a:t>
            </a:r>
            <a:r>
              <a:rPr lang="en-US" dirty="0"/>
              <a:t> </a:t>
            </a:r>
            <a:r>
              <a:rPr lang="en-US" dirty="0" err="1"/>
              <a:t>zx</a:t>
            </a:r>
            <a:r>
              <a:rPr lang="en-US" dirty="0"/>
              <a:t> </a:t>
            </a:r>
          </a:p>
          <a:p>
            <a:pPr marL="0" indent="0">
              <a:buNone/>
            </a:pPr>
            <a:r>
              <a:rPr lang="en-US" dirty="0"/>
              <a:t>Ciphertext: cx </a:t>
            </a:r>
            <a:r>
              <a:rPr lang="en-US" dirty="0" err="1"/>
              <a:t>uz</a:t>
            </a:r>
            <a:r>
              <a:rPr lang="en-US" dirty="0"/>
              <a:t> </a:t>
            </a:r>
            <a:r>
              <a:rPr lang="en-US" dirty="0" err="1"/>
              <a:t>uz</a:t>
            </a:r>
            <a:endParaRPr lang="en-US" dirty="0"/>
          </a:p>
        </p:txBody>
      </p:sp>
      <p:pic>
        <p:nvPicPr>
          <p:cNvPr id="8" name="Picture 7">
            <a:extLst>
              <a:ext uri="{FF2B5EF4-FFF2-40B4-BE49-F238E27FC236}">
                <a16:creationId xmlns:a16="http://schemas.microsoft.com/office/drawing/2014/main" id="{BD4AD0BF-E94D-9EBC-7429-1FA853791730}"/>
              </a:ext>
            </a:extLst>
          </p:cNvPr>
          <p:cNvPicPr>
            <a:picLocks noChangeAspect="1"/>
          </p:cNvPicPr>
          <p:nvPr/>
        </p:nvPicPr>
        <p:blipFill>
          <a:blip r:embed="rId2"/>
          <a:stretch>
            <a:fillRect/>
          </a:stretch>
        </p:blipFill>
        <p:spPr>
          <a:xfrm>
            <a:off x="5033945" y="977380"/>
            <a:ext cx="5669742" cy="4079812"/>
          </a:xfrm>
          <a:prstGeom prst="rect">
            <a:avLst/>
          </a:prstGeom>
        </p:spPr>
      </p:pic>
    </p:spTree>
    <p:extLst>
      <p:ext uri="{BB962C8B-B14F-4D97-AF65-F5344CB8AC3E}">
        <p14:creationId xmlns:p14="http://schemas.microsoft.com/office/powerpoint/2010/main" val="3036429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22F7E-38C9-A171-43A3-102EF3C51AA7}"/>
              </a:ext>
            </a:extLst>
          </p:cNvPr>
          <p:cNvSpPr>
            <a:spLocks noGrp="1"/>
          </p:cNvSpPr>
          <p:nvPr>
            <p:ph type="title"/>
          </p:nvPr>
        </p:nvSpPr>
        <p:spPr/>
        <p:txBody>
          <a:bodyPr/>
          <a:lstStyle/>
          <a:p>
            <a:r>
              <a:rPr lang="en-US" b="1" dirty="0"/>
              <a:t>Playfair</a:t>
            </a:r>
          </a:p>
        </p:txBody>
      </p:sp>
      <p:sp>
        <p:nvSpPr>
          <p:cNvPr id="3" name="Content Placeholder 2">
            <a:extLst>
              <a:ext uri="{FF2B5EF4-FFF2-40B4-BE49-F238E27FC236}">
                <a16:creationId xmlns:a16="http://schemas.microsoft.com/office/drawing/2014/main" id="{1E795908-A81B-A2DB-A184-6F7158C793E8}"/>
              </a:ext>
            </a:extLst>
          </p:cNvPr>
          <p:cNvSpPr>
            <a:spLocks noGrp="1"/>
          </p:cNvSpPr>
          <p:nvPr>
            <p:ph idx="1"/>
          </p:nvPr>
        </p:nvSpPr>
        <p:spPr>
          <a:xfrm>
            <a:off x="838199" y="1825625"/>
            <a:ext cx="10912813" cy="4351338"/>
          </a:xfrm>
        </p:spPr>
        <p:txBody>
          <a:bodyPr/>
          <a:lstStyle/>
          <a:p>
            <a:pPr marL="0" indent="0">
              <a:buNone/>
            </a:pPr>
            <a:r>
              <a:rPr lang="en-US" b="1" dirty="0"/>
              <a:t>Advantages: </a:t>
            </a:r>
          </a:p>
          <a:p>
            <a:pPr marL="0" indent="0" algn="just">
              <a:buNone/>
            </a:pPr>
            <a:r>
              <a:rPr lang="en-US" dirty="0"/>
              <a:t>It is significantly harder to break since the frequency analysis technique used to break simple substitution ciphers is difficult but still can be used on (25*25) = 625 digraphs rather than 25 monographs which is difficult. </a:t>
            </a:r>
            <a:br>
              <a:rPr lang="en-US" dirty="0"/>
            </a:br>
            <a:r>
              <a:rPr lang="en-US" dirty="0"/>
              <a:t> </a:t>
            </a:r>
          </a:p>
          <a:p>
            <a:pPr marL="0" indent="0">
              <a:buNone/>
            </a:pPr>
            <a:r>
              <a:rPr lang="en-US" dirty="0"/>
              <a:t>Frequency analysis thus requires more cipher text to crack the encryption. </a:t>
            </a:r>
          </a:p>
          <a:p>
            <a:pPr marL="0" indent="0">
              <a:buNone/>
            </a:pPr>
            <a:endParaRPr lang="en-US" dirty="0"/>
          </a:p>
        </p:txBody>
      </p:sp>
    </p:spTree>
    <p:extLst>
      <p:ext uri="{BB962C8B-B14F-4D97-AF65-F5344CB8AC3E}">
        <p14:creationId xmlns:p14="http://schemas.microsoft.com/office/powerpoint/2010/main" val="2301846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Rail Fence</a:t>
            </a:r>
          </a:p>
        </p:txBody>
      </p:sp>
      <p:sp>
        <p:nvSpPr>
          <p:cNvPr id="3" name="Content Placeholder 2"/>
          <p:cNvSpPr>
            <a:spLocks noGrp="1"/>
          </p:cNvSpPr>
          <p:nvPr>
            <p:ph idx="1"/>
          </p:nvPr>
        </p:nvSpPr>
        <p:spPr/>
        <p:txBody>
          <a:bodyPr/>
          <a:lstStyle/>
          <a:p>
            <a:pPr marL="0" indent="0" algn="just">
              <a:buNone/>
            </a:pPr>
            <a:r>
              <a:rPr lang="en-US" dirty="0"/>
              <a:t>The rail fence cipher (also called a zigzag cipher) is a form of transposition cipher. It derives its name from the way in which it is encoded. </a:t>
            </a:r>
          </a:p>
          <a:p>
            <a:pPr marL="0" indent="0" algn="just">
              <a:buNone/>
            </a:pPr>
            <a:endParaRPr lang="en-US" dirty="0"/>
          </a:p>
          <a:p>
            <a:pPr marL="0" indent="0" algn="just">
              <a:buNone/>
            </a:pPr>
            <a:r>
              <a:rPr lang="en-US" dirty="0"/>
              <a:t>The rail fence cipher was </a:t>
            </a:r>
            <a:r>
              <a:rPr lang="en-US" b="1" dirty="0"/>
              <a:t>used by the ancient Greeks in the scytale</a:t>
            </a:r>
            <a:r>
              <a:rPr lang="en-US" dirty="0"/>
              <a:t>, a mechanical system of producing a transposition cipher. The system consisted of a cylinder and a ribbon that was wrapped around the cylinder. The message to be encrypted was written on the coiled ribbon.</a:t>
            </a:r>
          </a:p>
        </p:txBody>
      </p:sp>
    </p:spTree>
    <p:extLst>
      <p:ext uri="{BB962C8B-B14F-4D97-AF65-F5344CB8AC3E}">
        <p14:creationId xmlns:p14="http://schemas.microsoft.com/office/powerpoint/2010/main" val="214901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5916B-A046-13F0-3F5A-676ED937FCF4}"/>
              </a:ext>
            </a:extLst>
          </p:cNvPr>
          <p:cNvSpPr>
            <a:spLocks noGrp="1"/>
          </p:cNvSpPr>
          <p:nvPr>
            <p:ph type="title"/>
          </p:nvPr>
        </p:nvSpPr>
        <p:spPr/>
        <p:txBody>
          <a:bodyPr/>
          <a:lstStyle/>
          <a:p>
            <a:r>
              <a:rPr lang="en-US" b="1" dirty="0"/>
              <a:t>Rail Fence Cipher</a:t>
            </a:r>
          </a:p>
        </p:txBody>
      </p:sp>
      <p:sp>
        <p:nvSpPr>
          <p:cNvPr id="3" name="Content Placeholder 2">
            <a:extLst>
              <a:ext uri="{FF2B5EF4-FFF2-40B4-BE49-F238E27FC236}">
                <a16:creationId xmlns:a16="http://schemas.microsoft.com/office/drawing/2014/main" id="{DDEE1CE0-F2C3-A4D6-07AA-E0670E648885}"/>
              </a:ext>
            </a:extLst>
          </p:cNvPr>
          <p:cNvSpPr>
            <a:spLocks noGrp="1"/>
          </p:cNvSpPr>
          <p:nvPr>
            <p:ph idx="1"/>
          </p:nvPr>
        </p:nvSpPr>
        <p:spPr/>
        <p:txBody>
          <a:bodyPr/>
          <a:lstStyle/>
          <a:p>
            <a:pPr marL="0" indent="0">
              <a:buNone/>
            </a:pPr>
            <a:r>
              <a:rPr lang="en-US" dirty="0"/>
              <a:t>In a transposition cipher, the order of the alphabets is re-arranged to obtain the cipher-text. </a:t>
            </a:r>
            <a:br>
              <a:rPr lang="en-US" dirty="0"/>
            </a:br>
            <a:r>
              <a:rPr lang="en-US" dirty="0"/>
              <a:t> </a:t>
            </a:r>
          </a:p>
          <a:p>
            <a:pPr>
              <a:buFont typeface="Arial" panose="020B0604020202020204" pitchFamily="34" charset="0"/>
              <a:buChar char="•"/>
            </a:pPr>
            <a:r>
              <a:rPr lang="en-US" dirty="0"/>
              <a:t>In the rail fence cipher, the plain-text is written downwards and diagonally on successive rails of an imaginary fence.</a:t>
            </a:r>
          </a:p>
          <a:p>
            <a:pPr>
              <a:buFont typeface="Arial" panose="020B0604020202020204" pitchFamily="34" charset="0"/>
              <a:buChar char="•"/>
            </a:pPr>
            <a:r>
              <a:rPr lang="en-US" dirty="0"/>
              <a:t>When we reach the bottom rail, we traverse upwards moving diagonally, after reaching the top rail, the direction is changed again. Thus the alphabets of the message are written in a zig-zag manner.</a:t>
            </a:r>
          </a:p>
          <a:p>
            <a:pPr>
              <a:buFont typeface="Arial" panose="020B0604020202020204" pitchFamily="34" charset="0"/>
              <a:buChar char="•"/>
            </a:pPr>
            <a:r>
              <a:rPr lang="en-US" dirty="0"/>
              <a:t>After each alphabet has been written, the individual rows are combined to obtain the cipher-text.</a:t>
            </a:r>
          </a:p>
          <a:p>
            <a:pPr marL="0" indent="0">
              <a:buNone/>
            </a:pPr>
            <a:endParaRPr lang="en-US" dirty="0"/>
          </a:p>
        </p:txBody>
      </p:sp>
    </p:spTree>
    <p:extLst>
      <p:ext uri="{BB962C8B-B14F-4D97-AF65-F5344CB8AC3E}">
        <p14:creationId xmlns:p14="http://schemas.microsoft.com/office/powerpoint/2010/main" val="2234402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96014-353C-AEC6-1504-FC8DC8FAD399}"/>
              </a:ext>
            </a:extLst>
          </p:cNvPr>
          <p:cNvSpPr>
            <a:spLocks noGrp="1"/>
          </p:cNvSpPr>
          <p:nvPr>
            <p:ph type="title"/>
          </p:nvPr>
        </p:nvSpPr>
        <p:spPr/>
        <p:txBody>
          <a:bodyPr/>
          <a:lstStyle/>
          <a:p>
            <a:r>
              <a:rPr lang="en-US" dirty="0"/>
              <a:t>Rail Fence Cipher</a:t>
            </a:r>
          </a:p>
        </p:txBody>
      </p:sp>
      <p:sp>
        <p:nvSpPr>
          <p:cNvPr id="3" name="Content Placeholder 2">
            <a:extLst>
              <a:ext uri="{FF2B5EF4-FFF2-40B4-BE49-F238E27FC236}">
                <a16:creationId xmlns:a16="http://schemas.microsoft.com/office/drawing/2014/main" id="{0B81E70C-D32C-A072-4C5B-3B3964D2DDB8}"/>
              </a:ext>
            </a:extLst>
          </p:cNvPr>
          <p:cNvSpPr>
            <a:spLocks noGrp="1"/>
          </p:cNvSpPr>
          <p:nvPr>
            <p:ph idx="1"/>
          </p:nvPr>
        </p:nvSpPr>
        <p:spPr>
          <a:xfrm>
            <a:off x="838200" y="1446246"/>
            <a:ext cx="10515600" cy="5343660"/>
          </a:xfrm>
        </p:spPr>
        <p:txBody>
          <a:bodyPr/>
          <a:lstStyle/>
          <a:p>
            <a:pPr marL="0" indent="0" algn="ctr">
              <a:buNone/>
            </a:pPr>
            <a:r>
              <a:rPr lang="pt-BR" dirty="0"/>
              <a:t>H _ _ _ O _ _ _ D</a:t>
            </a:r>
          </a:p>
          <a:p>
            <a:pPr marL="0" indent="0" algn="ctr">
              <a:buNone/>
            </a:pPr>
            <a:r>
              <a:rPr lang="pt-BR" dirty="0"/>
              <a:t>_ E _ L _ W _ R _</a:t>
            </a:r>
          </a:p>
          <a:p>
            <a:pPr marL="0" indent="0" algn="ctr">
              <a:buNone/>
            </a:pPr>
            <a:r>
              <a:rPr lang="pt-BR" dirty="0"/>
              <a:t>_ _ L _ _ _ O _ _</a:t>
            </a:r>
          </a:p>
          <a:p>
            <a:pPr marL="0" indent="0">
              <a:buNone/>
            </a:pPr>
            <a:r>
              <a:rPr lang="en-US" dirty="0"/>
              <a:t>-Rail Fence Cipher using 3 rails</a:t>
            </a:r>
          </a:p>
          <a:p>
            <a:pPr marL="0" indent="0">
              <a:buNone/>
            </a:pPr>
            <a:endParaRPr lang="en-US" dirty="0"/>
          </a:p>
          <a:p>
            <a:pPr marL="0" indent="0">
              <a:buNone/>
            </a:pPr>
            <a:r>
              <a:rPr lang="en-US" dirty="0"/>
              <a:t>HELLO WORLD using 3 rails</a:t>
            </a:r>
          </a:p>
          <a:p>
            <a:pPr marL="0" indent="0">
              <a:buNone/>
            </a:pPr>
            <a:r>
              <a:rPr lang="en-US" dirty="0"/>
              <a:t>Rail Fence Cipher =&gt;   HOD ELWR LO       </a:t>
            </a:r>
          </a:p>
          <a:p>
            <a:pPr marL="0" indent="0">
              <a:buNone/>
            </a:pPr>
            <a:endParaRPr lang="en-US" dirty="0"/>
          </a:p>
        </p:txBody>
      </p:sp>
      <p:pic>
        <p:nvPicPr>
          <p:cNvPr id="8" name="Picture 7">
            <a:extLst>
              <a:ext uri="{FF2B5EF4-FFF2-40B4-BE49-F238E27FC236}">
                <a16:creationId xmlns:a16="http://schemas.microsoft.com/office/drawing/2014/main" id="{8F28C5BB-440C-1B67-4682-3C98FEB80135}"/>
              </a:ext>
            </a:extLst>
          </p:cNvPr>
          <p:cNvPicPr>
            <a:picLocks noChangeAspect="1"/>
          </p:cNvPicPr>
          <p:nvPr/>
        </p:nvPicPr>
        <p:blipFill>
          <a:blip r:embed="rId2"/>
          <a:stretch>
            <a:fillRect/>
          </a:stretch>
        </p:blipFill>
        <p:spPr>
          <a:xfrm>
            <a:off x="8572398" y="3429000"/>
            <a:ext cx="2672776" cy="1786328"/>
          </a:xfrm>
          <a:prstGeom prst="rect">
            <a:avLst/>
          </a:prstGeom>
        </p:spPr>
      </p:pic>
    </p:spTree>
    <p:extLst>
      <p:ext uri="{BB962C8B-B14F-4D97-AF65-F5344CB8AC3E}">
        <p14:creationId xmlns:p14="http://schemas.microsoft.com/office/powerpoint/2010/main" val="3612593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998E9-E736-2559-B10C-D4E8CF9A3B52}"/>
              </a:ext>
            </a:extLst>
          </p:cNvPr>
          <p:cNvSpPr>
            <a:spLocks noGrp="1"/>
          </p:cNvSpPr>
          <p:nvPr>
            <p:ph type="title"/>
          </p:nvPr>
        </p:nvSpPr>
        <p:spPr>
          <a:xfrm>
            <a:off x="1076852" y="11348"/>
            <a:ext cx="10038296" cy="369652"/>
          </a:xfrm>
        </p:spPr>
        <p:txBody>
          <a:bodyPr>
            <a:normAutofit fontScale="90000"/>
          </a:bodyPr>
          <a:lstStyle/>
          <a:p>
            <a:r>
              <a:rPr lang="en-US" sz="4000" b="1" dirty="0"/>
              <a:t>Classical Cryptography vs Modern Cryptography</a:t>
            </a:r>
          </a:p>
        </p:txBody>
      </p:sp>
      <p:sp>
        <p:nvSpPr>
          <p:cNvPr id="4" name="Content Placeholder 3">
            <a:extLst>
              <a:ext uri="{FF2B5EF4-FFF2-40B4-BE49-F238E27FC236}">
                <a16:creationId xmlns:a16="http://schemas.microsoft.com/office/drawing/2014/main" id="{B86E92A1-EA3C-DD01-6560-4DEC44C4DC9D}"/>
              </a:ext>
            </a:extLst>
          </p:cNvPr>
          <p:cNvSpPr>
            <a:spLocks noGrp="1"/>
          </p:cNvSpPr>
          <p:nvPr>
            <p:ph idx="1"/>
          </p:nvPr>
        </p:nvSpPr>
        <p:spPr/>
        <p:txBody>
          <a:bodyPr/>
          <a:lstStyle/>
          <a:p>
            <a:endParaRPr lang="en-US" dirty="0"/>
          </a:p>
        </p:txBody>
      </p:sp>
      <p:pic>
        <p:nvPicPr>
          <p:cNvPr id="8" name="Picture 7">
            <a:extLst>
              <a:ext uri="{FF2B5EF4-FFF2-40B4-BE49-F238E27FC236}">
                <a16:creationId xmlns:a16="http://schemas.microsoft.com/office/drawing/2014/main" id="{51896B87-B66B-730A-D764-EABE0E9FF19C}"/>
              </a:ext>
            </a:extLst>
          </p:cNvPr>
          <p:cNvPicPr>
            <a:picLocks noChangeAspect="1"/>
          </p:cNvPicPr>
          <p:nvPr/>
        </p:nvPicPr>
        <p:blipFill>
          <a:blip r:embed="rId2"/>
          <a:stretch>
            <a:fillRect/>
          </a:stretch>
        </p:blipFill>
        <p:spPr>
          <a:xfrm>
            <a:off x="838200" y="517682"/>
            <a:ext cx="9580123" cy="6328970"/>
          </a:xfrm>
          <a:prstGeom prst="rect">
            <a:avLst/>
          </a:prstGeom>
        </p:spPr>
      </p:pic>
    </p:spTree>
    <p:extLst>
      <p:ext uri="{BB962C8B-B14F-4D97-AF65-F5344CB8AC3E}">
        <p14:creationId xmlns:p14="http://schemas.microsoft.com/office/powerpoint/2010/main" val="434678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DCFF-6FBF-951A-D2FA-214334A46BCD}"/>
              </a:ext>
            </a:extLst>
          </p:cNvPr>
          <p:cNvSpPr>
            <a:spLocks noGrp="1"/>
          </p:cNvSpPr>
          <p:nvPr>
            <p:ph type="title"/>
          </p:nvPr>
        </p:nvSpPr>
        <p:spPr/>
        <p:txBody>
          <a:bodyPr/>
          <a:lstStyle/>
          <a:p>
            <a:r>
              <a:rPr lang="en-US" b="1" dirty="0"/>
              <a:t>2.2 Modern Ciphers</a:t>
            </a:r>
          </a:p>
        </p:txBody>
      </p:sp>
      <p:sp>
        <p:nvSpPr>
          <p:cNvPr id="3" name="Content Placeholder 2">
            <a:extLst>
              <a:ext uri="{FF2B5EF4-FFF2-40B4-BE49-F238E27FC236}">
                <a16:creationId xmlns:a16="http://schemas.microsoft.com/office/drawing/2014/main" id="{3EFD5728-DCDB-ECFC-A0A3-A2753696DB21}"/>
              </a:ext>
            </a:extLst>
          </p:cNvPr>
          <p:cNvSpPr>
            <a:spLocks noGrp="1"/>
          </p:cNvSpPr>
          <p:nvPr>
            <p:ph idx="1"/>
          </p:nvPr>
        </p:nvSpPr>
        <p:spPr/>
        <p:txBody>
          <a:bodyPr>
            <a:normAutofit lnSpcReduction="10000"/>
          </a:bodyPr>
          <a:lstStyle/>
          <a:p>
            <a:pPr marL="0" indent="0" algn="just">
              <a:buNone/>
            </a:pPr>
            <a:r>
              <a:rPr lang="en-US" b="1" dirty="0"/>
              <a:t>Modern Ciphers are based on;</a:t>
            </a:r>
          </a:p>
          <a:p>
            <a:pPr algn="just"/>
            <a:r>
              <a:rPr lang="en-US" dirty="0"/>
              <a:t>mathematical algorithms and techniques, making them much more secure than classical cryptosystems</a:t>
            </a:r>
          </a:p>
          <a:p>
            <a:pPr algn="just"/>
            <a:r>
              <a:rPr lang="en-US" dirty="0"/>
              <a:t>use sophisticated encryption and decryption methods that are resistant to cryptanalysis and are designed to be unbreakable without knowledge of the secret key used to encrypt the data</a:t>
            </a:r>
          </a:p>
          <a:p>
            <a:pPr algn="just"/>
            <a:endParaRPr lang="en-US" dirty="0"/>
          </a:p>
          <a:p>
            <a:pPr marL="0" indent="0" algn="just">
              <a:buNone/>
            </a:pPr>
            <a:r>
              <a:rPr lang="en-US" dirty="0"/>
              <a:t>Some of the most widely used modern ciphers include the Advanced Encryption Standard (AES), the Data Encryption Standard (DES), and the Rivest-Shamir-Adleman (RSA) algorithm.</a:t>
            </a:r>
            <a:endParaRPr lang="en-US" b="1" dirty="0"/>
          </a:p>
        </p:txBody>
      </p:sp>
    </p:spTree>
    <p:extLst>
      <p:ext uri="{BB962C8B-B14F-4D97-AF65-F5344CB8AC3E}">
        <p14:creationId xmlns:p14="http://schemas.microsoft.com/office/powerpoint/2010/main" val="2814832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DCFF-6FBF-951A-D2FA-214334A46BCD}"/>
              </a:ext>
            </a:extLst>
          </p:cNvPr>
          <p:cNvSpPr>
            <a:spLocks noGrp="1"/>
          </p:cNvSpPr>
          <p:nvPr>
            <p:ph type="title"/>
          </p:nvPr>
        </p:nvSpPr>
        <p:spPr>
          <a:xfrm>
            <a:off x="259359" y="-275557"/>
            <a:ext cx="10515600" cy="1325563"/>
          </a:xfrm>
        </p:spPr>
        <p:txBody>
          <a:bodyPr/>
          <a:lstStyle/>
          <a:p>
            <a:r>
              <a:rPr lang="en-US" b="1" dirty="0"/>
              <a:t>2.2 Modern Ciphers</a:t>
            </a:r>
          </a:p>
        </p:txBody>
      </p:sp>
      <p:sp>
        <p:nvSpPr>
          <p:cNvPr id="3" name="Content Placeholder 2">
            <a:extLst>
              <a:ext uri="{FF2B5EF4-FFF2-40B4-BE49-F238E27FC236}">
                <a16:creationId xmlns:a16="http://schemas.microsoft.com/office/drawing/2014/main" id="{3EFD5728-DCDB-ECFC-A0A3-A2753696DB21}"/>
              </a:ext>
            </a:extLst>
          </p:cNvPr>
          <p:cNvSpPr>
            <a:spLocks noGrp="1"/>
          </p:cNvSpPr>
          <p:nvPr>
            <p:ph idx="1"/>
          </p:nvPr>
        </p:nvSpPr>
        <p:spPr>
          <a:xfrm>
            <a:off x="544586" y="819092"/>
            <a:ext cx="10515600" cy="5917267"/>
          </a:xfrm>
        </p:spPr>
        <p:txBody>
          <a:bodyPr>
            <a:normAutofit fontScale="85000" lnSpcReduction="20000"/>
          </a:bodyPr>
          <a:lstStyle/>
          <a:p>
            <a:pPr marL="0" indent="0" algn="just">
              <a:lnSpc>
                <a:spcPct val="120000"/>
              </a:lnSpc>
              <a:buNone/>
            </a:pPr>
            <a:r>
              <a:rPr lang="en-US" b="1" dirty="0"/>
              <a:t>Block cipher</a:t>
            </a:r>
          </a:p>
          <a:p>
            <a:pPr algn="just">
              <a:lnSpc>
                <a:spcPct val="120000"/>
              </a:lnSpc>
            </a:pPr>
            <a:r>
              <a:rPr lang="en-US" dirty="0"/>
              <a:t>Block ciphers convert data in plaintext into ciphertext in fixed-size block of data at a time.</a:t>
            </a:r>
          </a:p>
          <a:p>
            <a:pPr algn="just">
              <a:lnSpc>
                <a:spcPct val="120000"/>
              </a:lnSpc>
            </a:pPr>
            <a:r>
              <a:rPr lang="en-US" dirty="0"/>
              <a:t>The block size generally depends on the encryption scheme and is usually in octaves (64-bit or 128-bit blocks)</a:t>
            </a:r>
          </a:p>
          <a:p>
            <a:pPr algn="just">
              <a:lnSpc>
                <a:spcPct val="120000"/>
              </a:lnSpc>
            </a:pPr>
            <a:r>
              <a:rPr lang="en-US" dirty="0"/>
              <a:t>If the plain text length is not a multiple of 8, the encryption scheme uses padding to ensure complete blocks.</a:t>
            </a:r>
          </a:p>
          <a:p>
            <a:pPr algn="just">
              <a:lnSpc>
                <a:spcPct val="120000"/>
              </a:lnSpc>
            </a:pPr>
            <a:r>
              <a:rPr lang="en-US" dirty="0"/>
              <a:t>It uses symmetric keys and algorithms to perform data encryption and decryption, they also require an initialization vector (IV) to function.</a:t>
            </a:r>
          </a:p>
          <a:p>
            <a:pPr algn="just">
              <a:lnSpc>
                <a:spcPct val="120000"/>
              </a:lnSpc>
            </a:pPr>
            <a:r>
              <a:rPr lang="en-US" dirty="0"/>
              <a:t>An initialization vector is a pseudorandom or random sequence of characters used to encrypt the first block of characters in the plaintext block.</a:t>
            </a:r>
          </a:p>
          <a:p>
            <a:pPr algn="just">
              <a:lnSpc>
                <a:spcPct val="120000"/>
              </a:lnSpc>
            </a:pPr>
            <a:r>
              <a:rPr lang="en-US" dirty="0"/>
              <a:t>The resultant ciphertext for the first block of characters acts as the initialization vector for the subsequent blocks.</a:t>
            </a:r>
          </a:p>
          <a:p>
            <a:pPr algn="just"/>
            <a:endParaRPr lang="en-US" b="1" dirty="0"/>
          </a:p>
        </p:txBody>
      </p:sp>
    </p:spTree>
    <p:extLst>
      <p:ext uri="{BB962C8B-B14F-4D97-AF65-F5344CB8AC3E}">
        <p14:creationId xmlns:p14="http://schemas.microsoft.com/office/powerpoint/2010/main" val="1547747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3601-1C27-3F60-47D9-047C8655989C}"/>
              </a:ext>
            </a:extLst>
          </p:cNvPr>
          <p:cNvSpPr>
            <a:spLocks noGrp="1"/>
          </p:cNvSpPr>
          <p:nvPr>
            <p:ph type="title"/>
          </p:nvPr>
        </p:nvSpPr>
        <p:spPr/>
        <p:txBody>
          <a:bodyPr>
            <a:normAutofit/>
          </a:bodyPr>
          <a:lstStyle/>
          <a:p>
            <a:r>
              <a:rPr lang="en-US" sz="3600" b="1" dirty="0"/>
              <a:t>Block Cipher</a:t>
            </a:r>
          </a:p>
        </p:txBody>
      </p:sp>
      <p:pic>
        <p:nvPicPr>
          <p:cNvPr id="5" name="Content Placeholder 4" descr="A diagram of a blockchain&#10;&#10;Description automatically generated with medium confidence">
            <a:extLst>
              <a:ext uri="{FF2B5EF4-FFF2-40B4-BE49-F238E27FC236}">
                <a16:creationId xmlns:a16="http://schemas.microsoft.com/office/drawing/2014/main" id="{36EA260F-A565-BF27-D4EE-C1C953C853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0914" y="1690688"/>
            <a:ext cx="6667500" cy="3838575"/>
          </a:xfrm>
        </p:spPr>
      </p:pic>
    </p:spTree>
    <p:extLst>
      <p:ext uri="{BB962C8B-B14F-4D97-AF65-F5344CB8AC3E}">
        <p14:creationId xmlns:p14="http://schemas.microsoft.com/office/powerpoint/2010/main" val="1571771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B3DEC-6FDC-FB06-B011-917ADAF72350}"/>
              </a:ext>
            </a:extLst>
          </p:cNvPr>
          <p:cNvSpPr>
            <a:spLocks noGrp="1"/>
          </p:cNvSpPr>
          <p:nvPr>
            <p:ph type="title"/>
          </p:nvPr>
        </p:nvSpPr>
        <p:spPr/>
        <p:txBody>
          <a:bodyPr/>
          <a:lstStyle/>
          <a:p>
            <a:r>
              <a:rPr lang="en-US" b="1" dirty="0"/>
              <a:t>Block Cipher – Modes of Operation</a:t>
            </a:r>
          </a:p>
        </p:txBody>
      </p:sp>
      <p:sp>
        <p:nvSpPr>
          <p:cNvPr id="3" name="Content Placeholder 2">
            <a:extLst>
              <a:ext uri="{FF2B5EF4-FFF2-40B4-BE49-F238E27FC236}">
                <a16:creationId xmlns:a16="http://schemas.microsoft.com/office/drawing/2014/main" id="{607A3A45-FA00-40B1-2F71-219BA1FFE0A6}"/>
              </a:ext>
            </a:extLst>
          </p:cNvPr>
          <p:cNvSpPr>
            <a:spLocks noGrp="1"/>
          </p:cNvSpPr>
          <p:nvPr>
            <p:ph idx="1"/>
          </p:nvPr>
        </p:nvSpPr>
        <p:spPr>
          <a:xfrm>
            <a:off x="838200" y="1690688"/>
            <a:ext cx="10515600" cy="4885210"/>
          </a:xfrm>
        </p:spPr>
        <p:txBody>
          <a:bodyPr>
            <a:normAutofit fontScale="77500" lnSpcReduction="20000"/>
          </a:bodyPr>
          <a:lstStyle/>
          <a:p>
            <a:pPr marL="0" indent="0" algn="just">
              <a:lnSpc>
                <a:spcPct val="120000"/>
              </a:lnSpc>
              <a:buNone/>
            </a:pPr>
            <a:r>
              <a:rPr lang="en-US" dirty="0"/>
              <a:t>Block ciphers are often used in various modes of operation to securely encrypt messages longer than the block size. Common modes include:</a:t>
            </a:r>
          </a:p>
          <a:p>
            <a:pPr algn="just">
              <a:lnSpc>
                <a:spcPct val="120000"/>
              </a:lnSpc>
            </a:pPr>
            <a:r>
              <a:rPr lang="en-US" b="1" dirty="0"/>
              <a:t>ECB (Electronic Codebook):</a:t>
            </a:r>
            <a:r>
              <a:rPr lang="en-US" dirty="0"/>
              <a:t> Each block is encrypted independently. This mode is simple but can be insecure because identical plaintext blocks result in identical ciphertext blocks.</a:t>
            </a:r>
          </a:p>
          <a:p>
            <a:pPr algn="just">
              <a:lnSpc>
                <a:spcPct val="120000"/>
              </a:lnSpc>
              <a:buFont typeface="Arial" panose="020B0604020202020204" pitchFamily="34" charset="0"/>
              <a:buChar char="•"/>
            </a:pPr>
            <a:r>
              <a:rPr lang="en-US" b="1" dirty="0"/>
              <a:t>CBC (Cipher Block Chaining):</a:t>
            </a:r>
            <a:r>
              <a:rPr lang="en-US" dirty="0"/>
              <a:t> Each plaintext block is XORed with the previous ciphertext block before encryption. This introduces dependency between blocks, making it more secure than ECB.</a:t>
            </a:r>
          </a:p>
          <a:p>
            <a:pPr algn="just">
              <a:lnSpc>
                <a:spcPct val="120000"/>
              </a:lnSpc>
              <a:buFont typeface="Arial" panose="020B0604020202020204" pitchFamily="34" charset="0"/>
              <a:buChar char="•"/>
            </a:pPr>
            <a:r>
              <a:rPr lang="en-US" b="1" dirty="0"/>
              <a:t>CFB (Cipher Feedback) and OFB (Output Feedback):</a:t>
            </a:r>
            <a:r>
              <a:rPr lang="en-US" dirty="0"/>
              <a:t> These modes turn a block cipher into a stream cipher, allowing encryption of data in smaller increments.</a:t>
            </a:r>
          </a:p>
          <a:p>
            <a:pPr algn="just">
              <a:lnSpc>
                <a:spcPct val="120000"/>
              </a:lnSpc>
              <a:buFont typeface="Arial" panose="020B0604020202020204" pitchFamily="34" charset="0"/>
              <a:buChar char="•"/>
            </a:pPr>
            <a:r>
              <a:rPr lang="en-US" b="1" dirty="0"/>
              <a:t>CTR (Counter):</a:t>
            </a:r>
            <a:r>
              <a:rPr lang="en-US" dirty="0"/>
              <a:t> Uses a counter for each block, combining it with the plaintext block. It turns a block cipher into a stream cipher and allows for parallel processing.</a:t>
            </a:r>
          </a:p>
          <a:p>
            <a:pPr marL="0" indent="0" algn="just">
              <a:lnSpc>
                <a:spcPct val="120000"/>
              </a:lnSpc>
              <a:buNone/>
            </a:pPr>
            <a:endParaRPr lang="en-US" dirty="0"/>
          </a:p>
        </p:txBody>
      </p:sp>
    </p:spTree>
    <p:extLst>
      <p:ext uri="{BB962C8B-B14F-4D97-AF65-F5344CB8AC3E}">
        <p14:creationId xmlns:p14="http://schemas.microsoft.com/office/powerpoint/2010/main" val="2179633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E4727-B195-B426-7AD6-F765657EC8CB}"/>
              </a:ext>
            </a:extLst>
          </p:cNvPr>
          <p:cNvSpPr>
            <a:spLocks noGrp="1"/>
          </p:cNvSpPr>
          <p:nvPr>
            <p:ph type="title"/>
          </p:nvPr>
        </p:nvSpPr>
        <p:spPr>
          <a:xfrm>
            <a:off x="737532" y="1"/>
            <a:ext cx="7928296" cy="991430"/>
          </a:xfrm>
        </p:spPr>
        <p:txBody>
          <a:bodyPr>
            <a:normAutofit/>
          </a:bodyPr>
          <a:lstStyle/>
          <a:p>
            <a:r>
              <a:rPr lang="en-US" sz="4000" b="1" dirty="0"/>
              <a:t>Block Cipher</a:t>
            </a:r>
          </a:p>
        </p:txBody>
      </p:sp>
      <p:sp>
        <p:nvSpPr>
          <p:cNvPr id="3" name="Content Placeholder 2">
            <a:extLst>
              <a:ext uri="{FF2B5EF4-FFF2-40B4-BE49-F238E27FC236}">
                <a16:creationId xmlns:a16="http://schemas.microsoft.com/office/drawing/2014/main" id="{98B024C2-FB14-4735-460A-E2261EAEB04C}"/>
              </a:ext>
            </a:extLst>
          </p:cNvPr>
          <p:cNvSpPr>
            <a:spLocks noGrp="1"/>
          </p:cNvSpPr>
          <p:nvPr>
            <p:ph idx="1"/>
          </p:nvPr>
        </p:nvSpPr>
        <p:spPr>
          <a:xfrm>
            <a:off x="737532" y="751834"/>
            <a:ext cx="10515600" cy="6034860"/>
          </a:xfrm>
        </p:spPr>
        <p:txBody>
          <a:bodyPr>
            <a:normAutofit fontScale="77500" lnSpcReduction="20000"/>
          </a:bodyPr>
          <a:lstStyle/>
          <a:p>
            <a:pPr marL="0" indent="0" algn="just">
              <a:lnSpc>
                <a:spcPct val="120000"/>
              </a:lnSpc>
              <a:buNone/>
            </a:pPr>
            <a:r>
              <a:rPr lang="en-US" b="1" dirty="0"/>
              <a:t>Advantages</a:t>
            </a:r>
            <a:r>
              <a:rPr lang="en-US" dirty="0"/>
              <a:t>: </a:t>
            </a:r>
          </a:p>
          <a:p>
            <a:pPr algn="just">
              <a:lnSpc>
                <a:spcPct val="120000"/>
              </a:lnSpc>
            </a:pPr>
            <a:r>
              <a:rPr lang="en-US" b="1" dirty="0"/>
              <a:t>Security</a:t>
            </a:r>
            <a:r>
              <a:rPr lang="en-US" dirty="0"/>
              <a:t>: block ciphers are designed to </a:t>
            </a:r>
            <a:r>
              <a:rPr lang="en-US" dirty="0" err="1"/>
              <a:t>prvide</a:t>
            </a:r>
            <a:r>
              <a:rPr lang="en-US" dirty="0"/>
              <a:t> a high level of security by encrypting data in fixed-sized blocks, making it more difficult for attackers to analyze the data and discover the encryption key.</a:t>
            </a:r>
          </a:p>
          <a:p>
            <a:pPr algn="just">
              <a:lnSpc>
                <a:spcPct val="120000"/>
              </a:lnSpc>
            </a:pPr>
            <a:r>
              <a:rPr lang="en-US" b="1" dirty="0"/>
              <a:t>Efficiency</a:t>
            </a:r>
            <a:r>
              <a:rPr lang="en-US" dirty="0"/>
              <a:t>: Block ciphers can be efficiently implemented in both software and hardware</a:t>
            </a:r>
          </a:p>
          <a:p>
            <a:pPr algn="just">
              <a:lnSpc>
                <a:spcPct val="120000"/>
              </a:lnSpc>
            </a:pPr>
            <a:r>
              <a:rPr lang="en-US" b="1" dirty="0"/>
              <a:t>Flexibility</a:t>
            </a:r>
            <a:r>
              <a:rPr lang="en-US" dirty="0"/>
              <a:t>: can be used in a variety of encryption modes, allowing them to be adapted to a wide range of applications and security requirements. For example, can be used in electronic codebook (ECB) mode, cipher block chaining (CBC) mode, or counter (CTR) mode, among others.</a:t>
            </a:r>
          </a:p>
          <a:p>
            <a:pPr algn="just">
              <a:lnSpc>
                <a:spcPct val="120000"/>
              </a:lnSpc>
            </a:pPr>
            <a:r>
              <a:rPr lang="en-US" b="1" dirty="0"/>
              <a:t>Key Management</a:t>
            </a:r>
            <a:r>
              <a:rPr lang="en-US" dirty="0"/>
              <a:t>: designed to use a fixed-size encryption key, which can simplify key management and reduce the risk of key loss or compromise. This makes them easier to use and maintain compared to other encryption methods.</a:t>
            </a:r>
          </a:p>
          <a:p>
            <a:pPr algn="just">
              <a:lnSpc>
                <a:spcPct val="120000"/>
              </a:lnSpc>
            </a:pPr>
            <a:r>
              <a:rPr lang="en-US" b="1" dirty="0"/>
              <a:t>Standardization</a:t>
            </a:r>
            <a:r>
              <a:rPr lang="en-US" dirty="0"/>
              <a:t>: often standardized by organizations such as NIST, ensuring that they meet a minimum level of security and interoperability. This makes them widely recognized and accepted as a secure method of encryption.</a:t>
            </a:r>
          </a:p>
        </p:txBody>
      </p:sp>
    </p:spTree>
    <p:extLst>
      <p:ext uri="{BB962C8B-B14F-4D97-AF65-F5344CB8AC3E}">
        <p14:creationId xmlns:p14="http://schemas.microsoft.com/office/powerpoint/2010/main" val="3847874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E4727-B195-B426-7AD6-F765657EC8CB}"/>
              </a:ext>
            </a:extLst>
          </p:cNvPr>
          <p:cNvSpPr>
            <a:spLocks noGrp="1"/>
          </p:cNvSpPr>
          <p:nvPr>
            <p:ph type="title"/>
          </p:nvPr>
        </p:nvSpPr>
        <p:spPr>
          <a:xfrm>
            <a:off x="737532" y="1"/>
            <a:ext cx="7928296" cy="991430"/>
          </a:xfrm>
        </p:spPr>
        <p:txBody>
          <a:bodyPr>
            <a:normAutofit/>
          </a:bodyPr>
          <a:lstStyle/>
          <a:p>
            <a:r>
              <a:rPr lang="en-US" sz="4000" b="1" dirty="0"/>
              <a:t>Block Cipher</a:t>
            </a:r>
          </a:p>
        </p:txBody>
      </p:sp>
      <p:sp>
        <p:nvSpPr>
          <p:cNvPr id="3" name="Content Placeholder 2">
            <a:extLst>
              <a:ext uri="{FF2B5EF4-FFF2-40B4-BE49-F238E27FC236}">
                <a16:creationId xmlns:a16="http://schemas.microsoft.com/office/drawing/2014/main" id="{98B024C2-FB14-4735-460A-E2261EAEB04C}"/>
              </a:ext>
            </a:extLst>
          </p:cNvPr>
          <p:cNvSpPr>
            <a:spLocks noGrp="1"/>
          </p:cNvSpPr>
          <p:nvPr>
            <p:ph idx="1"/>
          </p:nvPr>
        </p:nvSpPr>
        <p:spPr>
          <a:xfrm>
            <a:off x="737532" y="751834"/>
            <a:ext cx="10515600" cy="6034860"/>
          </a:xfrm>
        </p:spPr>
        <p:txBody>
          <a:bodyPr>
            <a:normAutofit/>
          </a:bodyPr>
          <a:lstStyle/>
          <a:p>
            <a:pPr marL="0" indent="0" algn="just">
              <a:lnSpc>
                <a:spcPct val="120000"/>
              </a:lnSpc>
              <a:buNone/>
            </a:pPr>
            <a:r>
              <a:rPr lang="en-US" b="1" dirty="0"/>
              <a:t>Disadvantages</a:t>
            </a:r>
            <a:r>
              <a:rPr lang="en-US" dirty="0"/>
              <a:t>: </a:t>
            </a:r>
          </a:p>
          <a:p>
            <a:pPr algn="just">
              <a:lnSpc>
                <a:spcPct val="120000"/>
              </a:lnSpc>
            </a:pPr>
            <a:r>
              <a:rPr lang="en-US" b="1" dirty="0"/>
              <a:t>Slowness of encryption</a:t>
            </a:r>
            <a:r>
              <a:rPr lang="en-US" dirty="0"/>
              <a:t>: the person or machine using the block cipher must wait until the entire block of plaintext symbols has been received before starting the encryption process.</a:t>
            </a:r>
          </a:p>
          <a:p>
            <a:pPr algn="just">
              <a:lnSpc>
                <a:spcPct val="120000"/>
              </a:lnSpc>
            </a:pPr>
            <a:r>
              <a:rPr lang="en-US" b="1" dirty="0"/>
              <a:t>High error propagation rate</a:t>
            </a:r>
            <a:r>
              <a:rPr lang="en-US" dirty="0"/>
              <a:t>: Because a bit of change in the original plaintext results is entirely different ciphertext blocks.</a:t>
            </a:r>
          </a:p>
          <a:p>
            <a:pPr marL="0" indent="0" algn="just">
              <a:lnSpc>
                <a:spcPct val="120000"/>
              </a:lnSpc>
              <a:buNone/>
            </a:pPr>
            <a:endParaRPr lang="en-US" dirty="0"/>
          </a:p>
          <a:p>
            <a:pPr marL="0" indent="0" algn="just">
              <a:lnSpc>
                <a:spcPct val="120000"/>
              </a:lnSpc>
              <a:buNone/>
            </a:pPr>
            <a:r>
              <a:rPr lang="en-US" b="1" dirty="0"/>
              <a:t>Example of Block Cipher: DES, AES</a:t>
            </a:r>
          </a:p>
        </p:txBody>
      </p:sp>
    </p:spTree>
    <p:extLst>
      <p:ext uri="{BB962C8B-B14F-4D97-AF65-F5344CB8AC3E}">
        <p14:creationId xmlns:p14="http://schemas.microsoft.com/office/powerpoint/2010/main" val="31721979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DD967-793C-88BB-9606-F45F44FB232E}"/>
              </a:ext>
            </a:extLst>
          </p:cNvPr>
          <p:cNvSpPr>
            <a:spLocks noGrp="1"/>
          </p:cNvSpPr>
          <p:nvPr>
            <p:ph type="title"/>
          </p:nvPr>
        </p:nvSpPr>
        <p:spPr/>
        <p:txBody>
          <a:bodyPr>
            <a:normAutofit/>
          </a:bodyPr>
          <a:lstStyle/>
          <a:p>
            <a:r>
              <a:rPr lang="en-US" sz="3600" b="1" dirty="0"/>
              <a:t>Stream Cipher/State Cipher</a:t>
            </a:r>
          </a:p>
        </p:txBody>
      </p:sp>
      <p:sp>
        <p:nvSpPr>
          <p:cNvPr id="3" name="Content Placeholder 2">
            <a:extLst>
              <a:ext uri="{FF2B5EF4-FFF2-40B4-BE49-F238E27FC236}">
                <a16:creationId xmlns:a16="http://schemas.microsoft.com/office/drawing/2014/main" id="{8AA85964-AC5C-758E-02C8-473C09D7D1A3}"/>
              </a:ext>
            </a:extLst>
          </p:cNvPr>
          <p:cNvSpPr>
            <a:spLocks noGrp="1"/>
          </p:cNvSpPr>
          <p:nvPr>
            <p:ph idx="1"/>
          </p:nvPr>
        </p:nvSpPr>
        <p:spPr>
          <a:xfrm>
            <a:off x="838200" y="1397786"/>
            <a:ext cx="10515600" cy="5271461"/>
          </a:xfrm>
        </p:spPr>
        <p:txBody>
          <a:bodyPr>
            <a:normAutofit/>
          </a:bodyPr>
          <a:lstStyle/>
          <a:p>
            <a:pPr algn="just">
              <a:lnSpc>
                <a:spcPct val="110000"/>
              </a:lnSpc>
            </a:pPr>
            <a:r>
              <a:rPr lang="en-US" dirty="0"/>
              <a:t>A stream cipher uses time-varying changes on plaintext data to encrypt a continuous string of binary numbers.</a:t>
            </a:r>
          </a:p>
          <a:p>
            <a:pPr algn="just">
              <a:lnSpc>
                <a:spcPct val="110000"/>
              </a:lnSpc>
            </a:pPr>
            <a:r>
              <a:rPr lang="en-US" dirty="0"/>
              <a:t>this method of encryption works bit-by-bit, </a:t>
            </a:r>
            <a:r>
              <a:rPr lang="en-US" dirty="0" err="1"/>
              <a:t>utilising</a:t>
            </a:r>
            <a:r>
              <a:rPr lang="en-US" dirty="0"/>
              <a:t> keystreams to generate ciphertext for arbitrary lengths of plain text messages. </a:t>
            </a:r>
          </a:p>
          <a:p>
            <a:pPr algn="just">
              <a:lnSpc>
                <a:spcPct val="110000"/>
              </a:lnSpc>
            </a:pPr>
            <a:r>
              <a:rPr lang="en-US" dirty="0"/>
              <a:t>The cipher combines a key </a:t>
            </a:r>
            <a:r>
              <a:rPr lang="en-US" b="1" dirty="0"/>
              <a:t>(128/256 bits)</a:t>
            </a:r>
            <a:r>
              <a:rPr lang="en-US" dirty="0"/>
              <a:t> and a nonce digit </a:t>
            </a:r>
            <a:r>
              <a:rPr lang="en-US" b="1" dirty="0"/>
              <a:t>(64-128 bits)</a:t>
            </a:r>
            <a:r>
              <a:rPr lang="en-US" dirty="0"/>
              <a:t> in order to generate the keystream - a pseudorandom number </a:t>
            </a:r>
            <a:r>
              <a:rPr lang="en-US" b="1" dirty="0"/>
              <a:t>XORed</a:t>
            </a:r>
            <a:r>
              <a:rPr lang="en-US" dirty="0"/>
              <a:t> with the plaintext to generate the ciphertext.</a:t>
            </a:r>
          </a:p>
          <a:p>
            <a:pPr algn="just">
              <a:lnSpc>
                <a:spcPct val="110000"/>
              </a:lnSpc>
            </a:pPr>
            <a:r>
              <a:rPr lang="en-US" dirty="0"/>
              <a:t>While the key and the nonce can be reused, the keystream has to be unique for each encryption iteration to ensure security.</a:t>
            </a:r>
          </a:p>
          <a:p>
            <a:pPr algn="just">
              <a:lnSpc>
                <a:spcPct val="110000"/>
              </a:lnSpc>
            </a:pPr>
            <a:r>
              <a:rPr lang="en-US" dirty="0"/>
              <a:t>Examples: Rivest Cipher (RC4), Salsa20</a:t>
            </a:r>
          </a:p>
        </p:txBody>
      </p:sp>
    </p:spTree>
    <p:extLst>
      <p:ext uri="{BB962C8B-B14F-4D97-AF65-F5344CB8AC3E}">
        <p14:creationId xmlns:p14="http://schemas.microsoft.com/office/powerpoint/2010/main" val="3509923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218F6-8ED7-18BF-0A76-3A59B2DD2C9C}"/>
              </a:ext>
            </a:extLst>
          </p:cNvPr>
          <p:cNvSpPr>
            <a:spLocks noGrp="1"/>
          </p:cNvSpPr>
          <p:nvPr>
            <p:ph type="title"/>
          </p:nvPr>
        </p:nvSpPr>
        <p:spPr>
          <a:xfrm>
            <a:off x="838200" y="365125"/>
            <a:ext cx="10515600" cy="773011"/>
          </a:xfrm>
        </p:spPr>
        <p:txBody>
          <a:bodyPr/>
          <a:lstStyle/>
          <a:p>
            <a:r>
              <a:rPr lang="en-US" b="1" dirty="0"/>
              <a:t>Working Methodology of Stream Cipher</a:t>
            </a:r>
          </a:p>
        </p:txBody>
      </p:sp>
      <p:sp>
        <p:nvSpPr>
          <p:cNvPr id="3" name="Content Placeholder 2">
            <a:extLst>
              <a:ext uri="{FF2B5EF4-FFF2-40B4-BE49-F238E27FC236}">
                <a16:creationId xmlns:a16="http://schemas.microsoft.com/office/drawing/2014/main" id="{8EEFEE94-9C2C-C1D6-EB7C-24C7E7299CBB}"/>
              </a:ext>
            </a:extLst>
          </p:cNvPr>
          <p:cNvSpPr>
            <a:spLocks noGrp="1"/>
          </p:cNvSpPr>
          <p:nvPr>
            <p:ph idx="1"/>
          </p:nvPr>
        </p:nvSpPr>
        <p:spPr>
          <a:xfrm>
            <a:off x="642026" y="1138136"/>
            <a:ext cx="10711774" cy="5038827"/>
          </a:xfrm>
        </p:spPr>
        <p:txBody>
          <a:bodyPr>
            <a:noAutofit/>
          </a:bodyPr>
          <a:lstStyle/>
          <a:p>
            <a:pPr algn="just"/>
            <a:r>
              <a:rPr lang="en-US" sz="1800" b="1" dirty="0"/>
              <a:t>Bit-by-Bit or Byte-by-Byte Processing:</a:t>
            </a:r>
            <a:endParaRPr lang="en-US" sz="1800" dirty="0"/>
          </a:p>
          <a:p>
            <a:pPr marL="0" indent="0" algn="just">
              <a:buNone/>
            </a:pPr>
            <a:r>
              <a:rPr lang="en-US" sz="1800" dirty="0"/>
              <a:t>Unlike block ciphers, which process fixed-size blocks of data, stream ciphers encrypt data one bit or byte at a time. This makes them suitable for applications where data comes in a continuous stream, such as network communication.</a:t>
            </a:r>
          </a:p>
          <a:p>
            <a:pPr algn="just"/>
            <a:r>
              <a:rPr lang="en-US" sz="1800" b="1" dirty="0"/>
              <a:t>Keystream Generation:</a:t>
            </a:r>
            <a:endParaRPr lang="en-US" sz="1800" dirty="0"/>
          </a:p>
          <a:p>
            <a:pPr marL="0" indent="0" algn="just">
              <a:buNone/>
            </a:pPr>
            <a:r>
              <a:rPr lang="en-US" sz="1800" dirty="0"/>
              <a:t>A stream cipher generates a pseudorandom keystream based on a secret key. This keystream is then combined with the plaintext to produce the ciphertext.</a:t>
            </a:r>
          </a:p>
          <a:p>
            <a:pPr marL="0" indent="0" algn="just">
              <a:buNone/>
            </a:pPr>
            <a:r>
              <a:rPr lang="en-US" sz="1800" dirty="0"/>
              <a:t>The keystream is typically generated by a keystream generator, which is a deterministic algorithm initialized with the secret key.</a:t>
            </a:r>
          </a:p>
          <a:p>
            <a:pPr algn="just"/>
            <a:r>
              <a:rPr lang="en-US" sz="1800" b="1" dirty="0"/>
              <a:t>Encryption and Decryption:</a:t>
            </a:r>
            <a:endParaRPr lang="en-US" sz="1800" dirty="0"/>
          </a:p>
          <a:p>
            <a:pPr marL="0" indent="0" algn="just">
              <a:buNone/>
            </a:pPr>
            <a:r>
              <a:rPr lang="en-US" sz="1800" b="1" dirty="0"/>
              <a:t>Encryption:</a:t>
            </a:r>
            <a:r>
              <a:rPr lang="en-US" sz="1800" dirty="0"/>
              <a:t> The plaintext is combined with the keystream using a bitwise operation (usually XOR) to produce the ciphertext.</a:t>
            </a:r>
          </a:p>
          <a:p>
            <a:pPr marL="0" indent="0" algn="just">
              <a:buNone/>
            </a:pPr>
            <a:r>
              <a:rPr lang="en-US" sz="1800" b="1" dirty="0"/>
              <a:t>Decryption:</a:t>
            </a:r>
            <a:r>
              <a:rPr lang="en-US" sz="1800" dirty="0"/>
              <a:t> The ciphertext is combined with the same keystream using the same bitwise operation to recover the original plaintext.</a:t>
            </a:r>
          </a:p>
          <a:p>
            <a:pPr algn="just"/>
            <a:r>
              <a:rPr lang="en-US" sz="1800" b="1" dirty="0"/>
              <a:t>Key:</a:t>
            </a:r>
            <a:endParaRPr lang="en-US" sz="1800" dirty="0"/>
          </a:p>
          <a:p>
            <a:pPr marL="0" indent="0" algn="just">
              <a:buNone/>
            </a:pPr>
            <a:r>
              <a:rPr lang="en-US" sz="1800" dirty="0"/>
              <a:t>Stream ciphers use a symmetric key, meaning the same key is used for both encryption and decryption. The security of the stream cipher depends on the secrecy of this key.</a:t>
            </a:r>
          </a:p>
          <a:p>
            <a:pPr marL="0" indent="0" algn="just">
              <a:buNone/>
            </a:pPr>
            <a:endParaRPr lang="en-US" sz="1800" dirty="0"/>
          </a:p>
          <a:p>
            <a:pPr marL="0" indent="0" algn="just">
              <a:buNone/>
            </a:pPr>
            <a:endParaRPr lang="en-US" sz="1800" dirty="0"/>
          </a:p>
          <a:p>
            <a:pPr marL="0" indent="0" algn="just">
              <a:buNone/>
            </a:pPr>
            <a:endParaRPr lang="en-US" sz="1800" dirty="0"/>
          </a:p>
          <a:p>
            <a:pPr algn="just"/>
            <a:endParaRPr lang="en-US" sz="1800" dirty="0"/>
          </a:p>
        </p:txBody>
      </p:sp>
    </p:spTree>
    <p:extLst>
      <p:ext uri="{BB962C8B-B14F-4D97-AF65-F5344CB8AC3E}">
        <p14:creationId xmlns:p14="http://schemas.microsoft.com/office/powerpoint/2010/main" val="3654724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B30B0A-3E87-9B79-1A0B-74650B25D46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dirty="0">
                <a:solidFill>
                  <a:schemeClr val="bg1"/>
                </a:solidFill>
                <a:latin typeface="+mj-lt"/>
                <a:ea typeface="+mj-ea"/>
                <a:cs typeface="+mj-cs"/>
              </a:rPr>
              <a:t>Stream Cipher</a:t>
            </a:r>
          </a:p>
        </p:txBody>
      </p:sp>
      <p:pic>
        <p:nvPicPr>
          <p:cNvPr id="5" name="Content Placeholder 4" descr="A diagram of a stream generator&#10;&#10;Description automatically generated with medium confidence">
            <a:extLst>
              <a:ext uri="{FF2B5EF4-FFF2-40B4-BE49-F238E27FC236}">
                <a16:creationId xmlns:a16="http://schemas.microsoft.com/office/drawing/2014/main" id="{78A39FCF-ED57-4DE2-014D-E0E6523A37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8117" y="1675227"/>
            <a:ext cx="8915766" cy="4394199"/>
          </a:xfrm>
          <a:prstGeom prst="rect">
            <a:avLst/>
          </a:prstGeom>
        </p:spPr>
      </p:pic>
    </p:spTree>
    <p:extLst>
      <p:ext uri="{BB962C8B-B14F-4D97-AF65-F5344CB8AC3E}">
        <p14:creationId xmlns:p14="http://schemas.microsoft.com/office/powerpoint/2010/main" val="1223331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88597-C9D2-2CE0-1F66-C8521E6155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4FDC30-0AA4-3810-7BAC-4727436FE807}"/>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B6B44BA5-9C7E-311A-7094-F9DA5049557E}"/>
              </a:ext>
            </a:extLst>
          </p:cNvPr>
          <p:cNvPicPr>
            <a:picLocks noChangeAspect="1"/>
          </p:cNvPicPr>
          <p:nvPr/>
        </p:nvPicPr>
        <p:blipFill>
          <a:blip r:embed="rId2"/>
          <a:stretch>
            <a:fillRect/>
          </a:stretch>
        </p:blipFill>
        <p:spPr>
          <a:xfrm>
            <a:off x="0" y="249499"/>
            <a:ext cx="12192000" cy="6359002"/>
          </a:xfrm>
          <a:prstGeom prst="rect">
            <a:avLst/>
          </a:prstGeom>
        </p:spPr>
      </p:pic>
    </p:spTree>
    <p:extLst>
      <p:ext uri="{BB962C8B-B14F-4D97-AF65-F5344CB8AC3E}">
        <p14:creationId xmlns:p14="http://schemas.microsoft.com/office/powerpoint/2010/main" val="1255753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EC787-8F69-5D09-4825-0D3B6C3F6674}"/>
              </a:ext>
            </a:extLst>
          </p:cNvPr>
          <p:cNvSpPr>
            <a:spLocks noGrp="1"/>
          </p:cNvSpPr>
          <p:nvPr>
            <p:ph type="title"/>
          </p:nvPr>
        </p:nvSpPr>
        <p:spPr/>
        <p:txBody>
          <a:bodyPr/>
          <a:lstStyle/>
          <a:p>
            <a:r>
              <a:rPr lang="en-US" b="1" dirty="0"/>
              <a:t>Stream Cipher</a:t>
            </a:r>
          </a:p>
        </p:txBody>
      </p:sp>
      <p:sp>
        <p:nvSpPr>
          <p:cNvPr id="3" name="Content Placeholder 2">
            <a:extLst>
              <a:ext uri="{FF2B5EF4-FFF2-40B4-BE49-F238E27FC236}">
                <a16:creationId xmlns:a16="http://schemas.microsoft.com/office/drawing/2014/main" id="{6E145946-ED6B-B7A0-5FB0-6FC7F224E30B}"/>
              </a:ext>
            </a:extLst>
          </p:cNvPr>
          <p:cNvSpPr>
            <a:spLocks noGrp="1"/>
          </p:cNvSpPr>
          <p:nvPr>
            <p:ph idx="1"/>
          </p:nvPr>
        </p:nvSpPr>
        <p:spPr/>
        <p:txBody>
          <a:bodyPr/>
          <a:lstStyle/>
          <a:p>
            <a:pPr marL="0" indent="0">
              <a:buNone/>
            </a:pPr>
            <a:r>
              <a:rPr lang="en-US" b="1" dirty="0"/>
              <a:t>Advantages:</a:t>
            </a:r>
          </a:p>
          <a:p>
            <a:pPr marL="0" indent="0">
              <a:buNone/>
            </a:pPr>
            <a:endParaRPr lang="en-US" dirty="0"/>
          </a:p>
          <a:p>
            <a:r>
              <a:rPr lang="en-US" b="1" dirty="0"/>
              <a:t>Speed of transformation</a:t>
            </a:r>
            <a:r>
              <a:rPr lang="en-US" dirty="0"/>
              <a:t>: Each symbol is encrypted without regard for any other plaintext symbols, each symbol can be encrypted as soon as it is read.</a:t>
            </a:r>
          </a:p>
          <a:p>
            <a:r>
              <a:rPr lang="en-US" b="1" dirty="0"/>
              <a:t>Low error propagation</a:t>
            </a:r>
            <a:r>
              <a:rPr lang="en-US" dirty="0"/>
              <a:t>: Because each symbol is separately encoded, an error in the encryption process affects only that character.</a:t>
            </a:r>
          </a:p>
        </p:txBody>
      </p:sp>
    </p:spTree>
    <p:extLst>
      <p:ext uri="{BB962C8B-B14F-4D97-AF65-F5344CB8AC3E}">
        <p14:creationId xmlns:p14="http://schemas.microsoft.com/office/powerpoint/2010/main" val="4245224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EC787-8F69-5D09-4825-0D3B6C3F6674}"/>
              </a:ext>
            </a:extLst>
          </p:cNvPr>
          <p:cNvSpPr>
            <a:spLocks noGrp="1"/>
          </p:cNvSpPr>
          <p:nvPr>
            <p:ph type="title"/>
          </p:nvPr>
        </p:nvSpPr>
        <p:spPr/>
        <p:txBody>
          <a:bodyPr/>
          <a:lstStyle/>
          <a:p>
            <a:r>
              <a:rPr lang="en-US" b="1" dirty="0"/>
              <a:t>Stream Cipher</a:t>
            </a:r>
          </a:p>
        </p:txBody>
      </p:sp>
      <p:sp>
        <p:nvSpPr>
          <p:cNvPr id="3" name="Content Placeholder 2">
            <a:extLst>
              <a:ext uri="{FF2B5EF4-FFF2-40B4-BE49-F238E27FC236}">
                <a16:creationId xmlns:a16="http://schemas.microsoft.com/office/drawing/2014/main" id="{6E145946-ED6B-B7A0-5FB0-6FC7F224E30B}"/>
              </a:ext>
            </a:extLst>
          </p:cNvPr>
          <p:cNvSpPr>
            <a:spLocks noGrp="1"/>
          </p:cNvSpPr>
          <p:nvPr>
            <p:ph idx="1"/>
          </p:nvPr>
        </p:nvSpPr>
        <p:spPr/>
        <p:txBody>
          <a:bodyPr/>
          <a:lstStyle/>
          <a:p>
            <a:pPr marL="0" indent="0" algn="just">
              <a:buNone/>
            </a:pPr>
            <a:r>
              <a:rPr lang="en-US" b="1" dirty="0"/>
              <a:t>Disadvantage:</a:t>
            </a:r>
          </a:p>
          <a:p>
            <a:pPr marL="0" indent="0" algn="just">
              <a:buNone/>
            </a:pPr>
            <a:endParaRPr lang="en-US" dirty="0"/>
          </a:p>
          <a:p>
            <a:pPr algn="just"/>
            <a:r>
              <a:rPr lang="en-US" b="1" dirty="0"/>
              <a:t>Low Diffusion</a:t>
            </a:r>
            <a:r>
              <a:rPr lang="en-US" dirty="0"/>
              <a:t>: Each symbol is separately enciphered. Therefore, all the information of that symbol is contained in one symbol of the ciphertext.</a:t>
            </a:r>
          </a:p>
          <a:p>
            <a:pPr marL="0" indent="0" algn="just">
              <a:buNone/>
            </a:pPr>
            <a:endParaRPr lang="en-US" dirty="0"/>
          </a:p>
        </p:txBody>
      </p:sp>
    </p:spTree>
    <p:extLst>
      <p:ext uri="{BB962C8B-B14F-4D97-AF65-F5344CB8AC3E}">
        <p14:creationId xmlns:p14="http://schemas.microsoft.com/office/powerpoint/2010/main" val="1532643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5CAFD-F3E9-05F3-578E-47F2BFD5BAF3}"/>
              </a:ext>
            </a:extLst>
          </p:cNvPr>
          <p:cNvSpPr>
            <a:spLocks noGrp="1"/>
          </p:cNvSpPr>
          <p:nvPr>
            <p:ph type="title"/>
          </p:nvPr>
        </p:nvSpPr>
        <p:spPr/>
        <p:txBody>
          <a:bodyPr/>
          <a:lstStyle/>
          <a:p>
            <a:r>
              <a:rPr lang="en-US" b="1" dirty="0"/>
              <a:t>Block Cipher vs Stream Cipher</a:t>
            </a:r>
          </a:p>
        </p:txBody>
      </p:sp>
      <p:graphicFrame>
        <p:nvGraphicFramePr>
          <p:cNvPr id="4" name="Table 4">
            <a:extLst>
              <a:ext uri="{FF2B5EF4-FFF2-40B4-BE49-F238E27FC236}">
                <a16:creationId xmlns:a16="http://schemas.microsoft.com/office/drawing/2014/main" id="{2D8A0E11-318C-C8AB-62B8-7385A891DD86}"/>
              </a:ext>
            </a:extLst>
          </p:cNvPr>
          <p:cNvGraphicFramePr>
            <a:graphicFrameLocks noGrp="1"/>
          </p:cNvGraphicFramePr>
          <p:nvPr>
            <p:ph idx="1"/>
            <p:extLst>
              <p:ext uri="{D42A27DB-BD31-4B8C-83A1-F6EECF244321}">
                <p14:modId xmlns:p14="http://schemas.microsoft.com/office/powerpoint/2010/main" val="3676662611"/>
              </p:ext>
            </p:extLst>
          </p:nvPr>
        </p:nvGraphicFramePr>
        <p:xfrm>
          <a:off x="838200" y="1825625"/>
          <a:ext cx="10515597" cy="4226560"/>
        </p:xfrm>
        <a:graphic>
          <a:graphicData uri="http://schemas.openxmlformats.org/drawingml/2006/table">
            <a:tbl>
              <a:tblPr firstRow="1" bandRow="1">
                <a:tableStyleId>{5C22544A-7EE6-4342-B048-85BDC9FD1C3A}</a:tableStyleId>
              </a:tblPr>
              <a:tblGrid>
                <a:gridCol w="2113547">
                  <a:extLst>
                    <a:ext uri="{9D8B030D-6E8A-4147-A177-3AD203B41FA5}">
                      <a16:colId xmlns:a16="http://schemas.microsoft.com/office/drawing/2014/main" val="3443429986"/>
                    </a:ext>
                  </a:extLst>
                </a:gridCol>
                <a:gridCol w="4896851">
                  <a:extLst>
                    <a:ext uri="{9D8B030D-6E8A-4147-A177-3AD203B41FA5}">
                      <a16:colId xmlns:a16="http://schemas.microsoft.com/office/drawing/2014/main" val="235833307"/>
                    </a:ext>
                  </a:extLst>
                </a:gridCol>
                <a:gridCol w="3505199">
                  <a:extLst>
                    <a:ext uri="{9D8B030D-6E8A-4147-A177-3AD203B41FA5}">
                      <a16:colId xmlns:a16="http://schemas.microsoft.com/office/drawing/2014/main" val="1494016509"/>
                    </a:ext>
                  </a:extLst>
                </a:gridCol>
              </a:tblGrid>
              <a:tr h="370840">
                <a:tc>
                  <a:txBody>
                    <a:bodyPr/>
                    <a:lstStyle/>
                    <a:p>
                      <a:pPr algn="ctr"/>
                      <a:r>
                        <a:rPr lang="en-US" dirty="0"/>
                        <a:t>Parameters</a:t>
                      </a:r>
                    </a:p>
                  </a:txBody>
                  <a:tcPr/>
                </a:tc>
                <a:tc>
                  <a:txBody>
                    <a:bodyPr/>
                    <a:lstStyle/>
                    <a:p>
                      <a:pPr algn="ctr"/>
                      <a:r>
                        <a:rPr lang="en-US" dirty="0"/>
                        <a:t>Block Ciphers</a:t>
                      </a:r>
                    </a:p>
                  </a:txBody>
                  <a:tcPr/>
                </a:tc>
                <a:tc>
                  <a:txBody>
                    <a:bodyPr/>
                    <a:lstStyle/>
                    <a:p>
                      <a:pPr algn="ctr"/>
                      <a:r>
                        <a:rPr lang="en-US" dirty="0"/>
                        <a:t>Stream Ciphers</a:t>
                      </a:r>
                    </a:p>
                  </a:txBody>
                  <a:tcPr/>
                </a:tc>
                <a:extLst>
                  <a:ext uri="{0D108BD9-81ED-4DB2-BD59-A6C34878D82A}">
                    <a16:rowId xmlns:a16="http://schemas.microsoft.com/office/drawing/2014/main" val="1128570282"/>
                  </a:ext>
                </a:extLst>
              </a:tr>
              <a:tr h="370840">
                <a:tc>
                  <a:txBody>
                    <a:bodyPr/>
                    <a:lstStyle/>
                    <a:p>
                      <a:r>
                        <a:rPr lang="en-US" b="1" dirty="0"/>
                        <a:t>Definition </a:t>
                      </a:r>
                    </a:p>
                  </a:txBody>
                  <a:tcPr/>
                </a:tc>
                <a:tc>
                  <a:txBody>
                    <a:bodyPr/>
                    <a:lstStyle/>
                    <a:p>
                      <a:r>
                        <a:rPr lang="en-US" dirty="0"/>
                        <a:t>the kind of encryption that converts plaintext by taking each block individually.</a:t>
                      </a:r>
                    </a:p>
                  </a:txBody>
                  <a:tcPr/>
                </a:tc>
                <a:tc>
                  <a:txBody>
                    <a:bodyPr/>
                    <a:lstStyle/>
                    <a:p>
                      <a:r>
                        <a:rPr lang="en-US" dirty="0"/>
                        <a:t>the kind of encryption that converts plaintext by taking one byte of the plaintext at a time.</a:t>
                      </a:r>
                    </a:p>
                  </a:txBody>
                  <a:tcPr/>
                </a:tc>
                <a:extLst>
                  <a:ext uri="{0D108BD9-81ED-4DB2-BD59-A6C34878D82A}">
                    <a16:rowId xmlns:a16="http://schemas.microsoft.com/office/drawing/2014/main" val="3958293637"/>
                  </a:ext>
                </a:extLst>
              </a:tr>
              <a:tr h="370840">
                <a:tc>
                  <a:txBody>
                    <a:bodyPr/>
                    <a:lstStyle/>
                    <a:p>
                      <a:r>
                        <a:rPr lang="en-US" b="1" dirty="0"/>
                        <a:t>Principle</a:t>
                      </a:r>
                    </a:p>
                  </a:txBody>
                  <a:tcPr/>
                </a:tc>
                <a:tc>
                  <a:txBody>
                    <a:bodyPr/>
                    <a:lstStyle/>
                    <a:p>
                      <a:r>
                        <a:rPr lang="en-US" dirty="0"/>
                        <a:t>uses both diffusion and confusion principles for the conversion (used later in encryption).</a:t>
                      </a:r>
                    </a:p>
                  </a:txBody>
                  <a:tcPr/>
                </a:tc>
                <a:tc>
                  <a:txBody>
                    <a:bodyPr/>
                    <a:lstStyle/>
                    <a:p>
                      <a:r>
                        <a:rPr lang="en-US" dirty="0"/>
                        <a:t>Only the confusion principle is used by Stream Cipher for the conversion.</a:t>
                      </a:r>
                    </a:p>
                  </a:txBody>
                  <a:tcPr/>
                </a:tc>
                <a:extLst>
                  <a:ext uri="{0D108BD9-81ED-4DB2-BD59-A6C34878D82A}">
                    <a16:rowId xmlns:a16="http://schemas.microsoft.com/office/drawing/2014/main" val="2694969240"/>
                  </a:ext>
                </a:extLst>
              </a:tr>
              <a:tr h="370840">
                <a:tc>
                  <a:txBody>
                    <a:bodyPr/>
                    <a:lstStyle/>
                    <a:p>
                      <a:r>
                        <a:rPr lang="en-US" b="1" dirty="0"/>
                        <a:t>Decryption</a:t>
                      </a:r>
                    </a:p>
                  </a:txBody>
                  <a:tcPr/>
                </a:tc>
                <a:tc>
                  <a:txBody>
                    <a:bodyPr/>
                    <a:lstStyle/>
                    <a:p>
                      <a:r>
                        <a:rPr lang="en-US" b="1" i="1" dirty="0"/>
                        <a:t>reverse encryption or decryption</a:t>
                      </a:r>
                      <a:r>
                        <a:rPr lang="en-US" dirty="0"/>
                        <a:t> is more difficult than stream cipher since more bits are combined to be encrypted in this scenario.</a:t>
                      </a:r>
                    </a:p>
                  </a:txBody>
                  <a:tcPr/>
                </a:tc>
                <a:tc>
                  <a:txBody>
                    <a:bodyPr/>
                    <a:lstStyle/>
                    <a:p>
                      <a:r>
                        <a:rPr lang="en-US" dirty="0"/>
                        <a:t>easier for encryption</a:t>
                      </a:r>
                    </a:p>
                  </a:txBody>
                  <a:tcPr/>
                </a:tc>
                <a:extLst>
                  <a:ext uri="{0D108BD9-81ED-4DB2-BD59-A6C34878D82A}">
                    <a16:rowId xmlns:a16="http://schemas.microsoft.com/office/drawing/2014/main" val="514453022"/>
                  </a:ext>
                </a:extLst>
              </a:tr>
              <a:tr h="370840">
                <a:tc>
                  <a:txBody>
                    <a:bodyPr/>
                    <a:lstStyle/>
                    <a:p>
                      <a:r>
                        <a:rPr lang="en-US" b="1" dirty="0"/>
                        <a:t>Complexity</a:t>
                      </a:r>
                    </a:p>
                  </a:txBody>
                  <a:tcPr/>
                </a:tc>
                <a:tc>
                  <a:txBody>
                    <a:bodyPr/>
                    <a:lstStyle/>
                    <a:p>
                      <a:r>
                        <a:rPr lang="en-US" dirty="0"/>
                        <a:t>Simple Design</a:t>
                      </a:r>
                    </a:p>
                  </a:txBody>
                  <a:tcPr/>
                </a:tc>
                <a:tc>
                  <a:txBody>
                    <a:bodyPr/>
                    <a:lstStyle/>
                    <a:p>
                      <a:r>
                        <a:rPr lang="en-US" dirty="0"/>
                        <a:t>Complex Comparatively</a:t>
                      </a:r>
                    </a:p>
                  </a:txBody>
                  <a:tcPr/>
                </a:tc>
                <a:extLst>
                  <a:ext uri="{0D108BD9-81ED-4DB2-BD59-A6C34878D82A}">
                    <a16:rowId xmlns:a16="http://schemas.microsoft.com/office/drawing/2014/main" val="1959735336"/>
                  </a:ext>
                </a:extLst>
              </a:tr>
              <a:tr h="370840">
                <a:tc>
                  <a:txBody>
                    <a:bodyPr/>
                    <a:lstStyle/>
                    <a:p>
                      <a:r>
                        <a:rPr lang="en-US" b="1" dirty="0"/>
                        <a:t>No of Bits used</a:t>
                      </a:r>
                    </a:p>
                  </a:txBody>
                  <a:tcPr/>
                </a:tc>
                <a:tc>
                  <a:txBody>
                    <a:bodyPr/>
                    <a:lstStyle/>
                    <a:p>
                      <a:r>
                        <a:rPr lang="en-US" dirty="0"/>
                        <a:t>64 Bits or more</a:t>
                      </a:r>
                    </a:p>
                  </a:txBody>
                  <a:tcPr/>
                </a:tc>
                <a:tc>
                  <a:txBody>
                    <a:bodyPr/>
                    <a:lstStyle/>
                    <a:p>
                      <a:r>
                        <a:rPr lang="en-US" dirty="0"/>
                        <a:t>8 bits</a:t>
                      </a:r>
                    </a:p>
                  </a:txBody>
                  <a:tcPr/>
                </a:tc>
                <a:extLst>
                  <a:ext uri="{0D108BD9-81ED-4DB2-BD59-A6C34878D82A}">
                    <a16:rowId xmlns:a16="http://schemas.microsoft.com/office/drawing/2014/main" val="2171932991"/>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013743206"/>
                  </a:ext>
                </a:extLst>
              </a:tr>
            </a:tbl>
          </a:graphicData>
        </a:graphic>
      </p:graphicFrame>
    </p:spTree>
    <p:extLst>
      <p:ext uri="{BB962C8B-B14F-4D97-AF65-F5344CB8AC3E}">
        <p14:creationId xmlns:p14="http://schemas.microsoft.com/office/powerpoint/2010/main" val="3260620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B2DCFF-6FBF-951A-D2FA-214334A46BCD}"/>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b="1" kern="1200">
                <a:solidFill>
                  <a:schemeClr val="tx1"/>
                </a:solidFill>
                <a:latin typeface="+mj-lt"/>
                <a:ea typeface="+mj-ea"/>
                <a:cs typeface="+mj-cs"/>
              </a:rPr>
              <a:t>2.2 Modern Ciphers</a:t>
            </a:r>
          </a:p>
        </p:txBody>
      </p:sp>
      <p:sp>
        <p:nvSpPr>
          <p:cNvPr id="3" name="Content Placeholder 2">
            <a:extLst>
              <a:ext uri="{FF2B5EF4-FFF2-40B4-BE49-F238E27FC236}">
                <a16:creationId xmlns:a16="http://schemas.microsoft.com/office/drawing/2014/main" id="{3EFD5728-DCDB-ECFC-A0A3-A2753696DB21}"/>
              </a:ext>
            </a:extLst>
          </p:cNvPr>
          <p:cNvSpPr>
            <a:spLocks noGrp="1"/>
          </p:cNvSpPr>
          <p:nvPr>
            <p:ph idx="1"/>
          </p:nvPr>
        </p:nvSpPr>
        <p:spPr>
          <a:xfrm>
            <a:off x="1966912" y="5645150"/>
            <a:ext cx="8258176" cy="631825"/>
          </a:xfrm>
        </p:spPr>
        <p:txBody>
          <a:bodyPr vert="horz" lIns="91440" tIns="45720" rIns="91440" bIns="45720" rtlCol="0" anchor="ctr">
            <a:normAutofit/>
          </a:bodyPr>
          <a:lstStyle/>
          <a:p>
            <a:pPr marL="0" indent="0" algn="ctr">
              <a:buNone/>
            </a:pPr>
            <a:r>
              <a:rPr lang="en-US" b="1" kern="1200">
                <a:solidFill>
                  <a:schemeClr val="tx1"/>
                </a:solidFill>
                <a:latin typeface="+mn-lt"/>
                <a:ea typeface="+mn-ea"/>
                <a:cs typeface="+mn-cs"/>
              </a:rPr>
              <a:t>Symmetric vs Asymmetric Ciphers</a:t>
            </a:r>
          </a:p>
        </p:txBody>
      </p:sp>
      <p:sp>
        <p:nvSpPr>
          <p:cNvPr id="25"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4071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26690-FC3F-9EBC-39FA-82137429ECB7}"/>
              </a:ext>
            </a:extLst>
          </p:cNvPr>
          <p:cNvSpPr>
            <a:spLocks noGrp="1"/>
          </p:cNvSpPr>
          <p:nvPr>
            <p:ph type="title"/>
          </p:nvPr>
        </p:nvSpPr>
        <p:spPr/>
        <p:txBody>
          <a:bodyPr/>
          <a:lstStyle/>
          <a:p>
            <a:r>
              <a:rPr lang="en-US" b="1" dirty="0"/>
              <a:t>Symmetric Cipher</a:t>
            </a:r>
          </a:p>
        </p:txBody>
      </p:sp>
      <p:sp>
        <p:nvSpPr>
          <p:cNvPr id="3" name="Content Placeholder 2">
            <a:extLst>
              <a:ext uri="{FF2B5EF4-FFF2-40B4-BE49-F238E27FC236}">
                <a16:creationId xmlns:a16="http://schemas.microsoft.com/office/drawing/2014/main" id="{EE86C56F-CC3F-C573-50B9-5FCB6DF45306}"/>
              </a:ext>
            </a:extLst>
          </p:cNvPr>
          <p:cNvSpPr>
            <a:spLocks noGrp="1"/>
          </p:cNvSpPr>
          <p:nvPr>
            <p:ph idx="1"/>
          </p:nvPr>
        </p:nvSpPr>
        <p:spPr/>
        <p:txBody>
          <a:bodyPr/>
          <a:lstStyle/>
          <a:p>
            <a:r>
              <a:rPr lang="en-US" dirty="0"/>
              <a:t>Symmetric cipher is also known as private key cryptography or secret key cryptography.</a:t>
            </a:r>
          </a:p>
          <a:p>
            <a:r>
              <a:rPr lang="en-US" dirty="0"/>
              <a:t>Single Private key is used during both encryption and decryption process.</a:t>
            </a:r>
          </a:p>
          <a:p>
            <a:r>
              <a:rPr lang="en-US" dirty="0"/>
              <a:t>The sender or receiver of the message should have a shared private key.</a:t>
            </a:r>
          </a:p>
          <a:p>
            <a:pPr marL="0" indent="0">
              <a:buNone/>
            </a:pPr>
            <a:endParaRPr lang="en-US" dirty="0"/>
          </a:p>
        </p:txBody>
      </p:sp>
    </p:spTree>
    <p:extLst>
      <p:ext uri="{BB962C8B-B14F-4D97-AF65-F5344CB8AC3E}">
        <p14:creationId xmlns:p14="http://schemas.microsoft.com/office/powerpoint/2010/main" val="617356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CAEDE-FBC7-7473-4790-0E5FE26ED96A}"/>
              </a:ext>
            </a:extLst>
          </p:cNvPr>
          <p:cNvSpPr>
            <a:spLocks noGrp="1"/>
          </p:cNvSpPr>
          <p:nvPr>
            <p:ph type="title"/>
          </p:nvPr>
        </p:nvSpPr>
        <p:spPr/>
        <p:txBody>
          <a:bodyPr/>
          <a:lstStyle/>
          <a:p>
            <a:r>
              <a:rPr lang="en-US" b="1" dirty="0"/>
              <a:t>Asymmetric Cipher</a:t>
            </a:r>
          </a:p>
        </p:txBody>
      </p:sp>
      <p:sp>
        <p:nvSpPr>
          <p:cNvPr id="3" name="Content Placeholder 2">
            <a:extLst>
              <a:ext uri="{FF2B5EF4-FFF2-40B4-BE49-F238E27FC236}">
                <a16:creationId xmlns:a16="http://schemas.microsoft.com/office/drawing/2014/main" id="{3B151982-277E-5122-E12B-C63165DCA207}"/>
              </a:ext>
            </a:extLst>
          </p:cNvPr>
          <p:cNvSpPr>
            <a:spLocks noGrp="1"/>
          </p:cNvSpPr>
          <p:nvPr>
            <p:ph idx="1"/>
          </p:nvPr>
        </p:nvSpPr>
        <p:spPr/>
        <p:txBody>
          <a:bodyPr/>
          <a:lstStyle/>
          <a:p>
            <a:r>
              <a:rPr lang="en-US" dirty="0"/>
              <a:t>Asymmetric Encryption is also known as public key cryptography.</a:t>
            </a:r>
          </a:p>
          <a:p>
            <a:r>
              <a:rPr lang="en-US" dirty="0"/>
              <a:t>Two different keys are used during the process of encryption and decryption.</a:t>
            </a:r>
          </a:p>
          <a:p>
            <a:r>
              <a:rPr lang="en-US" dirty="0"/>
              <a:t>A public key which is known to all is used to encrypt the input the message and private key which is secret is used to decrypt the message to original text.</a:t>
            </a:r>
          </a:p>
          <a:p>
            <a:r>
              <a:rPr lang="en-US" dirty="0"/>
              <a:t>All communicating parties in a network must have their pair of public and private keys.</a:t>
            </a:r>
          </a:p>
          <a:p>
            <a:r>
              <a:rPr lang="en-US" dirty="0"/>
              <a:t>Public key is disclosed to other while private key is kept secret.</a:t>
            </a:r>
          </a:p>
        </p:txBody>
      </p:sp>
    </p:spTree>
    <p:extLst>
      <p:ext uri="{BB962C8B-B14F-4D97-AF65-F5344CB8AC3E}">
        <p14:creationId xmlns:p14="http://schemas.microsoft.com/office/powerpoint/2010/main" val="12861912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82D7-87C1-3ACF-FA50-23618EA30D95}"/>
              </a:ext>
            </a:extLst>
          </p:cNvPr>
          <p:cNvSpPr>
            <a:spLocks noGrp="1"/>
          </p:cNvSpPr>
          <p:nvPr>
            <p:ph type="title"/>
          </p:nvPr>
        </p:nvSpPr>
        <p:spPr>
          <a:xfrm>
            <a:off x="838200" y="365125"/>
            <a:ext cx="11000874" cy="1325563"/>
          </a:xfrm>
        </p:spPr>
        <p:txBody>
          <a:bodyPr/>
          <a:lstStyle/>
          <a:p>
            <a:r>
              <a:rPr lang="en-US" b="1" dirty="0"/>
              <a:t>Difference between Symmetric and Asymmetric Cipher</a:t>
            </a:r>
          </a:p>
        </p:txBody>
      </p:sp>
      <p:graphicFrame>
        <p:nvGraphicFramePr>
          <p:cNvPr id="4" name="Table 4">
            <a:extLst>
              <a:ext uri="{FF2B5EF4-FFF2-40B4-BE49-F238E27FC236}">
                <a16:creationId xmlns:a16="http://schemas.microsoft.com/office/drawing/2014/main" id="{FEC5CC70-3CDF-44DA-37A0-29BDD5D2D157}"/>
              </a:ext>
            </a:extLst>
          </p:cNvPr>
          <p:cNvGraphicFramePr>
            <a:graphicFrameLocks noGrp="1"/>
          </p:cNvGraphicFramePr>
          <p:nvPr>
            <p:ph idx="1"/>
            <p:extLst>
              <p:ext uri="{D42A27DB-BD31-4B8C-83A1-F6EECF244321}">
                <p14:modId xmlns:p14="http://schemas.microsoft.com/office/powerpoint/2010/main" val="2871468053"/>
              </p:ext>
            </p:extLst>
          </p:nvPr>
        </p:nvGraphicFramePr>
        <p:xfrm>
          <a:off x="838200" y="1825625"/>
          <a:ext cx="10515600" cy="36728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56006598"/>
                    </a:ext>
                  </a:extLst>
                </a:gridCol>
                <a:gridCol w="5257800">
                  <a:extLst>
                    <a:ext uri="{9D8B030D-6E8A-4147-A177-3AD203B41FA5}">
                      <a16:colId xmlns:a16="http://schemas.microsoft.com/office/drawing/2014/main" val="2163281889"/>
                    </a:ext>
                  </a:extLst>
                </a:gridCol>
              </a:tblGrid>
              <a:tr h="370840">
                <a:tc>
                  <a:txBody>
                    <a:bodyPr/>
                    <a:lstStyle/>
                    <a:p>
                      <a:r>
                        <a:rPr lang="en-US" dirty="0"/>
                        <a:t>Symmetric Cipher</a:t>
                      </a:r>
                    </a:p>
                  </a:txBody>
                  <a:tcPr/>
                </a:tc>
                <a:tc>
                  <a:txBody>
                    <a:bodyPr/>
                    <a:lstStyle/>
                    <a:p>
                      <a:r>
                        <a:rPr lang="en-US" dirty="0"/>
                        <a:t>Asymmetric Cipher</a:t>
                      </a:r>
                    </a:p>
                  </a:txBody>
                  <a:tcPr/>
                </a:tc>
                <a:extLst>
                  <a:ext uri="{0D108BD9-81ED-4DB2-BD59-A6C34878D82A}">
                    <a16:rowId xmlns:a16="http://schemas.microsoft.com/office/drawing/2014/main" val="1516632199"/>
                  </a:ext>
                </a:extLst>
              </a:tr>
              <a:tr h="370840">
                <a:tc>
                  <a:txBody>
                    <a:bodyPr/>
                    <a:lstStyle/>
                    <a:p>
                      <a:r>
                        <a:rPr lang="en-US" dirty="0"/>
                        <a:t>It only requires a single key for both encryption and decryption</a:t>
                      </a:r>
                    </a:p>
                  </a:txBody>
                  <a:tcPr/>
                </a:tc>
                <a:tc>
                  <a:txBody>
                    <a:bodyPr/>
                    <a:lstStyle/>
                    <a:p>
                      <a:r>
                        <a:rPr lang="en-US" dirty="0"/>
                        <a:t>It requires two keys, a public key and a private key, one to encrypt and other one to decrypt</a:t>
                      </a:r>
                    </a:p>
                  </a:txBody>
                  <a:tcPr/>
                </a:tc>
                <a:extLst>
                  <a:ext uri="{0D108BD9-81ED-4DB2-BD59-A6C34878D82A}">
                    <a16:rowId xmlns:a16="http://schemas.microsoft.com/office/drawing/2014/main" val="1074032183"/>
                  </a:ext>
                </a:extLst>
              </a:tr>
              <a:tr h="370840">
                <a:tc>
                  <a:txBody>
                    <a:bodyPr/>
                    <a:lstStyle/>
                    <a:p>
                      <a:r>
                        <a:rPr lang="en-US" dirty="0"/>
                        <a:t>The size of cipher text is the same or smaller than the original plain text</a:t>
                      </a:r>
                    </a:p>
                  </a:txBody>
                  <a:tcPr/>
                </a:tc>
                <a:tc>
                  <a:txBody>
                    <a:bodyPr/>
                    <a:lstStyle/>
                    <a:p>
                      <a:r>
                        <a:rPr lang="en-US" dirty="0"/>
                        <a:t>The size of the cipher text is the same or larger than the original plain text.</a:t>
                      </a:r>
                    </a:p>
                  </a:txBody>
                  <a:tcPr/>
                </a:tc>
                <a:extLst>
                  <a:ext uri="{0D108BD9-81ED-4DB2-BD59-A6C34878D82A}">
                    <a16:rowId xmlns:a16="http://schemas.microsoft.com/office/drawing/2014/main" val="2545766728"/>
                  </a:ext>
                </a:extLst>
              </a:tr>
              <a:tr h="370840">
                <a:tc>
                  <a:txBody>
                    <a:bodyPr/>
                    <a:lstStyle/>
                    <a:p>
                      <a:r>
                        <a:rPr lang="en-US" dirty="0"/>
                        <a:t>The encryption process is very fast.</a:t>
                      </a:r>
                    </a:p>
                  </a:txBody>
                  <a:tcPr/>
                </a:tc>
                <a:tc>
                  <a:txBody>
                    <a:bodyPr/>
                    <a:lstStyle/>
                    <a:p>
                      <a:r>
                        <a:rPr lang="en-US" dirty="0"/>
                        <a:t>The encryption process is slow.</a:t>
                      </a:r>
                    </a:p>
                  </a:txBody>
                  <a:tcPr/>
                </a:tc>
                <a:extLst>
                  <a:ext uri="{0D108BD9-81ED-4DB2-BD59-A6C34878D82A}">
                    <a16:rowId xmlns:a16="http://schemas.microsoft.com/office/drawing/2014/main" val="3836788928"/>
                  </a:ext>
                </a:extLst>
              </a:tr>
              <a:tr h="370840">
                <a:tc>
                  <a:txBody>
                    <a:bodyPr/>
                    <a:lstStyle/>
                    <a:p>
                      <a:r>
                        <a:rPr lang="en-US" dirty="0"/>
                        <a:t>It is used when a large amount of data is required to transfer.</a:t>
                      </a:r>
                    </a:p>
                  </a:txBody>
                  <a:tcPr/>
                </a:tc>
                <a:tc>
                  <a:txBody>
                    <a:bodyPr/>
                    <a:lstStyle/>
                    <a:p>
                      <a:r>
                        <a:rPr lang="en-US" dirty="0"/>
                        <a:t>It is used to transfer small amounts of data.</a:t>
                      </a:r>
                    </a:p>
                  </a:txBody>
                  <a:tcPr/>
                </a:tc>
                <a:extLst>
                  <a:ext uri="{0D108BD9-81ED-4DB2-BD59-A6C34878D82A}">
                    <a16:rowId xmlns:a16="http://schemas.microsoft.com/office/drawing/2014/main" val="2604938311"/>
                  </a:ext>
                </a:extLst>
              </a:tr>
              <a:tr h="370840">
                <a:tc>
                  <a:txBody>
                    <a:bodyPr/>
                    <a:lstStyle/>
                    <a:p>
                      <a:r>
                        <a:rPr lang="en-US" dirty="0"/>
                        <a:t>It only provides confidentiality.</a:t>
                      </a:r>
                    </a:p>
                  </a:txBody>
                  <a:tcPr/>
                </a:tc>
                <a:tc>
                  <a:txBody>
                    <a:bodyPr/>
                    <a:lstStyle/>
                    <a:p>
                      <a:r>
                        <a:rPr lang="en-US" dirty="0"/>
                        <a:t>It provides confidentiality, authenticity.</a:t>
                      </a:r>
                    </a:p>
                  </a:txBody>
                  <a:tcPr/>
                </a:tc>
                <a:extLst>
                  <a:ext uri="{0D108BD9-81ED-4DB2-BD59-A6C34878D82A}">
                    <a16:rowId xmlns:a16="http://schemas.microsoft.com/office/drawing/2014/main" val="3767000444"/>
                  </a:ext>
                </a:extLst>
              </a:tr>
              <a:tr h="370840">
                <a:tc>
                  <a:txBody>
                    <a:bodyPr/>
                    <a:lstStyle/>
                    <a:p>
                      <a:r>
                        <a:rPr lang="en-US" dirty="0"/>
                        <a:t>Security is less as only key is used for both encryption and decryption purpose.</a:t>
                      </a:r>
                    </a:p>
                  </a:txBody>
                  <a:tcPr/>
                </a:tc>
                <a:tc>
                  <a:txBody>
                    <a:bodyPr/>
                    <a:lstStyle/>
                    <a:p>
                      <a:r>
                        <a:rPr lang="en-US" dirty="0"/>
                        <a:t>It is more secure as two keys are used here one for encryption and other for decryption.</a:t>
                      </a:r>
                    </a:p>
                  </a:txBody>
                  <a:tcPr/>
                </a:tc>
                <a:extLst>
                  <a:ext uri="{0D108BD9-81ED-4DB2-BD59-A6C34878D82A}">
                    <a16:rowId xmlns:a16="http://schemas.microsoft.com/office/drawing/2014/main" val="2428323823"/>
                  </a:ext>
                </a:extLst>
              </a:tr>
            </a:tbl>
          </a:graphicData>
        </a:graphic>
      </p:graphicFrame>
    </p:spTree>
    <p:extLst>
      <p:ext uri="{BB962C8B-B14F-4D97-AF65-F5344CB8AC3E}">
        <p14:creationId xmlns:p14="http://schemas.microsoft.com/office/powerpoint/2010/main" val="2324282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AA4B-8EAF-1013-E02F-4AA494B59B08}"/>
              </a:ext>
            </a:extLst>
          </p:cNvPr>
          <p:cNvSpPr>
            <a:spLocks noGrp="1"/>
          </p:cNvSpPr>
          <p:nvPr>
            <p:ph type="title"/>
          </p:nvPr>
        </p:nvSpPr>
        <p:spPr>
          <a:xfrm>
            <a:off x="838200" y="365126"/>
            <a:ext cx="7601125" cy="641554"/>
          </a:xfrm>
        </p:spPr>
        <p:txBody>
          <a:bodyPr>
            <a:normAutofit fontScale="90000"/>
          </a:bodyPr>
          <a:lstStyle/>
          <a:p>
            <a:r>
              <a:rPr lang="en-US" b="1" dirty="0"/>
              <a:t>2.3 Symmetric Encryption</a:t>
            </a:r>
          </a:p>
        </p:txBody>
      </p:sp>
      <p:sp>
        <p:nvSpPr>
          <p:cNvPr id="3" name="Content Placeholder 2">
            <a:extLst>
              <a:ext uri="{FF2B5EF4-FFF2-40B4-BE49-F238E27FC236}">
                <a16:creationId xmlns:a16="http://schemas.microsoft.com/office/drawing/2014/main" id="{52DCFC74-5CE0-6BB3-A9C8-BA0A245F8509}"/>
              </a:ext>
            </a:extLst>
          </p:cNvPr>
          <p:cNvSpPr>
            <a:spLocks noGrp="1"/>
          </p:cNvSpPr>
          <p:nvPr>
            <p:ph idx="1"/>
          </p:nvPr>
        </p:nvSpPr>
        <p:spPr>
          <a:xfrm>
            <a:off x="754310" y="1006680"/>
            <a:ext cx="4874703" cy="5486194"/>
          </a:xfrm>
        </p:spPr>
        <p:txBody>
          <a:bodyPr/>
          <a:lstStyle/>
          <a:p>
            <a:pPr marL="0" indent="0" algn="just">
              <a:buNone/>
            </a:pPr>
            <a:endParaRPr lang="en-US" b="1" dirty="0"/>
          </a:p>
          <a:p>
            <a:pPr marL="0" indent="0" algn="just">
              <a:buNone/>
            </a:pPr>
            <a:r>
              <a:rPr lang="en-US" b="1" dirty="0" err="1"/>
              <a:t>Fiestel</a:t>
            </a:r>
            <a:r>
              <a:rPr lang="en-US" b="1" dirty="0"/>
              <a:t> Cipher Structure</a:t>
            </a:r>
          </a:p>
          <a:p>
            <a:pPr marL="0" indent="0" algn="just">
              <a:buNone/>
            </a:pPr>
            <a:endParaRPr lang="en-US" b="1" dirty="0"/>
          </a:p>
          <a:p>
            <a:pPr algn="just"/>
            <a:r>
              <a:rPr lang="en-US" dirty="0"/>
              <a:t>A design model that derives different symmetric block ciphers such as DES.  It uses same key for encryption and decryption process.</a:t>
            </a:r>
          </a:p>
          <a:p>
            <a:pPr marL="0" indent="0" algn="just">
              <a:buNone/>
            </a:pPr>
            <a:r>
              <a:rPr lang="en-US" dirty="0"/>
              <a:t>		Or,</a:t>
            </a:r>
          </a:p>
          <a:p>
            <a:pPr algn="just"/>
            <a:r>
              <a:rPr lang="en-US" dirty="0"/>
              <a:t>A symmetric structure used in the construction of block ciphers.</a:t>
            </a:r>
          </a:p>
          <a:p>
            <a:pPr marL="0" indent="0" algn="just">
              <a:buNone/>
            </a:pPr>
            <a:endParaRPr lang="en-US" b="1" dirty="0"/>
          </a:p>
        </p:txBody>
      </p:sp>
      <p:sp>
        <p:nvSpPr>
          <p:cNvPr id="5" name="TextBox 4">
            <a:extLst>
              <a:ext uri="{FF2B5EF4-FFF2-40B4-BE49-F238E27FC236}">
                <a16:creationId xmlns:a16="http://schemas.microsoft.com/office/drawing/2014/main" id="{1D08D7CD-7D8D-FF0C-48D5-A3C3F1267D98}"/>
              </a:ext>
            </a:extLst>
          </p:cNvPr>
          <p:cNvSpPr txBox="1"/>
          <p:nvPr/>
        </p:nvSpPr>
        <p:spPr>
          <a:xfrm>
            <a:off x="6704902" y="1572584"/>
            <a:ext cx="4326621" cy="4467057"/>
          </a:xfrm>
          <a:prstGeom prst="rect">
            <a:avLst/>
          </a:prstGeom>
          <a:noFill/>
        </p:spPr>
        <p:txBody>
          <a:bodyPr wrap="square">
            <a:spAutoFit/>
          </a:bodyPr>
          <a:lstStyle/>
          <a:p>
            <a:pPr algn="just">
              <a:lnSpc>
                <a:spcPct val="150000"/>
              </a:lnSpc>
            </a:pPr>
            <a:r>
              <a:rPr lang="en-US" sz="2400" dirty="0"/>
              <a:t>The Feistel Cipher is a popular cryptographic structure used in many block ciphers. It is named after its inventor, Horst Feistel, and is based on the concept of a round function that is applied iteratively to a block of plaintext to produce ciphertext.</a:t>
            </a:r>
          </a:p>
        </p:txBody>
      </p:sp>
    </p:spTree>
    <p:extLst>
      <p:ext uri="{BB962C8B-B14F-4D97-AF65-F5344CB8AC3E}">
        <p14:creationId xmlns:p14="http://schemas.microsoft.com/office/powerpoint/2010/main" val="2351349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9E0E15-428D-6CF2-85D2-42AE4292D2A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Fiestel Cipher Structure</a:t>
            </a:r>
          </a:p>
        </p:txBody>
      </p:sp>
      <p:pic>
        <p:nvPicPr>
          <p:cNvPr id="5" name="Content Placeholder 4" descr="A picture containing diagram, line, screenshot, parallel&#10;&#10;Description automatically generated">
            <a:extLst>
              <a:ext uri="{FF2B5EF4-FFF2-40B4-BE49-F238E27FC236}">
                <a16:creationId xmlns:a16="http://schemas.microsoft.com/office/drawing/2014/main" id="{D0CC093C-ED35-BE10-F99B-947F28206D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84953" y="-1"/>
            <a:ext cx="3634547" cy="7021577"/>
          </a:xfrm>
          <a:prstGeom prst="rect">
            <a:avLst/>
          </a:prstGeom>
        </p:spPr>
      </p:pic>
      <p:sp>
        <p:nvSpPr>
          <p:cNvPr id="7" name="TextBox 6">
            <a:extLst>
              <a:ext uri="{FF2B5EF4-FFF2-40B4-BE49-F238E27FC236}">
                <a16:creationId xmlns:a16="http://schemas.microsoft.com/office/drawing/2014/main" id="{0470C581-074E-B58F-9AD1-08714750DE40}"/>
              </a:ext>
            </a:extLst>
          </p:cNvPr>
          <p:cNvSpPr txBox="1"/>
          <p:nvPr/>
        </p:nvSpPr>
        <p:spPr>
          <a:xfrm>
            <a:off x="899720" y="5561793"/>
            <a:ext cx="3798115" cy="948064"/>
          </a:xfrm>
          <a:prstGeom prst="rect">
            <a:avLst/>
          </a:prstGeom>
          <a:noFill/>
        </p:spPr>
        <p:txBody>
          <a:bodyPr wrap="square">
            <a:spAutoFit/>
          </a:bodyPr>
          <a:lstStyle/>
          <a:p>
            <a:r>
              <a:rPr lang="en-US" b="1" dirty="0"/>
              <a:t>Note: A separate key is used for each round. But same key of each round is used for encryption/decryption.</a:t>
            </a:r>
          </a:p>
        </p:txBody>
      </p:sp>
    </p:spTree>
    <p:extLst>
      <p:ext uri="{BB962C8B-B14F-4D97-AF65-F5344CB8AC3E}">
        <p14:creationId xmlns:p14="http://schemas.microsoft.com/office/powerpoint/2010/main" val="12578808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A7AE3FE-C533-ED02-09A3-E77E76A5892F}"/>
              </a:ext>
            </a:extLst>
          </p:cNvPr>
          <p:cNvSpPr>
            <a:spLocks noGrp="1"/>
          </p:cNvSpPr>
          <p:nvPr>
            <p:ph type="title"/>
          </p:nvPr>
        </p:nvSpPr>
        <p:spPr>
          <a:xfrm>
            <a:off x="838200" y="609600"/>
            <a:ext cx="3739341" cy="1330839"/>
          </a:xfrm>
        </p:spPr>
        <p:txBody>
          <a:bodyPr>
            <a:normAutofit/>
          </a:bodyPr>
          <a:lstStyle/>
          <a:p>
            <a:r>
              <a:rPr lang="en-US" b="1"/>
              <a:t>Fiestel Cipher Algorithm</a:t>
            </a:r>
            <a:endParaRPr lang="en-US" b="1" dirty="0"/>
          </a:p>
        </p:txBody>
      </p:sp>
      <p:sp>
        <p:nvSpPr>
          <p:cNvPr id="3" name="Content Placeholder 2">
            <a:extLst>
              <a:ext uri="{FF2B5EF4-FFF2-40B4-BE49-F238E27FC236}">
                <a16:creationId xmlns:a16="http://schemas.microsoft.com/office/drawing/2014/main" id="{5C056396-446E-57A2-1A4A-E835946CD2E9}"/>
              </a:ext>
            </a:extLst>
          </p:cNvPr>
          <p:cNvSpPr>
            <a:spLocks noGrp="1"/>
          </p:cNvSpPr>
          <p:nvPr>
            <p:ph idx="1"/>
          </p:nvPr>
        </p:nvSpPr>
        <p:spPr>
          <a:xfrm>
            <a:off x="862366" y="2194102"/>
            <a:ext cx="3427001" cy="3908586"/>
          </a:xfrm>
        </p:spPr>
        <p:txBody>
          <a:bodyPr>
            <a:normAutofit/>
          </a:bodyPr>
          <a:lstStyle/>
          <a:p>
            <a:pPr>
              <a:buFont typeface="Arial" panose="020B0604020202020204" pitchFamily="34" charset="0"/>
              <a:buChar char="•"/>
            </a:pPr>
            <a:r>
              <a:rPr lang="en-US" sz="1700"/>
              <a:t>Create a list of all the Plain Text characters. </a:t>
            </a:r>
            <a:br>
              <a:rPr lang="en-US" sz="1700"/>
            </a:br>
            <a:r>
              <a:rPr lang="en-US" sz="1700"/>
              <a:t> </a:t>
            </a:r>
          </a:p>
          <a:p>
            <a:pPr>
              <a:buFont typeface="Arial" panose="020B0604020202020204" pitchFamily="34" charset="0"/>
              <a:buChar char="•"/>
            </a:pPr>
            <a:r>
              <a:rPr lang="en-US" sz="1700"/>
              <a:t>Convert the Plain Text to Ascii and then 8-bit binary format. </a:t>
            </a:r>
            <a:br>
              <a:rPr lang="en-US" sz="1700"/>
            </a:br>
            <a:r>
              <a:rPr lang="en-US" sz="1700"/>
              <a:t> </a:t>
            </a:r>
          </a:p>
          <a:p>
            <a:pPr>
              <a:buFont typeface="Arial" panose="020B0604020202020204" pitchFamily="34" charset="0"/>
              <a:buChar char="•"/>
            </a:pPr>
            <a:r>
              <a:rPr lang="en-US" sz="1700"/>
              <a:t>Divide the binary Plain Text string into two halves: left half (L1)and right half (R1) </a:t>
            </a:r>
            <a:br>
              <a:rPr lang="en-US" sz="1700"/>
            </a:br>
            <a:r>
              <a:rPr lang="en-US" sz="1700"/>
              <a:t> </a:t>
            </a:r>
          </a:p>
          <a:p>
            <a:pPr>
              <a:buFont typeface="Arial" panose="020B0604020202020204" pitchFamily="34" charset="0"/>
              <a:buChar char="•"/>
            </a:pPr>
            <a:r>
              <a:rPr lang="en-US" sz="1700"/>
              <a:t>Generate a random binary keys (K1 and K2) of length equal to the half the length of the Plain Text for the two rounds. </a:t>
            </a:r>
          </a:p>
          <a:p>
            <a:endParaRPr lang="en-US" sz="1700"/>
          </a:p>
        </p:txBody>
      </p:sp>
      <p:pic>
        <p:nvPicPr>
          <p:cNvPr id="5" name="Picture 4">
            <a:extLst>
              <a:ext uri="{FF2B5EF4-FFF2-40B4-BE49-F238E27FC236}">
                <a16:creationId xmlns:a16="http://schemas.microsoft.com/office/drawing/2014/main" id="{F6CAD4AB-67E1-B4AA-F853-20D3054E32A0}"/>
              </a:ext>
            </a:extLst>
          </p:cNvPr>
          <p:cNvPicPr>
            <a:picLocks noChangeAspect="1"/>
          </p:cNvPicPr>
          <p:nvPr/>
        </p:nvPicPr>
        <p:blipFill>
          <a:blip r:embed="rId2"/>
          <a:stretch>
            <a:fillRect/>
          </a:stretch>
        </p:blipFill>
        <p:spPr>
          <a:xfrm>
            <a:off x="5653438" y="368225"/>
            <a:ext cx="6155141" cy="5324196"/>
          </a:xfrm>
          <a:prstGeom prst="rect">
            <a:avLst/>
          </a:prstGeom>
        </p:spPr>
      </p:pic>
    </p:spTree>
    <p:extLst>
      <p:ext uri="{BB962C8B-B14F-4D97-AF65-F5344CB8AC3E}">
        <p14:creationId xmlns:p14="http://schemas.microsoft.com/office/powerpoint/2010/main" val="15670379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1D6B6-BFD5-DCB8-3B51-2A1261AF8298}"/>
              </a:ext>
            </a:extLst>
          </p:cNvPr>
          <p:cNvSpPr>
            <a:spLocks noGrp="1"/>
          </p:cNvSpPr>
          <p:nvPr>
            <p:ph type="title"/>
          </p:nvPr>
        </p:nvSpPr>
        <p:spPr/>
        <p:txBody>
          <a:bodyPr>
            <a:normAutofit/>
          </a:bodyPr>
          <a:lstStyle/>
          <a:p>
            <a:r>
              <a:rPr lang="en-US" sz="4000" b="1" dirty="0" err="1"/>
              <a:t>Fiestel</a:t>
            </a:r>
            <a:r>
              <a:rPr lang="en-US" sz="4000" b="1" dirty="0"/>
              <a:t> Cipher [Encryption and Decryption Process</a:t>
            </a:r>
          </a:p>
        </p:txBody>
      </p:sp>
      <p:sp>
        <p:nvSpPr>
          <p:cNvPr id="6" name="Content Placeholder 5">
            <a:extLst>
              <a:ext uri="{FF2B5EF4-FFF2-40B4-BE49-F238E27FC236}">
                <a16:creationId xmlns:a16="http://schemas.microsoft.com/office/drawing/2014/main" id="{56EA2299-A2A7-7AF5-6857-427B69E73F9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6505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0D62-75A2-3239-9DA2-FAEF7ECD1486}"/>
              </a:ext>
            </a:extLst>
          </p:cNvPr>
          <p:cNvSpPr>
            <a:spLocks noGrp="1"/>
          </p:cNvSpPr>
          <p:nvPr>
            <p:ph type="title"/>
          </p:nvPr>
        </p:nvSpPr>
        <p:spPr>
          <a:xfrm>
            <a:off x="838200" y="31094"/>
            <a:ext cx="5529044" cy="649943"/>
          </a:xfrm>
        </p:spPr>
        <p:txBody>
          <a:bodyPr>
            <a:normAutofit/>
          </a:bodyPr>
          <a:lstStyle/>
          <a:p>
            <a:r>
              <a:rPr lang="en-US" sz="3600" b="1" dirty="0" err="1"/>
              <a:t>Fiestel</a:t>
            </a:r>
            <a:r>
              <a:rPr lang="en-US" sz="3600" b="1" dirty="0"/>
              <a:t> Cipher Structure</a:t>
            </a:r>
          </a:p>
        </p:txBody>
      </p:sp>
      <p:sp>
        <p:nvSpPr>
          <p:cNvPr id="3" name="Content Placeholder 2">
            <a:extLst>
              <a:ext uri="{FF2B5EF4-FFF2-40B4-BE49-F238E27FC236}">
                <a16:creationId xmlns:a16="http://schemas.microsoft.com/office/drawing/2014/main" id="{6C31FAA8-34E8-05EB-1C6F-0F0108326651}"/>
              </a:ext>
            </a:extLst>
          </p:cNvPr>
          <p:cNvSpPr>
            <a:spLocks noGrp="1"/>
          </p:cNvSpPr>
          <p:nvPr>
            <p:ph idx="1"/>
          </p:nvPr>
        </p:nvSpPr>
        <p:spPr>
          <a:xfrm>
            <a:off x="779477" y="793779"/>
            <a:ext cx="10515600" cy="5934192"/>
          </a:xfrm>
        </p:spPr>
        <p:txBody>
          <a:bodyPr>
            <a:normAutofit/>
          </a:bodyPr>
          <a:lstStyle/>
          <a:p>
            <a:pPr marL="0" indent="0">
              <a:buNone/>
            </a:pPr>
            <a:r>
              <a:rPr lang="en-US" sz="2400" b="1" dirty="0"/>
              <a:t>Design Features</a:t>
            </a:r>
            <a:r>
              <a:rPr lang="en-US" sz="2400" dirty="0"/>
              <a:t>:</a:t>
            </a:r>
          </a:p>
          <a:p>
            <a:pPr marL="0" indent="0">
              <a:buNone/>
            </a:pPr>
            <a:r>
              <a:rPr lang="en-US" sz="2400" dirty="0" err="1"/>
              <a:t>Fiestel</a:t>
            </a:r>
            <a:r>
              <a:rPr lang="en-US" sz="2400" dirty="0"/>
              <a:t> Cipher Structure has following five components:</a:t>
            </a:r>
          </a:p>
          <a:p>
            <a:r>
              <a:rPr lang="en-US" sz="2400" b="1" dirty="0"/>
              <a:t>Number of rounds</a:t>
            </a:r>
            <a:r>
              <a:rPr lang="en-US" sz="2400" dirty="0"/>
              <a:t>: greater the number of rounds, n used for the encryption/decryption, the higher the complexity; hence the security of the block cipher.</a:t>
            </a:r>
          </a:p>
          <a:p>
            <a:r>
              <a:rPr lang="en-US" sz="2400" b="1" dirty="0"/>
              <a:t>Sub Key Generation Algorithm</a:t>
            </a:r>
            <a:r>
              <a:rPr lang="en-US" sz="2400" dirty="0"/>
              <a:t>: Complex algorithms make it difficult for intruders to crack the key.</a:t>
            </a:r>
          </a:p>
          <a:p>
            <a:r>
              <a:rPr lang="en-US" sz="2400" b="1" dirty="0"/>
              <a:t>Encryption Function</a:t>
            </a:r>
            <a:r>
              <a:rPr lang="en-US" sz="2400" dirty="0"/>
              <a:t>: Complex functions enhance the security of the block cipher, making them difficult to crack</a:t>
            </a:r>
          </a:p>
          <a:p>
            <a:r>
              <a:rPr lang="en-US" sz="2400" b="1" dirty="0"/>
              <a:t>Block Size</a:t>
            </a:r>
            <a:r>
              <a:rPr lang="en-US" sz="2400" dirty="0"/>
              <a:t>: The larger the size of the block, the more secure and complex the block cipher is. However, a larger block size reduces the execution speed of the encryption and decryption process.</a:t>
            </a:r>
          </a:p>
          <a:p>
            <a:r>
              <a:rPr lang="en-US" sz="2400" b="1" dirty="0"/>
              <a:t>Key Size</a:t>
            </a:r>
            <a:r>
              <a:rPr lang="en-US" sz="2400" dirty="0"/>
              <a:t>: A large size key increases the security of the block cipher. However, it also makes the encryption and decryption process slow. </a:t>
            </a:r>
          </a:p>
        </p:txBody>
      </p:sp>
    </p:spTree>
    <p:extLst>
      <p:ext uri="{BB962C8B-B14F-4D97-AF65-F5344CB8AC3E}">
        <p14:creationId xmlns:p14="http://schemas.microsoft.com/office/powerpoint/2010/main" val="6762200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B57E-504B-F851-E15F-364A4D8D41D6}"/>
              </a:ext>
            </a:extLst>
          </p:cNvPr>
          <p:cNvSpPr>
            <a:spLocks noGrp="1"/>
          </p:cNvSpPr>
          <p:nvPr>
            <p:ph type="title"/>
          </p:nvPr>
        </p:nvSpPr>
        <p:spPr>
          <a:xfrm>
            <a:off x="838200" y="365125"/>
            <a:ext cx="8926585" cy="717055"/>
          </a:xfrm>
        </p:spPr>
        <p:txBody>
          <a:bodyPr/>
          <a:lstStyle/>
          <a:p>
            <a:r>
              <a:rPr lang="en-US" b="1" dirty="0"/>
              <a:t>Data Encryption Standards (DES)</a:t>
            </a:r>
          </a:p>
        </p:txBody>
      </p:sp>
      <p:sp>
        <p:nvSpPr>
          <p:cNvPr id="3" name="Content Placeholder 2">
            <a:extLst>
              <a:ext uri="{FF2B5EF4-FFF2-40B4-BE49-F238E27FC236}">
                <a16:creationId xmlns:a16="http://schemas.microsoft.com/office/drawing/2014/main" id="{DB81EBD7-F35F-882A-EAC4-8A09A2D5D49F}"/>
              </a:ext>
            </a:extLst>
          </p:cNvPr>
          <p:cNvSpPr>
            <a:spLocks noGrp="1"/>
          </p:cNvSpPr>
          <p:nvPr>
            <p:ph idx="1"/>
          </p:nvPr>
        </p:nvSpPr>
        <p:spPr>
          <a:xfrm>
            <a:off x="838200" y="1108570"/>
            <a:ext cx="10515600" cy="4351338"/>
          </a:xfrm>
        </p:spPr>
        <p:txBody>
          <a:bodyPr>
            <a:normAutofit/>
          </a:bodyPr>
          <a:lstStyle/>
          <a:p>
            <a:pPr algn="just">
              <a:lnSpc>
                <a:spcPct val="100000"/>
              </a:lnSpc>
            </a:pPr>
            <a:r>
              <a:rPr lang="en-US" sz="2400" dirty="0"/>
              <a:t>The Data Encryption Standard (DES) is a symmetric-key encryption algorithm that was developed by IBM in the 1970s and was later adopted as a standard by the National Institute of Standards and Technology (NIST).</a:t>
            </a:r>
          </a:p>
          <a:p>
            <a:pPr marL="0" indent="0" algn="just">
              <a:lnSpc>
                <a:spcPct val="100000"/>
              </a:lnSpc>
              <a:buNone/>
            </a:pPr>
            <a:endParaRPr lang="en-US" sz="2400" dirty="0"/>
          </a:p>
          <a:p>
            <a:pPr algn="just">
              <a:lnSpc>
                <a:spcPct val="100000"/>
              </a:lnSpc>
            </a:pPr>
            <a:r>
              <a:rPr lang="en-US" sz="2400" dirty="0"/>
              <a:t>DES operates on 64-bit blocks of data and uses a 56-bit key for encryption and decryption. The algorithm uses a Feistel Cipher structure to iteratively transform the plaintext into ciphertext.</a:t>
            </a:r>
          </a:p>
          <a:p>
            <a:pPr marL="0" indent="0" algn="just">
              <a:lnSpc>
                <a:spcPct val="100000"/>
              </a:lnSpc>
              <a:buNone/>
            </a:pPr>
            <a:endParaRPr lang="en-US" sz="2400" dirty="0"/>
          </a:p>
        </p:txBody>
      </p:sp>
    </p:spTree>
    <p:extLst>
      <p:ext uri="{BB962C8B-B14F-4D97-AF65-F5344CB8AC3E}">
        <p14:creationId xmlns:p14="http://schemas.microsoft.com/office/powerpoint/2010/main" val="40006882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B57E-504B-F851-E15F-364A4D8D41D6}"/>
              </a:ext>
            </a:extLst>
          </p:cNvPr>
          <p:cNvSpPr>
            <a:spLocks noGrp="1"/>
          </p:cNvSpPr>
          <p:nvPr>
            <p:ph type="title"/>
          </p:nvPr>
        </p:nvSpPr>
        <p:spPr>
          <a:xfrm>
            <a:off x="838200" y="365125"/>
            <a:ext cx="8926585" cy="717055"/>
          </a:xfrm>
        </p:spPr>
        <p:txBody>
          <a:bodyPr/>
          <a:lstStyle/>
          <a:p>
            <a:r>
              <a:rPr lang="en-US" b="1" dirty="0"/>
              <a:t>Data Encryption Standards (DES)</a:t>
            </a:r>
          </a:p>
        </p:txBody>
      </p:sp>
      <p:sp>
        <p:nvSpPr>
          <p:cNvPr id="3" name="Content Placeholder 2">
            <a:extLst>
              <a:ext uri="{FF2B5EF4-FFF2-40B4-BE49-F238E27FC236}">
                <a16:creationId xmlns:a16="http://schemas.microsoft.com/office/drawing/2014/main" id="{DB81EBD7-F35F-882A-EAC4-8A09A2D5D49F}"/>
              </a:ext>
            </a:extLst>
          </p:cNvPr>
          <p:cNvSpPr>
            <a:spLocks noGrp="1"/>
          </p:cNvSpPr>
          <p:nvPr>
            <p:ph idx="1"/>
          </p:nvPr>
        </p:nvSpPr>
        <p:spPr>
          <a:xfrm>
            <a:off x="838200" y="1108570"/>
            <a:ext cx="10515600" cy="4351338"/>
          </a:xfrm>
        </p:spPr>
        <p:txBody>
          <a:bodyPr>
            <a:normAutofit/>
          </a:bodyPr>
          <a:lstStyle/>
          <a:p>
            <a:pPr algn="just">
              <a:lnSpc>
                <a:spcPct val="100000"/>
              </a:lnSpc>
            </a:pPr>
            <a:r>
              <a:rPr lang="en-US" sz="2400" dirty="0"/>
              <a:t>Advantages of DES include its relatively simple design, its widespread use and acceptance as a standard, and its efficiency in software implementations.</a:t>
            </a:r>
          </a:p>
          <a:p>
            <a:pPr algn="just">
              <a:lnSpc>
                <a:spcPct val="100000"/>
              </a:lnSpc>
            </a:pPr>
            <a:r>
              <a:rPr lang="en-US" sz="2400" dirty="0"/>
              <a:t>However, DES has several weaknesses that make it less secure for modern cryptographic applications. The most significant of these weaknesses is its key size of only 56 bits, which can be brute-forced with modern computing resources.</a:t>
            </a:r>
          </a:p>
          <a:p>
            <a:pPr algn="just">
              <a:lnSpc>
                <a:spcPct val="100000"/>
              </a:lnSpc>
            </a:pPr>
            <a:r>
              <a:rPr lang="en-US" sz="2400" dirty="0"/>
              <a:t>In response to these weaknesses, the Advanced Encryption Standard (AES) was developed and is now widely used as a replacement for DES. AES uses larger key sizes (128, 192, or 256 bits) and operates on 128-bit blocks of data, making it much more secure than DES.</a:t>
            </a:r>
          </a:p>
          <a:p>
            <a:pPr marL="0" indent="0" algn="just">
              <a:lnSpc>
                <a:spcPct val="100000"/>
              </a:lnSpc>
              <a:buNone/>
            </a:pPr>
            <a:endParaRPr lang="en-US" sz="2400" dirty="0"/>
          </a:p>
        </p:txBody>
      </p:sp>
    </p:spTree>
    <p:extLst>
      <p:ext uri="{BB962C8B-B14F-4D97-AF65-F5344CB8AC3E}">
        <p14:creationId xmlns:p14="http://schemas.microsoft.com/office/powerpoint/2010/main" val="3555562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C9CB1-2C61-CA80-6E49-4A35A70A2A4A}"/>
              </a:ext>
            </a:extLst>
          </p:cNvPr>
          <p:cNvSpPr>
            <a:spLocks noGrp="1"/>
          </p:cNvSpPr>
          <p:nvPr>
            <p:ph type="title"/>
          </p:nvPr>
        </p:nvSpPr>
        <p:spPr/>
        <p:txBody>
          <a:bodyPr/>
          <a:lstStyle/>
          <a:p>
            <a:r>
              <a:rPr lang="en-US" b="1" dirty="0"/>
              <a:t>Data Encryption Standard (DES)</a:t>
            </a:r>
          </a:p>
        </p:txBody>
      </p:sp>
      <p:sp>
        <p:nvSpPr>
          <p:cNvPr id="3" name="Content Placeholder 2">
            <a:extLst>
              <a:ext uri="{FF2B5EF4-FFF2-40B4-BE49-F238E27FC236}">
                <a16:creationId xmlns:a16="http://schemas.microsoft.com/office/drawing/2014/main" id="{F3028F96-5517-251D-6101-60AC90D45B9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E5513463-7A15-57B1-CB27-3A3D1E3FB849}"/>
              </a:ext>
            </a:extLst>
          </p:cNvPr>
          <p:cNvPicPr>
            <a:picLocks noChangeAspect="1"/>
          </p:cNvPicPr>
          <p:nvPr/>
        </p:nvPicPr>
        <p:blipFill>
          <a:blip r:embed="rId2"/>
          <a:stretch>
            <a:fillRect/>
          </a:stretch>
        </p:blipFill>
        <p:spPr>
          <a:xfrm>
            <a:off x="1956883" y="1724306"/>
            <a:ext cx="7346507" cy="4553975"/>
          </a:xfrm>
          <a:prstGeom prst="rect">
            <a:avLst/>
          </a:prstGeom>
        </p:spPr>
      </p:pic>
    </p:spTree>
    <p:extLst>
      <p:ext uri="{BB962C8B-B14F-4D97-AF65-F5344CB8AC3E}">
        <p14:creationId xmlns:p14="http://schemas.microsoft.com/office/powerpoint/2010/main" val="13227878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95E3-2843-7E22-BCCF-D237F2EF7662}"/>
              </a:ext>
            </a:extLst>
          </p:cNvPr>
          <p:cNvSpPr>
            <a:spLocks noGrp="1"/>
          </p:cNvSpPr>
          <p:nvPr>
            <p:ph type="title"/>
          </p:nvPr>
        </p:nvSpPr>
        <p:spPr/>
        <p:txBody>
          <a:bodyPr/>
          <a:lstStyle/>
          <a:p>
            <a:endParaRPr lang="en-US"/>
          </a:p>
        </p:txBody>
      </p:sp>
      <p:pic>
        <p:nvPicPr>
          <p:cNvPr id="5" name="Content Placeholder 4" descr="A picture containing text, screenshot, diagram, parallel&#10;&#10;Description automatically generated">
            <a:extLst>
              <a:ext uri="{FF2B5EF4-FFF2-40B4-BE49-F238E27FC236}">
                <a16:creationId xmlns:a16="http://schemas.microsoft.com/office/drawing/2014/main" id="{DEB14034-BC64-2ACB-EF73-C17EAAFF77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7607" y="1456509"/>
            <a:ext cx="5196785" cy="4351338"/>
          </a:xfrm>
        </p:spPr>
      </p:pic>
    </p:spTree>
    <p:extLst>
      <p:ext uri="{BB962C8B-B14F-4D97-AF65-F5344CB8AC3E}">
        <p14:creationId xmlns:p14="http://schemas.microsoft.com/office/powerpoint/2010/main" val="16729200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5FB64-4082-6953-640E-71B52DC9D510}"/>
              </a:ext>
            </a:extLst>
          </p:cNvPr>
          <p:cNvSpPr>
            <a:spLocks noGrp="1"/>
          </p:cNvSpPr>
          <p:nvPr>
            <p:ph type="title"/>
          </p:nvPr>
        </p:nvSpPr>
        <p:spPr>
          <a:xfrm>
            <a:off x="838200" y="365125"/>
            <a:ext cx="8902959" cy="577267"/>
          </a:xfrm>
        </p:spPr>
        <p:txBody>
          <a:bodyPr>
            <a:normAutofit fontScale="90000"/>
          </a:bodyPr>
          <a:lstStyle/>
          <a:p>
            <a:r>
              <a:rPr lang="en-US" b="1" dirty="0"/>
              <a:t>Advanced Encryption Standard (AES)</a:t>
            </a:r>
          </a:p>
        </p:txBody>
      </p:sp>
      <p:sp>
        <p:nvSpPr>
          <p:cNvPr id="3" name="Content Placeholder 2">
            <a:extLst>
              <a:ext uri="{FF2B5EF4-FFF2-40B4-BE49-F238E27FC236}">
                <a16:creationId xmlns:a16="http://schemas.microsoft.com/office/drawing/2014/main" id="{1C8ADF9D-56A5-627E-F08D-7A7D8F698BA2}"/>
              </a:ext>
            </a:extLst>
          </p:cNvPr>
          <p:cNvSpPr>
            <a:spLocks noGrp="1"/>
          </p:cNvSpPr>
          <p:nvPr>
            <p:ph idx="1"/>
          </p:nvPr>
        </p:nvSpPr>
        <p:spPr>
          <a:xfrm>
            <a:off x="838200" y="1069845"/>
            <a:ext cx="10515600" cy="4351338"/>
          </a:xfrm>
        </p:spPr>
        <p:txBody>
          <a:bodyPr>
            <a:normAutofit/>
          </a:bodyPr>
          <a:lstStyle/>
          <a:p>
            <a:pPr algn="just">
              <a:lnSpc>
                <a:spcPct val="100000"/>
              </a:lnSpc>
            </a:pPr>
            <a:r>
              <a:rPr lang="en-US" sz="2000" dirty="0"/>
              <a:t>The Advanced Encryption Standard (AES) is a widely used symmetric-key encryption algorithm that was developed as a replacement for the Data Encryption Standard (DES). AES is a block cipher that operates on 128-bit blocks of data and supports key sizes of 128, 192, or 256 bits.</a:t>
            </a:r>
          </a:p>
          <a:p>
            <a:pPr marL="0" indent="0" algn="just">
              <a:lnSpc>
                <a:spcPct val="100000"/>
              </a:lnSpc>
              <a:buNone/>
            </a:pPr>
            <a:r>
              <a:rPr lang="en-US" sz="2000" b="1" dirty="0"/>
              <a:t>AES is a block cipher.</a:t>
            </a:r>
          </a:p>
          <a:p>
            <a:pPr algn="just">
              <a:lnSpc>
                <a:spcPct val="100000"/>
              </a:lnSpc>
              <a:buFont typeface="Arial" panose="020B0604020202020204" pitchFamily="34" charset="0"/>
              <a:buChar char="•"/>
            </a:pPr>
            <a:r>
              <a:rPr lang="en-US" sz="2000" dirty="0"/>
              <a:t>The key size can be 128/192/256 bits.</a:t>
            </a:r>
          </a:p>
          <a:p>
            <a:pPr algn="just">
              <a:lnSpc>
                <a:spcPct val="100000"/>
              </a:lnSpc>
              <a:buFont typeface="Arial" panose="020B0604020202020204" pitchFamily="34" charset="0"/>
              <a:buChar char="•"/>
            </a:pPr>
            <a:r>
              <a:rPr lang="en-US" sz="2000" dirty="0"/>
              <a:t>Encrypts data in blocks of 128 bits each.</a:t>
            </a:r>
          </a:p>
          <a:p>
            <a:pPr algn="just">
              <a:lnSpc>
                <a:spcPct val="100000"/>
              </a:lnSpc>
              <a:buFont typeface="Arial" panose="020B0604020202020204" pitchFamily="34" charset="0"/>
              <a:buChar char="•"/>
            </a:pPr>
            <a:r>
              <a:rPr lang="en-US" sz="2000" dirty="0"/>
              <a:t>It takes 128 bits as input and outputs 128 bits of encrypted cipher text as output. AES relies on substitution-permutation network principle which means it is performed using a series of linked operations which involves replacing and shuffling of the input data.</a:t>
            </a:r>
          </a:p>
          <a:p>
            <a:pPr algn="just"/>
            <a:endParaRPr lang="en-US" sz="2000" dirty="0"/>
          </a:p>
          <a:p>
            <a:pPr marL="0" indent="0" algn="just">
              <a:buNone/>
            </a:pPr>
            <a:endParaRPr lang="en-US" sz="2000" dirty="0"/>
          </a:p>
        </p:txBody>
      </p:sp>
    </p:spTree>
    <p:extLst>
      <p:ext uri="{BB962C8B-B14F-4D97-AF65-F5344CB8AC3E}">
        <p14:creationId xmlns:p14="http://schemas.microsoft.com/office/powerpoint/2010/main" val="41586431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094D8-D39C-7E88-D998-1C8241FB99CD}"/>
              </a:ext>
            </a:extLst>
          </p:cNvPr>
          <p:cNvSpPr>
            <a:spLocks noGrp="1"/>
          </p:cNvSpPr>
          <p:nvPr>
            <p:ph type="title"/>
          </p:nvPr>
        </p:nvSpPr>
        <p:spPr>
          <a:xfrm>
            <a:off x="838200" y="365125"/>
            <a:ext cx="8641360" cy="566053"/>
          </a:xfrm>
        </p:spPr>
        <p:txBody>
          <a:bodyPr>
            <a:normAutofit fontScale="90000"/>
          </a:bodyPr>
          <a:lstStyle/>
          <a:p>
            <a:r>
              <a:rPr lang="en-US" b="1" dirty="0"/>
              <a:t>Advanced Encryption Standard (AES)</a:t>
            </a:r>
          </a:p>
        </p:txBody>
      </p:sp>
      <p:sp>
        <p:nvSpPr>
          <p:cNvPr id="3" name="Content Placeholder 2">
            <a:extLst>
              <a:ext uri="{FF2B5EF4-FFF2-40B4-BE49-F238E27FC236}">
                <a16:creationId xmlns:a16="http://schemas.microsoft.com/office/drawing/2014/main" id="{E712100D-26DA-5BA1-3B99-CBED887FF618}"/>
              </a:ext>
            </a:extLst>
          </p:cNvPr>
          <p:cNvSpPr>
            <a:spLocks noGrp="1"/>
          </p:cNvSpPr>
          <p:nvPr>
            <p:ph idx="1"/>
          </p:nvPr>
        </p:nvSpPr>
        <p:spPr>
          <a:xfrm>
            <a:off x="838200" y="1154506"/>
            <a:ext cx="10515600" cy="4351338"/>
          </a:xfrm>
        </p:spPr>
        <p:txBody>
          <a:bodyPr>
            <a:normAutofit fontScale="92500" lnSpcReduction="10000"/>
          </a:bodyPr>
          <a:lstStyle/>
          <a:p>
            <a:pPr marL="0" indent="0">
              <a:buNone/>
            </a:pPr>
            <a:r>
              <a:rPr lang="en-US" b="1" dirty="0"/>
              <a:t>Use of AES</a:t>
            </a:r>
          </a:p>
          <a:p>
            <a:pPr marL="0" indent="0">
              <a:buNone/>
            </a:pPr>
            <a:endParaRPr lang="en-US" dirty="0"/>
          </a:p>
          <a:p>
            <a:pPr marL="0" indent="0">
              <a:buNone/>
            </a:pPr>
            <a:r>
              <a:rPr lang="en-US" dirty="0"/>
              <a:t>AES performs operations on bytes of data rather than in bits. Since the block size is 128 bits, the cipher processes 128 bits (or 16 bytes) of the input data at a time.</a:t>
            </a:r>
          </a:p>
          <a:p>
            <a:pPr marL="0" indent="0">
              <a:buNone/>
            </a:pPr>
            <a:endParaRPr lang="en-US" dirty="0"/>
          </a:p>
          <a:p>
            <a:pPr marL="0" indent="0">
              <a:buNone/>
            </a:pPr>
            <a:r>
              <a:rPr lang="en-US" dirty="0"/>
              <a:t>The number of rounds depends on the key length as follows :</a:t>
            </a:r>
          </a:p>
          <a:p>
            <a:pPr>
              <a:buFont typeface="Arial" panose="020B0604020202020204" pitchFamily="34" charset="0"/>
              <a:buChar char="•"/>
            </a:pPr>
            <a:r>
              <a:rPr lang="en-US" dirty="0"/>
              <a:t>128 bit key – 10 rounds</a:t>
            </a:r>
          </a:p>
          <a:p>
            <a:pPr>
              <a:buFont typeface="Arial" panose="020B0604020202020204" pitchFamily="34" charset="0"/>
              <a:buChar char="•"/>
            </a:pPr>
            <a:r>
              <a:rPr lang="en-US" dirty="0"/>
              <a:t>192 bit key – 12 rounds</a:t>
            </a:r>
          </a:p>
          <a:p>
            <a:pPr>
              <a:buFont typeface="Arial" panose="020B0604020202020204" pitchFamily="34" charset="0"/>
              <a:buChar char="•"/>
            </a:pPr>
            <a:r>
              <a:rPr lang="en-US" dirty="0"/>
              <a:t>256 bit key – 14 rounds</a:t>
            </a:r>
          </a:p>
          <a:p>
            <a:pPr marL="0" indent="0">
              <a:buNone/>
            </a:pPr>
            <a:endParaRPr lang="en-US" dirty="0"/>
          </a:p>
        </p:txBody>
      </p:sp>
    </p:spTree>
    <p:extLst>
      <p:ext uri="{BB962C8B-B14F-4D97-AF65-F5344CB8AC3E}">
        <p14:creationId xmlns:p14="http://schemas.microsoft.com/office/powerpoint/2010/main" val="42642510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AC629-CD61-DE4F-7583-A75FF08895BF}"/>
              </a:ext>
            </a:extLst>
          </p:cNvPr>
          <p:cNvSpPr>
            <a:spLocks noGrp="1"/>
          </p:cNvSpPr>
          <p:nvPr>
            <p:ph type="title"/>
          </p:nvPr>
        </p:nvSpPr>
        <p:spPr>
          <a:xfrm>
            <a:off x="630936" y="639520"/>
            <a:ext cx="3429000" cy="1719072"/>
          </a:xfrm>
        </p:spPr>
        <p:txBody>
          <a:bodyPr anchor="b">
            <a:normAutofit/>
          </a:bodyPr>
          <a:lstStyle/>
          <a:p>
            <a:r>
              <a:rPr lang="en-US" sz="3800" b="1"/>
              <a:t>Advanced Encryption Standard (AES)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CFE66F3-91C6-281B-3B7F-52392E90743C}"/>
              </a:ext>
            </a:extLst>
          </p:cNvPr>
          <p:cNvSpPr>
            <a:spLocks noGrp="1"/>
          </p:cNvSpPr>
          <p:nvPr>
            <p:ph idx="1"/>
          </p:nvPr>
        </p:nvSpPr>
        <p:spPr>
          <a:xfrm>
            <a:off x="630936" y="2807208"/>
            <a:ext cx="3429000" cy="3410712"/>
          </a:xfrm>
        </p:spPr>
        <p:txBody>
          <a:bodyPr anchor="t">
            <a:normAutofit/>
          </a:bodyPr>
          <a:lstStyle/>
          <a:p>
            <a:pPr marL="0" indent="0">
              <a:buNone/>
            </a:pPr>
            <a:r>
              <a:rPr lang="en-US" sz="2200" b="1" dirty="0"/>
              <a:t>Creation of Round keys :</a:t>
            </a:r>
          </a:p>
          <a:p>
            <a:pPr marL="0" indent="0" algn="just">
              <a:buNone/>
            </a:pPr>
            <a:br>
              <a:rPr lang="en-US" sz="2200" dirty="0"/>
            </a:br>
            <a:r>
              <a:rPr lang="en-US" sz="2200" dirty="0"/>
              <a:t>A Key Schedule algorithm is used to calculate all the round keys from the key. So the initial key is used to create many different round keys which will be used in the corresponding round of the encryption.</a:t>
            </a:r>
          </a:p>
          <a:p>
            <a:pPr marL="0" indent="0">
              <a:buNone/>
            </a:pPr>
            <a:endParaRPr lang="en-US" sz="2200" dirty="0"/>
          </a:p>
        </p:txBody>
      </p:sp>
      <p:pic>
        <p:nvPicPr>
          <p:cNvPr id="5" name="Picture 4" descr="A picture containing text, diagram, screenshot, line&#10;&#10;Description automatically generated">
            <a:extLst>
              <a:ext uri="{FF2B5EF4-FFF2-40B4-BE49-F238E27FC236}">
                <a16:creationId xmlns:a16="http://schemas.microsoft.com/office/drawing/2014/main" id="{00961F8F-2893-7664-19E5-2426AC28D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004068"/>
            <a:ext cx="6903720" cy="4849863"/>
          </a:xfrm>
          <a:prstGeom prst="rect">
            <a:avLst/>
          </a:prstGeom>
        </p:spPr>
      </p:pic>
    </p:spTree>
    <p:extLst>
      <p:ext uri="{BB962C8B-B14F-4D97-AF65-F5344CB8AC3E}">
        <p14:creationId xmlns:p14="http://schemas.microsoft.com/office/powerpoint/2010/main" val="15040497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2FFF-7F12-F9B2-CF90-66B033CB7D36}"/>
              </a:ext>
            </a:extLst>
          </p:cNvPr>
          <p:cNvSpPr>
            <a:spLocks noGrp="1"/>
          </p:cNvSpPr>
          <p:nvPr>
            <p:ph type="title"/>
          </p:nvPr>
        </p:nvSpPr>
        <p:spPr>
          <a:xfrm>
            <a:off x="838200" y="365125"/>
            <a:ext cx="9253756" cy="750611"/>
          </a:xfrm>
        </p:spPr>
        <p:txBody>
          <a:bodyPr/>
          <a:lstStyle/>
          <a:p>
            <a:r>
              <a:rPr lang="en-US" b="1"/>
              <a:t>Advanced Encryption Standard</a:t>
            </a:r>
            <a:endParaRPr lang="en-US" b="1" dirty="0"/>
          </a:p>
        </p:txBody>
      </p:sp>
      <p:sp>
        <p:nvSpPr>
          <p:cNvPr id="3" name="Content Placeholder 2">
            <a:extLst>
              <a:ext uri="{FF2B5EF4-FFF2-40B4-BE49-F238E27FC236}">
                <a16:creationId xmlns:a16="http://schemas.microsoft.com/office/drawing/2014/main" id="{CD304E0F-BFE8-AD96-651A-3F6A96945EB2}"/>
              </a:ext>
            </a:extLst>
          </p:cNvPr>
          <p:cNvSpPr>
            <a:spLocks noGrp="1"/>
          </p:cNvSpPr>
          <p:nvPr>
            <p:ph idx="1"/>
          </p:nvPr>
        </p:nvSpPr>
        <p:spPr>
          <a:xfrm>
            <a:off x="838200" y="1253331"/>
            <a:ext cx="10515600" cy="4351338"/>
          </a:xfrm>
        </p:spPr>
        <p:txBody>
          <a:bodyPr/>
          <a:lstStyle/>
          <a:p>
            <a:pPr marL="0" indent="0">
              <a:buNone/>
            </a:pPr>
            <a:r>
              <a:rPr lang="en-US" b="1" dirty="0"/>
              <a:t>Encryption :</a:t>
            </a:r>
          </a:p>
          <a:p>
            <a:pPr marL="0" indent="0">
              <a:buNone/>
            </a:pPr>
            <a:br>
              <a:rPr lang="en-US" dirty="0"/>
            </a:br>
            <a:r>
              <a:rPr lang="en-US" dirty="0"/>
              <a:t>AES considers each block as a 16 byte (4 byte x 4 byte = 128 ) grid in a column major arrangement.</a:t>
            </a:r>
          </a:p>
          <a:p>
            <a:pPr marL="0" indent="0">
              <a:buNone/>
            </a:pPr>
            <a:endParaRPr lang="en-US" dirty="0"/>
          </a:p>
        </p:txBody>
      </p:sp>
      <p:pic>
        <p:nvPicPr>
          <p:cNvPr id="5" name="Picture 4">
            <a:extLst>
              <a:ext uri="{FF2B5EF4-FFF2-40B4-BE49-F238E27FC236}">
                <a16:creationId xmlns:a16="http://schemas.microsoft.com/office/drawing/2014/main" id="{126E72FB-7E46-A2D9-E688-AEA9C91F4774}"/>
              </a:ext>
            </a:extLst>
          </p:cNvPr>
          <p:cNvPicPr>
            <a:picLocks noChangeAspect="1"/>
          </p:cNvPicPr>
          <p:nvPr/>
        </p:nvPicPr>
        <p:blipFill>
          <a:blip r:embed="rId2"/>
          <a:stretch>
            <a:fillRect/>
          </a:stretch>
        </p:blipFill>
        <p:spPr>
          <a:xfrm>
            <a:off x="3586206" y="3226398"/>
            <a:ext cx="2838450" cy="1076325"/>
          </a:xfrm>
          <a:prstGeom prst="rect">
            <a:avLst/>
          </a:prstGeom>
        </p:spPr>
      </p:pic>
      <p:sp>
        <p:nvSpPr>
          <p:cNvPr id="7" name="TextBox 6">
            <a:extLst>
              <a:ext uri="{FF2B5EF4-FFF2-40B4-BE49-F238E27FC236}">
                <a16:creationId xmlns:a16="http://schemas.microsoft.com/office/drawing/2014/main" id="{DC7F4409-A21A-46FF-8D42-DEA63B12C728}"/>
              </a:ext>
            </a:extLst>
          </p:cNvPr>
          <p:cNvSpPr txBox="1"/>
          <p:nvPr/>
        </p:nvSpPr>
        <p:spPr>
          <a:xfrm>
            <a:off x="933275" y="4521464"/>
            <a:ext cx="6776207" cy="1754326"/>
          </a:xfrm>
          <a:prstGeom prst="rect">
            <a:avLst/>
          </a:prstGeom>
          <a:noFill/>
        </p:spPr>
        <p:txBody>
          <a:bodyPr wrap="square">
            <a:spAutoFit/>
          </a:bodyPr>
          <a:lstStyle/>
          <a:p>
            <a:r>
              <a:rPr lang="en-US" dirty="0"/>
              <a:t>Each round comprises of 4 steps :</a:t>
            </a:r>
          </a:p>
          <a:p>
            <a:pPr>
              <a:buFont typeface="Arial" panose="020B0604020202020204" pitchFamily="34" charset="0"/>
              <a:buChar char="•"/>
            </a:pPr>
            <a:r>
              <a:rPr lang="en-US" dirty="0" err="1"/>
              <a:t>SubBytes</a:t>
            </a:r>
            <a:endParaRPr lang="en-US" dirty="0"/>
          </a:p>
          <a:p>
            <a:pPr>
              <a:buFont typeface="Arial" panose="020B0604020202020204" pitchFamily="34" charset="0"/>
              <a:buChar char="•"/>
            </a:pPr>
            <a:r>
              <a:rPr lang="en-US" dirty="0" err="1"/>
              <a:t>ShiftRows</a:t>
            </a:r>
            <a:endParaRPr lang="en-US" dirty="0"/>
          </a:p>
          <a:p>
            <a:pPr>
              <a:buFont typeface="Arial" panose="020B0604020202020204" pitchFamily="34" charset="0"/>
              <a:buChar char="•"/>
            </a:pPr>
            <a:r>
              <a:rPr lang="en-US" dirty="0" err="1"/>
              <a:t>MixColumns</a:t>
            </a:r>
            <a:endParaRPr lang="en-US" dirty="0"/>
          </a:p>
          <a:p>
            <a:pPr>
              <a:buFont typeface="Arial" panose="020B0604020202020204" pitchFamily="34" charset="0"/>
              <a:buChar char="•"/>
            </a:pPr>
            <a:r>
              <a:rPr lang="en-US" dirty="0"/>
              <a:t>Add Round Key</a:t>
            </a:r>
          </a:p>
          <a:p>
            <a:r>
              <a:rPr lang="en-US" dirty="0"/>
              <a:t>The last round doesn’t have the </a:t>
            </a:r>
            <a:r>
              <a:rPr lang="en-US" dirty="0" err="1"/>
              <a:t>MixColumns</a:t>
            </a:r>
            <a:r>
              <a:rPr lang="en-US" dirty="0"/>
              <a:t> round.</a:t>
            </a:r>
          </a:p>
        </p:txBody>
      </p:sp>
    </p:spTree>
    <p:extLst>
      <p:ext uri="{BB962C8B-B14F-4D97-AF65-F5344CB8AC3E}">
        <p14:creationId xmlns:p14="http://schemas.microsoft.com/office/powerpoint/2010/main" val="2498534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A590D-3981-9484-50C3-ED6B1D6FE423}"/>
              </a:ext>
            </a:extLst>
          </p:cNvPr>
          <p:cNvSpPr>
            <a:spLocks noGrp="1"/>
          </p:cNvSpPr>
          <p:nvPr>
            <p:ph type="title"/>
          </p:nvPr>
        </p:nvSpPr>
        <p:spPr>
          <a:xfrm>
            <a:off x="838200" y="365126"/>
            <a:ext cx="9589316" cy="675110"/>
          </a:xfrm>
        </p:spPr>
        <p:txBody>
          <a:bodyPr>
            <a:normAutofit fontScale="90000"/>
          </a:bodyPr>
          <a:lstStyle/>
          <a:p>
            <a:r>
              <a:rPr lang="en-US" b="1" dirty="0"/>
              <a:t>Advanced Encryption Standard</a:t>
            </a:r>
          </a:p>
        </p:txBody>
      </p:sp>
      <p:sp>
        <p:nvSpPr>
          <p:cNvPr id="3" name="Content Placeholder 2">
            <a:extLst>
              <a:ext uri="{FF2B5EF4-FFF2-40B4-BE49-F238E27FC236}">
                <a16:creationId xmlns:a16="http://schemas.microsoft.com/office/drawing/2014/main" id="{19AA2E57-3B79-8DD6-820D-97CC095D2293}"/>
              </a:ext>
            </a:extLst>
          </p:cNvPr>
          <p:cNvSpPr>
            <a:spLocks noGrp="1"/>
          </p:cNvSpPr>
          <p:nvPr>
            <p:ph idx="1"/>
          </p:nvPr>
        </p:nvSpPr>
        <p:spPr>
          <a:xfrm>
            <a:off x="838200" y="1180896"/>
            <a:ext cx="10515600" cy="4351338"/>
          </a:xfrm>
        </p:spPr>
        <p:txBody>
          <a:bodyPr/>
          <a:lstStyle/>
          <a:p>
            <a:pPr marL="0" indent="0">
              <a:buNone/>
            </a:pPr>
            <a:r>
              <a:rPr lang="en-US" sz="2000" b="1" dirty="0" err="1"/>
              <a:t>SubBytes</a:t>
            </a:r>
            <a:r>
              <a:rPr lang="en-US" sz="2000" b="1" dirty="0"/>
              <a:t>  :</a:t>
            </a:r>
            <a:br>
              <a:rPr lang="en-US" sz="2000" dirty="0"/>
            </a:br>
            <a:r>
              <a:rPr lang="en-US" sz="2000" dirty="0"/>
              <a:t>This step implements In this step each byte is substituted by another byte. the substitution.</a:t>
            </a:r>
          </a:p>
          <a:p>
            <a:pPr marL="0" indent="0">
              <a:buNone/>
            </a:pPr>
            <a:r>
              <a:rPr lang="en-US" sz="2000" b="1" dirty="0" err="1"/>
              <a:t>ShiftRows</a:t>
            </a:r>
            <a:r>
              <a:rPr lang="en-US" sz="2000" b="1" dirty="0"/>
              <a:t> : </a:t>
            </a:r>
            <a:r>
              <a:rPr lang="en-US" sz="2000" dirty="0"/>
              <a:t>Each row is shifted a particular number of times.</a:t>
            </a:r>
          </a:p>
          <a:p>
            <a:pPr>
              <a:buFont typeface="Arial" panose="020B0604020202020204" pitchFamily="34" charset="0"/>
              <a:buChar char="•"/>
            </a:pPr>
            <a:r>
              <a:rPr lang="en-US" sz="2000" dirty="0"/>
              <a:t>The first row is not shifted</a:t>
            </a:r>
          </a:p>
          <a:p>
            <a:pPr>
              <a:buFont typeface="Arial" panose="020B0604020202020204" pitchFamily="34" charset="0"/>
              <a:buChar char="•"/>
            </a:pPr>
            <a:r>
              <a:rPr lang="en-US" sz="2000" dirty="0"/>
              <a:t>The second row is shifted once to the left.</a:t>
            </a:r>
          </a:p>
          <a:p>
            <a:pPr>
              <a:buFont typeface="Arial" panose="020B0604020202020204" pitchFamily="34" charset="0"/>
              <a:buChar char="•"/>
            </a:pPr>
            <a:r>
              <a:rPr lang="en-US" sz="2000" dirty="0"/>
              <a:t>The third row is shifted twice to the left.</a:t>
            </a:r>
          </a:p>
          <a:p>
            <a:pPr>
              <a:buFont typeface="Arial" panose="020B0604020202020204" pitchFamily="34" charset="0"/>
              <a:buChar char="•"/>
            </a:pPr>
            <a:r>
              <a:rPr lang="en-US" sz="2000" dirty="0"/>
              <a:t>The fourth row is shifted thrice to the left.</a:t>
            </a:r>
          </a:p>
          <a:p>
            <a:pPr marL="0" indent="0">
              <a:buNone/>
            </a:pPr>
            <a:endParaRPr lang="en-US" dirty="0"/>
          </a:p>
        </p:txBody>
      </p:sp>
      <p:pic>
        <p:nvPicPr>
          <p:cNvPr id="5" name="Picture 4">
            <a:extLst>
              <a:ext uri="{FF2B5EF4-FFF2-40B4-BE49-F238E27FC236}">
                <a16:creationId xmlns:a16="http://schemas.microsoft.com/office/drawing/2014/main" id="{63365A2F-21C6-EE2D-FDF3-3D04F778F392}"/>
              </a:ext>
            </a:extLst>
          </p:cNvPr>
          <p:cNvPicPr>
            <a:picLocks noChangeAspect="1"/>
          </p:cNvPicPr>
          <p:nvPr/>
        </p:nvPicPr>
        <p:blipFill>
          <a:blip r:embed="rId2"/>
          <a:stretch>
            <a:fillRect/>
          </a:stretch>
        </p:blipFill>
        <p:spPr>
          <a:xfrm>
            <a:off x="2041658" y="4218727"/>
            <a:ext cx="6276975" cy="1190625"/>
          </a:xfrm>
          <a:prstGeom prst="rect">
            <a:avLst/>
          </a:prstGeom>
        </p:spPr>
      </p:pic>
    </p:spTree>
    <p:extLst>
      <p:ext uri="{BB962C8B-B14F-4D97-AF65-F5344CB8AC3E}">
        <p14:creationId xmlns:p14="http://schemas.microsoft.com/office/powerpoint/2010/main" val="2364359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09FBDE-CD12-ACDB-CF99-F22FA3BD34B1}"/>
              </a:ext>
            </a:extLst>
          </p:cNvPr>
          <p:cNvSpPr>
            <a:spLocks noGrp="1"/>
          </p:cNvSpPr>
          <p:nvPr>
            <p:ph type="title"/>
          </p:nvPr>
        </p:nvSpPr>
        <p:spPr>
          <a:xfrm>
            <a:off x="630936" y="640080"/>
            <a:ext cx="4818888" cy="1481328"/>
          </a:xfrm>
        </p:spPr>
        <p:txBody>
          <a:bodyPr anchor="b">
            <a:normAutofit/>
          </a:bodyPr>
          <a:lstStyle/>
          <a:p>
            <a:r>
              <a:rPr lang="en-US" sz="4200" b="1"/>
              <a:t>Advanced Encryption Standard</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128D9A-BFB5-2843-5C0B-CB2F1E96A705}"/>
              </a:ext>
            </a:extLst>
          </p:cNvPr>
          <p:cNvSpPr>
            <a:spLocks noGrp="1"/>
          </p:cNvSpPr>
          <p:nvPr>
            <p:ph idx="1"/>
          </p:nvPr>
        </p:nvSpPr>
        <p:spPr>
          <a:xfrm>
            <a:off x="630936" y="2660904"/>
            <a:ext cx="4818888" cy="3547872"/>
          </a:xfrm>
        </p:spPr>
        <p:txBody>
          <a:bodyPr anchor="t">
            <a:normAutofit/>
          </a:bodyPr>
          <a:lstStyle/>
          <a:p>
            <a:pPr marL="0" indent="0">
              <a:buNone/>
            </a:pPr>
            <a:r>
              <a:rPr lang="en-US" sz="1900" b="1"/>
              <a:t>Mix Columns:</a:t>
            </a:r>
          </a:p>
          <a:p>
            <a:pPr marL="0" indent="0">
              <a:buNone/>
            </a:pPr>
            <a:r>
              <a:rPr lang="en-US" sz="1900"/>
              <a:t>This step is basically a matrix multiplication. Each column is multiplied with a specific matrix and thus the position of each byte in the column is changed as a result.</a:t>
            </a:r>
          </a:p>
          <a:p>
            <a:pPr marL="0" indent="0">
              <a:buNone/>
            </a:pPr>
            <a:endParaRPr lang="en-US" sz="1900" b="1"/>
          </a:p>
          <a:p>
            <a:pPr marL="0" indent="0">
              <a:buNone/>
            </a:pPr>
            <a:r>
              <a:rPr lang="en-US" sz="1900" b="1"/>
              <a:t>Add Round Keys: </a:t>
            </a:r>
          </a:p>
          <a:p>
            <a:pPr marL="0" indent="0">
              <a:buNone/>
            </a:pPr>
            <a:r>
              <a:rPr lang="en-US" sz="1900"/>
              <a:t>Now the resultant output of the previous stage is XOR-ed with the corresponding round key. Here, the 16 bytes is not considered as a grid but just as 128 bits of data.</a:t>
            </a:r>
          </a:p>
          <a:p>
            <a:pPr marL="0" indent="0">
              <a:buNone/>
            </a:pPr>
            <a:endParaRPr lang="en-US" sz="1900" b="1"/>
          </a:p>
          <a:p>
            <a:pPr marL="0" indent="0">
              <a:buNone/>
            </a:pPr>
            <a:endParaRPr lang="en-US" sz="1900" b="1"/>
          </a:p>
        </p:txBody>
      </p:sp>
      <p:pic>
        <p:nvPicPr>
          <p:cNvPr id="5" name="Picture 4">
            <a:extLst>
              <a:ext uri="{FF2B5EF4-FFF2-40B4-BE49-F238E27FC236}">
                <a16:creationId xmlns:a16="http://schemas.microsoft.com/office/drawing/2014/main" id="{0E379FA2-56D0-C911-2171-A99A9847229D}"/>
              </a:ext>
            </a:extLst>
          </p:cNvPr>
          <p:cNvPicPr>
            <a:picLocks noChangeAspect="1"/>
          </p:cNvPicPr>
          <p:nvPr/>
        </p:nvPicPr>
        <p:blipFill>
          <a:blip r:embed="rId2"/>
          <a:stretch>
            <a:fillRect/>
          </a:stretch>
        </p:blipFill>
        <p:spPr>
          <a:xfrm>
            <a:off x="6102096" y="1670023"/>
            <a:ext cx="5458968" cy="4189757"/>
          </a:xfrm>
          <a:prstGeom prst="rect">
            <a:avLst/>
          </a:prstGeom>
        </p:spPr>
      </p:pic>
    </p:spTree>
    <p:extLst>
      <p:ext uri="{BB962C8B-B14F-4D97-AF65-F5344CB8AC3E}">
        <p14:creationId xmlns:p14="http://schemas.microsoft.com/office/powerpoint/2010/main" val="20088760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1568-B510-241E-94C2-6FF2EDC6609B}"/>
              </a:ext>
            </a:extLst>
          </p:cNvPr>
          <p:cNvSpPr>
            <a:spLocks noGrp="1"/>
          </p:cNvSpPr>
          <p:nvPr>
            <p:ph type="title"/>
          </p:nvPr>
        </p:nvSpPr>
        <p:spPr/>
        <p:txBody>
          <a:bodyPr/>
          <a:lstStyle/>
          <a:p>
            <a:r>
              <a:rPr lang="en-US" b="1" dirty="0"/>
              <a:t>Advanced Encryption Standard (AES)</a:t>
            </a:r>
          </a:p>
        </p:txBody>
      </p:sp>
      <p:sp>
        <p:nvSpPr>
          <p:cNvPr id="3" name="Content Placeholder 2">
            <a:extLst>
              <a:ext uri="{FF2B5EF4-FFF2-40B4-BE49-F238E27FC236}">
                <a16:creationId xmlns:a16="http://schemas.microsoft.com/office/drawing/2014/main" id="{F2545ED8-89BD-4127-BE6B-9E2E0941E48A}"/>
              </a:ext>
            </a:extLst>
          </p:cNvPr>
          <p:cNvSpPr>
            <a:spLocks noGrp="1"/>
          </p:cNvSpPr>
          <p:nvPr>
            <p:ph idx="1"/>
          </p:nvPr>
        </p:nvSpPr>
        <p:spPr/>
        <p:txBody>
          <a:bodyPr/>
          <a:lstStyle/>
          <a:p>
            <a:pPr marL="0" indent="0">
              <a:buNone/>
            </a:pPr>
            <a:r>
              <a:rPr lang="en-US" dirty="0"/>
              <a:t>The stages of each round in decryption is as follows :</a:t>
            </a:r>
          </a:p>
          <a:p>
            <a:pPr>
              <a:buFont typeface="Arial" panose="020B0604020202020204" pitchFamily="34" charset="0"/>
              <a:buChar char="•"/>
            </a:pPr>
            <a:r>
              <a:rPr lang="en-US" dirty="0"/>
              <a:t>Add round key</a:t>
            </a:r>
          </a:p>
          <a:p>
            <a:pPr>
              <a:buFont typeface="Arial" panose="020B0604020202020204" pitchFamily="34" charset="0"/>
              <a:buChar char="•"/>
            </a:pPr>
            <a:r>
              <a:rPr lang="en-US" dirty="0"/>
              <a:t>Inverse </a:t>
            </a:r>
            <a:r>
              <a:rPr lang="en-US" dirty="0" err="1"/>
              <a:t>MixColumns</a:t>
            </a:r>
            <a:endParaRPr lang="en-US" dirty="0"/>
          </a:p>
          <a:p>
            <a:pPr>
              <a:buFont typeface="Arial" panose="020B0604020202020204" pitchFamily="34" charset="0"/>
              <a:buChar char="•"/>
            </a:pPr>
            <a:r>
              <a:rPr lang="en-US" dirty="0" err="1"/>
              <a:t>ShiftRows</a:t>
            </a:r>
            <a:endParaRPr lang="en-US" dirty="0"/>
          </a:p>
          <a:p>
            <a:pPr>
              <a:buFont typeface="Arial" panose="020B0604020202020204" pitchFamily="34" charset="0"/>
              <a:buChar char="•"/>
            </a:pPr>
            <a:r>
              <a:rPr lang="en-US" dirty="0"/>
              <a:t>Inverse </a:t>
            </a:r>
            <a:r>
              <a:rPr lang="en-US" dirty="0" err="1"/>
              <a:t>SubByte</a:t>
            </a:r>
            <a:endParaRPr lang="en-US" dirty="0"/>
          </a:p>
          <a:p>
            <a:pPr marL="0" indent="0">
              <a:buNone/>
            </a:pPr>
            <a:endParaRPr lang="en-US" dirty="0"/>
          </a:p>
        </p:txBody>
      </p:sp>
    </p:spTree>
    <p:extLst>
      <p:ext uri="{BB962C8B-B14F-4D97-AF65-F5344CB8AC3E}">
        <p14:creationId xmlns:p14="http://schemas.microsoft.com/office/powerpoint/2010/main" val="6824137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19330-5FE4-EBA6-6997-D96BFE130EBE}"/>
              </a:ext>
            </a:extLst>
          </p:cNvPr>
          <p:cNvSpPr>
            <a:spLocks noGrp="1"/>
          </p:cNvSpPr>
          <p:nvPr>
            <p:ph type="title"/>
          </p:nvPr>
        </p:nvSpPr>
        <p:spPr>
          <a:xfrm>
            <a:off x="838200" y="365126"/>
            <a:ext cx="9761376" cy="558508"/>
          </a:xfrm>
        </p:spPr>
        <p:txBody>
          <a:bodyPr>
            <a:normAutofit fontScale="90000"/>
          </a:bodyPr>
          <a:lstStyle/>
          <a:p>
            <a:r>
              <a:rPr lang="en-US" b="1" dirty="0"/>
              <a:t>Basic Concepts of Fields</a:t>
            </a:r>
          </a:p>
        </p:txBody>
      </p:sp>
      <p:sp>
        <p:nvSpPr>
          <p:cNvPr id="3" name="Content Placeholder 2">
            <a:extLst>
              <a:ext uri="{FF2B5EF4-FFF2-40B4-BE49-F238E27FC236}">
                <a16:creationId xmlns:a16="http://schemas.microsoft.com/office/drawing/2014/main" id="{F14CED2D-4952-4028-B011-4AB1423922D5}"/>
              </a:ext>
            </a:extLst>
          </p:cNvPr>
          <p:cNvSpPr>
            <a:spLocks noGrp="1"/>
          </p:cNvSpPr>
          <p:nvPr>
            <p:ph idx="1"/>
          </p:nvPr>
        </p:nvSpPr>
        <p:spPr>
          <a:xfrm>
            <a:off x="922175" y="1024520"/>
            <a:ext cx="10515600" cy="5468354"/>
          </a:xfrm>
        </p:spPr>
        <p:txBody>
          <a:bodyPr>
            <a:normAutofit fontScale="92500" lnSpcReduction="10000"/>
          </a:bodyPr>
          <a:lstStyle/>
          <a:p>
            <a:pPr marL="0" indent="0">
              <a:lnSpc>
                <a:spcPct val="150000"/>
              </a:lnSpc>
              <a:buNone/>
            </a:pPr>
            <a:r>
              <a:rPr lang="en-US" sz="2000" b="1" dirty="0"/>
              <a:t>Groups, Rings and Fields </a:t>
            </a:r>
          </a:p>
          <a:p>
            <a:pPr algn="just">
              <a:lnSpc>
                <a:spcPct val="150000"/>
              </a:lnSpc>
            </a:pPr>
            <a:r>
              <a:rPr lang="en-US" sz="2000" dirty="0">
                <a:solidFill>
                  <a:srgbClr val="231F20"/>
                </a:solidFill>
                <a:effectLst/>
              </a:rPr>
              <a:t>Groups,</a:t>
            </a:r>
            <a:r>
              <a:rPr lang="en-US" sz="2000" spc="-70" dirty="0">
                <a:solidFill>
                  <a:srgbClr val="231F20"/>
                </a:solidFill>
                <a:effectLst/>
              </a:rPr>
              <a:t> </a:t>
            </a:r>
            <a:r>
              <a:rPr lang="en-US" sz="2000" dirty="0">
                <a:solidFill>
                  <a:srgbClr val="231F20"/>
                </a:solidFill>
                <a:effectLst/>
              </a:rPr>
              <a:t>rings,</a:t>
            </a:r>
            <a:r>
              <a:rPr lang="en-US" sz="2000" spc="-70" dirty="0">
                <a:solidFill>
                  <a:srgbClr val="231F20"/>
                </a:solidFill>
                <a:effectLst/>
              </a:rPr>
              <a:t> </a:t>
            </a:r>
            <a:r>
              <a:rPr lang="en-US" sz="2000" dirty="0">
                <a:solidFill>
                  <a:srgbClr val="231F20"/>
                </a:solidFill>
                <a:effectLst/>
              </a:rPr>
              <a:t>and</a:t>
            </a:r>
            <a:r>
              <a:rPr lang="en-US" sz="2000" spc="-20" dirty="0">
                <a:solidFill>
                  <a:srgbClr val="231F20"/>
                </a:solidFill>
                <a:effectLst/>
              </a:rPr>
              <a:t> </a:t>
            </a:r>
            <a:r>
              <a:rPr lang="en-US" sz="2000" dirty="0">
                <a:solidFill>
                  <a:srgbClr val="231F20"/>
                </a:solidFill>
                <a:effectLst/>
              </a:rPr>
              <a:t>fields</a:t>
            </a:r>
            <a:r>
              <a:rPr lang="en-US" sz="2000" spc="-20" dirty="0">
                <a:solidFill>
                  <a:srgbClr val="231F20"/>
                </a:solidFill>
                <a:effectLst/>
              </a:rPr>
              <a:t> </a:t>
            </a:r>
            <a:r>
              <a:rPr lang="en-US" sz="2000" dirty="0">
                <a:solidFill>
                  <a:srgbClr val="231F20"/>
                </a:solidFill>
                <a:effectLst/>
              </a:rPr>
              <a:t>are</a:t>
            </a:r>
            <a:r>
              <a:rPr lang="en-US" sz="2000" spc="-20" dirty="0">
                <a:solidFill>
                  <a:srgbClr val="231F20"/>
                </a:solidFill>
                <a:effectLst/>
              </a:rPr>
              <a:t> </a:t>
            </a:r>
            <a:r>
              <a:rPr lang="en-US" sz="2000" dirty="0">
                <a:solidFill>
                  <a:srgbClr val="231F20"/>
                </a:solidFill>
                <a:effectLst/>
              </a:rPr>
              <a:t>the</a:t>
            </a:r>
            <a:r>
              <a:rPr lang="en-US" sz="2000" spc="-20" dirty="0">
                <a:solidFill>
                  <a:srgbClr val="231F20"/>
                </a:solidFill>
                <a:effectLst/>
              </a:rPr>
              <a:t> </a:t>
            </a:r>
            <a:r>
              <a:rPr lang="en-US" sz="2000" dirty="0">
                <a:solidFill>
                  <a:srgbClr val="231F20"/>
                </a:solidFill>
                <a:effectLst/>
              </a:rPr>
              <a:t>fundamental</a:t>
            </a:r>
            <a:r>
              <a:rPr lang="en-US" sz="2000" spc="-20" dirty="0">
                <a:solidFill>
                  <a:srgbClr val="231F20"/>
                </a:solidFill>
                <a:effectLst/>
              </a:rPr>
              <a:t> </a:t>
            </a:r>
            <a:r>
              <a:rPr lang="en-US" sz="2000" dirty="0">
                <a:solidFill>
                  <a:srgbClr val="231F20"/>
                </a:solidFill>
                <a:effectLst/>
              </a:rPr>
              <a:t>elements</a:t>
            </a:r>
            <a:r>
              <a:rPr lang="en-US" sz="2000" spc="-20" dirty="0">
                <a:solidFill>
                  <a:srgbClr val="231F20"/>
                </a:solidFill>
                <a:effectLst/>
              </a:rPr>
              <a:t> </a:t>
            </a:r>
            <a:r>
              <a:rPr lang="en-US" sz="2000" dirty="0">
                <a:solidFill>
                  <a:srgbClr val="231F20"/>
                </a:solidFill>
                <a:effectLst/>
              </a:rPr>
              <a:t>of</a:t>
            </a:r>
            <a:r>
              <a:rPr lang="en-US" sz="2000" spc="-20" dirty="0">
                <a:solidFill>
                  <a:srgbClr val="231F20"/>
                </a:solidFill>
                <a:effectLst/>
              </a:rPr>
              <a:t> </a:t>
            </a:r>
            <a:r>
              <a:rPr lang="en-US" sz="2000" dirty="0">
                <a:solidFill>
                  <a:srgbClr val="231F20"/>
                </a:solidFill>
                <a:effectLst/>
              </a:rPr>
              <a:t>a</a:t>
            </a:r>
            <a:r>
              <a:rPr lang="en-US" sz="2000" spc="-20" dirty="0">
                <a:solidFill>
                  <a:srgbClr val="231F20"/>
                </a:solidFill>
                <a:effectLst/>
              </a:rPr>
              <a:t> </a:t>
            </a:r>
            <a:r>
              <a:rPr lang="en-US" sz="2000" dirty="0">
                <a:solidFill>
                  <a:srgbClr val="231F20"/>
                </a:solidFill>
                <a:effectLst/>
              </a:rPr>
              <a:t>branch</a:t>
            </a:r>
            <a:r>
              <a:rPr lang="en-US" sz="2000" spc="-20" dirty="0">
                <a:solidFill>
                  <a:srgbClr val="231F20"/>
                </a:solidFill>
                <a:effectLst/>
              </a:rPr>
              <a:t> </a:t>
            </a:r>
            <a:r>
              <a:rPr lang="en-US" sz="2000" dirty="0">
                <a:solidFill>
                  <a:srgbClr val="231F20"/>
                </a:solidFill>
                <a:effectLst/>
              </a:rPr>
              <a:t>of</a:t>
            </a:r>
            <a:r>
              <a:rPr lang="en-US" sz="2000" spc="-20" dirty="0">
                <a:solidFill>
                  <a:srgbClr val="231F20"/>
                </a:solidFill>
                <a:effectLst/>
              </a:rPr>
              <a:t> </a:t>
            </a:r>
            <a:r>
              <a:rPr lang="en-US" sz="2000" dirty="0">
                <a:solidFill>
                  <a:srgbClr val="231F20"/>
                </a:solidFill>
                <a:effectLst/>
              </a:rPr>
              <a:t>mathematics known</a:t>
            </a:r>
            <a:r>
              <a:rPr lang="en-US" sz="2000" spc="-70" dirty="0">
                <a:solidFill>
                  <a:srgbClr val="231F20"/>
                </a:solidFill>
                <a:effectLst/>
              </a:rPr>
              <a:t> </a:t>
            </a:r>
            <a:r>
              <a:rPr lang="en-US" sz="2000" dirty="0">
                <a:solidFill>
                  <a:srgbClr val="231F20"/>
                </a:solidFill>
                <a:effectLst/>
              </a:rPr>
              <a:t>as</a:t>
            </a:r>
            <a:r>
              <a:rPr lang="en-US" sz="2000" spc="-70" dirty="0">
                <a:solidFill>
                  <a:srgbClr val="231F20"/>
                </a:solidFill>
                <a:effectLst/>
              </a:rPr>
              <a:t> </a:t>
            </a:r>
            <a:r>
              <a:rPr lang="en-US" sz="2000" dirty="0">
                <a:solidFill>
                  <a:srgbClr val="231F20"/>
                </a:solidFill>
                <a:effectLst/>
              </a:rPr>
              <a:t>abstract</a:t>
            </a:r>
            <a:r>
              <a:rPr lang="en-US" sz="2000" spc="-70" dirty="0">
                <a:solidFill>
                  <a:srgbClr val="231F20"/>
                </a:solidFill>
                <a:effectLst/>
              </a:rPr>
              <a:t> </a:t>
            </a:r>
            <a:r>
              <a:rPr lang="en-US" sz="2000" dirty="0">
                <a:solidFill>
                  <a:srgbClr val="231F20"/>
                </a:solidFill>
                <a:effectLst/>
              </a:rPr>
              <a:t>algebra,</a:t>
            </a:r>
            <a:r>
              <a:rPr lang="en-US" sz="2000" spc="-125" dirty="0">
                <a:solidFill>
                  <a:srgbClr val="231F20"/>
                </a:solidFill>
                <a:effectLst/>
              </a:rPr>
              <a:t> </a:t>
            </a:r>
            <a:r>
              <a:rPr lang="en-US" sz="2000" dirty="0">
                <a:solidFill>
                  <a:srgbClr val="231F20"/>
                </a:solidFill>
                <a:effectLst/>
              </a:rPr>
              <a:t>or</a:t>
            </a:r>
            <a:r>
              <a:rPr lang="en-US" sz="2000" spc="-70" dirty="0">
                <a:solidFill>
                  <a:srgbClr val="231F20"/>
                </a:solidFill>
                <a:effectLst/>
              </a:rPr>
              <a:t> </a:t>
            </a:r>
            <a:r>
              <a:rPr lang="en-US" sz="2000" dirty="0">
                <a:solidFill>
                  <a:srgbClr val="231F20"/>
                </a:solidFill>
                <a:effectLst/>
              </a:rPr>
              <a:t>modern</a:t>
            </a:r>
            <a:r>
              <a:rPr lang="en-US" sz="2000" spc="-70" dirty="0">
                <a:solidFill>
                  <a:srgbClr val="231F20"/>
                </a:solidFill>
                <a:effectLst/>
              </a:rPr>
              <a:t> </a:t>
            </a:r>
            <a:r>
              <a:rPr lang="en-US" sz="2000" dirty="0">
                <a:solidFill>
                  <a:srgbClr val="231F20"/>
                </a:solidFill>
                <a:effectLst/>
              </a:rPr>
              <a:t>algebra.</a:t>
            </a:r>
          </a:p>
          <a:p>
            <a:pPr algn="just">
              <a:lnSpc>
                <a:spcPct val="150000"/>
              </a:lnSpc>
            </a:pPr>
            <a:r>
              <a:rPr lang="en-US" sz="2000" spc="-125" dirty="0">
                <a:solidFill>
                  <a:srgbClr val="231F20"/>
                </a:solidFill>
                <a:effectLst/>
              </a:rPr>
              <a:t>In</a:t>
            </a:r>
            <a:r>
              <a:rPr lang="en-US" sz="2000" spc="-70" dirty="0">
                <a:solidFill>
                  <a:srgbClr val="231F20"/>
                </a:solidFill>
                <a:effectLst/>
              </a:rPr>
              <a:t> </a:t>
            </a:r>
            <a:r>
              <a:rPr lang="en-US" sz="2000" spc="-125" dirty="0">
                <a:solidFill>
                  <a:srgbClr val="231F20"/>
                </a:solidFill>
                <a:effectLst/>
              </a:rPr>
              <a:t>abstract</a:t>
            </a:r>
            <a:r>
              <a:rPr lang="en-US" sz="2000" spc="-70" dirty="0">
                <a:solidFill>
                  <a:srgbClr val="231F20"/>
                </a:solidFill>
                <a:effectLst/>
              </a:rPr>
              <a:t> </a:t>
            </a:r>
            <a:r>
              <a:rPr lang="en-US" sz="2000" spc="-125" dirty="0">
                <a:solidFill>
                  <a:srgbClr val="231F20"/>
                </a:solidFill>
                <a:effectLst/>
              </a:rPr>
              <a:t>algebra, we</a:t>
            </a:r>
            <a:r>
              <a:rPr lang="en-US" sz="2000" spc="-70" dirty="0">
                <a:solidFill>
                  <a:srgbClr val="231F20"/>
                </a:solidFill>
                <a:effectLst/>
              </a:rPr>
              <a:t> </a:t>
            </a:r>
            <a:r>
              <a:rPr lang="en-US" sz="2000" spc="-125" dirty="0">
                <a:solidFill>
                  <a:srgbClr val="231F20"/>
                </a:solidFill>
                <a:effectLst/>
              </a:rPr>
              <a:t>are</a:t>
            </a:r>
            <a:r>
              <a:rPr lang="en-US" sz="2000" spc="-70" dirty="0">
                <a:solidFill>
                  <a:srgbClr val="231F20"/>
                </a:solidFill>
                <a:effectLst/>
              </a:rPr>
              <a:t> </a:t>
            </a:r>
            <a:r>
              <a:rPr lang="en-US" sz="2000" spc="-125" dirty="0">
                <a:solidFill>
                  <a:srgbClr val="231F20"/>
                </a:solidFill>
                <a:effectLst/>
              </a:rPr>
              <a:t>concerned with</a:t>
            </a:r>
            <a:r>
              <a:rPr lang="en-US" sz="2000" spc="-15" dirty="0">
                <a:solidFill>
                  <a:srgbClr val="231F20"/>
                </a:solidFill>
                <a:effectLst/>
              </a:rPr>
              <a:t> </a:t>
            </a:r>
            <a:r>
              <a:rPr lang="en-US" sz="2000" spc="-125" dirty="0">
                <a:solidFill>
                  <a:srgbClr val="231F20"/>
                </a:solidFill>
                <a:effectLst/>
              </a:rPr>
              <a:t>sets</a:t>
            </a:r>
            <a:r>
              <a:rPr lang="en-US" sz="2000" spc="-15" dirty="0">
                <a:solidFill>
                  <a:srgbClr val="231F20"/>
                </a:solidFill>
                <a:effectLst/>
              </a:rPr>
              <a:t> </a:t>
            </a:r>
            <a:r>
              <a:rPr lang="en-US" sz="2000" spc="-125" dirty="0">
                <a:solidFill>
                  <a:srgbClr val="231F20"/>
                </a:solidFill>
                <a:effectLst/>
              </a:rPr>
              <a:t>on</a:t>
            </a:r>
            <a:r>
              <a:rPr lang="en-US" sz="2000" spc="-15" dirty="0">
                <a:solidFill>
                  <a:srgbClr val="231F20"/>
                </a:solidFill>
                <a:effectLst/>
              </a:rPr>
              <a:t> </a:t>
            </a:r>
            <a:r>
              <a:rPr lang="en-US" sz="2000" spc="-125" dirty="0">
                <a:solidFill>
                  <a:srgbClr val="231F20"/>
                </a:solidFill>
                <a:effectLst/>
              </a:rPr>
              <a:t>whose</a:t>
            </a:r>
            <a:r>
              <a:rPr lang="en-US" sz="2000" spc="-15" dirty="0">
                <a:solidFill>
                  <a:srgbClr val="231F20"/>
                </a:solidFill>
                <a:effectLst/>
              </a:rPr>
              <a:t> </a:t>
            </a:r>
            <a:r>
              <a:rPr lang="en-US" sz="2000" spc="-125" dirty="0">
                <a:solidFill>
                  <a:srgbClr val="231F20"/>
                </a:solidFill>
                <a:effectLst/>
              </a:rPr>
              <a:t>elements</a:t>
            </a:r>
            <a:r>
              <a:rPr lang="en-US" sz="2000" spc="-15" dirty="0">
                <a:solidFill>
                  <a:srgbClr val="231F20"/>
                </a:solidFill>
                <a:effectLst/>
              </a:rPr>
              <a:t> </a:t>
            </a:r>
            <a:r>
              <a:rPr lang="en-US" sz="2000" spc="-125" dirty="0">
                <a:solidFill>
                  <a:srgbClr val="231F20"/>
                </a:solidFill>
                <a:effectLst/>
              </a:rPr>
              <a:t>we</a:t>
            </a:r>
            <a:r>
              <a:rPr lang="en-US" sz="2000" spc="-15" dirty="0">
                <a:solidFill>
                  <a:srgbClr val="231F20"/>
                </a:solidFill>
                <a:effectLst/>
              </a:rPr>
              <a:t> </a:t>
            </a:r>
            <a:r>
              <a:rPr lang="en-US" sz="2000" spc="-125" dirty="0">
                <a:solidFill>
                  <a:srgbClr val="231F20"/>
                </a:solidFill>
                <a:effectLst/>
              </a:rPr>
              <a:t>can</a:t>
            </a:r>
            <a:r>
              <a:rPr lang="en-US" sz="2000" spc="-15" dirty="0">
                <a:solidFill>
                  <a:srgbClr val="231F20"/>
                </a:solidFill>
                <a:effectLst/>
              </a:rPr>
              <a:t> </a:t>
            </a:r>
            <a:r>
              <a:rPr lang="en-US" sz="2000" spc="-125" dirty="0">
                <a:solidFill>
                  <a:srgbClr val="231F20"/>
                </a:solidFill>
                <a:effectLst/>
              </a:rPr>
              <a:t>operate</a:t>
            </a:r>
            <a:r>
              <a:rPr lang="en-US" sz="2000" spc="-15" dirty="0">
                <a:solidFill>
                  <a:srgbClr val="231F20"/>
                </a:solidFill>
                <a:effectLst/>
              </a:rPr>
              <a:t> </a:t>
            </a:r>
            <a:r>
              <a:rPr lang="en-US" sz="2000" spc="-125" dirty="0">
                <a:solidFill>
                  <a:srgbClr val="231F20"/>
                </a:solidFill>
                <a:effectLst/>
              </a:rPr>
              <a:t>algebraically;</a:t>
            </a:r>
            <a:r>
              <a:rPr lang="en-US" sz="2000" spc="-60" dirty="0">
                <a:solidFill>
                  <a:srgbClr val="231F20"/>
                </a:solidFill>
                <a:effectLst/>
              </a:rPr>
              <a:t> </a:t>
            </a:r>
            <a:r>
              <a:rPr lang="en-US" sz="2000" spc="-125" dirty="0">
                <a:solidFill>
                  <a:srgbClr val="231F20"/>
                </a:solidFill>
                <a:effectLst/>
              </a:rPr>
              <a:t>that</a:t>
            </a:r>
            <a:r>
              <a:rPr lang="en-US" sz="2000" spc="-15" dirty="0">
                <a:solidFill>
                  <a:srgbClr val="231F20"/>
                </a:solidFill>
                <a:effectLst/>
              </a:rPr>
              <a:t> </a:t>
            </a:r>
            <a:r>
              <a:rPr lang="en-US" sz="2000" spc="-20" dirty="0">
                <a:solidFill>
                  <a:srgbClr val="231F20"/>
                </a:solidFill>
                <a:effectLst/>
              </a:rPr>
              <a:t>is,</a:t>
            </a:r>
            <a:r>
              <a:rPr lang="en-US" sz="2000" spc="-60" dirty="0">
                <a:solidFill>
                  <a:srgbClr val="231F20"/>
                </a:solidFill>
                <a:effectLst/>
              </a:rPr>
              <a:t> </a:t>
            </a:r>
            <a:r>
              <a:rPr lang="en-US" sz="2000" spc="-125" dirty="0">
                <a:solidFill>
                  <a:srgbClr val="231F20"/>
                </a:solidFill>
                <a:effectLst/>
              </a:rPr>
              <a:t>we</a:t>
            </a:r>
            <a:r>
              <a:rPr lang="en-US" sz="2000" spc="-15" dirty="0">
                <a:solidFill>
                  <a:srgbClr val="231F20"/>
                </a:solidFill>
                <a:effectLst/>
              </a:rPr>
              <a:t> </a:t>
            </a:r>
            <a:r>
              <a:rPr lang="en-US" sz="2000" spc="-125" dirty="0">
                <a:solidFill>
                  <a:srgbClr val="231F20"/>
                </a:solidFill>
                <a:effectLst/>
              </a:rPr>
              <a:t>can</a:t>
            </a:r>
            <a:r>
              <a:rPr lang="en-US" sz="2000" spc="-15" dirty="0">
                <a:solidFill>
                  <a:srgbClr val="231F20"/>
                </a:solidFill>
                <a:effectLst/>
              </a:rPr>
              <a:t> </a:t>
            </a:r>
            <a:r>
              <a:rPr lang="en-US" sz="2000" spc="-125" dirty="0">
                <a:solidFill>
                  <a:srgbClr val="231F20"/>
                </a:solidFill>
                <a:effectLst/>
              </a:rPr>
              <a:t>combine two</a:t>
            </a:r>
            <a:r>
              <a:rPr lang="en-US" sz="2000" spc="-55" dirty="0">
                <a:solidFill>
                  <a:srgbClr val="231F20"/>
                </a:solidFill>
                <a:effectLst/>
              </a:rPr>
              <a:t> </a:t>
            </a:r>
            <a:r>
              <a:rPr lang="en-US" sz="2000" spc="-125" dirty="0">
                <a:solidFill>
                  <a:srgbClr val="231F20"/>
                </a:solidFill>
                <a:effectLst/>
              </a:rPr>
              <a:t>elements</a:t>
            </a:r>
            <a:r>
              <a:rPr lang="en-US" sz="2000" spc="-55" dirty="0">
                <a:solidFill>
                  <a:srgbClr val="231F20"/>
                </a:solidFill>
                <a:effectLst/>
              </a:rPr>
              <a:t> </a:t>
            </a:r>
            <a:r>
              <a:rPr lang="en-US" sz="2000" spc="-125" dirty="0">
                <a:solidFill>
                  <a:srgbClr val="231F20"/>
                </a:solidFill>
                <a:effectLst/>
              </a:rPr>
              <a:t>of</a:t>
            </a:r>
            <a:r>
              <a:rPr lang="en-US" sz="2000" spc="-55" dirty="0">
                <a:solidFill>
                  <a:srgbClr val="231F20"/>
                </a:solidFill>
                <a:effectLst/>
              </a:rPr>
              <a:t> </a:t>
            </a:r>
            <a:r>
              <a:rPr lang="en-US" sz="2000" spc="-125" dirty="0">
                <a:solidFill>
                  <a:srgbClr val="231F20"/>
                </a:solidFill>
                <a:effectLst/>
              </a:rPr>
              <a:t>the</a:t>
            </a:r>
            <a:r>
              <a:rPr lang="en-US" sz="2000" spc="-55" dirty="0">
                <a:solidFill>
                  <a:srgbClr val="231F20"/>
                </a:solidFill>
                <a:effectLst/>
              </a:rPr>
              <a:t> </a:t>
            </a:r>
            <a:r>
              <a:rPr lang="en-US" sz="2000" spc="-125" dirty="0">
                <a:solidFill>
                  <a:srgbClr val="231F20"/>
                </a:solidFill>
                <a:effectLst/>
              </a:rPr>
              <a:t>set,</a:t>
            </a:r>
            <a:r>
              <a:rPr lang="en-US" sz="2000" spc="-110" dirty="0">
                <a:solidFill>
                  <a:srgbClr val="231F20"/>
                </a:solidFill>
                <a:effectLst/>
              </a:rPr>
              <a:t> </a:t>
            </a:r>
            <a:r>
              <a:rPr lang="en-US" sz="2000" spc="-125" dirty="0">
                <a:solidFill>
                  <a:srgbClr val="231F20"/>
                </a:solidFill>
                <a:effectLst/>
              </a:rPr>
              <a:t>perhaps</a:t>
            </a:r>
            <a:r>
              <a:rPr lang="en-US" sz="2000" spc="-55" dirty="0">
                <a:solidFill>
                  <a:srgbClr val="231F20"/>
                </a:solidFill>
                <a:effectLst/>
              </a:rPr>
              <a:t> </a:t>
            </a:r>
            <a:r>
              <a:rPr lang="en-US" sz="2000" spc="-125" dirty="0">
                <a:solidFill>
                  <a:srgbClr val="231F20"/>
                </a:solidFill>
                <a:effectLst/>
              </a:rPr>
              <a:t>in</a:t>
            </a:r>
            <a:r>
              <a:rPr lang="en-US" sz="2000" spc="-55" dirty="0">
                <a:solidFill>
                  <a:srgbClr val="231F20"/>
                </a:solidFill>
                <a:effectLst/>
              </a:rPr>
              <a:t> </a:t>
            </a:r>
            <a:r>
              <a:rPr lang="en-US" sz="2000" spc="-125" dirty="0">
                <a:solidFill>
                  <a:srgbClr val="231F20"/>
                </a:solidFill>
                <a:effectLst/>
              </a:rPr>
              <a:t>several</a:t>
            </a:r>
            <a:r>
              <a:rPr lang="en-US" sz="2000" spc="-55" dirty="0">
                <a:solidFill>
                  <a:srgbClr val="231F20"/>
                </a:solidFill>
                <a:effectLst/>
              </a:rPr>
              <a:t> </a:t>
            </a:r>
            <a:r>
              <a:rPr lang="en-US" sz="2000" spc="-15" dirty="0">
                <a:solidFill>
                  <a:srgbClr val="231F20"/>
                </a:solidFill>
                <a:effectLst/>
              </a:rPr>
              <a:t>ways,</a:t>
            </a:r>
            <a:r>
              <a:rPr lang="en-US" sz="2000" spc="-110" dirty="0">
                <a:solidFill>
                  <a:srgbClr val="231F20"/>
                </a:solidFill>
                <a:effectLst/>
              </a:rPr>
              <a:t> </a:t>
            </a:r>
            <a:r>
              <a:rPr lang="en-US" sz="2000" spc="-125" dirty="0">
                <a:solidFill>
                  <a:srgbClr val="231F20"/>
                </a:solidFill>
                <a:effectLst/>
              </a:rPr>
              <a:t>to</a:t>
            </a:r>
            <a:r>
              <a:rPr lang="en-US" sz="2000" spc="-55" dirty="0">
                <a:solidFill>
                  <a:srgbClr val="231F20"/>
                </a:solidFill>
                <a:effectLst/>
              </a:rPr>
              <a:t> </a:t>
            </a:r>
            <a:r>
              <a:rPr lang="en-US" sz="2000" spc="-125" dirty="0">
                <a:solidFill>
                  <a:srgbClr val="231F20"/>
                </a:solidFill>
                <a:effectLst/>
              </a:rPr>
              <a:t>obtain</a:t>
            </a:r>
            <a:r>
              <a:rPr lang="en-US" sz="2000" spc="-55" dirty="0">
                <a:solidFill>
                  <a:srgbClr val="231F20"/>
                </a:solidFill>
                <a:effectLst/>
              </a:rPr>
              <a:t> </a:t>
            </a:r>
            <a:r>
              <a:rPr lang="en-US" sz="2000" spc="-125" dirty="0">
                <a:solidFill>
                  <a:srgbClr val="231F20"/>
                </a:solidFill>
                <a:effectLst/>
              </a:rPr>
              <a:t>a</a:t>
            </a:r>
            <a:r>
              <a:rPr lang="en-US" sz="2000" spc="-55" dirty="0">
                <a:solidFill>
                  <a:srgbClr val="231F20"/>
                </a:solidFill>
                <a:effectLst/>
              </a:rPr>
              <a:t> </a:t>
            </a:r>
            <a:r>
              <a:rPr lang="en-US" sz="2000" spc="-125" dirty="0">
                <a:solidFill>
                  <a:srgbClr val="231F20"/>
                </a:solidFill>
                <a:effectLst/>
              </a:rPr>
              <a:t>third</a:t>
            </a:r>
            <a:r>
              <a:rPr lang="en-US" sz="2000" spc="-55" dirty="0">
                <a:solidFill>
                  <a:srgbClr val="231F20"/>
                </a:solidFill>
                <a:effectLst/>
              </a:rPr>
              <a:t> </a:t>
            </a:r>
            <a:r>
              <a:rPr lang="en-US" sz="2000" spc="-125" dirty="0">
                <a:solidFill>
                  <a:srgbClr val="231F20"/>
                </a:solidFill>
                <a:effectLst/>
              </a:rPr>
              <a:t>element</a:t>
            </a:r>
            <a:r>
              <a:rPr lang="en-US" sz="2000" spc="-55" dirty="0">
                <a:solidFill>
                  <a:srgbClr val="231F20"/>
                </a:solidFill>
                <a:effectLst/>
              </a:rPr>
              <a:t> </a:t>
            </a:r>
            <a:r>
              <a:rPr lang="en-US" sz="2000" spc="-125" dirty="0">
                <a:solidFill>
                  <a:srgbClr val="231F20"/>
                </a:solidFill>
                <a:effectLst/>
              </a:rPr>
              <a:t>of</a:t>
            </a:r>
            <a:r>
              <a:rPr lang="en-US" sz="2000" spc="-55" dirty="0">
                <a:solidFill>
                  <a:srgbClr val="231F20"/>
                </a:solidFill>
                <a:effectLst/>
              </a:rPr>
              <a:t> </a:t>
            </a:r>
            <a:r>
              <a:rPr lang="en-US" sz="2000" spc="-125" dirty="0">
                <a:solidFill>
                  <a:srgbClr val="231F20"/>
                </a:solidFill>
                <a:effectLst/>
              </a:rPr>
              <a:t>the</a:t>
            </a:r>
            <a:r>
              <a:rPr lang="en-US" sz="2000" spc="-55" dirty="0">
                <a:solidFill>
                  <a:srgbClr val="231F20"/>
                </a:solidFill>
                <a:effectLst/>
              </a:rPr>
              <a:t> </a:t>
            </a:r>
            <a:r>
              <a:rPr lang="en-US" sz="2000" spc="-125" dirty="0">
                <a:solidFill>
                  <a:srgbClr val="231F20"/>
                </a:solidFill>
                <a:effectLst/>
              </a:rPr>
              <a:t>set.</a:t>
            </a:r>
          </a:p>
          <a:p>
            <a:pPr algn="just">
              <a:lnSpc>
                <a:spcPct val="150000"/>
              </a:lnSpc>
            </a:pPr>
            <a:r>
              <a:rPr lang="en-US" sz="2000" dirty="0">
                <a:solidFill>
                  <a:srgbClr val="231F20"/>
                </a:solidFill>
                <a:effectLst/>
              </a:rPr>
              <a:t>These</a:t>
            </a:r>
            <a:r>
              <a:rPr lang="en-US" sz="2000" spc="-50" dirty="0">
                <a:solidFill>
                  <a:srgbClr val="231F20"/>
                </a:solidFill>
                <a:effectLst/>
              </a:rPr>
              <a:t> </a:t>
            </a:r>
            <a:r>
              <a:rPr lang="en-US" sz="2000" dirty="0">
                <a:solidFill>
                  <a:srgbClr val="231F20"/>
                </a:solidFill>
                <a:effectLst/>
              </a:rPr>
              <a:t>operations</a:t>
            </a:r>
            <a:r>
              <a:rPr lang="en-US" sz="2000" spc="-50" dirty="0">
                <a:solidFill>
                  <a:srgbClr val="231F20"/>
                </a:solidFill>
                <a:effectLst/>
              </a:rPr>
              <a:t> </a:t>
            </a:r>
            <a:r>
              <a:rPr lang="en-US" sz="2000" dirty="0">
                <a:solidFill>
                  <a:srgbClr val="231F20"/>
                </a:solidFill>
                <a:effectLst/>
              </a:rPr>
              <a:t>are</a:t>
            </a:r>
            <a:r>
              <a:rPr lang="en-US" sz="2000" spc="-50" dirty="0">
                <a:solidFill>
                  <a:srgbClr val="231F20"/>
                </a:solidFill>
                <a:effectLst/>
              </a:rPr>
              <a:t> </a:t>
            </a:r>
            <a:r>
              <a:rPr lang="en-US" sz="2000" dirty="0">
                <a:solidFill>
                  <a:srgbClr val="231F20"/>
                </a:solidFill>
                <a:effectLst/>
              </a:rPr>
              <a:t>subject</a:t>
            </a:r>
            <a:r>
              <a:rPr lang="en-US" sz="2000" spc="-50" dirty="0">
                <a:solidFill>
                  <a:srgbClr val="231F20"/>
                </a:solidFill>
                <a:effectLst/>
              </a:rPr>
              <a:t> </a:t>
            </a:r>
            <a:r>
              <a:rPr lang="en-US" sz="2000" dirty="0">
                <a:solidFill>
                  <a:srgbClr val="231F20"/>
                </a:solidFill>
                <a:effectLst/>
              </a:rPr>
              <a:t>to</a:t>
            </a:r>
            <a:r>
              <a:rPr lang="en-US" sz="2000" spc="-50" dirty="0">
                <a:solidFill>
                  <a:srgbClr val="231F20"/>
                </a:solidFill>
                <a:effectLst/>
              </a:rPr>
              <a:t> </a:t>
            </a:r>
            <a:r>
              <a:rPr lang="en-US" sz="2000" dirty="0">
                <a:solidFill>
                  <a:srgbClr val="231F20"/>
                </a:solidFill>
                <a:effectLst/>
              </a:rPr>
              <a:t>specific</a:t>
            </a:r>
            <a:r>
              <a:rPr lang="en-US" sz="2000" spc="-50" dirty="0">
                <a:solidFill>
                  <a:srgbClr val="231F20"/>
                </a:solidFill>
                <a:effectLst/>
              </a:rPr>
              <a:t> </a:t>
            </a:r>
            <a:r>
              <a:rPr lang="en-US" sz="2000" dirty="0">
                <a:solidFill>
                  <a:srgbClr val="231F20"/>
                </a:solidFill>
                <a:effectLst/>
              </a:rPr>
              <a:t>rules,</a:t>
            </a:r>
            <a:r>
              <a:rPr lang="en-US" sz="2000" spc="-100" dirty="0">
                <a:solidFill>
                  <a:srgbClr val="231F20"/>
                </a:solidFill>
                <a:effectLst/>
              </a:rPr>
              <a:t> </a:t>
            </a:r>
            <a:r>
              <a:rPr lang="en-US" sz="2000" dirty="0">
                <a:solidFill>
                  <a:srgbClr val="231F20"/>
                </a:solidFill>
                <a:effectLst/>
              </a:rPr>
              <a:t>which</a:t>
            </a:r>
            <a:r>
              <a:rPr lang="en-US" sz="2000" spc="-50" dirty="0">
                <a:solidFill>
                  <a:srgbClr val="231F20"/>
                </a:solidFill>
                <a:effectLst/>
              </a:rPr>
              <a:t> </a:t>
            </a:r>
            <a:r>
              <a:rPr lang="en-US" sz="2000" dirty="0">
                <a:solidFill>
                  <a:srgbClr val="231F20"/>
                </a:solidFill>
                <a:effectLst/>
              </a:rPr>
              <a:t>define</a:t>
            </a:r>
            <a:r>
              <a:rPr lang="en-US" sz="2000" spc="-50" dirty="0">
                <a:solidFill>
                  <a:srgbClr val="231F20"/>
                </a:solidFill>
                <a:effectLst/>
              </a:rPr>
              <a:t> </a:t>
            </a:r>
            <a:r>
              <a:rPr lang="en-US" sz="2000" dirty="0">
                <a:solidFill>
                  <a:srgbClr val="231F20"/>
                </a:solidFill>
                <a:effectLst/>
              </a:rPr>
              <a:t>the</a:t>
            </a:r>
            <a:r>
              <a:rPr lang="en-US" sz="2000" spc="-50" dirty="0">
                <a:solidFill>
                  <a:srgbClr val="231F20"/>
                </a:solidFill>
                <a:effectLst/>
              </a:rPr>
              <a:t> </a:t>
            </a:r>
            <a:r>
              <a:rPr lang="en-US" sz="2000" dirty="0">
                <a:solidFill>
                  <a:srgbClr val="231F20"/>
                </a:solidFill>
                <a:effectLst/>
              </a:rPr>
              <a:t>nature</a:t>
            </a:r>
            <a:r>
              <a:rPr lang="en-US" sz="2000" spc="-50" dirty="0">
                <a:solidFill>
                  <a:srgbClr val="231F20"/>
                </a:solidFill>
                <a:effectLst/>
              </a:rPr>
              <a:t> </a:t>
            </a:r>
            <a:r>
              <a:rPr lang="en-US" sz="2000" dirty="0">
                <a:solidFill>
                  <a:srgbClr val="231F20"/>
                </a:solidFill>
                <a:effectLst/>
              </a:rPr>
              <a:t>of</a:t>
            </a:r>
            <a:r>
              <a:rPr lang="en-US" sz="2000" spc="-50" dirty="0">
                <a:solidFill>
                  <a:srgbClr val="231F20"/>
                </a:solidFill>
                <a:effectLst/>
              </a:rPr>
              <a:t> </a:t>
            </a:r>
            <a:r>
              <a:rPr lang="en-US" sz="2000" dirty="0">
                <a:solidFill>
                  <a:srgbClr val="231F20"/>
                </a:solidFill>
                <a:effectLst/>
              </a:rPr>
              <a:t>the</a:t>
            </a:r>
            <a:r>
              <a:rPr lang="en-US" sz="2000" spc="-50" dirty="0">
                <a:solidFill>
                  <a:srgbClr val="231F20"/>
                </a:solidFill>
                <a:effectLst/>
              </a:rPr>
              <a:t> </a:t>
            </a:r>
            <a:r>
              <a:rPr lang="en-US" sz="2000" dirty="0">
                <a:solidFill>
                  <a:srgbClr val="231F20"/>
                </a:solidFill>
                <a:effectLst/>
              </a:rPr>
              <a:t>set.</a:t>
            </a:r>
            <a:r>
              <a:rPr lang="en-US" sz="2000" spc="-100" dirty="0">
                <a:solidFill>
                  <a:srgbClr val="231F20"/>
                </a:solidFill>
                <a:effectLst/>
              </a:rPr>
              <a:t> </a:t>
            </a:r>
            <a:r>
              <a:rPr lang="en-US" sz="2000" dirty="0">
                <a:solidFill>
                  <a:srgbClr val="231F20"/>
                </a:solidFill>
                <a:effectLst/>
              </a:rPr>
              <a:t>By convention,</a:t>
            </a:r>
            <a:r>
              <a:rPr lang="en-US" sz="2000" spc="-80" dirty="0">
                <a:solidFill>
                  <a:srgbClr val="231F20"/>
                </a:solidFill>
                <a:effectLst/>
              </a:rPr>
              <a:t> </a:t>
            </a:r>
            <a:r>
              <a:rPr lang="en-US" sz="2000" dirty="0">
                <a:solidFill>
                  <a:srgbClr val="231F20"/>
                </a:solidFill>
                <a:effectLst/>
              </a:rPr>
              <a:t>the</a:t>
            </a:r>
            <a:r>
              <a:rPr lang="en-US" sz="2000" spc="-30" dirty="0">
                <a:solidFill>
                  <a:srgbClr val="231F20"/>
                </a:solidFill>
                <a:effectLst/>
              </a:rPr>
              <a:t> </a:t>
            </a:r>
            <a:r>
              <a:rPr lang="en-US" sz="2000" dirty="0">
                <a:solidFill>
                  <a:srgbClr val="231F20"/>
                </a:solidFill>
                <a:effectLst/>
              </a:rPr>
              <a:t>notation</a:t>
            </a:r>
            <a:r>
              <a:rPr lang="en-US" sz="2000" spc="-30" dirty="0">
                <a:solidFill>
                  <a:srgbClr val="231F20"/>
                </a:solidFill>
                <a:effectLst/>
              </a:rPr>
              <a:t> </a:t>
            </a:r>
            <a:r>
              <a:rPr lang="en-US" sz="2000" dirty="0">
                <a:solidFill>
                  <a:srgbClr val="231F20"/>
                </a:solidFill>
                <a:effectLst/>
              </a:rPr>
              <a:t>for</a:t>
            </a:r>
            <a:r>
              <a:rPr lang="en-US" sz="2000" spc="-30" dirty="0">
                <a:solidFill>
                  <a:srgbClr val="231F20"/>
                </a:solidFill>
                <a:effectLst/>
              </a:rPr>
              <a:t> </a:t>
            </a:r>
            <a:r>
              <a:rPr lang="en-US" sz="2000" dirty="0">
                <a:solidFill>
                  <a:srgbClr val="231F20"/>
                </a:solidFill>
                <a:effectLst/>
              </a:rPr>
              <a:t>the</a:t>
            </a:r>
            <a:r>
              <a:rPr lang="en-US" sz="2000" spc="-30" dirty="0">
                <a:solidFill>
                  <a:srgbClr val="231F20"/>
                </a:solidFill>
                <a:effectLst/>
              </a:rPr>
              <a:t> </a:t>
            </a:r>
            <a:r>
              <a:rPr lang="en-US" sz="2000" dirty="0">
                <a:solidFill>
                  <a:srgbClr val="231F20"/>
                </a:solidFill>
                <a:effectLst/>
              </a:rPr>
              <a:t>two</a:t>
            </a:r>
            <a:r>
              <a:rPr lang="en-US" sz="2000" spc="-30" dirty="0">
                <a:solidFill>
                  <a:srgbClr val="231F20"/>
                </a:solidFill>
                <a:effectLst/>
              </a:rPr>
              <a:t> </a:t>
            </a:r>
            <a:r>
              <a:rPr lang="en-US" sz="2000" dirty="0">
                <a:solidFill>
                  <a:srgbClr val="231F20"/>
                </a:solidFill>
                <a:effectLst/>
              </a:rPr>
              <a:t>principal</a:t>
            </a:r>
            <a:r>
              <a:rPr lang="en-US" sz="2000" spc="-30" dirty="0">
                <a:solidFill>
                  <a:srgbClr val="231F20"/>
                </a:solidFill>
                <a:effectLst/>
              </a:rPr>
              <a:t> </a:t>
            </a:r>
            <a:r>
              <a:rPr lang="en-US" sz="2000" dirty="0">
                <a:solidFill>
                  <a:srgbClr val="231F20"/>
                </a:solidFill>
                <a:effectLst/>
              </a:rPr>
              <a:t>classes</a:t>
            </a:r>
            <a:r>
              <a:rPr lang="en-US" sz="2000" spc="-30" dirty="0">
                <a:solidFill>
                  <a:srgbClr val="231F20"/>
                </a:solidFill>
                <a:effectLst/>
              </a:rPr>
              <a:t> </a:t>
            </a:r>
            <a:r>
              <a:rPr lang="en-US" sz="2000" dirty="0">
                <a:solidFill>
                  <a:srgbClr val="231F20"/>
                </a:solidFill>
                <a:effectLst/>
              </a:rPr>
              <a:t>of</a:t>
            </a:r>
            <a:r>
              <a:rPr lang="en-US" sz="2000" spc="-30" dirty="0">
                <a:solidFill>
                  <a:srgbClr val="231F20"/>
                </a:solidFill>
                <a:effectLst/>
              </a:rPr>
              <a:t> </a:t>
            </a:r>
            <a:r>
              <a:rPr lang="en-US" sz="2000" dirty="0">
                <a:solidFill>
                  <a:srgbClr val="231F20"/>
                </a:solidFill>
                <a:effectLst/>
              </a:rPr>
              <a:t>operations</a:t>
            </a:r>
            <a:r>
              <a:rPr lang="en-US" sz="2000" spc="-30" dirty="0">
                <a:solidFill>
                  <a:srgbClr val="231F20"/>
                </a:solidFill>
                <a:effectLst/>
              </a:rPr>
              <a:t> </a:t>
            </a:r>
            <a:r>
              <a:rPr lang="en-US" sz="2000" dirty="0">
                <a:solidFill>
                  <a:srgbClr val="231F20"/>
                </a:solidFill>
                <a:effectLst/>
              </a:rPr>
              <a:t>on</a:t>
            </a:r>
            <a:r>
              <a:rPr lang="en-US" sz="2000" spc="-30" dirty="0">
                <a:solidFill>
                  <a:srgbClr val="231F20"/>
                </a:solidFill>
                <a:effectLst/>
              </a:rPr>
              <a:t> </a:t>
            </a:r>
            <a:r>
              <a:rPr lang="en-US" sz="2000" dirty="0">
                <a:solidFill>
                  <a:srgbClr val="231F20"/>
                </a:solidFill>
                <a:effectLst/>
              </a:rPr>
              <a:t>set</a:t>
            </a:r>
            <a:r>
              <a:rPr lang="en-US" sz="2000" spc="-30" dirty="0">
                <a:solidFill>
                  <a:srgbClr val="231F20"/>
                </a:solidFill>
                <a:effectLst/>
              </a:rPr>
              <a:t> </a:t>
            </a:r>
            <a:r>
              <a:rPr lang="en-US" sz="2000" dirty="0">
                <a:solidFill>
                  <a:srgbClr val="231F20"/>
                </a:solidFill>
                <a:effectLst/>
              </a:rPr>
              <a:t>elements is</a:t>
            </a:r>
            <a:r>
              <a:rPr lang="en-US" sz="2000" spc="-65" dirty="0">
                <a:solidFill>
                  <a:srgbClr val="231F20"/>
                </a:solidFill>
                <a:effectLst/>
              </a:rPr>
              <a:t> </a:t>
            </a:r>
            <a:r>
              <a:rPr lang="en-US" sz="2000" dirty="0">
                <a:solidFill>
                  <a:srgbClr val="231F20"/>
                </a:solidFill>
                <a:effectLst/>
              </a:rPr>
              <a:t>usually</a:t>
            </a:r>
            <a:r>
              <a:rPr lang="en-US" sz="2000" spc="-65" dirty="0">
                <a:solidFill>
                  <a:srgbClr val="231F20"/>
                </a:solidFill>
                <a:effectLst/>
              </a:rPr>
              <a:t> </a:t>
            </a:r>
            <a:r>
              <a:rPr lang="en-US" sz="2000" dirty="0">
                <a:solidFill>
                  <a:srgbClr val="231F20"/>
                </a:solidFill>
                <a:effectLst/>
              </a:rPr>
              <a:t>the</a:t>
            </a:r>
            <a:r>
              <a:rPr lang="en-US" sz="2000" spc="-65" dirty="0">
                <a:solidFill>
                  <a:srgbClr val="231F20"/>
                </a:solidFill>
                <a:effectLst/>
              </a:rPr>
              <a:t> </a:t>
            </a:r>
            <a:r>
              <a:rPr lang="en-US" sz="2000" dirty="0">
                <a:solidFill>
                  <a:srgbClr val="231F20"/>
                </a:solidFill>
                <a:effectLst/>
              </a:rPr>
              <a:t>same</a:t>
            </a:r>
            <a:r>
              <a:rPr lang="en-US" sz="2000" spc="-65" dirty="0">
                <a:solidFill>
                  <a:srgbClr val="231F20"/>
                </a:solidFill>
                <a:effectLst/>
              </a:rPr>
              <a:t> </a:t>
            </a:r>
            <a:r>
              <a:rPr lang="en-US" sz="2000" dirty="0">
                <a:solidFill>
                  <a:srgbClr val="231F20"/>
                </a:solidFill>
                <a:effectLst/>
              </a:rPr>
              <a:t>as</a:t>
            </a:r>
            <a:r>
              <a:rPr lang="en-US" sz="2000" spc="-65" dirty="0">
                <a:solidFill>
                  <a:srgbClr val="231F20"/>
                </a:solidFill>
                <a:effectLst/>
              </a:rPr>
              <a:t> </a:t>
            </a:r>
            <a:r>
              <a:rPr lang="en-US" sz="2000" dirty="0">
                <a:solidFill>
                  <a:srgbClr val="231F20"/>
                </a:solidFill>
                <a:effectLst/>
              </a:rPr>
              <a:t>the</a:t>
            </a:r>
            <a:r>
              <a:rPr lang="en-US" sz="2000" spc="-65" dirty="0">
                <a:solidFill>
                  <a:srgbClr val="231F20"/>
                </a:solidFill>
                <a:effectLst/>
              </a:rPr>
              <a:t> </a:t>
            </a:r>
            <a:r>
              <a:rPr lang="en-US" sz="2000" dirty="0">
                <a:solidFill>
                  <a:srgbClr val="231F20"/>
                </a:solidFill>
                <a:effectLst/>
              </a:rPr>
              <a:t>notation</a:t>
            </a:r>
            <a:r>
              <a:rPr lang="en-US" sz="2000" spc="-65" dirty="0">
                <a:solidFill>
                  <a:srgbClr val="231F20"/>
                </a:solidFill>
                <a:effectLst/>
              </a:rPr>
              <a:t> </a:t>
            </a:r>
            <a:r>
              <a:rPr lang="en-US" sz="2000" dirty="0">
                <a:solidFill>
                  <a:srgbClr val="231F20"/>
                </a:solidFill>
                <a:effectLst/>
              </a:rPr>
              <a:t>for</a:t>
            </a:r>
            <a:r>
              <a:rPr lang="en-US" sz="2000" spc="-65" dirty="0">
                <a:solidFill>
                  <a:srgbClr val="231F20"/>
                </a:solidFill>
                <a:effectLst/>
              </a:rPr>
              <a:t> </a:t>
            </a:r>
            <a:r>
              <a:rPr lang="en-US" sz="2000" dirty="0">
                <a:solidFill>
                  <a:srgbClr val="231F20"/>
                </a:solidFill>
                <a:effectLst/>
              </a:rPr>
              <a:t>addition</a:t>
            </a:r>
            <a:r>
              <a:rPr lang="en-US" sz="2000" spc="-65" dirty="0">
                <a:solidFill>
                  <a:srgbClr val="231F20"/>
                </a:solidFill>
                <a:effectLst/>
              </a:rPr>
              <a:t> </a:t>
            </a:r>
            <a:r>
              <a:rPr lang="en-US" sz="2000" dirty="0">
                <a:solidFill>
                  <a:srgbClr val="231F20"/>
                </a:solidFill>
                <a:effectLst/>
              </a:rPr>
              <a:t>and</a:t>
            </a:r>
            <a:r>
              <a:rPr lang="en-US" sz="2000" spc="-65" dirty="0">
                <a:solidFill>
                  <a:srgbClr val="231F20"/>
                </a:solidFill>
                <a:effectLst/>
              </a:rPr>
              <a:t> </a:t>
            </a:r>
            <a:r>
              <a:rPr lang="en-US" sz="2000" dirty="0">
                <a:solidFill>
                  <a:srgbClr val="231F20"/>
                </a:solidFill>
                <a:effectLst/>
              </a:rPr>
              <a:t>multiplication</a:t>
            </a:r>
            <a:r>
              <a:rPr lang="en-US" sz="2000" spc="-65" dirty="0">
                <a:solidFill>
                  <a:srgbClr val="231F20"/>
                </a:solidFill>
                <a:effectLst/>
              </a:rPr>
              <a:t> </a:t>
            </a:r>
            <a:r>
              <a:rPr lang="en-US" sz="2000" dirty="0">
                <a:solidFill>
                  <a:srgbClr val="231F20"/>
                </a:solidFill>
                <a:effectLst/>
              </a:rPr>
              <a:t>on</a:t>
            </a:r>
            <a:r>
              <a:rPr lang="en-US" sz="2000" spc="-65" dirty="0">
                <a:solidFill>
                  <a:srgbClr val="231F20"/>
                </a:solidFill>
                <a:effectLst/>
              </a:rPr>
              <a:t> </a:t>
            </a:r>
            <a:r>
              <a:rPr lang="en-US" sz="2000" dirty="0">
                <a:solidFill>
                  <a:srgbClr val="231F20"/>
                </a:solidFill>
                <a:effectLst/>
              </a:rPr>
              <a:t>ordinary</a:t>
            </a:r>
            <a:r>
              <a:rPr lang="en-US" sz="2000" spc="-65" dirty="0">
                <a:solidFill>
                  <a:srgbClr val="231F20"/>
                </a:solidFill>
                <a:effectLst/>
              </a:rPr>
              <a:t> </a:t>
            </a:r>
            <a:r>
              <a:rPr lang="en-US" sz="2000" dirty="0">
                <a:solidFill>
                  <a:srgbClr val="231F20"/>
                </a:solidFill>
                <a:effectLst/>
              </a:rPr>
              <a:t>num</a:t>
            </a:r>
            <a:r>
              <a:rPr lang="en-US" sz="2000" spc="-15" dirty="0">
                <a:solidFill>
                  <a:srgbClr val="231F20"/>
                </a:solidFill>
                <a:effectLst/>
              </a:rPr>
              <a:t>bers. </a:t>
            </a:r>
          </a:p>
          <a:p>
            <a:pPr algn="just">
              <a:lnSpc>
                <a:spcPct val="150000"/>
              </a:lnSpc>
            </a:pPr>
            <a:r>
              <a:rPr lang="en-US" sz="2000" dirty="0"/>
              <a:t>In summary, groups, rings, and fields are important algebraic structures used in cryptography to construct cryptographic algorithms, key exchange protocols, and public key cryptosystems. They provide a mathematical framework for cryptographic operations, ensuring the security and integrity of cryptographic systems.</a:t>
            </a:r>
          </a:p>
        </p:txBody>
      </p:sp>
    </p:spTree>
    <p:extLst>
      <p:ext uri="{BB962C8B-B14F-4D97-AF65-F5344CB8AC3E}">
        <p14:creationId xmlns:p14="http://schemas.microsoft.com/office/powerpoint/2010/main" val="4760320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8EDE06-EBFF-DC5C-626A-339950C3C385}"/>
              </a:ext>
            </a:extLst>
          </p:cNvPr>
          <p:cNvSpPr>
            <a:spLocks noGrp="1"/>
          </p:cNvSpPr>
          <p:nvPr>
            <p:ph type="title"/>
          </p:nvPr>
        </p:nvSpPr>
        <p:spPr>
          <a:xfrm>
            <a:off x="630936" y="502920"/>
            <a:ext cx="3419856" cy="1463040"/>
          </a:xfrm>
        </p:spPr>
        <p:txBody>
          <a:bodyPr anchor="ctr">
            <a:normAutofit/>
          </a:bodyPr>
          <a:lstStyle/>
          <a:p>
            <a:r>
              <a:rPr lang="en-US" sz="4800"/>
              <a:t>Groups, Rings, Fields</a:t>
            </a:r>
            <a:endParaRPr lang="en-US" sz="4800" dirty="0"/>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8C7457CA-8587-DFCB-9A83-C0B772E88C3B}"/>
              </a:ext>
            </a:extLst>
          </p:cNvPr>
          <p:cNvSpPr>
            <a:spLocks noGrp="1"/>
          </p:cNvSpPr>
          <p:nvPr>
            <p:ph idx="1"/>
          </p:nvPr>
        </p:nvSpPr>
        <p:spPr>
          <a:xfrm>
            <a:off x="4654295" y="502920"/>
            <a:ext cx="6894576" cy="1463040"/>
          </a:xfrm>
        </p:spPr>
        <p:txBody>
          <a:bodyPr anchor="ctr">
            <a:normAutofit/>
          </a:bodyPr>
          <a:lstStyle/>
          <a:p>
            <a:r>
              <a:rPr lang="en-US" sz="2200"/>
              <a:t>Groups</a:t>
            </a:r>
            <a:endParaRPr lang="en-US" sz="2200" dirty="0"/>
          </a:p>
        </p:txBody>
      </p:sp>
      <p:pic>
        <p:nvPicPr>
          <p:cNvPr id="5" name="Content Placeholder 4">
            <a:extLst>
              <a:ext uri="{FF2B5EF4-FFF2-40B4-BE49-F238E27FC236}">
                <a16:creationId xmlns:a16="http://schemas.microsoft.com/office/drawing/2014/main" id="{896FE161-BB4B-4A4C-F479-9EEB70A68299}"/>
              </a:ext>
            </a:extLst>
          </p:cNvPr>
          <p:cNvPicPr>
            <a:picLocks noChangeAspect="1"/>
          </p:cNvPicPr>
          <p:nvPr/>
        </p:nvPicPr>
        <p:blipFill>
          <a:blip r:embed="rId2"/>
          <a:stretch>
            <a:fillRect/>
          </a:stretch>
        </p:blipFill>
        <p:spPr>
          <a:xfrm>
            <a:off x="1608979" y="1970268"/>
            <a:ext cx="7901483" cy="3161569"/>
          </a:xfrm>
          <a:prstGeom prst="rect">
            <a:avLst/>
          </a:prstGeom>
        </p:spPr>
      </p:pic>
      <p:pic>
        <p:nvPicPr>
          <p:cNvPr id="7" name="Picture 6">
            <a:extLst>
              <a:ext uri="{FF2B5EF4-FFF2-40B4-BE49-F238E27FC236}">
                <a16:creationId xmlns:a16="http://schemas.microsoft.com/office/drawing/2014/main" id="{A5EB643C-5061-CF84-6E9A-C09938F87C38}"/>
              </a:ext>
            </a:extLst>
          </p:cNvPr>
          <p:cNvPicPr>
            <a:picLocks noChangeAspect="1"/>
          </p:cNvPicPr>
          <p:nvPr/>
        </p:nvPicPr>
        <p:blipFill>
          <a:blip r:embed="rId3"/>
          <a:stretch>
            <a:fillRect/>
          </a:stretch>
        </p:blipFill>
        <p:spPr>
          <a:xfrm>
            <a:off x="1608979" y="5048250"/>
            <a:ext cx="8248650" cy="1809750"/>
          </a:xfrm>
          <a:prstGeom prst="rect">
            <a:avLst/>
          </a:prstGeom>
        </p:spPr>
      </p:pic>
    </p:spTree>
    <p:extLst>
      <p:ext uri="{BB962C8B-B14F-4D97-AF65-F5344CB8AC3E}">
        <p14:creationId xmlns:p14="http://schemas.microsoft.com/office/powerpoint/2010/main" val="11484355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8EDE06-EBFF-DC5C-626A-339950C3C38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Groups, Rings, Fields</a:t>
            </a:r>
          </a:p>
        </p:txBody>
      </p:sp>
      <p:sp>
        <p:nvSpPr>
          <p:cNvPr id="9" name="Content Placeholder 8">
            <a:extLst>
              <a:ext uri="{FF2B5EF4-FFF2-40B4-BE49-F238E27FC236}">
                <a16:creationId xmlns:a16="http://schemas.microsoft.com/office/drawing/2014/main" id="{8C7457CA-8587-DFCB-9A83-C0B772E88C3B}"/>
              </a:ext>
            </a:extLst>
          </p:cNvPr>
          <p:cNvSpPr>
            <a:spLocks noGrp="1"/>
          </p:cNvSpPr>
          <p:nvPr>
            <p:ph idx="1"/>
          </p:nvPr>
        </p:nvSpPr>
        <p:spPr>
          <a:xfrm>
            <a:off x="638882" y="4631161"/>
            <a:ext cx="3571810" cy="1559327"/>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Rings</a:t>
            </a:r>
          </a:p>
        </p:txBody>
      </p:sp>
      <p:sp>
        <p:nvSpPr>
          <p:cNvPr id="2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EC06B6-47A2-AF84-1B15-731D5A4CD44B}"/>
              </a:ext>
            </a:extLst>
          </p:cNvPr>
          <p:cNvPicPr>
            <a:picLocks noChangeAspect="1"/>
          </p:cNvPicPr>
          <p:nvPr/>
        </p:nvPicPr>
        <p:blipFill>
          <a:blip r:embed="rId2"/>
          <a:stretch>
            <a:fillRect/>
          </a:stretch>
        </p:blipFill>
        <p:spPr>
          <a:xfrm>
            <a:off x="4292082" y="639193"/>
            <a:ext cx="7576830" cy="5630978"/>
          </a:xfrm>
          <a:prstGeom prst="rect">
            <a:avLst/>
          </a:prstGeom>
        </p:spPr>
      </p:pic>
    </p:spTree>
    <p:extLst>
      <p:ext uri="{BB962C8B-B14F-4D97-AF65-F5344CB8AC3E}">
        <p14:creationId xmlns:p14="http://schemas.microsoft.com/office/powerpoint/2010/main" val="14150681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83B1D-CFB3-2C4E-8523-B0A18B8E72EB}"/>
              </a:ext>
            </a:extLst>
          </p:cNvPr>
          <p:cNvSpPr>
            <a:spLocks noGrp="1"/>
          </p:cNvSpPr>
          <p:nvPr>
            <p:ph type="title"/>
          </p:nvPr>
        </p:nvSpPr>
        <p:spPr>
          <a:xfrm>
            <a:off x="838200" y="365126"/>
            <a:ext cx="8297411" cy="759000"/>
          </a:xfrm>
        </p:spPr>
        <p:txBody>
          <a:bodyPr/>
          <a:lstStyle/>
          <a:p>
            <a:r>
              <a:rPr lang="en-US" b="1" dirty="0"/>
              <a:t>Basic Concepts of Fields</a:t>
            </a:r>
            <a:endParaRPr lang="en-US" dirty="0"/>
          </a:p>
        </p:txBody>
      </p:sp>
      <p:sp>
        <p:nvSpPr>
          <p:cNvPr id="3" name="Content Placeholder 2">
            <a:extLst>
              <a:ext uri="{FF2B5EF4-FFF2-40B4-BE49-F238E27FC236}">
                <a16:creationId xmlns:a16="http://schemas.microsoft.com/office/drawing/2014/main" id="{8D5553FF-7BEA-E1E0-62EC-97E86EC34E38}"/>
              </a:ext>
            </a:extLst>
          </p:cNvPr>
          <p:cNvSpPr>
            <a:spLocks noGrp="1"/>
          </p:cNvSpPr>
          <p:nvPr>
            <p:ph idx="1"/>
          </p:nvPr>
        </p:nvSpPr>
        <p:spPr>
          <a:xfrm>
            <a:off x="905312" y="1253331"/>
            <a:ext cx="10515600" cy="4351338"/>
          </a:xfrm>
        </p:spPr>
        <p:txBody>
          <a:bodyPr/>
          <a:lstStyle/>
          <a:p>
            <a:pPr marL="0" indent="0">
              <a:buNone/>
            </a:pPr>
            <a:r>
              <a:rPr lang="en-US" b="1" dirty="0"/>
              <a:t>Galois Fields</a:t>
            </a:r>
          </a:p>
          <a:p>
            <a:pPr algn="just">
              <a:lnSpc>
                <a:spcPct val="100000"/>
              </a:lnSpc>
            </a:pPr>
            <a:r>
              <a:rPr lang="en-US" sz="2000" dirty="0"/>
              <a:t>a mathematical concept in abstract algebra that deals with finite mathematical structures. </a:t>
            </a:r>
          </a:p>
          <a:p>
            <a:pPr algn="just">
              <a:lnSpc>
                <a:spcPct val="100000"/>
              </a:lnSpc>
            </a:pPr>
            <a:r>
              <a:rPr lang="en-US" sz="2000" dirty="0"/>
              <a:t>It is a set of numbers that consists of a finite number of elements and has two operations, addition and multiplication, that follow specific rules. The rules for these operations ensure that the Galois Field remains closed, meaning that the result of any operation performed within the set will also be an element of the set.</a:t>
            </a:r>
          </a:p>
          <a:p>
            <a:pPr algn="just">
              <a:lnSpc>
                <a:spcPct val="100000"/>
              </a:lnSpc>
            </a:pPr>
            <a:r>
              <a:rPr lang="en-US" sz="2000" dirty="0"/>
              <a:t>Useful in Cryptography, coding theory and error correction, due to their unique mathematical properties.</a:t>
            </a:r>
          </a:p>
        </p:txBody>
      </p:sp>
    </p:spTree>
    <p:extLst>
      <p:ext uri="{BB962C8B-B14F-4D97-AF65-F5344CB8AC3E}">
        <p14:creationId xmlns:p14="http://schemas.microsoft.com/office/powerpoint/2010/main" val="9914179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83B1D-CFB3-2C4E-8523-B0A18B8E72EB}"/>
              </a:ext>
            </a:extLst>
          </p:cNvPr>
          <p:cNvSpPr>
            <a:spLocks noGrp="1"/>
          </p:cNvSpPr>
          <p:nvPr>
            <p:ph type="title"/>
          </p:nvPr>
        </p:nvSpPr>
        <p:spPr>
          <a:xfrm>
            <a:off x="838200" y="365126"/>
            <a:ext cx="8297411" cy="759000"/>
          </a:xfrm>
        </p:spPr>
        <p:txBody>
          <a:bodyPr/>
          <a:lstStyle/>
          <a:p>
            <a:r>
              <a:rPr lang="en-US" b="1" dirty="0"/>
              <a:t>Basic Concepts of Fields</a:t>
            </a:r>
            <a:endParaRPr lang="en-US" dirty="0"/>
          </a:p>
        </p:txBody>
      </p:sp>
      <p:sp>
        <p:nvSpPr>
          <p:cNvPr id="3" name="Content Placeholder 2">
            <a:extLst>
              <a:ext uri="{FF2B5EF4-FFF2-40B4-BE49-F238E27FC236}">
                <a16:creationId xmlns:a16="http://schemas.microsoft.com/office/drawing/2014/main" id="{8D5553FF-7BEA-E1E0-62EC-97E86EC34E38}"/>
              </a:ext>
            </a:extLst>
          </p:cNvPr>
          <p:cNvSpPr>
            <a:spLocks noGrp="1"/>
          </p:cNvSpPr>
          <p:nvPr>
            <p:ph idx="1"/>
          </p:nvPr>
        </p:nvSpPr>
        <p:spPr>
          <a:xfrm>
            <a:off x="905312" y="1253331"/>
            <a:ext cx="10515600" cy="4351338"/>
          </a:xfrm>
        </p:spPr>
        <p:txBody>
          <a:bodyPr/>
          <a:lstStyle/>
          <a:p>
            <a:pPr marL="0" indent="0">
              <a:buNone/>
            </a:pPr>
            <a:r>
              <a:rPr lang="en-US" b="1" dirty="0"/>
              <a:t>Galois Fields</a:t>
            </a:r>
          </a:p>
          <a:p>
            <a:pPr marL="0" indent="0" algn="just">
              <a:buNone/>
            </a:pPr>
            <a:r>
              <a:rPr lang="en-US" sz="1600" dirty="0">
                <a:effectLst/>
              </a:rPr>
              <a:t>The size of a Galois Field is represented by a prime number ‘p’, and it is denoted by GF(p), where p is a prime number.</a:t>
            </a:r>
          </a:p>
          <a:p>
            <a:pPr marL="0" indent="0" algn="just">
              <a:buNone/>
            </a:pPr>
            <a:r>
              <a:rPr lang="en-US" sz="1600" b="1" dirty="0">
                <a:effectLst/>
              </a:rPr>
              <a:t>Example</a:t>
            </a:r>
            <a:r>
              <a:rPr lang="en-US" sz="1600" dirty="0">
                <a:effectLst/>
              </a:rPr>
              <a:t>: One example of a Galois Field is a field with 2 elements, denoted by GF(2). This field has two elements, 0 and 1, and the rules for addition and multiplication operations are defined as follows:</a:t>
            </a:r>
          </a:p>
          <a:p>
            <a:pPr marL="0" indent="0" algn="just">
              <a:buNone/>
            </a:pPr>
            <a:endParaRPr lang="en-US" sz="1600" dirty="0">
              <a:effectLst/>
            </a:endParaRPr>
          </a:p>
          <a:p>
            <a:pPr algn="just">
              <a:buFont typeface="+mj-lt"/>
              <a:buAutoNum type="arabicPeriod"/>
            </a:pPr>
            <a:r>
              <a:rPr lang="en-US" sz="1600" dirty="0">
                <a:effectLst/>
              </a:rPr>
              <a:t>  </a:t>
            </a:r>
            <a:r>
              <a:rPr lang="en-US" sz="1600" b="1" dirty="0">
                <a:effectLst/>
              </a:rPr>
              <a:t>Addition:</a:t>
            </a:r>
            <a:r>
              <a:rPr lang="en-US" sz="1600" dirty="0">
                <a:effectLst/>
              </a:rPr>
              <a:t> The addition operation in GF(2) is equivalent to the XOR operation. For example, 0 + 0 = 0, 0 + 1 = 1, and 1 + 1 = 0.</a:t>
            </a:r>
          </a:p>
          <a:p>
            <a:pPr algn="just">
              <a:buFont typeface="+mj-lt"/>
              <a:buAutoNum type="arabicPeriod"/>
            </a:pPr>
            <a:r>
              <a:rPr lang="en-US" sz="1600" dirty="0">
                <a:effectLst/>
              </a:rPr>
              <a:t>  </a:t>
            </a:r>
            <a:r>
              <a:rPr lang="en-US" sz="1600" b="1" dirty="0">
                <a:effectLst/>
              </a:rPr>
              <a:t>Multiplication: </a:t>
            </a:r>
            <a:r>
              <a:rPr lang="en-US" sz="1600" dirty="0">
                <a:effectLst/>
              </a:rPr>
              <a:t>The multiplication operation in GF(2) is equivalent to the AND operation. For example, 0 * 0 = 0, 0 * 1 = 0, and  1 * 1 = 1.</a:t>
            </a:r>
          </a:p>
          <a:p>
            <a:pPr marL="0" indent="0" algn="just">
              <a:buNone/>
            </a:pPr>
            <a:endParaRPr lang="en-US" sz="1600" dirty="0">
              <a:effectLst/>
            </a:endParaRPr>
          </a:p>
          <a:p>
            <a:pPr marL="0" indent="0" algn="just">
              <a:buNone/>
            </a:pPr>
            <a:r>
              <a:rPr lang="en-US" sz="1600" dirty="0"/>
              <a:t>Another example of a Galois Field is GF(3), which has 3 elements, 0, 1, and 2. The addition and multiplication operations in this field are performed modulo 3, meaning that the result of any operation will always be less than 3. For example, 2 + 1 = 3, which would become 0 in GF(3) since 3 is congruent to 0 modulo 3.</a:t>
            </a:r>
            <a:endParaRPr lang="en-US" sz="1600" dirty="0">
              <a:effectLst/>
            </a:endParaRPr>
          </a:p>
        </p:txBody>
      </p:sp>
    </p:spTree>
    <p:extLst>
      <p:ext uri="{BB962C8B-B14F-4D97-AF65-F5344CB8AC3E}">
        <p14:creationId xmlns:p14="http://schemas.microsoft.com/office/powerpoint/2010/main" val="23828225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8AD67-47D4-D4CB-5CA5-1894399C8DA1}"/>
              </a:ext>
            </a:extLst>
          </p:cNvPr>
          <p:cNvSpPr>
            <a:spLocks noGrp="1"/>
          </p:cNvSpPr>
          <p:nvPr>
            <p:ph type="title"/>
          </p:nvPr>
        </p:nvSpPr>
        <p:spPr>
          <a:xfrm>
            <a:off x="838200" y="365125"/>
            <a:ext cx="8616193" cy="750611"/>
          </a:xfrm>
        </p:spPr>
        <p:txBody>
          <a:bodyPr/>
          <a:lstStyle/>
          <a:p>
            <a:r>
              <a:rPr lang="en-US" b="1" dirty="0"/>
              <a:t>Basic Concepts of Fields</a:t>
            </a:r>
          </a:p>
        </p:txBody>
      </p:sp>
      <p:sp>
        <p:nvSpPr>
          <p:cNvPr id="3" name="Content Placeholder 2">
            <a:extLst>
              <a:ext uri="{FF2B5EF4-FFF2-40B4-BE49-F238E27FC236}">
                <a16:creationId xmlns:a16="http://schemas.microsoft.com/office/drawing/2014/main" id="{C5FB59A3-5815-06B9-C4DD-9F39D766E1D6}"/>
              </a:ext>
            </a:extLst>
          </p:cNvPr>
          <p:cNvSpPr>
            <a:spLocks noGrp="1"/>
          </p:cNvSpPr>
          <p:nvPr>
            <p:ph idx="1"/>
          </p:nvPr>
        </p:nvSpPr>
        <p:spPr>
          <a:xfrm>
            <a:off x="838200" y="1115736"/>
            <a:ext cx="10515600" cy="4351338"/>
          </a:xfrm>
        </p:spPr>
        <p:txBody>
          <a:bodyPr/>
          <a:lstStyle/>
          <a:p>
            <a:pPr marL="0" indent="0">
              <a:buNone/>
            </a:pPr>
            <a:r>
              <a:rPr lang="en-US" b="1" dirty="0"/>
              <a:t>Galois Fields</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3BD87BDB-87E7-AEAE-33B0-39216944983B}"/>
              </a:ext>
            </a:extLst>
          </p:cNvPr>
          <p:cNvPicPr>
            <a:picLocks noChangeAspect="1"/>
          </p:cNvPicPr>
          <p:nvPr/>
        </p:nvPicPr>
        <p:blipFill>
          <a:blip r:embed="rId2"/>
          <a:stretch>
            <a:fillRect/>
          </a:stretch>
        </p:blipFill>
        <p:spPr>
          <a:xfrm>
            <a:off x="780726" y="1750561"/>
            <a:ext cx="10630548" cy="4835941"/>
          </a:xfrm>
          <a:prstGeom prst="rect">
            <a:avLst/>
          </a:prstGeom>
        </p:spPr>
      </p:pic>
    </p:spTree>
    <p:extLst>
      <p:ext uri="{BB962C8B-B14F-4D97-AF65-F5344CB8AC3E}">
        <p14:creationId xmlns:p14="http://schemas.microsoft.com/office/powerpoint/2010/main" val="31884951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0">
            <a:extLst>
              <a:ext uri="{FF2B5EF4-FFF2-40B4-BE49-F238E27FC236}">
                <a16:creationId xmlns:a16="http://schemas.microsoft.com/office/drawing/2014/main" id="{4FFBEE45-F140-49D5-85EA-C78C24340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A5D170-9537-E1E2-F19B-6C45C4BDED08}"/>
              </a:ext>
            </a:extLst>
          </p:cNvPr>
          <p:cNvSpPr>
            <a:spLocks noGrp="1"/>
          </p:cNvSpPr>
          <p:nvPr>
            <p:ph type="title"/>
          </p:nvPr>
        </p:nvSpPr>
        <p:spPr>
          <a:xfrm>
            <a:off x="838200" y="365125"/>
            <a:ext cx="4928387" cy="5763963"/>
          </a:xfrm>
        </p:spPr>
        <p:txBody>
          <a:bodyPr vert="horz" lIns="91440" tIns="45720" rIns="91440" bIns="45720" rtlCol="0" anchor="ctr">
            <a:normAutofit/>
          </a:bodyPr>
          <a:lstStyle/>
          <a:p>
            <a:r>
              <a:rPr lang="en-US" sz="4000" b="1" kern="1200">
                <a:solidFill>
                  <a:schemeClr val="tx1"/>
                </a:solidFill>
                <a:latin typeface="+mj-lt"/>
                <a:ea typeface="+mj-ea"/>
                <a:cs typeface="+mj-cs"/>
              </a:rPr>
              <a:t>Modular Arithmetic/Polynomial Arithmetic</a:t>
            </a:r>
          </a:p>
        </p:txBody>
      </p:sp>
      <p:sp>
        <p:nvSpPr>
          <p:cNvPr id="3" name="Content Placeholder 2">
            <a:extLst>
              <a:ext uri="{FF2B5EF4-FFF2-40B4-BE49-F238E27FC236}">
                <a16:creationId xmlns:a16="http://schemas.microsoft.com/office/drawing/2014/main" id="{9A2D7542-EF78-6990-6E54-D7CDBD6ACE02}"/>
              </a:ext>
            </a:extLst>
          </p:cNvPr>
          <p:cNvSpPr>
            <a:spLocks noGrp="1"/>
          </p:cNvSpPr>
          <p:nvPr>
            <p:ph idx="1"/>
          </p:nvPr>
        </p:nvSpPr>
        <p:spPr>
          <a:xfrm>
            <a:off x="6191252" y="365125"/>
            <a:ext cx="5181600" cy="2806296"/>
          </a:xfrm>
        </p:spPr>
        <p:txBody>
          <a:bodyPr vert="horz" lIns="91440" tIns="45720" rIns="91440" bIns="45720" rtlCol="0">
            <a:normAutofit/>
          </a:bodyPr>
          <a:lstStyle/>
          <a:p>
            <a:pPr marL="0" indent="0">
              <a:buNone/>
            </a:pPr>
            <a:r>
              <a:rPr lang="en-US" sz="1700" b="1" dirty="0"/>
              <a:t>Modular arithmetic</a:t>
            </a:r>
            <a:r>
              <a:rPr lang="en-US" sz="1700" dirty="0"/>
              <a:t>: Modular arithmetic involves performing arithmetic operations on remainders after division by a fixed integer called the modulus. </a:t>
            </a:r>
          </a:p>
          <a:p>
            <a:pPr marL="0"/>
            <a:r>
              <a:rPr lang="en-US" sz="1700" dirty="0"/>
              <a:t>In cryptography, modular arithmetic is used to create one-way functions, such as in the RSA algorithm. Modular arithmetic is also used in symmetric encryption algorithms such as AES and DES, where it is used to perform arithmetic operations on the binary representations of the plaintext and the key.</a:t>
            </a:r>
          </a:p>
        </p:txBody>
      </p:sp>
      <p:sp>
        <p:nvSpPr>
          <p:cNvPr id="5" name="TextBox 4">
            <a:extLst>
              <a:ext uri="{FF2B5EF4-FFF2-40B4-BE49-F238E27FC236}">
                <a16:creationId xmlns:a16="http://schemas.microsoft.com/office/drawing/2014/main" id="{CFE434E8-3BEE-CDA0-4BBB-16A520248665}"/>
              </a:ext>
            </a:extLst>
          </p:cNvPr>
          <p:cNvSpPr txBox="1"/>
          <p:nvPr/>
        </p:nvSpPr>
        <p:spPr>
          <a:xfrm>
            <a:off x="6191252" y="2919494"/>
            <a:ext cx="5181600" cy="2957666"/>
          </a:xfrm>
          <a:prstGeom prst="rect">
            <a:avLst/>
          </a:prstGeom>
        </p:spPr>
        <p:txBody>
          <a:bodyPr vert="horz" lIns="91440" tIns="45720" rIns="91440" bIns="45720" rtlCol="0">
            <a:noAutofit/>
          </a:bodyPr>
          <a:lstStyle/>
          <a:p>
            <a:pPr>
              <a:lnSpc>
                <a:spcPct val="90000"/>
              </a:lnSpc>
              <a:spcAft>
                <a:spcPts val="600"/>
              </a:spcAft>
            </a:pPr>
            <a:r>
              <a:rPr lang="en-US" b="1" dirty="0"/>
              <a:t>Polynomial arithmetic</a:t>
            </a:r>
            <a:r>
              <a:rPr lang="en-US" dirty="0"/>
              <a:t>: Polynomial arithmetic involves performing arithmetic operations on polynomials. In cryptography, polynomial arithmetic is used in several ways, including:</a:t>
            </a:r>
          </a:p>
          <a:p>
            <a:pPr indent="-228600">
              <a:lnSpc>
                <a:spcPct val="90000"/>
              </a:lnSpc>
              <a:spcAft>
                <a:spcPts val="600"/>
              </a:spcAft>
              <a:buFont typeface="Arial" panose="020B0604020202020204" pitchFamily="34" charset="0"/>
              <a:buChar char="•"/>
            </a:pPr>
            <a:r>
              <a:rPr lang="en-US" dirty="0"/>
              <a:t>In error-correcting codes such as Reed-Solomon codes, where polynomials are used to encode and decode data.</a:t>
            </a:r>
          </a:p>
          <a:p>
            <a:pPr indent="-228600">
              <a:lnSpc>
                <a:spcPct val="90000"/>
              </a:lnSpc>
              <a:spcAft>
                <a:spcPts val="600"/>
              </a:spcAft>
              <a:buFont typeface="Arial" panose="020B0604020202020204" pitchFamily="34" charset="0"/>
              <a:buChar char="•"/>
            </a:pPr>
            <a:r>
              <a:rPr lang="en-US" dirty="0"/>
              <a:t>In elliptic curve cryptography (ECC), where the encryption and decryption operations involve arithmetic operations on points on an elliptic curve represented as polynomials.</a:t>
            </a:r>
          </a:p>
          <a:p>
            <a:pPr indent="-228600">
              <a:lnSpc>
                <a:spcPct val="90000"/>
              </a:lnSpc>
              <a:spcAft>
                <a:spcPts val="600"/>
              </a:spcAft>
              <a:buFont typeface="Arial" panose="020B0604020202020204" pitchFamily="34" charset="0"/>
              <a:buChar char="•"/>
            </a:pPr>
            <a:r>
              <a:rPr lang="en-US" dirty="0"/>
              <a:t>In the Advanced Encryption Standard (AES) algorithm, where the key schedule involves polynomial arithmetic operations.</a:t>
            </a:r>
          </a:p>
        </p:txBody>
      </p:sp>
    </p:spTree>
    <p:extLst>
      <p:ext uri="{BB962C8B-B14F-4D97-AF65-F5344CB8AC3E}">
        <p14:creationId xmlns:p14="http://schemas.microsoft.com/office/powerpoint/2010/main" val="12098584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F53A-CFEC-70B9-97CD-EAB10E6F006B}"/>
              </a:ext>
            </a:extLst>
          </p:cNvPr>
          <p:cNvSpPr>
            <a:spLocks noGrp="1"/>
          </p:cNvSpPr>
          <p:nvPr>
            <p:ph type="title"/>
          </p:nvPr>
        </p:nvSpPr>
        <p:spPr/>
        <p:txBody>
          <a:bodyPr/>
          <a:lstStyle/>
          <a:p>
            <a:r>
              <a:rPr lang="en-US" dirty="0"/>
              <a:t>What is modular arithmetic with example?</a:t>
            </a:r>
            <a:br>
              <a:rPr lang="en-US" dirty="0"/>
            </a:br>
            <a:endParaRPr lang="en-US" dirty="0"/>
          </a:p>
        </p:txBody>
      </p:sp>
      <p:sp>
        <p:nvSpPr>
          <p:cNvPr id="3" name="Content Placeholder 2">
            <a:extLst>
              <a:ext uri="{FF2B5EF4-FFF2-40B4-BE49-F238E27FC236}">
                <a16:creationId xmlns:a16="http://schemas.microsoft.com/office/drawing/2014/main" id="{3BA0DBF1-855C-C6F4-764B-05EFBE07EDBF}"/>
              </a:ext>
            </a:extLst>
          </p:cNvPr>
          <p:cNvSpPr>
            <a:spLocks noGrp="1"/>
          </p:cNvSpPr>
          <p:nvPr>
            <p:ph idx="1"/>
          </p:nvPr>
        </p:nvSpPr>
        <p:spPr/>
        <p:txBody>
          <a:bodyPr/>
          <a:lstStyle/>
          <a:p>
            <a:pPr marL="0" indent="0">
              <a:buNone/>
            </a:pPr>
            <a:r>
              <a:rPr lang="en-US" dirty="0">
                <a:effectLst/>
              </a:rPr>
              <a:t>An intuitive usage of modular arithmetic is with a 12-hour clock. If it is 10:00 now, then in 5 hours the clock will show 3:00 instead of 15:00. 3 is the remainder of 15 with a modulus of 12.</a:t>
            </a:r>
          </a:p>
          <a:p>
            <a:endParaRPr lang="en-US" dirty="0"/>
          </a:p>
        </p:txBody>
      </p:sp>
    </p:spTree>
    <p:extLst>
      <p:ext uri="{BB962C8B-B14F-4D97-AF65-F5344CB8AC3E}">
        <p14:creationId xmlns:p14="http://schemas.microsoft.com/office/powerpoint/2010/main" val="32807770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1378" y="460002"/>
            <a:ext cx="4504055" cy="696595"/>
          </a:xfrm>
          <a:prstGeom prst="rect">
            <a:avLst/>
          </a:prstGeom>
        </p:spPr>
        <p:txBody>
          <a:bodyPr vert="horz" wrap="square" lIns="0" tIns="13335" rIns="0" bIns="0" rtlCol="0" anchor="ctr">
            <a:spAutoFit/>
          </a:bodyPr>
          <a:lstStyle/>
          <a:p>
            <a:pPr marL="12700">
              <a:lnSpc>
                <a:spcPct val="100000"/>
              </a:lnSpc>
              <a:spcBef>
                <a:spcPts val="105"/>
              </a:spcBef>
            </a:pPr>
            <a:r>
              <a:rPr dirty="0"/>
              <a:t>Modular</a:t>
            </a:r>
            <a:r>
              <a:rPr spc="-85" dirty="0"/>
              <a:t> </a:t>
            </a:r>
            <a:r>
              <a:rPr spc="-5" dirty="0"/>
              <a:t>Arithmetic</a:t>
            </a:r>
          </a:p>
        </p:txBody>
      </p:sp>
      <p:sp>
        <p:nvSpPr>
          <p:cNvPr id="3" name="object 3"/>
          <p:cNvSpPr/>
          <p:nvPr/>
        </p:nvSpPr>
        <p:spPr>
          <a:xfrm>
            <a:off x="1524000" y="3427475"/>
            <a:ext cx="9144000" cy="3426460"/>
          </a:xfrm>
          <a:custGeom>
            <a:avLst/>
            <a:gdLst/>
            <a:ahLst/>
            <a:cxnLst/>
            <a:rect l="l" t="t" r="r" b="b"/>
            <a:pathLst>
              <a:path w="9144000" h="3426459">
                <a:moveTo>
                  <a:pt x="9144000" y="0"/>
                </a:moveTo>
                <a:lnTo>
                  <a:pt x="0" y="0"/>
                </a:lnTo>
                <a:lnTo>
                  <a:pt x="0" y="3425952"/>
                </a:lnTo>
                <a:lnTo>
                  <a:pt x="9144000" y="3425952"/>
                </a:lnTo>
                <a:lnTo>
                  <a:pt x="9144000" y="0"/>
                </a:lnTo>
                <a:close/>
              </a:path>
            </a:pathLst>
          </a:custGeom>
          <a:solidFill>
            <a:srgbClr val="FFFFFF"/>
          </a:solidFill>
        </p:spPr>
        <p:txBody>
          <a:bodyPr wrap="square" lIns="0" tIns="0" rIns="0" bIns="0" rtlCol="0"/>
          <a:lstStyle/>
          <a:p>
            <a:endParaRPr/>
          </a:p>
        </p:txBody>
      </p:sp>
      <p:sp>
        <p:nvSpPr>
          <p:cNvPr id="4" name="object 4"/>
          <p:cNvSpPr txBox="1"/>
          <p:nvPr/>
        </p:nvSpPr>
        <p:spPr>
          <a:xfrm>
            <a:off x="2059811" y="1605614"/>
            <a:ext cx="7849870" cy="3537585"/>
          </a:xfrm>
          <a:prstGeom prst="rect">
            <a:avLst/>
          </a:prstGeom>
        </p:spPr>
        <p:txBody>
          <a:bodyPr vert="horz" wrap="square" lIns="0" tIns="13335" rIns="0" bIns="0" rtlCol="0">
            <a:spAutoFit/>
          </a:bodyPr>
          <a:lstStyle/>
          <a:p>
            <a:pPr marL="355600" marR="5080" indent="-343535">
              <a:spcBef>
                <a:spcPts val="105"/>
              </a:spcBef>
              <a:buFont typeface="Arial MT"/>
              <a:buChar char="•"/>
              <a:tabLst>
                <a:tab pos="355600" algn="l"/>
                <a:tab pos="356235" algn="l"/>
              </a:tabLst>
            </a:pPr>
            <a:r>
              <a:rPr sz="3200" spc="-15" dirty="0">
                <a:latin typeface="Calibri"/>
                <a:cs typeface="Calibri"/>
              </a:rPr>
              <a:t>Several</a:t>
            </a:r>
            <a:r>
              <a:rPr sz="3200" spc="-40" dirty="0">
                <a:latin typeface="Calibri"/>
                <a:cs typeface="Calibri"/>
              </a:rPr>
              <a:t> </a:t>
            </a:r>
            <a:r>
              <a:rPr sz="3200" spc="-10" dirty="0">
                <a:latin typeface="Calibri"/>
                <a:cs typeface="Calibri"/>
              </a:rPr>
              <a:t>important</a:t>
            </a:r>
            <a:r>
              <a:rPr sz="3200" spc="10" dirty="0">
                <a:latin typeface="Calibri"/>
                <a:cs typeface="Calibri"/>
              </a:rPr>
              <a:t> </a:t>
            </a:r>
            <a:r>
              <a:rPr sz="3200" spc="-20" dirty="0">
                <a:latin typeface="Calibri"/>
                <a:cs typeface="Calibri"/>
              </a:rPr>
              <a:t>cryptosystems</a:t>
            </a:r>
            <a:r>
              <a:rPr sz="3200" spc="5" dirty="0">
                <a:latin typeface="Calibri"/>
                <a:cs typeface="Calibri"/>
              </a:rPr>
              <a:t> </a:t>
            </a:r>
            <a:r>
              <a:rPr sz="3200" spc="-30" dirty="0">
                <a:latin typeface="Calibri"/>
                <a:cs typeface="Calibri"/>
              </a:rPr>
              <a:t>make</a:t>
            </a:r>
            <a:r>
              <a:rPr sz="3200" spc="-5" dirty="0">
                <a:latin typeface="Calibri"/>
                <a:cs typeface="Calibri"/>
              </a:rPr>
              <a:t> use</a:t>
            </a:r>
            <a:r>
              <a:rPr sz="3200" spc="5" dirty="0">
                <a:latin typeface="Calibri"/>
                <a:cs typeface="Calibri"/>
              </a:rPr>
              <a:t> </a:t>
            </a:r>
            <a:r>
              <a:rPr sz="3200" spc="-5" dirty="0">
                <a:latin typeface="Calibri"/>
                <a:cs typeface="Calibri"/>
              </a:rPr>
              <a:t>of </a:t>
            </a:r>
            <a:r>
              <a:rPr sz="3200" spc="-710" dirty="0">
                <a:latin typeface="Calibri"/>
                <a:cs typeface="Calibri"/>
              </a:rPr>
              <a:t> </a:t>
            </a:r>
            <a:r>
              <a:rPr sz="3200" dirty="0">
                <a:latin typeface="Calibri"/>
                <a:cs typeface="Calibri"/>
              </a:rPr>
              <a:t>modular </a:t>
            </a:r>
            <a:r>
              <a:rPr sz="3200" spc="-5" dirty="0">
                <a:latin typeface="Calibri"/>
                <a:cs typeface="Calibri"/>
              </a:rPr>
              <a:t>arithmetic.</a:t>
            </a:r>
            <a:r>
              <a:rPr sz="3200" spc="30" dirty="0">
                <a:latin typeface="Calibri"/>
                <a:cs typeface="Calibri"/>
              </a:rPr>
              <a:t> </a:t>
            </a:r>
            <a:r>
              <a:rPr sz="3200" spc="-5" dirty="0">
                <a:latin typeface="Calibri"/>
                <a:cs typeface="Calibri"/>
              </a:rPr>
              <a:t>This</a:t>
            </a:r>
            <a:r>
              <a:rPr sz="3200" spc="10" dirty="0">
                <a:latin typeface="Calibri"/>
                <a:cs typeface="Calibri"/>
              </a:rPr>
              <a:t> </a:t>
            </a:r>
            <a:r>
              <a:rPr sz="3200" spc="-5" dirty="0">
                <a:latin typeface="Calibri"/>
                <a:cs typeface="Calibri"/>
              </a:rPr>
              <a:t>is</a:t>
            </a:r>
            <a:r>
              <a:rPr sz="3200" dirty="0">
                <a:latin typeface="Calibri"/>
                <a:cs typeface="Calibri"/>
              </a:rPr>
              <a:t> when</a:t>
            </a:r>
            <a:r>
              <a:rPr sz="3200" spc="-15" dirty="0">
                <a:latin typeface="Calibri"/>
                <a:cs typeface="Calibri"/>
              </a:rPr>
              <a:t> </a:t>
            </a:r>
            <a:r>
              <a:rPr sz="3200" spc="-5" dirty="0">
                <a:latin typeface="Calibri"/>
                <a:cs typeface="Calibri"/>
              </a:rPr>
              <a:t>the</a:t>
            </a:r>
            <a:r>
              <a:rPr sz="3200" spc="10" dirty="0">
                <a:latin typeface="Calibri"/>
                <a:cs typeface="Calibri"/>
              </a:rPr>
              <a:t> </a:t>
            </a:r>
            <a:r>
              <a:rPr sz="3200" spc="-10" dirty="0">
                <a:latin typeface="Calibri"/>
                <a:cs typeface="Calibri"/>
              </a:rPr>
              <a:t>answer </a:t>
            </a:r>
            <a:r>
              <a:rPr sz="3200" spc="-5" dirty="0">
                <a:latin typeface="Calibri"/>
                <a:cs typeface="Calibri"/>
              </a:rPr>
              <a:t> </a:t>
            </a:r>
            <a:r>
              <a:rPr sz="3200" spc="-25" dirty="0">
                <a:latin typeface="Calibri"/>
                <a:cs typeface="Calibri"/>
              </a:rPr>
              <a:t>to</a:t>
            </a:r>
            <a:r>
              <a:rPr sz="3200" spc="-10" dirty="0">
                <a:latin typeface="Calibri"/>
                <a:cs typeface="Calibri"/>
              </a:rPr>
              <a:t> </a:t>
            </a:r>
            <a:r>
              <a:rPr sz="3200" dirty="0">
                <a:latin typeface="Calibri"/>
                <a:cs typeface="Calibri"/>
              </a:rPr>
              <a:t>a</a:t>
            </a:r>
            <a:r>
              <a:rPr sz="3200" spc="5" dirty="0">
                <a:latin typeface="Calibri"/>
                <a:cs typeface="Calibri"/>
              </a:rPr>
              <a:t> </a:t>
            </a:r>
            <a:r>
              <a:rPr sz="3200" spc="-5" dirty="0">
                <a:latin typeface="Calibri"/>
                <a:cs typeface="Calibri"/>
              </a:rPr>
              <a:t>calculation</a:t>
            </a:r>
            <a:r>
              <a:rPr sz="3200" dirty="0">
                <a:latin typeface="Calibri"/>
                <a:cs typeface="Calibri"/>
              </a:rPr>
              <a:t> </a:t>
            </a:r>
            <a:r>
              <a:rPr sz="3200" spc="-5" dirty="0">
                <a:latin typeface="Calibri"/>
                <a:cs typeface="Calibri"/>
              </a:rPr>
              <a:t>is</a:t>
            </a:r>
            <a:r>
              <a:rPr sz="3200" dirty="0">
                <a:latin typeface="Calibri"/>
                <a:cs typeface="Calibri"/>
              </a:rPr>
              <a:t> </a:t>
            </a:r>
            <a:r>
              <a:rPr sz="3200" spc="-20" dirty="0">
                <a:latin typeface="Calibri"/>
                <a:cs typeface="Calibri"/>
              </a:rPr>
              <a:t>always</a:t>
            </a:r>
            <a:r>
              <a:rPr sz="3200" dirty="0">
                <a:latin typeface="Calibri"/>
                <a:cs typeface="Calibri"/>
              </a:rPr>
              <a:t> </a:t>
            </a:r>
            <a:r>
              <a:rPr sz="3200" spc="-5" dirty="0">
                <a:latin typeface="Calibri"/>
                <a:cs typeface="Calibri"/>
              </a:rPr>
              <a:t>in the</a:t>
            </a:r>
            <a:r>
              <a:rPr sz="3200" spc="10" dirty="0">
                <a:latin typeface="Calibri"/>
                <a:cs typeface="Calibri"/>
              </a:rPr>
              <a:t> </a:t>
            </a:r>
            <a:r>
              <a:rPr sz="3200" spc="-20" dirty="0">
                <a:latin typeface="Calibri"/>
                <a:cs typeface="Calibri"/>
              </a:rPr>
              <a:t>range</a:t>
            </a:r>
            <a:r>
              <a:rPr sz="3200" spc="-10" dirty="0">
                <a:latin typeface="Calibri"/>
                <a:cs typeface="Calibri"/>
              </a:rPr>
              <a:t> </a:t>
            </a:r>
            <a:r>
              <a:rPr sz="3200" i="1" dirty="0">
                <a:latin typeface="Calibri"/>
                <a:cs typeface="Calibri"/>
              </a:rPr>
              <a:t>0 –</a:t>
            </a:r>
            <a:r>
              <a:rPr sz="3200" i="1" spc="-5" dirty="0">
                <a:latin typeface="Calibri"/>
                <a:cs typeface="Calibri"/>
              </a:rPr>
              <a:t> </a:t>
            </a:r>
            <a:r>
              <a:rPr sz="3200" i="1" dirty="0">
                <a:latin typeface="Calibri"/>
                <a:cs typeface="Calibri"/>
              </a:rPr>
              <a:t>n </a:t>
            </a:r>
            <a:r>
              <a:rPr sz="3200" i="1" spc="5" dirty="0">
                <a:latin typeface="Calibri"/>
                <a:cs typeface="Calibri"/>
              </a:rPr>
              <a:t> </a:t>
            </a:r>
            <a:r>
              <a:rPr sz="3200" spc="-10" dirty="0">
                <a:latin typeface="Calibri"/>
                <a:cs typeface="Calibri"/>
              </a:rPr>
              <a:t>where</a:t>
            </a:r>
            <a:r>
              <a:rPr sz="3200" spc="-45" dirty="0">
                <a:latin typeface="Calibri"/>
                <a:cs typeface="Calibri"/>
              </a:rPr>
              <a:t> </a:t>
            </a:r>
            <a:r>
              <a:rPr sz="3200" dirty="0">
                <a:latin typeface="Calibri"/>
                <a:cs typeface="Calibri"/>
              </a:rPr>
              <a:t>n</a:t>
            </a:r>
            <a:r>
              <a:rPr sz="3200" spc="-5" dirty="0">
                <a:latin typeface="Calibri"/>
                <a:cs typeface="Calibri"/>
              </a:rPr>
              <a:t> is</a:t>
            </a:r>
            <a:r>
              <a:rPr sz="3200" spc="15" dirty="0">
                <a:latin typeface="Calibri"/>
                <a:cs typeface="Calibri"/>
              </a:rPr>
              <a:t> </a:t>
            </a:r>
            <a:r>
              <a:rPr sz="3200" spc="-5" dirty="0">
                <a:latin typeface="Calibri"/>
                <a:cs typeface="Calibri"/>
              </a:rPr>
              <a:t>the </a:t>
            </a:r>
            <a:r>
              <a:rPr sz="3200" b="1" dirty="0">
                <a:latin typeface="Calibri"/>
                <a:cs typeface="Calibri"/>
              </a:rPr>
              <a:t>modulus</a:t>
            </a:r>
            <a:r>
              <a:rPr sz="3200" dirty="0">
                <a:latin typeface="Calibri"/>
                <a:cs typeface="Calibri"/>
              </a:rPr>
              <a:t>.</a:t>
            </a:r>
            <a:endParaRPr sz="3200">
              <a:latin typeface="Calibri"/>
              <a:cs typeface="Calibri"/>
            </a:endParaRPr>
          </a:p>
          <a:p>
            <a:pPr marL="355600" marR="28575" indent="-343535">
              <a:spcBef>
                <a:spcPts val="765"/>
              </a:spcBef>
              <a:buFont typeface="Arial MT"/>
              <a:buChar char="•"/>
              <a:tabLst>
                <a:tab pos="355600" algn="l"/>
                <a:tab pos="356235" algn="l"/>
              </a:tabLst>
            </a:pPr>
            <a:r>
              <a:rPr sz="3200" spc="-145" dirty="0">
                <a:latin typeface="Calibri"/>
                <a:cs typeface="Calibri"/>
              </a:rPr>
              <a:t>To</a:t>
            </a:r>
            <a:r>
              <a:rPr sz="3200" spc="-10" dirty="0">
                <a:latin typeface="Calibri"/>
                <a:cs typeface="Calibri"/>
              </a:rPr>
              <a:t> calculate</a:t>
            </a:r>
            <a:r>
              <a:rPr sz="3200" dirty="0">
                <a:latin typeface="Calibri"/>
                <a:cs typeface="Calibri"/>
              </a:rPr>
              <a:t> </a:t>
            </a:r>
            <a:r>
              <a:rPr sz="3200" spc="-5" dirty="0">
                <a:latin typeface="Calibri"/>
                <a:cs typeface="Calibri"/>
              </a:rPr>
              <a:t>the </a:t>
            </a:r>
            <a:r>
              <a:rPr sz="3200" spc="-10" dirty="0">
                <a:latin typeface="Calibri"/>
                <a:cs typeface="Calibri"/>
              </a:rPr>
              <a:t>value</a:t>
            </a:r>
            <a:r>
              <a:rPr sz="3200" dirty="0">
                <a:latin typeface="Calibri"/>
                <a:cs typeface="Calibri"/>
              </a:rPr>
              <a:t> of</a:t>
            </a:r>
            <a:r>
              <a:rPr sz="3200" spc="-15" dirty="0">
                <a:latin typeface="Calibri"/>
                <a:cs typeface="Calibri"/>
              </a:rPr>
              <a:t> </a:t>
            </a:r>
            <a:r>
              <a:rPr sz="3200" i="1" dirty="0">
                <a:latin typeface="Calibri"/>
                <a:cs typeface="Calibri"/>
              </a:rPr>
              <a:t>b</a:t>
            </a:r>
            <a:r>
              <a:rPr sz="3200" i="1" spc="-5" dirty="0">
                <a:latin typeface="Calibri"/>
                <a:cs typeface="Calibri"/>
              </a:rPr>
              <a:t> mod</a:t>
            </a:r>
            <a:r>
              <a:rPr sz="3200" i="1" dirty="0">
                <a:latin typeface="Calibri"/>
                <a:cs typeface="Calibri"/>
              </a:rPr>
              <a:t> </a:t>
            </a:r>
            <a:r>
              <a:rPr sz="3200" i="1" spc="-5" dirty="0">
                <a:latin typeface="Calibri"/>
                <a:cs typeface="Calibri"/>
              </a:rPr>
              <a:t>n</a:t>
            </a:r>
            <a:r>
              <a:rPr sz="3200" spc="-5" dirty="0">
                <a:latin typeface="Calibri"/>
                <a:cs typeface="Calibri"/>
              </a:rPr>
              <a:t>,</a:t>
            </a:r>
            <a:r>
              <a:rPr sz="3200" dirty="0">
                <a:latin typeface="Calibri"/>
                <a:cs typeface="Calibri"/>
              </a:rPr>
              <a:t> </a:t>
            </a:r>
            <a:r>
              <a:rPr sz="3200" spc="-15" dirty="0">
                <a:latin typeface="Calibri"/>
                <a:cs typeface="Calibri"/>
              </a:rPr>
              <a:t>you</a:t>
            </a:r>
            <a:r>
              <a:rPr sz="3200" dirty="0">
                <a:latin typeface="Calibri"/>
                <a:cs typeface="Calibri"/>
              </a:rPr>
              <a:t> </a:t>
            </a:r>
            <a:r>
              <a:rPr sz="3200" spc="-40" dirty="0">
                <a:latin typeface="Calibri"/>
                <a:cs typeface="Calibri"/>
              </a:rPr>
              <a:t>take </a:t>
            </a:r>
            <a:r>
              <a:rPr sz="3200" spc="-35" dirty="0">
                <a:latin typeface="Calibri"/>
                <a:cs typeface="Calibri"/>
              </a:rPr>
              <a:t> </a:t>
            </a:r>
            <a:r>
              <a:rPr sz="3200" spc="-30" dirty="0">
                <a:latin typeface="Calibri"/>
                <a:cs typeface="Calibri"/>
              </a:rPr>
              <a:t>away</a:t>
            </a:r>
            <a:r>
              <a:rPr sz="3200" spc="-20" dirty="0">
                <a:latin typeface="Calibri"/>
                <a:cs typeface="Calibri"/>
              </a:rPr>
              <a:t> </a:t>
            </a:r>
            <a:r>
              <a:rPr sz="3200" dirty="0">
                <a:latin typeface="Calibri"/>
                <a:cs typeface="Calibri"/>
              </a:rPr>
              <a:t>as </a:t>
            </a:r>
            <a:r>
              <a:rPr sz="3200" spc="-15" dirty="0">
                <a:latin typeface="Calibri"/>
                <a:cs typeface="Calibri"/>
              </a:rPr>
              <a:t>many</a:t>
            </a:r>
            <a:r>
              <a:rPr sz="3200" spc="15" dirty="0">
                <a:latin typeface="Calibri"/>
                <a:cs typeface="Calibri"/>
              </a:rPr>
              <a:t> </a:t>
            </a:r>
            <a:r>
              <a:rPr sz="3200" spc="-5" dirty="0">
                <a:latin typeface="Calibri"/>
                <a:cs typeface="Calibri"/>
              </a:rPr>
              <a:t>multiples</a:t>
            </a:r>
            <a:r>
              <a:rPr sz="3200" spc="20" dirty="0">
                <a:latin typeface="Calibri"/>
                <a:cs typeface="Calibri"/>
              </a:rPr>
              <a:t> </a:t>
            </a:r>
            <a:r>
              <a:rPr sz="3200" spc="-5" dirty="0">
                <a:latin typeface="Calibri"/>
                <a:cs typeface="Calibri"/>
              </a:rPr>
              <a:t>of </a:t>
            </a:r>
            <a:r>
              <a:rPr sz="3200" dirty="0">
                <a:latin typeface="Calibri"/>
                <a:cs typeface="Calibri"/>
              </a:rPr>
              <a:t>n</a:t>
            </a:r>
            <a:r>
              <a:rPr sz="3200" spc="-5" dirty="0">
                <a:latin typeface="Calibri"/>
                <a:cs typeface="Calibri"/>
              </a:rPr>
              <a:t> </a:t>
            </a:r>
            <a:r>
              <a:rPr sz="3200" dirty="0">
                <a:latin typeface="Calibri"/>
                <a:cs typeface="Calibri"/>
              </a:rPr>
              <a:t>as</a:t>
            </a:r>
            <a:r>
              <a:rPr sz="3200" spc="-15" dirty="0">
                <a:latin typeface="Calibri"/>
                <a:cs typeface="Calibri"/>
              </a:rPr>
              <a:t> </a:t>
            </a:r>
            <a:r>
              <a:rPr sz="3200" spc="-5" dirty="0">
                <a:latin typeface="Calibri"/>
                <a:cs typeface="Calibri"/>
              </a:rPr>
              <a:t>possible</a:t>
            </a:r>
            <a:r>
              <a:rPr sz="3200" spc="10" dirty="0">
                <a:latin typeface="Calibri"/>
                <a:cs typeface="Calibri"/>
              </a:rPr>
              <a:t> </a:t>
            </a:r>
            <a:r>
              <a:rPr sz="3200" spc="-10" dirty="0">
                <a:latin typeface="Calibri"/>
                <a:cs typeface="Calibri"/>
              </a:rPr>
              <a:t>until </a:t>
            </a:r>
            <a:r>
              <a:rPr sz="3200" spc="-710" dirty="0">
                <a:latin typeface="Calibri"/>
                <a:cs typeface="Calibri"/>
              </a:rPr>
              <a:t> </a:t>
            </a:r>
            <a:r>
              <a:rPr sz="3200" spc="-15" dirty="0">
                <a:latin typeface="Calibri"/>
                <a:cs typeface="Calibri"/>
              </a:rPr>
              <a:t>you</a:t>
            </a:r>
            <a:r>
              <a:rPr sz="3200" spc="-20" dirty="0">
                <a:latin typeface="Calibri"/>
                <a:cs typeface="Calibri"/>
              </a:rPr>
              <a:t> </a:t>
            </a:r>
            <a:r>
              <a:rPr sz="3200" spc="-15" dirty="0">
                <a:latin typeface="Calibri"/>
                <a:cs typeface="Calibri"/>
              </a:rPr>
              <a:t>are </a:t>
            </a:r>
            <a:r>
              <a:rPr sz="3200" spc="-10" dirty="0">
                <a:latin typeface="Calibri"/>
                <a:cs typeface="Calibri"/>
              </a:rPr>
              <a:t>left</a:t>
            </a:r>
            <a:r>
              <a:rPr sz="3200" dirty="0">
                <a:latin typeface="Calibri"/>
                <a:cs typeface="Calibri"/>
              </a:rPr>
              <a:t> with</a:t>
            </a:r>
            <a:r>
              <a:rPr sz="3200" spc="10" dirty="0">
                <a:latin typeface="Calibri"/>
                <a:cs typeface="Calibri"/>
              </a:rPr>
              <a:t> </a:t>
            </a:r>
            <a:r>
              <a:rPr sz="3200" dirty="0">
                <a:latin typeface="Calibri"/>
                <a:cs typeface="Calibri"/>
              </a:rPr>
              <a:t>an</a:t>
            </a:r>
            <a:r>
              <a:rPr sz="3200" spc="5" dirty="0">
                <a:latin typeface="Calibri"/>
                <a:cs typeface="Calibri"/>
              </a:rPr>
              <a:t> </a:t>
            </a:r>
            <a:r>
              <a:rPr sz="3200" spc="-10" dirty="0">
                <a:latin typeface="Calibri"/>
                <a:cs typeface="Calibri"/>
              </a:rPr>
              <a:t>answer between</a:t>
            </a:r>
            <a:r>
              <a:rPr sz="3200" spc="-25" dirty="0">
                <a:latin typeface="Calibri"/>
                <a:cs typeface="Calibri"/>
              </a:rPr>
              <a:t> </a:t>
            </a:r>
            <a:r>
              <a:rPr sz="3200" i="1" dirty="0">
                <a:latin typeface="Calibri"/>
                <a:cs typeface="Calibri"/>
              </a:rPr>
              <a:t>0</a:t>
            </a:r>
            <a:r>
              <a:rPr sz="3200" i="1" spc="5" dirty="0">
                <a:latin typeface="Calibri"/>
                <a:cs typeface="Calibri"/>
              </a:rPr>
              <a:t> </a:t>
            </a:r>
            <a:r>
              <a:rPr sz="3200" dirty="0">
                <a:latin typeface="Calibri"/>
                <a:cs typeface="Calibri"/>
              </a:rPr>
              <a:t>and</a:t>
            </a:r>
            <a:r>
              <a:rPr sz="3200" spc="15" dirty="0">
                <a:latin typeface="Calibri"/>
                <a:cs typeface="Calibri"/>
              </a:rPr>
              <a:t> </a:t>
            </a:r>
            <a:r>
              <a:rPr sz="3200" i="1" spc="-5" dirty="0">
                <a:latin typeface="Calibri"/>
                <a:cs typeface="Calibri"/>
              </a:rPr>
              <a:t>n</a:t>
            </a:r>
            <a:r>
              <a:rPr sz="3200" spc="-5" dirty="0">
                <a:latin typeface="Calibri"/>
                <a:cs typeface="Calibri"/>
              </a:rPr>
              <a:t>.</a:t>
            </a:r>
            <a:endParaRPr sz="3200">
              <a:latin typeface="Calibri"/>
              <a:cs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3011" y="495010"/>
            <a:ext cx="7781290" cy="635000"/>
          </a:xfrm>
          <a:prstGeom prst="rect">
            <a:avLst/>
          </a:prstGeom>
        </p:spPr>
        <p:txBody>
          <a:bodyPr vert="horz" wrap="square" lIns="0" tIns="12065" rIns="0" bIns="0" rtlCol="0" anchor="ctr">
            <a:spAutoFit/>
          </a:bodyPr>
          <a:lstStyle/>
          <a:p>
            <a:pPr marL="12700">
              <a:lnSpc>
                <a:spcPct val="100000"/>
              </a:lnSpc>
              <a:spcBef>
                <a:spcPts val="95"/>
              </a:spcBef>
            </a:pPr>
            <a:r>
              <a:rPr sz="4000" spc="-5" dirty="0"/>
              <a:t>Clock</a:t>
            </a:r>
            <a:r>
              <a:rPr sz="4000" spc="-40" dirty="0"/>
              <a:t> </a:t>
            </a:r>
            <a:r>
              <a:rPr sz="4000" spc="-5" dirty="0"/>
              <a:t>Method</a:t>
            </a:r>
            <a:r>
              <a:rPr sz="4000" spc="-20" dirty="0"/>
              <a:t> </a:t>
            </a:r>
            <a:r>
              <a:rPr sz="4000" spc="-30" dirty="0"/>
              <a:t>for</a:t>
            </a:r>
            <a:r>
              <a:rPr sz="4000" spc="-15" dirty="0"/>
              <a:t> </a:t>
            </a:r>
            <a:r>
              <a:rPr sz="4000" spc="-5" dirty="0"/>
              <a:t>Modular</a:t>
            </a:r>
            <a:r>
              <a:rPr sz="4000" spc="-15" dirty="0"/>
              <a:t> </a:t>
            </a:r>
            <a:r>
              <a:rPr sz="4000" spc="-5" dirty="0"/>
              <a:t>Arithmetic</a:t>
            </a:r>
            <a:endParaRPr sz="4000"/>
          </a:p>
        </p:txBody>
      </p:sp>
      <p:sp>
        <p:nvSpPr>
          <p:cNvPr id="3" name="object 3"/>
          <p:cNvSpPr txBox="1"/>
          <p:nvPr/>
        </p:nvSpPr>
        <p:spPr>
          <a:xfrm>
            <a:off x="1996513" y="1543185"/>
            <a:ext cx="4418330" cy="4050029"/>
          </a:xfrm>
          <a:prstGeom prst="rect">
            <a:avLst/>
          </a:prstGeom>
        </p:spPr>
        <p:txBody>
          <a:bodyPr vert="horz" wrap="square" lIns="0" tIns="85725" rIns="0" bIns="0" rtlCol="0">
            <a:spAutoFit/>
          </a:bodyPr>
          <a:lstStyle/>
          <a:p>
            <a:pPr marL="419100" marR="81280" indent="-343535" algn="just">
              <a:lnSpc>
                <a:spcPts val="2400"/>
              </a:lnSpc>
              <a:spcBef>
                <a:spcPts val="675"/>
              </a:spcBef>
              <a:buFont typeface="Arial MT"/>
              <a:buChar char="•"/>
              <a:tabLst>
                <a:tab pos="419734" algn="l"/>
              </a:tabLst>
            </a:pPr>
            <a:r>
              <a:rPr sz="2500" spc="-10" dirty="0">
                <a:latin typeface="Calibri"/>
                <a:cs typeface="Calibri"/>
              </a:rPr>
              <a:t>Label </a:t>
            </a:r>
            <a:r>
              <a:rPr sz="2500" spc="-5" dirty="0">
                <a:latin typeface="Calibri"/>
                <a:cs typeface="Calibri"/>
              </a:rPr>
              <a:t>0 </a:t>
            </a:r>
            <a:r>
              <a:rPr sz="2500" spc="-20" dirty="0">
                <a:latin typeface="Calibri"/>
                <a:cs typeface="Calibri"/>
              </a:rPr>
              <a:t>to </a:t>
            </a:r>
            <a:r>
              <a:rPr sz="2500" spc="-5" dirty="0">
                <a:latin typeface="Calibri"/>
                <a:cs typeface="Calibri"/>
              </a:rPr>
              <a:t>(n-1) </a:t>
            </a:r>
            <a:r>
              <a:rPr sz="2500" spc="-25" dirty="0">
                <a:latin typeface="Calibri"/>
                <a:cs typeface="Calibri"/>
              </a:rPr>
              <a:t>for </a:t>
            </a:r>
            <a:r>
              <a:rPr sz="2500" spc="-5" dirty="0">
                <a:latin typeface="Calibri"/>
                <a:cs typeface="Calibri"/>
              </a:rPr>
              <a:t>mod n on a </a:t>
            </a:r>
            <a:r>
              <a:rPr sz="2500" spc="-555" dirty="0">
                <a:latin typeface="Calibri"/>
                <a:cs typeface="Calibri"/>
              </a:rPr>
              <a:t> </a:t>
            </a:r>
            <a:r>
              <a:rPr sz="2500" spc="-5" dirty="0">
                <a:latin typeface="Calibri"/>
                <a:cs typeface="Calibri"/>
              </a:rPr>
              <a:t>clock.</a:t>
            </a:r>
            <a:endParaRPr sz="2500" dirty="0">
              <a:latin typeface="Calibri"/>
              <a:cs typeface="Calibri"/>
            </a:endParaRPr>
          </a:p>
          <a:p>
            <a:pPr marL="419100" marR="222250" indent="-343535" algn="just">
              <a:lnSpc>
                <a:spcPct val="80000"/>
              </a:lnSpc>
              <a:spcBef>
                <a:spcPts val="620"/>
              </a:spcBef>
              <a:buFont typeface="Arial MT"/>
              <a:buChar char="•"/>
              <a:tabLst>
                <a:tab pos="419734" algn="l"/>
              </a:tabLst>
            </a:pPr>
            <a:r>
              <a:rPr sz="2500" spc="-20" dirty="0">
                <a:latin typeface="Calibri"/>
                <a:cs typeface="Calibri"/>
              </a:rPr>
              <a:t>For </a:t>
            </a:r>
            <a:r>
              <a:rPr sz="2500" spc="-5" dirty="0">
                <a:latin typeface="Calibri"/>
                <a:cs typeface="Calibri"/>
              </a:rPr>
              <a:t>addition </a:t>
            </a:r>
            <a:r>
              <a:rPr sz="2500" spc="-15" dirty="0">
                <a:latin typeface="Calibri"/>
                <a:cs typeface="Calibri"/>
              </a:rPr>
              <a:t>count </a:t>
            </a:r>
            <a:r>
              <a:rPr sz="2500" spc="-5" dirty="0">
                <a:latin typeface="Calibri"/>
                <a:cs typeface="Calibri"/>
              </a:rPr>
              <a:t>clockwise </a:t>
            </a:r>
            <a:r>
              <a:rPr sz="2500" dirty="0">
                <a:latin typeface="Calibri"/>
                <a:cs typeface="Calibri"/>
              </a:rPr>
              <a:t> </a:t>
            </a:r>
            <a:r>
              <a:rPr sz="2500" spc="-5" dirty="0">
                <a:latin typeface="Calibri"/>
                <a:cs typeface="Calibri"/>
              </a:rPr>
              <a:t>the </a:t>
            </a:r>
            <a:r>
              <a:rPr sz="2500" spc="-10" dirty="0">
                <a:latin typeface="Calibri"/>
                <a:cs typeface="Calibri"/>
              </a:rPr>
              <a:t>value </a:t>
            </a:r>
            <a:r>
              <a:rPr sz="2500" dirty="0">
                <a:latin typeface="Calibri"/>
                <a:cs typeface="Calibri"/>
              </a:rPr>
              <a:t>of 2</a:t>
            </a:r>
            <a:r>
              <a:rPr sz="2475" baseline="25252" dirty="0">
                <a:latin typeface="Calibri"/>
                <a:cs typeface="Calibri"/>
              </a:rPr>
              <a:t>nd </a:t>
            </a:r>
            <a:r>
              <a:rPr sz="2500" spc="-10" dirty="0">
                <a:latin typeface="Calibri"/>
                <a:cs typeface="Calibri"/>
              </a:rPr>
              <a:t>number </a:t>
            </a:r>
            <a:r>
              <a:rPr sz="2500" spc="-20" dirty="0">
                <a:latin typeface="Calibri"/>
                <a:cs typeface="Calibri"/>
              </a:rPr>
              <a:t>from </a:t>
            </a:r>
            <a:r>
              <a:rPr sz="2500" spc="-555" dirty="0">
                <a:latin typeface="Calibri"/>
                <a:cs typeface="Calibri"/>
              </a:rPr>
              <a:t> </a:t>
            </a:r>
            <a:r>
              <a:rPr sz="2500" spc="-5" dirty="0">
                <a:latin typeface="Calibri"/>
                <a:cs typeface="Calibri"/>
              </a:rPr>
              <a:t>the</a:t>
            </a:r>
            <a:r>
              <a:rPr sz="2500" spc="-15" dirty="0">
                <a:latin typeface="Calibri"/>
                <a:cs typeface="Calibri"/>
              </a:rPr>
              <a:t> </a:t>
            </a:r>
            <a:r>
              <a:rPr sz="2500" spc="-10" dirty="0">
                <a:latin typeface="Calibri"/>
                <a:cs typeface="Calibri"/>
              </a:rPr>
              <a:t>value </a:t>
            </a:r>
            <a:r>
              <a:rPr sz="2500" dirty="0">
                <a:latin typeface="Calibri"/>
                <a:cs typeface="Calibri"/>
              </a:rPr>
              <a:t>of</a:t>
            </a:r>
            <a:r>
              <a:rPr sz="2500" spc="-10" dirty="0">
                <a:latin typeface="Calibri"/>
                <a:cs typeface="Calibri"/>
              </a:rPr>
              <a:t> 1</a:t>
            </a:r>
            <a:r>
              <a:rPr sz="2475" spc="-15" baseline="25252" dirty="0">
                <a:latin typeface="Calibri"/>
                <a:cs typeface="Calibri"/>
              </a:rPr>
              <a:t>st</a:t>
            </a:r>
            <a:r>
              <a:rPr sz="2475" spc="300" baseline="25252" dirty="0">
                <a:latin typeface="Calibri"/>
                <a:cs typeface="Calibri"/>
              </a:rPr>
              <a:t> </a:t>
            </a:r>
            <a:r>
              <a:rPr sz="2500" spc="-45" dirty="0">
                <a:latin typeface="Calibri"/>
                <a:cs typeface="Calibri"/>
              </a:rPr>
              <a:t>number.</a:t>
            </a:r>
            <a:endParaRPr sz="2500" dirty="0">
              <a:latin typeface="Calibri"/>
              <a:cs typeface="Calibri"/>
            </a:endParaRPr>
          </a:p>
          <a:p>
            <a:pPr marL="419100" marR="293370" indent="-343535">
              <a:lnSpc>
                <a:spcPct val="80000"/>
              </a:lnSpc>
              <a:spcBef>
                <a:spcPts val="600"/>
              </a:spcBef>
              <a:buFont typeface="Arial MT"/>
              <a:buChar char="•"/>
              <a:tabLst>
                <a:tab pos="419100" algn="l"/>
                <a:tab pos="419734" algn="l"/>
              </a:tabLst>
            </a:pPr>
            <a:r>
              <a:rPr sz="2500" spc="-20" dirty="0">
                <a:latin typeface="Calibri"/>
                <a:cs typeface="Calibri"/>
              </a:rPr>
              <a:t>For</a:t>
            </a:r>
            <a:r>
              <a:rPr sz="2500" spc="-25" dirty="0">
                <a:latin typeface="Calibri"/>
                <a:cs typeface="Calibri"/>
              </a:rPr>
              <a:t> </a:t>
            </a:r>
            <a:r>
              <a:rPr sz="2500" spc="-10" dirty="0">
                <a:latin typeface="Calibri"/>
                <a:cs typeface="Calibri"/>
              </a:rPr>
              <a:t>subtraction</a:t>
            </a:r>
            <a:r>
              <a:rPr sz="2500" spc="-5" dirty="0">
                <a:latin typeface="Calibri"/>
                <a:cs typeface="Calibri"/>
              </a:rPr>
              <a:t> </a:t>
            </a:r>
            <a:r>
              <a:rPr sz="2500" spc="-15" dirty="0">
                <a:latin typeface="Calibri"/>
                <a:cs typeface="Calibri"/>
              </a:rPr>
              <a:t>count</a:t>
            </a:r>
            <a:r>
              <a:rPr sz="2500" spc="-10" dirty="0">
                <a:latin typeface="Calibri"/>
                <a:cs typeface="Calibri"/>
              </a:rPr>
              <a:t> anti- </a:t>
            </a:r>
            <a:r>
              <a:rPr sz="2500" spc="-5" dirty="0">
                <a:latin typeface="Calibri"/>
                <a:cs typeface="Calibri"/>
              </a:rPr>
              <a:t> clockwise the </a:t>
            </a:r>
            <a:r>
              <a:rPr sz="2500" spc="-10" dirty="0">
                <a:latin typeface="Calibri"/>
                <a:cs typeface="Calibri"/>
              </a:rPr>
              <a:t>value </a:t>
            </a:r>
            <a:r>
              <a:rPr sz="2500" dirty="0">
                <a:latin typeface="Calibri"/>
                <a:cs typeface="Calibri"/>
              </a:rPr>
              <a:t>of 2</a:t>
            </a:r>
            <a:r>
              <a:rPr sz="2475" baseline="25252" dirty="0">
                <a:latin typeface="Calibri"/>
                <a:cs typeface="Calibri"/>
              </a:rPr>
              <a:t>nd </a:t>
            </a:r>
            <a:r>
              <a:rPr sz="2475" spc="7" baseline="25252" dirty="0">
                <a:latin typeface="Calibri"/>
                <a:cs typeface="Calibri"/>
              </a:rPr>
              <a:t> </a:t>
            </a:r>
            <a:r>
              <a:rPr sz="2500" spc="-10" dirty="0">
                <a:latin typeface="Calibri"/>
                <a:cs typeface="Calibri"/>
              </a:rPr>
              <a:t>number </a:t>
            </a:r>
            <a:r>
              <a:rPr sz="2500" spc="-15" dirty="0">
                <a:latin typeface="Calibri"/>
                <a:cs typeface="Calibri"/>
              </a:rPr>
              <a:t>from </a:t>
            </a:r>
            <a:r>
              <a:rPr sz="2500" spc="-5" dirty="0">
                <a:latin typeface="Calibri"/>
                <a:cs typeface="Calibri"/>
              </a:rPr>
              <a:t>the </a:t>
            </a:r>
            <a:r>
              <a:rPr sz="2500" spc="-10" dirty="0">
                <a:latin typeface="Calibri"/>
                <a:cs typeface="Calibri"/>
              </a:rPr>
              <a:t>value </a:t>
            </a:r>
            <a:r>
              <a:rPr sz="2500" dirty="0">
                <a:latin typeface="Calibri"/>
                <a:cs typeface="Calibri"/>
              </a:rPr>
              <a:t>of </a:t>
            </a:r>
            <a:r>
              <a:rPr sz="2500" spc="-5" dirty="0">
                <a:latin typeface="Calibri"/>
                <a:cs typeface="Calibri"/>
              </a:rPr>
              <a:t>1</a:t>
            </a:r>
            <a:r>
              <a:rPr sz="2475" spc="-7" baseline="25252" dirty="0">
                <a:latin typeface="Calibri"/>
                <a:cs typeface="Calibri"/>
              </a:rPr>
              <a:t>st </a:t>
            </a:r>
            <a:r>
              <a:rPr sz="2475" spc="-540" baseline="25252" dirty="0">
                <a:latin typeface="Calibri"/>
                <a:cs typeface="Calibri"/>
              </a:rPr>
              <a:t> </a:t>
            </a:r>
            <a:r>
              <a:rPr sz="2500" spc="-45" dirty="0">
                <a:latin typeface="Calibri"/>
                <a:cs typeface="Calibri"/>
              </a:rPr>
              <a:t>number.</a:t>
            </a:r>
            <a:endParaRPr sz="2500" dirty="0">
              <a:latin typeface="Calibri"/>
              <a:cs typeface="Calibri"/>
            </a:endParaRPr>
          </a:p>
          <a:p>
            <a:pPr marL="419100" indent="-343535">
              <a:buFont typeface="Arial MT"/>
              <a:buChar char="•"/>
              <a:tabLst>
                <a:tab pos="419100" algn="l"/>
                <a:tab pos="419734" algn="l"/>
              </a:tabLst>
            </a:pPr>
            <a:r>
              <a:rPr sz="2500" spc="5" dirty="0">
                <a:latin typeface="Calibri"/>
                <a:cs typeface="Calibri"/>
              </a:rPr>
              <a:t>e.g.</a:t>
            </a:r>
            <a:r>
              <a:rPr sz="2500" spc="-40" dirty="0">
                <a:latin typeface="Calibri"/>
                <a:cs typeface="Calibri"/>
              </a:rPr>
              <a:t> </a:t>
            </a:r>
            <a:r>
              <a:rPr sz="2500" spc="-15" dirty="0">
                <a:latin typeface="Calibri"/>
                <a:cs typeface="Calibri"/>
              </a:rPr>
              <a:t>from</a:t>
            </a:r>
            <a:r>
              <a:rPr sz="2500" spc="-10" dirty="0">
                <a:latin typeface="Calibri"/>
                <a:cs typeface="Calibri"/>
              </a:rPr>
              <a:t> </a:t>
            </a:r>
            <a:r>
              <a:rPr sz="2500" spc="-15" dirty="0">
                <a:latin typeface="Calibri"/>
                <a:cs typeface="Calibri"/>
              </a:rPr>
              <a:t>figure</a:t>
            </a:r>
            <a:r>
              <a:rPr sz="2500" spc="10" dirty="0">
                <a:latin typeface="Calibri"/>
                <a:cs typeface="Calibri"/>
              </a:rPr>
              <a:t> </a:t>
            </a:r>
            <a:r>
              <a:rPr sz="2500" spc="-15" dirty="0">
                <a:latin typeface="Calibri"/>
                <a:cs typeface="Calibri"/>
              </a:rPr>
              <a:t>we</a:t>
            </a:r>
            <a:r>
              <a:rPr sz="2500" spc="10" dirty="0">
                <a:latin typeface="Calibri"/>
                <a:cs typeface="Calibri"/>
              </a:rPr>
              <a:t> </a:t>
            </a:r>
            <a:r>
              <a:rPr sz="2500" spc="-15" dirty="0">
                <a:latin typeface="Calibri"/>
                <a:cs typeface="Calibri"/>
              </a:rPr>
              <a:t>can</a:t>
            </a:r>
            <a:r>
              <a:rPr sz="2500" dirty="0">
                <a:latin typeface="Calibri"/>
                <a:cs typeface="Calibri"/>
              </a:rPr>
              <a:t> </a:t>
            </a:r>
            <a:r>
              <a:rPr sz="2500" spc="-5" dirty="0">
                <a:latin typeface="Calibri"/>
                <a:cs typeface="Calibri"/>
              </a:rPr>
              <a:t>see:</a:t>
            </a:r>
            <a:endParaRPr sz="2500" dirty="0">
              <a:latin typeface="Calibri"/>
              <a:cs typeface="Calibri"/>
            </a:endParaRPr>
          </a:p>
          <a:p>
            <a:pPr marL="819785" lvl="1" indent="-287020">
              <a:spcBef>
                <a:spcPts val="15"/>
              </a:spcBef>
              <a:buFont typeface="Wingdings"/>
              <a:buChar char=""/>
              <a:tabLst>
                <a:tab pos="820419" algn="l"/>
              </a:tabLst>
            </a:pPr>
            <a:r>
              <a:rPr sz="2200" spc="-10" dirty="0">
                <a:latin typeface="Calibri"/>
                <a:cs typeface="Calibri"/>
              </a:rPr>
              <a:t>(2+4)</a:t>
            </a:r>
            <a:r>
              <a:rPr sz="2200" spc="-30" dirty="0">
                <a:latin typeface="Calibri"/>
                <a:cs typeface="Calibri"/>
              </a:rPr>
              <a:t> </a:t>
            </a:r>
            <a:r>
              <a:rPr sz="2200" spc="-5" dirty="0">
                <a:latin typeface="Calibri"/>
                <a:cs typeface="Calibri"/>
              </a:rPr>
              <a:t>mod</a:t>
            </a:r>
            <a:r>
              <a:rPr sz="2200" spc="-20" dirty="0">
                <a:latin typeface="Calibri"/>
                <a:cs typeface="Calibri"/>
              </a:rPr>
              <a:t> </a:t>
            </a:r>
            <a:r>
              <a:rPr sz="2200" spc="-5" dirty="0">
                <a:latin typeface="Calibri"/>
                <a:cs typeface="Calibri"/>
              </a:rPr>
              <a:t>12=6</a:t>
            </a:r>
            <a:endParaRPr sz="2200" dirty="0">
              <a:latin typeface="Calibri"/>
              <a:cs typeface="Calibri"/>
            </a:endParaRPr>
          </a:p>
          <a:p>
            <a:pPr marL="819785" lvl="1" indent="-287020">
              <a:buFont typeface="Wingdings"/>
              <a:buChar char=""/>
              <a:tabLst>
                <a:tab pos="820419" algn="l"/>
              </a:tabLst>
            </a:pPr>
            <a:r>
              <a:rPr sz="2200" spc="-5" dirty="0">
                <a:latin typeface="Calibri"/>
                <a:cs typeface="Calibri"/>
              </a:rPr>
              <a:t>(2-4)</a:t>
            </a:r>
            <a:r>
              <a:rPr sz="2200" spc="-30" dirty="0">
                <a:latin typeface="Calibri"/>
                <a:cs typeface="Calibri"/>
              </a:rPr>
              <a:t> </a:t>
            </a:r>
            <a:r>
              <a:rPr sz="2200" spc="-5" dirty="0">
                <a:latin typeface="Calibri"/>
                <a:cs typeface="Calibri"/>
              </a:rPr>
              <a:t>mod</a:t>
            </a:r>
            <a:r>
              <a:rPr sz="2200" spc="-15" dirty="0">
                <a:latin typeface="Calibri"/>
                <a:cs typeface="Calibri"/>
              </a:rPr>
              <a:t> </a:t>
            </a:r>
            <a:r>
              <a:rPr sz="2200" spc="-5" dirty="0">
                <a:latin typeface="Calibri"/>
                <a:cs typeface="Calibri"/>
              </a:rPr>
              <a:t>12=10</a:t>
            </a:r>
            <a:endParaRPr sz="2200" dirty="0">
              <a:latin typeface="Calibri"/>
              <a:cs typeface="Calibri"/>
            </a:endParaRPr>
          </a:p>
        </p:txBody>
      </p:sp>
      <p:grpSp>
        <p:nvGrpSpPr>
          <p:cNvPr id="4" name="object 4"/>
          <p:cNvGrpSpPr/>
          <p:nvPr/>
        </p:nvGrpSpPr>
        <p:grpSpPr>
          <a:xfrm>
            <a:off x="6464809" y="1586484"/>
            <a:ext cx="4140835" cy="4140835"/>
            <a:chOff x="4940808" y="1586483"/>
            <a:chExt cx="4140835" cy="4140835"/>
          </a:xfrm>
        </p:grpSpPr>
        <p:pic>
          <p:nvPicPr>
            <p:cNvPr id="5" name="object 5"/>
            <p:cNvPicPr/>
            <p:nvPr/>
          </p:nvPicPr>
          <p:blipFill>
            <a:blip r:embed="rId2" cstate="print"/>
            <a:stretch>
              <a:fillRect/>
            </a:stretch>
          </p:blipFill>
          <p:spPr>
            <a:xfrm>
              <a:off x="5048273" y="1776475"/>
              <a:ext cx="3715672" cy="1651000"/>
            </a:xfrm>
            <a:prstGeom prst="rect">
              <a:avLst/>
            </a:prstGeom>
          </p:spPr>
        </p:pic>
        <p:sp>
          <p:nvSpPr>
            <p:cNvPr id="6" name="object 6"/>
            <p:cNvSpPr/>
            <p:nvPr/>
          </p:nvSpPr>
          <p:spPr>
            <a:xfrm>
              <a:off x="4940808" y="1586483"/>
              <a:ext cx="4140835" cy="1841500"/>
            </a:xfrm>
            <a:custGeom>
              <a:avLst/>
              <a:gdLst/>
              <a:ahLst/>
              <a:cxnLst/>
              <a:rect l="l" t="t" r="r" b="b"/>
              <a:pathLst>
                <a:path w="4140834" h="1841500">
                  <a:moveTo>
                    <a:pt x="4134612" y="0"/>
                  </a:moveTo>
                  <a:lnTo>
                    <a:pt x="6095" y="0"/>
                  </a:lnTo>
                  <a:lnTo>
                    <a:pt x="0" y="6096"/>
                  </a:lnTo>
                  <a:lnTo>
                    <a:pt x="0" y="1840992"/>
                  </a:lnTo>
                  <a:lnTo>
                    <a:pt x="25907" y="1840992"/>
                  </a:lnTo>
                  <a:lnTo>
                    <a:pt x="25907" y="25908"/>
                  </a:lnTo>
                  <a:lnTo>
                    <a:pt x="12191" y="25908"/>
                  </a:lnTo>
                  <a:lnTo>
                    <a:pt x="25907" y="12192"/>
                  </a:lnTo>
                  <a:lnTo>
                    <a:pt x="4140708" y="12192"/>
                  </a:lnTo>
                  <a:lnTo>
                    <a:pt x="4140708" y="6096"/>
                  </a:lnTo>
                  <a:lnTo>
                    <a:pt x="4134612" y="0"/>
                  </a:lnTo>
                  <a:close/>
                </a:path>
                <a:path w="4140834" h="1841500">
                  <a:moveTo>
                    <a:pt x="4114799" y="12192"/>
                  </a:moveTo>
                  <a:lnTo>
                    <a:pt x="4114799" y="1840992"/>
                  </a:lnTo>
                  <a:lnTo>
                    <a:pt x="4140708" y="1840992"/>
                  </a:lnTo>
                  <a:lnTo>
                    <a:pt x="4140708" y="25908"/>
                  </a:lnTo>
                  <a:lnTo>
                    <a:pt x="4126991" y="25908"/>
                  </a:lnTo>
                  <a:lnTo>
                    <a:pt x="4114799" y="12192"/>
                  </a:lnTo>
                  <a:close/>
                </a:path>
                <a:path w="4140834" h="1841500">
                  <a:moveTo>
                    <a:pt x="25907" y="12192"/>
                  </a:moveTo>
                  <a:lnTo>
                    <a:pt x="12191" y="25908"/>
                  </a:lnTo>
                  <a:lnTo>
                    <a:pt x="25907" y="25908"/>
                  </a:lnTo>
                  <a:lnTo>
                    <a:pt x="25907" y="12192"/>
                  </a:lnTo>
                  <a:close/>
                </a:path>
                <a:path w="4140834" h="1841500">
                  <a:moveTo>
                    <a:pt x="4114799" y="12192"/>
                  </a:moveTo>
                  <a:lnTo>
                    <a:pt x="25907" y="12192"/>
                  </a:lnTo>
                  <a:lnTo>
                    <a:pt x="25907" y="25908"/>
                  </a:lnTo>
                  <a:lnTo>
                    <a:pt x="4114799" y="25908"/>
                  </a:lnTo>
                  <a:lnTo>
                    <a:pt x="4114799" y="12192"/>
                  </a:lnTo>
                  <a:close/>
                </a:path>
                <a:path w="4140834" h="1841500">
                  <a:moveTo>
                    <a:pt x="4140708" y="12192"/>
                  </a:moveTo>
                  <a:lnTo>
                    <a:pt x="4114799" y="12192"/>
                  </a:lnTo>
                  <a:lnTo>
                    <a:pt x="4126991" y="25908"/>
                  </a:lnTo>
                  <a:lnTo>
                    <a:pt x="4140708" y="25908"/>
                  </a:lnTo>
                  <a:lnTo>
                    <a:pt x="4140708" y="12192"/>
                  </a:lnTo>
                  <a:close/>
                </a:path>
              </a:pathLst>
            </a:custGeom>
            <a:solidFill>
              <a:srgbClr val="385D8A"/>
            </a:solidFill>
          </p:spPr>
          <p:txBody>
            <a:bodyPr wrap="square" lIns="0" tIns="0" rIns="0" bIns="0" rtlCol="0"/>
            <a:lstStyle/>
            <a:p>
              <a:endParaRPr/>
            </a:p>
          </p:txBody>
        </p:sp>
        <p:pic>
          <p:nvPicPr>
            <p:cNvPr id="7" name="object 7"/>
            <p:cNvPicPr/>
            <p:nvPr/>
          </p:nvPicPr>
          <p:blipFill>
            <a:blip r:embed="rId3" cstate="print"/>
            <a:stretch>
              <a:fillRect/>
            </a:stretch>
          </p:blipFill>
          <p:spPr>
            <a:xfrm>
              <a:off x="5384907" y="3427475"/>
              <a:ext cx="3537828" cy="2172784"/>
            </a:xfrm>
            <a:prstGeom prst="rect">
              <a:avLst/>
            </a:prstGeom>
          </p:spPr>
        </p:pic>
        <p:sp>
          <p:nvSpPr>
            <p:cNvPr id="8" name="object 8"/>
            <p:cNvSpPr/>
            <p:nvPr/>
          </p:nvSpPr>
          <p:spPr>
            <a:xfrm>
              <a:off x="4940808" y="3427475"/>
              <a:ext cx="4140835" cy="2299970"/>
            </a:xfrm>
            <a:custGeom>
              <a:avLst/>
              <a:gdLst/>
              <a:ahLst/>
              <a:cxnLst/>
              <a:rect l="l" t="t" r="r" b="b"/>
              <a:pathLst>
                <a:path w="4140834" h="2299970">
                  <a:moveTo>
                    <a:pt x="25907" y="0"/>
                  </a:moveTo>
                  <a:lnTo>
                    <a:pt x="0" y="0"/>
                  </a:lnTo>
                  <a:lnTo>
                    <a:pt x="0" y="2293620"/>
                  </a:lnTo>
                  <a:lnTo>
                    <a:pt x="6095" y="2299716"/>
                  </a:lnTo>
                  <a:lnTo>
                    <a:pt x="4134612" y="2299716"/>
                  </a:lnTo>
                  <a:lnTo>
                    <a:pt x="4140708" y="2293620"/>
                  </a:lnTo>
                  <a:lnTo>
                    <a:pt x="4140708" y="2286000"/>
                  </a:lnTo>
                  <a:lnTo>
                    <a:pt x="25907" y="2286000"/>
                  </a:lnTo>
                  <a:lnTo>
                    <a:pt x="12191" y="2273808"/>
                  </a:lnTo>
                  <a:lnTo>
                    <a:pt x="25907" y="2273808"/>
                  </a:lnTo>
                  <a:lnTo>
                    <a:pt x="25907" y="0"/>
                  </a:lnTo>
                  <a:close/>
                </a:path>
                <a:path w="4140834" h="2299970">
                  <a:moveTo>
                    <a:pt x="25907" y="2273808"/>
                  </a:moveTo>
                  <a:lnTo>
                    <a:pt x="12191" y="2273808"/>
                  </a:lnTo>
                  <a:lnTo>
                    <a:pt x="25907" y="2286000"/>
                  </a:lnTo>
                  <a:lnTo>
                    <a:pt x="25907" y="2273808"/>
                  </a:lnTo>
                  <a:close/>
                </a:path>
                <a:path w="4140834" h="2299970">
                  <a:moveTo>
                    <a:pt x="4114799" y="2273808"/>
                  </a:moveTo>
                  <a:lnTo>
                    <a:pt x="25907" y="2273808"/>
                  </a:lnTo>
                  <a:lnTo>
                    <a:pt x="25907" y="2286000"/>
                  </a:lnTo>
                  <a:lnTo>
                    <a:pt x="4114799" y="2286000"/>
                  </a:lnTo>
                  <a:lnTo>
                    <a:pt x="4114799" y="2273808"/>
                  </a:lnTo>
                  <a:close/>
                </a:path>
                <a:path w="4140834" h="2299970">
                  <a:moveTo>
                    <a:pt x="4140708" y="0"/>
                  </a:moveTo>
                  <a:lnTo>
                    <a:pt x="4114799" y="0"/>
                  </a:lnTo>
                  <a:lnTo>
                    <a:pt x="4114799" y="2286000"/>
                  </a:lnTo>
                  <a:lnTo>
                    <a:pt x="4126991" y="2273808"/>
                  </a:lnTo>
                  <a:lnTo>
                    <a:pt x="4140708" y="2273808"/>
                  </a:lnTo>
                  <a:lnTo>
                    <a:pt x="4140708" y="0"/>
                  </a:lnTo>
                  <a:close/>
                </a:path>
                <a:path w="4140834" h="2299970">
                  <a:moveTo>
                    <a:pt x="4140708" y="2273808"/>
                  </a:moveTo>
                  <a:lnTo>
                    <a:pt x="4126991" y="2273808"/>
                  </a:lnTo>
                  <a:lnTo>
                    <a:pt x="4114799" y="2286000"/>
                  </a:lnTo>
                  <a:lnTo>
                    <a:pt x="4140708" y="2286000"/>
                  </a:lnTo>
                  <a:lnTo>
                    <a:pt x="4140708" y="2273808"/>
                  </a:lnTo>
                  <a:close/>
                </a:path>
              </a:pathLst>
            </a:custGeom>
            <a:solidFill>
              <a:srgbClr val="385D8A"/>
            </a:solidFill>
          </p:spPr>
          <p:txBody>
            <a:bodyPr wrap="square" lIns="0" tIns="0" rIns="0" bIns="0" rtlCol="0"/>
            <a:lstStyle/>
            <a:p>
              <a:endParaRPr/>
            </a:p>
          </p:txBody>
        </p:sp>
      </p:grpSp>
      <p:sp>
        <p:nvSpPr>
          <p:cNvPr id="9" name="object 9"/>
          <p:cNvSpPr txBox="1"/>
          <p:nvPr/>
        </p:nvSpPr>
        <p:spPr>
          <a:xfrm>
            <a:off x="10002011" y="6462839"/>
            <a:ext cx="153670" cy="156068"/>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98989"/>
                </a:solidFill>
                <a:latin typeface="Calibri"/>
                <a:cs typeface="Calibri"/>
              </a:rPr>
              <a:pPr marL="38100">
                <a:lnSpc>
                  <a:spcPts val="1240"/>
                </a:lnSpc>
              </a:pPr>
              <a:t>72</a:t>
            </a:fld>
            <a:endParaRPr sz="1200">
              <a:latin typeface="Calibri"/>
              <a:cs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7061" y="460002"/>
            <a:ext cx="7618095" cy="696595"/>
          </a:xfrm>
          <a:prstGeom prst="rect">
            <a:avLst/>
          </a:prstGeom>
        </p:spPr>
        <p:txBody>
          <a:bodyPr vert="horz" wrap="square" lIns="0" tIns="13335" rIns="0" bIns="0" rtlCol="0" anchor="ctr">
            <a:spAutoFit/>
          </a:bodyPr>
          <a:lstStyle/>
          <a:p>
            <a:pPr marL="12700">
              <a:lnSpc>
                <a:spcPct val="100000"/>
              </a:lnSpc>
              <a:spcBef>
                <a:spcPts val="105"/>
              </a:spcBef>
            </a:pPr>
            <a:r>
              <a:rPr spc="-10" dirty="0"/>
              <a:t>Reminder</a:t>
            </a:r>
            <a:r>
              <a:rPr spc="-35" dirty="0"/>
              <a:t> for</a:t>
            </a:r>
            <a:r>
              <a:rPr spc="-5" dirty="0"/>
              <a:t> </a:t>
            </a:r>
            <a:r>
              <a:rPr dirty="0"/>
              <a:t>Modular</a:t>
            </a:r>
            <a:r>
              <a:rPr spc="-10" dirty="0"/>
              <a:t> </a:t>
            </a:r>
            <a:r>
              <a:rPr spc="-5" dirty="0"/>
              <a:t>Arithmetic</a:t>
            </a:r>
          </a:p>
        </p:txBody>
      </p:sp>
      <p:sp>
        <p:nvSpPr>
          <p:cNvPr id="3" name="object 3"/>
          <p:cNvSpPr/>
          <p:nvPr/>
        </p:nvSpPr>
        <p:spPr>
          <a:xfrm>
            <a:off x="1524000" y="3427475"/>
            <a:ext cx="9144000" cy="3426460"/>
          </a:xfrm>
          <a:custGeom>
            <a:avLst/>
            <a:gdLst/>
            <a:ahLst/>
            <a:cxnLst/>
            <a:rect l="l" t="t" r="r" b="b"/>
            <a:pathLst>
              <a:path w="9144000" h="3426459">
                <a:moveTo>
                  <a:pt x="9144000" y="0"/>
                </a:moveTo>
                <a:lnTo>
                  <a:pt x="0" y="0"/>
                </a:lnTo>
                <a:lnTo>
                  <a:pt x="0" y="3425952"/>
                </a:lnTo>
                <a:lnTo>
                  <a:pt x="9144000" y="3425952"/>
                </a:lnTo>
                <a:lnTo>
                  <a:pt x="9144000" y="0"/>
                </a:lnTo>
                <a:close/>
              </a:path>
            </a:pathLst>
          </a:custGeom>
          <a:solidFill>
            <a:srgbClr val="FFFFFF"/>
          </a:solidFill>
        </p:spPr>
        <p:txBody>
          <a:bodyPr wrap="square" lIns="0" tIns="0" rIns="0" bIns="0" rtlCol="0"/>
          <a:lstStyle/>
          <a:p>
            <a:endParaRPr/>
          </a:p>
        </p:txBody>
      </p:sp>
      <p:sp>
        <p:nvSpPr>
          <p:cNvPr id="4" name="object 4"/>
          <p:cNvSpPr txBox="1"/>
          <p:nvPr/>
        </p:nvSpPr>
        <p:spPr>
          <a:xfrm>
            <a:off x="2059812" y="1605614"/>
            <a:ext cx="7884159" cy="3588385"/>
          </a:xfrm>
          <a:prstGeom prst="rect">
            <a:avLst/>
          </a:prstGeom>
        </p:spPr>
        <p:txBody>
          <a:bodyPr vert="horz" wrap="square" lIns="0" tIns="13335" rIns="0" bIns="0" rtlCol="0">
            <a:spAutoFit/>
          </a:bodyPr>
          <a:lstStyle/>
          <a:p>
            <a:pPr marL="355600" marR="5080" indent="-343535">
              <a:spcBef>
                <a:spcPts val="105"/>
              </a:spcBef>
              <a:buFont typeface="Arial MT"/>
              <a:buChar char="•"/>
              <a:tabLst>
                <a:tab pos="355600" algn="l"/>
                <a:tab pos="356235" algn="l"/>
              </a:tabLst>
            </a:pPr>
            <a:r>
              <a:rPr sz="3200" dirty="0">
                <a:latin typeface="Calibri"/>
                <a:cs typeface="Calibri"/>
              </a:rPr>
              <a:t>If</a:t>
            </a:r>
            <a:r>
              <a:rPr sz="3200" spc="-15" dirty="0">
                <a:latin typeface="Calibri"/>
                <a:cs typeface="Calibri"/>
              </a:rPr>
              <a:t> </a:t>
            </a:r>
            <a:r>
              <a:rPr sz="3200" dirty="0">
                <a:latin typeface="Calibri"/>
                <a:cs typeface="Calibri"/>
              </a:rPr>
              <a:t>“b”is</a:t>
            </a:r>
            <a:r>
              <a:rPr sz="3200" spc="-5" dirty="0">
                <a:latin typeface="Calibri"/>
                <a:cs typeface="Calibri"/>
              </a:rPr>
              <a:t> </a:t>
            </a:r>
            <a:r>
              <a:rPr sz="3200" spc="-10" dirty="0">
                <a:latin typeface="Calibri"/>
                <a:cs typeface="Calibri"/>
              </a:rPr>
              <a:t>positive</a:t>
            </a:r>
            <a:r>
              <a:rPr sz="3200" spc="20" dirty="0">
                <a:latin typeface="Calibri"/>
                <a:cs typeface="Calibri"/>
              </a:rPr>
              <a:t> </a:t>
            </a:r>
            <a:r>
              <a:rPr sz="3200" spc="-15" dirty="0">
                <a:latin typeface="Calibri"/>
                <a:cs typeface="Calibri"/>
              </a:rPr>
              <a:t>integer</a:t>
            </a:r>
            <a:r>
              <a:rPr sz="3200" spc="-5" dirty="0">
                <a:latin typeface="Calibri"/>
                <a:cs typeface="Calibri"/>
              </a:rPr>
              <a:t> and</a:t>
            </a:r>
            <a:r>
              <a:rPr sz="3200" spc="15" dirty="0">
                <a:latin typeface="Calibri"/>
                <a:cs typeface="Calibri"/>
              </a:rPr>
              <a:t> </a:t>
            </a:r>
            <a:r>
              <a:rPr sz="3200" spc="-5" dirty="0">
                <a:latin typeface="Calibri"/>
                <a:cs typeface="Calibri"/>
              </a:rPr>
              <a:t>its </a:t>
            </a:r>
            <a:r>
              <a:rPr sz="3200" dirty="0">
                <a:latin typeface="Calibri"/>
                <a:cs typeface="Calibri"/>
              </a:rPr>
              <a:t>modulo</a:t>
            </a:r>
            <a:r>
              <a:rPr sz="3200" spc="15" dirty="0">
                <a:latin typeface="Calibri"/>
                <a:cs typeface="Calibri"/>
              </a:rPr>
              <a:t> </a:t>
            </a:r>
            <a:r>
              <a:rPr sz="3200" dirty="0">
                <a:latin typeface="Calibri"/>
                <a:cs typeface="Calibri"/>
              </a:rPr>
              <a:t>n</a:t>
            </a:r>
            <a:r>
              <a:rPr sz="3200" spc="-5" dirty="0">
                <a:latin typeface="Calibri"/>
                <a:cs typeface="Calibri"/>
              </a:rPr>
              <a:t> can </a:t>
            </a:r>
            <a:r>
              <a:rPr sz="3200" dirty="0">
                <a:latin typeface="Calibri"/>
                <a:cs typeface="Calibri"/>
              </a:rPr>
              <a:t> </a:t>
            </a:r>
            <a:r>
              <a:rPr sz="3200" spc="-5" dirty="0">
                <a:latin typeface="Calibri"/>
                <a:cs typeface="Calibri"/>
              </a:rPr>
              <a:t>be</a:t>
            </a:r>
            <a:r>
              <a:rPr sz="3200" spc="-25" dirty="0">
                <a:latin typeface="Calibri"/>
                <a:cs typeface="Calibri"/>
              </a:rPr>
              <a:t> </a:t>
            </a:r>
            <a:r>
              <a:rPr sz="3200" spc="-10" dirty="0">
                <a:latin typeface="Calibri"/>
                <a:cs typeface="Calibri"/>
              </a:rPr>
              <a:t>calculated</a:t>
            </a:r>
            <a:r>
              <a:rPr sz="3200" spc="15" dirty="0">
                <a:latin typeface="Calibri"/>
                <a:cs typeface="Calibri"/>
              </a:rPr>
              <a:t> </a:t>
            </a:r>
            <a:r>
              <a:rPr sz="3200" dirty="0">
                <a:latin typeface="Calibri"/>
                <a:cs typeface="Calibri"/>
              </a:rPr>
              <a:t>as</a:t>
            </a:r>
            <a:r>
              <a:rPr sz="3200" spc="-10" dirty="0">
                <a:latin typeface="Calibri"/>
                <a:cs typeface="Calibri"/>
              </a:rPr>
              <a:t> Reminder </a:t>
            </a:r>
            <a:r>
              <a:rPr sz="3200" dirty="0">
                <a:latin typeface="Calibri"/>
                <a:cs typeface="Calibri"/>
              </a:rPr>
              <a:t>while </a:t>
            </a:r>
            <a:r>
              <a:rPr sz="3200" spc="-5" dirty="0">
                <a:latin typeface="Calibri"/>
                <a:cs typeface="Calibri"/>
              </a:rPr>
              <a:t>dividing</a:t>
            </a:r>
            <a:r>
              <a:rPr sz="3200" spc="45" dirty="0">
                <a:latin typeface="Calibri"/>
                <a:cs typeface="Calibri"/>
              </a:rPr>
              <a:t> </a:t>
            </a:r>
            <a:r>
              <a:rPr sz="3200" spc="-5" dirty="0">
                <a:latin typeface="Calibri"/>
                <a:cs typeface="Calibri"/>
              </a:rPr>
              <a:t>it </a:t>
            </a:r>
            <a:r>
              <a:rPr sz="3200" spc="-10" dirty="0">
                <a:latin typeface="Calibri"/>
                <a:cs typeface="Calibri"/>
              </a:rPr>
              <a:t>by</a:t>
            </a:r>
            <a:endParaRPr sz="3200">
              <a:latin typeface="Calibri"/>
              <a:cs typeface="Calibri"/>
            </a:endParaRPr>
          </a:p>
          <a:p>
            <a:pPr marL="355600" marR="421640"/>
            <a:r>
              <a:rPr sz="3200" spc="-5" dirty="0">
                <a:latin typeface="Calibri"/>
                <a:cs typeface="Calibri"/>
              </a:rPr>
              <a:t>n. i.e. </a:t>
            </a:r>
            <a:r>
              <a:rPr sz="3200" dirty="0">
                <a:latin typeface="Calibri"/>
                <a:cs typeface="Calibri"/>
              </a:rPr>
              <a:t>b</a:t>
            </a:r>
            <a:r>
              <a:rPr sz="3200" spc="5" dirty="0">
                <a:latin typeface="Calibri"/>
                <a:cs typeface="Calibri"/>
              </a:rPr>
              <a:t> </a:t>
            </a:r>
            <a:r>
              <a:rPr sz="3200" dirty="0">
                <a:latin typeface="Calibri"/>
                <a:cs typeface="Calibri"/>
              </a:rPr>
              <a:t>mod</a:t>
            </a:r>
            <a:r>
              <a:rPr sz="3200" spc="20" dirty="0">
                <a:latin typeface="Calibri"/>
                <a:cs typeface="Calibri"/>
              </a:rPr>
              <a:t> </a:t>
            </a:r>
            <a:r>
              <a:rPr sz="3200" spc="-75" dirty="0">
                <a:latin typeface="Calibri"/>
                <a:cs typeface="Calibri"/>
              </a:rPr>
              <a:t>n=r,</a:t>
            </a:r>
            <a:r>
              <a:rPr sz="3200" dirty="0">
                <a:latin typeface="Calibri"/>
                <a:cs typeface="Calibri"/>
              </a:rPr>
              <a:t> </a:t>
            </a:r>
            <a:r>
              <a:rPr sz="3200" spc="-10" dirty="0">
                <a:latin typeface="Calibri"/>
                <a:cs typeface="Calibri"/>
              </a:rPr>
              <a:t>where</a:t>
            </a:r>
            <a:r>
              <a:rPr sz="3200" spc="-15" dirty="0">
                <a:latin typeface="Calibri"/>
                <a:cs typeface="Calibri"/>
              </a:rPr>
              <a:t> </a:t>
            </a:r>
            <a:r>
              <a:rPr sz="3200" dirty="0">
                <a:latin typeface="Calibri"/>
                <a:cs typeface="Calibri"/>
              </a:rPr>
              <a:t>r</a:t>
            </a:r>
            <a:r>
              <a:rPr sz="3200" spc="-5" dirty="0">
                <a:latin typeface="Calibri"/>
                <a:cs typeface="Calibri"/>
              </a:rPr>
              <a:t> is</a:t>
            </a:r>
            <a:r>
              <a:rPr sz="3200" spc="5" dirty="0">
                <a:latin typeface="Calibri"/>
                <a:cs typeface="Calibri"/>
              </a:rPr>
              <a:t> </a:t>
            </a:r>
            <a:r>
              <a:rPr sz="3200" spc="-10" dirty="0">
                <a:latin typeface="Calibri"/>
                <a:cs typeface="Calibri"/>
              </a:rPr>
              <a:t>reminder </a:t>
            </a:r>
            <a:r>
              <a:rPr sz="3200" dirty="0">
                <a:latin typeface="Calibri"/>
                <a:cs typeface="Calibri"/>
              </a:rPr>
              <a:t>while </a:t>
            </a:r>
            <a:r>
              <a:rPr sz="3200" spc="-710" dirty="0">
                <a:latin typeface="Calibri"/>
                <a:cs typeface="Calibri"/>
              </a:rPr>
              <a:t> </a:t>
            </a:r>
            <a:r>
              <a:rPr sz="3200" spc="-5" dirty="0">
                <a:latin typeface="Calibri"/>
                <a:cs typeface="Calibri"/>
              </a:rPr>
              <a:t>dividing</a:t>
            </a:r>
            <a:r>
              <a:rPr sz="3200" spc="30" dirty="0">
                <a:latin typeface="Calibri"/>
                <a:cs typeface="Calibri"/>
              </a:rPr>
              <a:t> </a:t>
            </a:r>
            <a:r>
              <a:rPr sz="3200" spc="-5" dirty="0">
                <a:latin typeface="Calibri"/>
                <a:cs typeface="Calibri"/>
              </a:rPr>
              <a:t>“b”</a:t>
            </a:r>
            <a:r>
              <a:rPr sz="3200" spc="5" dirty="0">
                <a:latin typeface="Calibri"/>
                <a:cs typeface="Calibri"/>
              </a:rPr>
              <a:t> </a:t>
            </a:r>
            <a:r>
              <a:rPr sz="3200" spc="-10" dirty="0">
                <a:latin typeface="Calibri"/>
                <a:cs typeface="Calibri"/>
              </a:rPr>
              <a:t>by</a:t>
            </a:r>
            <a:r>
              <a:rPr sz="3200" dirty="0">
                <a:latin typeface="Calibri"/>
                <a:cs typeface="Calibri"/>
              </a:rPr>
              <a:t> </a:t>
            </a:r>
            <a:r>
              <a:rPr sz="3200" spc="-80" dirty="0">
                <a:latin typeface="Calibri"/>
                <a:cs typeface="Calibri"/>
              </a:rPr>
              <a:t>“n”.</a:t>
            </a:r>
            <a:endParaRPr sz="3200">
              <a:latin typeface="Calibri"/>
              <a:cs typeface="Calibri"/>
            </a:endParaRPr>
          </a:p>
          <a:p>
            <a:pPr marL="355600" indent="-343535">
              <a:spcBef>
                <a:spcPts val="765"/>
              </a:spcBef>
              <a:buFont typeface="Arial MT"/>
              <a:buChar char="•"/>
              <a:tabLst>
                <a:tab pos="355600" algn="l"/>
                <a:tab pos="356235" algn="l"/>
              </a:tabLst>
            </a:pPr>
            <a:r>
              <a:rPr sz="3200" spc="5" dirty="0">
                <a:latin typeface="Calibri"/>
                <a:cs typeface="Calibri"/>
              </a:rPr>
              <a:t>e.g.</a:t>
            </a:r>
            <a:endParaRPr sz="3200">
              <a:latin typeface="Calibri"/>
              <a:cs typeface="Calibri"/>
            </a:endParaRPr>
          </a:p>
          <a:p>
            <a:pPr marL="786765" lvl="1" indent="-317500">
              <a:spcBef>
                <a:spcPts val="690"/>
              </a:spcBef>
              <a:buSzPct val="96428"/>
              <a:buFont typeface="Wingdings"/>
              <a:buChar char=""/>
              <a:tabLst>
                <a:tab pos="787400" algn="l"/>
              </a:tabLst>
            </a:pPr>
            <a:r>
              <a:rPr sz="2800" spc="-5" dirty="0">
                <a:latin typeface="Calibri"/>
                <a:cs typeface="Calibri"/>
              </a:rPr>
              <a:t>14</a:t>
            </a:r>
            <a:r>
              <a:rPr sz="2800" spc="5" dirty="0">
                <a:latin typeface="Calibri"/>
                <a:cs typeface="Calibri"/>
              </a:rPr>
              <a:t> </a:t>
            </a:r>
            <a:r>
              <a:rPr sz="2800" spc="-5" dirty="0">
                <a:latin typeface="Calibri"/>
                <a:cs typeface="Calibri"/>
              </a:rPr>
              <a:t>mod</a:t>
            </a:r>
            <a:r>
              <a:rPr sz="2800" spc="10" dirty="0">
                <a:latin typeface="Calibri"/>
                <a:cs typeface="Calibri"/>
              </a:rPr>
              <a:t> </a:t>
            </a:r>
            <a:r>
              <a:rPr sz="2800" spc="-5" dirty="0">
                <a:latin typeface="Calibri"/>
                <a:cs typeface="Calibri"/>
              </a:rPr>
              <a:t>12=</a:t>
            </a:r>
            <a:r>
              <a:rPr sz="2800" spc="15" dirty="0">
                <a:latin typeface="Calibri"/>
                <a:cs typeface="Calibri"/>
              </a:rPr>
              <a:t> </a:t>
            </a:r>
            <a:r>
              <a:rPr sz="2800" spc="-5" dirty="0">
                <a:latin typeface="Calibri"/>
                <a:cs typeface="Calibri"/>
              </a:rPr>
              <a:t>2</a:t>
            </a:r>
            <a:r>
              <a:rPr sz="2800" spc="10" dirty="0">
                <a:latin typeface="Calibri"/>
                <a:cs typeface="Calibri"/>
              </a:rPr>
              <a:t> </a:t>
            </a:r>
            <a:r>
              <a:rPr sz="2800" spc="-10" dirty="0">
                <a:latin typeface="Calibri"/>
                <a:cs typeface="Calibri"/>
              </a:rPr>
              <a:t>since</a:t>
            </a:r>
            <a:r>
              <a:rPr sz="2800" spc="25" dirty="0">
                <a:latin typeface="Calibri"/>
                <a:cs typeface="Calibri"/>
              </a:rPr>
              <a:t> </a:t>
            </a:r>
            <a:r>
              <a:rPr sz="2800" spc="-5" dirty="0">
                <a:latin typeface="Calibri"/>
                <a:cs typeface="Calibri"/>
              </a:rPr>
              <a:t>14/12</a:t>
            </a:r>
            <a:r>
              <a:rPr sz="2800" spc="30" dirty="0">
                <a:latin typeface="Calibri"/>
                <a:cs typeface="Calibri"/>
              </a:rPr>
              <a:t> </a:t>
            </a:r>
            <a:r>
              <a:rPr sz="2800" spc="-15" dirty="0">
                <a:latin typeface="Calibri"/>
                <a:cs typeface="Calibri"/>
              </a:rPr>
              <a:t>we</a:t>
            </a:r>
            <a:r>
              <a:rPr sz="2800" spc="-5" dirty="0">
                <a:latin typeface="Calibri"/>
                <a:cs typeface="Calibri"/>
              </a:rPr>
              <a:t> </a:t>
            </a:r>
            <a:r>
              <a:rPr sz="2800" spc="-15" dirty="0">
                <a:latin typeface="Calibri"/>
                <a:cs typeface="Calibri"/>
              </a:rPr>
              <a:t>get</a:t>
            </a:r>
            <a:r>
              <a:rPr sz="2800" spc="-10" dirty="0">
                <a:latin typeface="Calibri"/>
                <a:cs typeface="Calibri"/>
              </a:rPr>
              <a:t> reminder</a:t>
            </a:r>
            <a:r>
              <a:rPr sz="2800" spc="20" dirty="0">
                <a:latin typeface="Calibri"/>
                <a:cs typeface="Calibri"/>
              </a:rPr>
              <a:t> </a:t>
            </a:r>
            <a:r>
              <a:rPr sz="2800" spc="-5" dirty="0">
                <a:latin typeface="Calibri"/>
                <a:cs typeface="Calibri"/>
              </a:rPr>
              <a:t>2.</a:t>
            </a:r>
            <a:endParaRPr sz="2800">
              <a:latin typeface="Calibri"/>
              <a:cs typeface="Calibri"/>
            </a:endParaRPr>
          </a:p>
          <a:p>
            <a:pPr marL="786765" lvl="1" indent="-317500">
              <a:spcBef>
                <a:spcPts val="670"/>
              </a:spcBef>
              <a:buSzPct val="96428"/>
              <a:buFont typeface="Wingdings"/>
              <a:buChar char=""/>
              <a:tabLst>
                <a:tab pos="787400" algn="l"/>
              </a:tabLst>
            </a:pPr>
            <a:r>
              <a:rPr sz="2800" spc="-5" dirty="0">
                <a:latin typeface="Calibri"/>
                <a:cs typeface="Calibri"/>
              </a:rPr>
              <a:t>29</a:t>
            </a:r>
            <a:r>
              <a:rPr sz="2800" spc="5" dirty="0">
                <a:latin typeface="Calibri"/>
                <a:cs typeface="Calibri"/>
              </a:rPr>
              <a:t> </a:t>
            </a:r>
            <a:r>
              <a:rPr sz="2800" spc="-5" dirty="0">
                <a:latin typeface="Calibri"/>
                <a:cs typeface="Calibri"/>
              </a:rPr>
              <a:t>mod</a:t>
            </a:r>
            <a:r>
              <a:rPr sz="2800" spc="10" dirty="0">
                <a:latin typeface="Calibri"/>
                <a:cs typeface="Calibri"/>
              </a:rPr>
              <a:t> </a:t>
            </a:r>
            <a:r>
              <a:rPr sz="2800" spc="-5" dirty="0">
                <a:latin typeface="Calibri"/>
                <a:cs typeface="Calibri"/>
              </a:rPr>
              <a:t>26=</a:t>
            </a:r>
            <a:r>
              <a:rPr sz="2800" spc="15" dirty="0">
                <a:latin typeface="Calibri"/>
                <a:cs typeface="Calibri"/>
              </a:rPr>
              <a:t> </a:t>
            </a:r>
            <a:r>
              <a:rPr sz="2800" spc="-5" dirty="0">
                <a:latin typeface="Calibri"/>
                <a:cs typeface="Calibri"/>
              </a:rPr>
              <a:t>3</a:t>
            </a:r>
            <a:r>
              <a:rPr sz="2800" spc="10" dirty="0">
                <a:latin typeface="Calibri"/>
                <a:cs typeface="Calibri"/>
              </a:rPr>
              <a:t> </a:t>
            </a:r>
            <a:r>
              <a:rPr sz="2800" spc="-10" dirty="0">
                <a:latin typeface="Calibri"/>
                <a:cs typeface="Calibri"/>
              </a:rPr>
              <a:t>since</a:t>
            </a:r>
            <a:r>
              <a:rPr sz="2800" spc="25" dirty="0">
                <a:latin typeface="Calibri"/>
                <a:cs typeface="Calibri"/>
              </a:rPr>
              <a:t> </a:t>
            </a:r>
            <a:r>
              <a:rPr sz="2800" spc="-5" dirty="0">
                <a:latin typeface="Calibri"/>
                <a:cs typeface="Calibri"/>
              </a:rPr>
              <a:t>29/26</a:t>
            </a:r>
            <a:r>
              <a:rPr sz="2800" spc="30" dirty="0">
                <a:latin typeface="Calibri"/>
                <a:cs typeface="Calibri"/>
              </a:rPr>
              <a:t> </a:t>
            </a:r>
            <a:r>
              <a:rPr sz="2800" spc="-15" dirty="0">
                <a:latin typeface="Calibri"/>
                <a:cs typeface="Calibri"/>
              </a:rPr>
              <a:t>we</a:t>
            </a:r>
            <a:r>
              <a:rPr sz="2800" spc="-5" dirty="0">
                <a:latin typeface="Calibri"/>
                <a:cs typeface="Calibri"/>
              </a:rPr>
              <a:t> </a:t>
            </a:r>
            <a:r>
              <a:rPr sz="2800" spc="-15" dirty="0">
                <a:latin typeface="Calibri"/>
                <a:cs typeface="Calibri"/>
              </a:rPr>
              <a:t>get</a:t>
            </a:r>
            <a:r>
              <a:rPr sz="2800" spc="-10" dirty="0">
                <a:latin typeface="Calibri"/>
                <a:cs typeface="Calibri"/>
              </a:rPr>
              <a:t> reminder</a:t>
            </a:r>
            <a:r>
              <a:rPr sz="2800" spc="20" dirty="0">
                <a:latin typeface="Calibri"/>
                <a:cs typeface="Calibri"/>
              </a:rPr>
              <a:t> </a:t>
            </a:r>
            <a:r>
              <a:rPr sz="2800" spc="-5" dirty="0">
                <a:latin typeface="Calibri"/>
                <a:cs typeface="Calibri"/>
              </a:rPr>
              <a:t>2.</a:t>
            </a:r>
            <a:endParaRPr sz="2800">
              <a:latin typeface="Calibri"/>
              <a:cs typeface="Calibri"/>
            </a:endParaRPr>
          </a:p>
        </p:txBody>
      </p:sp>
      <p:sp>
        <p:nvSpPr>
          <p:cNvPr id="5" name="object 5"/>
          <p:cNvSpPr txBox="1"/>
          <p:nvPr/>
        </p:nvSpPr>
        <p:spPr>
          <a:xfrm>
            <a:off x="10002011" y="6462839"/>
            <a:ext cx="153670" cy="156068"/>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98989"/>
                </a:solidFill>
                <a:latin typeface="Calibri"/>
                <a:cs typeface="Calibri"/>
              </a:rPr>
              <a:pPr marL="38100">
                <a:lnSpc>
                  <a:spcPts val="1240"/>
                </a:lnSpc>
              </a:pPr>
              <a:t>73</a:t>
            </a:fld>
            <a:endParaRPr sz="1200">
              <a:latin typeface="Calibri"/>
              <a:cs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838200" y="365126"/>
            <a:ext cx="9262145" cy="591220"/>
          </a:xfrm>
        </p:spPr>
        <p:txBody>
          <a:bodyPr>
            <a:normAutofit fontScale="90000"/>
          </a:bodyPr>
          <a:lstStyle/>
          <a:p>
            <a:r>
              <a:rPr lang="en-US" b="1" dirty="0"/>
              <a:t>2.4 Number Theory</a:t>
            </a: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838200" y="956346"/>
            <a:ext cx="10515600" cy="4351338"/>
          </a:xfrm>
        </p:spPr>
        <p:txBody>
          <a:bodyPr/>
          <a:lstStyle/>
          <a:p>
            <a:pPr marL="0" indent="0" algn="just">
              <a:lnSpc>
                <a:spcPct val="150000"/>
              </a:lnSpc>
              <a:buNone/>
            </a:pPr>
            <a:r>
              <a:rPr lang="en-US" b="1" dirty="0"/>
              <a:t>Prime Numbers</a:t>
            </a:r>
          </a:p>
          <a:p>
            <a:pPr algn="just">
              <a:lnSpc>
                <a:spcPct val="150000"/>
              </a:lnSpc>
              <a:buFontTx/>
              <a:buChar char="-"/>
            </a:pPr>
            <a:r>
              <a:rPr lang="en-US" dirty="0"/>
              <a:t>Used in cryptography because they are difficult to factorize.</a:t>
            </a:r>
          </a:p>
          <a:p>
            <a:pPr algn="just">
              <a:lnSpc>
                <a:spcPct val="150000"/>
              </a:lnSpc>
              <a:buFontTx/>
              <a:buChar char="-"/>
            </a:pPr>
            <a:r>
              <a:rPr lang="en-US" dirty="0"/>
              <a:t>it is difficult to find the prime factors of a composite number without knowing the factors to begin with. This makes it difficult for someone to intercept a message and read it without the proper key.</a:t>
            </a:r>
          </a:p>
        </p:txBody>
      </p:sp>
    </p:spTree>
    <p:extLst>
      <p:ext uri="{BB962C8B-B14F-4D97-AF65-F5344CB8AC3E}">
        <p14:creationId xmlns:p14="http://schemas.microsoft.com/office/powerpoint/2010/main" val="41550258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838200" y="365126"/>
            <a:ext cx="9262145" cy="591220"/>
          </a:xfrm>
        </p:spPr>
        <p:txBody>
          <a:bodyPr>
            <a:normAutofit fontScale="90000"/>
          </a:bodyPr>
          <a:lstStyle/>
          <a:p>
            <a:r>
              <a:rPr lang="en-US" b="1" dirty="0"/>
              <a:t>2.4 Number Theory</a:t>
            </a: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838200" y="956346"/>
            <a:ext cx="10515600" cy="5813570"/>
          </a:xfrm>
        </p:spPr>
        <p:txBody>
          <a:bodyPr/>
          <a:lstStyle/>
          <a:p>
            <a:pPr marL="0" indent="0" algn="just">
              <a:lnSpc>
                <a:spcPct val="150000"/>
              </a:lnSpc>
              <a:buNone/>
            </a:pPr>
            <a:r>
              <a:rPr lang="en-US" b="1" dirty="0"/>
              <a:t>Prime Numbers</a:t>
            </a:r>
          </a:p>
          <a:p>
            <a:pPr algn="just">
              <a:lnSpc>
                <a:spcPct val="150000"/>
              </a:lnSpc>
              <a:buFontTx/>
              <a:buChar char="-"/>
            </a:pPr>
            <a:r>
              <a:rPr lang="en-US" sz="1800" dirty="0"/>
              <a:t>A </a:t>
            </a:r>
            <a:r>
              <a:rPr lang="en-US" sz="1800" b="1" dirty="0"/>
              <a:t>prime number</a:t>
            </a:r>
            <a:r>
              <a:rPr lang="en-US" sz="1800" dirty="0"/>
              <a:t> is defined as a natural number greater than </a:t>
            </a:r>
            <a:r>
              <a:rPr lang="en-US" sz="1800" b="1" dirty="0"/>
              <a:t>1</a:t>
            </a:r>
            <a:r>
              <a:rPr lang="en-US" sz="1800" dirty="0"/>
              <a:t> and is divisible by only 1 and itself. </a:t>
            </a:r>
          </a:p>
          <a:p>
            <a:pPr algn="just">
              <a:lnSpc>
                <a:spcPct val="150000"/>
              </a:lnSpc>
              <a:buFontTx/>
              <a:buChar char="-"/>
            </a:pPr>
            <a:r>
              <a:rPr lang="en-US" sz="1800" dirty="0"/>
              <a:t>In other words, the prime number is a positive integer greater than 1 that has exactly two factors, 1 and the number itself. First few prime numbers are 2, 3, 5, 7, 11, 13, 17, 19, 23 . . .</a:t>
            </a:r>
          </a:p>
          <a:p>
            <a:pPr algn="just">
              <a:lnSpc>
                <a:spcPct val="150000"/>
              </a:lnSpc>
              <a:buFontTx/>
              <a:buChar char="-"/>
            </a:pPr>
            <a:r>
              <a:rPr lang="en-US" sz="1800" dirty="0"/>
              <a:t>Except for 2, which is the smallest prime number and the only even prime number, all prime numbers are odd numbers.</a:t>
            </a:r>
          </a:p>
          <a:p>
            <a:pPr algn="just">
              <a:lnSpc>
                <a:spcPct val="150000"/>
              </a:lnSpc>
              <a:buFontTx/>
              <a:buChar char="-"/>
            </a:pPr>
            <a:r>
              <a:rPr lang="en-US" sz="1800" dirty="0"/>
              <a:t>Every prime number can be represented in form of </a:t>
            </a:r>
            <a:r>
              <a:rPr lang="en-US" sz="1800" b="1" dirty="0"/>
              <a:t>6n + 1</a:t>
            </a:r>
            <a:r>
              <a:rPr lang="en-US" sz="1800" dirty="0"/>
              <a:t> or </a:t>
            </a:r>
            <a:r>
              <a:rPr lang="en-US" sz="1800" b="1" dirty="0"/>
              <a:t>6n – 1</a:t>
            </a:r>
            <a:r>
              <a:rPr lang="en-US" sz="1800" dirty="0"/>
              <a:t> except the prime numbers </a:t>
            </a:r>
            <a:r>
              <a:rPr lang="en-US" sz="1800" b="1" dirty="0"/>
              <a:t>2</a:t>
            </a:r>
            <a:r>
              <a:rPr lang="en-US" sz="1800" dirty="0"/>
              <a:t> and </a:t>
            </a:r>
            <a:r>
              <a:rPr lang="en-US" sz="1800" b="1" dirty="0"/>
              <a:t>3</a:t>
            </a:r>
            <a:r>
              <a:rPr lang="en-US" sz="1800" dirty="0"/>
              <a:t>, where n is any natural number.</a:t>
            </a:r>
          </a:p>
          <a:p>
            <a:pPr algn="just">
              <a:lnSpc>
                <a:spcPct val="150000"/>
              </a:lnSpc>
              <a:buFontTx/>
              <a:buChar char="-"/>
            </a:pPr>
            <a:r>
              <a:rPr lang="en-US" sz="1800" b="1" dirty="0"/>
              <a:t>2 and 3</a:t>
            </a:r>
            <a:r>
              <a:rPr lang="en-US" sz="1800" dirty="0"/>
              <a:t> are only two consecutive natural numbers that are prime.</a:t>
            </a:r>
          </a:p>
        </p:txBody>
      </p:sp>
    </p:spTree>
    <p:extLst>
      <p:ext uri="{BB962C8B-B14F-4D97-AF65-F5344CB8AC3E}">
        <p14:creationId xmlns:p14="http://schemas.microsoft.com/office/powerpoint/2010/main" val="21424715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Shape 11">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F5E91BE1-8289-C5B6-E42C-2675A06A598C}"/>
              </a:ext>
            </a:extLst>
          </p:cNvPr>
          <p:cNvPicPr>
            <a:picLocks noGrp="1" noChangeAspect="1"/>
          </p:cNvPicPr>
          <p:nvPr>
            <p:ph idx="1"/>
          </p:nvPr>
        </p:nvPicPr>
        <p:blipFill>
          <a:blip r:embed="rId2"/>
          <a:stretch>
            <a:fillRect/>
          </a:stretch>
        </p:blipFill>
        <p:spPr>
          <a:xfrm>
            <a:off x="2374710" y="1502499"/>
            <a:ext cx="9173823" cy="3853004"/>
          </a:xfrm>
          <a:prstGeom prst="rect">
            <a:avLst/>
          </a:prstGeom>
        </p:spPr>
      </p:pic>
    </p:spTree>
    <p:extLst>
      <p:ext uri="{BB962C8B-B14F-4D97-AF65-F5344CB8AC3E}">
        <p14:creationId xmlns:p14="http://schemas.microsoft.com/office/powerpoint/2010/main" val="20288686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838200" y="365126"/>
            <a:ext cx="9262145" cy="591220"/>
          </a:xfrm>
        </p:spPr>
        <p:txBody>
          <a:bodyPr>
            <a:normAutofit fontScale="90000"/>
          </a:bodyPr>
          <a:lstStyle/>
          <a:p>
            <a:r>
              <a:rPr lang="en-US" b="1" dirty="0"/>
              <a:t>2.4 Number Theory</a:t>
            </a: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838200" y="956346"/>
            <a:ext cx="10515600" cy="4351338"/>
          </a:xfrm>
        </p:spPr>
        <p:txBody>
          <a:bodyPr>
            <a:normAutofit fontScale="70000" lnSpcReduction="20000"/>
          </a:bodyPr>
          <a:lstStyle/>
          <a:p>
            <a:pPr marL="0" indent="0">
              <a:buNone/>
            </a:pPr>
            <a:endParaRPr lang="en-US" b="1" dirty="0"/>
          </a:p>
          <a:p>
            <a:pPr marL="0" indent="0">
              <a:buNone/>
            </a:pPr>
            <a:r>
              <a:rPr lang="en-US" b="1" dirty="0"/>
              <a:t>Fermat’s Theorem</a:t>
            </a:r>
          </a:p>
          <a:p>
            <a:pPr marL="0" indent="0">
              <a:buNone/>
            </a:pPr>
            <a:endParaRPr lang="en-US" dirty="0"/>
          </a:p>
          <a:p>
            <a:pPr marL="0" indent="0">
              <a:buNone/>
            </a:pPr>
            <a:r>
              <a:rPr lang="en-US" dirty="0"/>
              <a:t>Every positive integer n </a:t>
            </a:r>
            <a:r>
              <a:rPr lang="en-US" dirty="0">
                <a:effectLst/>
              </a:rPr>
              <a:t>has a unique factorization into prime numbers, for example, 77 = 7·11 and 120 = 2·2·2·3·5.</a:t>
            </a:r>
          </a:p>
          <a:p>
            <a:pPr marL="0" indent="0">
              <a:buNone/>
            </a:pPr>
            <a:br>
              <a:rPr lang="en-US" dirty="0"/>
            </a:br>
            <a:r>
              <a:rPr lang="en-US" dirty="0">
                <a:effectLst/>
              </a:rPr>
              <a:t>We say that an integer n is divisible by another integer m to mean that n = km for some integer k. </a:t>
            </a:r>
          </a:p>
          <a:p>
            <a:pPr marL="0" indent="0">
              <a:buNone/>
            </a:pPr>
            <a:r>
              <a:rPr lang="en-US" dirty="0">
                <a:effectLst/>
              </a:rPr>
              <a:t>This is the same as saying that n divided by m leaves no remainder, or equivalently, that n ≡ 0 (mod m). </a:t>
            </a:r>
          </a:p>
          <a:p>
            <a:pPr marL="0" indent="0">
              <a:buNone/>
            </a:pPr>
            <a:r>
              <a:rPr lang="en-US" dirty="0">
                <a:effectLst/>
              </a:rPr>
              <a:t>Note that n is divisible by a prime number p precisely when p is one of the prime factors of n. </a:t>
            </a:r>
          </a:p>
          <a:p>
            <a:pPr marL="0" indent="0" algn="just">
              <a:buNone/>
            </a:pPr>
            <a:r>
              <a:rPr lang="en-US" dirty="0">
                <a:effectLst/>
              </a:rPr>
              <a:t>Furthermore, it is a special property of primes that if m and n</a:t>
            </a:r>
            <a:br>
              <a:rPr lang="en-US" dirty="0"/>
            </a:br>
            <a:r>
              <a:rPr lang="en-US" dirty="0">
                <a:effectLst/>
              </a:rPr>
              <a:t>are integers and if </a:t>
            </a:r>
            <a:r>
              <a:rPr lang="en-US" dirty="0" err="1">
                <a:effectLst/>
              </a:rPr>
              <a:t>mn</a:t>
            </a:r>
            <a:r>
              <a:rPr lang="en-US" dirty="0">
                <a:effectLst/>
              </a:rPr>
              <a:t> is divisible by p, then either m is divisible by p or n is divisible by</a:t>
            </a:r>
            <a:br>
              <a:rPr lang="en-US" dirty="0"/>
            </a:br>
            <a:r>
              <a:rPr lang="en-US" dirty="0">
                <a:effectLst/>
              </a:rPr>
              <a:t>p, because p must be in the prime factorization of m or of n.</a:t>
            </a:r>
            <a:endParaRPr lang="en-US" dirty="0"/>
          </a:p>
        </p:txBody>
      </p:sp>
    </p:spTree>
    <p:extLst>
      <p:ext uri="{BB962C8B-B14F-4D97-AF65-F5344CB8AC3E}">
        <p14:creationId xmlns:p14="http://schemas.microsoft.com/office/powerpoint/2010/main" val="4176862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432FA-901D-3C17-D1DB-666C2157BE41}"/>
              </a:ext>
            </a:extLst>
          </p:cNvPr>
          <p:cNvSpPr>
            <a:spLocks noGrp="1"/>
          </p:cNvSpPr>
          <p:nvPr>
            <p:ph type="title"/>
          </p:nvPr>
        </p:nvSpPr>
        <p:spPr>
          <a:xfrm>
            <a:off x="838200" y="365126"/>
            <a:ext cx="9119532" cy="591220"/>
          </a:xfrm>
        </p:spPr>
        <p:txBody>
          <a:bodyPr>
            <a:normAutofit fontScale="90000"/>
          </a:bodyPr>
          <a:lstStyle/>
          <a:p>
            <a:r>
              <a:rPr lang="en-US" b="1" dirty="0"/>
              <a:t>2.4 Number Theory</a:t>
            </a:r>
          </a:p>
        </p:txBody>
      </p:sp>
      <p:sp>
        <p:nvSpPr>
          <p:cNvPr id="3" name="Content Placeholder 2">
            <a:extLst>
              <a:ext uri="{FF2B5EF4-FFF2-40B4-BE49-F238E27FC236}">
                <a16:creationId xmlns:a16="http://schemas.microsoft.com/office/drawing/2014/main" id="{8C0267A2-3912-D9AD-A761-291DB4EB8103}"/>
              </a:ext>
            </a:extLst>
          </p:cNvPr>
          <p:cNvSpPr>
            <a:spLocks noGrp="1"/>
          </p:cNvSpPr>
          <p:nvPr>
            <p:ph idx="1"/>
          </p:nvPr>
        </p:nvSpPr>
        <p:spPr>
          <a:xfrm>
            <a:off x="762699" y="1104172"/>
            <a:ext cx="10515600" cy="4351338"/>
          </a:xfrm>
        </p:spPr>
        <p:txBody>
          <a:bodyPr>
            <a:normAutofit/>
          </a:bodyPr>
          <a:lstStyle/>
          <a:p>
            <a:pPr marL="0" indent="0">
              <a:buNone/>
            </a:pPr>
            <a:r>
              <a:rPr lang="en-US" b="1" dirty="0"/>
              <a:t>Fermat’s Theorem (Probabilistic method)</a:t>
            </a:r>
          </a:p>
          <a:p>
            <a:pPr marL="0" indent="0">
              <a:buNone/>
            </a:pPr>
            <a:endParaRPr lang="en-US" b="1" dirty="0"/>
          </a:p>
          <a:p>
            <a:pPr marL="0" indent="0" algn="just">
              <a:buNone/>
            </a:pPr>
            <a:r>
              <a:rPr lang="en-US" dirty="0">
                <a:effectLst/>
              </a:rPr>
              <a:t>Fermat's little theorem, states that         is an integer multiple of pp, if pp is a prime number and a is an integer. The mathematical form of the theorem is as follows:</a:t>
            </a:r>
          </a:p>
          <a:p>
            <a:pPr marL="0" indent="0" algn="just">
              <a:buNone/>
            </a:pPr>
            <a:endParaRPr lang="en-US" dirty="0">
              <a:effectLst/>
            </a:endParaRPr>
          </a:p>
          <a:p>
            <a:pPr marL="0" indent="0" algn="just">
              <a:buNone/>
            </a:pPr>
            <a:r>
              <a:rPr lang="en-US" dirty="0">
                <a:effectLst/>
              </a:rPr>
              <a:t>Additionally, an alternate form of the above-mentioned equation exists. The mathematical form of Fermat's alternate form is as follows:</a:t>
            </a:r>
          </a:p>
          <a:p>
            <a:pPr marL="0" indent="0" algn="just">
              <a:buNone/>
            </a:pPr>
            <a:r>
              <a:rPr lang="en-US" dirty="0">
                <a:effectLst/>
              </a:rPr>
              <a:t> </a:t>
            </a:r>
          </a:p>
          <a:p>
            <a:pPr marL="0" indent="0">
              <a:buNone/>
            </a:pPr>
            <a:endParaRPr lang="en-US" b="1" dirty="0"/>
          </a:p>
        </p:txBody>
      </p:sp>
      <p:pic>
        <p:nvPicPr>
          <p:cNvPr id="5" name="Picture 4">
            <a:extLst>
              <a:ext uri="{FF2B5EF4-FFF2-40B4-BE49-F238E27FC236}">
                <a16:creationId xmlns:a16="http://schemas.microsoft.com/office/drawing/2014/main" id="{885D0213-6D4B-1C4B-23CB-956F156DB4F7}"/>
              </a:ext>
            </a:extLst>
          </p:cNvPr>
          <p:cNvPicPr>
            <a:picLocks noChangeAspect="1"/>
          </p:cNvPicPr>
          <p:nvPr/>
        </p:nvPicPr>
        <p:blipFill>
          <a:blip r:embed="rId2"/>
          <a:stretch>
            <a:fillRect/>
          </a:stretch>
        </p:blipFill>
        <p:spPr>
          <a:xfrm>
            <a:off x="6020499" y="2144243"/>
            <a:ext cx="619125" cy="335902"/>
          </a:xfrm>
          <a:prstGeom prst="rect">
            <a:avLst/>
          </a:prstGeom>
        </p:spPr>
      </p:pic>
      <p:pic>
        <p:nvPicPr>
          <p:cNvPr id="7" name="Picture 6">
            <a:extLst>
              <a:ext uri="{FF2B5EF4-FFF2-40B4-BE49-F238E27FC236}">
                <a16:creationId xmlns:a16="http://schemas.microsoft.com/office/drawing/2014/main" id="{8C3E24AA-CB59-5AD1-77D6-F76B2CEB996D}"/>
              </a:ext>
            </a:extLst>
          </p:cNvPr>
          <p:cNvPicPr>
            <a:picLocks noChangeAspect="1"/>
          </p:cNvPicPr>
          <p:nvPr/>
        </p:nvPicPr>
        <p:blipFill>
          <a:blip r:embed="rId3"/>
          <a:stretch>
            <a:fillRect/>
          </a:stretch>
        </p:blipFill>
        <p:spPr>
          <a:xfrm>
            <a:off x="4432041" y="3255416"/>
            <a:ext cx="2394145" cy="636418"/>
          </a:xfrm>
          <a:prstGeom prst="rect">
            <a:avLst/>
          </a:prstGeom>
        </p:spPr>
      </p:pic>
      <p:pic>
        <p:nvPicPr>
          <p:cNvPr id="9" name="Picture 8">
            <a:extLst>
              <a:ext uri="{FF2B5EF4-FFF2-40B4-BE49-F238E27FC236}">
                <a16:creationId xmlns:a16="http://schemas.microsoft.com/office/drawing/2014/main" id="{CA7E2B01-1898-E513-38BD-F020CF47B97B}"/>
              </a:ext>
            </a:extLst>
          </p:cNvPr>
          <p:cNvPicPr>
            <a:picLocks noChangeAspect="1"/>
          </p:cNvPicPr>
          <p:nvPr/>
        </p:nvPicPr>
        <p:blipFill>
          <a:blip r:embed="rId4"/>
          <a:stretch>
            <a:fillRect/>
          </a:stretch>
        </p:blipFill>
        <p:spPr>
          <a:xfrm>
            <a:off x="4617172" y="5043044"/>
            <a:ext cx="2373508" cy="710783"/>
          </a:xfrm>
          <a:prstGeom prst="rect">
            <a:avLst/>
          </a:prstGeom>
        </p:spPr>
      </p:pic>
    </p:spTree>
    <p:extLst>
      <p:ext uri="{BB962C8B-B14F-4D97-AF65-F5344CB8AC3E}">
        <p14:creationId xmlns:p14="http://schemas.microsoft.com/office/powerpoint/2010/main" val="28103234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9" name="Rectangle 2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95C4A1-4DC8-F71F-E4AB-C0B725CCFAE9}"/>
              </a:ext>
            </a:extLst>
          </p:cNvPr>
          <p:cNvSpPr>
            <a:spLocks noGrp="1"/>
          </p:cNvSpPr>
          <p:nvPr>
            <p:ph type="title"/>
          </p:nvPr>
        </p:nvSpPr>
        <p:spPr>
          <a:xfrm>
            <a:off x="1043631" y="873940"/>
            <a:ext cx="5052369" cy="1035781"/>
          </a:xfrm>
        </p:spPr>
        <p:txBody>
          <a:bodyPr anchor="ctr">
            <a:normAutofit/>
          </a:bodyPr>
          <a:lstStyle/>
          <a:p>
            <a:r>
              <a:rPr lang="en-US" sz="3600" b="1" dirty="0"/>
              <a:t>Fermat’s Theorem</a:t>
            </a:r>
          </a:p>
        </p:txBody>
      </p:sp>
      <p:sp>
        <p:nvSpPr>
          <p:cNvPr id="3" name="Content Placeholder 2">
            <a:extLst>
              <a:ext uri="{FF2B5EF4-FFF2-40B4-BE49-F238E27FC236}">
                <a16:creationId xmlns:a16="http://schemas.microsoft.com/office/drawing/2014/main" id="{C638EA31-3AA3-0AD4-C373-97BE67A5B902}"/>
              </a:ext>
            </a:extLst>
          </p:cNvPr>
          <p:cNvSpPr>
            <a:spLocks noGrp="1"/>
          </p:cNvSpPr>
          <p:nvPr>
            <p:ph idx="1"/>
          </p:nvPr>
        </p:nvSpPr>
        <p:spPr>
          <a:xfrm>
            <a:off x="1045029" y="2524721"/>
            <a:ext cx="4991629" cy="3677123"/>
          </a:xfrm>
        </p:spPr>
        <p:txBody>
          <a:bodyPr anchor="ctr">
            <a:normAutofit/>
          </a:bodyPr>
          <a:lstStyle/>
          <a:p>
            <a:endParaRPr lang="en-US" sz="1800"/>
          </a:p>
        </p:txBody>
      </p:sp>
      <p:sp>
        <p:nvSpPr>
          <p:cNvPr id="35" name="Rectangle 34">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1D774BC-C07F-70BA-FCC9-8DD1F47531E9}"/>
              </a:ext>
            </a:extLst>
          </p:cNvPr>
          <p:cNvPicPr>
            <a:picLocks noChangeAspect="1"/>
          </p:cNvPicPr>
          <p:nvPr/>
        </p:nvPicPr>
        <p:blipFill>
          <a:blip r:embed="rId2"/>
          <a:stretch>
            <a:fillRect/>
          </a:stretch>
        </p:blipFill>
        <p:spPr>
          <a:xfrm>
            <a:off x="6775641" y="0"/>
            <a:ext cx="4599093" cy="6477596"/>
          </a:xfrm>
          <a:prstGeom prst="rect">
            <a:avLst/>
          </a:prstGeom>
        </p:spPr>
      </p:pic>
      <p:cxnSp>
        <p:nvCxnSpPr>
          <p:cNvPr id="37" name="Straight Connector 3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6586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95C4A1-4DC8-F71F-E4AB-C0B725CCFAE9}"/>
              </a:ext>
            </a:extLst>
          </p:cNvPr>
          <p:cNvSpPr>
            <a:spLocks noGrp="1"/>
          </p:cNvSpPr>
          <p:nvPr>
            <p:ph type="title"/>
          </p:nvPr>
        </p:nvSpPr>
        <p:spPr>
          <a:xfrm>
            <a:off x="1043631" y="873940"/>
            <a:ext cx="5052369" cy="1035781"/>
          </a:xfrm>
        </p:spPr>
        <p:txBody>
          <a:bodyPr anchor="ctr">
            <a:normAutofit/>
          </a:bodyPr>
          <a:lstStyle/>
          <a:p>
            <a:r>
              <a:rPr lang="en-US" sz="3600" b="1" dirty="0"/>
              <a:t>Fermat’s Theorem</a:t>
            </a:r>
          </a:p>
        </p:txBody>
      </p:sp>
      <p:sp>
        <p:nvSpPr>
          <p:cNvPr id="3" name="Content Placeholder 2">
            <a:extLst>
              <a:ext uri="{FF2B5EF4-FFF2-40B4-BE49-F238E27FC236}">
                <a16:creationId xmlns:a16="http://schemas.microsoft.com/office/drawing/2014/main" id="{C638EA31-3AA3-0AD4-C373-97BE67A5B902}"/>
              </a:ext>
            </a:extLst>
          </p:cNvPr>
          <p:cNvSpPr>
            <a:spLocks noGrp="1"/>
          </p:cNvSpPr>
          <p:nvPr>
            <p:ph idx="1"/>
          </p:nvPr>
        </p:nvSpPr>
        <p:spPr>
          <a:xfrm>
            <a:off x="1045029" y="2524721"/>
            <a:ext cx="4991629" cy="3677123"/>
          </a:xfrm>
        </p:spPr>
        <p:txBody>
          <a:bodyPr anchor="ctr">
            <a:normAutofit/>
          </a:bodyPr>
          <a:lstStyle/>
          <a:p>
            <a:endParaRPr lang="en-US" sz="1800"/>
          </a:p>
        </p:txBody>
      </p:sp>
      <p:sp>
        <p:nvSpPr>
          <p:cNvPr id="20" name="Rectangle 19">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65A822E-A333-65DA-B06D-9E900FDE7E2E}"/>
              </a:ext>
            </a:extLst>
          </p:cNvPr>
          <p:cNvPicPr>
            <a:picLocks noChangeAspect="1"/>
          </p:cNvPicPr>
          <p:nvPr/>
        </p:nvPicPr>
        <p:blipFill>
          <a:blip r:embed="rId2"/>
          <a:stretch>
            <a:fillRect/>
          </a:stretch>
        </p:blipFill>
        <p:spPr>
          <a:xfrm>
            <a:off x="6756968" y="-291002"/>
            <a:ext cx="5019600" cy="6783242"/>
          </a:xfrm>
          <a:prstGeom prst="rect">
            <a:avLst/>
          </a:prstGeom>
        </p:spPr>
      </p:pic>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08517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838200" y="365126"/>
            <a:ext cx="9262145" cy="591220"/>
          </a:xfrm>
        </p:spPr>
        <p:txBody>
          <a:bodyPr>
            <a:normAutofit fontScale="90000"/>
          </a:bodyPr>
          <a:lstStyle/>
          <a:p>
            <a:r>
              <a:rPr lang="en-US" b="1" dirty="0"/>
              <a:t>2.4 Number Theory</a:t>
            </a: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838200" y="1476463"/>
            <a:ext cx="10515600" cy="4351338"/>
          </a:xfrm>
        </p:spPr>
        <p:txBody>
          <a:bodyPr/>
          <a:lstStyle/>
          <a:p>
            <a:pPr marL="0" indent="0">
              <a:buNone/>
            </a:pPr>
            <a:r>
              <a:rPr lang="en-US" dirty="0"/>
              <a:t>Primality Testing </a:t>
            </a:r>
          </a:p>
          <a:p>
            <a:pPr marL="0" indent="0" algn="just">
              <a:lnSpc>
                <a:spcPct val="100000"/>
              </a:lnSpc>
              <a:buNone/>
            </a:pPr>
            <a:r>
              <a:rPr lang="en-US" dirty="0"/>
              <a:t>-</a:t>
            </a:r>
            <a:r>
              <a:rPr lang="en-US" sz="2000" dirty="0"/>
              <a:t>A primality test is an algorithm to decide whether an input number is prime. Some primality tests are deterministic. They always correctly decide if a number is prime or composite.</a:t>
            </a:r>
          </a:p>
          <a:p>
            <a:pPr marL="0" indent="0" algn="just">
              <a:lnSpc>
                <a:spcPct val="100000"/>
              </a:lnSpc>
              <a:buNone/>
            </a:pPr>
            <a:endParaRPr lang="en-US" sz="2000" dirty="0"/>
          </a:p>
          <a:p>
            <a:pPr algn="just"/>
            <a:r>
              <a:rPr lang="en-US" sz="1600" dirty="0"/>
              <a:t>The advantage of prime numbers are that they are utilized in cryptography. One of the standard cryptosystem -RSA algorithm need a prime number as key which is generally over 1024 bits to provide higher security.</a:t>
            </a:r>
          </a:p>
          <a:p>
            <a:pPr algn="just"/>
            <a:r>
              <a:rPr lang="en-US" sz="1600" dirty="0"/>
              <a:t>When handling with such large numbers, definitely doesn't create the following method any good. It is not simply to work with such large numbers particularly when the operations performed are / and % at the time of primality testing.</a:t>
            </a:r>
          </a:p>
          <a:p>
            <a:pPr algn="just"/>
            <a:r>
              <a:rPr lang="en-US" sz="1600" dirty="0"/>
              <a:t>Therefore, the best primality testing algorithms that are produced can only decide if the provided number is a "probable prime" or composite.</a:t>
            </a:r>
          </a:p>
          <a:p>
            <a:pPr marL="0" indent="0" algn="just">
              <a:lnSpc>
                <a:spcPct val="100000"/>
              </a:lnSpc>
              <a:buNone/>
            </a:pPr>
            <a:endParaRPr lang="en-US" sz="2000" dirty="0"/>
          </a:p>
        </p:txBody>
      </p:sp>
    </p:spTree>
    <p:extLst>
      <p:ext uri="{BB962C8B-B14F-4D97-AF65-F5344CB8AC3E}">
        <p14:creationId xmlns:p14="http://schemas.microsoft.com/office/powerpoint/2010/main" val="39549550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a:solidFill>
                  <a:schemeClr val="tx1"/>
                </a:solidFill>
                <a:latin typeface="+mj-lt"/>
                <a:ea typeface="+mj-ea"/>
                <a:cs typeface="+mj-cs"/>
              </a:rPr>
              <a:t>2.4 Number Theory</a:t>
            </a:r>
          </a:p>
        </p:txBody>
      </p:sp>
      <p:sp>
        <p:nvSpPr>
          <p:cNvPr id="17" name="Rectangle: Rounded Corners 1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2615738" y="1263807"/>
            <a:ext cx="6960524" cy="598516"/>
          </a:xfrm>
        </p:spPr>
        <p:txBody>
          <a:bodyPr vert="horz" lIns="91440" tIns="45720" rIns="91440" bIns="45720" rtlCol="0" anchor="ctr">
            <a:normAutofit/>
          </a:bodyPr>
          <a:lstStyle/>
          <a:p>
            <a:pPr marL="0" indent="0" algn="ctr">
              <a:buNone/>
            </a:pPr>
            <a:r>
              <a:rPr lang="en-US" sz="2000" b="1" kern="1200">
                <a:solidFill>
                  <a:schemeClr val="bg1"/>
                </a:solidFill>
                <a:latin typeface="+mn-lt"/>
                <a:ea typeface="+mn-ea"/>
                <a:cs typeface="+mn-cs"/>
              </a:rPr>
              <a:t>Miller Rabin Algorithm </a:t>
            </a:r>
            <a:r>
              <a:rPr lang="en-US" sz="2000" kern="1200">
                <a:solidFill>
                  <a:schemeClr val="bg1"/>
                </a:solidFill>
                <a:latin typeface="+mn-lt"/>
                <a:ea typeface="+mn-ea"/>
                <a:cs typeface="+mn-cs"/>
              </a:rPr>
              <a:t>for primality test</a:t>
            </a:r>
          </a:p>
        </p:txBody>
      </p:sp>
      <p:sp>
        <p:nvSpPr>
          <p:cNvPr id="6" name="TextBox 5">
            <a:extLst>
              <a:ext uri="{FF2B5EF4-FFF2-40B4-BE49-F238E27FC236}">
                <a16:creationId xmlns:a16="http://schemas.microsoft.com/office/drawing/2014/main" id="{79569C66-6F01-AFF7-5DD7-C78FA8D63035}"/>
              </a:ext>
            </a:extLst>
          </p:cNvPr>
          <p:cNvSpPr txBox="1"/>
          <p:nvPr/>
        </p:nvSpPr>
        <p:spPr>
          <a:xfrm>
            <a:off x="914400" y="2206305"/>
            <a:ext cx="9714451" cy="4204356"/>
          </a:xfrm>
          <a:prstGeom prst="rect">
            <a:avLst/>
          </a:prstGeom>
          <a:noFill/>
        </p:spPr>
        <p:txBody>
          <a:bodyPr wrap="square" rtlCol="0">
            <a:spAutoFit/>
          </a:bodyPr>
          <a:lstStyle/>
          <a:p>
            <a:pPr algn="just">
              <a:lnSpc>
                <a:spcPct val="150000"/>
              </a:lnSpc>
            </a:pPr>
            <a:r>
              <a:rPr lang="en-US" dirty="0"/>
              <a:t>Miller Rabin is a fast approach to test primality of the large numbers. This algorithm is called a Rabin-miller primality test and this algorithm decides whether number is prime which is same to other tests including Fermat primality Test.</a:t>
            </a:r>
          </a:p>
          <a:p>
            <a:pPr algn="just">
              <a:lnSpc>
                <a:spcPct val="150000"/>
              </a:lnSpc>
            </a:pPr>
            <a:r>
              <a:rPr lang="en-US" dirty="0"/>
              <a:t>- This algorithm is most useful known primality testing algorithm and can be used in different software libraries that based on RSA encryption and best instance is OpenSSL.</a:t>
            </a:r>
          </a:p>
          <a:p>
            <a:pPr algn="just">
              <a:lnSpc>
                <a:spcPct val="150000"/>
              </a:lnSpc>
            </a:pPr>
            <a:r>
              <a:rPr lang="en-US" dirty="0"/>
              <a:t>- Miller Rabin validate that the number is composite. So this is called compositeness test rather than primality test. The miller Rabin test identify all composites. For each composite number n, there can be at least 3/4 (Miller Rabin) of numbers a are witnesses of compositeness of n.</a:t>
            </a:r>
          </a:p>
          <a:p>
            <a:pPr algn="just">
              <a:lnSpc>
                <a:spcPct val="150000"/>
              </a:lnSpc>
            </a:pPr>
            <a:endParaRPr lang="en-US" dirty="0"/>
          </a:p>
          <a:p>
            <a:pPr algn="just">
              <a:lnSpc>
                <a:spcPct val="150000"/>
              </a:lnSpc>
            </a:pPr>
            <a:r>
              <a:rPr lang="en-US" i="1" dirty="0"/>
              <a:t>Can be known as </a:t>
            </a:r>
            <a:r>
              <a:rPr lang="en-US" b="1" i="1" dirty="0"/>
              <a:t>extension of Fermat test.</a:t>
            </a:r>
          </a:p>
        </p:txBody>
      </p:sp>
    </p:spTree>
    <p:extLst>
      <p:ext uri="{BB962C8B-B14F-4D97-AF65-F5344CB8AC3E}">
        <p14:creationId xmlns:p14="http://schemas.microsoft.com/office/powerpoint/2010/main" val="36201810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a:solidFill>
                  <a:schemeClr val="tx1"/>
                </a:solidFill>
                <a:latin typeface="+mj-lt"/>
                <a:ea typeface="+mj-ea"/>
                <a:cs typeface="+mj-cs"/>
              </a:rPr>
              <a:t>2.4 Number Theory</a:t>
            </a:r>
          </a:p>
        </p:txBody>
      </p:sp>
      <p:sp>
        <p:nvSpPr>
          <p:cNvPr id="14" name="Rectangle: Rounded Corners 1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2615738" y="1263807"/>
            <a:ext cx="6960524" cy="598516"/>
          </a:xfrm>
        </p:spPr>
        <p:txBody>
          <a:bodyPr vert="horz" lIns="91440" tIns="45720" rIns="91440" bIns="45720" rtlCol="0" anchor="ctr">
            <a:normAutofit/>
          </a:bodyPr>
          <a:lstStyle/>
          <a:p>
            <a:pPr marL="0" indent="0" algn="ctr">
              <a:buNone/>
            </a:pPr>
            <a:r>
              <a:rPr lang="en-US" sz="2000" b="1" kern="1200" dirty="0">
                <a:solidFill>
                  <a:schemeClr val="bg1"/>
                </a:solidFill>
                <a:latin typeface="+mn-lt"/>
                <a:ea typeface="+mn-ea"/>
                <a:cs typeface="+mn-cs"/>
              </a:rPr>
              <a:t>Miller Rabin Algorithm </a:t>
            </a:r>
            <a:r>
              <a:rPr lang="en-US" sz="2000" kern="1200" dirty="0">
                <a:solidFill>
                  <a:schemeClr val="bg1"/>
                </a:solidFill>
                <a:latin typeface="+mn-lt"/>
                <a:ea typeface="+mn-ea"/>
                <a:cs typeface="+mn-cs"/>
              </a:rPr>
              <a:t>for primality test</a:t>
            </a:r>
          </a:p>
        </p:txBody>
      </p:sp>
      <p:sp>
        <p:nvSpPr>
          <p:cNvPr id="4" name="TextBox 3">
            <a:extLst>
              <a:ext uri="{FF2B5EF4-FFF2-40B4-BE49-F238E27FC236}">
                <a16:creationId xmlns:a16="http://schemas.microsoft.com/office/drawing/2014/main" id="{FFD3D7FA-DCBE-DDC3-5BF6-3174A55DD790}"/>
              </a:ext>
            </a:extLst>
          </p:cNvPr>
          <p:cNvSpPr txBox="1"/>
          <p:nvPr/>
        </p:nvSpPr>
        <p:spPr>
          <a:xfrm>
            <a:off x="1045029" y="2407298"/>
            <a:ext cx="9825134" cy="3234860"/>
          </a:xfrm>
          <a:prstGeom prst="rect">
            <a:avLst/>
          </a:prstGeom>
          <a:noFill/>
        </p:spPr>
        <p:txBody>
          <a:bodyPr wrap="square" rtlCol="0">
            <a:spAutoFit/>
          </a:bodyPr>
          <a:lstStyle/>
          <a:p>
            <a:r>
              <a:rPr lang="en-US" b="1" dirty="0"/>
              <a:t>Advantages</a:t>
            </a:r>
          </a:p>
          <a:p>
            <a:pPr algn="just">
              <a:lnSpc>
                <a:spcPct val="150000"/>
              </a:lnSpc>
              <a:buFont typeface="Arial" panose="020B0604020202020204" pitchFamily="34" charset="0"/>
              <a:buChar char="•"/>
            </a:pPr>
            <a:r>
              <a:rPr lang="en-US" dirty="0"/>
              <a:t> This Algorithm can be used to test high numbers for primality.</a:t>
            </a:r>
          </a:p>
          <a:p>
            <a:pPr algn="just">
              <a:lnSpc>
                <a:spcPct val="150000"/>
              </a:lnSpc>
              <a:buFont typeface="Arial" panose="020B0604020202020204" pitchFamily="34" charset="0"/>
              <a:buChar char="•"/>
            </a:pPr>
            <a:r>
              <a:rPr lang="en-US" dirty="0"/>
              <a:t> Because of its advantage in speed when compared to other primality tests, Miller Rabin test will be the test of choice for several cryptographic applications.</a:t>
            </a:r>
          </a:p>
          <a:p>
            <a:pPr algn="just">
              <a:lnSpc>
                <a:spcPct val="150000"/>
              </a:lnSpc>
              <a:buFont typeface="Arial" panose="020B0604020202020204" pitchFamily="34" charset="0"/>
              <a:buChar char="•"/>
            </a:pPr>
            <a:r>
              <a:rPr lang="en-US" dirty="0"/>
              <a:t> When compared to Euler and </a:t>
            </a:r>
            <a:r>
              <a:rPr lang="en-US" dirty="0" err="1"/>
              <a:t>Solovay</a:t>
            </a:r>
            <a:r>
              <a:rPr lang="en-US" dirty="0"/>
              <a:t>-Strassen tests, Miller Rabin is more dynamic and essential aspect is that the probability of failure is decreased.</a:t>
            </a:r>
          </a:p>
          <a:p>
            <a:pPr algn="just">
              <a:lnSpc>
                <a:spcPct val="150000"/>
              </a:lnSpc>
              <a:buFont typeface="Arial" panose="020B0604020202020204" pitchFamily="34" charset="0"/>
              <a:buChar char="•"/>
            </a:pPr>
            <a:r>
              <a:rPr lang="en-US" dirty="0"/>
              <a:t> According to the </a:t>
            </a:r>
            <a:r>
              <a:rPr lang="en-US" dirty="0" err="1"/>
              <a:t>fermat</a:t>
            </a:r>
            <a:r>
              <a:rPr lang="en-US" dirty="0"/>
              <a:t> test there are too many liars for all Carmichael numbers n, the error probability is near to 1, this disadvantage is prevented in Miller Rabin.</a:t>
            </a:r>
          </a:p>
        </p:txBody>
      </p:sp>
    </p:spTree>
    <p:extLst>
      <p:ext uri="{BB962C8B-B14F-4D97-AF65-F5344CB8AC3E}">
        <p14:creationId xmlns:p14="http://schemas.microsoft.com/office/powerpoint/2010/main" val="35456285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dirty="0">
                <a:solidFill>
                  <a:schemeClr val="tx1"/>
                </a:solidFill>
                <a:latin typeface="+mj-lt"/>
                <a:ea typeface="+mj-ea"/>
                <a:cs typeface="+mj-cs"/>
              </a:rPr>
              <a:t>2.4 Number Theory</a:t>
            </a: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2615738" y="1263807"/>
            <a:ext cx="6960524" cy="598516"/>
          </a:xfrm>
        </p:spPr>
        <p:txBody>
          <a:bodyPr vert="horz" lIns="91440" tIns="45720" rIns="91440" bIns="45720" rtlCol="0" anchor="ctr">
            <a:normAutofit/>
          </a:bodyPr>
          <a:lstStyle/>
          <a:p>
            <a:pPr marL="0" indent="0" algn="ctr">
              <a:buNone/>
            </a:pPr>
            <a:r>
              <a:rPr lang="en-US" b="1" kern="1200" dirty="0">
                <a:latin typeface="+mn-lt"/>
                <a:ea typeface="+mn-ea"/>
                <a:cs typeface="+mn-cs"/>
              </a:rPr>
              <a:t>Euclidean Theorem </a:t>
            </a:r>
            <a:r>
              <a:rPr lang="en-US" kern="1200" dirty="0">
                <a:latin typeface="+mn-lt"/>
                <a:ea typeface="+mn-ea"/>
                <a:cs typeface="+mn-cs"/>
              </a:rPr>
              <a:t>for primality test</a:t>
            </a:r>
          </a:p>
        </p:txBody>
      </p:sp>
      <p:sp>
        <p:nvSpPr>
          <p:cNvPr id="4" name="TextBox 3">
            <a:extLst>
              <a:ext uri="{FF2B5EF4-FFF2-40B4-BE49-F238E27FC236}">
                <a16:creationId xmlns:a16="http://schemas.microsoft.com/office/drawing/2014/main" id="{FFD3D7FA-DCBE-DDC3-5BF6-3174A55DD790}"/>
              </a:ext>
            </a:extLst>
          </p:cNvPr>
          <p:cNvSpPr txBox="1"/>
          <p:nvPr/>
        </p:nvSpPr>
        <p:spPr>
          <a:xfrm>
            <a:off x="1045029" y="2407298"/>
            <a:ext cx="9825134" cy="2031325"/>
          </a:xfrm>
          <a:prstGeom prst="rect">
            <a:avLst/>
          </a:prstGeom>
          <a:noFill/>
        </p:spPr>
        <p:txBody>
          <a:bodyPr wrap="square" rtlCol="0">
            <a:spAutoFit/>
          </a:bodyPr>
          <a:lstStyle/>
          <a:p>
            <a:r>
              <a:rPr lang="en-US" dirty="0"/>
              <a:t>The Greatest Common Divisor (GCD) of two integers A and B is the </a:t>
            </a:r>
            <a:r>
              <a:rPr lang="en-US" b="1" dirty="0"/>
              <a:t>largest integer that divides both A and B</a:t>
            </a:r>
            <a:r>
              <a:rPr lang="en-US" dirty="0"/>
              <a:t>.</a:t>
            </a:r>
          </a:p>
          <a:p>
            <a:endParaRPr lang="en-US" dirty="0"/>
          </a:p>
          <a:p>
            <a:r>
              <a:rPr lang="en-US" dirty="0"/>
              <a:t>The </a:t>
            </a:r>
            <a:r>
              <a:rPr lang="en-US" b="1" dirty="0"/>
              <a:t>Euclidean Algorithm</a:t>
            </a:r>
            <a:r>
              <a:rPr lang="en-US" dirty="0"/>
              <a:t> is a technique for quickly finding the </a:t>
            </a:r>
            <a:r>
              <a:rPr lang="en-US" b="1" dirty="0"/>
              <a:t>GCD</a:t>
            </a:r>
            <a:r>
              <a:rPr lang="en-US" dirty="0"/>
              <a:t> of two integers.</a:t>
            </a:r>
          </a:p>
          <a:p>
            <a:endParaRPr lang="en-US" dirty="0"/>
          </a:p>
          <a:p>
            <a:endParaRPr lang="en-US" dirty="0"/>
          </a:p>
          <a:p>
            <a:endParaRPr lang="en-US" dirty="0"/>
          </a:p>
        </p:txBody>
      </p:sp>
      <p:pic>
        <p:nvPicPr>
          <p:cNvPr id="7" name="Picture 6">
            <a:extLst>
              <a:ext uri="{FF2B5EF4-FFF2-40B4-BE49-F238E27FC236}">
                <a16:creationId xmlns:a16="http://schemas.microsoft.com/office/drawing/2014/main" id="{E1AAA638-DA6D-4EC0-368A-B29B94917779}"/>
              </a:ext>
            </a:extLst>
          </p:cNvPr>
          <p:cNvPicPr>
            <a:picLocks noChangeAspect="1"/>
          </p:cNvPicPr>
          <p:nvPr/>
        </p:nvPicPr>
        <p:blipFill>
          <a:blip r:embed="rId2"/>
          <a:stretch>
            <a:fillRect/>
          </a:stretch>
        </p:blipFill>
        <p:spPr>
          <a:xfrm>
            <a:off x="1117745" y="4076700"/>
            <a:ext cx="6953250" cy="2362200"/>
          </a:xfrm>
          <a:prstGeom prst="rect">
            <a:avLst/>
          </a:prstGeom>
        </p:spPr>
      </p:pic>
    </p:spTree>
    <p:extLst>
      <p:ext uri="{BB962C8B-B14F-4D97-AF65-F5344CB8AC3E}">
        <p14:creationId xmlns:p14="http://schemas.microsoft.com/office/powerpoint/2010/main" val="13859320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66235-3C50-35DA-6129-D206689CD3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C57961-FE89-7209-D6F7-D42426B2439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F8523C2-627B-052F-33E0-DF38BD9CAB25}"/>
              </a:ext>
            </a:extLst>
          </p:cNvPr>
          <p:cNvPicPr>
            <a:picLocks noChangeAspect="1"/>
          </p:cNvPicPr>
          <p:nvPr/>
        </p:nvPicPr>
        <p:blipFill>
          <a:blip r:embed="rId2"/>
          <a:stretch>
            <a:fillRect/>
          </a:stretch>
        </p:blipFill>
        <p:spPr>
          <a:xfrm>
            <a:off x="2983815" y="559185"/>
            <a:ext cx="7067550" cy="5353050"/>
          </a:xfrm>
          <a:prstGeom prst="rect">
            <a:avLst/>
          </a:prstGeom>
        </p:spPr>
      </p:pic>
    </p:spTree>
    <p:extLst>
      <p:ext uri="{BB962C8B-B14F-4D97-AF65-F5344CB8AC3E}">
        <p14:creationId xmlns:p14="http://schemas.microsoft.com/office/powerpoint/2010/main" val="34191482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1115568" y="548640"/>
            <a:ext cx="10168128" cy="1179576"/>
          </a:xfrm>
        </p:spPr>
        <p:txBody>
          <a:bodyPr vert="horz" lIns="91440" tIns="45720" rIns="91440" bIns="45720" rtlCol="0">
            <a:normAutofit/>
          </a:bodyPr>
          <a:lstStyle/>
          <a:p>
            <a:r>
              <a:rPr lang="en-US" sz="4000" b="1" kern="1200">
                <a:latin typeface="+mj-lt"/>
                <a:ea typeface="+mj-ea"/>
                <a:cs typeface="+mj-cs"/>
              </a:rPr>
              <a:t>2.4 Number Theory</a:t>
            </a:r>
          </a:p>
        </p:txBody>
      </p:sp>
      <p:sp>
        <p:nvSpPr>
          <p:cNvPr id="17" name="Rectangle 16">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1230392" y="1497127"/>
            <a:ext cx="5374962" cy="462178"/>
          </a:xfrm>
        </p:spPr>
        <p:txBody>
          <a:bodyPr vert="horz" lIns="91440" tIns="45720" rIns="91440" bIns="45720" rtlCol="0" anchor="ctr">
            <a:normAutofit/>
          </a:bodyPr>
          <a:lstStyle/>
          <a:p>
            <a:pPr marL="0" indent="0" algn="ctr" defTabSz="704088">
              <a:spcBef>
                <a:spcPts val="770"/>
              </a:spcBef>
              <a:buNone/>
            </a:pPr>
            <a:r>
              <a:rPr lang="en-US" sz="1700" b="1" kern="1200" dirty="0">
                <a:solidFill>
                  <a:schemeClr val="tx1"/>
                </a:solidFill>
                <a:latin typeface="+mn-lt"/>
                <a:ea typeface="+mn-ea"/>
                <a:cs typeface="+mn-cs"/>
              </a:rPr>
              <a:t>Extended Euclidean Theorem </a:t>
            </a:r>
            <a:r>
              <a:rPr lang="en-US" sz="1700" kern="1200" dirty="0">
                <a:solidFill>
                  <a:schemeClr val="tx1"/>
                </a:solidFill>
                <a:latin typeface="+mn-lt"/>
                <a:ea typeface="+mn-ea"/>
                <a:cs typeface="+mn-cs"/>
              </a:rPr>
              <a:t>for primality test</a:t>
            </a:r>
            <a:endParaRPr lang="en-US" sz="1700" kern="1200" dirty="0">
              <a:latin typeface="+mn-lt"/>
              <a:ea typeface="+mn-ea"/>
              <a:cs typeface="+mn-cs"/>
            </a:endParaRPr>
          </a:p>
        </p:txBody>
      </p:sp>
      <p:sp>
        <p:nvSpPr>
          <p:cNvPr id="4" name="TextBox 3">
            <a:extLst>
              <a:ext uri="{FF2B5EF4-FFF2-40B4-BE49-F238E27FC236}">
                <a16:creationId xmlns:a16="http://schemas.microsoft.com/office/drawing/2014/main" id="{FFD3D7FA-DCBE-DDC3-5BF6-3174A55DD790}"/>
              </a:ext>
            </a:extLst>
          </p:cNvPr>
          <p:cNvSpPr txBox="1"/>
          <p:nvPr/>
        </p:nvSpPr>
        <p:spPr>
          <a:xfrm>
            <a:off x="335561" y="3188872"/>
            <a:ext cx="4412608" cy="3040576"/>
          </a:xfrm>
          <a:prstGeom prst="rect">
            <a:avLst/>
          </a:prstGeom>
          <a:noFill/>
        </p:spPr>
        <p:txBody>
          <a:bodyPr wrap="square" rtlCol="0">
            <a:spAutoFit/>
          </a:bodyPr>
          <a:lstStyle/>
          <a:p>
            <a:pPr algn="just" defTabSz="704088">
              <a:spcAft>
                <a:spcPts val="600"/>
              </a:spcAft>
            </a:pPr>
            <a:r>
              <a:rPr lang="en-US" sz="1386" b="1" kern="1200" dirty="0">
                <a:solidFill>
                  <a:schemeClr val="tx1"/>
                </a:solidFill>
                <a:latin typeface="+mn-lt"/>
                <a:ea typeface="+mn-ea"/>
                <a:cs typeface="+mn-cs"/>
              </a:rPr>
              <a:t>Extended Euclidean Theorem </a:t>
            </a:r>
            <a:r>
              <a:rPr lang="en-US" sz="1386" kern="1200" dirty="0">
                <a:solidFill>
                  <a:schemeClr val="tx1"/>
                </a:solidFill>
                <a:latin typeface="+mn-lt"/>
                <a:ea typeface="+mn-ea"/>
                <a:cs typeface="+mn-cs"/>
              </a:rPr>
              <a:t>is an extension of the </a:t>
            </a:r>
            <a:r>
              <a:rPr lang="en-US" sz="1386" i="1" kern="1200" dirty="0">
                <a:solidFill>
                  <a:schemeClr val="tx1"/>
                </a:solidFill>
                <a:latin typeface="+mn-lt"/>
                <a:ea typeface="+mn-ea"/>
                <a:cs typeface="+mn-cs"/>
              </a:rPr>
              <a:t>Euclidean Algorithm</a:t>
            </a:r>
            <a:r>
              <a:rPr lang="en-US" sz="1386" kern="1200" dirty="0">
                <a:solidFill>
                  <a:schemeClr val="tx1"/>
                </a:solidFill>
                <a:latin typeface="+mn-lt"/>
                <a:ea typeface="+mn-ea"/>
                <a:cs typeface="+mn-cs"/>
              </a:rPr>
              <a:t> that computes the greatest common divisor (GCD) of integers a and b. GCD is the largest integer that divides both a and b without any remainder.</a:t>
            </a:r>
          </a:p>
          <a:p>
            <a:pPr algn="just" defTabSz="704088">
              <a:spcAft>
                <a:spcPts val="600"/>
              </a:spcAft>
            </a:pPr>
            <a:endParaRPr lang="en-US" sz="1386" kern="1200" dirty="0">
              <a:solidFill>
                <a:schemeClr val="tx1"/>
              </a:solidFill>
              <a:latin typeface="+mn-lt"/>
              <a:ea typeface="+mn-ea"/>
              <a:cs typeface="+mn-cs"/>
            </a:endParaRPr>
          </a:p>
          <a:p>
            <a:pPr algn="just" defTabSz="704088">
              <a:spcAft>
                <a:spcPts val="600"/>
              </a:spcAft>
            </a:pPr>
            <a:endParaRPr lang="en-US" sz="1386" kern="1200" dirty="0">
              <a:solidFill>
                <a:schemeClr val="tx1"/>
              </a:solidFill>
              <a:latin typeface="+mn-lt"/>
              <a:ea typeface="+mn-ea"/>
              <a:cs typeface="+mn-cs"/>
            </a:endParaRPr>
          </a:p>
          <a:p>
            <a:pPr algn="just" defTabSz="704088">
              <a:spcAft>
                <a:spcPts val="600"/>
              </a:spcAft>
            </a:pPr>
            <a:endParaRPr lang="en-US" sz="1386" kern="1200" dirty="0">
              <a:solidFill>
                <a:schemeClr val="tx1"/>
              </a:solidFill>
              <a:latin typeface="+mn-lt"/>
              <a:ea typeface="+mn-ea"/>
              <a:cs typeface="+mn-cs"/>
            </a:endParaRPr>
          </a:p>
          <a:p>
            <a:pPr algn="just" defTabSz="704088">
              <a:spcAft>
                <a:spcPts val="600"/>
              </a:spcAft>
            </a:pPr>
            <a:endParaRPr lang="en-US" sz="1386" kern="1200" dirty="0">
              <a:solidFill>
                <a:schemeClr val="tx1"/>
              </a:solidFill>
              <a:latin typeface="+mn-lt"/>
              <a:ea typeface="+mn-ea"/>
              <a:cs typeface="+mn-cs"/>
            </a:endParaRPr>
          </a:p>
          <a:p>
            <a:pPr algn="just" defTabSz="704088">
              <a:spcAft>
                <a:spcPts val="600"/>
              </a:spcAft>
            </a:pPr>
            <a:endParaRPr lang="en-US" sz="1386" kern="1200" dirty="0">
              <a:solidFill>
                <a:schemeClr val="tx1"/>
              </a:solidFill>
              <a:latin typeface="+mn-lt"/>
              <a:ea typeface="+mn-ea"/>
              <a:cs typeface="+mn-cs"/>
            </a:endParaRPr>
          </a:p>
          <a:p>
            <a:pPr algn="just" defTabSz="704088">
              <a:spcAft>
                <a:spcPts val="600"/>
              </a:spcAft>
            </a:pPr>
            <a:endParaRPr lang="en-US" sz="1386" kern="1200" dirty="0">
              <a:solidFill>
                <a:schemeClr val="tx1"/>
              </a:solidFill>
              <a:latin typeface="+mn-lt"/>
              <a:ea typeface="+mn-ea"/>
              <a:cs typeface="+mn-cs"/>
            </a:endParaRPr>
          </a:p>
          <a:p>
            <a:pPr algn="just">
              <a:spcAft>
                <a:spcPts val="600"/>
              </a:spcAft>
            </a:pPr>
            <a:endParaRPr lang="en-US" dirty="0"/>
          </a:p>
        </p:txBody>
      </p:sp>
      <p:pic>
        <p:nvPicPr>
          <p:cNvPr id="6" name="Picture 5">
            <a:extLst>
              <a:ext uri="{FF2B5EF4-FFF2-40B4-BE49-F238E27FC236}">
                <a16:creationId xmlns:a16="http://schemas.microsoft.com/office/drawing/2014/main" id="{73AE13C0-660C-2CF1-CDC2-2E0E36DBB271}"/>
              </a:ext>
            </a:extLst>
          </p:cNvPr>
          <p:cNvPicPr>
            <a:picLocks noChangeAspect="1"/>
          </p:cNvPicPr>
          <p:nvPr/>
        </p:nvPicPr>
        <p:blipFill>
          <a:blip r:embed="rId2"/>
          <a:stretch>
            <a:fillRect/>
          </a:stretch>
        </p:blipFill>
        <p:spPr>
          <a:xfrm>
            <a:off x="5329173" y="2209254"/>
            <a:ext cx="6679073" cy="4533421"/>
          </a:xfrm>
          <a:prstGeom prst="rect">
            <a:avLst/>
          </a:prstGeom>
        </p:spPr>
      </p:pic>
      <p:cxnSp>
        <p:nvCxnSpPr>
          <p:cNvPr id="8" name="Straight Connector 7">
            <a:extLst>
              <a:ext uri="{FF2B5EF4-FFF2-40B4-BE49-F238E27FC236}">
                <a16:creationId xmlns:a16="http://schemas.microsoft.com/office/drawing/2014/main" id="{BC2C8CAB-CEC9-DA5F-A0F5-E79BF7FB0E30}"/>
              </a:ext>
            </a:extLst>
          </p:cNvPr>
          <p:cNvCxnSpPr/>
          <p:nvPr/>
        </p:nvCxnSpPr>
        <p:spPr>
          <a:xfrm>
            <a:off x="4899171" y="2474752"/>
            <a:ext cx="0" cy="343109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73363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dirty="0">
                <a:solidFill>
                  <a:schemeClr val="tx1"/>
                </a:solidFill>
                <a:latin typeface="+mj-lt"/>
                <a:ea typeface="+mj-ea"/>
                <a:cs typeface="+mj-cs"/>
              </a:rPr>
              <a:t>2.4 Number Theory</a:t>
            </a: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2615738" y="1263807"/>
            <a:ext cx="6960524" cy="598516"/>
          </a:xfrm>
        </p:spPr>
        <p:txBody>
          <a:bodyPr vert="horz" lIns="91440" tIns="45720" rIns="91440" bIns="45720" rtlCol="0" anchor="ctr">
            <a:normAutofit/>
          </a:bodyPr>
          <a:lstStyle/>
          <a:p>
            <a:pPr marL="0" indent="0" algn="ctr">
              <a:buNone/>
            </a:pPr>
            <a:r>
              <a:rPr lang="en-US" b="1" kern="1200" dirty="0">
                <a:latin typeface="+mn-lt"/>
                <a:ea typeface="+mn-ea"/>
                <a:cs typeface="+mn-cs"/>
              </a:rPr>
              <a:t>Euler Totient Function </a:t>
            </a:r>
            <a:r>
              <a:rPr lang="en-US" kern="1200" dirty="0">
                <a:latin typeface="+mn-lt"/>
                <a:ea typeface="+mn-ea"/>
                <a:cs typeface="+mn-cs"/>
              </a:rPr>
              <a:t>for primality test</a:t>
            </a:r>
          </a:p>
        </p:txBody>
      </p:sp>
      <p:sp>
        <p:nvSpPr>
          <p:cNvPr id="4" name="TextBox 3">
            <a:extLst>
              <a:ext uri="{FF2B5EF4-FFF2-40B4-BE49-F238E27FC236}">
                <a16:creationId xmlns:a16="http://schemas.microsoft.com/office/drawing/2014/main" id="{FFD3D7FA-DCBE-DDC3-5BF6-3174A55DD790}"/>
              </a:ext>
            </a:extLst>
          </p:cNvPr>
          <p:cNvSpPr txBox="1"/>
          <p:nvPr/>
        </p:nvSpPr>
        <p:spPr>
          <a:xfrm>
            <a:off x="1045029" y="2407298"/>
            <a:ext cx="9825134" cy="4247317"/>
          </a:xfrm>
          <a:prstGeom prst="rect">
            <a:avLst/>
          </a:prstGeom>
          <a:noFill/>
        </p:spPr>
        <p:txBody>
          <a:bodyPr wrap="square" rtlCol="0">
            <a:spAutoFit/>
          </a:bodyPr>
          <a:lstStyle/>
          <a:p>
            <a:pPr algn="just">
              <a:lnSpc>
                <a:spcPct val="150000"/>
              </a:lnSpc>
            </a:pPr>
            <a:r>
              <a:rPr lang="en-US" dirty="0"/>
              <a:t>Euler's theorem is a generalization of Fermat's little theorem handling with powers of integers modulo positive integers. It increase in applications of elementary number theory, such as the theoretical supporting structure for the RSA cryptosystem.</a:t>
            </a:r>
          </a:p>
          <a:p>
            <a:pPr algn="just">
              <a:lnSpc>
                <a:spcPct val="150000"/>
              </a:lnSpc>
            </a:pPr>
            <a:r>
              <a:rPr lang="en-US" dirty="0"/>
              <a:t>This theorem states that for every a and n that are relatively prime −</a:t>
            </a:r>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E2E7C878-3167-D889-066E-B886CBE1E575}"/>
              </a:ext>
            </a:extLst>
          </p:cNvPr>
          <p:cNvPicPr>
            <a:picLocks noChangeAspect="1"/>
          </p:cNvPicPr>
          <p:nvPr/>
        </p:nvPicPr>
        <p:blipFill>
          <a:blip r:embed="rId2"/>
          <a:stretch>
            <a:fillRect/>
          </a:stretch>
        </p:blipFill>
        <p:spPr>
          <a:xfrm>
            <a:off x="3998096" y="4284852"/>
            <a:ext cx="1628775" cy="419100"/>
          </a:xfrm>
          <a:prstGeom prst="rect">
            <a:avLst/>
          </a:prstGeom>
        </p:spPr>
      </p:pic>
      <p:sp>
        <p:nvSpPr>
          <p:cNvPr id="9" name="Rectangle 2">
            <a:extLst>
              <a:ext uri="{FF2B5EF4-FFF2-40B4-BE49-F238E27FC236}">
                <a16:creationId xmlns:a16="http://schemas.microsoft.com/office/drawing/2014/main" id="{5BA97581-EA28-7143-337D-0B3FD9C0CAC5}"/>
              </a:ext>
            </a:extLst>
          </p:cNvPr>
          <p:cNvSpPr>
            <a:spLocks noChangeArrowheads="1"/>
          </p:cNvSpPr>
          <p:nvPr/>
        </p:nvSpPr>
        <p:spPr bwMode="auto">
          <a:xfrm>
            <a:off x="1045029" y="4956552"/>
            <a:ext cx="105789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where </a:t>
            </a:r>
            <a:r>
              <a:rPr kumimoji="0" lang="en-US" altLang="en-US" sz="1600" b="0" i="1" u="none" strike="noStrike" cap="none" normalizeH="0" baseline="0" dirty="0">
                <a:ln>
                  <a:noFill/>
                </a:ln>
                <a:solidFill>
                  <a:schemeClr val="tx1"/>
                </a:solidFill>
                <a:effectLst/>
              </a:rPr>
              <a:t>ϕ</a:t>
            </a:r>
            <a:r>
              <a:rPr kumimoji="0" lang="en-US" altLang="en-US" sz="1600" b="0" i="0" u="none" strike="noStrike" cap="none" normalizeH="0" baseline="0" dirty="0">
                <a:ln>
                  <a:noFill/>
                </a:ln>
                <a:solidFill>
                  <a:schemeClr val="tx1"/>
                </a:solidFill>
                <a:effectLst/>
              </a:rPr>
              <a:t>(n) is Euler's totient function, which counts the number of positive integers less than n that are relatively prime to n. </a:t>
            </a:r>
          </a:p>
        </p:txBody>
      </p:sp>
    </p:spTree>
    <p:extLst>
      <p:ext uri="{BB962C8B-B14F-4D97-AF65-F5344CB8AC3E}">
        <p14:creationId xmlns:p14="http://schemas.microsoft.com/office/powerpoint/2010/main" val="16067572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E238-BFB6-0092-AE4C-4ECB6426F154}"/>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b="1" kern="1200" dirty="0">
                <a:solidFill>
                  <a:schemeClr val="tx1"/>
                </a:solidFill>
                <a:latin typeface="+mj-lt"/>
                <a:ea typeface="+mj-ea"/>
                <a:cs typeface="+mj-cs"/>
              </a:rPr>
              <a:t>2.4 Number Theory</a:t>
            </a:r>
          </a:p>
        </p:txBody>
      </p:sp>
      <p:sp>
        <p:nvSpPr>
          <p:cNvPr id="3" name="Content Placeholder 2">
            <a:extLst>
              <a:ext uri="{FF2B5EF4-FFF2-40B4-BE49-F238E27FC236}">
                <a16:creationId xmlns:a16="http://schemas.microsoft.com/office/drawing/2014/main" id="{B1C2F6C1-DA0F-593E-F8D1-AE2EF8217E84}"/>
              </a:ext>
            </a:extLst>
          </p:cNvPr>
          <p:cNvSpPr>
            <a:spLocks noGrp="1"/>
          </p:cNvSpPr>
          <p:nvPr>
            <p:ph idx="1"/>
          </p:nvPr>
        </p:nvSpPr>
        <p:spPr>
          <a:xfrm>
            <a:off x="2615738" y="1263807"/>
            <a:ext cx="6960524" cy="598516"/>
          </a:xfrm>
        </p:spPr>
        <p:txBody>
          <a:bodyPr vert="horz" lIns="91440" tIns="45720" rIns="91440" bIns="45720" rtlCol="0" anchor="ctr">
            <a:normAutofit/>
          </a:bodyPr>
          <a:lstStyle/>
          <a:p>
            <a:pPr marL="0" indent="0" algn="ctr">
              <a:buNone/>
            </a:pPr>
            <a:r>
              <a:rPr lang="en-US" b="1" kern="1200" dirty="0">
                <a:latin typeface="+mn-lt"/>
                <a:ea typeface="+mn-ea"/>
                <a:cs typeface="+mn-cs"/>
              </a:rPr>
              <a:t>Euler Totient Function </a:t>
            </a:r>
            <a:r>
              <a:rPr lang="en-US" kern="1200" dirty="0">
                <a:latin typeface="+mn-lt"/>
                <a:ea typeface="+mn-ea"/>
                <a:cs typeface="+mn-cs"/>
              </a:rPr>
              <a:t>for primality test</a:t>
            </a:r>
          </a:p>
        </p:txBody>
      </p:sp>
      <p:sp>
        <p:nvSpPr>
          <p:cNvPr id="5" name="TextBox 4">
            <a:extLst>
              <a:ext uri="{FF2B5EF4-FFF2-40B4-BE49-F238E27FC236}">
                <a16:creationId xmlns:a16="http://schemas.microsoft.com/office/drawing/2014/main" id="{40D264F8-06F2-CB2D-F611-43ED4DD1A843}"/>
              </a:ext>
            </a:extLst>
          </p:cNvPr>
          <p:cNvSpPr txBox="1"/>
          <p:nvPr/>
        </p:nvSpPr>
        <p:spPr>
          <a:xfrm>
            <a:off x="771787" y="2147582"/>
            <a:ext cx="9982899" cy="3785652"/>
          </a:xfrm>
          <a:prstGeom prst="rect">
            <a:avLst/>
          </a:prstGeom>
          <a:noFill/>
        </p:spPr>
        <p:txBody>
          <a:bodyPr wrap="square" rtlCol="0">
            <a:spAutoFit/>
          </a:bodyPr>
          <a:lstStyle/>
          <a:p>
            <a:pPr marL="285750" indent="-285750" algn="just">
              <a:buFontTx/>
              <a:buChar char="-"/>
            </a:pPr>
            <a:r>
              <a:rPr lang="en-US" sz="2000" dirty="0"/>
              <a:t>Mathematical multiplicative functions which count the positive integers up to the given integer generally known as ‘n’ that are a prime number to ‘n’ and the function can be used to understand the number of prime numbers that exist up to the given integer ‘n’.</a:t>
            </a:r>
          </a:p>
          <a:p>
            <a:pPr marL="285750" indent="-285750" algn="just">
              <a:buFontTx/>
              <a:buChar char="-"/>
            </a:pPr>
            <a:endParaRPr lang="en-US" sz="2000" dirty="0"/>
          </a:p>
          <a:p>
            <a:pPr marL="285750" indent="-285750" algn="just">
              <a:buFontTx/>
              <a:buChar char="-"/>
            </a:pPr>
            <a:r>
              <a:rPr lang="en-US" sz="2000" dirty="0"/>
              <a:t>Also called as Euler’s phi function. </a:t>
            </a:r>
          </a:p>
          <a:p>
            <a:pPr marL="285750" indent="-285750" algn="just">
              <a:buFontTx/>
              <a:buChar char="-"/>
            </a:pPr>
            <a:endParaRPr lang="en-US" sz="2000" dirty="0"/>
          </a:p>
          <a:p>
            <a:pPr marL="285750" indent="-285750" algn="just">
              <a:buFontTx/>
              <a:buChar char="-"/>
            </a:pPr>
            <a:r>
              <a:rPr lang="en-US" sz="2000" dirty="0"/>
              <a:t>Can be used in RSA Encryption System, which can be used for security goals. It deals with the prime number theory and it is beneficial in the computation of large calculations also. </a:t>
            </a:r>
          </a:p>
          <a:p>
            <a:pPr algn="just"/>
            <a:endParaRPr lang="en-US" sz="2000" dirty="0"/>
          </a:p>
          <a:p>
            <a:pPr marL="285750" indent="-285750" algn="just">
              <a:buFontTx/>
              <a:buChar char="-"/>
            </a:pPr>
            <a:r>
              <a:rPr lang="en-US" sz="2000" dirty="0"/>
              <a:t>Symbol used to indicate the function is ϕ, and it is also known as phi function. The function includes more theoretical use instead of practical use. The sensible requirement of the function is limited.</a:t>
            </a:r>
          </a:p>
        </p:txBody>
      </p:sp>
    </p:spTree>
    <p:extLst>
      <p:ext uri="{BB962C8B-B14F-4D97-AF65-F5344CB8AC3E}">
        <p14:creationId xmlns:p14="http://schemas.microsoft.com/office/powerpoint/2010/main" val="32076882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C5372-8DD9-A392-C025-8DCA5BFFEF3E}"/>
              </a:ext>
            </a:extLst>
          </p:cNvPr>
          <p:cNvSpPr>
            <a:spLocks noGrp="1"/>
          </p:cNvSpPr>
          <p:nvPr>
            <p:ph type="title"/>
          </p:nvPr>
        </p:nvSpPr>
        <p:spPr>
          <a:xfrm>
            <a:off x="838200" y="365126"/>
            <a:ext cx="9413147" cy="759000"/>
          </a:xfrm>
        </p:spPr>
        <p:txBody>
          <a:bodyPr/>
          <a:lstStyle/>
          <a:p>
            <a:r>
              <a:rPr lang="en-US" b="1" dirty="0"/>
              <a:t>2.5 Asymmetric Encryption</a:t>
            </a:r>
          </a:p>
        </p:txBody>
      </p:sp>
      <p:sp>
        <p:nvSpPr>
          <p:cNvPr id="3" name="Content Placeholder 2">
            <a:extLst>
              <a:ext uri="{FF2B5EF4-FFF2-40B4-BE49-F238E27FC236}">
                <a16:creationId xmlns:a16="http://schemas.microsoft.com/office/drawing/2014/main" id="{5617DE0F-AEDF-135C-C41A-C5A5447B7B13}"/>
              </a:ext>
            </a:extLst>
          </p:cNvPr>
          <p:cNvSpPr>
            <a:spLocks noGrp="1"/>
          </p:cNvSpPr>
          <p:nvPr>
            <p:ph idx="1"/>
          </p:nvPr>
        </p:nvSpPr>
        <p:spPr>
          <a:xfrm>
            <a:off x="838200" y="1253331"/>
            <a:ext cx="10515600" cy="4351338"/>
          </a:xfrm>
        </p:spPr>
        <p:txBody>
          <a:bodyPr>
            <a:normAutofit/>
          </a:bodyPr>
          <a:lstStyle/>
          <a:p>
            <a:pPr marL="0" indent="0" algn="just">
              <a:lnSpc>
                <a:spcPct val="100000"/>
              </a:lnSpc>
              <a:buNone/>
            </a:pPr>
            <a:r>
              <a:rPr lang="en-US" sz="2000" b="1" dirty="0"/>
              <a:t>Asymmetric encryption</a:t>
            </a:r>
            <a:r>
              <a:rPr lang="en-US" sz="2000" dirty="0"/>
              <a:t> is a type of encryption that uses two separates yet mathematically related keys to encrypt and decrypt data. The </a:t>
            </a:r>
            <a:r>
              <a:rPr lang="en-US" sz="2000" b="1" dirty="0"/>
              <a:t>public key</a:t>
            </a:r>
            <a:r>
              <a:rPr lang="en-US" sz="2000" dirty="0"/>
              <a:t> encrypts data while its corresponding </a:t>
            </a:r>
            <a:r>
              <a:rPr lang="en-US" sz="2000" b="1" dirty="0"/>
              <a:t>private key</a:t>
            </a:r>
            <a:r>
              <a:rPr lang="en-US" sz="2000" dirty="0"/>
              <a:t> decrypts it. This is why it’s also known as </a:t>
            </a:r>
            <a:r>
              <a:rPr lang="en-US" sz="2000" b="1" dirty="0"/>
              <a:t>public key encryption</a:t>
            </a:r>
            <a:r>
              <a:rPr lang="en-US" sz="2000" dirty="0"/>
              <a:t>, </a:t>
            </a:r>
            <a:r>
              <a:rPr lang="en-US" sz="2000" b="1" dirty="0"/>
              <a:t>public key cryptography</a:t>
            </a:r>
            <a:r>
              <a:rPr lang="en-US" sz="2000" dirty="0"/>
              <a:t>, and </a:t>
            </a:r>
            <a:r>
              <a:rPr lang="en-US" sz="2000" b="1" dirty="0"/>
              <a:t>asymmetric key encryption</a:t>
            </a:r>
            <a:r>
              <a:rPr lang="en-US" sz="2000" dirty="0"/>
              <a:t>.</a:t>
            </a:r>
          </a:p>
          <a:p>
            <a:pPr marL="0" indent="0" algn="just">
              <a:lnSpc>
                <a:spcPct val="100000"/>
              </a:lnSpc>
              <a:buNone/>
            </a:pPr>
            <a:endParaRPr lang="en-US" sz="2000" dirty="0"/>
          </a:p>
          <a:p>
            <a:pPr marL="0" indent="0" algn="just">
              <a:lnSpc>
                <a:spcPct val="100000"/>
              </a:lnSpc>
              <a:buNone/>
            </a:pPr>
            <a:r>
              <a:rPr lang="en-US" sz="2000" dirty="0"/>
              <a:t>Public key is open to everyone. Anyone can access it and encrypt data with it. </a:t>
            </a:r>
          </a:p>
          <a:p>
            <a:pPr marL="0" indent="0" algn="just">
              <a:lnSpc>
                <a:spcPct val="100000"/>
              </a:lnSpc>
              <a:buNone/>
            </a:pPr>
            <a:r>
              <a:rPr lang="en-US" sz="2000" dirty="0"/>
              <a:t>Once encrypted, that data can only be unlocked by using the corresponding private key. </a:t>
            </a:r>
          </a:p>
        </p:txBody>
      </p:sp>
    </p:spTree>
    <p:extLst>
      <p:ext uri="{BB962C8B-B14F-4D97-AF65-F5344CB8AC3E}">
        <p14:creationId xmlns:p14="http://schemas.microsoft.com/office/powerpoint/2010/main" val="30353632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C5372-8DD9-A392-C025-8DCA5BFFEF3E}"/>
              </a:ext>
            </a:extLst>
          </p:cNvPr>
          <p:cNvSpPr>
            <a:spLocks noGrp="1"/>
          </p:cNvSpPr>
          <p:nvPr>
            <p:ph type="title"/>
          </p:nvPr>
        </p:nvSpPr>
        <p:spPr>
          <a:xfrm>
            <a:off x="838200" y="459863"/>
            <a:ext cx="10515600" cy="1004594"/>
          </a:xfrm>
        </p:spPr>
        <p:txBody>
          <a:bodyPr>
            <a:normAutofit/>
          </a:bodyPr>
          <a:lstStyle/>
          <a:p>
            <a:pPr algn="ctr"/>
            <a:r>
              <a:rPr lang="en-US" b="1">
                <a:solidFill>
                  <a:srgbClr val="FFFFFF"/>
                </a:solidFill>
              </a:rPr>
              <a:t>2.5 Asymmetric Encryption</a:t>
            </a:r>
          </a:p>
        </p:txBody>
      </p:sp>
      <p:sp>
        <p:nvSpPr>
          <p:cNvPr id="12" name="Rectangle: Rounded Corners 11">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180134FD-A7B1-0E66-13F5-12A5443BCDDC}"/>
              </a:ext>
            </a:extLst>
          </p:cNvPr>
          <p:cNvGraphicFramePr>
            <a:graphicFrameLocks noGrp="1"/>
          </p:cNvGraphicFramePr>
          <p:nvPr>
            <p:ph idx="1"/>
            <p:extLst>
              <p:ext uri="{D42A27DB-BD31-4B8C-83A1-F6EECF244321}">
                <p14:modId xmlns:p14="http://schemas.microsoft.com/office/powerpoint/2010/main" val="1151651427"/>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179909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CB05C-D4C7-9545-A7A3-50D92BA6DCFF}"/>
              </a:ext>
            </a:extLst>
          </p:cNvPr>
          <p:cNvSpPr>
            <a:spLocks noGrp="1"/>
          </p:cNvSpPr>
          <p:nvPr>
            <p:ph type="title"/>
          </p:nvPr>
        </p:nvSpPr>
        <p:spPr>
          <a:xfrm>
            <a:off x="838200" y="365126"/>
            <a:ext cx="9648039" cy="725444"/>
          </a:xfrm>
        </p:spPr>
        <p:txBody>
          <a:bodyPr/>
          <a:lstStyle/>
          <a:p>
            <a:r>
              <a:rPr lang="en-US" b="1"/>
              <a:t>2.5 Asymmetric Encryption</a:t>
            </a:r>
            <a:endParaRPr lang="en-US" b="1" dirty="0"/>
          </a:p>
        </p:txBody>
      </p:sp>
      <p:sp>
        <p:nvSpPr>
          <p:cNvPr id="3" name="Content Placeholder 2">
            <a:extLst>
              <a:ext uri="{FF2B5EF4-FFF2-40B4-BE49-F238E27FC236}">
                <a16:creationId xmlns:a16="http://schemas.microsoft.com/office/drawing/2014/main" id="{96F660DD-D1E1-A5C9-C9AC-AF4859D68DB2}"/>
              </a:ext>
            </a:extLst>
          </p:cNvPr>
          <p:cNvSpPr>
            <a:spLocks noGrp="1"/>
          </p:cNvSpPr>
          <p:nvPr>
            <p:ph idx="1"/>
          </p:nvPr>
        </p:nvSpPr>
        <p:spPr>
          <a:xfrm>
            <a:off x="838199" y="1090570"/>
            <a:ext cx="4581089" cy="4351338"/>
          </a:xfrm>
        </p:spPr>
        <p:txBody>
          <a:bodyPr>
            <a:normAutofit lnSpcReduction="10000"/>
          </a:bodyPr>
          <a:lstStyle/>
          <a:p>
            <a:pPr marL="0" indent="0" algn="just">
              <a:buNone/>
            </a:pPr>
            <a:r>
              <a:rPr lang="en-US" sz="2400" b="1" dirty="0"/>
              <a:t>Four main characteristics</a:t>
            </a:r>
          </a:p>
          <a:p>
            <a:pPr marL="0" indent="0" algn="just">
              <a:buNone/>
            </a:pPr>
            <a:endParaRPr lang="en-US" sz="2400" dirty="0"/>
          </a:p>
          <a:p>
            <a:pPr marL="457200" indent="-457200" algn="just">
              <a:buAutoNum type="arabicPeriod"/>
            </a:pPr>
            <a:r>
              <a:rPr lang="en-US" sz="2400" dirty="0"/>
              <a:t>Asymmetric Encryption is designed for securing data and key exchanges in public channels</a:t>
            </a:r>
          </a:p>
          <a:p>
            <a:pPr marL="457200" indent="-457200" algn="just">
              <a:buAutoNum type="arabicPeriod"/>
            </a:pPr>
            <a:r>
              <a:rPr lang="en-US" sz="2400" dirty="0"/>
              <a:t>Asymmetric Encryption keys are large</a:t>
            </a:r>
          </a:p>
          <a:p>
            <a:pPr marL="457200" indent="-457200" algn="just">
              <a:buAutoNum type="arabicPeriod"/>
            </a:pPr>
            <a:r>
              <a:rPr lang="en-US" sz="2400" dirty="0"/>
              <a:t>Public Key Encryption Algorithms are strong</a:t>
            </a:r>
          </a:p>
          <a:p>
            <a:pPr marL="457200" indent="-457200" algn="just">
              <a:buAutoNum type="arabicPeriod"/>
            </a:pPr>
            <a:r>
              <a:rPr lang="en-US" sz="2400" dirty="0"/>
              <a:t>Asymmetric Encryption is a Resource-Hogging Process</a:t>
            </a:r>
          </a:p>
          <a:p>
            <a:pPr marL="0" indent="0" algn="just">
              <a:buNone/>
            </a:pPr>
            <a:endParaRPr lang="en-US" sz="2400" dirty="0"/>
          </a:p>
          <a:p>
            <a:pPr marL="0" indent="0" algn="just">
              <a:buNone/>
            </a:pPr>
            <a:endParaRPr lang="en-US" dirty="0"/>
          </a:p>
          <a:p>
            <a:pPr marL="0" indent="0" algn="just">
              <a:buNone/>
            </a:pPr>
            <a:endParaRPr lang="en-US" dirty="0"/>
          </a:p>
        </p:txBody>
      </p:sp>
      <p:pic>
        <p:nvPicPr>
          <p:cNvPr id="5" name="Picture 4" descr="A picture containing text, screenshot, font&#10;&#10;Description automatically generated">
            <a:extLst>
              <a:ext uri="{FF2B5EF4-FFF2-40B4-BE49-F238E27FC236}">
                <a16:creationId xmlns:a16="http://schemas.microsoft.com/office/drawing/2014/main" id="{3FEF300B-1E24-7F9E-312F-F5C1105DB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044" y="1358366"/>
            <a:ext cx="6315956" cy="3067478"/>
          </a:xfrm>
          <a:prstGeom prst="rect">
            <a:avLst/>
          </a:prstGeom>
        </p:spPr>
      </p:pic>
    </p:spTree>
    <p:extLst>
      <p:ext uri="{BB962C8B-B14F-4D97-AF65-F5344CB8AC3E}">
        <p14:creationId xmlns:p14="http://schemas.microsoft.com/office/powerpoint/2010/main" val="41269781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8C6-A5D7-40C4-C8ED-E0604F3F9455}"/>
              </a:ext>
            </a:extLst>
          </p:cNvPr>
          <p:cNvSpPr>
            <a:spLocks noGrp="1"/>
          </p:cNvSpPr>
          <p:nvPr>
            <p:ph type="title"/>
          </p:nvPr>
        </p:nvSpPr>
        <p:spPr/>
        <p:txBody>
          <a:bodyPr/>
          <a:lstStyle/>
          <a:p>
            <a:r>
              <a:rPr lang="en-US" b="1" dirty="0"/>
              <a:t>Diffie-Helman Exchange Key</a:t>
            </a:r>
          </a:p>
        </p:txBody>
      </p:sp>
      <p:sp>
        <p:nvSpPr>
          <p:cNvPr id="3" name="Content Placeholder 2">
            <a:extLst>
              <a:ext uri="{FF2B5EF4-FFF2-40B4-BE49-F238E27FC236}">
                <a16:creationId xmlns:a16="http://schemas.microsoft.com/office/drawing/2014/main" id="{00177639-DCFE-B400-ABCD-3BC4EC1C85AA}"/>
              </a:ext>
            </a:extLst>
          </p:cNvPr>
          <p:cNvSpPr>
            <a:spLocks noGrp="1"/>
          </p:cNvSpPr>
          <p:nvPr>
            <p:ph idx="1"/>
          </p:nvPr>
        </p:nvSpPr>
        <p:spPr/>
        <p:txBody>
          <a:bodyPr>
            <a:normAutofit/>
          </a:bodyPr>
          <a:lstStyle/>
          <a:p>
            <a:pPr algn="just">
              <a:lnSpc>
                <a:spcPct val="100000"/>
              </a:lnSpc>
            </a:pPr>
            <a:r>
              <a:rPr lang="en-US" sz="2400" dirty="0"/>
              <a:t>Whitefield Diffie and Martin Hellman develop Diffie Hellman key exchange Algorithms in 1976 to overcome the problem of key agreement and exchange.</a:t>
            </a:r>
          </a:p>
          <a:p>
            <a:pPr algn="just">
              <a:lnSpc>
                <a:spcPct val="100000"/>
              </a:lnSpc>
            </a:pPr>
            <a:r>
              <a:rPr lang="en-US" sz="2400" dirty="0"/>
              <a:t>It enables the two parties who want to communicate with each other to agree on a symmetric key, a key that can be used for encrypting and decryption; note that Diffie Hellman key exchange algorithm can be used for only key exchange, not for encryption and decryption process.</a:t>
            </a:r>
          </a:p>
          <a:p>
            <a:pPr algn="just">
              <a:lnSpc>
                <a:spcPct val="100000"/>
              </a:lnSpc>
            </a:pPr>
            <a:r>
              <a:rPr lang="en-US" sz="2400" dirty="0"/>
              <a:t>Based on mathematical principles.</a:t>
            </a:r>
          </a:p>
        </p:txBody>
      </p:sp>
    </p:spTree>
    <p:extLst>
      <p:ext uri="{BB962C8B-B14F-4D97-AF65-F5344CB8AC3E}">
        <p14:creationId xmlns:p14="http://schemas.microsoft.com/office/powerpoint/2010/main" val="33164505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7166-2796-B01D-856E-67AC62552B04}"/>
              </a:ext>
            </a:extLst>
          </p:cNvPr>
          <p:cNvSpPr>
            <a:spLocks noGrp="1"/>
          </p:cNvSpPr>
          <p:nvPr>
            <p:ph type="title"/>
          </p:nvPr>
        </p:nvSpPr>
        <p:spPr>
          <a:xfrm>
            <a:off x="838200" y="365126"/>
            <a:ext cx="9354424" cy="456996"/>
          </a:xfrm>
        </p:spPr>
        <p:txBody>
          <a:bodyPr>
            <a:normAutofit fontScale="90000"/>
          </a:bodyPr>
          <a:lstStyle/>
          <a:p>
            <a:r>
              <a:rPr lang="en-US" b="1" dirty="0"/>
              <a:t>Diffie-Helman Exchange Key Algorithm</a:t>
            </a:r>
            <a:endParaRPr lang="en-US" dirty="0"/>
          </a:p>
        </p:txBody>
      </p:sp>
      <p:sp>
        <p:nvSpPr>
          <p:cNvPr id="3" name="Content Placeholder 2">
            <a:extLst>
              <a:ext uri="{FF2B5EF4-FFF2-40B4-BE49-F238E27FC236}">
                <a16:creationId xmlns:a16="http://schemas.microsoft.com/office/drawing/2014/main" id="{463A0C2D-98FE-3AA7-AF4D-3E35CAE69417}"/>
              </a:ext>
            </a:extLst>
          </p:cNvPr>
          <p:cNvSpPr>
            <a:spLocks noGrp="1"/>
          </p:cNvSpPr>
          <p:nvPr>
            <p:ph idx="1"/>
          </p:nvPr>
        </p:nvSpPr>
        <p:spPr>
          <a:xfrm>
            <a:off x="838200" y="902836"/>
            <a:ext cx="10515600" cy="5766412"/>
          </a:xfrm>
        </p:spPr>
        <p:txBody>
          <a:bodyPr>
            <a:normAutofit/>
          </a:bodyPr>
          <a:lstStyle/>
          <a:p>
            <a:pPr marL="0" indent="0" algn="just">
              <a:lnSpc>
                <a:spcPct val="100000"/>
              </a:lnSpc>
              <a:buNone/>
            </a:pPr>
            <a:r>
              <a:rPr lang="en-US" sz="2000" dirty="0"/>
              <a:t>Based on Elliptic Curve Cryptography. A method of doing public-key cryptography based on the algebra structure of elliptic curves over finite fields. It also uses trapdoor function.</a:t>
            </a:r>
          </a:p>
          <a:p>
            <a:pPr marL="514350" indent="-514350" algn="just">
              <a:lnSpc>
                <a:spcPct val="100000"/>
              </a:lnSpc>
              <a:buAutoNum type="arabicPeriod"/>
            </a:pPr>
            <a:r>
              <a:rPr lang="en-US" sz="2000" dirty="0"/>
              <a:t>The first party picks two prime numbers, g and p and tells them to the second party.</a:t>
            </a:r>
          </a:p>
          <a:p>
            <a:pPr marL="514350" indent="-514350" algn="just">
              <a:lnSpc>
                <a:spcPct val="100000"/>
              </a:lnSpc>
              <a:buAutoNum type="arabicPeriod"/>
            </a:pPr>
            <a:r>
              <a:rPr lang="en-US" sz="2000"/>
              <a:t>the </a:t>
            </a:r>
            <a:r>
              <a:rPr lang="en-US" sz="2000" dirty="0"/>
              <a:t>second party then picks a secret number (let’s call it a), and then it computes g</a:t>
            </a:r>
            <a:r>
              <a:rPr lang="en-US" sz="2000" baseline="30000" dirty="0"/>
              <a:t>a </a:t>
            </a:r>
            <a:r>
              <a:rPr lang="en-US" sz="2000" dirty="0"/>
              <a:t>mod p and sends the result back to the first party; let’s call the result A. Keep in mind that the secret number is not sent to anyone, only the result is.</a:t>
            </a:r>
          </a:p>
          <a:p>
            <a:pPr marL="514350" indent="-514350" algn="just">
              <a:lnSpc>
                <a:spcPct val="100000"/>
              </a:lnSpc>
              <a:buAutoNum type="arabicPeriod"/>
            </a:pPr>
            <a:r>
              <a:rPr lang="en-US" sz="2000" dirty="0"/>
              <a:t>Then the first party does the same; it selects a secret number b and calculates the result B similar to the step 2. Then, this result is sent to the second party.</a:t>
            </a:r>
          </a:p>
          <a:p>
            <a:pPr marL="514350" indent="-514350" algn="just">
              <a:lnSpc>
                <a:spcPct val="100000"/>
              </a:lnSpc>
              <a:buAutoNum type="arabicPeriod"/>
            </a:pPr>
            <a:r>
              <a:rPr lang="en-US" sz="2000" dirty="0"/>
              <a:t>The second party takes the received number B and calculates B</a:t>
            </a:r>
            <a:r>
              <a:rPr lang="en-US" sz="2000" baseline="30000" dirty="0"/>
              <a:t>a </a:t>
            </a:r>
            <a:r>
              <a:rPr lang="en-US" sz="2000" dirty="0"/>
              <a:t>mod p</a:t>
            </a:r>
          </a:p>
          <a:p>
            <a:pPr marL="514350" indent="-514350" algn="just">
              <a:lnSpc>
                <a:spcPct val="100000"/>
              </a:lnSpc>
              <a:buAutoNum type="arabicPeriod"/>
            </a:pPr>
            <a:r>
              <a:rPr lang="en-US" sz="2000" dirty="0"/>
              <a:t>The first party takes the received number A and calculates A</a:t>
            </a:r>
            <a:r>
              <a:rPr lang="en-US" sz="2000" baseline="30000" dirty="0"/>
              <a:t>b</a:t>
            </a:r>
            <a:r>
              <a:rPr lang="en-US" sz="2000" dirty="0"/>
              <a:t> mod p </a:t>
            </a:r>
          </a:p>
          <a:p>
            <a:pPr marL="0" indent="0" algn="just">
              <a:lnSpc>
                <a:spcPct val="100000"/>
              </a:lnSpc>
              <a:buNone/>
            </a:pPr>
            <a:r>
              <a:rPr lang="en-US" sz="2000" dirty="0"/>
              <a:t>the answer in step 5 is the same as the answer in step 4. This means both parties will get the same answer no matter the order of exponentiation.</a:t>
            </a:r>
          </a:p>
          <a:p>
            <a:pPr marL="0" indent="0" algn="just">
              <a:lnSpc>
                <a:spcPct val="100000"/>
              </a:lnSpc>
              <a:buNone/>
            </a:pPr>
            <a:endParaRPr lang="en-US" dirty="0"/>
          </a:p>
          <a:p>
            <a:pPr marL="0" indent="0" algn="just">
              <a:lnSpc>
                <a:spcPct val="100000"/>
              </a:lnSpc>
              <a:buNone/>
            </a:pPr>
            <a:r>
              <a:rPr lang="en-US" sz="2000" dirty="0"/>
              <a:t>The number we came within steps 4 and 5 will be taken as the shared secret key.</a:t>
            </a:r>
          </a:p>
          <a:p>
            <a:pPr marL="0" indent="0" algn="just">
              <a:lnSpc>
                <a:spcPct val="100000"/>
              </a:lnSpc>
              <a:buNone/>
            </a:pPr>
            <a:endParaRPr lang="en-US" dirty="0"/>
          </a:p>
        </p:txBody>
      </p:sp>
      <p:pic>
        <p:nvPicPr>
          <p:cNvPr id="5" name="Picture 4">
            <a:extLst>
              <a:ext uri="{FF2B5EF4-FFF2-40B4-BE49-F238E27FC236}">
                <a16:creationId xmlns:a16="http://schemas.microsoft.com/office/drawing/2014/main" id="{F51585F6-4B1D-037D-D1CD-D4A8936C4FAB}"/>
              </a:ext>
            </a:extLst>
          </p:cNvPr>
          <p:cNvPicPr>
            <a:picLocks noChangeAspect="1"/>
          </p:cNvPicPr>
          <p:nvPr/>
        </p:nvPicPr>
        <p:blipFill>
          <a:blip r:embed="rId2"/>
          <a:stretch>
            <a:fillRect/>
          </a:stretch>
        </p:blipFill>
        <p:spPr>
          <a:xfrm>
            <a:off x="5915640" y="5163346"/>
            <a:ext cx="2952750" cy="657225"/>
          </a:xfrm>
          <a:prstGeom prst="rect">
            <a:avLst/>
          </a:prstGeom>
        </p:spPr>
      </p:pic>
    </p:spTree>
    <p:extLst>
      <p:ext uri="{BB962C8B-B14F-4D97-AF65-F5344CB8AC3E}">
        <p14:creationId xmlns:p14="http://schemas.microsoft.com/office/powerpoint/2010/main" val="11193572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D39BB-7A74-56BF-F1DB-48E31F0D1A14}"/>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b="1" kern="1200">
                <a:latin typeface="+mj-lt"/>
                <a:ea typeface="+mj-ea"/>
                <a:cs typeface="+mj-cs"/>
              </a:rPr>
              <a:t>Diffie-Helman Exchange Key Algorithm</a:t>
            </a: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56670F30-FA14-3B6B-5670-9F79ED0A2891}"/>
              </a:ext>
            </a:extLst>
          </p:cNvPr>
          <p:cNvSpPr>
            <a:spLocks noGrp="1"/>
          </p:cNvSpPr>
          <p:nvPr>
            <p:ph idx="1"/>
          </p:nvPr>
        </p:nvSpPr>
        <p:spPr>
          <a:xfrm>
            <a:off x="630936" y="2807208"/>
            <a:ext cx="3429000" cy="3410712"/>
          </a:xfrm>
        </p:spPr>
        <p:txBody>
          <a:bodyPr anchor="t">
            <a:normAutofit/>
          </a:bodyPr>
          <a:lstStyle/>
          <a:p>
            <a:endParaRPr lang="en-US" sz="2200"/>
          </a:p>
        </p:txBody>
      </p:sp>
      <p:pic>
        <p:nvPicPr>
          <p:cNvPr id="5" name="Content Placeholder 4">
            <a:extLst>
              <a:ext uri="{FF2B5EF4-FFF2-40B4-BE49-F238E27FC236}">
                <a16:creationId xmlns:a16="http://schemas.microsoft.com/office/drawing/2014/main" id="{A1682B30-87C3-62B2-0AE0-94928FF29226}"/>
              </a:ext>
            </a:extLst>
          </p:cNvPr>
          <p:cNvPicPr>
            <a:picLocks noChangeAspect="1"/>
          </p:cNvPicPr>
          <p:nvPr/>
        </p:nvPicPr>
        <p:blipFill>
          <a:blip r:embed="rId2"/>
          <a:stretch>
            <a:fillRect/>
          </a:stretch>
        </p:blipFill>
        <p:spPr>
          <a:xfrm>
            <a:off x="5586085" y="179262"/>
            <a:ext cx="4289606" cy="6331524"/>
          </a:xfrm>
          <a:prstGeom prst="rect">
            <a:avLst/>
          </a:prstGeom>
        </p:spPr>
      </p:pic>
    </p:spTree>
    <p:extLst>
      <p:ext uri="{BB962C8B-B14F-4D97-AF65-F5344CB8AC3E}">
        <p14:creationId xmlns:p14="http://schemas.microsoft.com/office/powerpoint/2010/main" val="38357188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C1CCAE-0DDA-8F29-D20D-2987E5C19B77}"/>
              </a:ext>
            </a:extLst>
          </p:cNvPr>
          <p:cNvSpPr>
            <a:spLocks noGrp="1"/>
          </p:cNvSpPr>
          <p:nvPr>
            <p:ph type="title"/>
          </p:nvPr>
        </p:nvSpPr>
        <p:spPr>
          <a:xfrm>
            <a:off x="630936" y="639520"/>
            <a:ext cx="3429000" cy="1719072"/>
          </a:xfrm>
        </p:spPr>
        <p:txBody>
          <a:bodyPr anchor="b">
            <a:normAutofit/>
          </a:bodyPr>
          <a:lstStyle/>
          <a:p>
            <a:r>
              <a:rPr lang="en-US" sz="3800" b="1"/>
              <a:t>Diffie-Helman Exchange Key Algorithm</a:t>
            </a:r>
            <a:endParaRPr lang="en-US" sz="380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BFEE3B-7AD2-6F64-96AD-AAB1F9F8EE90}"/>
              </a:ext>
            </a:extLst>
          </p:cNvPr>
          <p:cNvSpPr>
            <a:spLocks noGrp="1"/>
          </p:cNvSpPr>
          <p:nvPr>
            <p:ph idx="1"/>
          </p:nvPr>
        </p:nvSpPr>
        <p:spPr>
          <a:xfrm>
            <a:off x="630936" y="2807208"/>
            <a:ext cx="3429000" cy="3410712"/>
          </a:xfrm>
        </p:spPr>
        <p:txBody>
          <a:bodyPr anchor="t">
            <a:normAutofit/>
          </a:bodyPr>
          <a:lstStyle/>
          <a:p>
            <a:endParaRPr lang="en-US" sz="2200"/>
          </a:p>
        </p:txBody>
      </p:sp>
      <p:pic>
        <p:nvPicPr>
          <p:cNvPr id="5" name="Picture 4">
            <a:extLst>
              <a:ext uri="{FF2B5EF4-FFF2-40B4-BE49-F238E27FC236}">
                <a16:creationId xmlns:a16="http://schemas.microsoft.com/office/drawing/2014/main" id="{2B173F8F-BE91-C99E-A280-524AB3AB5DFC}"/>
              </a:ext>
            </a:extLst>
          </p:cNvPr>
          <p:cNvPicPr>
            <a:picLocks noChangeAspect="1"/>
          </p:cNvPicPr>
          <p:nvPr/>
        </p:nvPicPr>
        <p:blipFill>
          <a:blip r:embed="rId2"/>
          <a:stretch>
            <a:fillRect/>
          </a:stretch>
        </p:blipFill>
        <p:spPr>
          <a:xfrm>
            <a:off x="5238675" y="640080"/>
            <a:ext cx="5734962" cy="5577840"/>
          </a:xfrm>
          <a:prstGeom prst="rect">
            <a:avLst/>
          </a:prstGeom>
        </p:spPr>
      </p:pic>
    </p:spTree>
    <p:extLst>
      <p:ext uri="{BB962C8B-B14F-4D97-AF65-F5344CB8AC3E}">
        <p14:creationId xmlns:p14="http://schemas.microsoft.com/office/powerpoint/2010/main" val="1508321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158CF-1816-D56C-03E5-96874E00EC84}"/>
              </a:ext>
            </a:extLst>
          </p:cNvPr>
          <p:cNvSpPr>
            <a:spLocks noGrp="1"/>
          </p:cNvSpPr>
          <p:nvPr>
            <p:ph type="title"/>
          </p:nvPr>
        </p:nvSpPr>
        <p:spPr/>
        <p:txBody>
          <a:bodyPr/>
          <a:lstStyle/>
          <a:p>
            <a:r>
              <a:rPr lang="en-US" b="1" dirty="0"/>
              <a:t>Uses :</a:t>
            </a:r>
          </a:p>
        </p:txBody>
      </p:sp>
      <p:sp>
        <p:nvSpPr>
          <p:cNvPr id="3" name="Content Placeholder 2">
            <a:extLst>
              <a:ext uri="{FF2B5EF4-FFF2-40B4-BE49-F238E27FC236}">
                <a16:creationId xmlns:a16="http://schemas.microsoft.com/office/drawing/2014/main" id="{18901939-20C4-52FC-A8F6-8A85ABCB749B}"/>
              </a:ext>
            </a:extLst>
          </p:cNvPr>
          <p:cNvSpPr>
            <a:spLocks noGrp="1"/>
          </p:cNvSpPr>
          <p:nvPr>
            <p:ph idx="1"/>
          </p:nvPr>
        </p:nvSpPr>
        <p:spPr>
          <a:xfrm>
            <a:off x="838200" y="1825625"/>
            <a:ext cx="5690937" cy="4351338"/>
          </a:xfrm>
        </p:spPr>
        <p:txBody>
          <a:bodyPr/>
          <a:lstStyle/>
          <a:p>
            <a:r>
              <a:rPr lang="en-US" dirty="0"/>
              <a:t>Encryption</a:t>
            </a:r>
          </a:p>
          <a:p>
            <a:r>
              <a:rPr lang="en-US" dirty="0"/>
              <a:t>Password Authenticated Agreement</a:t>
            </a:r>
          </a:p>
          <a:p>
            <a:r>
              <a:rPr lang="en-US" dirty="0"/>
              <a:t>Forward Secrecy </a:t>
            </a:r>
          </a:p>
        </p:txBody>
      </p:sp>
      <p:sp>
        <p:nvSpPr>
          <p:cNvPr id="4" name="TextBox 3">
            <a:extLst>
              <a:ext uri="{FF2B5EF4-FFF2-40B4-BE49-F238E27FC236}">
                <a16:creationId xmlns:a16="http://schemas.microsoft.com/office/drawing/2014/main" id="{D769BF51-DBBC-C35B-B1A6-BAD0B25013BD}"/>
              </a:ext>
            </a:extLst>
          </p:cNvPr>
          <p:cNvSpPr txBox="1"/>
          <p:nvPr/>
        </p:nvSpPr>
        <p:spPr>
          <a:xfrm>
            <a:off x="6529137" y="591425"/>
            <a:ext cx="5390147" cy="5109091"/>
          </a:xfrm>
          <a:prstGeom prst="rect">
            <a:avLst/>
          </a:prstGeom>
          <a:noFill/>
        </p:spPr>
        <p:txBody>
          <a:bodyPr wrap="square" rtlCol="0">
            <a:spAutoFit/>
          </a:bodyPr>
          <a:lstStyle/>
          <a:p>
            <a:pPr algn="just"/>
            <a:r>
              <a:rPr lang="en-US" sz="2800" b="1" dirty="0"/>
              <a:t>Advantages</a:t>
            </a:r>
            <a:r>
              <a:rPr lang="en-US" sz="2800" dirty="0"/>
              <a:t>:</a:t>
            </a:r>
          </a:p>
          <a:p>
            <a:pPr algn="just"/>
            <a:endParaRPr lang="en-US" sz="2800" dirty="0"/>
          </a:p>
          <a:p>
            <a:pPr marL="342900" indent="-342900" algn="just">
              <a:buAutoNum type="alphaLcParenR"/>
            </a:pPr>
            <a:r>
              <a:rPr lang="en-US" sz="2800" dirty="0"/>
              <a:t>Sender and receiver don’t need any prior knowledge of each other.</a:t>
            </a:r>
          </a:p>
          <a:p>
            <a:pPr marL="342900" indent="-342900" algn="just">
              <a:buAutoNum type="alphaLcParenR"/>
            </a:pPr>
            <a:r>
              <a:rPr lang="en-US" sz="2800" dirty="0"/>
              <a:t>Once the keys are exchanged, the communication of data can be done through an insecure channel.</a:t>
            </a:r>
          </a:p>
          <a:p>
            <a:pPr marL="342900" indent="-342900" algn="just">
              <a:buAutoNum type="alphaLcParenR"/>
            </a:pPr>
            <a:r>
              <a:rPr lang="en-US" sz="2800" dirty="0"/>
              <a:t>The sharing of the secret key is safe.</a:t>
            </a:r>
          </a:p>
          <a:p>
            <a:pPr marL="342900" indent="-342900">
              <a:buAutoNum type="alphaLcParenR"/>
            </a:pPr>
            <a:endParaRPr lang="en-US" dirty="0"/>
          </a:p>
        </p:txBody>
      </p:sp>
      <p:cxnSp>
        <p:nvCxnSpPr>
          <p:cNvPr id="6" name="Straight Connector 5">
            <a:extLst>
              <a:ext uri="{FF2B5EF4-FFF2-40B4-BE49-F238E27FC236}">
                <a16:creationId xmlns:a16="http://schemas.microsoft.com/office/drawing/2014/main" id="{36C55748-EEE9-1D6A-2035-802DC8729F98}"/>
              </a:ext>
            </a:extLst>
          </p:cNvPr>
          <p:cNvCxnSpPr/>
          <p:nvPr/>
        </p:nvCxnSpPr>
        <p:spPr>
          <a:xfrm>
            <a:off x="6417578" y="578840"/>
            <a:ext cx="0" cy="57330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6951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0DD7-D6DA-7006-7576-AD9B03464526}"/>
              </a:ext>
            </a:extLst>
          </p:cNvPr>
          <p:cNvSpPr>
            <a:spLocks noGrp="1"/>
          </p:cNvSpPr>
          <p:nvPr>
            <p:ph type="title"/>
          </p:nvPr>
        </p:nvSpPr>
        <p:spPr/>
        <p:txBody>
          <a:bodyPr/>
          <a:lstStyle/>
          <a:p>
            <a:r>
              <a:rPr lang="en-US" b="1" dirty="0"/>
              <a:t>RSA Algorithm </a:t>
            </a:r>
          </a:p>
        </p:txBody>
      </p:sp>
      <p:sp>
        <p:nvSpPr>
          <p:cNvPr id="3" name="Content Placeholder 2">
            <a:extLst>
              <a:ext uri="{FF2B5EF4-FFF2-40B4-BE49-F238E27FC236}">
                <a16:creationId xmlns:a16="http://schemas.microsoft.com/office/drawing/2014/main" id="{C0BCB467-300F-44D1-66BC-AA6FA4001811}"/>
              </a:ext>
            </a:extLst>
          </p:cNvPr>
          <p:cNvSpPr>
            <a:spLocks noGrp="1"/>
          </p:cNvSpPr>
          <p:nvPr>
            <p:ph idx="1"/>
          </p:nvPr>
        </p:nvSpPr>
        <p:spPr/>
        <p:txBody>
          <a:bodyPr>
            <a:normAutofit fontScale="92500" lnSpcReduction="10000"/>
          </a:bodyPr>
          <a:lstStyle/>
          <a:p>
            <a:pPr algn="just">
              <a:lnSpc>
                <a:spcPct val="150000"/>
              </a:lnSpc>
            </a:pPr>
            <a:r>
              <a:rPr lang="en-US" sz="2400" dirty="0"/>
              <a:t>most popular asymmetric key cryptographic algorithm based on the mathematical fact that it is easy to find and multiply large prime numbers but difficult to factor their product.</a:t>
            </a:r>
          </a:p>
          <a:p>
            <a:pPr algn="just">
              <a:lnSpc>
                <a:spcPct val="150000"/>
              </a:lnSpc>
            </a:pPr>
            <a:r>
              <a:rPr lang="en-US" sz="2400" dirty="0"/>
              <a:t>uses both private and public key (Keys should be very large prime numbers).</a:t>
            </a:r>
          </a:p>
          <a:p>
            <a:pPr algn="just">
              <a:lnSpc>
                <a:spcPct val="150000"/>
              </a:lnSpc>
            </a:pPr>
            <a:r>
              <a:rPr lang="en-US" sz="2400" dirty="0"/>
              <a:t>Mathematical research suggests that if the value of keys is 100 digit number, then it would take more than 70 years for attackers to find the value of keys. </a:t>
            </a:r>
          </a:p>
          <a:p>
            <a:pPr algn="just">
              <a:lnSpc>
                <a:spcPct val="150000"/>
              </a:lnSpc>
            </a:pPr>
            <a:r>
              <a:rPr lang="en-US" sz="2400" dirty="0"/>
              <a:t>The real challenge in RSA algorithm is to choose and generate the public and private keys.</a:t>
            </a:r>
          </a:p>
        </p:txBody>
      </p:sp>
    </p:spTree>
    <p:extLst>
      <p:ext uri="{BB962C8B-B14F-4D97-AF65-F5344CB8AC3E}">
        <p14:creationId xmlns:p14="http://schemas.microsoft.com/office/powerpoint/2010/main" val="22782752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56F651-1F1C-EF38-13FA-6917B6CB22F3}"/>
              </a:ext>
            </a:extLst>
          </p:cNvPr>
          <p:cNvSpPr>
            <a:spLocks noGrp="1"/>
          </p:cNvSpPr>
          <p:nvPr>
            <p:ph type="title"/>
          </p:nvPr>
        </p:nvSpPr>
        <p:spPr>
          <a:xfrm>
            <a:off x="630936" y="657621"/>
            <a:ext cx="3530517" cy="1799502"/>
          </a:xfrm>
        </p:spPr>
        <p:txBody>
          <a:bodyPr anchor="b">
            <a:normAutofit fontScale="90000"/>
          </a:bodyPr>
          <a:lstStyle/>
          <a:p>
            <a:r>
              <a:rPr lang="en-US" sz="5400" b="1" dirty="0"/>
              <a:t>Working of RSA Algorithm </a:t>
            </a:r>
            <a:endParaRPr lang="en-US" sz="5400" dirty="0"/>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195FB4-567B-A28D-9098-A75BC7DF017A}"/>
              </a:ext>
            </a:extLst>
          </p:cNvPr>
          <p:cNvSpPr>
            <a:spLocks noGrp="1"/>
          </p:cNvSpPr>
          <p:nvPr>
            <p:ph idx="1"/>
          </p:nvPr>
        </p:nvSpPr>
        <p:spPr>
          <a:xfrm>
            <a:off x="630936" y="2807208"/>
            <a:ext cx="3429000" cy="3410712"/>
          </a:xfrm>
        </p:spPr>
        <p:txBody>
          <a:bodyPr anchor="t">
            <a:normAutofit/>
          </a:bodyPr>
          <a:lstStyle/>
          <a:p>
            <a:endParaRPr lang="en-US" sz="2200"/>
          </a:p>
        </p:txBody>
      </p:sp>
      <p:pic>
        <p:nvPicPr>
          <p:cNvPr id="5" name="Picture 4">
            <a:extLst>
              <a:ext uri="{FF2B5EF4-FFF2-40B4-BE49-F238E27FC236}">
                <a16:creationId xmlns:a16="http://schemas.microsoft.com/office/drawing/2014/main" id="{FCA65AFE-5F91-4896-71A4-7FCC36A78033}"/>
              </a:ext>
            </a:extLst>
          </p:cNvPr>
          <p:cNvPicPr>
            <a:picLocks noChangeAspect="1"/>
          </p:cNvPicPr>
          <p:nvPr/>
        </p:nvPicPr>
        <p:blipFill>
          <a:blip r:embed="rId2"/>
          <a:stretch>
            <a:fillRect/>
          </a:stretch>
        </p:blipFill>
        <p:spPr>
          <a:xfrm>
            <a:off x="3573624" y="657622"/>
            <a:ext cx="8618377" cy="5267690"/>
          </a:xfrm>
          <a:prstGeom prst="rect">
            <a:avLst/>
          </a:prstGeom>
        </p:spPr>
      </p:pic>
    </p:spTree>
    <p:extLst>
      <p:ext uri="{BB962C8B-B14F-4D97-AF65-F5344CB8AC3E}">
        <p14:creationId xmlns:p14="http://schemas.microsoft.com/office/powerpoint/2010/main" val="29042779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2EF36-17D4-D18F-6E47-513CE37F89E4}"/>
              </a:ext>
            </a:extLst>
          </p:cNvPr>
          <p:cNvSpPr>
            <a:spLocks noGrp="1"/>
          </p:cNvSpPr>
          <p:nvPr>
            <p:ph type="title"/>
          </p:nvPr>
        </p:nvSpPr>
        <p:spPr>
          <a:xfrm>
            <a:off x="838200" y="365125"/>
            <a:ext cx="9807429" cy="549275"/>
          </a:xfrm>
        </p:spPr>
        <p:txBody>
          <a:bodyPr>
            <a:normAutofit fontScale="90000"/>
          </a:bodyPr>
          <a:lstStyle/>
          <a:p>
            <a:r>
              <a:rPr lang="en-US" b="1" dirty="0"/>
              <a:t>RSA Algorithm</a:t>
            </a:r>
          </a:p>
        </p:txBody>
      </p:sp>
      <p:sp>
        <p:nvSpPr>
          <p:cNvPr id="3" name="Content Placeholder 2">
            <a:extLst>
              <a:ext uri="{FF2B5EF4-FFF2-40B4-BE49-F238E27FC236}">
                <a16:creationId xmlns:a16="http://schemas.microsoft.com/office/drawing/2014/main" id="{716DC26D-DDF3-32A5-B8E5-6D5D294055A6}"/>
              </a:ext>
            </a:extLst>
          </p:cNvPr>
          <p:cNvSpPr>
            <a:spLocks noGrp="1"/>
          </p:cNvSpPr>
          <p:nvPr>
            <p:ph idx="1"/>
          </p:nvPr>
        </p:nvSpPr>
        <p:spPr>
          <a:xfrm>
            <a:off x="838200" y="1112561"/>
            <a:ext cx="10369492" cy="4214448"/>
          </a:xfrm>
        </p:spPr>
        <p:txBody>
          <a:bodyPr>
            <a:noAutofit/>
          </a:bodyPr>
          <a:lstStyle/>
          <a:p>
            <a:pPr marL="0" indent="0" algn="just">
              <a:lnSpc>
                <a:spcPct val="120000"/>
              </a:lnSpc>
              <a:buNone/>
            </a:pPr>
            <a:r>
              <a:rPr lang="en-US" sz="1400" b="1" dirty="0"/>
              <a:t>1. Plain text Attack</a:t>
            </a:r>
          </a:p>
          <a:p>
            <a:pPr marL="0" indent="0" algn="just">
              <a:lnSpc>
                <a:spcPct val="120000"/>
              </a:lnSpc>
              <a:buNone/>
            </a:pPr>
            <a:r>
              <a:rPr lang="en-US" sz="1400" dirty="0"/>
              <a:t>Plain text attacks are classified into three categories:</a:t>
            </a:r>
          </a:p>
          <a:p>
            <a:pPr algn="just">
              <a:lnSpc>
                <a:spcPct val="120000"/>
              </a:lnSpc>
              <a:buFont typeface="Arial" panose="020B0604020202020204" pitchFamily="34" charset="0"/>
              <a:buChar char="•"/>
            </a:pPr>
            <a:r>
              <a:rPr lang="en-US" sz="1400" b="1" dirty="0"/>
              <a:t>Short message attack:</a:t>
            </a:r>
            <a:r>
              <a:rPr lang="en-US" sz="1400" dirty="0"/>
              <a:t> In this type of attack, the assumption is that the attacker knows some blocks of the plain text message. If an attacker knows some block of plain text, then he could try to encrypt the blocks of plain text using the information and try to convert it into cipher text. To prevent a short message attack, we can use the </a:t>
            </a:r>
          </a:p>
          <a:p>
            <a:pPr algn="just">
              <a:lnSpc>
                <a:spcPct val="120000"/>
              </a:lnSpc>
              <a:buFont typeface="Arial" panose="020B0604020202020204" pitchFamily="34" charset="0"/>
              <a:buChar char="•"/>
            </a:pPr>
            <a:r>
              <a:rPr lang="en-US" sz="1400" b="1" dirty="0"/>
              <a:t>Cycling attack:</a:t>
            </a:r>
            <a:r>
              <a:rPr lang="en-US" sz="1400" dirty="0"/>
              <a:t> In cycling attack, the reverse process is done. An attacker assumes that the ciphertext is formed using some permutations operations. If the attacker assumption becomes true, then he can try the reverse process to obtain the plain text from the cipher text.</a:t>
            </a:r>
          </a:p>
          <a:p>
            <a:pPr algn="just">
              <a:lnSpc>
                <a:spcPct val="120000"/>
              </a:lnSpc>
              <a:buFont typeface="Arial" panose="020B0604020202020204" pitchFamily="34" charset="0"/>
              <a:buChar char="•"/>
            </a:pPr>
            <a:r>
              <a:rPr lang="en-US" sz="1400" b="1" dirty="0"/>
              <a:t>Unconcealed message attack:</a:t>
            </a:r>
            <a:r>
              <a:rPr lang="en-US" sz="1400" dirty="0"/>
              <a:t> In some rare cases, it is found that some encrypted cipher text is the same as the plain text </a:t>
            </a:r>
            <a:r>
              <a:rPr lang="en-US" sz="1400" dirty="0" err="1"/>
              <a:t>i.e</a:t>
            </a:r>
            <a:r>
              <a:rPr lang="en-US" sz="1400" dirty="0"/>
              <a:t> original text. This means that the plain text is not hidden. Such type of attack is called an unconcealed message attack</a:t>
            </a:r>
          </a:p>
          <a:p>
            <a:pPr marL="0" indent="0" algn="just">
              <a:lnSpc>
                <a:spcPct val="120000"/>
              </a:lnSpc>
              <a:buNone/>
            </a:pPr>
            <a:r>
              <a:rPr lang="en-US" sz="1400" b="1" dirty="0"/>
              <a:t>2. Chosen cipher Attack</a:t>
            </a:r>
          </a:p>
          <a:p>
            <a:pPr marL="0" indent="0" algn="just">
              <a:lnSpc>
                <a:spcPct val="120000"/>
              </a:lnSpc>
              <a:buNone/>
            </a:pPr>
            <a:r>
              <a:rPr lang="en-US" sz="1400" b="1" dirty="0"/>
              <a:t>   I</a:t>
            </a:r>
            <a:r>
              <a:rPr lang="en-US" sz="1400" dirty="0"/>
              <a:t>n this type of attack, the attacker can find out the plain text from cipher text using the extended </a:t>
            </a:r>
            <a:r>
              <a:rPr lang="en-US" sz="1400" dirty="0" err="1"/>
              <a:t>euclidean</a:t>
            </a:r>
            <a:r>
              <a:rPr lang="en-US" sz="1400" dirty="0"/>
              <a:t> algorithm.</a:t>
            </a:r>
          </a:p>
          <a:p>
            <a:pPr marL="0" indent="0" algn="just">
              <a:lnSpc>
                <a:spcPct val="120000"/>
              </a:lnSpc>
              <a:buNone/>
            </a:pPr>
            <a:r>
              <a:rPr lang="en-US" sz="1400" b="1" dirty="0"/>
              <a:t>3. Factorization Attack</a:t>
            </a:r>
          </a:p>
          <a:p>
            <a:pPr marL="0" indent="0" algn="just">
              <a:lnSpc>
                <a:spcPct val="120000"/>
              </a:lnSpc>
              <a:buNone/>
            </a:pPr>
            <a:r>
              <a:rPr lang="en-US" sz="1400" dirty="0"/>
              <a:t>  In factorization Attack, the attacker impersonates the key owners, and with the help of the stolen cryptographic data, they decrypt       sensitive data, bypass the security of the system. This attack occurs on An RSA cryptographic library which is used to generate RSA Key. By doing this, Attackers can have the private keys of n number of security tokens, smartcards, Motherboard Chipsets by having a target’s public key.</a:t>
            </a:r>
          </a:p>
          <a:p>
            <a:pPr marL="0" indent="0" algn="just">
              <a:lnSpc>
                <a:spcPct val="120000"/>
              </a:lnSpc>
              <a:buNone/>
            </a:pPr>
            <a:endParaRPr lang="en-US" sz="1400" dirty="0"/>
          </a:p>
        </p:txBody>
      </p:sp>
    </p:spTree>
    <p:extLst>
      <p:ext uri="{BB962C8B-B14F-4D97-AF65-F5344CB8AC3E}">
        <p14:creationId xmlns:p14="http://schemas.microsoft.com/office/powerpoint/2010/main" val="20217722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60A26-3FBE-C00D-BE5F-E229BB2855CC}"/>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51116E48-B8B4-CDB0-E99D-74B8ADFF449D}"/>
              </a:ext>
            </a:extLst>
          </p:cNvPr>
          <p:cNvSpPr>
            <a:spLocks noGrp="1"/>
          </p:cNvSpPr>
          <p:nvPr>
            <p:ph idx="1"/>
          </p:nvPr>
        </p:nvSpPr>
        <p:spPr/>
        <p:txBody>
          <a:bodyPr/>
          <a:lstStyle/>
          <a:p>
            <a:pPr marL="514350" indent="-514350">
              <a:buAutoNum type="arabicParenR"/>
            </a:pPr>
            <a:r>
              <a:rPr lang="en-US" dirty="0"/>
              <a:t>Explain in detail about Playfair and </a:t>
            </a:r>
            <a:r>
              <a:rPr lang="en-US" dirty="0" err="1"/>
              <a:t>Railphence</a:t>
            </a:r>
            <a:r>
              <a:rPr lang="en-US" dirty="0"/>
              <a:t> Ciphers.</a:t>
            </a:r>
          </a:p>
          <a:p>
            <a:pPr marL="514350" indent="-514350">
              <a:buAutoNum type="arabicParenR"/>
            </a:pPr>
            <a:r>
              <a:rPr lang="en-US" dirty="0"/>
              <a:t>Explain your understandings on DES and AES?</a:t>
            </a:r>
          </a:p>
          <a:p>
            <a:pPr marL="514350" indent="-514350">
              <a:buAutoNum type="arabicParenR"/>
            </a:pPr>
            <a:r>
              <a:rPr lang="en-US" dirty="0"/>
              <a:t> Differentiate between Symmetric and Asymmetric Encryption.</a:t>
            </a:r>
          </a:p>
          <a:p>
            <a:pPr marL="514350" indent="-514350">
              <a:buAutoNum type="arabicParenR"/>
            </a:pPr>
            <a:r>
              <a:rPr lang="en-US" dirty="0"/>
              <a:t>Write short note on RSA Algorithm.</a:t>
            </a:r>
          </a:p>
          <a:p>
            <a:pPr marL="514350" indent="-514350">
              <a:buAutoNum type="arabicParenR"/>
            </a:pPr>
            <a:endParaRPr lang="en-US" dirty="0"/>
          </a:p>
        </p:txBody>
      </p:sp>
    </p:spTree>
    <p:extLst>
      <p:ext uri="{BB962C8B-B14F-4D97-AF65-F5344CB8AC3E}">
        <p14:creationId xmlns:p14="http://schemas.microsoft.com/office/powerpoint/2010/main" val="2231751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2041</TotalTime>
  <Words>7093</Words>
  <Application>Microsoft Office PowerPoint</Application>
  <PresentationFormat>Widescreen</PresentationFormat>
  <Paragraphs>550</Paragraphs>
  <Slides>100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100</vt:i4>
      </vt:variant>
    </vt:vector>
  </HeadingPairs>
  <TitlesOfParts>
    <vt:vector size="106" baseType="lpstr">
      <vt:lpstr>Arial</vt:lpstr>
      <vt:lpstr>Arial MT</vt:lpstr>
      <vt:lpstr>Calibri</vt:lpstr>
      <vt:lpstr>Calibri Light</vt:lpstr>
      <vt:lpstr>Wingdings</vt:lpstr>
      <vt:lpstr>Office Theme</vt:lpstr>
      <vt:lpstr>Information Security</vt:lpstr>
      <vt:lpstr>Unit 2 : Cryptographic Algorithms</vt:lpstr>
      <vt:lpstr>Introduction to Cryptography</vt:lpstr>
      <vt:lpstr>Basic Concepts</vt:lpstr>
      <vt:lpstr>What is Cryptography?</vt:lpstr>
      <vt:lpstr>PowerPoint Presentation</vt:lpstr>
      <vt:lpstr>Why Cryptography?</vt:lpstr>
      <vt:lpstr>What is Cryptographic Algorithms?</vt:lpstr>
      <vt:lpstr>PowerPoint Presentation</vt:lpstr>
      <vt:lpstr>2.1 Classical Cryptosystems</vt:lpstr>
      <vt:lpstr>2.1 Classical Cryptosystems</vt:lpstr>
      <vt:lpstr>2.1 Classical Cryptosystems</vt:lpstr>
      <vt:lpstr>Ceasar </vt:lpstr>
      <vt:lpstr>Ceasar</vt:lpstr>
      <vt:lpstr>Vignere Cipher</vt:lpstr>
      <vt:lpstr>PowerPoint Presentation</vt:lpstr>
      <vt:lpstr>Vignere Cipher</vt:lpstr>
      <vt:lpstr>Security of Vigenere Cipher</vt:lpstr>
      <vt:lpstr>Vignere Cipher</vt:lpstr>
      <vt:lpstr>Vignere Cipher</vt:lpstr>
      <vt:lpstr>Vignere Cipher</vt:lpstr>
      <vt:lpstr>Playfair</vt:lpstr>
      <vt:lpstr>Playfair</vt:lpstr>
      <vt:lpstr>Playfair</vt:lpstr>
      <vt:lpstr>Playfair</vt:lpstr>
      <vt:lpstr>Rail Fence</vt:lpstr>
      <vt:lpstr>Rail Fence Cipher</vt:lpstr>
      <vt:lpstr>Rail Fence Cipher</vt:lpstr>
      <vt:lpstr>Classical Cryptography vs Modern Cryptography</vt:lpstr>
      <vt:lpstr>2.2 Modern Ciphers</vt:lpstr>
      <vt:lpstr>2.2 Modern Ciphers</vt:lpstr>
      <vt:lpstr>Block Cipher</vt:lpstr>
      <vt:lpstr>Block Cipher – Modes of Operation</vt:lpstr>
      <vt:lpstr>Block Cipher</vt:lpstr>
      <vt:lpstr>Block Cipher</vt:lpstr>
      <vt:lpstr>Stream Cipher/State Cipher</vt:lpstr>
      <vt:lpstr>Working Methodology of Stream Cipher</vt:lpstr>
      <vt:lpstr>Stream Cipher</vt:lpstr>
      <vt:lpstr>PowerPoint Presentation</vt:lpstr>
      <vt:lpstr>Stream Cipher</vt:lpstr>
      <vt:lpstr>Stream Cipher</vt:lpstr>
      <vt:lpstr>Block Cipher vs Stream Cipher</vt:lpstr>
      <vt:lpstr>2.2 Modern Ciphers</vt:lpstr>
      <vt:lpstr>Symmetric Cipher</vt:lpstr>
      <vt:lpstr>Asymmetric Cipher</vt:lpstr>
      <vt:lpstr>Difference between Symmetric and Asymmetric Cipher</vt:lpstr>
      <vt:lpstr>2.3 Symmetric Encryption</vt:lpstr>
      <vt:lpstr>Fiestel Cipher Structure</vt:lpstr>
      <vt:lpstr>Fiestel Cipher Algorithm</vt:lpstr>
      <vt:lpstr>Fiestel Cipher [Encryption and Decryption Process</vt:lpstr>
      <vt:lpstr>Fiestel Cipher Structure</vt:lpstr>
      <vt:lpstr>Data Encryption Standards (DES)</vt:lpstr>
      <vt:lpstr>Data Encryption Standards (DES)</vt:lpstr>
      <vt:lpstr>Data Encryption Standard (DES)</vt:lpstr>
      <vt:lpstr>PowerPoint Presentation</vt:lpstr>
      <vt:lpstr>Advanced Encryption Standard (AES)</vt:lpstr>
      <vt:lpstr>Advanced Encryption Standard (AES)</vt:lpstr>
      <vt:lpstr>Advanced Encryption Standard (AES)</vt:lpstr>
      <vt:lpstr>Advanced Encryption Standard</vt:lpstr>
      <vt:lpstr>Advanced Encryption Standard</vt:lpstr>
      <vt:lpstr>Advanced Encryption Standard</vt:lpstr>
      <vt:lpstr>Advanced Encryption Standard (AES)</vt:lpstr>
      <vt:lpstr>Basic Concepts of Fields</vt:lpstr>
      <vt:lpstr>Groups, Rings, Fields</vt:lpstr>
      <vt:lpstr>Groups, Rings, Fields</vt:lpstr>
      <vt:lpstr>Basic Concepts of Fields</vt:lpstr>
      <vt:lpstr>Basic Concepts of Fields</vt:lpstr>
      <vt:lpstr>Basic Concepts of Fields</vt:lpstr>
      <vt:lpstr>Modular Arithmetic/Polynomial Arithmetic</vt:lpstr>
      <vt:lpstr>What is modular arithmetic with example? </vt:lpstr>
      <vt:lpstr>Modular Arithmetic</vt:lpstr>
      <vt:lpstr>Clock Method for Modular Arithmetic</vt:lpstr>
      <vt:lpstr>Reminder for Modular Arithmetic</vt:lpstr>
      <vt:lpstr>2.4 Number Theory</vt:lpstr>
      <vt:lpstr>2.4 Number Theory</vt:lpstr>
      <vt:lpstr>PowerPoint Presentation</vt:lpstr>
      <vt:lpstr>2.4 Number Theory</vt:lpstr>
      <vt:lpstr>2.4 Number Theory</vt:lpstr>
      <vt:lpstr>Fermat’s Theorem</vt:lpstr>
      <vt:lpstr>Fermat’s Theorem</vt:lpstr>
      <vt:lpstr>2.4 Number Theory</vt:lpstr>
      <vt:lpstr>2.4 Number Theory</vt:lpstr>
      <vt:lpstr>2.4 Number Theory</vt:lpstr>
      <vt:lpstr>2.4 Number Theory</vt:lpstr>
      <vt:lpstr>PowerPoint Presentation</vt:lpstr>
      <vt:lpstr>2.4 Number Theory</vt:lpstr>
      <vt:lpstr>2.4 Number Theory</vt:lpstr>
      <vt:lpstr>2.4 Number Theory</vt:lpstr>
      <vt:lpstr>2.5 Asymmetric Encryption</vt:lpstr>
      <vt:lpstr>2.5 Asymmetric Encryption</vt:lpstr>
      <vt:lpstr>2.5 Asymmetric Encryption</vt:lpstr>
      <vt:lpstr>Diffie-Helman Exchange Key</vt:lpstr>
      <vt:lpstr>Diffie-Helman Exchange Key Algorithm</vt:lpstr>
      <vt:lpstr>Diffie-Helman Exchange Key Algorithm</vt:lpstr>
      <vt:lpstr>Diffie-Helman Exchange Key Algorithm</vt:lpstr>
      <vt:lpstr>Uses :</vt:lpstr>
      <vt:lpstr>RSA Algorithm </vt:lpstr>
      <vt:lpstr>Working of RSA Algorithm </vt:lpstr>
      <vt:lpstr>RSA Algorithm</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dc:title>
  <dc:creator>Govinda Gautam</dc:creator>
  <cp:lastModifiedBy>PC</cp:lastModifiedBy>
  <cp:revision>159</cp:revision>
  <dcterms:created xsi:type="dcterms:W3CDTF">2023-04-08T16:15:43Z</dcterms:created>
  <dcterms:modified xsi:type="dcterms:W3CDTF">2024-06-27T15:00:33Z</dcterms:modified>
</cp:coreProperties>
</file>