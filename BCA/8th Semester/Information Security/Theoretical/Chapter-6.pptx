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7" r:id="rId3"/>
    <p:sldId id="298" r:id="rId4"/>
    <p:sldId id="257" r:id="rId5"/>
    <p:sldId id="266" r:id="rId6"/>
    <p:sldId id="267" r:id="rId7"/>
    <p:sldId id="258" r:id="rId8"/>
    <p:sldId id="268" r:id="rId9"/>
    <p:sldId id="269" r:id="rId10"/>
    <p:sldId id="270" r:id="rId11"/>
    <p:sldId id="271" r:id="rId12"/>
    <p:sldId id="259" r:id="rId13"/>
    <p:sldId id="272" r:id="rId14"/>
    <p:sldId id="273" r:id="rId15"/>
    <p:sldId id="274" r:id="rId16"/>
    <p:sldId id="275" r:id="rId17"/>
    <p:sldId id="260" r:id="rId18"/>
    <p:sldId id="299" r:id="rId19"/>
    <p:sldId id="277" r:id="rId20"/>
    <p:sldId id="278" r:id="rId21"/>
    <p:sldId id="261" r:id="rId22"/>
    <p:sldId id="279" r:id="rId23"/>
    <p:sldId id="280" r:id="rId24"/>
    <p:sldId id="281" r:id="rId25"/>
    <p:sldId id="262" r:id="rId26"/>
    <p:sldId id="282" r:id="rId27"/>
    <p:sldId id="283" r:id="rId28"/>
    <p:sldId id="285" r:id="rId29"/>
    <p:sldId id="284" r:id="rId30"/>
    <p:sldId id="286" r:id="rId31"/>
    <p:sldId id="287" r:id="rId32"/>
    <p:sldId id="263" r:id="rId33"/>
    <p:sldId id="288" r:id="rId34"/>
    <p:sldId id="289" r:id="rId35"/>
    <p:sldId id="290" r:id="rId36"/>
    <p:sldId id="264" r:id="rId37"/>
    <p:sldId id="294" r:id="rId38"/>
    <p:sldId id="293" r:id="rId39"/>
    <p:sldId id="291" r:id="rId40"/>
    <p:sldId id="292" r:id="rId41"/>
    <p:sldId id="295" r:id="rId42"/>
    <p:sldId id="26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9" d="100"/>
          <a:sy n="79" d="100"/>
        </p:scale>
        <p:origin x="802"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D71CD-16CD-4BAC-9E71-9FC33D19C1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3F03AA-D964-AA2B-8601-3F2391AF91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1B25434-7609-9536-DEF3-E675D2DEC5CB}"/>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5" name="Footer Placeholder 4">
            <a:extLst>
              <a:ext uri="{FF2B5EF4-FFF2-40B4-BE49-F238E27FC236}">
                <a16:creationId xmlns:a16="http://schemas.microsoft.com/office/drawing/2014/main" id="{4A323D52-5ABD-31E9-8EA3-974D76507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23CA9C-DE09-ABAC-D819-448E294FAA1D}"/>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3210875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C90F5-836B-BCAA-144B-9FDB1BADB0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7E7E85-A20D-4258-81E5-86DD14942D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4FFE0-C37D-6F72-907F-E98641BD52EE}"/>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5" name="Footer Placeholder 4">
            <a:extLst>
              <a:ext uri="{FF2B5EF4-FFF2-40B4-BE49-F238E27FC236}">
                <a16:creationId xmlns:a16="http://schemas.microsoft.com/office/drawing/2014/main" id="{30453C2B-FC41-984D-E87B-CA401CA22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F6DEC6-BEA7-9CC5-8F40-D0739ABD49D0}"/>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3871755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654E9-62EE-DC7D-235C-10ED0EA5BB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31ABA-2ED1-DDFF-CD5F-E09B2C5A32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B096CF-F84E-D99E-19F5-A9EB65300E02}"/>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5" name="Footer Placeholder 4">
            <a:extLst>
              <a:ext uri="{FF2B5EF4-FFF2-40B4-BE49-F238E27FC236}">
                <a16:creationId xmlns:a16="http://schemas.microsoft.com/office/drawing/2014/main" id="{67ABD51C-4F2F-CB2F-D7AD-2B9D83091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0B4947-0014-9426-E4F6-003A9F32FCBD}"/>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3076971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E6D4A-9BF0-FE28-29F4-E768F2201B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13325A-8401-52BB-844F-7F3E1F8448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7F2F39-56B7-2EF2-C565-4D77BAA001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0DF473C-7AF5-C4CE-1F8A-646B29A1142D}"/>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6" name="Footer Placeholder 5">
            <a:extLst>
              <a:ext uri="{FF2B5EF4-FFF2-40B4-BE49-F238E27FC236}">
                <a16:creationId xmlns:a16="http://schemas.microsoft.com/office/drawing/2014/main" id="{EA64986A-DF00-13B0-60BE-954D87A586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3B558-3175-62C7-4159-05A8361E7AE0}"/>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1360207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450CD-C9A6-0E04-218E-FDDE8FE7A9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244D1E-BA40-E60B-CC27-24B22ED01B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4CE896-95AB-9BA7-34B8-7248CE39475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6C163C-C360-36C6-14E1-3370BEB1F9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3CA31BF-ACA2-F514-D09B-FFD1C22274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5AAE1C-1303-D34E-5853-488302A96C85}"/>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8" name="Footer Placeholder 7">
            <a:extLst>
              <a:ext uri="{FF2B5EF4-FFF2-40B4-BE49-F238E27FC236}">
                <a16:creationId xmlns:a16="http://schemas.microsoft.com/office/drawing/2014/main" id="{A5FFB12F-7FA0-95FF-5950-86AF6D2B67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3437FE-A175-6F63-2226-AFDA58FA4C6A}"/>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1397133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6772-6BFB-E076-4EA7-53250D04D0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CD5361-58B9-1047-BE59-323837F597DF}"/>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4" name="Footer Placeholder 3">
            <a:extLst>
              <a:ext uri="{FF2B5EF4-FFF2-40B4-BE49-F238E27FC236}">
                <a16:creationId xmlns:a16="http://schemas.microsoft.com/office/drawing/2014/main" id="{E8304613-88E0-8C57-8777-A1A608DB58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FB6EBF-A5B8-7B48-DD63-3A73902C0BB3}"/>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3888130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F62555-A709-B3E4-6AB8-8E4315DC31DB}"/>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3" name="Footer Placeholder 2">
            <a:extLst>
              <a:ext uri="{FF2B5EF4-FFF2-40B4-BE49-F238E27FC236}">
                <a16:creationId xmlns:a16="http://schemas.microsoft.com/office/drawing/2014/main" id="{F950A61F-5CFB-D446-A3C9-0042AB2ECC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AAE5CD-FC72-1791-76B0-CB065A43E93E}"/>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2212693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D6EB-C239-5435-327A-15C0DB1173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8A94EE-EB59-B786-AA2D-0133418120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283E6F-0945-8721-9B37-2C11C57995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4C5CA0-486B-B798-E664-4F5D6C143190}"/>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6" name="Footer Placeholder 5">
            <a:extLst>
              <a:ext uri="{FF2B5EF4-FFF2-40B4-BE49-F238E27FC236}">
                <a16:creationId xmlns:a16="http://schemas.microsoft.com/office/drawing/2014/main" id="{CBEACEB9-5905-E2AF-11A1-CA16B0D7E5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9AA9C5-FE61-5D1C-49BD-88CE9FC006EA}"/>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1600884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84105-5648-58AA-DC34-62C6DC419D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07DED7-228E-9CA1-143A-25B6E412B4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0E1304-15F2-05D4-5E82-F831D5088E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807D-3C6C-165B-1CCA-192FA7714B73}"/>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6" name="Footer Placeholder 5">
            <a:extLst>
              <a:ext uri="{FF2B5EF4-FFF2-40B4-BE49-F238E27FC236}">
                <a16:creationId xmlns:a16="http://schemas.microsoft.com/office/drawing/2014/main" id="{6A76A12E-F3C8-5D4B-3CC5-F126D4506A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17C32B-6F00-D9AA-739C-96AF92C23A7A}"/>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1187004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B6855-160C-912E-C6E9-B57E2515E9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65F37F-A3C1-AF1D-3621-62DF0AFFD1E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6F080F-EC99-558E-39DF-E59B3C8BA1C4}"/>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5" name="Footer Placeholder 4">
            <a:extLst>
              <a:ext uri="{FF2B5EF4-FFF2-40B4-BE49-F238E27FC236}">
                <a16:creationId xmlns:a16="http://schemas.microsoft.com/office/drawing/2014/main" id="{1F00BEF4-6D1F-61ED-509C-6AA7E162A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EA3C52-F3CB-01E3-1219-3B8FEAC43322}"/>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3666150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0C7CAD-2495-9EE1-838E-CD62ACE09B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6A4029-60A2-78E1-ACEB-0ABBE00B11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AAD70-EEB7-964F-DEAA-09861112C141}"/>
              </a:ext>
            </a:extLst>
          </p:cNvPr>
          <p:cNvSpPr>
            <a:spLocks noGrp="1"/>
          </p:cNvSpPr>
          <p:nvPr>
            <p:ph type="dt" sz="half" idx="10"/>
          </p:nvPr>
        </p:nvSpPr>
        <p:spPr/>
        <p:txBody>
          <a:bodyPr/>
          <a:lstStyle/>
          <a:p>
            <a:fld id="{7EBCB5D9-BF92-4B34-9372-2A05FFB50ECF}" type="datetimeFigureOut">
              <a:rPr lang="en-US" smtClean="0"/>
              <a:t>7/7/2024</a:t>
            </a:fld>
            <a:endParaRPr lang="en-US"/>
          </a:p>
        </p:txBody>
      </p:sp>
      <p:sp>
        <p:nvSpPr>
          <p:cNvPr id="5" name="Footer Placeholder 4">
            <a:extLst>
              <a:ext uri="{FF2B5EF4-FFF2-40B4-BE49-F238E27FC236}">
                <a16:creationId xmlns:a16="http://schemas.microsoft.com/office/drawing/2014/main" id="{C4066535-2B23-5A40-4274-7B80A80DC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F5018B-9CD0-C4EA-8837-8DD3947F1DB6}"/>
              </a:ext>
            </a:extLst>
          </p:cNvPr>
          <p:cNvSpPr>
            <a:spLocks noGrp="1"/>
          </p:cNvSpPr>
          <p:nvPr>
            <p:ph type="sldNum" sz="quarter" idx="12"/>
          </p:nvPr>
        </p:nvSpPr>
        <p:spPr/>
        <p:txBody>
          <a:bodyPr/>
          <a:lstStyle/>
          <a:p>
            <a:fld id="{3629F75D-E33D-43BE-8B60-FD574B24C43D}" type="slidenum">
              <a:rPr lang="en-US" smtClean="0"/>
              <a:t>‹#›</a:t>
            </a:fld>
            <a:endParaRPr lang="en-US"/>
          </a:p>
        </p:txBody>
      </p:sp>
    </p:spTree>
    <p:extLst>
      <p:ext uri="{BB962C8B-B14F-4D97-AF65-F5344CB8AC3E}">
        <p14:creationId xmlns:p14="http://schemas.microsoft.com/office/powerpoint/2010/main" val="3760059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64A55-16F5-EAF8-4C9F-C9057005B2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169164-4804-5F2A-4DDF-2D0E73DDCC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95C5A8-639E-76EA-0D1B-26EBE3CCE6D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BCB5D9-BF92-4B34-9372-2A05FFB50ECF}" type="datetimeFigureOut">
              <a:rPr lang="en-US" smtClean="0"/>
              <a:t>7/7/2024</a:t>
            </a:fld>
            <a:endParaRPr lang="en-US"/>
          </a:p>
        </p:txBody>
      </p:sp>
      <p:sp>
        <p:nvSpPr>
          <p:cNvPr id="5" name="Footer Placeholder 4">
            <a:extLst>
              <a:ext uri="{FF2B5EF4-FFF2-40B4-BE49-F238E27FC236}">
                <a16:creationId xmlns:a16="http://schemas.microsoft.com/office/drawing/2014/main" id="{528200DD-7106-A9D5-E095-5B6B5F15C9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0FC160-E09E-752B-D52E-6303D0701D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9F75D-E33D-43BE-8B60-FD574B24C43D}" type="slidenum">
              <a:rPr lang="en-US" smtClean="0"/>
              <a:t>‹#›</a:t>
            </a:fld>
            <a:endParaRPr lang="en-US"/>
          </a:p>
        </p:txBody>
      </p:sp>
    </p:spTree>
    <p:extLst>
      <p:ext uri="{BB962C8B-B14F-4D97-AF65-F5344CB8AC3E}">
        <p14:creationId xmlns:p14="http://schemas.microsoft.com/office/powerpoint/2010/main" val="3494331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7CCB-2154-8FD4-0F95-A2FB7951BAA4}"/>
              </a:ext>
            </a:extLst>
          </p:cNvPr>
          <p:cNvSpPr>
            <a:spLocks noGrp="1"/>
          </p:cNvSpPr>
          <p:nvPr>
            <p:ph type="ctrTitle"/>
          </p:nvPr>
        </p:nvSpPr>
        <p:spPr>
          <a:xfrm>
            <a:off x="1524000" y="133191"/>
            <a:ext cx="9144000" cy="2387600"/>
          </a:xfrm>
        </p:spPr>
        <p:txBody>
          <a:bodyPr>
            <a:normAutofit/>
          </a:bodyPr>
          <a:lstStyle/>
          <a:p>
            <a:r>
              <a:rPr lang="en-US" sz="3600" b="1" dirty="0"/>
              <a:t>Chapter 6 : Malicious Software and Intrusion</a:t>
            </a:r>
          </a:p>
        </p:txBody>
      </p:sp>
      <p:sp>
        <p:nvSpPr>
          <p:cNvPr id="3" name="Subtitle 2">
            <a:extLst>
              <a:ext uri="{FF2B5EF4-FFF2-40B4-BE49-F238E27FC236}">
                <a16:creationId xmlns:a16="http://schemas.microsoft.com/office/drawing/2014/main" id="{C746CA05-42D7-12C1-16D9-CA7AC4BD7074}"/>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C49DA52E-A8EA-2969-C9EC-AC05DAE68362}"/>
              </a:ext>
            </a:extLst>
          </p:cNvPr>
          <p:cNvPicPr>
            <a:picLocks noChangeAspect="1"/>
          </p:cNvPicPr>
          <p:nvPr/>
        </p:nvPicPr>
        <p:blipFill>
          <a:blip r:embed="rId2"/>
          <a:stretch>
            <a:fillRect/>
          </a:stretch>
        </p:blipFill>
        <p:spPr>
          <a:xfrm>
            <a:off x="2906829" y="2870200"/>
            <a:ext cx="7063832" cy="2387600"/>
          </a:xfrm>
          <a:prstGeom prst="rect">
            <a:avLst/>
          </a:prstGeom>
        </p:spPr>
      </p:pic>
    </p:spTree>
    <p:extLst>
      <p:ext uri="{BB962C8B-B14F-4D97-AF65-F5344CB8AC3E}">
        <p14:creationId xmlns:p14="http://schemas.microsoft.com/office/powerpoint/2010/main" val="6628346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65E58-CA0F-EBAA-C7BA-AB9597A21A36}"/>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EBB93120-2F02-23EB-2EC0-EA032FE1D32F}"/>
              </a:ext>
            </a:extLst>
          </p:cNvPr>
          <p:cNvSpPr>
            <a:spLocks noGrp="1"/>
          </p:cNvSpPr>
          <p:nvPr>
            <p:ph idx="1"/>
          </p:nvPr>
        </p:nvSpPr>
        <p:spPr>
          <a:xfrm>
            <a:off x="838200" y="1378152"/>
            <a:ext cx="10515600" cy="4351338"/>
          </a:xfrm>
        </p:spPr>
        <p:txBody>
          <a:bodyPr/>
          <a:lstStyle/>
          <a:p>
            <a:r>
              <a:rPr lang="en-US" dirty="0"/>
              <a:t>The history of malware starts in the early 1970's with a worm called </a:t>
            </a:r>
            <a:r>
              <a:rPr lang="en-US" b="1" dirty="0"/>
              <a:t>“Creeper”. </a:t>
            </a:r>
            <a:r>
              <a:rPr lang="en-US" dirty="0"/>
              <a:t>A worm is a program that spreads to other computers by copying itself, often using a network, and this is exactly what Creeper did.</a:t>
            </a:r>
          </a:p>
        </p:txBody>
      </p:sp>
      <p:pic>
        <p:nvPicPr>
          <p:cNvPr id="1026" name="Picture 2" descr="What is Malware, and How to Protect Against It?">
            <a:extLst>
              <a:ext uri="{FF2B5EF4-FFF2-40B4-BE49-F238E27FC236}">
                <a16:creationId xmlns:a16="http://schemas.microsoft.com/office/drawing/2014/main" id="{4016EBEA-5D54-19B2-B8E2-5885116CA7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8345" y="3062298"/>
            <a:ext cx="6308301" cy="3540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1960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0B634-BD90-1A48-147E-D3666236A5DB}"/>
              </a:ext>
            </a:extLst>
          </p:cNvPr>
          <p:cNvSpPr>
            <a:spLocks noGrp="1"/>
          </p:cNvSpPr>
          <p:nvPr>
            <p:ph type="title"/>
          </p:nvPr>
        </p:nvSpPr>
        <p:spPr/>
        <p:txBody>
          <a:bodyPr/>
          <a:lstStyle/>
          <a:p>
            <a:r>
              <a:rPr lang="en-US" b="1" dirty="0"/>
              <a:t>Famous Computer Viruses</a:t>
            </a:r>
          </a:p>
        </p:txBody>
      </p:sp>
      <p:sp>
        <p:nvSpPr>
          <p:cNvPr id="3" name="Content Placeholder 2">
            <a:extLst>
              <a:ext uri="{FF2B5EF4-FFF2-40B4-BE49-F238E27FC236}">
                <a16:creationId xmlns:a16="http://schemas.microsoft.com/office/drawing/2014/main" id="{8E14045A-3E40-2CD4-6584-B43C004E8B97}"/>
              </a:ext>
            </a:extLst>
          </p:cNvPr>
          <p:cNvSpPr>
            <a:spLocks noGrp="1"/>
          </p:cNvSpPr>
          <p:nvPr>
            <p:ph idx="1"/>
          </p:nvPr>
        </p:nvSpPr>
        <p:spPr>
          <a:xfrm>
            <a:off x="838200" y="1551214"/>
            <a:ext cx="10515600" cy="4625749"/>
          </a:xfrm>
        </p:spPr>
        <p:txBody>
          <a:bodyPr>
            <a:normAutofit fontScale="92500" lnSpcReduction="10000"/>
          </a:bodyPr>
          <a:lstStyle/>
          <a:p>
            <a:r>
              <a:rPr lang="en-US" dirty="0"/>
              <a:t>ILOVEYOU</a:t>
            </a:r>
          </a:p>
          <a:p>
            <a:r>
              <a:rPr lang="en-US" dirty="0" err="1"/>
              <a:t>CryptoLocker</a:t>
            </a:r>
            <a:endParaRPr lang="en-US" dirty="0"/>
          </a:p>
          <a:p>
            <a:r>
              <a:rPr lang="en-US" dirty="0" err="1"/>
              <a:t>MyDoom</a:t>
            </a:r>
            <a:endParaRPr lang="en-US" dirty="0"/>
          </a:p>
          <a:p>
            <a:r>
              <a:rPr lang="en-US" dirty="0"/>
              <a:t>Storm Worm</a:t>
            </a:r>
          </a:p>
          <a:p>
            <a:r>
              <a:rPr lang="en-US" dirty="0"/>
              <a:t>Sasser &amp; Netsky</a:t>
            </a:r>
          </a:p>
          <a:p>
            <a:r>
              <a:rPr lang="en-US" dirty="0"/>
              <a:t>Anna Kournikova Virus</a:t>
            </a:r>
          </a:p>
          <a:p>
            <a:r>
              <a:rPr lang="en-US" dirty="0"/>
              <a:t>Slammer</a:t>
            </a:r>
          </a:p>
          <a:p>
            <a:r>
              <a:rPr lang="en-US" dirty="0"/>
              <a:t>Stuxnet</a:t>
            </a:r>
          </a:p>
          <a:p>
            <a:r>
              <a:rPr lang="en-US" dirty="0"/>
              <a:t>CodeRed</a:t>
            </a:r>
          </a:p>
          <a:p>
            <a:r>
              <a:rPr lang="en-US" dirty="0" err="1"/>
              <a:t>Conficker</a:t>
            </a:r>
            <a:endParaRPr lang="en-US" dirty="0"/>
          </a:p>
        </p:txBody>
      </p:sp>
    </p:spTree>
    <p:extLst>
      <p:ext uri="{BB962C8B-B14F-4D97-AF65-F5344CB8AC3E}">
        <p14:creationId xmlns:p14="http://schemas.microsoft.com/office/powerpoint/2010/main" val="4768184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45551-5EE9-3341-C8AA-9A62BECCBE22}"/>
              </a:ext>
            </a:extLst>
          </p:cNvPr>
          <p:cNvSpPr>
            <a:spLocks noGrp="1"/>
          </p:cNvSpPr>
          <p:nvPr>
            <p:ph type="title"/>
          </p:nvPr>
        </p:nvSpPr>
        <p:spPr/>
        <p:txBody>
          <a:bodyPr/>
          <a:lstStyle/>
          <a:p>
            <a:r>
              <a:rPr lang="en-US" b="1" dirty="0"/>
              <a:t>6.1 Malicious Software</a:t>
            </a:r>
          </a:p>
        </p:txBody>
      </p:sp>
      <p:sp>
        <p:nvSpPr>
          <p:cNvPr id="3" name="Content Placeholder 2">
            <a:extLst>
              <a:ext uri="{FF2B5EF4-FFF2-40B4-BE49-F238E27FC236}">
                <a16:creationId xmlns:a16="http://schemas.microsoft.com/office/drawing/2014/main" id="{3ED32921-1933-CDE8-10C8-DB2D775D6E68}"/>
              </a:ext>
            </a:extLst>
          </p:cNvPr>
          <p:cNvSpPr>
            <a:spLocks noGrp="1"/>
          </p:cNvSpPr>
          <p:nvPr>
            <p:ph idx="1"/>
          </p:nvPr>
        </p:nvSpPr>
        <p:spPr/>
        <p:txBody>
          <a:bodyPr/>
          <a:lstStyle/>
          <a:p>
            <a:pPr algn="just"/>
            <a:r>
              <a:rPr lang="en-US" dirty="0"/>
              <a:t>Malicious software, commonly known as malware, refers to any software designed with malicious intent to disrupt, damage, or gain unauthorized access to computer systems, networks, or personal devices. </a:t>
            </a:r>
          </a:p>
          <a:p>
            <a:pPr algn="just"/>
            <a:r>
              <a:rPr lang="en-US" dirty="0"/>
              <a:t>Malware can take various forms and may include viruses, worms, Trojans, ransomware, spyware, adware, and other types of harmful software.</a:t>
            </a:r>
          </a:p>
        </p:txBody>
      </p:sp>
    </p:spTree>
    <p:extLst>
      <p:ext uri="{BB962C8B-B14F-4D97-AF65-F5344CB8AC3E}">
        <p14:creationId xmlns:p14="http://schemas.microsoft.com/office/powerpoint/2010/main" val="723353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2DDF5-C6DC-A3D1-E67E-CFBC1ABE0DE7}"/>
              </a:ext>
            </a:extLst>
          </p:cNvPr>
          <p:cNvSpPr>
            <a:spLocks noGrp="1"/>
          </p:cNvSpPr>
          <p:nvPr>
            <p:ph type="title"/>
          </p:nvPr>
        </p:nvSpPr>
        <p:spPr>
          <a:xfrm>
            <a:off x="838200" y="-404896"/>
            <a:ext cx="10515600" cy="1325563"/>
          </a:xfrm>
        </p:spPr>
        <p:txBody>
          <a:bodyPr/>
          <a:lstStyle/>
          <a:p>
            <a:r>
              <a:rPr lang="en-US" b="1" dirty="0"/>
              <a:t>Common types of Malware</a:t>
            </a:r>
          </a:p>
        </p:txBody>
      </p:sp>
      <p:sp>
        <p:nvSpPr>
          <p:cNvPr id="3" name="Content Placeholder 2">
            <a:extLst>
              <a:ext uri="{FF2B5EF4-FFF2-40B4-BE49-F238E27FC236}">
                <a16:creationId xmlns:a16="http://schemas.microsoft.com/office/drawing/2014/main" id="{5C9A5942-B436-7506-A1B0-9D41FAA8ACB4}"/>
              </a:ext>
            </a:extLst>
          </p:cNvPr>
          <p:cNvSpPr>
            <a:spLocks noGrp="1"/>
          </p:cNvSpPr>
          <p:nvPr>
            <p:ph idx="1"/>
          </p:nvPr>
        </p:nvSpPr>
        <p:spPr>
          <a:xfrm>
            <a:off x="838200" y="606425"/>
            <a:ext cx="10515600" cy="6018964"/>
          </a:xfrm>
        </p:spPr>
        <p:txBody>
          <a:bodyPr>
            <a:normAutofit/>
          </a:bodyPr>
          <a:lstStyle/>
          <a:p>
            <a:pPr algn="just"/>
            <a:r>
              <a:rPr lang="en-US" b="1" dirty="0"/>
              <a:t>Viruses</a:t>
            </a:r>
            <a:r>
              <a:rPr lang="en-US" dirty="0"/>
              <a:t> : programs that replicate and spread by attaching themselves to legitimate files or programs. They can cause damage by corrupting or deleting files and can also spread to other systems. </a:t>
            </a:r>
          </a:p>
          <a:p>
            <a:pPr algn="just"/>
            <a:r>
              <a:rPr lang="en-US" b="1" dirty="0"/>
              <a:t>Worms : </a:t>
            </a:r>
            <a:r>
              <a:rPr lang="en-US" dirty="0"/>
              <a:t>self-replicating malware that can spread rapidly across networks, often exploiting security vulnerabilities. They can consume network bandwidth and cause system slowdowns or crashes.</a:t>
            </a:r>
            <a:endParaRPr lang="en-US" b="1" dirty="0"/>
          </a:p>
          <a:p>
            <a:pPr algn="just"/>
            <a:r>
              <a:rPr lang="en-US" b="1" dirty="0"/>
              <a:t>Trojans : </a:t>
            </a:r>
            <a:r>
              <a:rPr lang="en-US" dirty="0"/>
              <a:t>Trojans are disguised as legitimate software or files but contain hidden malicious code. They can perform various actions, such as stealing sensitive information, providing unauthorized access to systems, or facilitating other installations. </a:t>
            </a:r>
            <a:endParaRPr lang="en-US" b="1" dirty="0"/>
          </a:p>
          <a:p>
            <a:pPr algn="just"/>
            <a:r>
              <a:rPr lang="en-US" b="1" dirty="0"/>
              <a:t>Ransomware : </a:t>
            </a:r>
            <a:r>
              <a:rPr lang="en-US" dirty="0"/>
              <a:t>Ransomware encrypts a victim's files, rendering them inaccessible, and then demands a ransom payment in exchange for restoring access. It can spread through email attachments, malicious downloads, or compromised websites.</a:t>
            </a:r>
            <a:endParaRPr lang="en-US" b="1" dirty="0"/>
          </a:p>
        </p:txBody>
      </p:sp>
    </p:spTree>
    <p:extLst>
      <p:ext uri="{BB962C8B-B14F-4D97-AF65-F5344CB8AC3E}">
        <p14:creationId xmlns:p14="http://schemas.microsoft.com/office/powerpoint/2010/main" val="3936722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B793-6FD6-AF92-38EE-B25FC3171E0F}"/>
              </a:ext>
            </a:extLst>
          </p:cNvPr>
          <p:cNvSpPr>
            <a:spLocks noGrp="1"/>
          </p:cNvSpPr>
          <p:nvPr>
            <p:ph type="title"/>
          </p:nvPr>
        </p:nvSpPr>
        <p:spPr/>
        <p:txBody>
          <a:bodyPr/>
          <a:lstStyle/>
          <a:p>
            <a:r>
              <a:rPr lang="en-US" b="1" dirty="0"/>
              <a:t>Common types of malware</a:t>
            </a:r>
          </a:p>
        </p:txBody>
      </p:sp>
      <p:sp>
        <p:nvSpPr>
          <p:cNvPr id="3" name="Content Placeholder 2">
            <a:extLst>
              <a:ext uri="{FF2B5EF4-FFF2-40B4-BE49-F238E27FC236}">
                <a16:creationId xmlns:a16="http://schemas.microsoft.com/office/drawing/2014/main" id="{F02B2BE8-3E7D-5F67-FDDF-F340898DDBC3}"/>
              </a:ext>
            </a:extLst>
          </p:cNvPr>
          <p:cNvSpPr>
            <a:spLocks noGrp="1"/>
          </p:cNvSpPr>
          <p:nvPr>
            <p:ph idx="1"/>
          </p:nvPr>
        </p:nvSpPr>
        <p:spPr/>
        <p:txBody>
          <a:bodyPr>
            <a:normAutofit lnSpcReduction="10000"/>
          </a:bodyPr>
          <a:lstStyle/>
          <a:p>
            <a:pPr algn="just">
              <a:lnSpc>
                <a:spcPct val="100000"/>
              </a:lnSpc>
            </a:pPr>
            <a:r>
              <a:rPr lang="en-US" b="1" dirty="0"/>
              <a:t>Spyware</a:t>
            </a:r>
            <a:r>
              <a:rPr lang="en-US" dirty="0"/>
              <a:t>: designed to monitor and collect information about a user’s activities without their consent. Track keystrokes, capture passwords, record browsing habits.</a:t>
            </a:r>
          </a:p>
          <a:p>
            <a:pPr algn="just">
              <a:lnSpc>
                <a:spcPct val="100000"/>
              </a:lnSpc>
            </a:pPr>
            <a:r>
              <a:rPr lang="en-US" b="1" dirty="0"/>
              <a:t>Adware</a:t>
            </a:r>
            <a:r>
              <a:rPr lang="en-US" dirty="0"/>
              <a:t>: software that displays unwanted advertisements, often in the form of pop-ups or banners. Track user </a:t>
            </a:r>
            <a:r>
              <a:rPr lang="en-US" dirty="0" err="1"/>
              <a:t>behaviour</a:t>
            </a:r>
            <a:r>
              <a:rPr lang="en-US" dirty="0"/>
              <a:t> and collect personal information.</a:t>
            </a:r>
          </a:p>
          <a:p>
            <a:pPr algn="just">
              <a:lnSpc>
                <a:spcPct val="100000"/>
              </a:lnSpc>
            </a:pPr>
            <a:r>
              <a:rPr lang="en-US" b="1" dirty="0"/>
              <a:t>Botnets</a:t>
            </a:r>
            <a:r>
              <a:rPr lang="en-US" dirty="0"/>
              <a:t>: Botnets are networks of infected computers, known as “bots” or “zombies”, controlled by a central command server. They can be used to launch spam emails, or perform other malicious activities.</a:t>
            </a:r>
          </a:p>
          <a:p>
            <a:pPr algn="just">
              <a:lnSpc>
                <a:spcPct val="100000"/>
              </a:lnSpc>
            </a:pPr>
            <a:endParaRPr lang="en-US" dirty="0"/>
          </a:p>
        </p:txBody>
      </p:sp>
    </p:spTree>
    <p:extLst>
      <p:ext uri="{BB962C8B-B14F-4D97-AF65-F5344CB8AC3E}">
        <p14:creationId xmlns:p14="http://schemas.microsoft.com/office/powerpoint/2010/main" val="3901717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C3A52-7CF5-01CE-E3B4-159BA64982AA}"/>
              </a:ext>
            </a:extLst>
          </p:cNvPr>
          <p:cNvSpPr>
            <a:spLocks noGrp="1"/>
          </p:cNvSpPr>
          <p:nvPr>
            <p:ph type="title"/>
          </p:nvPr>
        </p:nvSpPr>
        <p:spPr/>
        <p:txBody>
          <a:bodyPr/>
          <a:lstStyle/>
          <a:p>
            <a:r>
              <a:rPr lang="en-US" b="1" dirty="0"/>
              <a:t>6.2 Virus and its phases, Virus Classification </a:t>
            </a:r>
          </a:p>
        </p:txBody>
      </p:sp>
      <p:sp>
        <p:nvSpPr>
          <p:cNvPr id="3" name="Content Placeholder 2">
            <a:extLst>
              <a:ext uri="{FF2B5EF4-FFF2-40B4-BE49-F238E27FC236}">
                <a16:creationId xmlns:a16="http://schemas.microsoft.com/office/drawing/2014/main" id="{019320B2-E136-83B1-5454-0EA34AD75C32}"/>
              </a:ext>
            </a:extLst>
          </p:cNvPr>
          <p:cNvSpPr>
            <a:spLocks noGrp="1"/>
          </p:cNvSpPr>
          <p:nvPr>
            <p:ph idx="1"/>
          </p:nvPr>
        </p:nvSpPr>
        <p:spPr>
          <a:xfrm>
            <a:off x="838200" y="1488741"/>
            <a:ext cx="10515600" cy="4351338"/>
          </a:xfrm>
        </p:spPr>
        <p:txBody>
          <a:bodyPr/>
          <a:lstStyle/>
          <a:p>
            <a:pPr algn="just">
              <a:lnSpc>
                <a:spcPct val="150000"/>
              </a:lnSpc>
            </a:pPr>
            <a:r>
              <a:rPr lang="en-US" dirty="0"/>
              <a:t>a computer virus is a type of malicious software that can replicate itself and spread from one computer to another, often without the knowledge or consent of the user.</a:t>
            </a:r>
          </a:p>
          <a:p>
            <a:pPr algn="just">
              <a:lnSpc>
                <a:spcPct val="150000"/>
              </a:lnSpc>
            </a:pPr>
            <a:r>
              <a:rPr lang="en-US" dirty="0"/>
              <a:t>Viruses can cause significant damage to systems, compromise data, and disrupt normal operations. The life cycle of a computer virus typically consists of several phases:</a:t>
            </a:r>
          </a:p>
        </p:txBody>
      </p:sp>
    </p:spTree>
    <p:extLst>
      <p:ext uri="{BB962C8B-B14F-4D97-AF65-F5344CB8AC3E}">
        <p14:creationId xmlns:p14="http://schemas.microsoft.com/office/powerpoint/2010/main" val="3841434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F445A-CE94-5456-615D-B822E46F6B6B}"/>
              </a:ext>
            </a:extLst>
          </p:cNvPr>
          <p:cNvSpPr>
            <a:spLocks noGrp="1"/>
          </p:cNvSpPr>
          <p:nvPr>
            <p:ph type="title"/>
          </p:nvPr>
        </p:nvSpPr>
        <p:spPr/>
        <p:txBody>
          <a:bodyPr/>
          <a:lstStyle/>
          <a:p>
            <a:r>
              <a:rPr lang="en-US" b="1"/>
              <a:t>The life cycle of a computer virus </a:t>
            </a:r>
            <a:br>
              <a:rPr lang="en-US" b="1"/>
            </a:br>
            <a:endParaRPr lang="en-US" dirty="0"/>
          </a:p>
        </p:txBody>
      </p:sp>
      <p:sp>
        <p:nvSpPr>
          <p:cNvPr id="3" name="Content Placeholder 2">
            <a:extLst>
              <a:ext uri="{FF2B5EF4-FFF2-40B4-BE49-F238E27FC236}">
                <a16:creationId xmlns:a16="http://schemas.microsoft.com/office/drawing/2014/main" id="{73BF6B9F-5141-75AE-4FB2-F416E7D50536}"/>
              </a:ext>
            </a:extLst>
          </p:cNvPr>
          <p:cNvSpPr>
            <a:spLocks noGrp="1"/>
          </p:cNvSpPr>
          <p:nvPr>
            <p:ph idx="1"/>
          </p:nvPr>
        </p:nvSpPr>
        <p:spPr/>
        <p:txBody>
          <a:bodyPr/>
          <a:lstStyle/>
          <a:p>
            <a:pPr marL="0" indent="0">
              <a:buNone/>
            </a:pPr>
            <a:r>
              <a:rPr lang="en-US" b="1" dirty="0"/>
              <a:t>Four phases:</a:t>
            </a:r>
          </a:p>
          <a:p>
            <a:pPr marL="0" indent="0">
              <a:buNone/>
            </a:pPr>
            <a:endParaRPr lang="en-US" dirty="0"/>
          </a:p>
        </p:txBody>
      </p:sp>
      <p:pic>
        <p:nvPicPr>
          <p:cNvPr id="5" name="Picture 4">
            <a:extLst>
              <a:ext uri="{FF2B5EF4-FFF2-40B4-BE49-F238E27FC236}">
                <a16:creationId xmlns:a16="http://schemas.microsoft.com/office/drawing/2014/main" id="{606E5D1F-C97E-F9C3-0E89-AF5D4C11D202}"/>
              </a:ext>
            </a:extLst>
          </p:cNvPr>
          <p:cNvPicPr>
            <a:picLocks noChangeAspect="1"/>
          </p:cNvPicPr>
          <p:nvPr/>
        </p:nvPicPr>
        <p:blipFill>
          <a:blip r:embed="rId2"/>
          <a:stretch>
            <a:fillRect/>
          </a:stretch>
        </p:blipFill>
        <p:spPr>
          <a:xfrm>
            <a:off x="3716323" y="2458243"/>
            <a:ext cx="4857226" cy="3994267"/>
          </a:xfrm>
          <a:prstGeom prst="rect">
            <a:avLst/>
          </a:prstGeom>
        </p:spPr>
      </p:pic>
    </p:spTree>
    <p:extLst>
      <p:ext uri="{BB962C8B-B14F-4D97-AF65-F5344CB8AC3E}">
        <p14:creationId xmlns:p14="http://schemas.microsoft.com/office/powerpoint/2010/main" val="3151467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8864E-9694-77EA-5147-DD99AF5C4A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13F2598-A644-D15B-F3B7-DBF8B41ACCE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278345C-82AD-9548-F7FB-B0FF265276B7}"/>
              </a:ext>
            </a:extLst>
          </p:cNvPr>
          <p:cNvPicPr>
            <a:picLocks noChangeAspect="1"/>
          </p:cNvPicPr>
          <p:nvPr/>
        </p:nvPicPr>
        <p:blipFill>
          <a:blip r:embed="rId2"/>
          <a:stretch>
            <a:fillRect/>
          </a:stretch>
        </p:blipFill>
        <p:spPr>
          <a:xfrm>
            <a:off x="2676719" y="0"/>
            <a:ext cx="6838561" cy="6632225"/>
          </a:xfrm>
          <a:prstGeom prst="rect">
            <a:avLst/>
          </a:prstGeom>
        </p:spPr>
      </p:pic>
    </p:spTree>
    <p:extLst>
      <p:ext uri="{BB962C8B-B14F-4D97-AF65-F5344CB8AC3E}">
        <p14:creationId xmlns:p14="http://schemas.microsoft.com/office/powerpoint/2010/main" val="220008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0592A-759E-3C89-0390-2D3CA88ACC05}"/>
              </a:ext>
            </a:extLst>
          </p:cNvPr>
          <p:cNvSpPr>
            <a:spLocks noGrp="1"/>
          </p:cNvSpPr>
          <p:nvPr>
            <p:ph type="title"/>
          </p:nvPr>
        </p:nvSpPr>
        <p:spPr>
          <a:xfrm>
            <a:off x="838200" y="-79491"/>
            <a:ext cx="10515600" cy="1325563"/>
          </a:xfrm>
        </p:spPr>
        <p:txBody>
          <a:bodyPr/>
          <a:lstStyle/>
          <a:p>
            <a:r>
              <a:rPr lang="en-US" b="1" dirty="0"/>
              <a:t>Virus Classification</a:t>
            </a:r>
          </a:p>
        </p:txBody>
      </p:sp>
      <p:sp>
        <p:nvSpPr>
          <p:cNvPr id="3" name="Content Placeholder 2">
            <a:extLst>
              <a:ext uri="{FF2B5EF4-FFF2-40B4-BE49-F238E27FC236}">
                <a16:creationId xmlns:a16="http://schemas.microsoft.com/office/drawing/2014/main" id="{461EBAA9-69D2-B0EC-3E5B-CB2C7379E061}"/>
              </a:ext>
            </a:extLst>
          </p:cNvPr>
          <p:cNvSpPr>
            <a:spLocks noGrp="1"/>
          </p:cNvSpPr>
          <p:nvPr>
            <p:ph idx="1"/>
          </p:nvPr>
        </p:nvSpPr>
        <p:spPr>
          <a:xfrm>
            <a:off x="838200" y="1146116"/>
            <a:ext cx="10515600" cy="5573465"/>
          </a:xfrm>
        </p:spPr>
        <p:txBody>
          <a:bodyPr>
            <a:normAutofit fontScale="77500" lnSpcReduction="20000"/>
          </a:bodyPr>
          <a:lstStyle/>
          <a:p>
            <a:pPr marL="514350" indent="-514350" algn="just">
              <a:lnSpc>
                <a:spcPct val="150000"/>
              </a:lnSpc>
              <a:buAutoNum type="arabicPeriod"/>
            </a:pPr>
            <a:r>
              <a:rPr lang="en-US" b="1" dirty="0"/>
              <a:t>File Infectors</a:t>
            </a:r>
            <a:r>
              <a:rPr lang="en-US" dirty="0"/>
              <a:t>: These viruses infect executable files, such as .exe or .com files, by attaching themselves to the host program. When the infected file is executed, the virus code is also executed, allowing it to replicate and spread to other files.</a:t>
            </a:r>
          </a:p>
          <a:p>
            <a:pPr marL="514350" indent="-514350" algn="just">
              <a:lnSpc>
                <a:spcPct val="150000"/>
              </a:lnSpc>
              <a:buAutoNum type="arabicPeriod"/>
            </a:pPr>
            <a:r>
              <a:rPr lang="en-US" b="1" dirty="0"/>
              <a:t>Boot Sector Viruses</a:t>
            </a:r>
            <a:r>
              <a:rPr lang="en-US" dirty="0"/>
              <a:t>: These viruses infect the boot sector of a storage device, such as the master boot record (MBR) of a hard drive or the boot sector of a floppy disk. They activate when the infected system is booted, allowing the virus to load into memory and infect other bootable devices.</a:t>
            </a:r>
          </a:p>
          <a:p>
            <a:pPr marL="514350" indent="-514350" algn="just">
              <a:lnSpc>
                <a:spcPct val="150000"/>
              </a:lnSpc>
              <a:buAutoNum type="arabicPeriod"/>
            </a:pPr>
            <a:r>
              <a:rPr lang="en-US" b="1" dirty="0"/>
              <a:t>Macro Viruses</a:t>
            </a:r>
            <a:r>
              <a:rPr lang="en-US" dirty="0"/>
              <a:t>: Macro viruses infect documents or templates that contain macros, such as those found in Microsoft Office documents (e.g., Word, Excel, PowerPoint). When the infected document is opened, the virus executes the malicious macro code and can spread to other documents.</a:t>
            </a:r>
          </a:p>
        </p:txBody>
      </p:sp>
    </p:spTree>
    <p:extLst>
      <p:ext uri="{BB962C8B-B14F-4D97-AF65-F5344CB8AC3E}">
        <p14:creationId xmlns:p14="http://schemas.microsoft.com/office/powerpoint/2010/main" val="282972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B5F0-AF44-D82B-4B34-604602BED0AB}"/>
              </a:ext>
            </a:extLst>
          </p:cNvPr>
          <p:cNvSpPr>
            <a:spLocks noGrp="1"/>
          </p:cNvSpPr>
          <p:nvPr>
            <p:ph type="title"/>
          </p:nvPr>
        </p:nvSpPr>
        <p:spPr>
          <a:xfrm>
            <a:off x="838200" y="-79491"/>
            <a:ext cx="10515600" cy="1325563"/>
          </a:xfrm>
        </p:spPr>
        <p:txBody>
          <a:bodyPr/>
          <a:lstStyle/>
          <a:p>
            <a:r>
              <a:rPr lang="en-US" b="1" dirty="0"/>
              <a:t>Virus Classification</a:t>
            </a:r>
          </a:p>
        </p:txBody>
      </p:sp>
      <p:sp>
        <p:nvSpPr>
          <p:cNvPr id="3" name="Content Placeholder 2">
            <a:extLst>
              <a:ext uri="{FF2B5EF4-FFF2-40B4-BE49-F238E27FC236}">
                <a16:creationId xmlns:a16="http://schemas.microsoft.com/office/drawing/2014/main" id="{4B00AEEF-B499-D176-F463-8EB6A19A39BF}"/>
              </a:ext>
            </a:extLst>
          </p:cNvPr>
          <p:cNvSpPr>
            <a:spLocks noGrp="1"/>
          </p:cNvSpPr>
          <p:nvPr>
            <p:ph idx="1"/>
          </p:nvPr>
        </p:nvSpPr>
        <p:spPr>
          <a:xfrm>
            <a:off x="838200" y="1120949"/>
            <a:ext cx="10515600" cy="5472797"/>
          </a:xfrm>
        </p:spPr>
        <p:txBody>
          <a:bodyPr>
            <a:normAutofit fontScale="85000" lnSpcReduction="10000"/>
          </a:bodyPr>
          <a:lstStyle/>
          <a:p>
            <a:pPr marL="0" indent="0" algn="just">
              <a:lnSpc>
                <a:spcPct val="160000"/>
              </a:lnSpc>
              <a:buNone/>
            </a:pPr>
            <a:r>
              <a:rPr lang="en-US" dirty="0"/>
              <a:t>4</a:t>
            </a:r>
            <a:r>
              <a:rPr lang="en-US" b="1" dirty="0"/>
              <a:t>. Polymorphic Viruses</a:t>
            </a:r>
            <a:r>
              <a:rPr lang="en-US" dirty="0"/>
              <a:t>: Polymorphic viruses have the ability to change their code and appearance while maintaining the same functionality. This makes them more difficult to detect using traditional signature-based antivirus methods.</a:t>
            </a:r>
          </a:p>
          <a:p>
            <a:pPr marL="0" indent="0" algn="just">
              <a:lnSpc>
                <a:spcPct val="160000"/>
              </a:lnSpc>
              <a:buNone/>
            </a:pPr>
            <a:r>
              <a:rPr lang="en-US" dirty="0"/>
              <a:t>5. </a:t>
            </a:r>
            <a:r>
              <a:rPr lang="en-US" b="1" dirty="0"/>
              <a:t>Metamorphic Viruses</a:t>
            </a:r>
            <a:r>
              <a:rPr lang="en-US" dirty="0"/>
              <a:t>: Metamorphic viruses are similar to polymorphic viruses but go a step further by completely rewriting their code, making them even more challenging to detect and analyze.</a:t>
            </a:r>
          </a:p>
          <a:p>
            <a:pPr marL="0" indent="0" algn="just">
              <a:lnSpc>
                <a:spcPct val="160000"/>
              </a:lnSpc>
              <a:buNone/>
            </a:pPr>
            <a:r>
              <a:rPr lang="en-US" dirty="0"/>
              <a:t>6</a:t>
            </a:r>
            <a:r>
              <a:rPr lang="en-US" b="1" dirty="0"/>
              <a:t>. Stealth Viruses</a:t>
            </a:r>
            <a:r>
              <a:rPr lang="en-US" dirty="0"/>
              <a:t>: Stealth viruses are designed to hide their presence and activities from detection by antivirus software. They may intercept and modify system calls, manipulate file access data, or use rootkit techniques to conceal themselves.</a:t>
            </a:r>
          </a:p>
        </p:txBody>
      </p:sp>
    </p:spTree>
    <p:extLst>
      <p:ext uri="{BB962C8B-B14F-4D97-AF65-F5344CB8AC3E}">
        <p14:creationId xmlns:p14="http://schemas.microsoft.com/office/powerpoint/2010/main" val="32610923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43DF3-DC0B-00B4-02D6-FF1D40B9248C}"/>
              </a:ext>
            </a:extLst>
          </p:cNvPr>
          <p:cNvSpPr>
            <a:spLocks noGrp="1"/>
          </p:cNvSpPr>
          <p:nvPr>
            <p:ph type="title"/>
          </p:nvPr>
        </p:nvSpPr>
        <p:spPr>
          <a:xfrm>
            <a:off x="118844" y="-292188"/>
            <a:ext cx="11752975" cy="1325563"/>
          </a:xfrm>
        </p:spPr>
        <p:txBody>
          <a:bodyPr>
            <a:normAutofit/>
          </a:bodyPr>
          <a:lstStyle/>
          <a:p>
            <a:pPr algn="just"/>
            <a:r>
              <a:rPr lang="en-US" sz="4000" b="1" dirty="0"/>
              <a:t>6.3 Worm, Worm Propagation, State of Worm Technology </a:t>
            </a:r>
          </a:p>
        </p:txBody>
      </p:sp>
      <p:sp>
        <p:nvSpPr>
          <p:cNvPr id="3" name="Content Placeholder 2">
            <a:extLst>
              <a:ext uri="{FF2B5EF4-FFF2-40B4-BE49-F238E27FC236}">
                <a16:creationId xmlns:a16="http://schemas.microsoft.com/office/drawing/2014/main" id="{A4263AE0-CEEC-7322-6DF7-F2E66A18EA36}"/>
              </a:ext>
            </a:extLst>
          </p:cNvPr>
          <p:cNvSpPr>
            <a:spLocks noGrp="1"/>
          </p:cNvSpPr>
          <p:nvPr>
            <p:ph idx="1"/>
          </p:nvPr>
        </p:nvSpPr>
        <p:spPr>
          <a:xfrm>
            <a:off x="418750" y="1036550"/>
            <a:ext cx="10721830" cy="4784900"/>
          </a:xfrm>
        </p:spPr>
        <p:txBody>
          <a:bodyPr>
            <a:normAutofit fontScale="85000" lnSpcReduction="20000"/>
          </a:bodyPr>
          <a:lstStyle/>
          <a:p>
            <a:pPr marL="0" indent="0" algn="just">
              <a:lnSpc>
                <a:spcPct val="100000"/>
              </a:lnSpc>
              <a:buNone/>
            </a:pPr>
            <a:r>
              <a:rPr lang="en-US" b="1" dirty="0"/>
              <a:t>Worm:</a:t>
            </a:r>
          </a:p>
          <a:p>
            <a:pPr marL="0" indent="0" algn="just">
              <a:lnSpc>
                <a:spcPct val="100000"/>
              </a:lnSpc>
              <a:buNone/>
            </a:pPr>
            <a:r>
              <a:rPr lang="en-US" dirty="0"/>
              <a:t>Worms are self-replicating malware that can spread rapidly across networks, often exploiting security vulnerabilities. They can consume network bandwidth and cause system slowdowns or crashes.</a:t>
            </a:r>
          </a:p>
          <a:p>
            <a:pPr marL="0" indent="0" algn="just">
              <a:lnSpc>
                <a:spcPct val="100000"/>
              </a:lnSpc>
              <a:buNone/>
            </a:pPr>
            <a:endParaRPr lang="en-US" b="1" dirty="0"/>
          </a:p>
          <a:p>
            <a:pPr marL="0" indent="0" algn="just">
              <a:lnSpc>
                <a:spcPct val="100000"/>
              </a:lnSpc>
              <a:buNone/>
            </a:pPr>
            <a:r>
              <a:rPr lang="en-US" b="1" dirty="0"/>
              <a:t>Worm Propagation:</a:t>
            </a:r>
          </a:p>
          <a:p>
            <a:pPr marL="0" indent="0" algn="just">
              <a:lnSpc>
                <a:spcPct val="110000"/>
              </a:lnSpc>
              <a:buNone/>
            </a:pPr>
            <a:r>
              <a:rPr lang="en-US" dirty="0"/>
              <a:t>Worm propagation refers to the spread of computer worms across networks and systems. </a:t>
            </a:r>
          </a:p>
          <a:p>
            <a:pPr marL="0" indent="0" algn="just">
              <a:lnSpc>
                <a:spcPct val="110000"/>
              </a:lnSpc>
              <a:buNone/>
            </a:pPr>
            <a:r>
              <a:rPr lang="en-US" dirty="0"/>
              <a:t>Worms are self-replicating malicious programs that can propagate autonomously, without requiring user intervention. </a:t>
            </a:r>
          </a:p>
          <a:p>
            <a:pPr marL="0" indent="0" algn="just">
              <a:lnSpc>
                <a:spcPct val="110000"/>
              </a:lnSpc>
              <a:buNone/>
            </a:pPr>
            <a:r>
              <a:rPr lang="en-US" dirty="0"/>
              <a:t>They exploit vulnerabilities in computer systems or take advantage of social engineering techniques to infect and spread to other devices.</a:t>
            </a:r>
          </a:p>
        </p:txBody>
      </p:sp>
    </p:spTree>
    <p:extLst>
      <p:ext uri="{BB962C8B-B14F-4D97-AF65-F5344CB8AC3E}">
        <p14:creationId xmlns:p14="http://schemas.microsoft.com/office/powerpoint/2010/main" val="2130504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4A5BC-DA57-6070-B216-514FDD021E97}"/>
              </a:ext>
            </a:extLst>
          </p:cNvPr>
          <p:cNvSpPr>
            <a:spLocks noGrp="1"/>
          </p:cNvSpPr>
          <p:nvPr>
            <p:ph type="title"/>
          </p:nvPr>
        </p:nvSpPr>
        <p:spPr>
          <a:xfrm>
            <a:off x="838199" y="365125"/>
            <a:ext cx="10839275" cy="1325563"/>
          </a:xfrm>
        </p:spPr>
        <p:txBody>
          <a:bodyPr/>
          <a:lstStyle/>
          <a:p>
            <a:r>
              <a:rPr lang="en-US" b="1" dirty="0"/>
              <a:t>Worm propagation Model</a:t>
            </a:r>
          </a:p>
        </p:txBody>
      </p:sp>
      <p:sp>
        <p:nvSpPr>
          <p:cNvPr id="3" name="Content Placeholder 2">
            <a:extLst>
              <a:ext uri="{FF2B5EF4-FFF2-40B4-BE49-F238E27FC236}">
                <a16:creationId xmlns:a16="http://schemas.microsoft.com/office/drawing/2014/main" id="{8EDF740F-0826-9AB1-8314-E8FC6217A24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A4965DF-245A-D69E-F4B7-AC4383D22755}"/>
              </a:ext>
            </a:extLst>
          </p:cNvPr>
          <p:cNvPicPr>
            <a:picLocks noChangeAspect="1"/>
          </p:cNvPicPr>
          <p:nvPr/>
        </p:nvPicPr>
        <p:blipFill>
          <a:blip r:embed="rId2"/>
          <a:stretch>
            <a:fillRect/>
          </a:stretch>
        </p:blipFill>
        <p:spPr>
          <a:xfrm>
            <a:off x="3090002" y="2158180"/>
            <a:ext cx="4737734" cy="3533494"/>
          </a:xfrm>
          <a:prstGeom prst="rect">
            <a:avLst/>
          </a:prstGeom>
        </p:spPr>
      </p:pic>
    </p:spTree>
    <p:extLst>
      <p:ext uri="{BB962C8B-B14F-4D97-AF65-F5344CB8AC3E}">
        <p14:creationId xmlns:p14="http://schemas.microsoft.com/office/powerpoint/2010/main" val="132986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1E88-7BBF-E48E-23A4-62EB1E850E0E}"/>
              </a:ext>
            </a:extLst>
          </p:cNvPr>
          <p:cNvSpPr>
            <a:spLocks noGrp="1"/>
          </p:cNvSpPr>
          <p:nvPr>
            <p:ph type="title"/>
          </p:nvPr>
        </p:nvSpPr>
        <p:spPr>
          <a:xfrm>
            <a:off x="82420" y="153192"/>
            <a:ext cx="12027159" cy="1325563"/>
          </a:xfrm>
        </p:spPr>
        <p:txBody>
          <a:bodyPr/>
          <a:lstStyle/>
          <a:p>
            <a:r>
              <a:rPr lang="en-US" b="1" dirty="0"/>
              <a:t>Some common methods of Worm Propagation model</a:t>
            </a:r>
          </a:p>
        </p:txBody>
      </p:sp>
      <p:sp>
        <p:nvSpPr>
          <p:cNvPr id="3" name="Content Placeholder 2">
            <a:extLst>
              <a:ext uri="{FF2B5EF4-FFF2-40B4-BE49-F238E27FC236}">
                <a16:creationId xmlns:a16="http://schemas.microsoft.com/office/drawing/2014/main" id="{90AE940D-7CD6-2BD1-0171-1456D8C6AAE4}"/>
              </a:ext>
            </a:extLst>
          </p:cNvPr>
          <p:cNvSpPr>
            <a:spLocks noGrp="1"/>
          </p:cNvSpPr>
          <p:nvPr>
            <p:ph idx="1"/>
          </p:nvPr>
        </p:nvSpPr>
        <p:spPr>
          <a:xfrm>
            <a:off x="240632" y="1373448"/>
            <a:ext cx="11630526" cy="5331360"/>
          </a:xfrm>
        </p:spPr>
        <p:txBody>
          <a:bodyPr>
            <a:normAutofit/>
          </a:bodyPr>
          <a:lstStyle/>
          <a:p>
            <a:pPr marL="514350" indent="-514350" algn="just">
              <a:buAutoNum type="arabicPeriod"/>
            </a:pPr>
            <a:r>
              <a:rPr lang="en-US" b="1" dirty="0"/>
              <a:t>Network Exploitation: </a:t>
            </a:r>
            <a:r>
              <a:rPr lang="en-US" dirty="0"/>
              <a:t>Worms often exploit vulnerabilities in network services or operating systems to gain unauthorized access to target systems. They can scan for vulnerable devices on a network, probe for open ports, and attempt to exploit known vulnerabilities to infect those systems. </a:t>
            </a:r>
            <a:endParaRPr lang="en-US" b="1" dirty="0"/>
          </a:p>
          <a:p>
            <a:pPr marL="514350" indent="-514350" algn="just">
              <a:buAutoNum type="arabicPeriod"/>
            </a:pPr>
            <a:r>
              <a:rPr lang="en-US" b="1" dirty="0"/>
              <a:t>Email Attachments: </a:t>
            </a:r>
            <a:r>
              <a:rPr lang="en-US" dirty="0"/>
              <a:t>Some worms spread by sending infected email attachments to a victim's contacts. These attachments may appear harmless or disguised as legitimate files, such as documents or images.</a:t>
            </a:r>
            <a:endParaRPr lang="en-US" b="1" dirty="0"/>
          </a:p>
          <a:p>
            <a:pPr marL="514350" indent="-514350" algn="just">
              <a:buAutoNum type="arabicPeriod"/>
            </a:pPr>
            <a:r>
              <a:rPr lang="en-US" b="1" dirty="0"/>
              <a:t>Removable Media: </a:t>
            </a:r>
            <a:r>
              <a:rPr lang="en-US" dirty="0"/>
              <a:t>Worms can spread by infecting removable media, such as USB drives or external hard drives. When an infected device is connected to a new system, the worm may automatically execute and attempt to infect that system.</a:t>
            </a:r>
            <a:endParaRPr lang="en-US" b="1" dirty="0"/>
          </a:p>
        </p:txBody>
      </p:sp>
    </p:spTree>
    <p:extLst>
      <p:ext uri="{BB962C8B-B14F-4D97-AF65-F5344CB8AC3E}">
        <p14:creationId xmlns:p14="http://schemas.microsoft.com/office/powerpoint/2010/main" val="338941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BFF87-1D9D-E9A7-E4E2-0DB5DEB1D8EE}"/>
              </a:ext>
            </a:extLst>
          </p:cNvPr>
          <p:cNvSpPr>
            <a:spLocks noGrp="1"/>
          </p:cNvSpPr>
          <p:nvPr>
            <p:ph type="title"/>
          </p:nvPr>
        </p:nvSpPr>
        <p:spPr>
          <a:xfrm>
            <a:off x="465221" y="-189748"/>
            <a:ext cx="11919284" cy="1325563"/>
          </a:xfrm>
        </p:spPr>
        <p:txBody>
          <a:bodyPr>
            <a:normAutofit/>
          </a:bodyPr>
          <a:lstStyle/>
          <a:p>
            <a:r>
              <a:rPr lang="en-US" sz="4000" b="1" dirty="0"/>
              <a:t>Some common methods of Worm Propagation Model</a:t>
            </a:r>
          </a:p>
        </p:txBody>
      </p:sp>
      <p:sp>
        <p:nvSpPr>
          <p:cNvPr id="3" name="Content Placeholder 2">
            <a:extLst>
              <a:ext uri="{FF2B5EF4-FFF2-40B4-BE49-F238E27FC236}">
                <a16:creationId xmlns:a16="http://schemas.microsoft.com/office/drawing/2014/main" id="{DAB0BAEE-0FE1-3CD4-660D-D09D398FC96D}"/>
              </a:ext>
            </a:extLst>
          </p:cNvPr>
          <p:cNvSpPr>
            <a:spLocks noGrp="1"/>
          </p:cNvSpPr>
          <p:nvPr>
            <p:ph idx="1"/>
          </p:nvPr>
        </p:nvSpPr>
        <p:spPr>
          <a:xfrm>
            <a:off x="272716" y="991434"/>
            <a:ext cx="11454063" cy="5393323"/>
          </a:xfrm>
        </p:spPr>
        <p:txBody>
          <a:bodyPr>
            <a:normAutofit/>
          </a:bodyPr>
          <a:lstStyle/>
          <a:p>
            <a:pPr marL="0" indent="0" algn="just">
              <a:buNone/>
            </a:pPr>
            <a:r>
              <a:rPr lang="en-US" b="1" dirty="0"/>
              <a:t>4. Social Engineering: </a:t>
            </a:r>
            <a:r>
              <a:rPr lang="en-US" dirty="0"/>
              <a:t>Worms can employ social engineering techniques to trick users into executing or opening infected files. For example, a worm may be disguised as a seemingly harmless file, such as a game or a software update.</a:t>
            </a:r>
            <a:endParaRPr lang="en-US" b="1" dirty="0"/>
          </a:p>
          <a:p>
            <a:pPr marL="0" indent="0" algn="just">
              <a:buNone/>
            </a:pPr>
            <a:r>
              <a:rPr lang="en-US" b="1" dirty="0"/>
              <a:t>5. Internet Worms: </a:t>
            </a:r>
            <a:r>
              <a:rPr lang="en-US" dirty="0"/>
              <a:t>Internet worms exploit vulnerabilities in network protocols or services to propagate across the internet. They can scan IP addresses or domain names, looking for vulnerable systems to infect. </a:t>
            </a:r>
            <a:endParaRPr lang="en-US" b="1" dirty="0"/>
          </a:p>
          <a:p>
            <a:pPr marL="0" indent="0" algn="just">
              <a:buNone/>
            </a:pPr>
            <a:r>
              <a:rPr lang="en-US" b="1" dirty="0"/>
              <a:t>6. P2P Networks: </a:t>
            </a:r>
            <a:r>
              <a:rPr lang="en-US" dirty="0"/>
              <a:t>Some worms take advantage of peer-to-peer (P2P) networks or file-sharing platforms to propagate. They may disguise themselves as popular files or software on these networks, enticing users to download and execute them. Once executed, the worm can infect the user's system and potentially spread to other connected peers.</a:t>
            </a:r>
            <a:endParaRPr lang="en-US" b="1" dirty="0"/>
          </a:p>
          <a:p>
            <a:endParaRPr lang="en-US" dirty="0"/>
          </a:p>
        </p:txBody>
      </p:sp>
    </p:spTree>
    <p:extLst>
      <p:ext uri="{BB962C8B-B14F-4D97-AF65-F5344CB8AC3E}">
        <p14:creationId xmlns:p14="http://schemas.microsoft.com/office/powerpoint/2010/main" val="25576346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97453-93C2-0602-84BA-1A94E02ABF17}"/>
              </a:ext>
            </a:extLst>
          </p:cNvPr>
          <p:cNvSpPr>
            <a:spLocks noGrp="1"/>
          </p:cNvSpPr>
          <p:nvPr>
            <p:ph type="title"/>
          </p:nvPr>
        </p:nvSpPr>
        <p:spPr>
          <a:xfrm>
            <a:off x="224589" y="365125"/>
            <a:ext cx="11129211" cy="1325563"/>
          </a:xfrm>
        </p:spPr>
        <p:txBody>
          <a:bodyPr/>
          <a:lstStyle/>
          <a:p>
            <a:r>
              <a:rPr lang="en-US" b="1" dirty="0"/>
              <a:t>State of Worm Technology</a:t>
            </a:r>
          </a:p>
        </p:txBody>
      </p:sp>
      <p:sp>
        <p:nvSpPr>
          <p:cNvPr id="3" name="Content Placeholder 2">
            <a:extLst>
              <a:ext uri="{FF2B5EF4-FFF2-40B4-BE49-F238E27FC236}">
                <a16:creationId xmlns:a16="http://schemas.microsoft.com/office/drawing/2014/main" id="{14FF4DFC-7B27-DA88-F211-44D2EBAC9D9D}"/>
              </a:ext>
            </a:extLst>
          </p:cNvPr>
          <p:cNvSpPr>
            <a:spLocks noGrp="1"/>
          </p:cNvSpPr>
          <p:nvPr>
            <p:ph idx="1"/>
          </p:nvPr>
        </p:nvSpPr>
        <p:spPr>
          <a:xfrm>
            <a:off x="838200" y="1520825"/>
            <a:ext cx="10515600" cy="4351338"/>
          </a:xfrm>
        </p:spPr>
        <p:txBody>
          <a:bodyPr/>
          <a:lstStyle/>
          <a:p>
            <a:pPr marL="514350" indent="-514350">
              <a:buAutoNum type="arabicParenR"/>
            </a:pPr>
            <a:r>
              <a:rPr lang="en-US" dirty="0"/>
              <a:t>Advanced </a:t>
            </a:r>
            <a:r>
              <a:rPr lang="en-US"/>
              <a:t>Propagation Techniques</a:t>
            </a:r>
            <a:endParaRPr lang="en-US" dirty="0"/>
          </a:p>
          <a:p>
            <a:pPr marL="514350" indent="-514350">
              <a:buAutoNum type="arabicParenR"/>
            </a:pPr>
            <a:r>
              <a:rPr lang="en-US" dirty="0"/>
              <a:t>Polymorphism and Metamorphism</a:t>
            </a:r>
          </a:p>
          <a:p>
            <a:pPr marL="514350" indent="-514350">
              <a:buAutoNum type="arabicParenR"/>
            </a:pPr>
            <a:r>
              <a:rPr lang="en-US" dirty="0"/>
              <a:t>Targeted Attacks</a:t>
            </a:r>
          </a:p>
          <a:p>
            <a:pPr marL="514350" indent="-514350">
              <a:buAutoNum type="arabicParenR"/>
            </a:pPr>
            <a:r>
              <a:rPr lang="en-US" dirty="0"/>
              <a:t>Botnet Integration</a:t>
            </a:r>
          </a:p>
          <a:p>
            <a:pPr marL="514350" indent="-514350">
              <a:buAutoNum type="arabicParenR"/>
            </a:pPr>
            <a:r>
              <a:rPr lang="en-US" dirty="0"/>
              <a:t>Automation and Self-Propagation</a:t>
            </a:r>
          </a:p>
          <a:p>
            <a:pPr marL="514350" indent="-514350">
              <a:buAutoNum type="arabicParenR"/>
            </a:pPr>
            <a:r>
              <a:rPr lang="en-US" dirty="0"/>
              <a:t>Exploiting Zero-Day Vulnerabilities</a:t>
            </a:r>
          </a:p>
          <a:p>
            <a:pPr marL="514350" indent="-514350">
              <a:buAutoNum type="arabicParenR"/>
            </a:pPr>
            <a:r>
              <a:rPr lang="en-US" dirty="0"/>
              <a:t>Collaboration with Other Malware</a:t>
            </a:r>
          </a:p>
        </p:txBody>
      </p:sp>
    </p:spTree>
    <p:extLst>
      <p:ext uri="{BB962C8B-B14F-4D97-AF65-F5344CB8AC3E}">
        <p14:creationId xmlns:p14="http://schemas.microsoft.com/office/powerpoint/2010/main" val="3797860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15CF-0704-D355-6D4C-32549B27D128}"/>
              </a:ext>
            </a:extLst>
          </p:cNvPr>
          <p:cNvSpPr>
            <a:spLocks noGrp="1"/>
          </p:cNvSpPr>
          <p:nvPr>
            <p:ph type="title"/>
          </p:nvPr>
        </p:nvSpPr>
        <p:spPr>
          <a:xfrm>
            <a:off x="437148" y="-132180"/>
            <a:ext cx="10515600" cy="1325563"/>
          </a:xfrm>
        </p:spPr>
        <p:txBody>
          <a:bodyPr/>
          <a:lstStyle/>
          <a:p>
            <a:r>
              <a:rPr lang="en-US" b="1" dirty="0"/>
              <a:t>6.4 Trojan Horse</a:t>
            </a:r>
          </a:p>
        </p:txBody>
      </p:sp>
      <p:sp>
        <p:nvSpPr>
          <p:cNvPr id="3" name="Content Placeholder 2">
            <a:extLst>
              <a:ext uri="{FF2B5EF4-FFF2-40B4-BE49-F238E27FC236}">
                <a16:creationId xmlns:a16="http://schemas.microsoft.com/office/drawing/2014/main" id="{F8245257-380E-DBFD-154E-E4B9C35A690A}"/>
              </a:ext>
            </a:extLst>
          </p:cNvPr>
          <p:cNvSpPr>
            <a:spLocks noGrp="1"/>
          </p:cNvSpPr>
          <p:nvPr>
            <p:ph idx="1"/>
          </p:nvPr>
        </p:nvSpPr>
        <p:spPr>
          <a:xfrm>
            <a:off x="629652" y="1039562"/>
            <a:ext cx="10515600" cy="4351338"/>
          </a:xfrm>
        </p:spPr>
        <p:txBody>
          <a:bodyPr/>
          <a:lstStyle/>
          <a:p>
            <a:pPr algn="just">
              <a:lnSpc>
                <a:spcPct val="150000"/>
              </a:lnSpc>
            </a:pPr>
            <a:r>
              <a:rPr lang="en-US" dirty="0"/>
              <a:t>A Trojan Horse Virus is a type of malware that downloads onto a computer disguised as a legitimate program.</a:t>
            </a:r>
          </a:p>
          <a:p>
            <a:pPr algn="just">
              <a:lnSpc>
                <a:spcPct val="150000"/>
              </a:lnSpc>
            </a:pPr>
            <a:r>
              <a:rPr lang="en-US" dirty="0"/>
              <a:t>The delivery method typically sees an attacker use social engineering to hide malicious code within legitimate software to try and gain users' system access with their software.</a:t>
            </a:r>
          </a:p>
        </p:txBody>
      </p:sp>
    </p:spTree>
    <p:extLst>
      <p:ext uri="{BB962C8B-B14F-4D97-AF65-F5344CB8AC3E}">
        <p14:creationId xmlns:p14="http://schemas.microsoft.com/office/powerpoint/2010/main" val="276360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4EE87-F9F7-8BFB-74D5-6211A1CF8268}"/>
              </a:ext>
            </a:extLst>
          </p:cNvPr>
          <p:cNvSpPr>
            <a:spLocks noGrp="1"/>
          </p:cNvSpPr>
          <p:nvPr>
            <p:ph type="title"/>
          </p:nvPr>
        </p:nvSpPr>
        <p:spPr/>
        <p:txBody>
          <a:bodyPr/>
          <a:lstStyle/>
          <a:p>
            <a:r>
              <a:rPr lang="en-US" b="1" dirty="0"/>
              <a:t>Types of Trojans</a:t>
            </a:r>
          </a:p>
        </p:txBody>
      </p:sp>
      <p:sp>
        <p:nvSpPr>
          <p:cNvPr id="3" name="Content Placeholder 2">
            <a:extLst>
              <a:ext uri="{FF2B5EF4-FFF2-40B4-BE49-F238E27FC236}">
                <a16:creationId xmlns:a16="http://schemas.microsoft.com/office/drawing/2014/main" id="{E75A8C65-FBF1-4F80-EB53-A8DA01172878}"/>
              </a:ext>
            </a:extLst>
          </p:cNvPr>
          <p:cNvSpPr>
            <a:spLocks noGrp="1"/>
          </p:cNvSpPr>
          <p:nvPr>
            <p:ph idx="1"/>
          </p:nvPr>
        </p:nvSpPr>
        <p:spPr/>
        <p:txBody>
          <a:bodyPr/>
          <a:lstStyle/>
          <a:p>
            <a:r>
              <a:rPr lang="en-US" dirty="0"/>
              <a:t>Downloader Trojan</a:t>
            </a:r>
          </a:p>
          <a:p>
            <a:r>
              <a:rPr lang="en-US" dirty="0"/>
              <a:t>Backdoor Trojan</a:t>
            </a:r>
          </a:p>
          <a:p>
            <a:r>
              <a:rPr lang="en-US" dirty="0"/>
              <a:t>Spyware</a:t>
            </a:r>
          </a:p>
          <a:p>
            <a:r>
              <a:rPr lang="en-US" dirty="0"/>
              <a:t>Rootkit Trojans</a:t>
            </a:r>
          </a:p>
          <a:p>
            <a:r>
              <a:rPr lang="en-US" dirty="0"/>
              <a:t>DDOS Attack Trojan</a:t>
            </a:r>
          </a:p>
        </p:txBody>
      </p:sp>
    </p:spTree>
    <p:extLst>
      <p:ext uri="{BB962C8B-B14F-4D97-AF65-F5344CB8AC3E}">
        <p14:creationId xmlns:p14="http://schemas.microsoft.com/office/powerpoint/2010/main" val="3269747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B1C30-57F1-BA65-ED1D-60594CC85CAC}"/>
              </a:ext>
            </a:extLst>
          </p:cNvPr>
          <p:cNvSpPr>
            <a:spLocks noGrp="1"/>
          </p:cNvSpPr>
          <p:nvPr>
            <p:ph type="title"/>
          </p:nvPr>
        </p:nvSpPr>
        <p:spPr>
          <a:xfrm>
            <a:off x="192505" y="365125"/>
            <a:ext cx="11999495" cy="1325563"/>
          </a:xfrm>
        </p:spPr>
        <p:txBody>
          <a:bodyPr/>
          <a:lstStyle/>
          <a:p>
            <a:r>
              <a:rPr lang="en-US" b="1" dirty="0"/>
              <a:t>Some common types and functionalities of Trojans:</a:t>
            </a:r>
          </a:p>
        </p:txBody>
      </p:sp>
      <p:sp>
        <p:nvSpPr>
          <p:cNvPr id="3" name="Content Placeholder 2">
            <a:extLst>
              <a:ext uri="{FF2B5EF4-FFF2-40B4-BE49-F238E27FC236}">
                <a16:creationId xmlns:a16="http://schemas.microsoft.com/office/drawing/2014/main" id="{62AAD92F-2457-380D-C38A-03E23624A6E0}"/>
              </a:ext>
            </a:extLst>
          </p:cNvPr>
          <p:cNvSpPr>
            <a:spLocks noGrp="1"/>
          </p:cNvSpPr>
          <p:nvPr>
            <p:ph idx="1"/>
          </p:nvPr>
        </p:nvSpPr>
        <p:spPr/>
        <p:txBody>
          <a:bodyPr/>
          <a:lstStyle/>
          <a:p>
            <a:r>
              <a:rPr lang="en-US" b="1" dirty="0"/>
              <a:t>Remote Access Trojans (RATs)</a:t>
            </a:r>
          </a:p>
          <a:p>
            <a:r>
              <a:rPr lang="en-US" b="1" dirty="0"/>
              <a:t>Keyloggers</a:t>
            </a:r>
          </a:p>
          <a:p>
            <a:r>
              <a:rPr lang="en-US" b="1" dirty="0"/>
              <a:t>Banking Trojans</a:t>
            </a:r>
          </a:p>
          <a:p>
            <a:r>
              <a:rPr lang="en-US" b="1" dirty="0"/>
              <a:t>Backdoors</a:t>
            </a:r>
          </a:p>
          <a:p>
            <a:r>
              <a:rPr lang="en-US" b="1" dirty="0"/>
              <a:t>DDoS Trojans</a:t>
            </a:r>
          </a:p>
          <a:p>
            <a:r>
              <a:rPr lang="en-US" b="1" dirty="0"/>
              <a:t>Fake Antivirus or Security Software</a:t>
            </a:r>
          </a:p>
        </p:txBody>
      </p:sp>
    </p:spTree>
    <p:extLst>
      <p:ext uri="{BB962C8B-B14F-4D97-AF65-F5344CB8AC3E}">
        <p14:creationId xmlns:p14="http://schemas.microsoft.com/office/powerpoint/2010/main" val="2701452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F4200-DBD2-87C4-EFF4-33F02AAECB77}"/>
              </a:ext>
            </a:extLst>
          </p:cNvPr>
          <p:cNvSpPr>
            <a:spLocks noGrp="1"/>
          </p:cNvSpPr>
          <p:nvPr>
            <p:ph type="title"/>
          </p:nvPr>
        </p:nvSpPr>
        <p:spPr/>
        <p:txBody>
          <a:bodyPr/>
          <a:lstStyle/>
          <a:p>
            <a:r>
              <a:rPr lang="en-US" b="1" dirty="0"/>
              <a:t>Security practices to protect against Trojan</a:t>
            </a:r>
          </a:p>
        </p:txBody>
      </p:sp>
      <p:sp>
        <p:nvSpPr>
          <p:cNvPr id="3" name="Content Placeholder 2">
            <a:extLst>
              <a:ext uri="{FF2B5EF4-FFF2-40B4-BE49-F238E27FC236}">
                <a16:creationId xmlns:a16="http://schemas.microsoft.com/office/drawing/2014/main" id="{D2FDF13E-5A78-ECD6-1BCF-3B201BAD62A2}"/>
              </a:ext>
            </a:extLst>
          </p:cNvPr>
          <p:cNvSpPr>
            <a:spLocks noGrp="1"/>
          </p:cNvSpPr>
          <p:nvPr>
            <p:ph idx="1"/>
          </p:nvPr>
        </p:nvSpPr>
        <p:spPr/>
        <p:txBody>
          <a:bodyPr>
            <a:normAutofit fontScale="85000" lnSpcReduction="10000"/>
          </a:bodyPr>
          <a:lstStyle/>
          <a:p>
            <a:pPr algn="just">
              <a:lnSpc>
                <a:spcPct val="110000"/>
              </a:lnSpc>
              <a:buFont typeface="Arial" panose="020B0604020202020204" pitchFamily="34" charset="0"/>
              <a:buChar char="•"/>
            </a:pPr>
            <a:r>
              <a:rPr lang="en-US" dirty="0"/>
              <a:t>Using reputable antivirus and anti-malware software and keeping it up to date.</a:t>
            </a:r>
          </a:p>
          <a:p>
            <a:pPr algn="just">
              <a:lnSpc>
                <a:spcPct val="110000"/>
              </a:lnSpc>
              <a:buFont typeface="Arial" panose="020B0604020202020204" pitchFamily="34" charset="0"/>
              <a:buChar char="•"/>
            </a:pPr>
            <a:r>
              <a:rPr lang="en-US" dirty="0"/>
              <a:t>Exercising caution when opening email attachments or downloading files from untrusted sources.</a:t>
            </a:r>
          </a:p>
          <a:p>
            <a:pPr algn="just">
              <a:lnSpc>
                <a:spcPct val="110000"/>
              </a:lnSpc>
              <a:buFont typeface="Arial" panose="020B0604020202020204" pitchFamily="34" charset="0"/>
              <a:buChar char="•"/>
            </a:pPr>
            <a:r>
              <a:rPr lang="en-US" dirty="0"/>
              <a:t>Avoiding clicking on suspicious links or visiting potentially malicious websites.</a:t>
            </a:r>
          </a:p>
          <a:p>
            <a:pPr algn="just">
              <a:lnSpc>
                <a:spcPct val="110000"/>
              </a:lnSpc>
              <a:buFont typeface="Arial" panose="020B0604020202020204" pitchFamily="34" charset="0"/>
              <a:buChar char="•"/>
            </a:pPr>
            <a:r>
              <a:rPr lang="en-US" dirty="0"/>
              <a:t>Keeping operating systems and software patched with the latest security updates.</a:t>
            </a:r>
          </a:p>
          <a:p>
            <a:pPr algn="just">
              <a:lnSpc>
                <a:spcPct val="110000"/>
              </a:lnSpc>
              <a:buFont typeface="Arial" panose="020B0604020202020204" pitchFamily="34" charset="0"/>
              <a:buChar char="•"/>
            </a:pPr>
            <a:r>
              <a:rPr lang="en-US" dirty="0"/>
              <a:t>Being vigilant for signs of unusual or unexpected behavior on your computer.</a:t>
            </a:r>
          </a:p>
          <a:p>
            <a:pPr algn="just">
              <a:lnSpc>
                <a:spcPct val="110000"/>
              </a:lnSpc>
              <a:buFont typeface="Arial" panose="020B0604020202020204" pitchFamily="34" charset="0"/>
              <a:buChar char="•"/>
            </a:pPr>
            <a:r>
              <a:rPr lang="en-US" dirty="0"/>
              <a:t>Employing firewalls and intrusion detection/prevention systems to monitor and block suspicious network traffic.</a:t>
            </a:r>
          </a:p>
          <a:p>
            <a:pPr algn="just">
              <a:lnSpc>
                <a:spcPct val="110000"/>
              </a:lnSpc>
              <a:buFont typeface="Arial" panose="020B0604020202020204" pitchFamily="34" charset="0"/>
              <a:buChar char="•"/>
            </a:pPr>
            <a:r>
              <a:rPr lang="en-US" dirty="0"/>
              <a:t>Regularly backing up important data to minimize the impact of a Trojan infection.</a:t>
            </a:r>
          </a:p>
          <a:p>
            <a:pPr algn="just">
              <a:lnSpc>
                <a:spcPct val="110000"/>
              </a:lnSpc>
            </a:pPr>
            <a:endParaRPr lang="en-US" dirty="0"/>
          </a:p>
        </p:txBody>
      </p:sp>
    </p:spTree>
    <p:extLst>
      <p:ext uri="{BB962C8B-B14F-4D97-AF65-F5344CB8AC3E}">
        <p14:creationId xmlns:p14="http://schemas.microsoft.com/office/powerpoint/2010/main" val="2277589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D3681-D7C6-E4A6-9CE0-5EB835CCE10D}"/>
              </a:ext>
            </a:extLst>
          </p:cNvPr>
          <p:cNvSpPr>
            <a:spLocks noGrp="1"/>
          </p:cNvSpPr>
          <p:nvPr>
            <p:ph type="title"/>
          </p:nvPr>
        </p:nvSpPr>
        <p:spPr>
          <a:xfrm>
            <a:off x="838200" y="0"/>
            <a:ext cx="10515600" cy="1325563"/>
          </a:xfrm>
        </p:spPr>
        <p:txBody>
          <a:bodyPr/>
          <a:lstStyle/>
          <a:p>
            <a:r>
              <a:rPr lang="en-US" b="1" dirty="0"/>
              <a:t>6.5 Intrusion and Intruders</a:t>
            </a:r>
          </a:p>
        </p:txBody>
      </p:sp>
      <p:sp>
        <p:nvSpPr>
          <p:cNvPr id="3" name="Content Placeholder 2">
            <a:extLst>
              <a:ext uri="{FF2B5EF4-FFF2-40B4-BE49-F238E27FC236}">
                <a16:creationId xmlns:a16="http://schemas.microsoft.com/office/drawing/2014/main" id="{D7E60A81-C33A-4770-65B8-DC23384E03A5}"/>
              </a:ext>
            </a:extLst>
          </p:cNvPr>
          <p:cNvSpPr>
            <a:spLocks noGrp="1"/>
          </p:cNvSpPr>
          <p:nvPr>
            <p:ph idx="1"/>
          </p:nvPr>
        </p:nvSpPr>
        <p:spPr>
          <a:xfrm>
            <a:off x="838200" y="1456509"/>
            <a:ext cx="10515600" cy="4351338"/>
          </a:xfrm>
        </p:spPr>
        <p:txBody>
          <a:bodyPr/>
          <a:lstStyle/>
          <a:p>
            <a:pPr marL="0" indent="0" algn="just">
              <a:buNone/>
            </a:pPr>
            <a:r>
              <a:rPr lang="en-US" b="1" dirty="0"/>
              <a:t>Intrusion</a:t>
            </a:r>
          </a:p>
          <a:p>
            <a:pPr marL="0" indent="0" algn="just">
              <a:buNone/>
            </a:pPr>
            <a:r>
              <a:rPr lang="en-US" dirty="0"/>
              <a:t>- an intrusion refers to any unauthorized or unwanted activity that compromises the confidentiality, integrity, or availability of a computer system, network, or data.</a:t>
            </a:r>
          </a:p>
          <a:p>
            <a:pPr algn="just">
              <a:buFontTx/>
              <a:buChar char="-"/>
            </a:pPr>
            <a:r>
              <a:rPr lang="en-US" dirty="0"/>
              <a:t>It involves an attacker gaining unauthorized access to a protected environment, often with the intent to exploit vulnerabilities, steal information, disrupt operations, or carry out malicious activities.</a:t>
            </a:r>
          </a:p>
          <a:p>
            <a:pPr algn="just">
              <a:buFontTx/>
              <a:buChar char="-"/>
            </a:pPr>
            <a:endParaRPr lang="en-US" dirty="0"/>
          </a:p>
        </p:txBody>
      </p:sp>
    </p:spTree>
    <p:extLst>
      <p:ext uri="{BB962C8B-B14F-4D97-AF65-F5344CB8AC3E}">
        <p14:creationId xmlns:p14="http://schemas.microsoft.com/office/powerpoint/2010/main" val="3328872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EC26C-535F-EFEF-92E9-88AC2B01F207}"/>
              </a:ext>
            </a:extLst>
          </p:cNvPr>
          <p:cNvSpPr>
            <a:spLocks noGrp="1"/>
          </p:cNvSpPr>
          <p:nvPr>
            <p:ph type="title"/>
          </p:nvPr>
        </p:nvSpPr>
        <p:spPr>
          <a:xfrm>
            <a:off x="838200" y="18255"/>
            <a:ext cx="10515600" cy="1325563"/>
          </a:xfrm>
        </p:spPr>
        <p:txBody>
          <a:bodyPr/>
          <a:lstStyle/>
          <a:p>
            <a:r>
              <a:rPr lang="en-US" b="1" dirty="0"/>
              <a:t>Key aspects related to Intrusion</a:t>
            </a:r>
          </a:p>
        </p:txBody>
      </p:sp>
      <p:sp>
        <p:nvSpPr>
          <p:cNvPr id="3" name="Content Placeholder 2">
            <a:extLst>
              <a:ext uri="{FF2B5EF4-FFF2-40B4-BE49-F238E27FC236}">
                <a16:creationId xmlns:a16="http://schemas.microsoft.com/office/drawing/2014/main" id="{2046FDC7-133C-658C-C317-29DEC6ABCE4C}"/>
              </a:ext>
            </a:extLst>
          </p:cNvPr>
          <p:cNvSpPr>
            <a:spLocks noGrp="1"/>
          </p:cNvSpPr>
          <p:nvPr>
            <p:ph idx="1"/>
          </p:nvPr>
        </p:nvSpPr>
        <p:spPr>
          <a:xfrm>
            <a:off x="913701" y="1188062"/>
            <a:ext cx="10515600" cy="4351338"/>
          </a:xfrm>
        </p:spPr>
        <p:txBody>
          <a:bodyPr>
            <a:normAutofit fontScale="92500" lnSpcReduction="10000"/>
          </a:bodyPr>
          <a:lstStyle/>
          <a:p>
            <a:pPr algn="just"/>
            <a:r>
              <a:rPr lang="en-US" b="1" dirty="0"/>
              <a:t>Intrusion Detection</a:t>
            </a:r>
            <a:r>
              <a:rPr lang="en-US" dirty="0"/>
              <a:t>: the process of monitoring system and network 	activities to identify potential intrusions or security breaches. 	Intrusion detection systems (IDS) are deployed to analyze 	network traffic, system logs, and other indicators to detect 	suspicious or malicious activities.</a:t>
            </a:r>
          </a:p>
          <a:p>
            <a:pPr algn="just"/>
            <a:r>
              <a:rPr lang="en-US" b="1" dirty="0"/>
              <a:t>Intrusion Prevention : </a:t>
            </a:r>
            <a:r>
              <a:rPr lang="en-US" dirty="0"/>
              <a:t>network security tool (which can be a hardware device or software) that continuously monitors a network for malicious activity and takes action to prevent it, including reporting, blocking, or dropping it, when it does occur.  </a:t>
            </a:r>
          </a:p>
          <a:p>
            <a:pPr algn="just"/>
            <a:r>
              <a:rPr lang="en-US" b="1" dirty="0"/>
              <a:t>Internal and External Intrusions</a:t>
            </a:r>
          </a:p>
          <a:p>
            <a:pPr algn="just"/>
            <a:r>
              <a:rPr lang="en-US" b="1" dirty="0"/>
              <a:t>Intrusion Techniques </a:t>
            </a:r>
            <a:r>
              <a:rPr lang="en-US" dirty="0"/>
              <a:t>: Exploiting vulnerabilities, Password attacks, 	Network scanning, etc.</a:t>
            </a:r>
          </a:p>
        </p:txBody>
      </p:sp>
    </p:spTree>
    <p:extLst>
      <p:ext uri="{BB962C8B-B14F-4D97-AF65-F5344CB8AC3E}">
        <p14:creationId xmlns:p14="http://schemas.microsoft.com/office/powerpoint/2010/main" val="25500478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F91C3-2C60-AC41-E837-228F3068222C}"/>
              </a:ext>
            </a:extLst>
          </p:cNvPr>
          <p:cNvSpPr>
            <a:spLocks noGrp="1"/>
          </p:cNvSpPr>
          <p:nvPr>
            <p:ph type="title"/>
          </p:nvPr>
        </p:nvSpPr>
        <p:spPr/>
        <p:txBody>
          <a:bodyPr/>
          <a:lstStyle/>
          <a:p>
            <a:r>
              <a:rPr lang="en-US" b="1" dirty="0"/>
              <a:t>Intruders</a:t>
            </a:r>
          </a:p>
        </p:txBody>
      </p:sp>
      <p:sp>
        <p:nvSpPr>
          <p:cNvPr id="3" name="Content Placeholder 2">
            <a:extLst>
              <a:ext uri="{FF2B5EF4-FFF2-40B4-BE49-F238E27FC236}">
                <a16:creationId xmlns:a16="http://schemas.microsoft.com/office/drawing/2014/main" id="{6973C510-C86A-6852-9029-2EF49208FF3F}"/>
              </a:ext>
            </a:extLst>
          </p:cNvPr>
          <p:cNvSpPr>
            <a:spLocks noGrp="1"/>
          </p:cNvSpPr>
          <p:nvPr>
            <p:ph idx="1"/>
          </p:nvPr>
        </p:nvSpPr>
        <p:spPr>
          <a:xfrm>
            <a:off x="838200" y="1690688"/>
            <a:ext cx="10515600" cy="4351338"/>
          </a:xfrm>
        </p:spPr>
        <p:txBody>
          <a:bodyPr/>
          <a:lstStyle/>
          <a:p>
            <a:pPr algn="just"/>
            <a:r>
              <a:rPr lang="en-US" dirty="0"/>
              <a:t>an intruder refers to an individual or entity that gains unauthorized access or attempts to gain unauthorized access to a computer system, network, or data. </a:t>
            </a:r>
          </a:p>
          <a:p>
            <a:pPr algn="just"/>
            <a:r>
              <a:rPr lang="en-US" dirty="0"/>
              <a:t>Intruders are also commonly referred to as attackers or hackers. </a:t>
            </a:r>
          </a:p>
          <a:p>
            <a:pPr algn="just"/>
            <a:r>
              <a:rPr lang="en-US" dirty="0"/>
              <a:t>Their primary objective is to exploit vulnerabilities, steal information, disrupt operations, or carry out malicious activities within the targeted environment.</a:t>
            </a:r>
          </a:p>
        </p:txBody>
      </p:sp>
    </p:spTree>
    <p:extLst>
      <p:ext uri="{BB962C8B-B14F-4D97-AF65-F5344CB8AC3E}">
        <p14:creationId xmlns:p14="http://schemas.microsoft.com/office/powerpoint/2010/main" val="1495789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F9D5-854E-E84C-5BE6-57E96001F0E4}"/>
              </a:ext>
            </a:extLst>
          </p:cNvPr>
          <p:cNvSpPr>
            <a:spLocks noGrp="1"/>
          </p:cNvSpPr>
          <p:nvPr>
            <p:ph type="title"/>
          </p:nvPr>
        </p:nvSpPr>
        <p:spPr/>
        <p:txBody>
          <a:bodyPr/>
          <a:lstStyle/>
          <a:p>
            <a:r>
              <a:rPr lang="en-US" b="1" dirty="0"/>
              <a:t>Key aspects related to Intruders</a:t>
            </a:r>
          </a:p>
        </p:txBody>
      </p:sp>
      <p:sp>
        <p:nvSpPr>
          <p:cNvPr id="3" name="Content Placeholder 2">
            <a:extLst>
              <a:ext uri="{FF2B5EF4-FFF2-40B4-BE49-F238E27FC236}">
                <a16:creationId xmlns:a16="http://schemas.microsoft.com/office/drawing/2014/main" id="{C53A2188-1FF7-0026-59DB-5A6A137E95E4}"/>
              </a:ext>
            </a:extLst>
          </p:cNvPr>
          <p:cNvSpPr>
            <a:spLocks noGrp="1"/>
          </p:cNvSpPr>
          <p:nvPr>
            <p:ph idx="1"/>
          </p:nvPr>
        </p:nvSpPr>
        <p:spPr/>
        <p:txBody>
          <a:bodyPr/>
          <a:lstStyle/>
          <a:p>
            <a:pPr algn="just">
              <a:lnSpc>
                <a:spcPct val="100000"/>
              </a:lnSpc>
            </a:pPr>
            <a:r>
              <a:rPr lang="en-US" b="1" dirty="0"/>
              <a:t>Motivation of Intruders</a:t>
            </a:r>
            <a:r>
              <a:rPr lang="en-US" dirty="0"/>
              <a:t>: Financial Gain, Espionage, Revenge</a:t>
            </a:r>
          </a:p>
          <a:p>
            <a:pPr algn="just">
              <a:lnSpc>
                <a:spcPct val="100000"/>
              </a:lnSpc>
            </a:pPr>
            <a:r>
              <a:rPr lang="en-US" b="1" dirty="0"/>
              <a:t>Intruder Skill levels</a:t>
            </a:r>
            <a:r>
              <a:rPr lang="en-US" dirty="0"/>
              <a:t>: Script Kiddies, Skilled Hackers, Advanced Persistent Threat Groups (APT)</a:t>
            </a:r>
          </a:p>
          <a:p>
            <a:pPr algn="just">
              <a:lnSpc>
                <a:spcPct val="100000"/>
              </a:lnSpc>
            </a:pPr>
            <a:r>
              <a:rPr lang="en-US" b="1" dirty="0"/>
              <a:t>Intrusion Techniques</a:t>
            </a:r>
            <a:r>
              <a:rPr lang="en-US" dirty="0"/>
              <a:t>: Exploiting vulnerabilities, Social Engineering, Phishing, Password attacks, Malware</a:t>
            </a:r>
          </a:p>
        </p:txBody>
      </p:sp>
    </p:spTree>
    <p:extLst>
      <p:ext uri="{BB962C8B-B14F-4D97-AF65-F5344CB8AC3E}">
        <p14:creationId xmlns:p14="http://schemas.microsoft.com/office/powerpoint/2010/main" val="3763180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9759A-6933-E395-7A71-B87A89CCC01C}"/>
              </a:ext>
            </a:extLst>
          </p:cNvPr>
          <p:cNvSpPr>
            <a:spLocks noGrp="1"/>
          </p:cNvSpPr>
          <p:nvPr>
            <p:ph type="title"/>
          </p:nvPr>
        </p:nvSpPr>
        <p:spPr/>
        <p:txBody>
          <a:bodyPr/>
          <a:lstStyle/>
          <a:p>
            <a:r>
              <a:rPr lang="en-US" b="1" dirty="0"/>
              <a:t>6.6 Intrusion Detection System</a:t>
            </a:r>
          </a:p>
        </p:txBody>
      </p:sp>
      <p:sp>
        <p:nvSpPr>
          <p:cNvPr id="3" name="Content Placeholder 2">
            <a:extLst>
              <a:ext uri="{FF2B5EF4-FFF2-40B4-BE49-F238E27FC236}">
                <a16:creationId xmlns:a16="http://schemas.microsoft.com/office/drawing/2014/main" id="{B4255B7D-4D0F-3EA3-0F3D-240FF044A94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7146401-47DC-F699-01B8-BA0F36F5654B}"/>
              </a:ext>
            </a:extLst>
          </p:cNvPr>
          <p:cNvPicPr>
            <a:picLocks noChangeAspect="1"/>
          </p:cNvPicPr>
          <p:nvPr/>
        </p:nvPicPr>
        <p:blipFill>
          <a:blip r:embed="rId2"/>
          <a:stretch>
            <a:fillRect/>
          </a:stretch>
        </p:blipFill>
        <p:spPr>
          <a:xfrm>
            <a:off x="2373076" y="1825625"/>
            <a:ext cx="7445848" cy="3825588"/>
          </a:xfrm>
          <a:prstGeom prst="rect">
            <a:avLst/>
          </a:prstGeom>
        </p:spPr>
      </p:pic>
    </p:spTree>
    <p:extLst>
      <p:ext uri="{BB962C8B-B14F-4D97-AF65-F5344CB8AC3E}">
        <p14:creationId xmlns:p14="http://schemas.microsoft.com/office/powerpoint/2010/main" val="928137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81C52-1E42-8BF6-C08C-5209034B509A}"/>
              </a:ext>
            </a:extLst>
          </p:cNvPr>
          <p:cNvSpPr>
            <a:spLocks noGrp="1"/>
          </p:cNvSpPr>
          <p:nvPr>
            <p:ph type="title"/>
          </p:nvPr>
        </p:nvSpPr>
        <p:spPr/>
        <p:txBody>
          <a:bodyPr/>
          <a:lstStyle/>
          <a:p>
            <a:r>
              <a:rPr lang="en-US" b="1" dirty="0"/>
              <a:t>Intrusion Detection System</a:t>
            </a:r>
          </a:p>
        </p:txBody>
      </p:sp>
      <p:sp>
        <p:nvSpPr>
          <p:cNvPr id="3" name="Content Placeholder 2">
            <a:extLst>
              <a:ext uri="{FF2B5EF4-FFF2-40B4-BE49-F238E27FC236}">
                <a16:creationId xmlns:a16="http://schemas.microsoft.com/office/drawing/2014/main" id="{3C516466-25B2-3004-FFD1-9B17304A6F1E}"/>
              </a:ext>
            </a:extLst>
          </p:cNvPr>
          <p:cNvSpPr>
            <a:spLocks noGrp="1"/>
          </p:cNvSpPr>
          <p:nvPr>
            <p:ph idx="1"/>
          </p:nvPr>
        </p:nvSpPr>
        <p:spPr/>
        <p:txBody>
          <a:bodyPr/>
          <a:lstStyle/>
          <a:p>
            <a:pPr algn="just"/>
            <a:r>
              <a:rPr lang="en-US" dirty="0"/>
              <a:t>An intrusion detection system is a security scheme that purpose is to find malicious activity from false alarms.</a:t>
            </a:r>
          </a:p>
          <a:p>
            <a:pPr algn="just"/>
            <a:r>
              <a:rPr lang="en-US" dirty="0"/>
              <a:t>Certain behaviors of intruders are: Secret Information Leakage, Active Interfering, Data Tampering</a:t>
            </a:r>
          </a:p>
          <a:p>
            <a:pPr algn="just"/>
            <a:endParaRPr lang="en-US" dirty="0"/>
          </a:p>
          <a:p>
            <a:pPr marL="0" indent="0" algn="just">
              <a:buNone/>
            </a:pPr>
            <a:r>
              <a:rPr lang="en-US" b="1" dirty="0"/>
              <a:t>INTRUSION DETECTION CATEGORY </a:t>
            </a:r>
          </a:p>
          <a:p>
            <a:pPr>
              <a:buFont typeface="Arial" panose="020B0604020202020204" pitchFamily="34" charset="0"/>
              <a:buChar char="•"/>
            </a:pPr>
            <a:r>
              <a:rPr lang="en-US" dirty="0"/>
              <a:t>Network Intrusion Detection System (NIDS)</a:t>
            </a:r>
          </a:p>
          <a:p>
            <a:pPr>
              <a:buFont typeface="Arial" panose="020B0604020202020204" pitchFamily="34" charset="0"/>
              <a:buChar char="•"/>
            </a:pPr>
            <a:r>
              <a:rPr lang="en-US" dirty="0"/>
              <a:t>Host Intrusion Detection System (HIDS)</a:t>
            </a:r>
          </a:p>
          <a:p>
            <a:pPr marL="0" indent="0" algn="just">
              <a:buNone/>
            </a:pPr>
            <a:endParaRPr lang="en-US" dirty="0"/>
          </a:p>
        </p:txBody>
      </p:sp>
    </p:spTree>
    <p:extLst>
      <p:ext uri="{BB962C8B-B14F-4D97-AF65-F5344CB8AC3E}">
        <p14:creationId xmlns:p14="http://schemas.microsoft.com/office/powerpoint/2010/main" val="3557182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67261-D4B3-5BF6-CA90-C6413FB87788}"/>
              </a:ext>
            </a:extLst>
          </p:cNvPr>
          <p:cNvSpPr>
            <a:spLocks noGrp="1"/>
          </p:cNvSpPr>
          <p:nvPr>
            <p:ph type="title"/>
          </p:nvPr>
        </p:nvSpPr>
        <p:spPr/>
        <p:txBody>
          <a:bodyPr/>
          <a:lstStyle/>
          <a:p>
            <a:r>
              <a:rPr lang="en-US" b="1" dirty="0"/>
              <a:t>Network Intrusion Detection System (NIDS)</a:t>
            </a:r>
          </a:p>
        </p:txBody>
      </p:sp>
      <p:sp>
        <p:nvSpPr>
          <p:cNvPr id="3" name="Content Placeholder 2">
            <a:extLst>
              <a:ext uri="{FF2B5EF4-FFF2-40B4-BE49-F238E27FC236}">
                <a16:creationId xmlns:a16="http://schemas.microsoft.com/office/drawing/2014/main" id="{3F6F443B-B8D1-16FA-0FE0-82582514BDD3}"/>
              </a:ext>
            </a:extLst>
          </p:cNvPr>
          <p:cNvSpPr>
            <a:spLocks noGrp="1"/>
          </p:cNvSpPr>
          <p:nvPr>
            <p:ph idx="1"/>
          </p:nvPr>
        </p:nvSpPr>
        <p:spPr/>
        <p:txBody>
          <a:bodyPr/>
          <a:lstStyle/>
          <a:p>
            <a:r>
              <a:rPr lang="en-US" dirty="0"/>
              <a:t>NIDS monitors network traffic in real-time, analyzing packets and network protocols to identify potential threats or suspicious activities.</a:t>
            </a:r>
          </a:p>
          <a:p>
            <a:r>
              <a:rPr lang="en-US" dirty="0"/>
              <a:t>NIDS sensors are typically deployed at strategic points within the network infrastructure, such as at the network perimeter or within internal segments, and they analyze traffic passing through those points.</a:t>
            </a:r>
          </a:p>
          <a:p>
            <a:r>
              <a:rPr lang="en-US" dirty="0"/>
              <a:t>NIDS can detect a wide range of network-based attacks, including port scanning, denial-of-service (DoS) attacks, and attempts to exploit known vulnerabilities.</a:t>
            </a:r>
          </a:p>
        </p:txBody>
      </p:sp>
    </p:spTree>
    <p:extLst>
      <p:ext uri="{BB962C8B-B14F-4D97-AF65-F5344CB8AC3E}">
        <p14:creationId xmlns:p14="http://schemas.microsoft.com/office/powerpoint/2010/main" val="3297246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0FD983-F7C7-1576-D063-10A7409B75F3}"/>
              </a:ext>
            </a:extLst>
          </p:cNvPr>
          <p:cNvSpPr>
            <a:spLocks noGrp="1"/>
          </p:cNvSpPr>
          <p:nvPr>
            <p:ph type="title"/>
          </p:nvPr>
        </p:nvSpPr>
        <p:spPr>
          <a:xfrm>
            <a:off x="630936" y="639520"/>
            <a:ext cx="3429000" cy="1719072"/>
          </a:xfrm>
        </p:spPr>
        <p:txBody>
          <a:bodyPr anchor="b">
            <a:normAutofit/>
          </a:bodyPr>
          <a:lstStyle/>
          <a:p>
            <a:r>
              <a:rPr lang="en-US" sz="5400" dirty="0"/>
              <a:t>NIDS</a:t>
            </a:r>
          </a:p>
        </p:txBody>
      </p:sp>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9ECF0E6-4A58-4AE5-FAF2-E54BFA1D51CF}"/>
              </a:ext>
            </a:extLst>
          </p:cNvPr>
          <p:cNvSpPr>
            <a:spLocks noGrp="1"/>
          </p:cNvSpPr>
          <p:nvPr>
            <p:ph idx="1"/>
          </p:nvPr>
        </p:nvSpPr>
        <p:spPr>
          <a:xfrm>
            <a:off x="630936" y="2807208"/>
            <a:ext cx="3429000" cy="3410712"/>
          </a:xfrm>
        </p:spPr>
        <p:txBody>
          <a:bodyPr anchor="t">
            <a:normAutofit/>
          </a:bodyPr>
          <a:lstStyle/>
          <a:p>
            <a:endParaRPr lang="en-US" sz="2200"/>
          </a:p>
        </p:txBody>
      </p:sp>
      <p:pic>
        <p:nvPicPr>
          <p:cNvPr id="5" name="Picture 4">
            <a:extLst>
              <a:ext uri="{FF2B5EF4-FFF2-40B4-BE49-F238E27FC236}">
                <a16:creationId xmlns:a16="http://schemas.microsoft.com/office/drawing/2014/main" id="{A8DA47CB-6681-D965-65E8-63F08A258813}"/>
              </a:ext>
            </a:extLst>
          </p:cNvPr>
          <p:cNvPicPr>
            <a:picLocks noChangeAspect="1"/>
          </p:cNvPicPr>
          <p:nvPr/>
        </p:nvPicPr>
        <p:blipFill>
          <a:blip r:embed="rId2"/>
          <a:stretch>
            <a:fillRect/>
          </a:stretch>
        </p:blipFill>
        <p:spPr>
          <a:xfrm>
            <a:off x="4654296" y="1642663"/>
            <a:ext cx="6903720" cy="3572674"/>
          </a:xfrm>
          <a:prstGeom prst="rect">
            <a:avLst/>
          </a:prstGeom>
        </p:spPr>
      </p:pic>
    </p:spTree>
    <p:extLst>
      <p:ext uri="{BB962C8B-B14F-4D97-AF65-F5344CB8AC3E}">
        <p14:creationId xmlns:p14="http://schemas.microsoft.com/office/powerpoint/2010/main" val="1682133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926D0-953A-D9F2-81C2-B6FC9B9DBF46}"/>
              </a:ext>
            </a:extLst>
          </p:cNvPr>
          <p:cNvSpPr>
            <a:spLocks noGrp="1"/>
          </p:cNvSpPr>
          <p:nvPr>
            <p:ph type="title"/>
          </p:nvPr>
        </p:nvSpPr>
        <p:spPr/>
        <p:txBody>
          <a:bodyPr/>
          <a:lstStyle/>
          <a:p>
            <a:r>
              <a:rPr lang="en-US" b="1" dirty="0"/>
              <a:t>Host Based Intrusion Detection System (HIDS)</a:t>
            </a:r>
          </a:p>
        </p:txBody>
      </p:sp>
      <p:sp>
        <p:nvSpPr>
          <p:cNvPr id="3" name="Content Placeholder 2">
            <a:extLst>
              <a:ext uri="{FF2B5EF4-FFF2-40B4-BE49-F238E27FC236}">
                <a16:creationId xmlns:a16="http://schemas.microsoft.com/office/drawing/2014/main" id="{65F5199C-3F4E-6159-246F-D24C872DCBE5}"/>
              </a:ext>
            </a:extLst>
          </p:cNvPr>
          <p:cNvSpPr>
            <a:spLocks noGrp="1"/>
          </p:cNvSpPr>
          <p:nvPr>
            <p:ph idx="1"/>
          </p:nvPr>
        </p:nvSpPr>
        <p:spPr>
          <a:xfrm>
            <a:off x="838200" y="1690688"/>
            <a:ext cx="10515600" cy="4351338"/>
          </a:xfrm>
        </p:spPr>
        <p:txBody>
          <a:bodyPr/>
          <a:lstStyle/>
          <a:p>
            <a:pPr algn="just"/>
            <a:r>
              <a:rPr lang="en-US" dirty="0"/>
              <a:t>HIDS operates on individual hosts or endpoints, monitoring system logs, file integrity, and other host-level indicators to detect signs of compromise or unauthorized activities.</a:t>
            </a:r>
          </a:p>
          <a:p>
            <a:pPr algn="just"/>
            <a:r>
              <a:rPr lang="en-US" dirty="0"/>
              <a:t>HIDS agents are installed directly on the target hosts and collect relevant data for analysis. </a:t>
            </a:r>
          </a:p>
          <a:p>
            <a:pPr algn="just"/>
            <a:r>
              <a:rPr lang="en-US" dirty="0"/>
              <a:t>HIDS is particularly useful for detecting attacks that originate from within the network or for monitoring critical systems and servers.</a:t>
            </a:r>
          </a:p>
        </p:txBody>
      </p:sp>
    </p:spTree>
    <p:extLst>
      <p:ext uri="{BB962C8B-B14F-4D97-AF65-F5344CB8AC3E}">
        <p14:creationId xmlns:p14="http://schemas.microsoft.com/office/powerpoint/2010/main" val="3702284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33017-FB63-65A5-5301-59B9A405F0D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2F1855-4EE1-3BB3-7463-F89DDFC78A7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86358B0-BF33-2BF9-7BC9-42A4BCFD9B2B}"/>
              </a:ext>
            </a:extLst>
          </p:cNvPr>
          <p:cNvPicPr>
            <a:picLocks noChangeAspect="1"/>
          </p:cNvPicPr>
          <p:nvPr/>
        </p:nvPicPr>
        <p:blipFill>
          <a:blip r:embed="rId2"/>
          <a:stretch>
            <a:fillRect/>
          </a:stretch>
        </p:blipFill>
        <p:spPr>
          <a:xfrm>
            <a:off x="2523747" y="1500285"/>
            <a:ext cx="7144505" cy="3696866"/>
          </a:xfrm>
          <a:prstGeom prst="rect">
            <a:avLst/>
          </a:prstGeom>
        </p:spPr>
      </p:pic>
    </p:spTree>
    <p:extLst>
      <p:ext uri="{BB962C8B-B14F-4D97-AF65-F5344CB8AC3E}">
        <p14:creationId xmlns:p14="http://schemas.microsoft.com/office/powerpoint/2010/main" val="2841210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1F110-5CCB-E771-E1A2-80434227212F}"/>
              </a:ext>
            </a:extLst>
          </p:cNvPr>
          <p:cNvSpPr>
            <a:spLocks noGrp="1"/>
          </p:cNvSpPr>
          <p:nvPr>
            <p:ph type="title"/>
          </p:nvPr>
        </p:nvSpPr>
        <p:spPr/>
        <p:txBody>
          <a:bodyPr/>
          <a:lstStyle/>
          <a:p>
            <a:r>
              <a:rPr lang="en-US" b="1" dirty="0"/>
              <a:t>Intrusion Detection Methods</a:t>
            </a:r>
          </a:p>
        </p:txBody>
      </p:sp>
      <p:sp>
        <p:nvSpPr>
          <p:cNvPr id="3" name="Content Placeholder 2">
            <a:extLst>
              <a:ext uri="{FF2B5EF4-FFF2-40B4-BE49-F238E27FC236}">
                <a16:creationId xmlns:a16="http://schemas.microsoft.com/office/drawing/2014/main" id="{1AAA2CAE-781D-94C2-797E-AF35FAAC22F1}"/>
              </a:ext>
            </a:extLst>
          </p:cNvPr>
          <p:cNvSpPr>
            <a:spLocks noGrp="1"/>
          </p:cNvSpPr>
          <p:nvPr>
            <p:ph idx="1"/>
          </p:nvPr>
        </p:nvSpPr>
        <p:spPr>
          <a:xfrm>
            <a:off x="838200" y="1548788"/>
            <a:ext cx="10515600" cy="4351338"/>
          </a:xfrm>
        </p:spPr>
        <p:txBody>
          <a:bodyPr>
            <a:normAutofit fontScale="92500" lnSpcReduction="10000"/>
          </a:bodyPr>
          <a:lstStyle/>
          <a:p>
            <a:pPr algn="just"/>
            <a:r>
              <a:rPr lang="en-US" dirty="0"/>
              <a:t>Intrusion detection methods are techniques and approaches used to identify and detect potential intrusions or security breaches within computer systems, networks, or applications.</a:t>
            </a:r>
          </a:p>
          <a:p>
            <a:pPr algn="just"/>
            <a:r>
              <a:rPr lang="en-US" dirty="0"/>
              <a:t>These methods employ various mechanisms to monitor system activity, analyze network traffic, and identify patterns or indicators of malicious or unauthorized activities. </a:t>
            </a:r>
          </a:p>
          <a:p>
            <a:pPr algn="just"/>
            <a:r>
              <a:rPr lang="en-US" dirty="0"/>
              <a:t>Some commonly used intrusion detection methods:</a:t>
            </a:r>
          </a:p>
          <a:p>
            <a:pPr marL="0" indent="0" algn="just">
              <a:buNone/>
            </a:pPr>
            <a:r>
              <a:rPr lang="en-US" dirty="0"/>
              <a:t>1) Signature-based Detection</a:t>
            </a:r>
          </a:p>
          <a:p>
            <a:pPr marL="0" indent="0" algn="just">
              <a:buNone/>
            </a:pPr>
            <a:r>
              <a:rPr lang="en-US" dirty="0"/>
              <a:t>2) Anomaly-based Detection</a:t>
            </a:r>
          </a:p>
          <a:p>
            <a:pPr marL="0" indent="0" algn="just">
              <a:buNone/>
            </a:pPr>
            <a:r>
              <a:rPr lang="en-US" dirty="0"/>
              <a:t>3) Heuristic-based Detection</a:t>
            </a:r>
          </a:p>
          <a:p>
            <a:pPr marL="0" indent="0" algn="just">
              <a:buNone/>
            </a:pPr>
            <a:r>
              <a:rPr lang="en-US" dirty="0"/>
              <a:t>4) Statistical-based Detection</a:t>
            </a:r>
          </a:p>
        </p:txBody>
      </p:sp>
    </p:spTree>
    <p:extLst>
      <p:ext uri="{BB962C8B-B14F-4D97-AF65-F5344CB8AC3E}">
        <p14:creationId xmlns:p14="http://schemas.microsoft.com/office/powerpoint/2010/main" val="27825403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AD6B-34CC-FD4B-2ACA-126B76378500}"/>
              </a:ext>
            </a:extLst>
          </p:cNvPr>
          <p:cNvSpPr>
            <a:spLocks noGrp="1"/>
          </p:cNvSpPr>
          <p:nvPr>
            <p:ph type="title"/>
          </p:nvPr>
        </p:nvSpPr>
        <p:spPr>
          <a:xfrm>
            <a:off x="243281" y="365125"/>
            <a:ext cx="11948719" cy="1325563"/>
          </a:xfrm>
        </p:spPr>
        <p:txBody>
          <a:bodyPr>
            <a:normAutofit/>
          </a:bodyPr>
          <a:lstStyle/>
          <a:p>
            <a:r>
              <a:rPr lang="en-US" sz="4000" b="1" dirty="0"/>
              <a:t>6.7 Analysis Approaches : Anomaly based, Signature Based</a:t>
            </a:r>
          </a:p>
        </p:txBody>
      </p:sp>
      <p:sp>
        <p:nvSpPr>
          <p:cNvPr id="3" name="Content Placeholder 2">
            <a:extLst>
              <a:ext uri="{FF2B5EF4-FFF2-40B4-BE49-F238E27FC236}">
                <a16:creationId xmlns:a16="http://schemas.microsoft.com/office/drawing/2014/main" id="{3551ABA6-F442-C13D-C96F-42895C5FD841}"/>
              </a:ext>
            </a:extLst>
          </p:cNvPr>
          <p:cNvSpPr>
            <a:spLocks noGrp="1"/>
          </p:cNvSpPr>
          <p:nvPr>
            <p:ph idx="1"/>
          </p:nvPr>
        </p:nvSpPr>
        <p:spPr>
          <a:xfrm>
            <a:off x="838200" y="1582344"/>
            <a:ext cx="10515600" cy="4351338"/>
          </a:xfrm>
        </p:spPr>
        <p:txBody>
          <a:bodyPr/>
          <a:lstStyle/>
          <a:p>
            <a:pPr marL="0" indent="0" algn="just">
              <a:buNone/>
            </a:pPr>
            <a:r>
              <a:rPr lang="en-US" b="1" dirty="0"/>
              <a:t>Signature Based Intrusion Detection Method</a:t>
            </a:r>
          </a:p>
          <a:p>
            <a:pPr marL="0" indent="0" algn="just">
              <a:buNone/>
            </a:pPr>
            <a:endParaRPr lang="en-US" b="1" dirty="0"/>
          </a:p>
          <a:p>
            <a:pPr algn="just"/>
            <a:r>
              <a:rPr lang="en-US" dirty="0"/>
              <a:t>This method involves comparing observed events or patterns against a database of known attack signatures. </a:t>
            </a:r>
          </a:p>
          <a:p>
            <a:pPr algn="just"/>
            <a:r>
              <a:rPr lang="en-US" dirty="0"/>
              <a:t>Attack signatures are predefined patterns or characteristics associated with specific attacks or malicious activities. When a match is found, an alert is generated. </a:t>
            </a:r>
          </a:p>
          <a:p>
            <a:pPr algn="just"/>
            <a:r>
              <a:rPr lang="en-US" dirty="0"/>
              <a:t>Signature-based detection is effective in identifying known threats but may struggle with detecting unknown or novel attacks.</a:t>
            </a:r>
          </a:p>
        </p:txBody>
      </p:sp>
    </p:spTree>
    <p:extLst>
      <p:ext uri="{BB962C8B-B14F-4D97-AF65-F5344CB8AC3E}">
        <p14:creationId xmlns:p14="http://schemas.microsoft.com/office/powerpoint/2010/main" val="4257202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978E4-EB1A-D816-E9AF-479B4EF90397}"/>
              </a:ext>
            </a:extLst>
          </p:cNvPr>
          <p:cNvSpPr>
            <a:spLocks noGrp="1"/>
          </p:cNvSpPr>
          <p:nvPr>
            <p:ph type="title"/>
          </p:nvPr>
        </p:nvSpPr>
        <p:spPr>
          <a:xfrm>
            <a:off x="838200" y="-381495"/>
            <a:ext cx="10780552" cy="1325563"/>
          </a:xfrm>
        </p:spPr>
        <p:txBody>
          <a:bodyPr/>
          <a:lstStyle/>
          <a:p>
            <a:r>
              <a:rPr lang="en-US" b="1" dirty="0"/>
              <a:t>Overview of analysis process: Signature based</a:t>
            </a:r>
          </a:p>
        </p:txBody>
      </p:sp>
      <p:sp>
        <p:nvSpPr>
          <p:cNvPr id="3" name="Content Placeholder 2">
            <a:extLst>
              <a:ext uri="{FF2B5EF4-FFF2-40B4-BE49-F238E27FC236}">
                <a16:creationId xmlns:a16="http://schemas.microsoft.com/office/drawing/2014/main" id="{81ED1B7B-3CB2-4A98-D87E-BDE69ABDEBAF}"/>
              </a:ext>
            </a:extLst>
          </p:cNvPr>
          <p:cNvSpPr>
            <a:spLocks noGrp="1"/>
          </p:cNvSpPr>
          <p:nvPr>
            <p:ph idx="1"/>
          </p:nvPr>
        </p:nvSpPr>
        <p:spPr>
          <a:xfrm>
            <a:off x="838200" y="536895"/>
            <a:ext cx="10515600" cy="6123963"/>
          </a:xfrm>
        </p:spPr>
        <p:txBody>
          <a:bodyPr>
            <a:normAutofit fontScale="85000" lnSpcReduction="20000"/>
          </a:bodyPr>
          <a:lstStyle/>
          <a:p>
            <a:pPr algn="just"/>
            <a:r>
              <a:rPr lang="en-US" b="1" dirty="0"/>
              <a:t>Signature Database: </a:t>
            </a:r>
            <a:r>
              <a:rPr lang="en-US" dirty="0"/>
              <a:t>The first step is to maintain a comprehensive signature database that contains predefined patterns or characteristics associated with specific attacks or malicious activities. This database is regularly updated to include new signatures as new threats emerge.</a:t>
            </a:r>
          </a:p>
          <a:p>
            <a:pPr algn="just"/>
            <a:r>
              <a:rPr lang="en-US" b="1" dirty="0"/>
              <a:t>Event Collection: </a:t>
            </a:r>
            <a:r>
              <a:rPr lang="en-US" dirty="0"/>
              <a:t>The intrusion detection system (IDS) collects relevant events or data from various sources such as network traffic, system logs, or application logs.</a:t>
            </a:r>
          </a:p>
          <a:p>
            <a:pPr algn="just"/>
            <a:r>
              <a:rPr lang="en-US" b="1" dirty="0"/>
              <a:t>Event Preprocessing: </a:t>
            </a:r>
            <a:r>
              <a:rPr lang="en-US" dirty="0"/>
              <a:t>Before analysis, the collected events undergo preprocessing. This may involve data cleaning, normalization</a:t>
            </a:r>
          </a:p>
          <a:p>
            <a:pPr algn="just"/>
            <a:r>
              <a:rPr lang="en-US" b="1" dirty="0"/>
              <a:t>Signature Matching: </a:t>
            </a:r>
            <a:r>
              <a:rPr lang="en-US" dirty="0"/>
              <a:t>In the analysis phase, each event or data point is compared against the signatures in the database. The IDS looks for exact matches or partial matches between the observed event and the known attack signatures. </a:t>
            </a:r>
          </a:p>
          <a:p>
            <a:pPr algn="just"/>
            <a:r>
              <a:rPr lang="en-US" b="1" dirty="0"/>
              <a:t>Alert Generation: </a:t>
            </a:r>
            <a:r>
              <a:rPr lang="en-US" dirty="0"/>
              <a:t>When a match is found between an observed event and a signature, the IDS generates an alert to notify security personnel or a security operations center (SOC). </a:t>
            </a:r>
          </a:p>
          <a:p>
            <a:pPr algn="just"/>
            <a:r>
              <a:rPr lang="en-US" b="1" dirty="0"/>
              <a:t>Response and Mitigation: </a:t>
            </a:r>
            <a:r>
              <a:rPr lang="en-US" dirty="0"/>
              <a:t>Upon receiving an alert, security personnel can initiate response and mitigation actions. These actions may include blocking network traffic from the source IP address, quarantining or isolating affected systems</a:t>
            </a:r>
          </a:p>
          <a:p>
            <a:pPr algn="just"/>
            <a:r>
              <a:rPr lang="en-US" b="1" dirty="0"/>
              <a:t>Signature Updates: </a:t>
            </a:r>
            <a:r>
              <a:rPr lang="en-US" dirty="0"/>
              <a:t>Signature-based intrusion detection methods require regular updates to the signature database to incorporate new attack patterns or variants. </a:t>
            </a:r>
          </a:p>
        </p:txBody>
      </p:sp>
    </p:spTree>
    <p:extLst>
      <p:ext uri="{BB962C8B-B14F-4D97-AF65-F5344CB8AC3E}">
        <p14:creationId xmlns:p14="http://schemas.microsoft.com/office/powerpoint/2010/main" val="8159248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9DAF4-CF24-0831-868B-5CFFAC3B0B32}"/>
              </a:ext>
            </a:extLst>
          </p:cNvPr>
          <p:cNvSpPr>
            <a:spLocks noGrp="1"/>
          </p:cNvSpPr>
          <p:nvPr>
            <p:ph type="title"/>
          </p:nvPr>
        </p:nvSpPr>
        <p:spPr>
          <a:xfrm>
            <a:off x="838200" y="-87879"/>
            <a:ext cx="10302380" cy="985502"/>
          </a:xfrm>
        </p:spPr>
        <p:txBody>
          <a:bodyPr/>
          <a:lstStyle/>
          <a:p>
            <a:r>
              <a:rPr lang="en-US" b="1" dirty="0"/>
              <a:t>Overview of Analysis: Anomaly Based</a:t>
            </a:r>
          </a:p>
        </p:txBody>
      </p:sp>
      <p:sp>
        <p:nvSpPr>
          <p:cNvPr id="3" name="Content Placeholder 2">
            <a:extLst>
              <a:ext uri="{FF2B5EF4-FFF2-40B4-BE49-F238E27FC236}">
                <a16:creationId xmlns:a16="http://schemas.microsoft.com/office/drawing/2014/main" id="{E1BB1C24-302E-2996-9FD4-848602F6143E}"/>
              </a:ext>
            </a:extLst>
          </p:cNvPr>
          <p:cNvSpPr>
            <a:spLocks noGrp="1"/>
          </p:cNvSpPr>
          <p:nvPr>
            <p:ph idx="1"/>
          </p:nvPr>
        </p:nvSpPr>
        <p:spPr>
          <a:xfrm>
            <a:off x="896923" y="709888"/>
            <a:ext cx="10515600" cy="6148111"/>
          </a:xfrm>
        </p:spPr>
        <p:txBody>
          <a:bodyPr/>
          <a:lstStyle/>
          <a:p>
            <a:pPr marL="0" indent="0" algn="just">
              <a:buNone/>
            </a:pPr>
            <a:r>
              <a:rPr lang="en-US" b="1" dirty="0"/>
              <a:t>Anomaly Based Intrusion Detection </a:t>
            </a:r>
          </a:p>
          <a:p>
            <a:pPr marL="0" indent="0" algn="just">
              <a:buNone/>
            </a:pPr>
            <a:endParaRPr lang="en-US" b="1" dirty="0"/>
          </a:p>
          <a:p>
            <a:pPr algn="just"/>
            <a:r>
              <a:rPr lang="en-US" dirty="0"/>
              <a:t>Anomaly-based intrusion detection methods are particularly useful for detecting unknown or novel attacks, as they focus on identifying deviations from expected behavior rather than relying on known attack signatures. </a:t>
            </a:r>
            <a:endParaRPr lang="en-US" b="1" dirty="0"/>
          </a:p>
          <a:p>
            <a:pPr algn="just"/>
            <a:r>
              <a:rPr lang="en-US" dirty="0"/>
              <a:t>they may also generate false positives due to legitimate variations in behavior or incomplete knowledge of normal behavior. To improve accuracy, anomaly-based methods are often combined with other intrusion detection approaches, such as signature-based detection or behavior-based analysis.</a:t>
            </a:r>
            <a:endParaRPr lang="en-US" b="1" dirty="0"/>
          </a:p>
        </p:txBody>
      </p:sp>
    </p:spTree>
    <p:extLst>
      <p:ext uri="{BB962C8B-B14F-4D97-AF65-F5344CB8AC3E}">
        <p14:creationId xmlns:p14="http://schemas.microsoft.com/office/powerpoint/2010/main" val="1196742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06C63-59E7-0010-86B0-5699B6778385}"/>
              </a:ext>
            </a:extLst>
          </p:cNvPr>
          <p:cNvSpPr>
            <a:spLocks noGrp="1"/>
          </p:cNvSpPr>
          <p:nvPr>
            <p:ph type="title"/>
          </p:nvPr>
        </p:nvSpPr>
        <p:spPr>
          <a:xfrm>
            <a:off x="838200" y="0"/>
            <a:ext cx="10515600" cy="1325563"/>
          </a:xfrm>
        </p:spPr>
        <p:txBody>
          <a:bodyPr/>
          <a:lstStyle/>
          <a:p>
            <a:r>
              <a:rPr lang="en-US" b="1" dirty="0"/>
              <a:t>Overview of analysis process: Anomaly based</a:t>
            </a:r>
          </a:p>
        </p:txBody>
      </p:sp>
      <p:sp>
        <p:nvSpPr>
          <p:cNvPr id="3" name="Content Placeholder 2">
            <a:extLst>
              <a:ext uri="{FF2B5EF4-FFF2-40B4-BE49-F238E27FC236}">
                <a16:creationId xmlns:a16="http://schemas.microsoft.com/office/drawing/2014/main" id="{9CD08959-FB08-5441-79DB-4EC27F634AA7}"/>
              </a:ext>
            </a:extLst>
          </p:cNvPr>
          <p:cNvSpPr>
            <a:spLocks noGrp="1"/>
          </p:cNvSpPr>
          <p:nvPr>
            <p:ph idx="1"/>
          </p:nvPr>
        </p:nvSpPr>
        <p:spPr>
          <a:xfrm>
            <a:off x="651753" y="1079004"/>
            <a:ext cx="10836271" cy="5243975"/>
          </a:xfrm>
        </p:spPr>
        <p:txBody>
          <a:bodyPr>
            <a:normAutofit fontScale="85000" lnSpcReduction="20000"/>
          </a:bodyPr>
          <a:lstStyle/>
          <a:p>
            <a:pPr marL="514350" indent="-514350" algn="just">
              <a:buAutoNum type="arabicParenR"/>
            </a:pPr>
            <a:r>
              <a:rPr lang="en-US" b="1" dirty="0"/>
              <a:t>Baseline Generation: </a:t>
            </a:r>
            <a:r>
              <a:rPr lang="en-US" dirty="0"/>
              <a:t> This involves collecting and analyzing historical data or real-time observations of system or network activity during normal operation. The baseline captures patterns, statistics, and metrics etc. of system or network.</a:t>
            </a:r>
            <a:endParaRPr lang="en-US" b="1" dirty="0"/>
          </a:p>
          <a:p>
            <a:pPr marL="514350" indent="-514350" algn="just">
              <a:buAutoNum type="arabicParenR"/>
            </a:pPr>
            <a:r>
              <a:rPr lang="en-US" b="1" dirty="0"/>
              <a:t>Event Collection: </a:t>
            </a:r>
            <a:r>
              <a:rPr lang="en-US" dirty="0"/>
              <a:t>collects relevant events or data from various sources, such as network traffic, system logs, or application logs. </a:t>
            </a:r>
            <a:endParaRPr lang="en-US" b="1" dirty="0"/>
          </a:p>
          <a:p>
            <a:pPr marL="514350" indent="-514350" algn="just">
              <a:buAutoNum type="arabicParenR"/>
            </a:pPr>
            <a:r>
              <a:rPr lang="en-US" b="1" dirty="0"/>
              <a:t>Feature Extraction: </a:t>
            </a:r>
            <a:r>
              <a:rPr lang="en-US" dirty="0"/>
              <a:t>extract relevant features or attributes that capture the characteristics of the observed behavior. </a:t>
            </a:r>
            <a:endParaRPr lang="en-US" b="1" dirty="0"/>
          </a:p>
          <a:p>
            <a:pPr marL="514350" indent="-514350" algn="just">
              <a:buAutoNum type="arabicParenR"/>
            </a:pPr>
            <a:r>
              <a:rPr lang="en-US" b="1" dirty="0"/>
              <a:t>Profile Creation: </a:t>
            </a:r>
            <a:r>
              <a:rPr lang="en-US" dirty="0"/>
              <a:t>Using the extracted features, a profile or model representing normal behavior is created. This can be done using various statistical or machine learning techniques, such as clustering, regression, or time-series analysis. </a:t>
            </a:r>
            <a:endParaRPr lang="en-US" b="1" dirty="0"/>
          </a:p>
          <a:p>
            <a:pPr marL="514350" indent="-514350" algn="just">
              <a:buAutoNum type="arabicParenR"/>
            </a:pPr>
            <a:r>
              <a:rPr lang="en-US" b="1" dirty="0"/>
              <a:t>Anomaly Detection: </a:t>
            </a:r>
            <a:r>
              <a:rPr lang="en-US" dirty="0"/>
              <a:t>During the analysis phase, the IDS compares the observed behavior against the established profile or model of normal behavior. </a:t>
            </a:r>
            <a:endParaRPr lang="en-US" b="1" dirty="0"/>
          </a:p>
          <a:p>
            <a:pPr marL="514350" indent="-514350" algn="just">
              <a:buAutoNum type="arabicParenR"/>
            </a:pPr>
            <a:r>
              <a:rPr lang="en-US" b="1" dirty="0"/>
              <a:t>Alert Generation</a:t>
            </a:r>
          </a:p>
          <a:p>
            <a:pPr marL="514350" indent="-514350" algn="just">
              <a:buAutoNum type="arabicParenR"/>
            </a:pPr>
            <a:r>
              <a:rPr lang="en-US" b="1" dirty="0"/>
              <a:t>Response and Mitigation</a:t>
            </a:r>
          </a:p>
          <a:p>
            <a:pPr marL="0" indent="0" algn="just">
              <a:buNone/>
            </a:pPr>
            <a:r>
              <a:rPr lang="en-US" b="1" dirty="0"/>
              <a:t>8)    Continuous Learning and Adaptation</a:t>
            </a:r>
          </a:p>
        </p:txBody>
      </p:sp>
    </p:spTree>
    <p:extLst>
      <p:ext uri="{BB962C8B-B14F-4D97-AF65-F5344CB8AC3E}">
        <p14:creationId xmlns:p14="http://schemas.microsoft.com/office/powerpoint/2010/main" val="33852911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6A0AB-807E-5CA6-B1E4-1510515E548E}"/>
              </a:ext>
            </a:extLst>
          </p:cNvPr>
          <p:cNvSpPr>
            <a:spLocks noGrp="1"/>
          </p:cNvSpPr>
          <p:nvPr>
            <p:ph type="title"/>
          </p:nvPr>
        </p:nvSpPr>
        <p:spPr/>
        <p:txBody>
          <a:bodyPr/>
          <a:lstStyle/>
          <a:p>
            <a:r>
              <a:rPr lang="en-US" b="1" dirty="0"/>
              <a:t>6.8 Honey Pots</a:t>
            </a:r>
          </a:p>
        </p:txBody>
      </p:sp>
      <p:sp>
        <p:nvSpPr>
          <p:cNvPr id="3" name="Content Placeholder 2">
            <a:extLst>
              <a:ext uri="{FF2B5EF4-FFF2-40B4-BE49-F238E27FC236}">
                <a16:creationId xmlns:a16="http://schemas.microsoft.com/office/drawing/2014/main" id="{8008FAAB-A90F-E01D-6305-868A80FCE6ED}"/>
              </a:ext>
            </a:extLst>
          </p:cNvPr>
          <p:cNvSpPr>
            <a:spLocks noGrp="1"/>
          </p:cNvSpPr>
          <p:nvPr>
            <p:ph idx="1"/>
          </p:nvPr>
        </p:nvSpPr>
        <p:spPr/>
        <p:txBody>
          <a:bodyPr/>
          <a:lstStyle/>
          <a:p>
            <a:pPr algn="just">
              <a:lnSpc>
                <a:spcPct val="100000"/>
              </a:lnSpc>
            </a:pPr>
            <a:r>
              <a:rPr lang="en-US" dirty="0"/>
              <a:t>Honeypot refers to a deliberately vulnerable system or network component that is created to attract and deceive potential attackers. </a:t>
            </a:r>
          </a:p>
          <a:p>
            <a:pPr algn="just">
              <a:lnSpc>
                <a:spcPct val="100000"/>
              </a:lnSpc>
            </a:pPr>
            <a:r>
              <a:rPr lang="en-US" dirty="0"/>
              <a:t>The purpose of a honeypot is to distract and divert attackers away from critical systems, gather information about their tactics and techniques, and analyze their behavior.</a:t>
            </a:r>
          </a:p>
          <a:p>
            <a:pPr algn="just">
              <a:lnSpc>
                <a:spcPct val="100000"/>
              </a:lnSpc>
            </a:pPr>
            <a:r>
              <a:rPr lang="en-US" dirty="0"/>
              <a:t>By studying the activities of attackers within a honeypot, security professionals can gain valuable insights into emerging threats, enhance their defenses, and develop countermeasures. </a:t>
            </a:r>
          </a:p>
        </p:txBody>
      </p:sp>
    </p:spTree>
    <p:extLst>
      <p:ext uri="{BB962C8B-B14F-4D97-AF65-F5344CB8AC3E}">
        <p14:creationId xmlns:p14="http://schemas.microsoft.com/office/powerpoint/2010/main" val="24016887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BA4B-E43C-F438-D571-B60870F686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5963-36A1-9056-8174-30624378412D}"/>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2F74B16-E7FD-20B9-2227-4E8AFB7C6904}"/>
              </a:ext>
            </a:extLst>
          </p:cNvPr>
          <p:cNvPicPr>
            <a:picLocks noChangeAspect="1"/>
          </p:cNvPicPr>
          <p:nvPr/>
        </p:nvPicPr>
        <p:blipFill>
          <a:blip r:embed="rId2"/>
          <a:stretch>
            <a:fillRect/>
          </a:stretch>
        </p:blipFill>
        <p:spPr>
          <a:xfrm>
            <a:off x="2350537" y="1237699"/>
            <a:ext cx="7096796" cy="4136475"/>
          </a:xfrm>
          <a:prstGeom prst="rect">
            <a:avLst/>
          </a:prstGeom>
        </p:spPr>
      </p:pic>
    </p:spTree>
    <p:extLst>
      <p:ext uri="{BB962C8B-B14F-4D97-AF65-F5344CB8AC3E}">
        <p14:creationId xmlns:p14="http://schemas.microsoft.com/office/powerpoint/2010/main" val="3383672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29AB-AFA2-FC36-6BD7-A142FDF766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3AF40E-857A-45AB-8D28-C54E27887EE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B3E056C-5F54-1EC2-B312-B35A150AB5A6}"/>
              </a:ext>
            </a:extLst>
          </p:cNvPr>
          <p:cNvPicPr>
            <a:picLocks noChangeAspect="1"/>
          </p:cNvPicPr>
          <p:nvPr/>
        </p:nvPicPr>
        <p:blipFill>
          <a:blip r:embed="rId2"/>
          <a:stretch>
            <a:fillRect/>
          </a:stretch>
        </p:blipFill>
        <p:spPr>
          <a:xfrm>
            <a:off x="2259042" y="1493633"/>
            <a:ext cx="7662324" cy="3796824"/>
          </a:xfrm>
          <a:prstGeom prst="rect">
            <a:avLst/>
          </a:prstGeom>
        </p:spPr>
      </p:pic>
    </p:spTree>
    <p:extLst>
      <p:ext uri="{BB962C8B-B14F-4D97-AF65-F5344CB8AC3E}">
        <p14:creationId xmlns:p14="http://schemas.microsoft.com/office/powerpoint/2010/main" val="10389985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E74F7-DC09-C097-E6C4-B6E8F641EB1F}"/>
              </a:ext>
            </a:extLst>
          </p:cNvPr>
          <p:cNvSpPr>
            <a:spLocks noGrp="1"/>
          </p:cNvSpPr>
          <p:nvPr>
            <p:ph type="title"/>
          </p:nvPr>
        </p:nvSpPr>
        <p:spPr/>
        <p:txBody>
          <a:bodyPr/>
          <a:lstStyle/>
          <a:p>
            <a:r>
              <a:rPr lang="en-US" b="1" dirty="0"/>
              <a:t>Types of Honey Pots</a:t>
            </a:r>
          </a:p>
        </p:txBody>
      </p:sp>
      <p:sp>
        <p:nvSpPr>
          <p:cNvPr id="3" name="Content Placeholder 2">
            <a:extLst>
              <a:ext uri="{FF2B5EF4-FFF2-40B4-BE49-F238E27FC236}">
                <a16:creationId xmlns:a16="http://schemas.microsoft.com/office/drawing/2014/main" id="{3F24F9C0-1C5E-2F63-FF09-081A1B920765}"/>
              </a:ext>
            </a:extLst>
          </p:cNvPr>
          <p:cNvSpPr>
            <a:spLocks noGrp="1"/>
          </p:cNvSpPr>
          <p:nvPr>
            <p:ph idx="1"/>
          </p:nvPr>
        </p:nvSpPr>
        <p:spPr/>
        <p:txBody>
          <a:bodyPr/>
          <a:lstStyle/>
          <a:p>
            <a:pPr>
              <a:lnSpc>
                <a:spcPct val="100000"/>
              </a:lnSpc>
            </a:pPr>
            <a:r>
              <a:rPr lang="en-US" b="1" dirty="0"/>
              <a:t>Production Honeypots</a:t>
            </a:r>
            <a:r>
              <a:rPr lang="en-US" dirty="0"/>
              <a:t>: These are real systems or components that are intentionally made vulnerable and added to the production environment. They help in detecting and diverting attacks targeting the organization's actual infrastructure.</a:t>
            </a:r>
          </a:p>
          <a:p>
            <a:pPr>
              <a:lnSpc>
                <a:spcPct val="100000"/>
              </a:lnSpc>
            </a:pPr>
            <a:r>
              <a:rPr lang="en-US" b="1" dirty="0"/>
              <a:t>Research Honeypots</a:t>
            </a:r>
            <a:r>
              <a:rPr lang="en-US" dirty="0"/>
              <a:t>: These honeypots are specifically designed for research purposes. They are often set up by security researchers or organizations to gather data on new attack techniques, collect malware samples, or analyze attacker behavior.</a:t>
            </a:r>
          </a:p>
        </p:txBody>
      </p:sp>
    </p:spTree>
    <p:extLst>
      <p:ext uri="{BB962C8B-B14F-4D97-AF65-F5344CB8AC3E}">
        <p14:creationId xmlns:p14="http://schemas.microsoft.com/office/powerpoint/2010/main" val="868244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08969-D147-89DC-48B8-5A5503D9B6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E01F9C-7BCB-A360-B341-6BD22706FE8C}"/>
              </a:ext>
            </a:extLst>
          </p:cNvPr>
          <p:cNvSpPr>
            <a:spLocks noGrp="1"/>
          </p:cNvSpPr>
          <p:nvPr>
            <p:ph idx="1"/>
          </p:nvPr>
        </p:nvSpPr>
        <p:spPr/>
        <p:txBody>
          <a:bodyPr>
            <a:normAutofit fontScale="92500"/>
          </a:bodyPr>
          <a:lstStyle/>
          <a:p>
            <a:pPr algn="just">
              <a:lnSpc>
                <a:spcPct val="110000"/>
              </a:lnSpc>
            </a:pPr>
            <a:r>
              <a:rPr lang="en-US" b="1" dirty="0"/>
              <a:t>High-Interaction Honeypots</a:t>
            </a:r>
            <a:r>
              <a:rPr lang="en-US" dirty="0"/>
              <a:t>: these honeypots simulate complete systems and provide extensive interaction with attackers. They offer a wide range of services and mimic the behavior of real systems, increasing the chances of attracting and capturing sophisticated attackers.</a:t>
            </a:r>
          </a:p>
          <a:p>
            <a:pPr algn="just">
              <a:lnSpc>
                <a:spcPct val="110000"/>
              </a:lnSpc>
            </a:pPr>
            <a:r>
              <a:rPr lang="en-US" b="1" dirty="0"/>
              <a:t>Low-Interaction Honeypots</a:t>
            </a:r>
            <a:r>
              <a:rPr lang="en-US" dirty="0"/>
              <a:t>: These honeypots emulate only a limited set of services or protocols. They are easier to deploy and maintain but offer less interaction with attackers. Low-interaction honeypots are commonly used for early detection and basic analysis of common attacks.</a:t>
            </a:r>
          </a:p>
          <a:p>
            <a:pPr marL="0" indent="0" algn="just">
              <a:lnSpc>
                <a:spcPct val="110000"/>
              </a:lnSpc>
              <a:buNone/>
            </a:pPr>
            <a:endParaRPr lang="en-US" dirty="0"/>
          </a:p>
        </p:txBody>
      </p:sp>
    </p:spTree>
    <p:extLst>
      <p:ext uri="{BB962C8B-B14F-4D97-AF65-F5344CB8AC3E}">
        <p14:creationId xmlns:p14="http://schemas.microsoft.com/office/powerpoint/2010/main" val="6898913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8001C-5625-958A-F396-05FC4E4FD100}"/>
              </a:ext>
            </a:extLst>
          </p:cNvPr>
          <p:cNvSpPr>
            <a:spLocks noGrp="1"/>
          </p:cNvSpPr>
          <p:nvPr>
            <p:ph type="title"/>
          </p:nvPr>
        </p:nvSpPr>
        <p:spPr/>
        <p:txBody>
          <a:bodyPr/>
          <a:lstStyle/>
          <a:p>
            <a:r>
              <a:rPr lang="en-US" b="1" dirty="0"/>
              <a:t>Why Honeypots?</a:t>
            </a:r>
          </a:p>
        </p:txBody>
      </p:sp>
      <p:sp>
        <p:nvSpPr>
          <p:cNvPr id="3" name="Content Placeholder 2">
            <a:extLst>
              <a:ext uri="{FF2B5EF4-FFF2-40B4-BE49-F238E27FC236}">
                <a16:creationId xmlns:a16="http://schemas.microsoft.com/office/drawing/2014/main" id="{0EFC6F94-0A4C-0EBC-6E10-F43BAEE11094}"/>
              </a:ext>
            </a:extLst>
          </p:cNvPr>
          <p:cNvSpPr>
            <a:spLocks noGrp="1"/>
          </p:cNvSpPr>
          <p:nvPr>
            <p:ph idx="1"/>
          </p:nvPr>
        </p:nvSpPr>
        <p:spPr/>
        <p:txBody>
          <a:bodyPr/>
          <a:lstStyle/>
          <a:p>
            <a:pPr marL="0" indent="0">
              <a:buNone/>
            </a:pPr>
            <a:r>
              <a:rPr lang="en-US" dirty="0"/>
              <a:t>Honeypots are used in system security to detect, deflect, and study hacking attempts by mimicking vulnerable computer systems.</a:t>
            </a:r>
          </a:p>
          <a:p>
            <a:r>
              <a:rPr lang="en-US" b="1" i="1" dirty="0"/>
              <a:t>Detection and Early Warning</a:t>
            </a:r>
          </a:p>
          <a:p>
            <a:r>
              <a:rPr lang="en-US" b="1" i="1" dirty="0"/>
              <a:t>Analysis of Attacks</a:t>
            </a:r>
          </a:p>
          <a:p>
            <a:r>
              <a:rPr lang="en-US" b="1" i="1" dirty="0"/>
              <a:t>Deception and Diversion</a:t>
            </a:r>
          </a:p>
          <a:p>
            <a:r>
              <a:rPr lang="en-US" b="1" i="1" dirty="0"/>
              <a:t>Improving Defenses</a:t>
            </a:r>
          </a:p>
          <a:p>
            <a:r>
              <a:rPr lang="en-US" b="1" i="1" dirty="0"/>
              <a:t>Research and Education</a:t>
            </a:r>
          </a:p>
          <a:p>
            <a:r>
              <a:rPr lang="en-US" b="1" i="1" dirty="0"/>
              <a:t>Forensic Evidence</a:t>
            </a:r>
          </a:p>
        </p:txBody>
      </p:sp>
    </p:spTree>
    <p:extLst>
      <p:ext uri="{BB962C8B-B14F-4D97-AF65-F5344CB8AC3E}">
        <p14:creationId xmlns:p14="http://schemas.microsoft.com/office/powerpoint/2010/main" val="15219981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C9D00-E916-DED2-E938-0294A8005979}"/>
              </a:ext>
            </a:extLst>
          </p:cNvPr>
          <p:cNvSpPr>
            <a:spLocks noGrp="1"/>
          </p:cNvSpPr>
          <p:nvPr>
            <p:ph type="title"/>
          </p:nvPr>
        </p:nvSpPr>
        <p:spPr/>
        <p:txBody>
          <a:bodyPr/>
          <a:lstStyle/>
          <a:p>
            <a:r>
              <a:rPr lang="en-US" b="1" dirty="0"/>
              <a:t>Assignment</a:t>
            </a:r>
          </a:p>
        </p:txBody>
      </p:sp>
      <p:sp>
        <p:nvSpPr>
          <p:cNvPr id="3" name="Content Placeholder 2">
            <a:extLst>
              <a:ext uri="{FF2B5EF4-FFF2-40B4-BE49-F238E27FC236}">
                <a16:creationId xmlns:a16="http://schemas.microsoft.com/office/drawing/2014/main" id="{20EBDF26-856E-ED83-7676-FABD3600E802}"/>
              </a:ext>
            </a:extLst>
          </p:cNvPr>
          <p:cNvSpPr>
            <a:spLocks noGrp="1"/>
          </p:cNvSpPr>
          <p:nvPr>
            <p:ph idx="1"/>
          </p:nvPr>
        </p:nvSpPr>
        <p:spPr/>
        <p:txBody>
          <a:bodyPr/>
          <a:lstStyle/>
          <a:p>
            <a:r>
              <a:rPr lang="en-US" dirty="0"/>
              <a:t>Define honeypots and it’s types to be employed.</a:t>
            </a:r>
          </a:p>
          <a:p>
            <a:r>
              <a:rPr lang="en-US" dirty="0"/>
              <a:t>Explain about virus and it’s classification.</a:t>
            </a:r>
          </a:p>
          <a:p>
            <a:r>
              <a:rPr lang="en-US" dirty="0"/>
              <a:t>What is Intrusion detection system? Explain about </a:t>
            </a:r>
            <a:r>
              <a:rPr lang="en-US"/>
              <a:t>it’s detection methods.</a:t>
            </a:r>
            <a:endParaRPr lang="en-US" dirty="0"/>
          </a:p>
          <a:p>
            <a:endParaRPr lang="en-US" dirty="0"/>
          </a:p>
        </p:txBody>
      </p:sp>
    </p:spTree>
    <p:extLst>
      <p:ext uri="{BB962C8B-B14F-4D97-AF65-F5344CB8AC3E}">
        <p14:creationId xmlns:p14="http://schemas.microsoft.com/office/powerpoint/2010/main" val="672889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643</TotalTime>
  <Words>2759</Words>
  <Application>Microsoft Office PowerPoint</Application>
  <PresentationFormat>Widescreen</PresentationFormat>
  <Paragraphs>178</Paragraphs>
  <Slides>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Calibri Light</vt:lpstr>
      <vt:lpstr>Office Theme</vt:lpstr>
      <vt:lpstr>Chapter 6 : Malicious Software and Intrusion</vt:lpstr>
      <vt:lpstr>PowerPoint Presentation</vt:lpstr>
      <vt:lpstr>Famous Computer Viruses</vt:lpstr>
      <vt:lpstr>6.1 Malicious Software</vt:lpstr>
      <vt:lpstr>Common types of Malware</vt:lpstr>
      <vt:lpstr>Common types of malware</vt:lpstr>
      <vt:lpstr>6.2 Virus and its phases, Virus Classification </vt:lpstr>
      <vt:lpstr>The life cycle of a computer virus  </vt:lpstr>
      <vt:lpstr>PowerPoint Presentation</vt:lpstr>
      <vt:lpstr>Virus Classification</vt:lpstr>
      <vt:lpstr>Virus Classification</vt:lpstr>
      <vt:lpstr>6.3 Worm, Worm Propagation, State of Worm Technology </vt:lpstr>
      <vt:lpstr>Worm propagation Model</vt:lpstr>
      <vt:lpstr>Some common methods of Worm Propagation model</vt:lpstr>
      <vt:lpstr>Some common methods of Worm Propagation Model</vt:lpstr>
      <vt:lpstr>State of Worm Technology</vt:lpstr>
      <vt:lpstr>6.4 Trojan Horse</vt:lpstr>
      <vt:lpstr>Types of Trojans</vt:lpstr>
      <vt:lpstr>Some common types and functionalities of Trojans:</vt:lpstr>
      <vt:lpstr>Security practices to protect against Trojan</vt:lpstr>
      <vt:lpstr>6.5 Intrusion and Intruders</vt:lpstr>
      <vt:lpstr>Key aspects related to Intrusion</vt:lpstr>
      <vt:lpstr>Intruders</vt:lpstr>
      <vt:lpstr>Key aspects related to Intruders</vt:lpstr>
      <vt:lpstr>6.6 Intrusion Detection System</vt:lpstr>
      <vt:lpstr>Intrusion Detection System</vt:lpstr>
      <vt:lpstr>Network Intrusion Detection System (NIDS)</vt:lpstr>
      <vt:lpstr>NIDS</vt:lpstr>
      <vt:lpstr>Host Based Intrusion Detection System (HIDS)</vt:lpstr>
      <vt:lpstr>PowerPoint Presentation</vt:lpstr>
      <vt:lpstr>Intrusion Detection Methods</vt:lpstr>
      <vt:lpstr>6.7 Analysis Approaches : Anomaly based, Signature Based</vt:lpstr>
      <vt:lpstr>Overview of analysis process: Signature based</vt:lpstr>
      <vt:lpstr>Overview of Analysis: Anomaly Based</vt:lpstr>
      <vt:lpstr>Overview of analysis process: Anomaly based</vt:lpstr>
      <vt:lpstr>6.8 Honey Pots</vt:lpstr>
      <vt:lpstr>PowerPoint Presentation</vt:lpstr>
      <vt:lpstr>PowerPoint Presentation</vt:lpstr>
      <vt:lpstr>Types of Honey Pots</vt:lpstr>
      <vt:lpstr>PowerPoint Presentation</vt:lpstr>
      <vt:lpstr>Why Honeypots?</vt:lpstr>
      <vt:lpstr>Assignment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Govinda Gautam</dc:creator>
  <cp:lastModifiedBy>PC</cp:lastModifiedBy>
  <cp:revision>74</cp:revision>
  <dcterms:created xsi:type="dcterms:W3CDTF">2023-05-14T07:30:21Z</dcterms:created>
  <dcterms:modified xsi:type="dcterms:W3CDTF">2024-07-07T01:19:58Z</dcterms:modified>
</cp:coreProperties>
</file>