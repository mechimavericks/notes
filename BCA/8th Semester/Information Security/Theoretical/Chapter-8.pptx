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72" r:id="rId4"/>
    <p:sldId id="276" r:id="rId5"/>
    <p:sldId id="277" r:id="rId6"/>
    <p:sldId id="278" r:id="rId7"/>
    <p:sldId id="279" r:id="rId8"/>
    <p:sldId id="273" r:id="rId9"/>
    <p:sldId id="274" r:id="rId10"/>
    <p:sldId id="263" r:id="rId11"/>
    <p:sldId id="264" r:id="rId12"/>
    <p:sldId id="265" r:id="rId13"/>
    <p:sldId id="266" r:id="rId14"/>
    <p:sldId id="267" r:id="rId15"/>
    <p:sldId id="268" r:id="rId16"/>
    <p:sldId id="260" r:id="rId17"/>
    <p:sldId id="269" r:id="rId18"/>
    <p:sldId id="270" r:id="rId19"/>
    <p:sldId id="261" r:id="rId20"/>
    <p:sldId id="271"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8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189E1-A336-E727-9C48-B3BFA546BE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87DADB-B841-49EE-1CE8-A77668CB9E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23F21F-8653-204C-2E27-E397FAD25F04}"/>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5" name="Footer Placeholder 4">
            <a:extLst>
              <a:ext uri="{FF2B5EF4-FFF2-40B4-BE49-F238E27FC236}">
                <a16:creationId xmlns:a16="http://schemas.microsoft.com/office/drawing/2014/main" id="{56D55FD5-4BD1-B7EA-CA06-AC2AA4B4C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830FB-3A7F-C81A-70E5-BA687B344341}"/>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154195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835E4-DA05-6E45-A63D-A51DA65FC1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70D02C-C5DD-CEC7-FD90-88CEF1809D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B482BB-3191-FF65-8544-DBD54F90BD64}"/>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5" name="Footer Placeholder 4">
            <a:extLst>
              <a:ext uri="{FF2B5EF4-FFF2-40B4-BE49-F238E27FC236}">
                <a16:creationId xmlns:a16="http://schemas.microsoft.com/office/drawing/2014/main" id="{2FAF1517-25BC-C364-25F8-9601ECF42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5D0947-865D-F076-0F6C-B4CE9A73CCF0}"/>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31929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42AD-126E-9142-616F-C40F302900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A4231A-7A46-0B70-7EA9-83EA384478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3207F6-E551-64FF-5516-C6830AEE28ED}"/>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5" name="Footer Placeholder 4">
            <a:extLst>
              <a:ext uri="{FF2B5EF4-FFF2-40B4-BE49-F238E27FC236}">
                <a16:creationId xmlns:a16="http://schemas.microsoft.com/office/drawing/2014/main" id="{B750939D-3877-88EF-73D7-CB9BF1D3D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47AD4A-8D27-DD4F-347B-F7B349CA2D76}"/>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241785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A11E-6240-9982-DE82-2DF778A194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8FBD7F-E633-FE0C-341C-249CA433D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4B59A0-6430-9E37-6C6A-409D347E7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095023-D519-C20C-6053-11D31A6A86BB}"/>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6" name="Footer Placeholder 5">
            <a:extLst>
              <a:ext uri="{FF2B5EF4-FFF2-40B4-BE49-F238E27FC236}">
                <a16:creationId xmlns:a16="http://schemas.microsoft.com/office/drawing/2014/main" id="{B7A34C0C-7A1B-B85F-5AE4-B9B77BC89C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0D14C3-00E4-CDD1-0746-F9FB64F91440}"/>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1724871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B79FB-1B72-B3D4-BE87-21C2BE84D6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7BDBB1-A4E2-D874-F63F-8C62CBDEE6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EF1056-E4A4-7388-2E34-D3254E9C66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BC50D5-0831-37D2-DF3A-70CAF66D58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18CCFB-F952-6C8E-4701-2B7D440839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EDFCD2-113E-CCAE-3D48-7E4FA4995C7F}"/>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8" name="Footer Placeholder 7">
            <a:extLst>
              <a:ext uri="{FF2B5EF4-FFF2-40B4-BE49-F238E27FC236}">
                <a16:creationId xmlns:a16="http://schemas.microsoft.com/office/drawing/2014/main" id="{AD795147-CD46-7A8A-B01D-81992D538E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88E6A1-BD3E-2A3D-B3F4-CD2EE292E906}"/>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2759427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2E511-76F3-9D07-0266-8ACC8E97F6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E8E3FC-6DE4-0901-56C8-154FB803248D}"/>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4" name="Footer Placeholder 3">
            <a:extLst>
              <a:ext uri="{FF2B5EF4-FFF2-40B4-BE49-F238E27FC236}">
                <a16:creationId xmlns:a16="http://schemas.microsoft.com/office/drawing/2014/main" id="{93941EE0-5B9F-1BC8-1A27-20AF8F452C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610394-3D4F-2194-9A83-DDF1E0F95F36}"/>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1957420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FE9CBF-5880-389C-7517-C2C4BD5B910A}"/>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3" name="Footer Placeholder 2">
            <a:extLst>
              <a:ext uri="{FF2B5EF4-FFF2-40B4-BE49-F238E27FC236}">
                <a16:creationId xmlns:a16="http://schemas.microsoft.com/office/drawing/2014/main" id="{0A675E52-26AA-6D0E-3E1D-DFBA0946C1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50F444-A6DA-F3F4-B17F-D2A14E400E5F}"/>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1846246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DE99-EABA-A14F-A31D-046263DF97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70A445-08C6-2E48-8F9D-C6714E988C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6AEBBD-436B-E19B-F01A-3E27CE9C14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339F2-D355-8B13-7DE9-315EA6CE1FE0}"/>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6" name="Footer Placeholder 5">
            <a:extLst>
              <a:ext uri="{FF2B5EF4-FFF2-40B4-BE49-F238E27FC236}">
                <a16:creationId xmlns:a16="http://schemas.microsoft.com/office/drawing/2014/main" id="{8983F17F-6155-FC8A-89B6-997F89B8D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1ABC52-E86C-A655-833F-FF259EE16F8E}"/>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2001364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F798-4277-27F0-8E15-FB6105375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B3002A-70E9-7DFC-356D-1F817FF53F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13C7F9-05C8-43B8-2D69-AFAA85530F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ED71F1-A590-5DC5-B58A-48DC2C921952}"/>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6" name="Footer Placeholder 5">
            <a:extLst>
              <a:ext uri="{FF2B5EF4-FFF2-40B4-BE49-F238E27FC236}">
                <a16:creationId xmlns:a16="http://schemas.microsoft.com/office/drawing/2014/main" id="{BCB3998C-0263-6705-330A-E1C5B5C721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42C6F0-163C-F146-A4FF-425E0ADAF3C8}"/>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812108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2E849-F391-DB97-856B-63612B67C4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022E50-60C8-E3C2-02DB-7EF3CEDE59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9C661A-3CC7-0276-B44A-5AD7BE68FEE5}"/>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5" name="Footer Placeholder 4">
            <a:extLst>
              <a:ext uri="{FF2B5EF4-FFF2-40B4-BE49-F238E27FC236}">
                <a16:creationId xmlns:a16="http://schemas.microsoft.com/office/drawing/2014/main" id="{5D893251-97A3-8645-8100-43EEA632D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E63B9-2C85-0251-7AAD-7C4263534239}"/>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426591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C5CA1C-C2DA-9243-A938-20A41636A3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6612F7-A85B-CFC7-662C-5D7D6B1971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A169D8-368D-BA3A-7CE4-CA33B8FD70BB}"/>
              </a:ext>
            </a:extLst>
          </p:cNvPr>
          <p:cNvSpPr>
            <a:spLocks noGrp="1"/>
          </p:cNvSpPr>
          <p:nvPr>
            <p:ph type="dt" sz="half" idx="10"/>
          </p:nvPr>
        </p:nvSpPr>
        <p:spPr/>
        <p:txBody>
          <a:bodyPr/>
          <a:lstStyle/>
          <a:p>
            <a:fld id="{66E93711-6577-456E-B297-BBBD4085808D}" type="datetimeFigureOut">
              <a:rPr lang="en-US" smtClean="0"/>
              <a:t>7/12/2024</a:t>
            </a:fld>
            <a:endParaRPr lang="en-US"/>
          </a:p>
        </p:txBody>
      </p:sp>
      <p:sp>
        <p:nvSpPr>
          <p:cNvPr id="5" name="Footer Placeholder 4">
            <a:extLst>
              <a:ext uri="{FF2B5EF4-FFF2-40B4-BE49-F238E27FC236}">
                <a16:creationId xmlns:a16="http://schemas.microsoft.com/office/drawing/2014/main" id="{940E2C0B-00CF-876C-2B9A-421F21B63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702CFA-4AA1-8E01-031F-DCC126662518}"/>
              </a:ext>
            </a:extLst>
          </p:cNvPr>
          <p:cNvSpPr>
            <a:spLocks noGrp="1"/>
          </p:cNvSpPr>
          <p:nvPr>
            <p:ph type="sldNum" sz="quarter" idx="12"/>
          </p:nvPr>
        </p:nvSpPr>
        <p:spPr/>
        <p:txBody>
          <a:bodyPr/>
          <a:lstStyle/>
          <a:p>
            <a:fld id="{8141B93D-0FA0-4A34-A60D-3F964CEC687D}" type="slidenum">
              <a:rPr lang="en-US" smtClean="0"/>
              <a:t>‹#›</a:t>
            </a:fld>
            <a:endParaRPr lang="en-US"/>
          </a:p>
        </p:txBody>
      </p:sp>
    </p:spTree>
    <p:extLst>
      <p:ext uri="{BB962C8B-B14F-4D97-AF65-F5344CB8AC3E}">
        <p14:creationId xmlns:p14="http://schemas.microsoft.com/office/powerpoint/2010/main" val="340927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DD06FB-E72C-8761-C7E4-248E3A2000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0A8248-736F-E100-5E9C-D59A67E073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185D5-2D15-EFDB-9EE1-FD244E97C9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E93711-6577-456E-B297-BBBD4085808D}" type="datetimeFigureOut">
              <a:rPr lang="en-US" smtClean="0"/>
              <a:t>7/12/2024</a:t>
            </a:fld>
            <a:endParaRPr lang="en-US"/>
          </a:p>
        </p:txBody>
      </p:sp>
      <p:sp>
        <p:nvSpPr>
          <p:cNvPr id="5" name="Footer Placeholder 4">
            <a:extLst>
              <a:ext uri="{FF2B5EF4-FFF2-40B4-BE49-F238E27FC236}">
                <a16:creationId xmlns:a16="http://schemas.microsoft.com/office/drawing/2014/main" id="{1FDB858E-33DC-E9C6-CE40-F3C45123F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F88D3B-30F0-B47C-4FE3-128FF4571B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1B93D-0FA0-4A34-A60D-3F964CEC687D}" type="slidenum">
              <a:rPr lang="en-US" smtClean="0"/>
              <a:t>‹#›</a:t>
            </a:fld>
            <a:endParaRPr lang="en-US"/>
          </a:p>
        </p:txBody>
      </p:sp>
    </p:spTree>
    <p:extLst>
      <p:ext uri="{BB962C8B-B14F-4D97-AF65-F5344CB8AC3E}">
        <p14:creationId xmlns:p14="http://schemas.microsoft.com/office/powerpoint/2010/main" val="3436583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9C3AB-8374-6310-A572-17FE5EE65C82}"/>
              </a:ext>
            </a:extLst>
          </p:cNvPr>
          <p:cNvSpPr>
            <a:spLocks noGrp="1"/>
          </p:cNvSpPr>
          <p:nvPr>
            <p:ph type="ctrTitle"/>
          </p:nvPr>
        </p:nvSpPr>
        <p:spPr/>
        <p:txBody>
          <a:bodyPr/>
          <a:lstStyle/>
          <a:p>
            <a:r>
              <a:rPr lang="en-US" b="1" dirty="0"/>
              <a:t>Chapter 8 :</a:t>
            </a:r>
            <a:br>
              <a:rPr lang="en-US" b="1" dirty="0"/>
            </a:br>
            <a:r>
              <a:rPr lang="en-US" b="1" dirty="0"/>
              <a:t>Security Auditing</a:t>
            </a:r>
          </a:p>
        </p:txBody>
      </p:sp>
      <p:sp>
        <p:nvSpPr>
          <p:cNvPr id="3" name="Subtitle 2">
            <a:extLst>
              <a:ext uri="{FF2B5EF4-FFF2-40B4-BE49-F238E27FC236}">
                <a16:creationId xmlns:a16="http://schemas.microsoft.com/office/drawing/2014/main" id="{7D7F9C2C-AB53-8B3D-313D-08F55EA84D09}"/>
              </a:ext>
            </a:extLst>
          </p:cNvPr>
          <p:cNvSpPr>
            <a:spLocks noGrp="1"/>
          </p:cNvSpPr>
          <p:nvPr>
            <p:ph type="subTitle" idx="1"/>
          </p:nvPr>
        </p:nvSpPr>
        <p:spPr/>
        <p:txBody>
          <a:bodyPr/>
          <a:lstStyle/>
          <a:p>
            <a:endParaRPr lang="en-US" dirty="0"/>
          </a:p>
        </p:txBody>
      </p:sp>
      <p:pic>
        <p:nvPicPr>
          <p:cNvPr id="5" name="Picture 4">
            <a:extLst>
              <a:ext uri="{FF2B5EF4-FFF2-40B4-BE49-F238E27FC236}">
                <a16:creationId xmlns:a16="http://schemas.microsoft.com/office/drawing/2014/main" id="{82944A71-6DBA-E9F5-4E46-8D0895B9855A}"/>
              </a:ext>
            </a:extLst>
          </p:cNvPr>
          <p:cNvPicPr>
            <a:picLocks noChangeAspect="1"/>
          </p:cNvPicPr>
          <p:nvPr/>
        </p:nvPicPr>
        <p:blipFill>
          <a:blip r:embed="rId2"/>
          <a:stretch>
            <a:fillRect/>
          </a:stretch>
        </p:blipFill>
        <p:spPr>
          <a:xfrm>
            <a:off x="1971845" y="3509963"/>
            <a:ext cx="7657347" cy="1760310"/>
          </a:xfrm>
          <a:prstGeom prst="rect">
            <a:avLst/>
          </a:prstGeom>
        </p:spPr>
      </p:pic>
    </p:spTree>
    <p:extLst>
      <p:ext uri="{BB962C8B-B14F-4D97-AF65-F5344CB8AC3E}">
        <p14:creationId xmlns:p14="http://schemas.microsoft.com/office/powerpoint/2010/main" val="4258388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EF253D0-4B0B-2AF9-D8A1-65010084BAB7}"/>
              </a:ext>
            </a:extLst>
          </p:cNvPr>
          <p:cNvPicPr>
            <a:picLocks noGrp="1" noChangeAspect="1"/>
          </p:cNvPicPr>
          <p:nvPr>
            <p:ph idx="1"/>
          </p:nvPr>
        </p:nvPicPr>
        <p:blipFill>
          <a:blip r:embed="rId2"/>
          <a:stretch>
            <a:fillRect/>
          </a:stretch>
        </p:blipFill>
        <p:spPr>
          <a:xfrm>
            <a:off x="643467" y="1397931"/>
            <a:ext cx="10905066" cy="4062136"/>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732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31B4B-DB6B-7383-39BA-52C965F06BE2}"/>
              </a:ext>
            </a:extLst>
          </p:cNvPr>
          <p:cNvSpPr>
            <a:spLocks noGrp="1"/>
          </p:cNvSpPr>
          <p:nvPr>
            <p:ph type="title"/>
          </p:nvPr>
        </p:nvSpPr>
        <p:spPr/>
        <p:txBody>
          <a:bodyPr/>
          <a:lstStyle/>
          <a:p>
            <a:r>
              <a:rPr lang="en-US" b="1" dirty="0"/>
              <a:t>Common IT Security Audit Standards</a:t>
            </a:r>
          </a:p>
        </p:txBody>
      </p:sp>
      <p:sp>
        <p:nvSpPr>
          <p:cNvPr id="3" name="Content Placeholder 2">
            <a:extLst>
              <a:ext uri="{FF2B5EF4-FFF2-40B4-BE49-F238E27FC236}">
                <a16:creationId xmlns:a16="http://schemas.microsoft.com/office/drawing/2014/main" id="{0A9BE743-6892-21D6-84D1-70B3EF74D2A6}"/>
              </a:ext>
            </a:extLst>
          </p:cNvPr>
          <p:cNvSpPr>
            <a:spLocks noGrp="1"/>
          </p:cNvSpPr>
          <p:nvPr>
            <p:ph idx="1"/>
          </p:nvPr>
        </p:nvSpPr>
        <p:spPr/>
        <p:txBody>
          <a:bodyPr/>
          <a:lstStyle/>
          <a:p>
            <a:r>
              <a:rPr lang="en-US" dirty="0"/>
              <a:t>ISO Compliance</a:t>
            </a:r>
          </a:p>
          <a:p>
            <a:r>
              <a:rPr lang="en-US" dirty="0"/>
              <a:t>HIPAA Security Rule</a:t>
            </a:r>
          </a:p>
          <a:p>
            <a:r>
              <a:rPr lang="en-US" dirty="0"/>
              <a:t>PCI DSS Compliance</a:t>
            </a:r>
          </a:p>
          <a:p>
            <a:r>
              <a:rPr lang="en-US" dirty="0"/>
              <a:t>SOX Compliance</a:t>
            </a:r>
          </a:p>
        </p:txBody>
      </p:sp>
    </p:spTree>
    <p:extLst>
      <p:ext uri="{BB962C8B-B14F-4D97-AF65-F5344CB8AC3E}">
        <p14:creationId xmlns:p14="http://schemas.microsoft.com/office/powerpoint/2010/main" val="3393897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10D67-7788-8ED6-6C41-96768927BA8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8ACAF12-A3BD-6466-33CD-CF27187E3FEF}"/>
              </a:ext>
            </a:extLst>
          </p:cNvPr>
          <p:cNvSpPr>
            <a:spLocks noGrp="1"/>
          </p:cNvSpPr>
          <p:nvPr>
            <p:ph idx="1"/>
          </p:nvPr>
        </p:nvSpPr>
        <p:spPr/>
        <p:txBody>
          <a:bodyPr/>
          <a:lstStyle/>
          <a:p>
            <a:pPr marL="0" indent="0">
              <a:buNone/>
            </a:pPr>
            <a:r>
              <a:rPr lang="en-US" b="1" dirty="0"/>
              <a:t>ISO Compliance</a:t>
            </a:r>
            <a:r>
              <a:rPr lang="en-US" dirty="0"/>
              <a:t>:</a:t>
            </a:r>
          </a:p>
          <a:p>
            <a:pPr>
              <a:buFont typeface="Arial" panose="020B0604020202020204" pitchFamily="34" charset="0"/>
              <a:buChar char="•"/>
            </a:pPr>
            <a:r>
              <a:rPr lang="en-US" b="1" dirty="0"/>
              <a:t>ISO</a:t>
            </a:r>
            <a:r>
              <a:rPr lang="en-US" dirty="0"/>
              <a:t> (International Organization for Standardization) compliance refers to adherence to standards set by ISO, which covers a wide range of industries and processes.</a:t>
            </a:r>
          </a:p>
          <a:p>
            <a:pPr>
              <a:buFont typeface="Arial" panose="020B0604020202020204" pitchFamily="34" charset="0"/>
              <a:buChar char="•"/>
            </a:pPr>
            <a:r>
              <a:rPr lang="en-US" dirty="0"/>
              <a:t>One of the most well-known standards is </a:t>
            </a:r>
            <a:r>
              <a:rPr lang="en-US" b="1" dirty="0"/>
              <a:t>ISO 27001</a:t>
            </a:r>
            <a:r>
              <a:rPr lang="en-US" dirty="0"/>
              <a:t>, which specifies requirements for establishing, implementing, maintaining, and continually improving an information security management system (ISMS).</a:t>
            </a:r>
          </a:p>
          <a:p>
            <a:endParaRPr lang="en-US" dirty="0"/>
          </a:p>
        </p:txBody>
      </p:sp>
    </p:spTree>
    <p:extLst>
      <p:ext uri="{BB962C8B-B14F-4D97-AF65-F5344CB8AC3E}">
        <p14:creationId xmlns:p14="http://schemas.microsoft.com/office/powerpoint/2010/main" val="879421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64B14-6A5D-3D0D-07D8-28AB3E9FC6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17A897-A11C-C2B1-98AA-A0B339B4B84A}"/>
              </a:ext>
            </a:extLst>
          </p:cNvPr>
          <p:cNvSpPr>
            <a:spLocks noGrp="1"/>
          </p:cNvSpPr>
          <p:nvPr>
            <p:ph idx="1"/>
          </p:nvPr>
        </p:nvSpPr>
        <p:spPr/>
        <p:txBody>
          <a:bodyPr/>
          <a:lstStyle/>
          <a:p>
            <a:pPr marL="0" indent="0">
              <a:buNone/>
            </a:pPr>
            <a:r>
              <a:rPr lang="en-US" b="1" dirty="0"/>
              <a:t>HIPAA Security Rule</a:t>
            </a:r>
            <a:r>
              <a:rPr lang="en-US" dirty="0"/>
              <a:t>:</a:t>
            </a:r>
          </a:p>
          <a:p>
            <a:pPr>
              <a:buFont typeface="Arial" panose="020B0604020202020204" pitchFamily="34" charset="0"/>
              <a:buChar char="•"/>
            </a:pPr>
            <a:r>
              <a:rPr lang="en-US" b="1" dirty="0"/>
              <a:t>HIPAA</a:t>
            </a:r>
            <a:r>
              <a:rPr lang="en-US" dirty="0"/>
              <a:t> (Health Insurance Portability and Accountability Act) is a U.S. law designed to provide privacy standards to protect patients' medical records and other health information.</a:t>
            </a:r>
          </a:p>
          <a:p>
            <a:pPr>
              <a:buFont typeface="Arial" panose="020B0604020202020204" pitchFamily="34" charset="0"/>
              <a:buChar char="•"/>
            </a:pPr>
            <a:r>
              <a:rPr lang="en-US" dirty="0"/>
              <a:t>The </a:t>
            </a:r>
            <a:r>
              <a:rPr lang="en-US" b="1" dirty="0"/>
              <a:t>HIPAA Security Rule</a:t>
            </a:r>
            <a:r>
              <a:rPr lang="en-US" dirty="0"/>
              <a:t> specifically focuses on protecting electronic personal health information (e-PHI) that is created, received, used, or maintained by a covered entity. It requires appropriate administrative, physical, and technical safeguards to ensure the confidentiality, integrity, and security of e-PHI.</a:t>
            </a:r>
          </a:p>
          <a:p>
            <a:endParaRPr lang="en-US" dirty="0"/>
          </a:p>
        </p:txBody>
      </p:sp>
    </p:spTree>
    <p:extLst>
      <p:ext uri="{BB962C8B-B14F-4D97-AF65-F5344CB8AC3E}">
        <p14:creationId xmlns:p14="http://schemas.microsoft.com/office/powerpoint/2010/main" val="3896397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F320-F3B6-97EB-3378-8DF7240294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877DE4-B4B0-E821-9857-93C5DFAF47AE}"/>
              </a:ext>
            </a:extLst>
          </p:cNvPr>
          <p:cNvSpPr>
            <a:spLocks noGrp="1"/>
          </p:cNvSpPr>
          <p:nvPr>
            <p:ph idx="1"/>
          </p:nvPr>
        </p:nvSpPr>
        <p:spPr/>
        <p:txBody>
          <a:bodyPr/>
          <a:lstStyle/>
          <a:p>
            <a:pPr marL="0" indent="0">
              <a:buNone/>
            </a:pPr>
            <a:r>
              <a:rPr lang="en-US" b="1" dirty="0"/>
              <a:t>PCI DSS Compliance</a:t>
            </a:r>
            <a:r>
              <a:rPr lang="en-US" dirty="0"/>
              <a:t>:</a:t>
            </a:r>
          </a:p>
          <a:p>
            <a:pPr>
              <a:buFont typeface="Arial" panose="020B0604020202020204" pitchFamily="34" charset="0"/>
              <a:buChar char="•"/>
            </a:pPr>
            <a:r>
              <a:rPr lang="en-US" b="1" dirty="0"/>
              <a:t>PCI DSS</a:t>
            </a:r>
            <a:r>
              <a:rPr lang="en-US" dirty="0"/>
              <a:t> (Payment Card Industry Data Security Standard) is a set of security standards designed to ensure that all companies that accept, process, store, or transmit credit card information maintain a secure environment.</a:t>
            </a:r>
          </a:p>
          <a:p>
            <a:pPr>
              <a:buFont typeface="Arial" panose="020B0604020202020204" pitchFamily="34" charset="0"/>
              <a:buChar char="•"/>
            </a:pPr>
            <a:r>
              <a:rPr lang="en-US" dirty="0"/>
              <a:t>It is a requirement for any organization that handles cardholder data, and it covers various aspects of security, including network security, access control, and monitoring and testing of networks.</a:t>
            </a:r>
          </a:p>
          <a:p>
            <a:endParaRPr lang="en-US" dirty="0"/>
          </a:p>
        </p:txBody>
      </p:sp>
    </p:spTree>
    <p:extLst>
      <p:ext uri="{BB962C8B-B14F-4D97-AF65-F5344CB8AC3E}">
        <p14:creationId xmlns:p14="http://schemas.microsoft.com/office/powerpoint/2010/main" val="3119535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B1AB-0FEB-E666-01A6-64FE655938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BCE29A-E474-3A2F-5169-70BA9A433435}"/>
              </a:ext>
            </a:extLst>
          </p:cNvPr>
          <p:cNvSpPr>
            <a:spLocks noGrp="1"/>
          </p:cNvSpPr>
          <p:nvPr>
            <p:ph idx="1"/>
          </p:nvPr>
        </p:nvSpPr>
        <p:spPr/>
        <p:txBody>
          <a:bodyPr/>
          <a:lstStyle/>
          <a:p>
            <a:pPr marL="0" indent="0">
              <a:buNone/>
            </a:pPr>
            <a:r>
              <a:rPr lang="en-US" b="1" dirty="0"/>
              <a:t>SOX Compliance</a:t>
            </a:r>
            <a:r>
              <a:rPr lang="en-US" dirty="0"/>
              <a:t>:</a:t>
            </a:r>
          </a:p>
          <a:p>
            <a:pPr>
              <a:buFont typeface="Arial" panose="020B0604020202020204" pitchFamily="34" charset="0"/>
              <a:buChar char="•"/>
            </a:pPr>
            <a:r>
              <a:rPr lang="en-US" b="1" dirty="0"/>
              <a:t>SOX</a:t>
            </a:r>
            <a:r>
              <a:rPr lang="en-US" dirty="0"/>
              <a:t> (Sarbanes-Oxley Act) is a U.S. law enacted in 2002 to protect investors from fraudulent financial reporting by corporations.</a:t>
            </a:r>
          </a:p>
          <a:p>
            <a:pPr>
              <a:buFont typeface="Arial" panose="020B0604020202020204" pitchFamily="34" charset="0"/>
              <a:buChar char="•"/>
            </a:pPr>
            <a:r>
              <a:rPr lang="en-US" dirty="0"/>
              <a:t>SOX compliance involves strict requirements for financial reporting and internal controls, including the accuracy of corporate disclosures and the prevention of accounting fraud.</a:t>
            </a:r>
          </a:p>
          <a:p>
            <a:endParaRPr lang="en-US" dirty="0"/>
          </a:p>
        </p:txBody>
      </p:sp>
    </p:spTree>
    <p:extLst>
      <p:ext uri="{BB962C8B-B14F-4D97-AF65-F5344CB8AC3E}">
        <p14:creationId xmlns:p14="http://schemas.microsoft.com/office/powerpoint/2010/main" val="3564127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F684-6199-AE80-C9CC-3AFB61F797EC}"/>
              </a:ext>
            </a:extLst>
          </p:cNvPr>
          <p:cNvSpPr>
            <a:spLocks noGrp="1"/>
          </p:cNvSpPr>
          <p:nvPr>
            <p:ph type="title"/>
          </p:nvPr>
        </p:nvSpPr>
        <p:spPr/>
        <p:txBody>
          <a:bodyPr/>
          <a:lstStyle/>
          <a:p>
            <a:r>
              <a:rPr lang="en-US" b="1" dirty="0"/>
              <a:t>Security Audit Best Practices</a:t>
            </a:r>
          </a:p>
        </p:txBody>
      </p:sp>
      <p:sp>
        <p:nvSpPr>
          <p:cNvPr id="3" name="Content Placeholder 2">
            <a:extLst>
              <a:ext uri="{FF2B5EF4-FFF2-40B4-BE49-F238E27FC236}">
                <a16:creationId xmlns:a16="http://schemas.microsoft.com/office/drawing/2014/main" id="{84352B6C-1616-7028-4D31-3A02AB5569EA}"/>
              </a:ext>
            </a:extLst>
          </p:cNvPr>
          <p:cNvSpPr>
            <a:spLocks noGrp="1"/>
          </p:cNvSpPr>
          <p:nvPr>
            <p:ph idx="1"/>
          </p:nvPr>
        </p:nvSpPr>
        <p:spPr/>
        <p:txBody>
          <a:bodyPr/>
          <a:lstStyle/>
          <a:p>
            <a:r>
              <a:rPr lang="en-US" dirty="0"/>
              <a:t>Get Back to Basic</a:t>
            </a:r>
          </a:p>
          <a:p>
            <a:r>
              <a:rPr lang="en-US" dirty="0"/>
              <a:t>Practice Preparedness</a:t>
            </a:r>
          </a:p>
          <a:p>
            <a:r>
              <a:rPr lang="en-US" dirty="0"/>
              <a:t>Make it a team effort</a:t>
            </a:r>
          </a:p>
        </p:txBody>
      </p:sp>
    </p:spTree>
    <p:extLst>
      <p:ext uri="{BB962C8B-B14F-4D97-AF65-F5344CB8AC3E}">
        <p14:creationId xmlns:p14="http://schemas.microsoft.com/office/powerpoint/2010/main" val="1171046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5"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pic>
        <p:nvPicPr>
          <p:cNvPr id="5" name="Content Placeholder 4" descr="A picture containing text, screenshot, diagram, font&#10;&#10;Description automatically generated">
            <a:extLst>
              <a:ext uri="{FF2B5EF4-FFF2-40B4-BE49-F238E27FC236}">
                <a16:creationId xmlns:a16="http://schemas.microsoft.com/office/drawing/2014/main" id="{609B7BFA-88ED-D283-C312-5A2B9592F50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 b="159"/>
          <a:stretch/>
        </p:blipFill>
        <p:spPr>
          <a:xfrm>
            <a:off x="643130" y="598259"/>
            <a:ext cx="10889442" cy="5680742"/>
          </a:xfrm>
          <a:prstGeom prst="rect">
            <a:avLst/>
          </a:prstGeom>
        </p:spPr>
      </p:pic>
    </p:spTree>
    <p:extLst>
      <p:ext uri="{BB962C8B-B14F-4D97-AF65-F5344CB8AC3E}">
        <p14:creationId xmlns:p14="http://schemas.microsoft.com/office/powerpoint/2010/main" val="1965973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A20B3D9-84B3-7068-E078-894E506285F4}"/>
              </a:ext>
            </a:extLst>
          </p:cNvPr>
          <p:cNvPicPr>
            <a:picLocks noGrp="1" noChangeAspect="1"/>
          </p:cNvPicPr>
          <p:nvPr>
            <p:ph idx="1"/>
          </p:nvPr>
        </p:nvPicPr>
        <p:blipFill>
          <a:blip r:embed="rId2"/>
          <a:stretch>
            <a:fillRect/>
          </a:stretch>
        </p:blipFill>
        <p:spPr>
          <a:xfrm>
            <a:off x="1670670" y="643467"/>
            <a:ext cx="9523188"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7153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B2F7975-374B-3E24-58D5-95904A9726A5}"/>
              </a:ext>
            </a:extLst>
          </p:cNvPr>
          <p:cNvPicPr>
            <a:picLocks noGrp="1" noChangeAspect="1"/>
          </p:cNvPicPr>
          <p:nvPr>
            <p:ph idx="1"/>
          </p:nvPr>
        </p:nvPicPr>
        <p:blipFill>
          <a:blip r:embed="rId2"/>
          <a:stretch>
            <a:fillRect/>
          </a:stretch>
        </p:blipFill>
        <p:spPr>
          <a:xfrm>
            <a:off x="643467" y="689102"/>
            <a:ext cx="10905066" cy="5479794"/>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87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7AA3CAA-B7BB-089B-FFF3-01323D891003}"/>
              </a:ext>
            </a:extLst>
          </p:cNvPr>
          <p:cNvPicPr>
            <a:picLocks noGrp="1" noChangeAspect="1"/>
          </p:cNvPicPr>
          <p:nvPr>
            <p:ph idx="1"/>
          </p:nvPr>
        </p:nvPicPr>
        <p:blipFill>
          <a:blip r:embed="rId2"/>
          <a:stretch>
            <a:fillRect/>
          </a:stretch>
        </p:blipFill>
        <p:spPr>
          <a:xfrm>
            <a:off x="643467" y="689102"/>
            <a:ext cx="10905066" cy="5479794"/>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1788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E81640D-9D33-3CCC-AC40-1F9F2642C1A9}"/>
              </a:ext>
            </a:extLst>
          </p:cNvPr>
          <p:cNvPicPr>
            <a:picLocks noGrp="1" noChangeAspect="1"/>
          </p:cNvPicPr>
          <p:nvPr>
            <p:ph idx="1"/>
          </p:nvPr>
        </p:nvPicPr>
        <p:blipFill>
          <a:blip r:embed="rId2"/>
          <a:stretch>
            <a:fillRect/>
          </a:stretch>
        </p:blipFill>
        <p:spPr>
          <a:xfrm>
            <a:off x="1548192" y="643467"/>
            <a:ext cx="9095615"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076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D28F8A4-47CD-1FF8-ADC6-39E914C4EDF9}"/>
              </a:ext>
            </a:extLst>
          </p:cNvPr>
          <p:cNvPicPr>
            <a:picLocks noGrp="1" noChangeAspect="1"/>
          </p:cNvPicPr>
          <p:nvPr>
            <p:ph idx="1"/>
          </p:nvPr>
        </p:nvPicPr>
        <p:blipFill>
          <a:blip r:embed="rId2"/>
          <a:stretch>
            <a:fillRect/>
          </a:stretch>
        </p:blipFill>
        <p:spPr>
          <a:xfrm>
            <a:off x="643467" y="729996"/>
            <a:ext cx="10905066" cy="5398006"/>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7514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C8A4AB8-DB38-5584-CB05-996996609B32}"/>
              </a:ext>
            </a:extLst>
          </p:cNvPr>
          <p:cNvPicPr>
            <a:picLocks noGrp="1" noChangeAspect="1"/>
          </p:cNvPicPr>
          <p:nvPr>
            <p:ph idx="1"/>
          </p:nvPr>
        </p:nvPicPr>
        <p:blipFill>
          <a:blip r:embed="rId2"/>
          <a:stretch>
            <a:fillRect/>
          </a:stretch>
        </p:blipFill>
        <p:spPr>
          <a:xfrm>
            <a:off x="937606" y="643467"/>
            <a:ext cx="10316788"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3526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620DF-3962-E96C-DF54-B711521BBF45}"/>
              </a:ext>
            </a:extLst>
          </p:cNvPr>
          <p:cNvSpPr>
            <a:spLocks noGrp="1"/>
          </p:cNvSpPr>
          <p:nvPr>
            <p:ph type="title"/>
          </p:nvPr>
        </p:nvSpPr>
        <p:spPr/>
        <p:txBody>
          <a:bodyPr/>
          <a:lstStyle/>
          <a:p>
            <a:r>
              <a:rPr lang="en-US" b="1" dirty="0"/>
              <a:t>Implementing Logging Function</a:t>
            </a:r>
          </a:p>
        </p:txBody>
      </p:sp>
      <p:sp>
        <p:nvSpPr>
          <p:cNvPr id="3" name="Content Placeholder 2">
            <a:extLst>
              <a:ext uri="{FF2B5EF4-FFF2-40B4-BE49-F238E27FC236}">
                <a16:creationId xmlns:a16="http://schemas.microsoft.com/office/drawing/2014/main" id="{8FA4E46B-01E8-CA0B-4AF7-71745B77C60D}"/>
              </a:ext>
            </a:extLst>
          </p:cNvPr>
          <p:cNvSpPr>
            <a:spLocks noGrp="1"/>
          </p:cNvSpPr>
          <p:nvPr>
            <p:ph idx="1"/>
          </p:nvPr>
        </p:nvSpPr>
        <p:spPr/>
        <p:txBody>
          <a:bodyPr>
            <a:normAutofit lnSpcReduction="10000"/>
          </a:bodyPr>
          <a:lstStyle/>
          <a:p>
            <a:pPr algn="just">
              <a:lnSpc>
                <a:spcPct val="100000"/>
              </a:lnSpc>
            </a:pPr>
            <a:r>
              <a:rPr lang="en-US" dirty="0"/>
              <a:t>Auditing records should, at a minimum, </a:t>
            </a:r>
            <a:r>
              <a:rPr lang="en-US" b="1" dirty="0"/>
              <a:t>detail the unique user ID, unique data subject ID, function performed, type of event, the date and time of an event, the possible identity of the subject of the event, and the information that may have been affected by the event</a:t>
            </a:r>
            <a:r>
              <a:rPr lang="en-US" dirty="0"/>
              <a:t>.</a:t>
            </a:r>
          </a:p>
          <a:p>
            <a:pPr algn="just">
              <a:lnSpc>
                <a:spcPct val="100000"/>
              </a:lnSpc>
            </a:pPr>
            <a:r>
              <a:rPr lang="en-US" dirty="0"/>
              <a:t>Logging activity should capture the creation, review, modification, or deletion of identified information.</a:t>
            </a:r>
          </a:p>
          <a:p>
            <a:pPr algn="just">
              <a:lnSpc>
                <a:spcPct val="100000"/>
              </a:lnSpc>
            </a:pPr>
            <a:r>
              <a:rPr lang="en-US" dirty="0"/>
              <a:t>The success/failure of the event, the account involved, and the processes involved should be tracked as part of the audit record for privileged users.</a:t>
            </a:r>
          </a:p>
        </p:txBody>
      </p:sp>
    </p:spTree>
    <p:extLst>
      <p:ext uri="{BB962C8B-B14F-4D97-AF65-F5344CB8AC3E}">
        <p14:creationId xmlns:p14="http://schemas.microsoft.com/office/powerpoint/2010/main" val="2867819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9B78-432F-52FD-599D-901A0EED10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0BB5FC-4034-61A3-3486-9D4843E57270}"/>
              </a:ext>
            </a:extLst>
          </p:cNvPr>
          <p:cNvSpPr>
            <a:spLocks noGrp="1"/>
          </p:cNvSpPr>
          <p:nvPr>
            <p:ph idx="1"/>
          </p:nvPr>
        </p:nvSpPr>
        <p:spPr/>
        <p:txBody>
          <a:bodyPr/>
          <a:lstStyle/>
          <a:p>
            <a:r>
              <a:rPr lang="en-US" dirty="0"/>
              <a:t>The activities of privileged users (administrators, operators, etc.) include the success/failure of the event, time the event occurred, the account involved, the processes involved, and additional information about the event.</a:t>
            </a:r>
          </a:p>
          <a:p>
            <a:r>
              <a:rPr lang="en-US" dirty="0"/>
              <a:t>Proper logging should be enabled in order to audit administrator activities; and reviews system administrator and operator logs on a regular basis. </a:t>
            </a:r>
          </a:p>
        </p:txBody>
      </p:sp>
    </p:spTree>
    <p:extLst>
      <p:ext uri="{BB962C8B-B14F-4D97-AF65-F5344CB8AC3E}">
        <p14:creationId xmlns:p14="http://schemas.microsoft.com/office/powerpoint/2010/main" val="351118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EA75A-6D0D-AE90-2DF9-37C946CA9B1C}"/>
              </a:ext>
            </a:extLst>
          </p:cNvPr>
          <p:cNvSpPr>
            <a:spLocks noGrp="1"/>
          </p:cNvSpPr>
          <p:nvPr>
            <p:ph type="title"/>
          </p:nvPr>
        </p:nvSpPr>
        <p:spPr/>
        <p:txBody>
          <a:bodyPr/>
          <a:lstStyle/>
          <a:p>
            <a:r>
              <a:rPr lang="en-US" b="1" dirty="0"/>
              <a:t>How often security logs be reviewed?</a:t>
            </a:r>
          </a:p>
        </p:txBody>
      </p:sp>
      <p:sp>
        <p:nvSpPr>
          <p:cNvPr id="3" name="Content Placeholder 2">
            <a:extLst>
              <a:ext uri="{FF2B5EF4-FFF2-40B4-BE49-F238E27FC236}">
                <a16:creationId xmlns:a16="http://schemas.microsoft.com/office/drawing/2014/main" id="{3BF8E379-27BF-C50D-A1C3-586143DE88D5}"/>
              </a:ext>
            </a:extLst>
          </p:cNvPr>
          <p:cNvSpPr>
            <a:spLocks noGrp="1"/>
          </p:cNvSpPr>
          <p:nvPr>
            <p:ph idx="1"/>
          </p:nvPr>
        </p:nvSpPr>
        <p:spPr/>
        <p:txBody>
          <a:bodyPr/>
          <a:lstStyle/>
          <a:p>
            <a:pPr algn="just"/>
            <a:r>
              <a:rPr lang="en-US" b="1" dirty="0"/>
              <a:t>Security logs should be reviewed </a:t>
            </a:r>
            <a:r>
              <a:rPr lang="en-US" b="1" i="1" dirty="0"/>
              <a:t>regularly </a:t>
            </a:r>
            <a:r>
              <a:rPr lang="en-US" b="1" dirty="0"/>
              <a:t>depending on your security objectives and compliance requirements.</a:t>
            </a:r>
          </a:p>
          <a:p>
            <a:pPr algn="just"/>
            <a:r>
              <a:rPr lang="en-US" dirty="0"/>
              <a:t>Audit logs should be maintained for management activities, system and application startup/shutdown/errors, file changes, and security policy changes. </a:t>
            </a:r>
            <a:endParaRPr lang="en-US" b="1" dirty="0"/>
          </a:p>
          <a:p>
            <a:pPr algn="just"/>
            <a:r>
              <a:rPr lang="en-US" dirty="0"/>
              <a:t>An intrusion detection system should be managed outside of the control of system and network administrators used to monitor system and network administration activities for compliance. </a:t>
            </a:r>
          </a:p>
        </p:txBody>
      </p:sp>
    </p:spTree>
    <p:extLst>
      <p:ext uri="{BB962C8B-B14F-4D97-AF65-F5344CB8AC3E}">
        <p14:creationId xmlns:p14="http://schemas.microsoft.com/office/powerpoint/2010/main" val="3467610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E4EBA-FE97-0BB3-DA0F-F8BF4C1D68DB}"/>
              </a:ext>
            </a:extLst>
          </p:cNvPr>
          <p:cNvSpPr>
            <a:spLocks noGrp="1"/>
          </p:cNvSpPr>
          <p:nvPr>
            <p:ph type="title"/>
          </p:nvPr>
        </p:nvSpPr>
        <p:spPr/>
        <p:txBody>
          <a:bodyPr/>
          <a:lstStyle/>
          <a:p>
            <a:r>
              <a:rPr lang="en-US" b="1" dirty="0"/>
              <a:t> Purpose of an Audit Trail (logs)</a:t>
            </a:r>
          </a:p>
        </p:txBody>
      </p:sp>
      <p:sp>
        <p:nvSpPr>
          <p:cNvPr id="3" name="Content Placeholder 2">
            <a:extLst>
              <a:ext uri="{FF2B5EF4-FFF2-40B4-BE49-F238E27FC236}">
                <a16:creationId xmlns:a16="http://schemas.microsoft.com/office/drawing/2014/main" id="{E75BE691-0E1D-3EC0-A95E-E5951A169176}"/>
              </a:ext>
            </a:extLst>
          </p:cNvPr>
          <p:cNvSpPr>
            <a:spLocks noGrp="1"/>
          </p:cNvSpPr>
          <p:nvPr>
            <p:ph idx="1"/>
          </p:nvPr>
        </p:nvSpPr>
        <p:spPr/>
        <p:txBody>
          <a:bodyPr/>
          <a:lstStyle/>
          <a:p>
            <a:pPr algn="just"/>
            <a:r>
              <a:rPr lang="en-US" dirty="0"/>
              <a:t>The purpose of auditing and logging is to </a:t>
            </a:r>
            <a:r>
              <a:rPr lang="en-US" b="1" dirty="0"/>
              <a:t>record and examine activity in information systems that affect information assets</a:t>
            </a:r>
            <a:r>
              <a:rPr lang="en-US" dirty="0"/>
              <a:t>. </a:t>
            </a:r>
          </a:p>
          <a:p>
            <a:pPr algn="just"/>
            <a:r>
              <a:rPr lang="en-US" dirty="0"/>
              <a:t>This includes any hardware, software, or procedural controls in place to track such activity as modifying information assets including protected health information within information systems.</a:t>
            </a:r>
          </a:p>
        </p:txBody>
      </p:sp>
    </p:spTree>
    <p:extLst>
      <p:ext uri="{BB962C8B-B14F-4D97-AF65-F5344CB8AC3E}">
        <p14:creationId xmlns:p14="http://schemas.microsoft.com/office/powerpoint/2010/main" val="4237678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9D47C-9A30-00C7-F80C-297B4509F4D3}"/>
              </a:ext>
            </a:extLst>
          </p:cNvPr>
          <p:cNvSpPr>
            <a:spLocks noGrp="1"/>
          </p:cNvSpPr>
          <p:nvPr>
            <p:ph type="title"/>
          </p:nvPr>
        </p:nvSpPr>
        <p:spPr/>
        <p:txBody>
          <a:bodyPr/>
          <a:lstStyle/>
          <a:p>
            <a:r>
              <a:rPr lang="en-US" b="1" dirty="0"/>
              <a:t>Why is an Audit Trail Important?</a:t>
            </a:r>
          </a:p>
        </p:txBody>
      </p:sp>
      <p:sp>
        <p:nvSpPr>
          <p:cNvPr id="3" name="Content Placeholder 2">
            <a:extLst>
              <a:ext uri="{FF2B5EF4-FFF2-40B4-BE49-F238E27FC236}">
                <a16:creationId xmlns:a16="http://schemas.microsoft.com/office/drawing/2014/main" id="{B1754C0D-D685-A5DC-03A7-1E3D23BCB658}"/>
              </a:ext>
            </a:extLst>
          </p:cNvPr>
          <p:cNvSpPr>
            <a:spLocks noGrp="1"/>
          </p:cNvSpPr>
          <p:nvPr>
            <p:ph idx="1"/>
          </p:nvPr>
        </p:nvSpPr>
        <p:spPr/>
        <p:txBody>
          <a:bodyPr/>
          <a:lstStyle/>
          <a:p>
            <a:pPr algn="just">
              <a:lnSpc>
                <a:spcPct val="100000"/>
              </a:lnSpc>
            </a:pPr>
            <a:r>
              <a:rPr lang="en-US" dirty="0"/>
              <a:t>Based on the risk assessment and other business needs, security auditing and event logging of information systems should be supported by input from different departments across the entire organization. </a:t>
            </a:r>
          </a:p>
          <a:p>
            <a:pPr algn="just">
              <a:lnSpc>
                <a:spcPct val="100000"/>
              </a:lnSpc>
            </a:pPr>
            <a:r>
              <a:rPr lang="en-US" dirty="0"/>
              <a:t>Among these are failed logins, multiple system authentication, and suspicious after-hours login behavior, to name a few. </a:t>
            </a:r>
          </a:p>
          <a:p>
            <a:pPr algn="just">
              <a:lnSpc>
                <a:spcPct val="100000"/>
              </a:lnSpc>
            </a:pPr>
            <a:r>
              <a:rPr lang="en-US" dirty="0"/>
              <a:t>Documentation should be kept as to the rationale behind the list of events chosen </a:t>
            </a:r>
            <a:r>
              <a:rPr lang="en-US" b="1" dirty="0"/>
              <a:t>to adequately support an investigation of a breach or incident</a:t>
            </a:r>
            <a:r>
              <a:rPr lang="en-US" dirty="0"/>
              <a:t>.</a:t>
            </a:r>
          </a:p>
        </p:txBody>
      </p:sp>
    </p:spTree>
    <p:extLst>
      <p:ext uri="{BB962C8B-B14F-4D97-AF65-F5344CB8AC3E}">
        <p14:creationId xmlns:p14="http://schemas.microsoft.com/office/powerpoint/2010/main" val="46246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E7BD3-546D-46B9-4AEA-127712EE744F}"/>
              </a:ext>
            </a:extLst>
          </p:cNvPr>
          <p:cNvSpPr>
            <a:spLocks noGrp="1"/>
          </p:cNvSpPr>
          <p:nvPr>
            <p:ph type="title"/>
          </p:nvPr>
        </p:nvSpPr>
        <p:spPr/>
        <p:txBody>
          <a:bodyPr/>
          <a:lstStyle/>
          <a:p>
            <a:r>
              <a:rPr lang="en-US" b="1" dirty="0"/>
              <a:t>How Do You Maintain the Audit Trail? </a:t>
            </a:r>
            <a:br>
              <a:rPr lang="en-US" b="1" dirty="0"/>
            </a:br>
            <a:endParaRPr lang="en-US" dirty="0"/>
          </a:p>
        </p:txBody>
      </p:sp>
      <p:sp>
        <p:nvSpPr>
          <p:cNvPr id="3" name="Content Placeholder 2">
            <a:extLst>
              <a:ext uri="{FF2B5EF4-FFF2-40B4-BE49-F238E27FC236}">
                <a16:creationId xmlns:a16="http://schemas.microsoft.com/office/drawing/2014/main" id="{6224B522-24F9-17D3-098D-0D189629004B}"/>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6BD4D85C-4718-3947-AD28-DE1AE7A57F51}"/>
              </a:ext>
            </a:extLst>
          </p:cNvPr>
          <p:cNvSpPr txBox="1"/>
          <p:nvPr/>
        </p:nvSpPr>
        <p:spPr>
          <a:xfrm>
            <a:off x="996971" y="1901610"/>
            <a:ext cx="10356829" cy="2677656"/>
          </a:xfrm>
          <a:prstGeom prst="rect">
            <a:avLst/>
          </a:prstGeom>
          <a:noFill/>
        </p:spPr>
        <p:txBody>
          <a:bodyPr wrap="square">
            <a:spAutoFit/>
          </a:bodyPr>
          <a:lstStyle/>
          <a:p>
            <a:pPr algn="just"/>
            <a:r>
              <a:rPr lang="en-US" sz="2800" dirty="0"/>
              <a:t>In software, an audit trail documents each user’s activity, including changes and approvals, timestamp of dates and times, IP addresses, and user logins. Record retention periods for audit trail logs will depend on government and industry regulations applicable to your business activities. Establish a company policy that’s approved by the Board of Directors.</a:t>
            </a:r>
          </a:p>
        </p:txBody>
      </p:sp>
    </p:spTree>
    <p:extLst>
      <p:ext uri="{BB962C8B-B14F-4D97-AF65-F5344CB8AC3E}">
        <p14:creationId xmlns:p14="http://schemas.microsoft.com/office/powerpoint/2010/main" val="2153468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771</Words>
  <Application>Microsoft Office PowerPoint</Application>
  <PresentationFormat>Widescreen</PresentationFormat>
  <Paragraphs>41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Chapter 8 : Security Auditing</vt:lpstr>
      <vt:lpstr>PowerPoint Presentation</vt:lpstr>
      <vt:lpstr>Common IT Security Audit Standards</vt:lpstr>
      <vt:lpstr>PowerPoint Presentation</vt:lpstr>
      <vt:lpstr>PowerPoint Presentation</vt:lpstr>
      <vt:lpstr>PowerPoint Presentation</vt:lpstr>
      <vt:lpstr>PowerPoint Presentation</vt:lpstr>
      <vt:lpstr>Security Audit 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Implementing Logging Function</vt:lpstr>
      <vt:lpstr>PowerPoint Presentation</vt:lpstr>
      <vt:lpstr>How often security logs be reviewed?</vt:lpstr>
      <vt:lpstr> Purpose of an Audit Trail (logs)</vt:lpstr>
      <vt:lpstr>Why is an Audit Trail Important?</vt:lpstr>
      <vt:lpstr>How Do You Maintain the Audit Trail?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 Security Auditing</dc:title>
  <dc:creator>Govinda Gautam</dc:creator>
  <cp:lastModifiedBy>PC</cp:lastModifiedBy>
  <cp:revision>20</cp:revision>
  <dcterms:created xsi:type="dcterms:W3CDTF">2023-05-27T06:09:18Z</dcterms:created>
  <dcterms:modified xsi:type="dcterms:W3CDTF">2024-07-12T00:08:41Z</dcterms:modified>
</cp:coreProperties>
</file>