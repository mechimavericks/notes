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58" r:id="rId6"/>
    <p:sldId id="267" r:id="rId7"/>
    <p:sldId id="268" r:id="rId8"/>
    <p:sldId id="259" r:id="rId9"/>
    <p:sldId id="270" r:id="rId10"/>
    <p:sldId id="269" r:id="rId11"/>
    <p:sldId id="272" r:id="rId12"/>
    <p:sldId id="260" r:id="rId13"/>
    <p:sldId id="271" r:id="rId14"/>
    <p:sldId id="286" r:id="rId15"/>
    <p:sldId id="287" r:id="rId16"/>
    <p:sldId id="273" r:id="rId17"/>
    <p:sldId id="261" r:id="rId18"/>
    <p:sldId id="274" r:id="rId19"/>
    <p:sldId id="275" r:id="rId20"/>
    <p:sldId id="276" r:id="rId21"/>
    <p:sldId id="277" r:id="rId22"/>
    <p:sldId id="278" r:id="rId23"/>
    <p:sldId id="262" r:id="rId24"/>
    <p:sldId id="285" r:id="rId25"/>
    <p:sldId id="283" r:id="rId26"/>
    <p:sldId id="284" r:id="rId27"/>
    <p:sldId id="282" r:id="rId28"/>
    <p:sldId id="263" r:id="rId29"/>
    <p:sldId id="279" r:id="rId30"/>
    <p:sldId id="280" r:id="rId31"/>
    <p:sldId id="288" r:id="rId32"/>
    <p:sldId id="289" r:id="rId33"/>
    <p:sldId id="281" r:id="rId34"/>
    <p:sldId id="26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8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74D73-DEF7-7CF3-2692-9E464C823A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E4B440-E11A-A09E-2CC1-54E6286670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75296D-4202-01AC-F912-9B83ACB1FB1B}"/>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5" name="Footer Placeholder 4">
            <a:extLst>
              <a:ext uri="{FF2B5EF4-FFF2-40B4-BE49-F238E27FC236}">
                <a16:creationId xmlns:a16="http://schemas.microsoft.com/office/drawing/2014/main" id="{3E343E39-0058-F0F1-994F-7D244A030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BF972-3466-AE63-6C75-A71DA7519167}"/>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151687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E3DB4-F0B1-2BA3-C81E-0A7CCB872F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A92FF9-3071-5B68-2133-78FF56407C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7CDFC2-A02A-DFE0-CDDA-3430740F7307}"/>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5" name="Footer Placeholder 4">
            <a:extLst>
              <a:ext uri="{FF2B5EF4-FFF2-40B4-BE49-F238E27FC236}">
                <a16:creationId xmlns:a16="http://schemas.microsoft.com/office/drawing/2014/main" id="{4CD239B5-306F-0E1F-FB2A-8C3E03D576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E331B-FDAD-8F60-61AA-B8DE42E7BCF9}"/>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624219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9FA0A-1D78-99F1-98C7-C1DF9906AE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56BD81-7C03-0E03-74A4-7DD02149A7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1BF8F-7911-2E84-F20E-2E8CB00586F8}"/>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5" name="Footer Placeholder 4">
            <a:extLst>
              <a:ext uri="{FF2B5EF4-FFF2-40B4-BE49-F238E27FC236}">
                <a16:creationId xmlns:a16="http://schemas.microsoft.com/office/drawing/2014/main" id="{48F11280-B9F1-451A-F8C7-54B7E993D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6F600-1774-2E5A-DD9E-74027E2A74D3}"/>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4134260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4AE2-1DAE-1744-0481-A6076D83B1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0F84DE-934A-F2C3-349C-9B9B266445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85DE4D-17C8-44D0-BF31-5DE7F0D357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9F78D2-A680-7A71-9FB5-B223869E8CF3}"/>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6" name="Footer Placeholder 5">
            <a:extLst>
              <a:ext uri="{FF2B5EF4-FFF2-40B4-BE49-F238E27FC236}">
                <a16:creationId xmlns:a16="http://schemas.microsoft.com/office/drawing/2014/main" id="{27784AD3-1BE2-F7BA-AAC4-32B37ED883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ED33F-1C16-7934-85FF-F331CE848F68}"/>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3625741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5734B-4CA2-2ED1-089C-9C48CA973B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E74BFB-E0D6-07B0-A0AF-BD0E70DF26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DAA760-BC49-6530-9028-A9454DD8A6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BE8121-FE52-1699-8EEC-828F6C0482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52AACB-95A3-9815-FFD4-30692D75B2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DE2A3F-44A8-8884-E7CF-0C68F2518739}"/>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8" name="Footer Placeholder 7">
            <a:extLst>
              <a:ext uri="{FF2B5EF4-FFF2-40B4-BE49-F238E27FC236}">
                <a16:creationId xmlns:a16="http://schemas.microsoft.com/office/drawing/2014/main" id="{F19B08E6-3815-E995-E0E2-C39FFB70D0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A594FF-B3C7-2A92-2806-7A0C4E4CB3AA}"/>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4105691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EB8B5-2CBB-B0A0-CE18-B94031194C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E0F99C-3B7D-D940-ADB9-9133FE791D9A}"/>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4" name="Footer Placeholder 3">
            <a:extLst>
              <a:ext uri="{FF2B5EF4-FFF2-40B4-BE49-F238E27FC236}">
                <a16:creationId xmlns:a16="http://schemas.microsoft.com/office/drawing/2014/main" id="{602829D4-A39E-3144-7056-B79EDBEEB6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37A50F-2CD5-0AC9-E304-C3607E24290E}"/>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392675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B355DA-45BC-40D7-6D15-A81073785AFA}"/>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3" name="Footer Placeholder 2">
            <a:extLst>
              <a:ext uri="{FF2B5EF4-FFF2-40B4-BE49-F238E27FC236}">
                <a16:creationId xmlns:a16="http://schemas.microsoft.com/office/drawing/2014/main" id="{944773EA-BE8B-B8E0-FD9F-BBA272AD7A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651D98-5A97-5CE2-B0CC-C9602E4A2301}"/>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2829891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0A1E-821E-186B-1BF8-716AE2101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A08833-D6C7-3E2D-EBF8-E5FB65FAD4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B676AB-7C0B-02BD-B1EC-269412A3C6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31663-23A3-7FA0-9967-656F72D469D7}"/>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6" name="Footer Placeholder 5">
            <a:extLst>
              <a:ext uri="{FF2B5EF4-FFF2-40B4-BE49-F238E27FC236}">
                <a16:creationId xmlns:a16="http://schemas.microsoft.com/office/drawing/2014/main" id="{2B4CB3F7-9912-D443-2F89-7E2472AF32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54CCBE-5213-96EB-3FB3-3C20580261A5}"/>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737167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370CC-E08E-99B6-57F3-C471696C52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687FA0-395A-3103-261B-23CA1F5368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E3B0BD-B54C-7188-7515-C24704235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7F6632-1FA0-11C2-13EA-A5EBEE0C0A7B}"/>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6" name="Footer Placeholder 5">
            <a:extLst>
              <a:ext uri="{FF2B5EF4-FFF2-40B4-BE49-F238E27FC236}">
                <a16:creationId xmlns:a16="http://schemas.microsoft.com/office/drawing/2014/main" id="{A7D4CA1F-E82D-8676-C510-0B4F343D14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8879B-0EE6-DC80-E1E5-754CB1597261}"/>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3480607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BCB9F-981E-7979-4A7C-6C6C9F8366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05FF6-83A7-2176-91D1-502D07BE9A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8C751-6811-AEFC-D193-17959AB9AF5C}"/>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5" name="Footer Placeholder 4">
            <a:extLst>
              <a:ext uri="{FF2B5EF4-FFF2-40B4-BE49-F238E27FC236}">
                <a16:creationId xmlns:a16="http://schemas.microsoft.com/office/drawing/2014/main" id="{F6C2F079-7407-2F17-EC75-80998BDD85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3CE077-3E89-1F9A-F87D-11098996C8FD}"/>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782244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679E13-670D-0A03-BC45-EBE71A3075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18F8C6-30FC-CB7B-4032-7C6A62591E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8FDD0D-81D5-066F-B4C4-CB05CB14DE7C}"/>
              </a:ext>
            </a:extLst>
          </p:cNvPr>
          <p:cNvSpPr>
            <a:spLocks noGrp="1"/>
          </p:cNvSpPr>
          <p:nvPr>
            <p:ph type="dt" sz="half" idx="10"/>
          </p:nvPr>
        </p:nvSpPr>
        <p:spPr/>
        <p:txBody>
          <a:bodyPr/>
          <a:lstStyle/>
          <a:p>
            <a:fld id="{8E5C8AEF-F48D-4A2F-B864-730BC5605430}" type="datetimeFigureOut">
              <a:rPr lang="en-US" smtClean="0"/>
              <a:t>7/3/2024</a:t>
            </a:fld>
            <a:endParaRPr lang="en-US"/>
          </a:p>
        </p:txBody>
      </p:sp>
      <p:sp>
        <p:nvSpPr>
          <p:cNvPr id="5" name="Footer Placeholder 4">
            <a:extLst>
              <a:ext uri="{FF2B5EF4-FFF2-40B4-BE49-F238E27FC236}">
                <a16:creationId xmlns:a16="http://schemas.microsoft.com/office/drawing/2014/main" id="{6C16BC61-AAAA-71C9-F357-F1C517C380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3246BA-D942-4857-EA28-B2FD2A1400E8}"/>
              </a:ext>
            </a:extLst>
          </p:cNvPr>
          <p:cNvSpPr>
            <a:spLocks noGrp="1"/>
          </p:cNvSpPr>
          <p:nvPr>
            <p:ph type="sldNum" sz="quarter" idx="12"/>
          </p:nvPr>
        </p:nvSpPr>
        <p:spPr/>
        <p:txBody>
          <a:bodyPr/>
          <a:lstStyle/>
          <a:p>
            <a:fld id="{61CF6152-6931-4593-8094-FBAD11890720}" type="slidenum">
              <a:rPr lang="en-US" smtClean="0"/>
              <a:t>‹#›</a:t>
            </a:fld>
            <a:endParaRPr lang="en-US"/>
          </a:p>
        </p:txBody>
      </p:sp>
    </p:spTree>
    <p:extLst>
      <p:ext uri="{BB962C8B-B14F-4D97-AF65-F5344CB8AC3E}">
        <p14:creationId xmlns:p14="http://schemas.microsoft.com/office/powerpoint/2010/main" val="1695353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EE575C-1FFB-DEF0-5766-296E560F0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0C8310-C77F-8E57-31CD-E307D1AE2E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BDCAF4-25E3-0566-A838-9E7A6EE17D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5C8AEF-F48D-4A2F-B864-730BC5605430}" type="datetimeFigureOut">
              <a:rPr lang="en-US" smtClean="0"/>
              <a:t>7/3/2024</a:t>
            </a:fld>
            <a:endParaRPr lang="en-US"/>
          </a:p>
        </p:txBody>
      </p:sp>
      <p:sp>
        <p:nvSpPr>
          <p:cNvPr id="5" name="Footer Placeholder 4">
            <a:extLst>
              <a:ext uri="{FF2B5EF4-FFF2-40B4-BE49-F238E27FC236}">
                <a16:creationId xmlns:a16="http://schemas.microsoft.com/office/drawing/2014/main" id="{307576AE-A438-DFEB-D426-A886DC6C1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341F308-AF2D-B460-1912-B90B58D19F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F6152-6931-4593-8094-FBAD11890720}" type="slidenum">
              <a:rPr lang="en-US" smtClean="0"/>
              <a:t>‹#›</a:t>
            </a:fld>
            <a:endParaRPr lang="en-US"/>
          </a:p>
        </p:txBody>
      </p:sp>
    </p:spTree>
    <p:extLst>
      <p:ext uri="{BB962C8B-B14F-4D97-AF65-F5344CB8AC3E}">
        <p14:creationId xmlns:p14="http://schemas.microsoft.com/office/powerpoint/2010/main" val="431565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61A7-A6AD-8FBE-1E95-815D06AE269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6EFDEF2-DBCF-892E-9E50-E5911C15B879}"/>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FCDC43DA-5054-09F4-BF04-6FA22B87DC5C}"/>
              </a:ext>
            </a:extLst>
          </p:cNvPr>
          <p:cNvPicPr>
            <a:picLocks noChangeAspect="1"/>
          </p:cNvPicPr>
          <p:nvPr/>
        </p:nvPicPr>
        <p:blipFill>
          <a:blip r:embed="rId2"/>
          <a:stretch>
            <a:fillRect/>
          </a:stretch>
        </p:blipFill>
        <p:spPr>
          <a:xfrm>
            <a:off x="1298396" y="1014543"/>
            <a:ext cx="8992997" cy="3622771"/>
          </a:xfrm>
          <a:prstGeom prst="rect">
            <a:avLst/>
          </a:prstGeom>
        </p:spPr>
      </p:pic>
    </p:spTree>
    <p:extLst>
      <p:ext uri="{BB962C8B-B14F-4D97-AF65-F5344CB8AC3E}">
        <p14:creationId xmlns:p14="http://schemas.microsoft.com/office/powerpoint/2010/main" val="1529517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A3649-88A5-E49F-A6CA-8FA49025F65A}"/>
              </a:ext>
            </a:extLst>
          </p:cNvPr>
          <p:cNvSpPr>
            <a:spLocks noGrp="1"/>
          </p:cNvSpPr>
          <p:nvPr>
            <p:ph type="title"/>
          </p:nvPr>
        </p:nvSpPr>
        <p:spPr/>
        <p:txBody>
          <a:bodyPr/>
          <a:lstStyle/>
          <a:p>
            <a:r>
              <a:rPr lang="en-US" b="1" dirty="0"/>
              <a:t>User Authentication</a:t>
            </a:r>
          </a:p>
        </p:txBody>
      </p:sp>
      <p:sp>
        <p:nvSpPr>
          <p:cNvPr id="3" name="Content Placeholder 2">
            <a:extLst>
              <a:ext uri="{FF2B5EF4-FFF2-40B4-BE49-F238E27FC236}">
                <a16:creationId xmlns:a16="http://schemas.microsoft.com/office/drawing/2014/main" id="{C1F7030B-6778-FC15-79AA-F64513053C70}"/>
              </a:ext>
            </a:extLst>
          </p:cNvPr>
          <p:cNvSpPr>
            <a:spLocks noGrp="1"/>
          </p:cNvSpPr>
          <p:nvPr>
            <p:ph idx="1"/>
          </p:nvPr>
        </p:nvSpPr>
        <p:spPr>
          <a:xfrm>
            <a:off x="838200" y="1599122"/>
            <a:ext cx="10515600" cy="4351338"/>
          </a:xfrm>
        </p:spPr>
        <p:txBody>
          <a:bodyPr/>
          <a:lstStyle/>
          <a:p>
            <a:pPr marL="0" indent="0">
              <a:buNone/>
            </a:pPr>
            <a:r>
              <a:rPr lang="en-US" dirty="0"/>
              <a:t>- </a:t>
            </a:r>
            <a:r>
              <a:rPr lang="en-US" b="0" dirty="0">
                <a:effectLst/>
              </a:rPr>
              <a:t>Authentication is the process of identifying users that request access to a system, network, or device.</a:t>
            </a:r>
          </a:p>
          <a:p>
            <a:pPr marL="0" indent="0">
              <a:buNone/>
            </a:pPr>
            <a:endParaRPr lang="en-US" dirty="0"/>
          </a:p>
          <a:p>
            <a:pPr marL="0" indent="0">
              <a:buNone/>
            </a:pPr>
            <a:r>
              <a:rPr lang="en-US" b="0" dirty="0">
                <a:effectLst/>
              </a:rPr>
              <a:t>- Access control often determines user identity according to credentials like username and password. Other authentication technologies like biometrics and authentication apps are also used to authenticate user identity.</a:t>
            </a:r>
            <a:endParaRPr lang="en-US" dirty="0"/>
          </a:p>
        </p:txBody>
      </p:sp>
    </p:spTree>
    <p:extLst>
      <p:ext uri="{BB962C8B-B14F-4D97-AF65-F5344CB8AC3E}">
        <p14:creationId xmlns:p14="http://schemas.microsoft.com/office/powerpoint/2010/main" val="1481481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578A-AB05-4FD6-8167-927263F82520}"/>
              </a:ext>
            </a:extLst>
          </p:cNvPr>
          <p:cNvSpPr>
            <a:spLocks noGrp="1"/>
          </p:cNvSpPr>
          <p:nvPr>
            <p:ph type="title"/>
          </p:nvPr>
        </p:nvSpPr>
        <p:spPr>
          <a:xfrm>
            <a:off x="838200" y="365125"/>
            <a:ext cx="10285602" cy="1144893"/>
          </a:xfrm>
        </p:spPr>
        <p:txBody>
          <a:bodyPr/>
          <a:lstStyle/>
          <a:p>
            <a:r>
              <a:rPr lang="en-US" b="1" dirty="0"/>
              <a:t>User Authentication</a:t>
            </a:r>
          </a:p>
        </p:txBody>
      </p:sp>
      <p:pic>
        <p:nvPicPr>
          <p:cNvPr id="5" name="Content Placeholder 4" descr="A picture containing text, screenshot, circle, diagram&#10;&#10;Description automatically generated">
            <a:extLst>
              <a:ext uri="{FF2B5EF4-FFF2-40B4-BE49-F238E27FC236}">
                <a16:creationId xmlns:a16="http://schemas.microsoft.com/office/drawing/2014/main" id="{F05EB4AF-8960-3D6B-3E54-FEA3F88A00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1550" y="1674624"/>
            <a:ext cx="4351338" cy="4351338"/>
          </a:xfrm>
        </p:spPr>
      </p:pic>
    </p:spTree>
    <p:extLst>
      <p:ext uri="{BB962C8B-B14F-4D97-AF65-F5344CB8AC3E}">
        <p14:creationId xmlns:p14="http://schemas.microsoft.com/office/powerpoint/2010/main" val="615946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60D1-AA1B-99F3-265D-42245D9A073D}"/>
              </a:ext>
            </a:extLst>
          </p:cNvPr>
          <p:cNvSpPr>
            <a:spLocks noGrp="1"/>
          </p:cNvSpPr>
          <p:nvPr>
            <p:ph type="title"/>
          </p:nvPr>
        </p:nvSpPr>
        <p:spPr/>
        <p:txBody>
          <a:bodyPr/>
          <a:lstStyle/>
          <a:p>
            <a:r>
              <a:rPr lang="en-US" b="1" dirty="0"/>
              <a:t>Importance of User Authentication</a:t>
            </a:r>
          </a:p>
        </p:txBody>
      </p:sp>
      <p:sp>
        <p:nvSpPr>
          <p:cNvPr id="3" name="Content Placeholder 2">
            <a:extLst>
              <a:ext uri="{FF2B5EF4-FFF2-40B4-BE49-F238E27FC236}">
                <a16:creationId xmlns:a16="http://schemas.microsoft.com/office/drawing/2014/main" id="{9A0FB808-4D22-C7C0-E7D8-1E8A5830BA78}"/>
              </a:ext>
            </a:extLst>
          </p:cNvPr>
          <p:cNvSpPr>
            <a:spLocks noGrp="1"/>
          </p:cNvSpPr>
          <p:nvPr>
            <p:ph idx="1"/>
          </p:nvPr>
        </p:nvSpPr>
        <p:spPr/>
        <p:txBody>
          <a:bodyPr/>
          <a:lstStyle/>
          <a:p>
            <a:pPr algn="just"/>
            <a:r>
              <a:rPr lang="en-US" dirty="0"/>
              <a:t>it is a crucial step in keeping unauthorized users from getting access to sensitive information.</a:t>
            </a:r>
          </a:p>
          <a:p>
            <a:pPr algn="just"/>
            <a:r>
              <a:rPr lang="en-US" dirty="0"/>
              <a:t>A robust user authentication process is a way to ensure that User A can access only the information he needs and not the sensitive information of User B.</a:t>
            </a:r>
          </a:p>
          <a:p>
            <a:pPr marL="0" indent="0" algn="just">
              <a:buNone/>
            </a:pPr>
            <a:endParaRPr lang="en-US" dirty="0"/>
          </a:p>
          <a:p>
            <a:pPr marL="0" indent="0" algn="just">
              <a:buNone/>
            </a:pPr>
            <a:r>
              <a:rPr lang="en-US" b="1" dirty="0"/>
              <a:t>When your user authentication isn’t secure, however, cybercriminals can hack the system and gain access, taking whatever information the user is authorized to access. </a:t>
            </a:r>
            <a:endParaRPr lang="en-US" dirty="0"/>
          </a:p>
          <a:p>
            <a:pPr algn="just"/>
            <a:endParaRPr lang="en-US" dirty="0"/>
          </a:p>
        </p:txBody>
      </p:sp>
    </p:spTree>
    <p:extLst>
      <p:ext uri="{BB962C8B-B14F-4D97-AF65-F5344CB8AC3E}">
        <p14:creationId xmlns:p14="http://schemas.microsoft.com/office/powerpoint/2010/main" val="2882593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F7095-EEAE-6089-55E4-1478549E3ED1}"/>
              </a:ext>
            </a:extLst>
          </p:cNvPr>
          <p:cNvSpPr>
            <a:spLocks noGrp="1"/>
          </p:cNvSpPr>
          <p:nvPr>
            <p:ph type="title"/>
          </p:nvPr>
        </p:nvSpPr>
        <p:spPr>
          <a:xfrm>
            <a:off x="549442" y="-116138"/>
            <a:ext cx="10515600" cy="1325563"/>
          </a:xfrm>
        </p:spPr>
        <p:txBody>
          <a:bodyPr/>
          <a:lstStyle/>
          <a:p>
            <a:r>
              <a:rPr lang="en-US" b="1" dirty="0"/>
              <a:t>4.1 User Authentication Principles</a:t>
            </a:r>
          </a:p>
        </p:txBody>
      </p:sp>
      <p:sp>
        <p:nvSpPr>
          <p:cNvPr id="3" name="Content Placeholder 2">
            <a:extLst>
              <a:ext uri="{FF2B5EF4-FFF2-40B4-BE49-F238E27FC236}">
                <a16:creationId xmlns:a16="http://schemas.microsoft.com/office/drawing/2014/main" id="{B9134416-2A2F-FC02-1257-ACD2392BD254}"/>
              </a:ext>
            </a:extLst>
          </p:cNvPr>
          <p:cNvSpPr>
            <a:spLocks noGrp="1"/>
          </p:cNvSpPr>
          <p:nvPr>
            <p:ph idx="1"/>
          </p:nvPr>
        </p:nvSpPr>
        <p:spPr>
          <a:xfrm>
            <a:off x="838200" y="895183"/>
            <a:ext cx="10515600" cy="4351338"/>
          </a:xfrm>
        </p:spPr>
        <p:txBody>
          <a:bodyPr>
            <a:normAutofit fontScale="92500" lnSpcReduction="20000"/>
          </a:bodyPr>
          <a:lstStyle/>
          <a:p>
            <a:pPr algn="just"/>
            <a:r>
              <a:rPr lang="en-US" dirty="0"/>
              <a:t>User authentication principles are a set of guidelines and best practices that are used to verify the identity of a user accessing a system, application, or network. </a:t>
            </a:r>
          </a:p>
          <a:p>
            <a:pPr marL="0" indent="0" algn="just">
              <a:buNone/>
            </a:pPr>
            <a:endParaRPr lang="en-US" dirty="0"/>
          </a:p>
          <a:p>
            <a:pPr marL="0" indent="0" algn="just">
              <a:buNone/>
            </a:pPr>
            <a:r>
              <a:rPr lang="en-US" dirty="0"/>
              <a:t>The main principles of user authentication are:</a:t>
            </a:r>
          </a:p>
          <a:p>
            <a:pPr marL="514350" indent="-514350" algn="just">
              <a:buAutoNum type="alphaLcParenR"/>
            </a:pPr>
            <a:r>
              <a:rPr lang="en-US" b="1" dirty="0"/>
              <a:t>Identification</a:t>
            </a:r>
          </a:p>
          <a:p>
            <a:pPr marL="514350" indent="-514350" algn="just">
              <a:buAutoNum type="alphaLcParenR"/>
            </a:pPr>
            <a:r>
              <a:rPr lang="en-US" b="1" dirty="0"/>
              <a:t>Authentication</a:t>
            </a:r>
          </a:p>
          <a:p>
            <a:pPr marL="514350" indent="-514350" algn="just">
              <a:buAutoNum type="alphaLcParenR"/>
            </a:pPr>
            <a:r>
              <a:rPr lang="en-US" b="1" dirty="0"/>
              <a:t>Authorization</a:t>
            </a:r>
          </a:p>
          <a:p>
            <a:pPr marL="514350" indent="-514350" algn="just">
              <a:buAutoNum type="alphaLcParenR"/>
            </a:pPr>
            <a:r>
              <a:rPr lang="en-US" b="1" dirty="0"/>
              <a:t>Confidentiality</a:t>
            </a:r>
          </a:p>
          <a:p>
            <a:pPr marL="514350" indent="-514350" algn="just">
              <a:buAutoNum type="alphaLcParenR"/>
            </a:pPr>
            <a:r>
              <a:rPr lang="en-US" b="1" dirty="0"/>
              <a:t>Integrity</a:t>
            </a:r>
          </a:p>
          <a:p>
            <a:pPr marL="514350" indent="-514350" algn="just">
              <a:buAutoNum type="alphaLcParenR"/>
            </a:pPr>
            <a:r>
              <a:rPr lang="en-US" b="1" dirty="0"/>
              <a:t>Availability</a:t>
            </a:r>
          </a:p>
        </p:txBody>
      </p:sp>
    </p:spTree>
    <p:extLst>
      <p:ext uri="{BB962C8B-B14F-4D97-AF65-F5344CB8AC3E}">
        <p14:creationId xmlns:p14="http://schemas.microsoft.com/office/powerpoint/2010/main" val="2012723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AA5D-8CEE-19C9-192F-E90C137019A1}"/>
              </a:ext>
            </a:extLst>
          </p:cNvPr>
          <p:cNvSpPr>
            <a:spLocks noGrp="1"/>
          </p:cNvSpPr>
          <p:nvPr>
            <p:ph type="title"/>
          </p:nvPr>
        </p:nvSpPr>
        <p:spPr>
          <a:xfrm>
            <a:off x="737532" y="-129825"/>
            <a:ext cx="10515600" cy="1325563"/>
          </a:xfrm>
        </p:spPr>
        <p:txBody>
          <a:bodyPr/>
          <a:lstStyle/>
          <a:p>
            <a:r>
              <a:rPr lang="en-US" b="1" dirty="0"/>
              <a:t>4.1 User Authentication Principles</a:t>
            </a:r>
          </a:p>
        </p:txBody>
      </p:sp>
      <p:sp>
        <p:nvSpPr>
          <p:cNvPr id="3" name="Content Placeholder 2">
            <a:extLst>
              <a:ext uri="{FF2B5EF4-FFF2-40B4-BE49-F238E27FC236}">
                <a16:creationId xmlns:a16="http://schemas.microsoft.com/office/drawing/2014/main" id="{75E5E6A5-BC8A-BD1C-7376-FA336F898203}"/>
              </a:ext>
            </a:extLst>
          </p:cNvPr>
          <p:cNvSpPr>
            <a:spLocks noGrp="1"/>
          </p:cNvSpPr>
          <p:nvPr>
            <p:ph idx="1"/>
          </p:nvPr>
        </p:nvSpPr>
        <p:spPr>
          <a:xfrm>
            <a:off x="737532" y="1045449"/>
            <a:ext cx="10515600" cy="4351338"/>
          </a:xfrm>
        </p:spPr>
        <p:txBody>
          <a:bodyPr>
            <a:normAutofit fontScale="77500" lnSpcReduction="20000"/>
          </a:bodyPr>
          <a:lstStyle/>
          <a:p>
            <a:pPr marL="514350" indent="-514350" algn="just">
              <a:buAutoNum type="alphaLcParenR"/>
            </a:pPr>
            <a:r>
              <a:rPr lang="en-US" b="1" dirty="0"/>
              <a:t>Identification : </a:t>
            </a:r>
            <a:r>
              <a:rPr lang="en-US" dirty="0"/>
              <a:t>user provides a unique identifier, such as a username or email address, to the system.</a:t>
            </a:r>
            <a:endParaRPr lang="en-US" b="1" dirty="0"/>
          </a:p>
          <a:p>
            <a:pPr marL="514350" indent="-514350" algn="just">
              <a:buAutoNum type="alphaLcParenR"/>
            </a:pPr>
            <a:r>
              <a:rPr lang="en-US" b="1" dirty="0"/>
              <a:t>Authentication : </a:t>
            </a:r>
            <a:r>
              <a:rPr lang="en-US" dirty="0"/>
              <a:t>user verifies their identity to the system through a password, passphrase, biometric factor (such as fingerprint or facial recognition), or other means.</a:t>
            </a:r>
            <a:endParaRPr lang="en-US" b="1" dirty="0"/>
          </a:p>
          <a:p>
            <a:pPr marL="514350" indent="-514350" algn="just">
              <a:buAutoNum type="alphaLcParenR"/>
            </a:pPr>
            <a:r>
              <a:rPr lang="en-US" b="1" dirty="0"/>
              <a:t>Authorization : </a:t>
            </a:r>
            <a:r>
              <a:rPr lang="en-US" dirty="0"/>
              <a:t>The system grants or denies the user access to specific resources or actions based on their authenticated identity and the permissions associated with that identity.</a:t>
            </a:r>
            <a:endParaRPr lang="en-US" b="1" dirty="0"/>
          </a:p>
          <a:p>
            <a:pPr marL="514350" indent="-514350" algn="just">
              <a:buAutoNum type="alphaLcParenR"/>
            </a:pPr>
            <a:r>
              <a:rPr lang="en-US" b="1" dirty="0"/>
              <a:t>Confidentiality : </a:t>
            </a:r>
            <a:r>
              <a:rPr lang="en-US" dirty="0"/>
              <a:t>The system ensures that the user's authentication credentials, such as passwords or biometric data, are kept private and not accessible to unauthorized parties.</a:t>
            </a:r>
            <a:endParaRPr lang="en-US" b="1" dirty="0"/>
          </a:p>
          <a:p>
            <a:pPr marL="514350" indent="-514350" algn="just">
              <a:buAutoNum type="alphaLcParenR"/>
            </a:pPr>
            <a:r>
              <a:rPr lang="en-US" b="1" dirty="0"/>
              <a:t>Integrity : </a:t>
            </a:r>
            <a:r>
              <a:rPr lang="en-US" dirty="0"/>
              <a:t>The system ensures that the user's authentication credentials are not tampered with or altered during transmission or storage.</a:t>
            </a:r>
            <a:endParaRPr lang="en-US" b="1" dirty="0"/>
          </a:p>
          <a:p>
            <a:pPr marL="514350" indent="-514350" algn="just">
              <a:buAutoNum type="alphaLcParenR"/>
            </a:pPr>
            <a:r>
              <a:rPr lang="en-US" b="1" dirty="0"/>
              <a:t>Availability : </a:t>
            </a:r>
            <a:r>
              <a:rPr lang="en-US" dirty="0"/>
              <a:t>The system ensures that the user authentication process is available and accessible to authorized users at all times.</a:t>
            </a:r>
          </a:p>
        </p:txBody>
      </p:sp>
    </p:spTree>
    <p:extLst>
      <p:ext uri="{BB962C8B-B14F-4D97-AF65-F5344CB8AC3E}">
        <p14:creationId xmlns:p14="http://schemas.microsoft.com/office/powerpoint/2010/main" val="2126544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F48D-FD7C-8ABA-F6DE-A284CA297AEB}"/>
              </a:ext>
            </a:extLst>
          </p:cNvPr>
          <p:cNvSpPr>
            <a:spLocks noGrp="1"/>
          </p:cNvSpPr>
          <p:nvPr>
            <p:ph type="title"/>
          </p:nvPr>
        </p:nvSpPr>
        <p:spPr>
          <a:xfrm>
            <a:off x="838200" y="365125"/>
            <a:ext cx="10059099" cy="784167"/>
          </a:xfrm>
        </p:spPr>
        <p:txBody>
          <a:bodyPr/>
          <a:lstStyle/>
          <a:p>
            <a:r>
              <a:rPr lang="en-US" b="1" dirty="0"/>
              <a:t>Common Authentication Types</a:t>
            </a:r>
          </a:p>
        </p:txBody>
      </p:sp>
      <p:sp>
        <p:nvSpPr>
          <p:cNvPr id="3" name="Content Placeholder 2">
            <a:extLst>
              <a:ext uri="{FF2B5EF4-FFF2-40B4-BE49-F238E27FC236}">
                <a16:creationId xmlns:a16="http://schemas.microsoft.com/office/drawing/2014/main" id="{6770D8F1-8FDA-C7FD-C0F9-2CE113469415}"/>
              </a:ext>
            </a:extLst>
          </p:cNvPr>
          <p:cNvSpPr>
            <a:spLocks noGrp="1"/>
          </p:cNvSpPr>
          <p:nvPr>
            <p:ph idx="1"/>
          </p:nvPr>
        </p:nvSpPr>
        <p:spPr>
          <a:xfrm>
            <a:off x="838200" y="1339064"/>
            <a:ext cx="10515600" cy="4351338"/>
          </a:xfrm>
        </p:spPr>
        <p:txBody>
          <a:bodyPr/>
          <a:lstStyle/>
          <a:p>
            <a:pPr marL="514350" indent="-514350">
              <a:buAutoNum type="arabicParenR"/>
            </a:pPr>
            <a:r>
              <a:rPr lang="en-US" dirty="0"/>
              <a:t>Password-Based Authentication</a:t>
            </a:r>
          </a:p>
          <a:p>
            <a:pPr marL="514350" indent="-514350">
              <a:buAutoNum type="arabicParenR"/>
            </a:pPr>
            <a:r>
              <a:rPr lang="en-US" dirty="0"/>
              <a:t>Multi-Factor Authentication</a:t>
            </a:r>
          </a:p>
          <a:p>
            <a:pPr marL="514350" indent="-514350">
              <a:buAutoNum type="arabicParenR"/>
            </a:pPr>
            <a:r>
              <a:rPr lang="en-US" dirty="0"/>
              <a:t>Certificate-based Authentication</a:t>
            </a:r>
          </a:p>
          <a:p>
            <a:pPr marL="514350" indent="-514350">
              <a:buAutoNum type="arabicParenR"/>
            </a:pPr>
            <a:r>
              <a:rPr lang="en-US" dirty="0"/>
              <a:t>Biometric Authentication</a:t>
            </a:r>
          </a:p>
          <a:p>
            <a:pPr marL="514350" indent="-514350">
              <a:buAutoNum type="arabicParenR"/>
            </a:pPr>
            <a:r>
              <a:rPr lang="en-US" dirty="0"/>
              <a:t>Token Based Authentication</a:t>
            </a:r>
          </a:p>
          <a:p>
            <a:pPr marL="514350" indent="-514350">
              <a:buAutoNum type="arabicParenR"/>
            </a:pPr>
            <a:endParaRPr lang="en-US" dirty="0"/>
          </a:p>
        </p:txBody>
      </p:sp>
    </p:spTree>
    <p:extLst>
      <p:ext uri="{BB962C8B-B14F-4D97-AF65-F5344CB8AC3E}">
        <p14:creationId xmlns:p14="http://schemas.microsoft.com/office/powerpoint/2010/main" val="4032970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B91A-3F70-84A9-EE22-70488F2DF23C}"/>
              </a:ext>
            </a:extLst>
          </p:cNvPr>
          <p:cNvSpPr>
            <a:spLocks noGrp="1"/>
          </p:cNvSpPr>
          <p:nvPr>
            <p:ph type="title"/>
          </p:nvPr>
        </p:nvSpPr>
        <p:spPr/>
        <p:txBody>
          <a:bodyPr/>
          <a:lstStyle/>
          <a:p>
            <a:r>
              <a:rPr lang="en-US" b="1" dirty="0"/>
              <a:t>4.2 Password-Based Authentication</a:t>
            </a:r>
          </a:p>
        </p:txBody>
      </p:sp>
      <p:sp>
        <p:nvSpPr>
          <p:cNvPr id="3" name="Content Placeholder 2">
            <a:extLst>
              <a:ext uri="{FF2B5EF4-FFF2-40B4-BE49-F238E27FC236}">
                <a16:creationId xmlns:a16="http://schemas.microsoft.com/office/drawing/2014/main" id="{1B553A8D-F01E-9275-81A5-C156477C66A2}"/>
              </a:ext>
            </a:extLst>
          </p:cNvPr>
          <p:cNvSpPr>
            <a:spLocks noGrp="1"/>
          </p:cNvSpPr>
          <p:nvPr>
            <p:ph idx="1"/>
          </p:nvPr>
        </p:nvSpPr>
        <p:spPr/>
        <p:txBody>
          <a:bodyPr>
            <a:normAutofit fontScale="85000" lnSpcReduction="20000"/>
          </a:bodyPr>
          <a:lstStyle/>
          <a:p>
            <a:pPr algn="just">
              <a:lnSpc>
                <a:spcPct val="150000"/>
              </a:lnSpc>
            </a:pPr>
            <a:r>
              <a:rPr lang="en-US" dirty="0"/>
              <a:t>Password-based authentication is a common method of user authentication that requires a user to provide a password in order to access a system, application, or network.</a:t>
            </a:r>
          </a:p>
          <a:p>
            <a:pPr algn="just">
              <a:lnSpc>
                <a:spcPct val="150000"/>
              </a:lnSpc>
            </a:pPr>
            <a:r>
              <a:rPr lang="en-US" dirty="0"/>
              <a:t>The password is a secret combination of characters or words that is known only to the user and the system.</a:t>
            </a:r>
          </a:p>
          <a:p>
            <a:pPr algn="just">
              <a:lnSpc>
                <a:spcPct val="150000"/>
              </a:lnSpc>
            </a:pPr>
            <a:r>
              <a:rPr lang="en-US" dirty="0"/>
              <a:t>When the user enters their password, the system compares it to the stored password to determine whether it matches. If the passwords match, the user is granted access.</a:t>
            </a:r>
          </a:p>
        </p:txBody>
      </p:sp>
    </p:spTree>
    <p:extLst>
      <p:ext uri="{BB962C8B-B14F-4D97-AF65-F5344CB8AC3E}">
        <p14:creationId xmlns:p14="http://schemas.microsoft.com/office/powerpoint/2010/main" val="3669264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BB5-FE47-AA48-112D-B1E01520BAE3}"/>
              </a:ext>
            </a:extLst>
          </p:cNvPr>
          <p:cNvSpPr>
            <a:spLocks noGrp="1"/>
          </p:cNvSpPr>
          <p:nvPr>
            <p:ph type="title"/>
          </p:nvPr>
        </p:nvSpPr>
        <p:spPr/>
        <p:txBody>
          <a:bodyPr/>
          <a:lstStyle/>
          <a:p>
            <a:r>
              <a:rPr lang="en-US" b="1" dirty="0"/>
              <a:t>Password Authentication</a:t>
            </a:r>
          </a:p>
        </p:txBody>
      </p:sp>
      <p:pic>
        <p:nvPicPr>
          <p:cNvPr id="5" name="Content Placeholder 4" descr="A diagram of a server&#10;&#10;Description automatically generated with medium confidence">
            <a:extLst>
              <a:ext uri="{FF2B5EF4-FFF2-40B4-BE49-F238E27FC236}">
                <a16:creationId xmlns:a16="http://schemas.microsoft.com/office/drawing/2014/main" id="{FBA82079-2829-092F-DE46-37E81CF96A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1240" y="2789237"/>
            <a:ext cx="8083976" cy="2165684"/>
          </a:xfrm>
        </p:spPr>
      </p:pic>
    </p:spTree>
    <p:extLst>
      <p:ext uri="{BB962C8B-B14F-4D97-AF65-F5344CB8AC3E}">
        <p14:creationId xmlns:p14="http://schemas.microsoft.com/office/powerpoint/2010/main" val="3115516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C4E3E-40FD-D0A4-1CB5-6EED7C084C23}"/>
              </a:ext>
            </a:extLst>
          </p:cNvPr>
          <p:cNvSpPr>
            <a:spLocks noGrp="1"/>
          </p:cNvSpPr>
          <p:nvPr>
            <p:ph type="title"/>
          </p:nvPr>
        </p:nvSpPr>
        <p:spPr/>
        <p:txBody>
          <a:bodyPr/>
          <a:lstStyle/>
          <a:p>
            <a:r>
              <a:rPr lang="en-US" b="1" dirty="0"/>
              <a:t>4.2 Password Based Authentication</a:t>
            </a:r>
          </a:p>
        </p:txBody>
      </p:sp>
      <p:sp>
        <p:nvSpPr>
          <p:cNvPr id="3" name="Content Placeholder 2">
            <a:extLst>
              <a:ext uri="{FF2B5EF4-FFF2-40B4-BE49-F238E27FC236}">
                <a16:creationId xmlns:a16="http://schemas.microsoft.com/office/drawing/2014/main" id="{DA1BA858-DB75-AAC0-6EC3-86FEF7CAF66A}"/>
              </a:ext>
            </a:extLst>
          </p:cNvPr>
          <p:cNvSpPr>
            <a:spLocks noGrp="1"/>
          </p:cNvSpPr>
          <p:nvPr>
            <p:ph idx="1"/>
          </p:nvPr>
        </p:nvSpPr>
        <p:spPr>
          <a:xfrm>
            <a:off x="838200" y="1584660"/>
            <a:ext cx="10515600" cy="4351338"/>
          </a:xfrm>
        </p:spPr>
        <p:txBody>
          <a:bodyPr/>
          <a:lstStyle/>
          <a:p>
            <a:pPr marL="0" indent="0">
              <a:buNone/>
            </a:pPr>
            <a:r>
              <a:rPr lang="en-US" dirty="0"/>
              <a:t>To ensure the security of password-based authentication, it is important to follow certain best practices:</a:t>
            </a:r>
          </a:p>
          <a:p>
            <a:pPr marL="0" indent="0">
              <a:buNone/>
            </a:pPr>
            <a:endParaRPr lang="en-US" dirty="0"/>
          </a:p>
          <a:p>
            <a:pPr marL="514350" indent="-514350">
              <a:buAutoNum type="arabicPeriod"/>
            </a:pPr>
            <a:r>
              <a:rPr lang="en-US" b="1" dirty="0"/>
              <a:t>Strong Passwords</a:t>
            </a:r>
          </a:p>
          <a:p>
            <a:pPr marL="514350" indent="-514350">
              <a:buAutoNum type="arabicPeriod"/>
            </a:pPr>
            <a:r>
              <a:rPr lang="en-US" b="1" dirty="0"/>
              <a:t>Password Complexity</a:t>
            </a:r>
          </a:p>
          <a:p>
            <a:pPr marL="514350" indent="-514350">
              <a:buAutoNum type="arabicPeriod"/>
            </a:pPr>
            <a:r>
              <a:rPr lang="en-US" b="1" dirty="0"/>
              <a:t>Password Policies</a:t>
            </a:r>
          </a:p>
          <a:p>
            <a:pPr marL="514350" indent="-514350">
              <a:buAutoNum type="arabicPeriod"/>
            </a:pPr>
            <a:r>
              <a:rPr lang="en-US" b="1" dirty="0"/>
              <a:t>Two-Factor Authentication</a:t>
            </a:r>
          </a:p>
        </p:txBody>
      </p:sp>
    </p:spTree>
    <p:extLst>
      <p:ext uri="{BB962C8B-B14F-4D97-AF65-F5344CB8AC3E}">
        <p14:creationId xmlns:p14="http://schemas.microsoft.com/office/powerpoint/2010/main" val="3938858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B90CF-6148-B2F7-1DC6-EDF4ADDC6602}"/>
              </a:ext>
            </a:extLst>
          </p:cNvPr>
          <p:cNvSpPr>
            <a:spLocks noGrp="1"/>
          </p:cNvSpPr>
          <p:nvPr>
            <p:ph type="title"/>
          </p:nvPr>
        </p:nvSpPr>
        <p:spPr>
          <a:xfrm>
            <a:off x="838200" y="365125"/>
            <a:ext cx="9874541" cy="884835"/>
          </a:xfrm>
        </p:spPr>
        <p:txBody>
          <a:bodyPr>
            <a:normAutofit/>
          </a:bodyPr>
          <a:lstStyle/>
          <a:p>
            <a:r>
              <a:rPr lang="en-US" sz="3600" b="1" dirty="0"/>
              <a:t>What is an Authentication token ?</a:t>
            </a:r>
          </a:p>
        </p:txBody>
      </p:sp>
      <p:sp>
        <p:nvSpPr>
          <p:cNvPr id="3" name="Content Placeholder 2">
            <a:extLst>
              <a:ext uri="{FF2B5EF4-FFF2-40B4-BE49-F238E27FC236}">
                <a16:creationId xmlns:a16="http://schemas.microsoft.com/office/drawing/2014/main" id="{84BA770F-B0F7-85F0-07BD-F6810C687CD8}"/>
              </a:ext>
            </a:extLst>
          </p:cNvPr>
          <p:cNvSpPr>
            <a:spLocks noGrp="1"/>
          </p:cNvSpPr>
          <p:nvPr>
            <p:ph idx="1"/>
          </p:nvPr>
        </p:nvSpPr>
        <p:spPr>
          <a:xfrm>
            <a:off x="896923" y="1253331"/>
            <a:ext cx="10515600" cy="4351338"/>
          </a:xfrm>
        </p:spPr>
        <p:txBody>
          <a:bodyPr/>
          <a:lstStyle/>
          <a:p>
            <a:pPr algn="just"/>
            <a:r>
              <a:rPr lang="en-US" dirty="0"/>
              <a:t>A Token is a computer-generated code that acts as a digitally encoded signature of a user. They are used to authenticate the identity of a user to access any website or application network.</a:t>
            </a:r>
          </a:p>
          <a:p>
            <a:pPr algn="just"/>
            <a:r>
              <a:rPr lang="en-US" dirty="0"/>
              <a:t>A token is classified into two types: </a:t>
            </a:r>
          </a:p>
          <a:p>
            <a:pPr marL="514350" indent="-514350" algn="just">
              <a:buAutoNum type="alphaLcParenR"/>
            </a:pPr>
            <a:r>
              <a:rPr lang="en-US" b="1" dirty="0"/>
              <a:t>Physical token </a:t>
            </a:r>
            <a:r>
              <a:rPr lang="en-US" dirty="0"/>
              <a:t>: A Physical token use a tangible device to store the information of a user. Here, the secret key is a physical device that can be used to prove the user’s identity. </a:t>
            </a:r>
          </a:p>
          <a:p>
            <a:pPr marL="514350" indent="-514350" algn="just">
              <a:buAutoNum type="alphaLcParenR"/>
            </a:pPr>
            <a:r>
              <a:rPr lang="en-US" b="1" dirty="0"/>
              <a:t>Web token </a:t>
            </a:r>
            <a:r>
              <a:rPr lang="en-US" dirty="0"/>
              <a:t>: The authentication via web token is a fully digital process.</a:t>
            </a:r>
          </a:p>
        </p:txBody>
      </p:sp>
    </p:spTree>
    <p:extLst>
      <p:ext uri="{BB962C8B-B14F-4D97-AF65-F5344CB8AC3E}">
        <p14:creationId xmlns:p14="http://schemas.microsoft.com/office/powerpoint/2010/main" val="965734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5AF7-1FC4-755E-5FE1-710A7067FBA2}"/>
              </a:ext>
            </a:extLst>
          </p:cNvPr>
          <p:cNvSpPr>
            <a:spLocks noGrp="1"/>
          </p:cNvSpPr>
          <p:nvPr>
            <p:ph type="title"/>
          </p:nvPr>
        </p:nvSpPr>
        <p:spPr/>
        <p:txBody>
          <a:bodyPr/>
          <a:lstStyle/>
          <a:p>
            <a:r>
              <a:rPr lang="en-US" b="1" dirty="0"/>
              <a:t>4.3 Token-Based Authentication</a:t>
            </a:r>
          </a:p>
        </p:txBody>
      </p:sp>
      <p:sp>
        <p:nvSpPr>
          <p:cNvPr id="3" name="Content Placeholder 2">
            <a:extLst>
              <a:ext uri="{FF2B5EF4-FFF2-40B4-BE49-F238E27FC236}">
                <a16:creationId xmlns:a16="http://schemas.microsoft.com/office/drawing/2014/main" id="{7FB5BF03-B058-B7D8-F75D-B3CEB90BF5AB}"/>
              </a:ext>
            </a:extLst>
          </p:cNvPr>
          <p:cNvSpPr>
            <a:spLocks noGrp="1"/>
          </p:cNvSpPr>
          <p:nvPr>
            <p:ph idx="1"/>
          </p:nvPr>
        </p:nvSpPr>
        <p:spPr/>
        <p:txBody>
          <a:bodyPr/>
          <a:lstStyle/>
          <a:p>
            <a:pPr algn="just">
              <a:lnSpc>
                <a:spcPct val="150000"/>
              </a:lnSpc>
            </a:pPr>
            <a:r>
              <a:rPr lang="en-US" b="0" dirty="0">
                <a:effectLst/>
              </a:rPr>
              <a:t>Token-based authentication technologies enable users to enter their credentials once and receive a unique encrypted string of random characters in exchange.</a:t>
            </a:r>
          </a:p>
          <a:p>
            <a:pPr algn="just">
              <a:lnSpc>
                <a:spcPct val="150000"/>
              </a:lnSpc>
            </a:pPr>
            <a:r>
              <a:rPr lang="en-US" b="0" dirty="0">
                <a:effectLst/>
              </a:rPr>
              <a:t>You can then use the token to access protected systems instead of entering your credentials all over again.</a:t>
            </a:r>
            <a:endParaRPr lang="en-US" dirty="0"/>
          </a:p>
          <a:p>
            <a:pPr algn="just">
              <a:lnSpc>
                <a:spcPct val="150000"/>
              </a:lnSpc>
            </a:pPr>
            <a:r>
              <a:rPr lang="en-US" b="0" dirty="0">
                <a:effectLst/>
              </a:rPr>
              <a:t>The digital token proves that you already have access permission.</a:t>
            </a:r>
            <a:endParaRPr lang="en-US" dirty="0"/>
          </a:p>
        </p:txBody>
      </p:sp>
    </p:spTree>
    <p:extLst>
      <p:ext uri="{BB962C8B-B14F-4D97-AF65-F5344CB8AC3E}">
        <p14:creationId xmlns:p14="http://schemas.microsoft.com/office/powerpoint/2010/main" val="3381846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CE9E8F-AE0A-ACFB-673C-65A2399F4812}"/>
              </a:ext>
            </a:extLst>
          </p:cNvPr>
          <p:cNvSpPr>
            <a:spLocks noGrp="1"/>
          </p:cNvSpPr>
          <p:nvPr>
            <p:ph type="title"/>
          </p:nvPr>
        </p:nvSpPr>
        <p:spPr>
          <a:xfrm>
            <a:off x="1008184" y="174032"/>
            <a:ext cx="10175631" cy="1111843"/>
          </a:xfrm>
        </p:spPr>
        <p:txBody>
          <a:bodyPr anchor="ctr">
            <a:normAutofit/>
          </a:bodyPr>
          <a:lstStyle/>
          <a:p>
            <a:pPr algn="ctr"/>
            <a:r>
              <a:rPr lang="en-US" sz="4000" b="1"/>
              <a:t>4.3 Token-Based Authentication</a:t>
            </a:r>
            <a:endParaRPr lang="en-US" sz="4000"/>
          </a:p>
        </p:txBody>
      </p:sp>
      <p:sp>
        <p:nvSpPr>
          <p:cNvPr id="3" name="Content Placeholder 2">
            <a:extLst>
              <a:ext uri="{FF2B5EF4-FFF2-40B4-BE49-F238E27FC236}">
                <a16:creationId xmlns:a16="http://schemas.microsoft.com/office/drawing/2014/main" id="{F280BBF4-55BA-E4E3-7079-B352CCD57B75}"/>
              </a:ext>
            </a:extLst>
          </p:cNvPr>
          <p:cNvSpPr>
            <a:spLocks noGrp="1"/>
          </p:cNvSpPr>
          <p:nvPr>
            <p:ph idx="1"/>
          </p:nvPr>
        </p:nvSpPr>
        <p:spPr>
          <a:xfrm>
            <a:off x="1053450" y="1186918"/>
            <a:ext cx="10288465" cy="1044553"/>
          </a:xfrm>
        </p:spPr>
        <p:txBody>
          <a:bodyPr anchor="ctr">
            <a:normAutofit/>
          </a:bodyPr>
          <a:lstStyle/>
          <a:p>
            <a:pPr algn="just"/>
            <a:r>
              <a:rPr lang="en-US" sz="2000" dirty="0"/>
              <a:t>Token-based authentication is </a:t>
            </a:r>
            <a:r>
              <a:rPr lang="en-US" sz="2000" b="1" dirty="0"/>
              <a:t>a protocol that generates encrypted security tokens</a:t>
            </a:r>
            <a:r>
              <a:rPr lang="en-US" sz="2000" dirty="0"/>
              <a:t>. It enables users to verify their identity to websites, which then generates a unique encrypted authentication token.</a:t>
            </a:r>
          </a:p>
          <a:p>
            <a:pPr algn="ctr"/>
            <a:endParaRPr lang="en-US" sz="1700" dirty="0"/>
          </a:p>
        </p:txBody>
      </p:sp>
      <p:pic>
        <p:nvPicPr>
          <p:cNvPr id="5" name="Picture 4" descr="A picture containing text, screenshot, diagram&#10;&#10;Description automatically generated">
            <a:extLst>
              <a:ext uri="{FF2B5EF4-FFF2-40B4-BE49-F238E27FC236}">
                <a16:creationId xmlns:a16="http://schemas.microsoft.com/office/drawing/2014/main" id="{AF91B72B-A033-6B54-50C2-6A7DF0233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0595" y="2405149"/>
            <a:ext cx="7481342" cy="3950417"/>
          </a:xfrm>
          <a:prstGeom prst="rect">
            <a:avLst/>
          </a:prstGeom>
        </p:spPr>
      </p:pic>
    </p:spTree>
    <p:extLst>
      <p:ext uri="{BB962C8B-B14F-4D97-AF65-F5344CB8AC3E}">
        <p14:creationId xmlns:p14="http://schemas.microsoft.com/office/powerpoint/2010/main" val="3741647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6DBDB-4A96-AF35-4A77-9703FCDD18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AB3EEA-7801-CC44-7F49-C4309E4FAEEA}"/>
              </a:ext>
            </a:extLst>
          </p:cNvPr>
          <p:cNvSpPr>
            <a:spLocks noGrp="1"/>
          </p:cNvSpPr>
          <p:nvPr>
            <p:ph idx="1"/>
          </p:nvPr>
        </p:nvSpPr>
        <p:spPr/>
        <p:txBody>
          <a:bodyPr/>
          <a:lstStyle/>
          <a:p>
            <a:endParaRPr lang="en-US"/>
          </a:p>
        </p:txBody>
      </p:sp>
      <p:pic>
        <p:nvPicPr>
          <p:cNvPr id="1026" name="Picture 2" descr="traditional vs token-based authentication">
            <a:extLst>
              <a:ext uri="{FF2B5EF4-FFF2-40B4-BE49-F238E27FC236}">
                <a16:creationId xmlns:a16="http://schemas.microsoft.com/office/drawing/2014/main" id="{0F8DADBB-A33E-CB8C-2DC7-5840FD05A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048" y="1454690"/>
            <a:ext cx="9475903" cy="4595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784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1F7B-7A3B-6E8C-640D-6FFA3B2F2E41}"/>
              </a:ext>
            </a:extLst>
          </p:cNvPr>
          <p:cNvSpPr>
            <a:spLocks noGrp="1"/>
          </p:cNvSpPr>
          <p:nvPr>
            <p:ph type="title"/>
          </p:nvPr>
        </p:nvSpPr>
        <p:spPr/>
        <p:txBody>
          <a:bodyPr/>
          <a:lstStyle/>
          <a:p>
            <a:r>
              <a:rPr lang="en-US" b="1" dirty="0"/>
              <a:t>Types of Tokens</a:t>
            </a:r>
          </a:p>
        </p:txBody>
      </p:sp>
      <p:sp>
        <p:nvSpPr>
          <p:cNvPr id="3" name="Content Placeholder 2">
            <a:extLst>
              <a:ext uri="{FF2B5EF4-FFF2-40B4-BE49-F238E27FC236}">
                <a16:creationId xmlns:a16="http://schemas.microsoft.com/office/drawing/2014/main" id="{869F5D2A-8039-96CB-BC3B-5774664C54CD}"/>
              </a:ext>
            </a:extLst>
          </p:cNvPr>
          <p:cNvSpPr>
            <a:spLocks noGrp="1"/>
          </p:cNvSpPr>
          <p:nvPr>
            <p:ph idx="1"/>
          </p:nvPr>
        </p:nvSpPr>
        <p:spPr>
          <a:xfrm>
            <a:off x="758757" y="1611617"/>
            <a:ext cx="10595043" cy="4545992"/>
          </a:xfrm>
        </p:spPr>
        <p:txBody>
          <a:bodyPr/>
          <a:lstStyle/>
          <a:p>
            <a:pPr algn="just"/>
            <a:r>
              <a:rPr lang="en-US" b="1" dirty="0"/>
              <a:t>Hardware Tokens (USB) </a:t>
            </a:r>
            <a:r>
              <a:rPr lang="en-US" dirty="0"/>
              <a:t>: </a:t>
            </a:r>
            <a:r>
              <a:rPr lang="en-US" sz="2400" b="0" i="0" dirty="0">
                <a:solidFill>
                  <a:srgbClr val="131314"/>
                </a:solidFill>
                <a:effectLst/>
                <a:highlight>
                  <a:srgbClr val="FFFFFF"/>
                </a:highlight>
                <a:latin typeface="Inter Tight"/>
              </a:rPr>
              <a:t>Equipment tokens are actual gadgets that, once approved, permit clients to get to safeguarded networks. They're otherwise called validation or security tokens.</a:t>
            </a:r>
            <a:endParaRPr lang="en-US" sz="2400" dirty="0"/>
          </a:p>
          <a:p>
            <a:pPr algn="just"/>
            <a:r>
              <a:rPr lang="en-US" b="1" dirty="0"/>
              <a:t>JWPT – JSON Web Tokens</a:t>
            </a:r>
            <a:r>
              <a:rPr lang="en-US" dirty="0"/>
              <a:t>: </a:t>
            </a:r>
            <a:r>
              <a:rPr lang="en-US" sz="2400" dirty="0"/>
              <a:t>JSON Web Tokens (JWTs) are a secure, compact way to transmit data between parties as JSON objects, often used for authentication and carrying user or account information. They can be included in URLs, POST parameters, or HTTP headers, allowing easy verification without server contact.</a:t>
            </a:r>
          </a:p>
          <a:p>
            <a:pPr algn="just"/>
            <a:r>
              <a:rPr lang="en-US" b="1" dirty="0"/>
              <a:t>OTP Tokens </a:t>
            </a:r>
            <a:r>
              <a:rPr lang="en-US" dirty="0"/>
              <a:t>: One time secret key</a:t>
            </a:r>
          </a:p>
          <a:p>
            <a:pPr algn="just"/>
            <a:r>
              <a:rPr lang="en-US" b="1" dirty="0"/>
              <a:t>API Tokens </a:t>
            </a:r>
            <a:r>
              <a:rPr lang="en-US" dirty="0"/>
              <a:t>: Oauth2</a:t>
            </a:r>
          </a:p>
        </p:txBody>
      </p:sp>
    </p:spTree>
    <p:extLst>
      <p:ext uri="{BB962C8B-B14F-4D97-AF65-F5344CB8AC3E}">
        <p14:creationId xmlns:p14="http://schemas.microsoft.com/office/powerpoint/2010/main" val="3331692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4605-C7C9-41E3-7A1D-A90EBD3F7233}"/>
              </a:ext>
            </a:extLst>
          </p:cNvPr>
          <p:cNvSpPr>
            <a:spLocks noGrp="1"/>
          </p:cNvSpPr>
          <p:nvPr>
            <p:ph type="title"/>
          </p:nvPr>
        </p:nvSpPr>
        <p:spPr/>
        <p:txBody>
          <a:bodyPr/>
          <a:lstStyle/>
          <a:p>
            <a:r>
              <a:rPr lang="en-US" b="1" dirty="0"/>
              <a:t>How does Token-based Authentication work?</a:t>
            </a:r>
          </a:p>
        </p:txBody>
      </p:sp>
      <p:sp>
        <p:nvSpPr>
          <p:cNvPr id="3" name="Content Placeholder 2">
            <a:extLst>
              <a:ext uri="{FF2B5EF4-FFF2-40B4-BE49-F238E27FC236}">
                <a16:creationId xmlns:a16="http://schemas.microsoft.com/office/drawing/2014/main" id="{B4081E85-1018-DA6F-B05B-9D9DB1258375}"/>
              </a:ext>
            </a:extLst>
          </p:cNvPr>
          <p:cNvSpPr>
            <a:spLocks noGrp="1"/>
          </p:cNvSpPr>
          <p:nvPr>
            <p:ph idx="1"/>
          </p:nvPr>
        </p:nvSpPr>
        <p:spPr/>
        <p:txBody>
          <a:bodyPr>
            <a:normAutofit fontScale="70000" lnSpcReduction="20000"/>
          </a:bodyPr>
          <a:lstStyle/>
          <a:p>
            <a:pPr marL="0" indent="0" algn="just">
              <a:lnSpc>
                <a:spcPct val="120000"/>
              </a:lnSpc>
              <a:buNone/>
            </a:pPr>
            <a:r>
              <a:rPr lang="en-US" dirty="0"/>
              <a:t>This mechanism works with 4 steps:</a:t>
            </a:r>
          </a:p>
          <a:p>
            <a:pPr marL="514350" indent="-514350" algn="just">
              <a:lnSpc>
                <a:spcPct val="120000"/>
              </a:lnSpc>
              <a:buAutoNum type="arabicPeriod"/>
            </a:pPr>
            <a:r>
              <a:rPr lang="en-US" b="1" dirty="0"/>
              <a:t>Request </a:t>
            </a:r>
            <a:r>
              <a:rPr lang="en-US" dirty="0"/>
              <a:t>: user intends to enter the service with login credentials on the application or the website interface. The credentials involve a username, password, smartcard, or biometrics</a:t>
            </a:r>
          </a:p>
          <a:p>
            <a:pPr marL="514350" indent="-514350" algn="just">
              <a:lnSpc>
                <a:spcPct val="120000"/>
              </a:lnSpc>
              <a:buAutoNum type="arabicPeriod"/>
            </a:pPr>
            <a:r>
              <a:rPr lang="en-US" b="1" dirty="0"/>
              <a:t>Verification </a:t>
            </a:r>
            <a:r>
              <a:rPr lang="en-US" dirty="0"/>
              <a:t>: login information from the client-server is sent to the authentication server for verification of valid users trying to enter the restricted resource. If the credentials pass the verification the server generates a secret digital key to the user via HTTP in the form of a code. The token is sent in a JWT open standard format which includes- </a:t>
            </a:r>
            <a:r>
              <a:rPr lang="en-US" b="1" dirty="0"/>
              <a:t>header, payload, signature</a:t>
            </a:r>
          </a:p>
          <a:p>
            <a:pPr marL="514350" indent="-514350" algn="just">
              <a:lnSpc>
                <a:spcPct val="120000"/>
              </a:lnSpc>
              <a:buAutoNum type="arabicPeriod"/>
            </a:pPr>
            <a:r>
              <a:rPr lang="en-US" b="1" dirty="0"/>
              <a:t>Token Validation </a:t>
            </a:r>
            <a:r>
              <a:rPr lang="en-US" dirty="0"/>
              <a:t>: The user receives the token code and enters it into the resource server to grant access to the network.</a:t>
            </a:r>
          </a:p>
          <a:p>
            <a:pPr marL="514350" indent="-514350" algn="just">
              <a:lnSpc>
                <a:spcPct val="120000"/>
              </a:lnSpc>
              <a:buAutoNum type="arabicPeriod"/>
            </a:pPr>
            <a:r>
              <a:rPr lang="en-US" b="1" dirty="0"/>
              <a:t>Storage</a:t>
            </a:r>
            <a:r>
              <a:rPr lang="en-US" dirty="0"/>
              <a:t> : Once the resource server validated the token and grants access to the user, it stores the token in a database for the session time you define.</a:t>
            </a:r>
          </a:p>
        </p:txBody>
      </p:sp>
    </p:spTree>
    <p:extLst>
      <p:ext uri="{BB962C8B-B14F-4D97-AF65-F5344CB8AC3E}">
        <p14:creationId xmlns:p14="http://schemas.microsoft.com/office/powerpoint/2010/main" val="3452219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B7EDB-23BC-9D42-4132-299E92654E9F}"/>
              </a:ext>
            </a:extLst>
          </p:cNvPr>
          <p:cNvSpPr>
            <a:spLocks noGrp="1"/>
          </p:cNvSpPr>
          <p:nvPr>
            <p:ph type="title"/>
          </p:nvPr>
        </p:nvSpPr>
        <p:spPr/>
        <p:txBody>
          <a:bodyPr/>
          <a:lstStyle/>
          <a:p>
            <a:r>
              <a:rPr lang="en-US" b="1" dirty="0"/>
              <a:t>4.4 Biometric Authentication</a:t>
            </a:r>
          </a:p>
        </p:txBody>
      </p:sp>
      <p:sp>
        <p:nvSpPr>
          <p:cNvPr id="3" name="Content Placeholder 2">
            <a:extLst>
              <a:ext uri="{FF2B5EF4-FFF2-40B4-BE49-F238E27FC236}">
                <a16:creationId xmlns:a16="http://schemas.microsoft.com/office/drawing/2014/main" id="{083417A7-E842-7E09-01D3-491542CABE0E}"/>
              </a:ext>
            </a:extLst>
          </p:cNvPr>
          <p:cNvSpPr>
            <a:spLocks noGrp="1"/>
          </p:cNvSpPr>
          <p:nvPr>
            <p:ph idx="1"/>
          </p:nvPr>
        </p:nvSpPr>
        <p:spPr/>
        <p:txBody>
          <a:bodyPr/>
          <a:lstStyle/>
          <a:p>
            <a:r>
              <a:rPr lang="en-US" dirty="0"/>
              <a:t>refers to a cybersecurity process that verifies a user’s identity using their unique biological traits such as fingerprints, voices, retinas, and facial features. </a:t>
            </a:r>
          </a:p>
          <a:p>
            <a:r>
              <a:rPr lang="en-US" dirty="0"/>
              <a:t>Biometric authentication systems store this information in order to verify a user’s identity when that user accesses their account. </a:t>
            </a:r>
          </a:p>
          <a:p>
            <a:r>
              <a:rPr lang="en-US" dirty="0"/>
              <a:t>This type of authentication is usually more secure than traditional forms of multi-factor authentication.</a:t>
            </a:r>
          </a:p>
        </p:txBody>
      </p:sp>
    </p:spTree>
    <p:extLst>
      <p:ext uri="{BB962C8B-B14F-4D97-AF65-F5344CB8AC3E}">
        <p14:creationId xmlns:p14="http://schemas.microsoft.com/office/powerpoint/2010/main" val="2426956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0395-19C5-645A-F219-2716D22E3C83}"/>
              </a:ext>
            </a:extLst>
          </p:cNvPr>
          <p:cNvSpPr>
            <a:spLocks noGrp="1"/>
          </p:cNvSpPr>
          <p:nvPr>
            <p:ph type="title"/>
          </p:nvPr>
        </p:nvSpPr>
        <p:spPr/>
        <p:txBody>
          <a:bodyPr>
            <a:normAutofit/>
          </a:bodyPr>
          <a:lstStyle/>
          <a:p>
            <a:r>
              <a:rPr lang="en-US" sz="4000" b="1" dirty="0"/>
              <a:t>Types of Biometric Authentication methods</a:t>
            </a:r>
          </a:p>
        </p:txBody>
      </p:sp>
      <p:sp>
        <p:nvSpPr>
          <p:cNvPr id="3" name="Content Placeholder 2">
            <a:extLst>
              <a:ext uri="{FF2B5EF4-FFF2-40B4-BE49-F238E27FC236}">
                <a16:creationId xmlns:a16="http://schemas.microsoft.com/office/drawing/2014/main" id="{76228675-E9CA-BB9A-5F96-8FC6B80D75C6}"/>
              </a:ext>
            </a:extLst>
          </p:cNvPr>
          <p:cNvSpPr>
            <a:spLocks noGrp="1"/>
          </p:cNvSpPr>
          <p:nvPr>
            <p:ph idx="1"/>
          </p:nvPr>
        </p:nvSpPr>
        <p:spPr/>
        <p:txBody>
          <a:bodyPr/>
          <a:lstStyle/>
          <a:p>
            <a:r>
              <a:rPr lang="en-US" dirty="0"/>
              <a:t>Facial Recognition</a:t>
            </a:r>
          </a:p>
          <a:p>
            <a:r>
              <a:rPr lang="en-US" dirty="0"/>
              <a:t>Fingerprint Recognition</a:t>
            </a:r>
          </a:p>
          <a:p>
            <a:r>
              <a:rPr lang="en-US" dirty="0"/>
              <a:t>Eye Recognition</a:t>
            </a:r>
          </a:p>
          <a:p>
            <a:r>
              <a:rPr lang="en-US" dirty="0"/>
              <a:t>Speech Recognition</a:t>
            </a:r>
          </a:p>
        </p:txBody>
      </p:sp>
    </p:spTree>
    <p:extLst>
      <p:ext uri="{BB962C8B-B14F-4D97-AF65-F5344CB8AC3E}">
        <p14:creationId xmlns:p14="http://schemas.microsoft.com/office/powerpoint/2010/main" val="1905840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FFD9D-39D9-EF88-9DBC-6FE219CF6660}"/>
              </a:ext>
            </a:extLst>
          </p:cNvPr>
          <p:cNvSpPr>
            <a:spLocks noGrp="1"/>
          </p:cNvSpPr>
          <p:nvPr>
            <p:ph type="title"/>
          </p:nvPr>
        </p:nvSpPr>
        <p:spPr/>
        <p:txBody>
          <a:bodyPr>
            <a:normAutofit fontScale="90000"/>
          </a:bodyPr>
          <a:lstStyle/>
          <a:p>
            <a:r>
              <a:rPr lang="en-US" b="1" dirty="0"/>
              <a:t>How does Biometric Authentication work?</a:t>
            </a:r>
            <a:br>
              <a:rPr lang="en-US" b="1" dirty="0"/>
            </a:br>
            <a:br>
              <a:rPr lang="en-US" b="1" dirty="0"/>
            </a:br>
            <a:r>
              <a:rPr lang="en-US" b="1" i="1" dirty="0"/>
              <a:t>Divided into four components</a:t>
            </a:r>
          </a:p>
        </p:txBody>
      </p:sp>
      <p:pic>
        <p:nvPicPr>
          <p:cNvPr id="5" name="Content Placeholder 4" descr="A diagram of data processing&#10;&#10;Description automatically generated with low confidence">
            <a:extLst>
              <a:ext uri="{FF2B5EF4-FFF2-40B4-BE49-F238E27FC236}">
                <a16:creationId xmlns:a16="http://schemas.microsoft.com/office/drawing/2014/main" id="{749AA560-2A15-D480-5364-07145DCB4C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3554" y="1993770"/>
            <a:ext cx="8492482" cy="2870459"/>
          </a:xfrm>
        </p:spPr>
      </p:pic>
    </p:spTree>
    <p:extLst>
      <p:ext uri="{BB962C8B-B14F-4D97-AF65-F5344CB8AC3E}">
        <p14:creationId xmlns:p14="http://schemas.microsoft.com/office/powerpoint/2010/main" val="320051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62A25-74A4-EE73-8C57-5D8E11838224}"/>
              </a:ext>
            </a:extLst>
          </p:cNvPr>
          <p:cNvSpPr>
            <a:spLocks noGrp="1"/>
          </p:cNvSpPr>
          <p:nvPr>
            <p:ph type="title"/>
          </p:nvPr>
        </p:nvSpPr>
        <p:spPr/>
        <p:txBody>
          <a:bodyPr/>
          <a:lstStyle/>
          <a:p>
            <a:r>
              <a:rPr lang="en-US" b="1" dirty="0"/>
              <a:t>General working of Biometric System</a:t>
            </a:r>
          </a:p>
        </p:txBody>
      </p:sp>
      <p:sp>
        <p:nvSpPr>
          <p:cNvPr id="3" name="Content Placeholder 2">
            <a:extLst>
              <a:ext uri="{FF2B5EF4-FFF2-40B4-BE49-F238E27FC236}">
                <a16:creationId xmlns:a16="http://schemas.microsoft.com/office/drawing/2014/main" id="{BBC1AA1C-72CD-E875-3D2E-8C57AF0C476D}"/>
              </a:ext>
            </a:extLst>
          </p:cNvPr>
          <p:cNvSpPr>
            <a:spLocks noGrp="1"/>
          </p:cNvSpPr>
          <p:nvPr>
            <p:ph idx="1"/>
          </p:nvPr>
        </p:nvSpPr>
        <p:spPr/>
        <p:txBody>
          <a:bodyPr/>
          <a:lstStyle/>
          <a:p>
            <a:pPr marL="0" indent="0">
              <a:buNone/>
            </a:pPr>
            <a:r>
              <a:rPr lang="en-US" dirty="0"/>
              <a:t>1. Acquire live sample from candidate. (using sensors)</a:t>
            </a:r>
          </a:p>
          <a:p>
            <a:pPr marL="0" indent="0">
              <a:buNone/>
            </a:pPr>
            <a:r>
              <a:rPr lang="en-US" dirty="0"/>
              <a:t>2. Extract prominent features from sample. (using processing unit)</a:t>
            </a:r>
          </a:p>
          <a:p>
            <a:pPr marL="0" indent="0">
              <a:buNone/>
            </a:pPr>
            <a:r>
              <a:rPr lang="en-US" dirty="0"/>
              <a:t>3. Compare live sample with samples stored in database. (using algorithms)</a:t>
            </a:r>
          </a:p>
          <a:p>
            <a:pPr marL="0" indent="0">
              <a:buNone/>
            </a:pPr>
            <a:r>
              <a:rPr lang="en-US" dirty="0"/>
              <a:t>4. Present the decision. (Accept or reject the candidate.)</a:t>
            </a:r>
          </a:p>
          <a:p>
            <a:endParaRPr lang="en-US" dirty="0"/>
          </a:p>
        </p:txBody>
      </p:sp>
    </p:spTree>
    <p:extLst>
      <p:ext uri="{BB962C8B-B14F-4D97-AF65-F5344CB8AC3E}">
        <p14:creationId xmlns:p14="http://schemas.microsoft.com/office/powerpoint/2010/main" val="1373754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197E-4EA6-1F54-38E8-06D2C48D210E}"/>
              </a:ext>
            </a:extLst>
          </p:cNvPr>
          <p:cNvSpPr>
            <a:spLocks noGrp="1"/>
          </p:cNvSpPr>
          <p:nvPr>
            <p:ph type="title"/>
          </p:nvPr>
        </p:nvSpPr>
        <p:spPr/>
        <p:txBody>
          <a:bodyPr/>
          <a:lstStyle/>
          <a:p>
            <a:r>
              <a:rPr lang="en-US" b="1" dirty="0"/>
              <a:t>General working of Biometric System</a:t>
            </a:r>
          </a:p>
        </p:txBody>
      </p:sp>
      <p:pic>
        <p:nvPicPr>
          <p:cNvPr id="5" name="Content Placeholder 4" descr="A diagram of biometric identification&#10;&#10;Description automatically generated with low confidence">
            <a:extLst>
              <a:ext uri="{FF2B5EF4-FFF2-40B4-BE49-F238E27FC236}">
                <a16:creationId xmlns:a16="http://schemas.microsoft.com/office/drawing/2014/main" id="{C005FDA2-1EC3-C483-D7BB-A5B282533A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19049" y="1844406"/>
            <a:ext cx="6386519" cy="4183170"/>
          </a:xfrm>
        </p:spPr>
      </p:pic>
    </p:spTree>
    <p:extLst>
      <p:ext uri="{BB962C8B-B14F-4D97-AF65-F5344CB8AC3E}">
        <p14:creationId xmlns:p14="http://schemas.microsoft.com/office/powerpoint/2010/main" val="2937015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E51FA-2DC3-BFD4-986E-5DE3AFB614D1}"/>
              </a:ext>
            </a:extLst>
          </p:cNvPr>
          <p:cNvSpPr>
            <a:spLocks noGrp="1"/>
          </p:cNvSpPr>
          <p:nvPr>
            <p:ph type="title"/>
          </p:nvPr>
        </p:nvSpPr>
        <p:spPr/>
        <p:txBody>
          <a:bodyPr>
            <a:normAutofit/>
          </a:bodyPr>
          <a:lstStyle/>
          <a:p>
            <a:r>
              <a:rPr lang="en-US" sz="3600" dirty="0"/>
              <a:t>Application areas of Biometric Authentication System</a:t>
            </a:r>
          </a:p>
        </p:txBody>
      </p:sp>
      <p:sp>
        <p:nvSpPr>
          <p:cNvPr id="3" name="Content Placeholder 2">
            <a:extLst>
              <a:ext uri="{FF2B5EF4-FFF2-40B4-BE49-F238E27FC236}">
                <a16:creationId xmlns:a16="http://schemas.microsoft.com/office/drawing/2014/main" id="{4CA6209B-D4C9-0237-E66E-A8C5FCE9F7A0}"/>
              </a:ext>
            </a:extLst>
          </p:cNvPr>
          <p:cNvSpPr>
            <a:spLocks noGrp="1"/>
          </p:cNvSpPr>
          <p:nvPr>
            <p:ph idx="1"/>
          </p:nvPr>
        </p:nvSpPr>
        <p:spPr/>
        <p:txBody>
          <a:bodyPr/>
          <a:lstStyle/>
          <a:p>
            <a:pPr>
              <a:buFont typeface="Arial" panose="020B0604020202020204" pitchFamily="34" charset="0"/>
              <a:buChar char="•"/>
            </a:pPr>
            <a:r>
              <a:rPr lang="en-US" dirty="0"/>
              <a:t>Controlling workplace access.</a:t>
            </a:r>
          </a:p>
          <a:p>
            <a:pPr>
              <a:buFont typeface="Arial" panose="020B0604020202020204" pitchFamily="34" charset="0"/>
              <a:buChar char="•"/>
            </a:pPr>
            <a:r>
              <a:rPr lang="en-US" dirty="0"/>
              <a:t>Identity establishment of people for authentic citizenship and immigration systems.</a:t>
            </a:r>
          </a:p>
          <a:p>
            <a:pPr>
              <a:buFont typeface="Arial" panose="020B0604020202020204" pitchFamily="34" charset="0"/>
              <a:buChar char="•"/>
            </a:pPr>
            <a:r>
              <a:rPr lang="en-US" dirty="0"/>
              <a:t>Applying access control to sensitive information and systems.</a:t>
            </a:r>
          </a:p>
          <a:p>
            <a:pPr>
              <a:buFont typeface="Arial" panose="020B0604020202020204" pitchFamily="34" charset="0"/>
              <a:buChar char="•"/>
            </a:pPr>
            <a:r>
              <a:rPr lang="en-US" dirty="0"/>
              <a:t>Identifying criminals by forensics.</a:t>
            </a:r>
          </a:p>
          <a:p>
            <a:pPr>
              <a:buFont typeface="Arial" panose="020B0604020202020204" pitchFamily="34" charset="0"/>
              <a:buChar char="•"/>
            </a:pPr>
            <a:r>
              <a:rPr lang="en-US" dirty="0"/>
              <a:t>Executing online e-commerce transactions.</a:t>
            </a:r>
          </a:p>
          <a:p>
            <a:pPr>
              <a:buFont typeface="Arial" panose="020B0604020202020204" pitchFamily="34" charset="0"/>
              <a:buChar char="•"/>
            </a:pPr>
            <a:r>
              <a:rPr lang="en-US" dirty="0"/>
              <a:t>Fraud and theft reduction.</a:t>
            </a:r>
          </a:p>
          <a:p>
            <a:pPr>
              <a:buFont typeface="Arial" panose="020B0604020202020204" pitchFamily="34" charset="0"/>
              <a:buChar char="•"/>
            </a:pPr>
            <a:r>
              <a:rPr lang="en-US" dirty="0"/>
              <a:t>Law enforcement.</a:t>
            </a:r>
          </a:p>
          <a:p>
            <a:endParaRPr lang="en-US" dirty="0"/>
          </a:p>
        </p:txBody>
      </p:sp>
    </p:spTree>
    <p:extLst>
      <p:ext uri="{BB962C8B-B14F-4D97-AF65-F5344CB8AC3E}">
        <p14:creationId xmlns:p14="http://schemas.microsoft.com/office/powerpoint/2010/main" val="909167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D122-B919-93E2-C5F2-EB4C6CDC8EF7}"/>
              </a:ext>
            </a:extLst>
          </p:cNvPr>
          <p:cNvSpPr>
            <a:spLocks noGrp="1"/>
          </p:cNvSpPr>
          <p:nvPr>
            <p:ph type="title"/>
          </p:nvPr>
        </p:nvSpPr>
        <p:spPr/>
        <p:txBody>
          <a:bodyPr/>
          <a:lstStyle/>
          <a:p>
            <a:r>
              <a:rPr lang="en-US" b="1" dirty="0"/>
              <a:t>4.5 Remote User Authentication</a:t>
            </a:r>
          </a:p>
        </p:txBody>
      </p:sp>
      <p:sp>
        <p:nvSpPr>
          <p:cNvPr id="3" name="Content Placeholder 2">
            <a:extLst>
              <a:ext uri="{FF2B5EF4-FFF2-40B4-BE49-F238E27FC236}">
                <a16:creationId xmlns:a16="http://schemas.microsoft.com/office/drawing/2014/main" id="{3BE0196B-13AA-A86B-579C-1CE78833A4E3}"/>
              </a:ext>
            </a:extLst>
          </p:cNvPr>
          <p:cNvSpPr>
            <a:spLocks noGrp="1"/>
          </p:cNvSpPr>
          <p:nvPr>
            <p:ph idx="1"/>
          </p:nvPr>
        </p:nvSpPr>
        <p:spPr/>
        <p:txBody>
          <a:bodyPr/>
          <a:lstStyle/>
          <a:p>
            <a:r>
              <a:rPr lang="en-US" dirty="0"/>
              <a:t>the process of verifying users remotely to grant access to the organization's system over a network.</a:t>
            </a:r>
          </a:p>
          <a:p>
            <a:r>
              <a:rPr lang="en-US" dirty="0"/>
              <a:t>allows your users to log in via outside platforms.</a:t>
            </a:r>
          </a:p>
        </p:txBody>
      </p:sp>
    </p:spTree>
    <p:extLst>
      <p:ext uri="{BB962C8B-B14F-4D97-AF65-F5344CB8AC3E}">
        <p14:creationId xmlns:p14="http://schemas.microsoft.com/office/powerpoint/2010/main" val="2924879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611C-7A52-B0C6-ED60-B6C668652276}"/>
              </a:ext>
            </a:extLst>
          </p:cNvPr>
          <p:cNvSpPr>
            <a:spLocks noGrp="1"/>
          </p:cNvSpPr>
          <p:nvPr>
            <p:ph type="title"/>
          </p:nvPr>
        </p:nvSpPr>
        <p:spPr/>
        <p:txBody>
          <a:bodyPr/>
          <a:lstStyle/>
          <a:p>
            <a:endParaRPr lang="en-US"/>
          </a:p>
        </p:txBody>
      </p:sp>
      <p:pic>
        <p:nvPicPr>
          <p:cNvPr id="5" name="Content Placeholder 4" descr="A picture containing text, diagram, screenshot&#10;&#10;Description automatically generated">
            <a:extLst>
              <a:ext uri="{FF2B5EF4-FFF2-40B4-BE49-F238E27FC236}">
                <a16:creationId xmlns:a16="http://schemas.microsoft.com/office/drawing/2014/main" id="{2EE4CC2B-CA41-84D2-0AE1-9B7D6634CA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0441" y="2239912"/>
            <a:ext cx="7896225" cy="3019425"/>
          </a:xfrm>
        </p:spPr>
      </p:pic>
    </p:spTree>
    <p:extLst>
      <p:ext uri="{BB962C8B-B14F-4D97-AF65-F5344CB8AC3E}">
        <p14:creationId xmlns:p14="http://schemas.microsoft.com/office/powerpoint/2010/main" val="3139780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56E80-C608-ED05-D124-5E714325D353}"/>
              </a:ext>
            </a:extLst>
          </p:cNvPr>
          <p:cNvSpPr>
            <a:spLocks noGrp="1"/>
          </p:cNvSpPr>
          <p:nvPr>
            <p:ph type="title"/>
          </p:nvPr>
        </p:nvSpPr>
        <p:spPr>
          <a:xfrm>
            <a:off x="838200" y="-62713"/>
            <a:ext cx="10515600" cy="1325563"/>
          </a:xfrm>
        </p:spPr>
        <p:txBody>
          <a:bodyPr/>
          <a:lstStyle/>
          <a:p>
            <a:r>
              <a:rPr lang="en-US" b="1" dirty="0"/>
              <a:t>How does Remote User Authentication work?</a:t>
            </a:r>
          </a:p>
        </p:txBody>
      </p:sp>
      <p:sp>
        <p:nvSpPr>
          <p:cNvPr id="3" name="Content Placeholder 2">
            <a:extLst>
              <a:ext uri="{FF2B5EF4-FFF2-40B4-BE49-F238E27FC236}">
                <a16:creationId xmlns:a16="http://schemas.microsoft.com/office/drawing/2014/main" id="{B3B1805A-83E2-EA98-A9CE-8D4F68CF73C1}"/>
              </a:ext>
            </a:extLst>
          </p:cNvPr>
          <p:cNvSpPr>
            <a:spLocks noGrp="1"/>
          </p:cNvSpPr>
          <p:nvPr>
            <p:ph idx="1"/>
          </p:nvPr>
        </p:nvSpPr>
        <p:spPr>
          <a:xfrm>
            <a:off x="838200" y="1463055"/>
            <a:ext cx="10515600" cy="4351338"/>
          </a:xfrm>
        </p:spPr>
        <p:txBody>
          <a:bodyPr>
            <a:normAutofit/>
          </a:bodyPr>
          <a:lstStyle/>
          <a:p>
            <a:pPr algn="just"/>
            <a:r>
              <a:rPr lang="en-US" b="1" dirty="0"/>
              <a:t>Identification (Step 1) </a:t>
            </a:r>
            <a:r>
              <a:rPr lang="en-US" dirty="0"/>
              <a:t>: The user needs to perform certain identity verification activities, like face authentication, fingerprint scan, voice authentication, password verification, </a:t>
            </a:r>
            <a:r>
              <a:rPr lang="en-US" dirty="0" err="1"/>
              <a:t>etc</a:t>
            </a:r>
            <a:endParaRPr lang="en-US" dirty="0"/>
          </a:p>
          <a:p>
            <a:pPr algn="just"/>
            <a:r>
              <a:rPr lang="en-US" b="1" dirty="0"/>
              <a:t>Verification (Step 2): </a:t>
            </a:r>
            <a:r>
              <a:rPr lang="en-US" dirty="0"/>
              <a:t>In this step, the information generated is matched with records to ascertain the identity presented in Step 1. </a:t>
            </a:r>
          </a:p>
          <a:p>
            <a:pPr marL="0" indent="0" algn="just">
              <a:buNone/>
            </a:pPr>
            <a:endParaRPr lang="en-US" dirty="0"/>
          </a:p>
        </p:txBody>
      </p:sp>
    </p:spTree>
    <p:extLst>
      <p:ext uri="{BB962C8B-B14F-4D97-AF65-F5344CB8AC3E}">
        <p14:creationId xmlns:p14="http://schemas.microsoft.com/office/powerpoint/2010/main" val="2950645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75685-74CF-F1DF-A996-A0ED6ED383BE}"/>
              </a:ext>
            </a:extLst>
          </p:cNvPr>
          <p:cNvSpPr>
            <a:spLocks noGrp="1"/>
          </p:cNvSpPr>
          <p:nvPr>
            <p:ph type="title"/>
          </p:nvPr>
        </p:nvSpPr>
        <p:spPr/>
        <p:txBody>
          <a:bodyPr/>
          <a:lstStyle/>
          <a:p>
            <a:r>
              <a:rPr lang="en-US" b="1" dirty="0"/>
              <a:t>Remote User Authentication</a:t>
            </a:r>
          </a:p>
        </p:txBody>
      </p:sp>
      <p:sp>
        <p:nvSpPr>
          <p:cNvPr id="3" name="Content Placeholder 2">
            <a:extLst>
              <a:ext uri="{FF2B5EF4-FFF2-40B4-BE49-F238E27FC236}">
                <a16:creationId xmlns:a16="http://schemas.microsoft.com/office/drawing/2014/main" id="{2A0A0683-513D-7627-3632-3CF71CD348CF}"/>
              </a:ext>
            </a:extLst>
          </p:cNvPr>
          <p:cNvSpPr>
            <a:spLocks noGrp="1"/>
          </p:cNvSpPr>
          <p:nvPr>
            <p:ph idx="1"/>
          </p:nvPr>
        </p:nvSpPr>
        <p:spPr/>
        <p:txBody>
          <a:bodyPr/>
          <a:lstStyle/>
          <a:p>
            <a:pPr marL="0" indent="0" algn="just">
              <a:buNone/>
            </a:pPr>
            <a:r>
              <a:rPr lang="en-US" dirty="0"/>
              <a:t>The means of authenticating a user can be:</a:t>
            </a:r>
          </a:p>
          <a:p>
            <a:pPr algn="just">
              <a:buFont typeface="+mj-lt"/>
              <a:buAutoNum type="arabicPeriod"/>
            </a:pPr>
            <a:r>
              <a:rPr lang="en-US" b="1" dirty="0"/>
              <a:t>User knowledge</a:t>
            </a:r>
            <a:r>
              <a:rPr lang="en-US" dirty="0"/>
              <a:t>: passwords, answers to specific questions, PIN or OTP.</a:t>
            </a:r>
          </a:p>
          <a:p>
            <a:pPr algn="just">
              <a:buFont typeface="+mj-lt"/>
              <a:buAutoNum type="arabicPeriod"/>
            </a:pPr>
            <a:r>
              <a:rPr lang="en-US" b="1" dirty="0"/>
              <a:t>Organization-issued assets</a:t>
            </a:r>
            <a:r>
              <a:rPr lang="en-US" dirty="0"/>
              <a:t>: smart cards, cryptographic keys, physical keys. </a:t>
            </a:r>
          </a:p>
          <a:p>
            <a:pPr algn="just">
              <a:buFont typeface="+mj-lt"/>
              <a:buAutoNum type="arabicPeriod"/>
            </a:pPr>
            <a:r>
              <a:rPr lang="en-US" b="1" dirty="0"/>
              <a:t>Biometric features</a:t>
            </a:r>
            <a:r>
              <a:rPr lang="en-US" dirty="0"/>
              <a:t>: face, retina, fingerprints   </a:t>
            </a:r>
          </a:p>
          <a:p>
            <a:pPr algn="just">
              <a:buFont typeface="+mj-lt"/>
              <a:buAutoNum type="arabicPeriod"/>
            </a:pPr>
            <a:r>
              <a:rPr lang="en-US" b="1" dirty="0"/>
              <a:t>Biometric characters</a:t>
            </a:r>
            <a:r>
              <a:rPr lang="en-US" dirty="0"/>
              <a:t>: Voice recognition, typing rhythm, handwriting</a:t>
            </a:r>
          </a:p>
          <a:p>
            <a:pPr algn="just"/>
            <a:endParaRPr lang="en-US" dirty="0"/>
          </a:p>
        </p:txBody>
      </p:sp>
    </p:spTree>
    <p:extLst>
      <p:ext uri="{BB962C8B-B14F-4D97-AF65-F5344CB8AC3E}">
        <p14:creationId xmlns:p14="http://schemas.microsoft.com/office/powerpoint/2010/main" val="2506455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4733E-A2E2-BF63-F2CE-1A6AC1325351}"/>
              </a:ext>
            </a:extLst>
          </p:cNvPr>
          <p:cNvSpPr>
            <a:spLocks noGrp="1"/>
          </p:cNvSpPr>
          <p:nvPr>
            <p:ph type="title"/>
          </p:nvPr>
        </p:nvSpPr>
        <p:spPr/>
        <p:txBody>
          <a:bodyPr/>
          <a:lstStyle/>
          <a:p>
            <a:r>
              <a:rPr lang="en-US" b="1" dirty="0"/>
              <a:t>Advantages 					Drawbacks</a:t>
            </a:r>
          </a:p>
        </p:txBody>
      </p:sp>
      <p:sp>
        <p:nvSpPr>
          <p:cNvPr id="3" name="Content Placeholder 2">
            <a:extLst>
              <a:ext uri="{FF2B5EF4-FFF2-40B4-BE49-F238E27FC236}">
                <a16:creationId xmlns:a16="http://schemas.microsoft.com/office/drawing/2014/main" id="{9E4B2BE4-A80D-56AA-85EA-0F5A353A2016}"/>
              </a:ext>
            </a:extLst>
          </p:cNvPr>
          <p:cNvSpPr>
            <a:spLocks noGrp="1"/>
          </p:cNvSpPr>
          <p:nvPr>
            <p:ph idx="1"/>
          </p:nvPr>
        </p:nvSpPr>
        <p:spPr/>
        <p:txBody>
          <a:bodyPr/>
          <a:lstStyle/>
          <a:p>
            <a:r>
              <a:rPr lang="en-US" dirty="0"/>
              <a:t>Quick Access				* Detecting Threats</a:t>
            </a:r>
          </a:p>
          <a:p>
            <a:r>
              <a:rPr lang="en-US" dirty="0"/>
              <a:t>Cost – Effective				* New devices, new threats</a:t>
            </a:r>
          </a:p>
          <a:p>
            <a:r>
              <a:rPr lang="en-US" dirty="0"/>
              <a:t>Secure					* Network dependent</a:t>
            </a:r>
          </a:p>
          <a:p>
            <a:r>
              <a:rPr lang="en-US" dirty="0"/>
              <a:t>Private</a:t>
            </a:r>
          </a:p>
          <a:p>
            <a:r>
              <a:rPr lang="en-US" dirty="0"/>
              <a:t>Convenience</a:t>
            </a:r>
          </a:p>
        </p:txBody>
      </p:sp>
    </p:spTree>
    <p:extLst>
      <p:ext uri="{BB962C8B-B14F-4D97-AF65-F5344CB8AC3E}">
        <p14:creationId xmlns:p14="http://schemas.microsoft.com/office/powerpoint/2010/main" val="1867116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932D9-386C-11F1-2DE4-9FDD7C33B117}"/>
              </a:ext>
            </a:extLst>
          </p:cNvPr>
          <p:cNvSpPr>
            <a:spLocks noGrp="1"/>
          </p:cNvSpPr>
          <p:nvPr>
            <p:ph type="title"/>
          </p:nvPr>
        </p:nvSpPr>
        <p:spPr/>
        <p:txBody>
          <a:bodyPr/>
          <a:lstStyle/>
          <a:p>
            <a:r>
              <a:rPr lang="en-US" b="1" dirty="0"/>
              <a:t>4.6 Two Factor Authentication</a:t>
            </a:r>
          </a:p>
        </p:txBody>
      </p:sp>
      <p:sp>
        <p:nvSpPr>
          <p:cNvPr id="3" name="Content Placeholder 2">
            <a:extLst>
              <a:ext uri="{FF2B5EF4-FFF2-40B4-BE49-F238E27FC236}">
                <a16:creationId xmlns:a16="http://schemas.microsoft.com/office/drawing/2014/main" id="{04B131F1-58C6-83AA-1DA0-FB2638ADF09F}"/>
              </a:ext>
            </a:extLst>
          </p:cNvPr>
          <p:cNvSpPr>
            <a:spLocks noGrp="1"/>
          </p:cNvSpPr>
          <p:nvPr>
            <p:ph idx="1"/>
          </p:nvPr>
        </p:nvSpPr>
        <p:spPr/>
        <p:txBody>
          <a:bodyPr/>
          <a:lstStyle/>
          <a:p>
            <a:pPr algn="just">
              <a:lnSpc>
                <a:spcPct val="100000"/>
              </a:lnSpc>
            </a:pPr>
            <a:r>
              <a:rPr lang="en-US" dirty="0"/>
              <a:t>a type of multi-factor authentication (MFA)</a:t>
            </a:r>
          </a:p>
          <a:p>
            <a:pPr algn="just">
              <a:lnSpc>
                <a:spcPct val="100000"/>
              </a:lnSpc>
            </a:pPr>
            <a:r>
              <a:rPr lang="en-US" dirty="0"/>
              <a:t>is a security process that cross-verifies users with two different forms of identification, most commonly knowledge of an email address and proof of ownership of a mobile phone.</a:t>
            </a:r>
          </a:p>
          <a:p>
            <a:pPr algn="just">
              <a:lnSpc>
                <a:spcPct val="100000"/>
              </a:lnSpc>
            </a:pPr>
            <a:r>
              <a:rPr lang="en-US" dirty="0"/>
              <a:t>majorly used on top of the regular username/password verification</a:t>
            </a:r>
          </a:p>
          <a:p>
            <a:pPr marL="0" indent="0" algn="just">
              <a:lnSpc>
                <a:spcPct val="100000"/>
              </a:lnSpc>
              <a:buNone/>
            </a:pPr>
            <a:endParaRPr lang="en-US" dirty="0"/>
          </a:p>
        </p:txBody>
      </p:sp>
    </p:spTree>
    <p:extLst>
      <p:ext uri="{BB962C8B-B14F-4D97-AF65-F5344CB8AC3E}">
        <p14:creationId xmlns:p14="http://schemas.microsoft.com/office/powerpoint/2010/main" val="3684423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76930-1E5D-E0D8-FAF8-E75AB890BA2A}"/>
              </a:ext>
            </a:extLst>
          </p:cNvPr>
          <p:cNvSpPr>
            <a:spLocks noGrp="1"/>
          </p:cNvSpPr>
          <p:nvPr>
            <p:ph type="title"/>
          </p:nvPr>
        </p:nvSpPr>
        <p:spPr/>
        <p:txBody>
          <a:bodyPr/>
          <a:lstStyle/>
          <a:p>
            <a:r>
              <a:rPr lang="en-US" b="1" dirty="0"/>
              <a:t>Two factor authentication methods:</a:t>
            </a:r>
          </a:p>
        </p:txBody>
      </p:sp>
      <p:sp>
        <p:nvSpPr>
          <p:cNvPr id="3" name="Content Placeholder 2">
            <a:extLst>
              <a:ext uri="{FF2B5EF4-FFF2-40B4-BE49-F238E27FC236}">
                <a16:creationId xmlns:a16="http://schemas.microsoft.com/office/drawing/2014/main" id="{29A49B7F-F049-EDDD-108D-3F6E450F4DD4}"/>
              </a:ext>
            </a:extLst>
          </p:cNvPr>
          <p:cNvSpPr>
            <a:spLocks noGrp="1"/>
          </p:cNvSpPr>
          <p:nvPr>
            <p:ph idx="1"/>
          </p:nvPr>
        </p:nvSpPr>
        <p:spPr/>
        <p:txBody>
          <a:bodyPr/>
          <a:lstStyle/>
          <a:p>
            <a:pPr>
              <a:buFont typeface="Arial" panose="020B0604020202020204" pitchFamily="34" charset="0"/>
              <a:buChar char="•"/>
            </a:pPr>
            <a:r>
              <a:rPr lang="en-US" b="1" dirty="0"/>
              <a:t>Knowledge factors</a:t>
            </a:r>
            <a:r>
              <a:rPr lang="en-US" dirty="0"/>
              <a:t> (something the user knows) – Common examples are email addresses, username-password combinations, answers to security questions, and the CVV on the back of a credit card.</a:t>
            </a:r>
          </a:p>
          <a:p>
            <a:pPr>
              <a:buFont typeface="Arial" panose="020B0604020202020204" pitchFamily="34" charset="0"/>
              <a:buChar char="•"/>
            </a:pPr>
            <a:r>
              <a:rPr lang="en-US" b="1" dirty="0"/>
              <a:t>Possession factors</a:t>
            </a:r>
            <a:r>
              <a:rPr lang="en-US" dirty="0"/>
              <a:t> (something the user owns) – Examples of this authentication type include a mobile phone, USB token and a card reader.</a:t>
            </a:r>
          </a:p>
          <a:p>
            <a:pPr>
              <a:buFont typeface="Arial" panose="020B0604020202020204" pitchFamily="34" charset="0"/>
              <a:buChar char="•"/>
            </a:pPr>
            <a:r>
              <a:rPr lang="en-US" b="1" dirty="0"/>
              <a:t>Inherence factors</a:t>
            </a:r>
            <a:r>
              <a:rPr lang="en-US" dirty="0"/>
              <a:t> (something the user is/has) – This authentication type pertains to unique physical attributes that are inherent to a single person, such as fingerprint readers, retinal scans and voice recognition.</a:t>
            </a:r>
          </a:p>
          <a:p>
            <a:endParaRPr lang="en-US" dirty="0"/>
          </a:p>
        </p:txBody>
      </p:sp>
    </p:spTree>
    <p:extLst>
      <p:ext uri="{BB962C8B-B14F-4D97-AF65-F5344CB8AC3E}">
        <p14:creationId xmlns:p14="http://schemas.microsoft.com/office/powerpoint/2010/main" val="4113532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0975-8336-3116-C783-3FDBCD3ADD29}"/>
              </a:ext>
            </a:extLst>
          </p:cNvPr>
          <p:cNvSpPr>
            <a:spLocks noGrp="1"/>
          </p:cNvSpPr>
          <p:nvPr>
            <p:ph type="title"/>
          </p:nvPr>
        </p:nvSpPr>
        <p:spPr/>
        <p:txBody>
          <a:bodyPr/>
          <a:lstStyle/>
          <a:p>
            <a:r>
              <a:rPr lang="en-US" b="1" dirty="0"/>
              <a:t>Two factor Authentication</a:t>
            </a:r>
          </a:p>
        </p:txBody>
      </p:sp>
      <p:pic>
        <p:nvPicPr>
          <p:cNvPr id="5" name="Content Placeholder 4" descr="A picture containing text, screenshot, design&#10;&#10;Description automatically generated">
            <a:extLst>
              <a:ext uri="{FF2B5EF4-FFF2-40B4-BE49-F238E27FC236}">
                <a16:creationId xmlns:a16="http://schemas.microsoft.com/office/drawing/2014/main" id="{4C2DC151-CF87-12AA-2F68-384C554654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6011" y="1998884"/>
            <a:ext cx="8824547" cy="4003331"/>
          </a:xfrm>
        </p:spPr>
      </p:pic>
    </p:spTree>
    <p:extLst>
      <p:ext uri="{BB962C8B-B14F-4D97-AF65-F5344CB8AC3E}">
        <p14:creationId xmlns:p14="http://schemas.microsoft.com/office/powerpoint/2010/main" val="1777181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6F5A-9177-9D61-BC79-FDDC2521D269}"/>
              </a:ext>
            </a:extLst>
          </p:cNvPr>
          <p:cNvSpPr>
            <a:spLocks noGrp="1"/>
          </p:cNvSpPr>
          <p:nvPr>
            <p:ph type="title"/>
          </p:nvPr>
        </p:nvSpPr>
        <p:spPr/>
        <p:txBody>
          <a:bodyPr/>
          <a:lstStyle/>
          <a:p>
            <a:r>
              <a:rPr lang="en-US" b="1" dirty="0"/>
              <a:t>Authentication methods for 2FA</a:t>
            </a:r>
          </a:p>
        </p:txBody>
      </p:sp>
      <p:sp>
        <p:nvSpPr>
          <p:cNvPr id="3" name="Content Placeholder 2">
            <a:extLst>
              <a:ext uri="{FF2B5EF4-FFF2-40B4-BE49-F238E27FC236}">
                <a16:creationId xmlns:a16="http://schemas.microsoft.com/office/drawing/2014/main" id="{4C0793E8-E463-D587-715D-700D7219C158}"/>
              </a:ext>
            </a:extLst>
          </p:cNvPr>
          <p:cNvSpPr>
            <a:spLocks noGrp="1"/>
          </p:cNvSpPr>
          <p:nvPr>
            <p:ph idx="1"/>
          </p:nvPr>
        </p:nvSpPr>
        <p:spPr/>
        <p:txBody>
          <a:bodyPr/>
          <a:lstStyle/>
          <a:p>
            <a:r>
              <a:rPr lang="en-US" b="1" i="0" dirty="0">
                <a:solidFill>
                  <a:srgbClr val="000000"/>
                </a:solidFill>
                <a:effectLst/>
                <a:highlight>
                  <a:srgbClr val="FFFFFF"/>
                </a:highlight>
                <a:latin typeface="Segoe UI" panose="020B0502040204020203" pitchFamily="34" charset="0"/>
              </a:rPr>
              <a:t>Hardware tokens</a:t>
            </a:r>
          </a:p>
          <a:p>
            <a:pPr algn="l"/>
            <a:r>
              <a:rPr lang="en-US" b="1" i="0" dirty="0">
                <a:solidFill>
                  <a:srgbClr val="000000"/>
                </a:solidFill>
                <a:effectLst/>
                <a:highlight>
                  <a:srgbClr val="FFFFFF"/>
                </a:highlight>
                <a:latin typeface="inherit"/>
              </a:rPr>
              <a:t>SMS verification</a:t>
            </a:r>
            <a:endParaRPr lang="en-US" b="1" i="0" dirty="0">
              <a:solidFill>
                <a:srgbClr val="000000"/>
              </a:solidFill>
              <a:effectLst/>
              <a:highlight>
                <a:srgbClr val="FFFFFF"/>
              </a:highlight>
              <a:latin typeface="Segoe UI" panose="020B0502040204020203" pitchFamily="34" charset="0"/>
            </a:endParaRPr>
          </a:p>
          <a:p>
            <a:pPr algn="l"/>
            <a:r>
              <a:rPr lang="en-US" b="1" i="0" dirty="0">
                <a:solidFill>
                  <a:srgbClr val="000000"/>
                </a:solidFill>
                <a:effectLst/>
                <a:highlight>
                  <a:srgbClr val="FFFFFF"/>
                </a:highlight>
                <a:latin typeface="inherit"/>
              </a:rPr>
              <a:t>Push notifications</a:t>
            </a:r>
            <a:endParaRPr lang="en-US" b="1" i="0" dirty="0">
              <a:solidFill>
                <a:srgbClr val="000000"/>
              </a:solidFill>
              <a:effectLst/>
              <a:highlight>
                <a:srgbClr val="FFFFFF"/>
              </a:highlight>
              <a:latin typeface="Segoe UI" panose="020B0502040204020203" pitchFamily="34" charset="0"/>
            </a:endParaRPr>
          </a:p>
          <a:p>
            <a:pPr algn="l"/>
            <a:r>
              <a:rPr lang="en-US" b="1" i="0" dirty="0">
                <a:solidFill>
                  <a:srgbClr val="000000"/>
                </a:solidFill>
                <a:effectLst/>
                <a:highlight>
                  <a:srgbClr val="FFFFFF"/>
                </a:highlight>
                <a:latin typeface="inherit"/>
              </a:rPr>
              <a:t>Voice-based authentication</a:t>
            </a:r>
            <a:endParaRPr lang="en-US" b="1" i="0" dirty="0">
              <a:solidFill>
                <a:srgbClr val="000000"/>
              </a:solidFill>
              <a:effectLst/>
              <a:highlight>
                <a:srgbClr val="FFFFFF"/>
              </a:highlight>
              <a:latin typeface="Segoe UI" panose="020B0502040204020203" pitchFamily="34" charset="0"/>
            </a:endParaRPr>
          </a:p>
          <a:p>
            <a:pPr marL="0" indent="0">
              <a:buNone/>
            </a:pPr>
            <a:br>
              <a:rPr lang="en-US" dirty="0"/>
            </a:br>
            <a:br>
              <a:rPr lang="en-US" dirty="0"/>
            </a:br>
            <a:endParaRPr lang="en-US" dirty="0"/>
          </a:p>
        </p:txBody>
      </p:sp>
    </p:spTree>
    <p:extLst>
      <p:ext uri="{BB962C8B-B14F-4D97-AF65-F5344CB8AC3E}">
        <p14:creationId xmlns:p14="http://schemas.microsoft.com/office/powerpoint/2010/main" val="2165968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8C755-FC97-E655-D8F3-8B13EAB65023}"/>
              </a:ext>
            </a:extLst>
          </p:cNvPr>
          <p:cNvSpPr>
            <a:spLocks noGrp="1"/>
          </p:cNvSpPr>
          <p:nvPr>
            <p:ph type="title"/>
          </p:nvPr>
        </p:nvSpPr>
        <p:spPr/>
        <p:txBody>
          <a:bodyPr/>
          <a:lstStyle/>
          <a:p>
            <a:r>
              <a:rPr lang="en-US" b="1" dirty="0"/>
              <a:t>2FA vs. MFA</a:t>
            </a:r>
          </a:p>
        </p:txBody>
      </p:sp>
      <p:sp>
        <p:nvSpPr>
          <p:cNvPr id="3" name="Content Placeholder 2">
            <a:extLst>
              <a:ext uri="{FF2B5EF4-FFF2-40B4-BE49-F238E27FC236}">
                <a16:creationId xmlns:a16="http://schemas.microsoft.com/office/drawing/2014/main" id="{0D6D0553-FDFF-5B36-6434-C70D3D3064AB}"/>
              </a:ext>
            </a:extLst>
          </p:cNvPr>
          <p:cNvSpPr>
            <a:spLocks noGrp="1"/>
          </p:cNvSpPr>
          <p:nvPr>
            <p:ph idx="1"/>
          </p:nvPr>
        </p:nvSpPr>
        <p:spPr>
          <a:xfrm>
            <a:off x="838200" y="1825625"/>
            <a:ext cx="10515600" cy="4667250"/>
          </a:xfrm>
        </p:spPr>
        <p:txBody>
          <a:bodyPr>
            <a:normAutofit/>
          </a:bodyPr>
          <a:lstStyle/>
          <a:p>
            <a:r>
              <a:rPr lang="en-US" sz="2400" b="0" i="0" dirty="0">
                <a:solidFill>
                  <a:srgbClr val="000000"/>
                </a:solidFill>
                <a:effectLst/>
                <a:highlight>
                  <a:srgbClr val="FFFFFF"/>
                </a:highlight>
              </a:rPr>
              <a:t>Two-factor authentication helps add a layer of security to all your online personal and business accounts.</a:t>
            </a:r>
          </a:p>
          <a:p>
            <a:r>
              <a:rPr lang="en-US" sz="2400" dirty="0">
                <a:solidFill>
                  <a:srgbClr val="000000"/>
                </a:solidFill>
                <a:highlight>
                  <a:srgbClr val="FFFFFF"/>
                </a:highlight>
              </a:rPr>
              <a:t>B</a:t>
            </a:r>
            <a:r>
              <a:rPr lang="en-US" sz="2400" b="0" i="0" dirty="0">
                <a:solidFill>
                  <a:srgbClr val="000000"/>
                </a:solidFill>
                <a:effectLst/>
                <a:highlight>
                  <a:srgbClr val="FFFFFF"/>
                </a:highlight>
              </a:rPr>
              <a:t>usinesses with high-level security (i.e., healthcare facilities, government agencies, or financial services) opt for multi-factor authentication versus two-factor authentication.</a:t>
            </a:r>
          </a:p>
          <a:p>
            <a:r>
              <a:rPr lang="en-US" sz="2400" b="0" i="0" dirty="0">
                <a:solidFill>
                  <a:srgbClr val="000000"/>
                </a:solidFill>
                <a:effectLst/>
                <a:highlight>
                  <a:srgbClr val="FFFFFF"/>
                </a:highlight>
              </a:rPr>
              <a:t>2FA utilizes one-time passcodes that are time-sensitive to prevent identity theft. On the other hand, MFA or multi-factor authentication, involves two or more steps or processes to identify a user.</a:t>
            </a:r>
            <a:br>
              <a:rPr lang="en-US" sz="2400" dirty="0"/>
            </a:br>
            <a:endParaRPr lang="en-US" sz="2400" dirty="0"/>
          </a:p>
        </p:txBody>
      </p:sp>
    </p:spTree>
    <p:extLst>
      <p:ext uri="{BB962C8B-B14F-4D97-AF65-F5344CB8AC3E}">
        <p14:creationId xmlns:p14="http://schemas.microsoft.com/office/powerpoint/2010/main" val="4288428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CA3B0-4D89-7567-7DF7-048295A18E84}"/>
              </a:ext>
            </a:extLst>
          </p:cNvPr>
          <p:cNvSpPr>
            <a:spLocks noGrp="1"/>
          </p:cNvSpPr>
          <p:nvPr>
            <p:ph type="title"/>
          </p:nvPr>
        </p:nvSpPr>
        <p:spPr/>
        <p:txBody>
          <a:bodyPr/>
          <a:lstStyle/>
          <a:p>
            <a:r>
              <a:rPr lang="en-US" b="1" dirty="0"/>
              <a:t>Advantages                                        Drawbacks</a:t>
            </a:r>
          </a:p>
        </p:txBody>
      </p:sp>
      <p:sp>
        <p:nvSpPr>
          <p:cNvPr id="3" name="Content Placeholder 2">
            <a:extLst>
              <a:ext uri="{FF2B5EF4-FFF2-40B4-BE49-F238E27FC236}">
                <a16:creationId xmlns:a16="http://schemas.microsoft.com/office/drawing/2014/main" id="{D39A82D9-F78D-C108-5749-7B6CAE2BF8F3}"/>
              </a:ext>
            </a:extLst>
          </p:cNvPr>
          <p:cNvSpPr>
            <a:spLocks noGrp="1"/>
          </p:cNvSpPr>
          <p:nvPr>
            <p:ph idx="1"/>
          </p:nvPr>
        </p:nvSpPr>
        <p:spPr>
          <a:xfrm>
            <a:off x="453189" y="1748505"/>
            <a:ext cx="10515600" cy="4351338"/>
          </a:xfrm>
        </p:spPr>
        <p:txBody>
          <a:bodyPr/>
          <a:lstStyle/>
          <a:p>
            <a:r>
              <a:rPr lang="en-US" dirty="0"/>
              <a:t>Simplicity of usage			 * Need to pay SMS sending fee</a:t>
            </a:r>
          </a:p>
          <a:p>
            <a:r>
              <a:rPr lang="en-US" dirty="0"/>
              <a:t>OTP saves you from hacking prone	 * Can’t be used in absence of 							    cellular coverage</a:t>
            </a:r>
          </a:p>
          <a:p>
            <a:r>
              <a:rPr lang="en-US" dirty="0"/>
              <a:t>Convenience</a:t>
            </a:r>
          </a:p>
        </p:txBody>
      </p:sp>
      <p:cxnSp>
        <p:nvCxnSpPr>
          <p:cNvPr id="5" name="Straight Connector 4">
            <a:extLst>
              <a:ext uri="{FF2B5EF4-FFF2-40B4-BE49-F238E27FC236}">
                <a16:creationId xmlns:a16="http://schemas.microsoft.com/office/drawing/2014/main" id="{C8E31C0F-7C22-43BB-367E-D5B2EB002777}"/>
              </a:ext>
            </a:extLst>
          </p:cNvPr>
          <p:cNvCxnSpPr/>
          <p:nvPr/>
        </p:nvCxnSpPr>
        <p:spPr>
          <a:xfrm>
            <a:off x="6096000" y="529389"/>
            <a:ext cx="0" cy="54061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0544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F377-8CA0-8D04-DE68-8D0132F393EF}"/>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21D55941-B4B6-DE37-1807-1DF5F4462B0C}"/>
              </a:ext>
            </a:extLst>
          </p:cNvPr>
          <p:cNvSpPr>
            <a:spLocks noGrp="1"/>
          </p:cNvSpPr>
          <p:nvPr>
            <p:ph idx="1"/>
          </p:nvPr>
        </p:nvSpPr>
        <p:spPr/>
        <p:txBody>
          <a:bodyPr/>
          <a:lstStyle/>
          <a:p>
            <a:r>
              <a:rPr lang="en-US" dirty="0"/>
              <a:t>What are the vulnerabilities of passwords? Explain different strategies used for the selection of effective passwords.</a:t>
            </a:r>
          </a:p>
          <a:p>
            <a:r>
              <a:rPr lang="en-US" dirty="0"/>
              <a:t>Biometric Authentication is more secure than multi factor authentication. Explain your thoughts.</a:t>
            </a:r>
          </a:p>
          <a:p>
            <a:r>
              <a:rPr lang="en-US" dirty="0"/>
              <a:t>How can two factor authentication be executed? Explain with examples.</a:t>
            </a:r>
          </a:p>
          <a:p>
            <a:r>
              <a:rPr lang="en-US" dirty="0"/>
              <a:t>Write short notes on:</a:t>
            </a:r>
          </a:p>
          <a:p>
            <a:pPr marL="514350" indent="-514350">
              <a:buAutoNum type="alphaUcParenR"/>
            </a:pPr>
            <a:r>
              <a:rPr lang="en-US" dirty="0"/>
              <a:t>Token Based Authentication</a:t>
            </a:r>
          </a:p>
          <a:p>
            <a:pPr marL="514350" indent="-514350">
              <a:buAutoNum type="alphaUcParenR"/>
            </a:pPr>
            <a:r>
              <a:rPr lang="en-US" dirty="0"/>
              <a:t>Remote User Authentication</a:t>
            </a:r>
          </a:p>
        </p:txBody>
      </p:sp>
    </p:spTree>
    <p:extLst>
      <p:ext uri="{BB962C8B-B14F-4D97-AF65-F5344CB8AC3E}">
        <p14:creationId xmlns:p14="http://schemas.microsoft.com/office/powerpoint/2010/main" val="3680010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1662</Words>
  <Application>Microsoft Office PowerPoint</Application>
  <PresentationFormat>Widescreen</PresentationFormat>
  <Paragraphs>139</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inherit</vt:lpstr>
      <vt:lpstr>Inter Tight</vt:lpstr>
      <vt:lpstr>Segoe UI</vt:lpstr>
      <vt:lpstr>Office Theme</vt:lpstr>
      <vt:lpstr>PowerPoint Presentation</vt:lpstr>
      <vt:lpstr>User Authentication</vt:lpstr>
      <vt:lpstr>User Authentication</vt:lpstr>
      <vt:lpstr>Importance of User Authentication</vt:lpstr>
      <vt:lpstr>4.1 User Authentication Principles</vt:lpstr>
      <vt:lpstr>4.1 User Authentication Principles</vt:lpstr>
      <vt:lpstr>Common Authentication Types</vt:lpstr>
      <vt:lpstr>4.2 Password-Based Authentication</vt:lpstr>
      <vt:lpstr>Password Authentication</vt:lpstr>
      <vt:lpstr>4.2 Password Based Authentication</vt:lpstr>
      <vt:lpstr>What is an Authentication token ?</vt:lpstr>
      <vt:lpstr>4.3 Token-Based Authentication</vt:lpstr>
      <vt:lpstr>4.3 Token-Based Authentication</vt:lpstr>
      <vt:lpstr>PowerPoint Presentation</vt:lpstr>
      <vt:lpstr>Types of Tokens</vt:lpstr>
      <vt:lpstr>How does Token-based Authentication work?</vt:lpstr>
      <vt:lpstr>4.4 Biometric Authentication</vt:lpstr>
      <vt:lpstr>Types of Biometric Authentication methods</vt:lpstr>
      <vt:lpstr>How does Biometric Authentication work?  Divided into four components</vt:lpstr>
      <vt:lpstr>General working of Biometric System</vt:lpstr>
      <vt:lpstr>General working of Biometric System</vt:lpstr>
      <vt:lpstr>Application areas of Biometric Authentication System</vt:lpstr>
      <vt:lpstr>4.5 Remote User Authentication</vt:lpstr>
      <vt:lpstr>PowerPoint Presentation</vt:lpstr>
      <vt:lpstr>How does Remote User Authentication work?</vt:lpstr>
      <vt:lpstr>Remote User Authentication</vt:lpstr>
      <vt:lpstr>Advantages      Drawbacks</vt:lpstr>
      <vt:lpstr>4.6 Two Factor Authentication</vt:lpstr>
      <vt:lpstr>Two factor authentication methods:</vt:lpstr>
      <vt:lpstr>Two factor Authentication</vt:lpstr>
      <vt:lpstr>Authentication methods for 2FA</vt:lpstr>
      <vt:lpstr>2FA vs. MFA</vt:lpstr>
      <vt:lpstr>Advantages                                        Drawbacks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 Gautam</dc:creator>
  <cp:lastModifiedBy>PC</cp:lastModifiedBy>
  <cp:revision>46</cp:revision>
  <dcterms:created xsi:type="dcterms:W3CDTF">2023-05-03T16:03:33Z</dcterms:created>
  <dcterms:modified xsi:type="dcterms:W3CDTF">2024-07-03T00:23:45Z</dcterms:modified>
</cp:coreProperties>
</file>