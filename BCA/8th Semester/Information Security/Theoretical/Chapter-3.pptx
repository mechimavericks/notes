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61" r:id="rId5"/>
    <p:sldId id="293" r:id="rId6"/>
    <p:sldId id="294" r:id="rId7"/>
    <p:sldId id="295" r:id="rId8"/>
    <p:sldId id="259" r:id="rId9"/>
    <p:sldId id="262" r:id="rId10"/>
    <p:sldId id="263" r:id="rId11"/>
    <p:sldId id="264" r:id="rId12"/>
    <p:sldId id="265" r:id="rId13"/>
    <p:sldId id="266" r:id="rId14"/>
    <p:sldId id="267" r:id="rId15"/>
    <p:sldId id="268" r:id="rId16"/>
    <p:sldId id="269" r:id="rId17"/>
    <p:sldId id="270" r:id="rId18"/>
    <p:sldId id="273" r:id="rId19"/>
    <p:sldId id="296" r:id="rId20"/>
    <p:sldId id="297" r:id="rId21"/>
    <p:sldId id="298" r:id="rId22"/>
    <p:sldId id="299" r:id="rId23"/>
    <p:sldId id="300" r:id="rId24"/>
    <p:sldId id="271" r:id="rId25"/>
    <p:sldId id="272" r:id="rId26"/>
    <p:sldId id="274" r:id="rId27"/>
    <p:sldId id="275" r:id="rId28"/>
    <p:sldId id="277" r:id="rId29"/>
    <p:sldId id="278" r:id="rId30"/>
    <p:sldId id="276" r:id="rId31"/>
    <p:sldId id="279" r:id="rId32"/>
    <p:sldId id="280" r:id="rId33"/>
    <p:sldId id="281" r:id="rId34"/>
    <p:sldId id="282" r:id="rId35"/>
    <p:sldId id="284" r:id="rId36"/>
    <p:sldId id="283" r:id="rId37"/>
    <p:sldId id="285" r:id="rId38"/>
    <p:sldId id="287" r:id="rId39"/>
    <p:sldId id="288" r:id="rId40"/>
    <p:sldId id="290" r:id="rId41"/>
    <p:sldId id="291" r:id="rId42"/>
    <p:sldId id="289" r:id="rId43"/>
    <p:sldId id="292" r:id="rId44"/>
    <p:sldId id="28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20" autoAdjust="0"/>
    <p:restoredTop sz="94660"/>
  </p:normalViewPr>
  <p:slideViewPr>
    <p:cSldViewPr snapToGrid="0">
      <p:cViewPr varScale="1">
        <p:scale>
          <a:sx n="79" d="100"/>
          <a:sy n="79" d="100"/>
        </p:scale>
        <p:origin x="662"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98752-6877-9228-2FE9-916320D41E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A4C88C-68C3-05FE-C5B4-49A1F46B27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FD5C20-70AB-1F39-FD2E-264D1F21E294}"/>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5" name="Footer Placeholder 4">
            <a:extLst>
              <a:ext uri="{FF2B5EF4-FFF2-40B4-BE49-F238E27FC236}">
                <a16:creationId xmlns:a16="http://schemas.microsoft.com/office/drawing/2014/main" id="{CD01784B-94B4-6617-C26A-4483923E33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839CB2-6B47-E4CE-3C84-AF0B76CC75A9}"/>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381707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0416D-4DF9-ADC5-91CD-E9D3B03DBB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F2EAC-7132-9F87-AC0A-060D65586D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A274E8-D41E-3B1A-D247-770A690F9C33}"/>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5" name="Footer Placeholder 4">
            <a:extLst>
              <a:ext uri="{FF2B5EF4-FFF2-40B4-BE49-F238E27FC236}">
                <a16:creationId xmlns:a16="http://schemas.microsoft.com/office/drawing/2014/main" id="{5FD3F487-514E-05EF-258D-36D81DE8D8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4726FF-ADBE-6E97-0A25-A176CDE2FBA0}"/>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1686156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A729-BB6D-0C32-34A4-CA2E996700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C7A31D-04B1-E6CF-3A76-F1B2E33240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E8B3A0-7D51-1F80-EB18-B9A92BCF1A1A}"/>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5" name="Footer Placeholder 4">
            <a:extLst>
              <a:ext uri="{FF2B5EF4-FFF2-40B4-BE49-F238E27FC236}">
                <a16:creationId xmlns:a16="http://schemas.microsoft.com/office/drawing/2014/main" id="{2531B9C9-2CD6-9FD4-B521-4187219A90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64C4B-F0A2-64B1-8DDA-F56AE723C6CF}"/>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224977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611E6-9380-F545-893B-015FE996D1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49A01B-8022-A620-7A7D-2902788C23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67DE68-EFDC-B396-881E-9541EC5862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1075F5-9ACC-6810-3BC3-31DA365534A3}"/>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6" name="Footer Placeholder 5">
            <a:extLst>
              <a:ext uri="{FF2B5EF4-FFF2-40B4-BE49-F238E27FC236}">
                <a16:creationId xmlns:a16="http://schemas.microsoft.com/office/drawing/2014/main" id="{F866E2C0-6A82-3FD8-0AE6-9702E1E3F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B1D98E-9007-85F7-8553-B6D028C4C1CE}"/>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392979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BA355-DA40-C838-2AC2-746A1AF1F6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2E55E6-1E8C-3CBD-C842-20BA0CE1EA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C1F07D-BC4A-40DC-1313-F3E379E9BE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AFC914-AFFA-4959-0793-815962239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14F3D6-585B-315E-DCEE-01BA296065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7F0C88-F472-4815-B8E0-84849225D2F8}"/>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8" name="Footer Placeholder 7">
            <a:extLst>
              <a:ext uri="{FF2B5EF4-FFF2-40B4-BE49-F238E27FC236}">
                <a16:creationId xmlns:a16="http://schemas.microsoft.com/office/drawing/2014/main" id="{8C7D74D9-9EA7-73C7-6571-F3F4F5D847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319588F-D8D5-5AE1-C700-0F44A5E90977}"/>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480416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6169-C7B1-B761-C760-C12C03C079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78639F-3C38-F46E-61BF-BA974819D7CD}"/>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4" name="Footer Placeholder 3">
            <a:extLst>
              <a:ext uri="{FF2B5EF4-FFF2-40B4-BE49-F238E27FC236}">
                <a16:creationId xmlns:a16="http://schemas.microsoft.com/office/drawing/2014/main" id="{C011C409-DDD9-06C0-AB39-06B4DA7D7B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F0D67A-7A9F-87AF-2F3A-6C9EB8495DF9}"/>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3231723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3F5A99-6636-53EF-2131-C6A755C369F8}"/>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3" name="Footer Placeholder 2">
            <a:extLst>
              <a:ext uri="{FF2B5EF4-FFF2-40B4-BE49-F238E27FC236}">
                <a16:creationId xmlns:a16="http://schemas.microsoft.com/office/drawing/2014/main" id="{A2BCFF68-8495-9702-D24E-2CF8AA59BC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CC5038-1DE5-1D90-8865-431EF7D4F965}"/>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508660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E2B2-7D2D-A8C3-A2A3-B96D767418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CC9865-C485-847D-1954-109C1995FF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36B7B4-9E50-ACC6-91F2-67EC6E8E8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5F8F0-2FAB-F02D-8458-F4649633425E}"/>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6" name="Footer Placeholder 5">
            <a:extLst>
              <a:ext uri="{FF2B5EF4-FFF2-40B4-BE49-F238E27FC236}">
                <a16:creationId xmlns:a16="http://schemas.microsoft.com/office/drawing/2014/main" id="{317AB429-452A-EA11-3195-F4EAD490D6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0F7B42-9666-2F9E-2F4D-4C0A430097C9}"/>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1819902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82A4-F80E-A644-7E03-085942DFF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F39261-1FF2-6538-E39C-A424AF0A4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A4323D-24B3-1755-21A1-A2574BA92C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2D3531-FF08-2CD2-8990-F5BBFBE011DC}"/>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6" name="Footer Placeholder 5">
            <a:extLst>
              <a:ext uri="{FF2B5EF4-FFF2-40B4-BE49-F238E27FC236}">
                <a16:creationId xmlns:a16="http://schemas.microsoft.com/office/drawing/2014/main" id="{1B1A2D4E-62CF-EBD3-1836-AFFC7526F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12B77-0756-CE59-FA8C-37976553C7B9}"/>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1456629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2DB7-1C6B-3D28-E109-53BC9E693C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058D62-AF36-002B-2C31-44B9CD7F63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7E6D8F-3BC3-A607-E3B3-C3082A4BAE0B}"/>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5" name="Footer Placeholder 4">
            <a:extLst>
              <a:ext uri="{FF2B5EF4-FFF2-40B4-BE49-F238E27FC236}">
                <a16:creationId xmlns:a16="http://schemas.microsoft.com/office/drawing/2014/main" id="{D4414140-B1EF-D2D7-6E00-E5977B900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14E6F-5866-0BE2-AA82-6E4F702DA2B2}"/>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2476211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8315C4-6AA4-E836-2D9B-7CD70CA1BD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CDF142-7E63-6A90-BAD6-546681FB3B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8162BD-9589-AB09-FC4F-2A347BD4FB6A}"/>
              </a:ext>
            </a:extLst>
          </p:cNvPr>
          <p:cNvSpPr>
            <a:spLocks noGrp="1"/>
          </p:cNvSpPr>
          <p:nvPr>
            <p:ph type="dt" sz="half" idx="10"/>
          </p:nvPr>
        </p:nvSpPr>
        <p:spPr/>
        <p:txBody>
          <a:bodyPr/>
          <a:lstStyle/>
          <a:p>
            <a:fld id="{9A1D6CB2-CAD7-4755-B025-E6B93A9E242A}" type="datetimeFigureOut">
              <a:rPr lang="en-US" smtClean="0"/>
              <a:t>7/2/2024</a:t>
            </a:fld>
            <a:endParaRPr lang="en-US"/>
          </a:p>
        </p:txBody>
      </p:sp>
      <p:sp>
        <p:nvSpPr>
          <p:cNvPr id="5" name="Footer Placeholder 4">
            <a:extLst>
              <a:ext uri="{FF2B5EF4-FFF2-40B4-BE49-F238E27FC236}">
                <a16:creationId xmlns:a16="http://schemas.microsoft.com/office/drawing/2014/main" id="{A3E4F8F6-91D7-3F58-DC88-B5243C1B5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063518-097E-7DCB-3FAA-0AC7188C3FEA}"/>
              </a:ext>
            </a:extLst>
          </p:cNvPr>
          <p:cNvSpPr>
            <a:spLocks noGrp="1"/>
          </p:cNvSpPr>
          <p:nvPr>
            <p:ph type="sldNum" sz="quarter" idx="12"/>
          </p:nvPr>
        </p:nvSpPr>
        <p:spPr/>
        <p:txBody>
          <a:bodyPr/>
          <a:lstStyle/>
          <a:p>
            <a:fld id="{E488A693-C865-4E5B-AB03-4BFC97E00ECC}" type="slidenum">
              <a:rPr lang="en-US" smtClean="0"/>
              <a:t>‹#›</a:t>
            </a:fld>
            <a:endParaRPr lang="en-US"/>
          </a:p>
        </p:txBody>
      </p:sp>
    </p:spTree>
    <p:extLst>
      <p:ext uri="{BB962C8B-B14F-4D97-AF65-F5344CB8AC3E}">
        <p14:creationId xmlns:p14="http://schemas.microsoft.com/office/powerpoint/2010/main" val="559323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7FE725-3D6C-B9AB-FE3C-A925DAED16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7EBC3B-2A9B-D6AE-B7A8-EBFBB0D36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170CC2-002D-E721-15E9-FD93CC1694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1D6CB2-CAD7-4755-B025-E6B93A9E242A}" type="datetimeFigureOut">
              <a:rPr lang="en-US" smtClean="0"/>
              <a:t>7/2/2024</a:t>
            </a:fld>
            <a:endParaRPr lang="en-US"/>
          </a:p>
        </p:txBody>
      </p:sp>
      <p:sp>
        <p:nvSpPr>
          <p:cNvPr id="5" name="Footer Placeholder 4">
            <a:extLst>
              <a:ext uri="{FF2B5EF4-FFF2-40B4-BE49-F238E27FC236}">
                <a16:creationId xmlns:a16="http://schemas.microsoft.com/office/drawing/2014/main" id="{5147C51C-1301-8114-E506-D792AE20D7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4D8F86-59D8-2B57-D19D-5ABE8C2A64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88A693-C865-4E5B-AB03-4BFC97E00ECC}" type="slidenum">
              <a:rPr lang="en-US" smtClean="0"/>
              <a:t>‹#›</a:t>
            </a:fld>
            <a:endParaRPr lang="en-US"/>
          </a:p>
        </p:txBody>
      </p:sp>
    </p:spTree>
    <p:extLst>
      <p:ext uri="{BB962C8B-B14F-4D97-AF65-F5344CB8AC3E}">
        <p14:creationId xmlns:p14="http://schemas.microsoft.com/office/powerpoint/2010/main" val="1538599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A5A58-E425-0E81-17EB-861B3FED6DE2}"/>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22AA63E2-A99F-9098-CB3A-8F8EF4B99726}"/>
              </a:ext>
            </a:extLst>
          </p:cNvPr>
          <p:cNvSpPr>
            <a:spLocks noGrp="1"/>
          </p:cNvSpPr>
          <p:nvPr>
            <p:ph type="subTitle" idx="1"/>
          </p:nvPr>
        </p:nvSpPr>
        <p:spPr/>
        <p:txBody>
          <a:bodyPr/>
          <a:lstStyle/>
          <a:p>
            <a:endParaRPr lang="en-US" dirty="0"/>
          </a:p>
        </p:txBody>
      </p:sp>
      <p:pic>
        <p:nvPicPr>
          <p:cNvPr id="7" name="Picture 6">
            <a:extLst>
              <a:ext uri="{FF2B5EF4-FFF2-40B4-BE49-F238E27FC236}">
                <a16:creationId xmlns:a16="http://schemas.microsoft.com/office/drawing/2014/main" id="{590AA879-9A4D-828C-B519-F74CF746B061}"/>
              </a:ext>
            </a:extLst>
          </p:cNvPr>
          <p:cNvPicPr>
            <a:picLocks noChangeAspect="1"/>
          </p:cNvPicPr>
          <p:nvPr/>
        </p:nvPicPr>
        <p:blipFill>
          <a:blip r:embed="rId2"/>
          <a:stretch>
            <a:fillRect/>
          </a:stretch>
        </p:blipFill>
        <p:spPr>
          <a:xfrm>
            <a:off x="1524001" y="1381919"/>
            <a:ext cx="8231652" cy="2829354"/>
          </a:xfrm>
          <a:prstGeom prst="rect">
            <a:avLst/>
          </a:prstGeom>
        </p:spPr>
      </p:pic>
    </p:spTree>
    <p:extLst>
      <p:ext uri="{BB962C8B-B14F-4D97-AF65-F5344CB8AC3E}">
        <p14:creationId xmlns:p14="http://schemas.microsoft.com/office/powerpoint/2010/main" val="569707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1830-7B80-28F6-96BD-584D040586AB}"/>
              </a:ext>
            </a:extLst>
          </p:cNvPr>
          <p:cNvSpPr>
            <a:spLocks noGrp="1"/>
          </p:cNvSpPr>
          <p:nvPr>
            <p:ph type="title"/>
          </p:nvPr>
        </p:nvSpPr>
        <p:spPr>
          <a:xfrm>
            <a:off x="838200" y="365126"/>
            <a:ext cx="10126211" cy="775778"/>
          </a:xfrm>
        </p:spPr>
        <p:txBody>
          <a:bodyPr/>
          <a:lstStyle/>
          <a:p>
            <a:r>
              <a:rPr lang="en-US" b="1" dirty="0"/>
              <a:t>Message Authentication</a:t>
            </a:r>
          </a:p>
        </p:txBody>
      </p:sp>
      <p:sp>
        <p:nvSpPr>
          <p:cNvPr id="3" name="Content Placeholder 2">
            <a:extLst>
              <a:ext uri="{FF2B5EF4-FFF2-40B4-BE49-F238E27FC236}">
                <a16:creationId xmlns:a16="http://schemas.microsoft.com/office/drawing/2014/main" id="{D951FF28-56F5-CB1B-031C-54BEDE7DBFDD}"/>
              </a:ext>
            </a:extLst>
          </p:cNvPr>
          <p:cNvSpPr>
            <a:spLocks noGrp="1"/>
          </p:cNvSpPr>
          <p:nvPr>
            <p:ph idx="1"/>
          </p:nvPr>
        </p:nvSpPr>
        <p:spPr>
          <a:xfrm>
            <a:off x="838200" y="1381009"/>
            <a:ext cx="10515600" cy="4351338"/>
          </a:xfrm>
        </p:spPr>
        <p:txBody>
          <a:bodyPr>
            <a:normAutofit lnSpcReduction="10000"/>
          </a:bodyPr>
          <a:lstStyle/>
          <a:p>
            <a:pPr algn="just">
              <a:lnSpc>
                <a:spcPct val="100000"/>
              </a:lnSpc>
            </a:pPr>
            <a:r>
              <a:rPr lang="en-US" sz="2000" dirty="0"/>
              <a:t>Message authentication allows one party—the sender—to send a message to another party—the receiver—in such a way that if the message is modified </a:t>
            </a:r>
            <a:r>
              <a:rPr lang="en-US" sz="2000" dirty="0" err="1"/>
              <a:t>en</a:t>
            </a:r>
            <a:r>
              <a:rPr lang="en-US" sz="2000" dirty="0"/>
              <a:t> route, then the receiver will almost certainly detect this. </a:t>
            </a:r>
          </a:p>
          <a:p>
            <a:pPr algn="just">
              <a:lnSpc>
                <a:spcPct val="100000"/>
              </a:lnSpc>
            </a:pPr>
            <a:endParaRPr lang="en-US" sz="2000" dirty="0"/>
          </a:p>
          <a:p>
            <a:pPr algn="just">
              <a:lnSpc>
                <a:spcPct val="100000"/>
              </a:lnSpc>
            </a:pPr>
            <a:r>
              <a:rPr lang="en-US" sz="2000" dirty="0"/>
              <a:t>Message authentication is also called </a:t>
            </a:r>
            <a:r>
              <a:rPr lang="en-US" sz="2000" b="1" i="1" dirty="0"/>
              <a:t>data-origin authentication</a:t>
            </a:r>
            <a:r>
              <a:rPr lang="en-US" sz="2000" dirty="0"/>
              <a:t>.</a:t>
            </a:r>
          </a:p>
          <a:p>
            <a:pPr algn="just">
              <a:lnSpc>
                <a:spcPct val="100000"/>
              </a:lnSpc>
            </a:pPr>
            <a:endParaRPr lang="en-US" sz="2000" dirty="0"/>
          </a:p>
          <a:p>
            <a:pPr algn="just">
              <a:lnSpc>
                <a:spcPct val="100000"/>
              </a:lnSpc>
            </a:pPr>
            <a:r>
              <a:rPr lang="en-US" sz="2000" dirty="0"/>
              <a:t>Message authentication is said to protect the integrity of a message, ensuring that each message that it is received and deemed acceptable is arriving in the same condition that it was sent out—with no bits inserted, missing, or modified.</a:t>
            </a:r>
          </a:p>
          <a:p>
            <a:pPr algn="just">
              <a:lnSpc>
                <a:spcPct val="100000"/>
              </a:lnSpc>
            </a:pPr>
            <a:endParaRPr lang="en-US" sz="2000" dirty="0"/>
          </a:p>
          <a:p>
            <a:pPr algn="just">
              <a:lnSpc>
                <a:spcPct val="100000"/>
              </a:lnSpc>
            </a:pPr>
            <a:r>
              <a:rPr lang="en-US" sz="2000" dirty="0"/>
              <a:t>Message authentication provides two services. It provides a way </a:t>
            </a:r>
            <a:r>
              <a:rPr lang="en-US" sz="2000" b="1" dirty="0"/>
              <a:t>to ensure message integrity and a way to verify who sent the message.</a:t>
            </a:r>
          </a:p>
        </p:txBody>
      </p:sp>
    </p:spTree>
    <p:extLst>
      <p:ext uri="{BB962C8B-B14F-4D97-AF65-F5344CB8AC3E}">
        <p14:creationId xmlns:p14="http://schemas.microsoft.com/office/powerpoint/2010/main" val="262137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6567-F1C7-7767-7DEE-6A899E7CA805}"/>
              </a:ext>
            </a:extLst>
          </p:cNvPr>
          <p:cNvSpPr>
            <a:spLocks noGrp="1"/>
          </p:cNvSpPr>
          <p:nvPr>
            <p:ph type="title"/>
          </p:nvPr>
        </p:nvSpPr>
        <p:spPr/>
        <p:txBody>
          <a:bodyPr/>
          <a:lstStyle/>
          <a:p>
            <a:r>
              <a:rPr lang="en-US" b="1" dirty="0"/>
              <a:t>How Message Authentication Works?</a:t>
            </a:r>
          </a:p>
        </p:txBody>
      </p:sp>
      <p:pic>
        <p:nvPicPr>
          <p:cNvPr id="5" name="Content Placeholder 4" descr="A picture containing text, screenshot, font, diagram&#10;&#10;Description automatically generated">
            <a:extLst>
              <a:ext uri="{FF2B5EF4-FFF2-40B4-BE49-F238E27FC236}">
                <a16:creationId xmlns:a16="http://schemas.microsoft.com/office/drawing/2014/main" id="{339BBFB7-96DC-71EB-7578-EF36645CB0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4314" y="1919208"/>
            <a:ext cx="6296025" cy="3895725"/>
          </a:xfrm>
        </p:spPr>
      </p:pic>
    </p:spTree>
    <p:extLst>
      <p:ext uri="{BB962C8B-B14F-4D97-AF65-F5344CB8AC3E}">
        <p14:creationId xmlns:p14="http://schemas.microsoft.com/office/powerpoint/2010/main" val="3867340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BDA1-CE02-AFA2-C172-728675545B50}"/>
              </a:ext>
            </a:extLst>
          </p:cNvPr>
          <p:cNvSpPr>
            <a:spLocks noGrp="1"/>
          </p:cNvSpPr>
          <p:nvPr>
            <p:ph type="title"/>
          </p:nvPr>
        </p:nvSpPr>
        <p:spPr>
          <a:xfrm>
            <a:off x="838200" y="365125"/>
            <a:ext cx="10000376" cy="1002281"/>
          </a:xfrm>
        </p:spPr>
        <p:txBody>
          <a:bodyPr/>
          <a:lstStyle/>
          <a:p>
            <a:r>
              <a:rPr lang="en-US" b="1" dirty="0"/>
              <a:t>Message Authentication Functions:</a:t>
            </a:r>
          </a:p>
        </p:txBody>
      </p:sp>
      <p:sp>
        <p:nvSpPr>
          <p:cNvPr id="3" name="Content Placeholder 2">
            <a:extLst>
              <a:ext uri="{FF2B5EF4-FFF2-40B4-BE49-F238E27FC236}">
                <a16:creationId xmlns:a16="http://schemas.microsoft.com/office/drawing/2014/main" id="{18A65120-D90F-8FCE-82E7-B9F652958B28}"/>
              </a:ext>
            </a:extLst>
          </p:cNvPr>
          <p:cNvSpPr>
            <a:spLocks noGrp="1"/>
          </p:cNvSpPr>
          <p:nvPr>
            <p:ph idx="1"/>
          </p:nvPr>
        </p:nvSpPr>
        <p:spPr>
          <a:xfrm>
            <a:off x="838200" y="1367406"/>
            <a:ext cx="10515600" cy="4351338"/>
          </a:xfrm>
        </p:spPr>
        <p:txBody>
          <a:bodyPr>
            <a:normAutofit/>
          </a:bodyPr>
          <a:lstStyle/>
          <a:p>
            <a:pPr marL="0" indent="0">
              <a:lnSpc>
                <a:spcPct val="100000"/>
              </a:lnSpc>
              <a:buNone/>
            </a:pPr>
            <a:r>
              <a:rPr lang="en-US" sz="2400" dirty="0">
                <a:effectLst/>
              </a:rPr>
              <a:t>The message authentication function is concerned with the types of functions that may be used to produce an authenticator. These may be grouped into three classes:</a:t>
            </a:r>
          </a:p>
          <a:p>
            <a:pPr marL="0" indent="0">
              <a:lnSpc>
                <a:spcPct val="100000"/>
              </a:lnSpc>
              <a:buNone/>
            </a:pPr>
            <a:br>
              <a:rPr lang="en-US" sz="2400" dirty="0"/>
            </a:br>
            <a:r>
              <a:rPr lang="en-US" sz="2400" dirty="0">
                <a:effectLst/>
              </a:rPr>
              <a:t>• </a:t>
            </a:r>
            <a:r>
              <a:rPr lang="en-US" sz="2400" b="1" dirty="0">
                <a:effectLst/>
              </a:rPr>
              <a:t>Hash function</a:t>
            </a:r>
            <a:r>
              <a:rPr lang="en-US" sz="2400" dirty="0">
                <a:effectLst/>
              </a:rPr>
              <a:t>: A function that maps a message of any length into a fixed- length hash value, which serves as the authenticator.</a:t>
            </a:r>
            <a:br>
              <a:rPr lang="en-US" sz="2400" dirty="0"/>
            </a:br>
            <a:r>
              <a:rPr lang="en-US" sz="2400" dirty="0">
                <a:effectLst/>
              </a:rPr>
              <a:t>• </a:t>
            </a:r>
            <a:r>
              <a:rPr lang="en-US" sz="2400" b="1" dirty="0">
                <a:effectLst/>
              </a:rPr>
              <a:t>Message encryption</a:t>
            </a:r>
            <a:r>
              <a:rPr lang="en-US" sz="2400" dirty="0">
                <a:effectLst/>
              </a:rPr>
              <a:t>: The ciphertext of the entire message serves as its authenticator.</a:t>
            </a:r>
            <a:br>
              <a:rPr lang="en-US" sz="2400" dirty="0"/>
            </a:br>
            <a:r>
              <a:rPr lang="en-US" sz="2400" dirty="0">
                <a:effectLst/>
              </a:rPr>
              <a:t>• </a:t>
            </a:r>
            <a:r>
              <a:rPr lang="en-US" sz="2400" b="1" dirty="0">
                <a:effectLst/>
              </a:rPr>
              <a:t>Message authentication code (MAC): </a:t>
            </a:r>
            <a:r>
              <a:rPr lang="en-US" sz="2400" dirty="0">
                <a:effectLst/>
              </a:rPr>
              <a:t>A function of the message and a secret key that produces a fixed-length value that serves as the authenticator.</a:t>
            </a:r>
            <a:endParaRPr lang="en-US" sz="2400" dirty="0"/>
          </a:p>
        </p:txBody>
      </p:sp>
    </p:spTree>
    <p:extLst>
      <p:ext uri="{BB962C8B-B14F-4D97-AF65-F5344CB8AC3E}">
        <p14:creationId xmlns:p14="http://schemas.microsoft.com/office/powerpoint/2010/main" val="1416802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A1D23-53C7-50D9-8E0C-DEE8BD96D8E6}"/>
              </a:ext>
            </a:extLst>
          </p:cNvPr>
          <p:cNvSpPr>
            <a:spLocks noGrp="1"/>
          </p:cNvSpPr>
          <p:nvPr>
            <p:ph type="title"/>
          </p:nvPr>
        </p:nvSpPr>
        <p:spPr/>
        <p:txBody>
          <a:bodyPr/>
          <a:lstStyle/>
          <a:p>
            <a:r>
              <a:rPr lang="en-US" b="1" dirty="0"/>
              <a:t>Message Authentication Functions:</a:t>
            </a:r>
          </a:p>
        </p:txBody>
      </p:sp>
      <p:sp>
        <p:nvSpPr>
          <p:cNvPr id="3" name="Content Placeholder 2">
            <a:extLst>
              <a:ext uri="{FF2B5EF4-FFF2-40B4-BE49-F238E27FC236}">
                <a16:creationId xmlns:a16="http://schemas.microsoft.com/office/drawing/2014/main" id="{823BB232-C9E1-530F-6F89-606D1964350A}"/>
              </a:ext>
            </a:extLst>
          </p:cNvPr>
          <p:cNvSpPr>
            <a:spLocks noGrp="1"/>
          </p:cNvSpPr>
          <p:nvPr>
            <p:ph idx="1"/>
          </p:nvPr>
        </p:nvSpPr>
        <p:spPr/>
        <p:txBody>
          <a:bodyPr/>
          <a:lstStyle/>
          <a:p>
            <a:pPr marL="0" indent="0" algn="just">
              <a:buNone/>
            </a:pPr>
            <a:r>
              <a:rPr lang="en-US" b="1" dirty="0"/>
              <a:t>1. Hash Function</a:t>
            </a:r>
          </a:p>
          <a:p>
            <a:pPr algn="just">
              <a:buFont typeface="Arial" panose="020B0604020202020204" pitchFamily="34" charset="0"/>
              <a:buChar char="•"/>
            </a:pPr>
            <a:r>
              <a:rPr lang="en-US" b="1" dirty="0"/>
              <a:t>Description</a:t>
            </a:r>
            <a:r>
              <a:rPr lang="en-US" dirty="0"/>
              <a:t>: A hash function maps a message of any length into a fixed-length hash value.</a:t>
            </a:r>
          </a:p>
          <a:p>
            <a:pPr algn="just">
              <a:buFont typeface="Arial" panose="020B0604020202020204" pitchFamily="34" charset="0"/>
              <a:buChar char="•"/>
            </a:pPr>
            <a:r>
              <a:rPr lang="en-US" b="1" dirty="0"/>
              <a:t>Purpose</a:t>
            </a:r>
            <a:r>
              <a:rPr lang="en-US" dirty="0"/>
              <a:t>: The hash value serves as the authenticator for the message.</a:t>
            </a:r>
          </a:p>
          <a:p>
            <a:pPr algn="just">
              <a:buFont typeface="Arial" panose="020B0604020202020204" pitchFamily="34" charset="0"/>
              <a:buChar char="•"/>
            </a:pPr>
            <a:r>
              <a:rPr lang="en-US" b="1" dirty="0"/>
              <a:t>Example</a:t>
            </a:r>
            <a:r>
              <a:rPr lang="en-US" dirty="0"/>
              <a:t>: SHA-256 is a widely used cryptographic hash function.</a:t>
            </a:r>
          </a:p>
          <a:p>
            <a:pPr algn="just">
              <a:buFont typeface="Arial" panose="020B0604020202020204" pitchFamily="34" charset="0"/>
              <a:buChar char="•"/>
            </a:pPr>
            <a:r>
              <a:rPr lang="en-US" b="1" dirty="0"/>
              <a:t>How it works</a:t>
            </a:r>
            <a:r>
              <a:rPr lang="en-US" dirty="0"/>
              <a:t>: The sender computes the hash value of the message and sends it along with the message. The recipient computes the hash value of the received message and compares it with the received hash value to verify integrity.</a:t>
            </a:r>
          </a:p>
          <a:p>
            <a:pPr marL="0" indent="0" algn="just">
              <a:buNone/>
            </a:pPr>
            <a:endParaRPr lang="en-US" dirty="0"/>
          </a:p>
        </p:txBody>
      </p:sp>
    </p:spTree>
    <p:extLst>
      <p:ext uri="{BB962C8B-B14F-4D97-AF65-F5344CB8AC3E}">
        <p14:creationId xmlns:p14="http://schemas.microsoft.com/office/powerpoint/2010/main" val="2861974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D579-37ED-C76B-C519-AA6F9D92E6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8CDD20-E860-9E76-DE65-17F42EC9BB6A}"/>
              </a:ext>
            </a:extLst>
          </p:cNvPr>
          <p:cNvSpPr>
            <a:spLocks noGrp="1"/>
          </p:cNvSpPr>
          <p:nvPr>
            <p:ph idx="1"/>
          </p:nvPr>
        </p:nvSpPr>
        <p:spPr/>
        <p:txBody>
          <a:bodyPr>
            <a:normAutofit fontScale="92500"/>
          </a:bodyPr>
          <a:lstStyle/>
          <a:p>
            <a:pPr marL="0" indent="0" algn="just">
              <a:buNone/>
            </a:pPr>
            <a:r>
              <a:rPr lang="en-US" b="1" dirty="0"/>
              <a:t>2. Message Encryption</a:t>
            </a:r>
          </a:p>
          <a:p>
            <a:pPr algn="just">
              <a:buFont typeface="Arial" panose="020B0604020202020204" pitchFamily="34" charset="0"/>
              <a:buChar char="•"/>
            </a:pPr>
            <a:r>
              <a:rPr lang="en-US" b="1" dirty="0"/>
              <a:t>Description</a:t>
            </a:r>
            <a:r>
              <a:rPr lang="en-US" dirty="0"/>
              <a:t>: The ciphertext of the entire message serves as its authenticator.</a:t>
            </a:r>
          </a:p>
          <a:p>
            <a:pPr algn="just">
              <a:buFont typeface="Arial" panose="020B0604020202020204" pitchFamily="34" charset="0"/>
              <a:buChar char="•"/>
            </a:pPr>
            <a:r>
              <a:rPr lang="en-US" b="1" dirty="0"/>
              <a:t>Purpose</a:t>
            </a:r>
            <a:r>
              <a:rPr lang="en-US" dirty="0"/>
              <a:t>: Encryption ensures that only the intended recipient, who has the correct decryption key, can read the message and verify its authenticity.</a:t>
            </a:r>
          </a:p>
          <a:p>
            <a:pPr algn="just">
              <a:buFont typeface="Arial" panose="020B0604020202020204" pitchFamily="34" charset="0"/>
              <a:buChar char="•"/>
            </a:pPr>
            <a:r>
              <a:rPr lang="en-US" b="1" dirty="0"/>
              <a:t>Example</a:t>
            </a:r>
            <a:r>
              <a:rPr lang="en-US" dirty="0"/>
              <a:t>: AES (Advanced Encryption Standard) is a common encryption algorithm.</a:t>
            </a:r>
          </a:p>
          <a:p>
            <a:pPr algn="just">
              <a:buFont typeface="Arial" panose="020B0604020202020204" pitchFamily="34" charset="0"/>
              <a:buChar char="•"/>
            </a:pPr>
            <a:r>
              <a:rPr lang="en-US" b="1" dirty="0"/>
              <a:t>How it works</a:t>
            </a:r>
            <a:r>
              <a:rPr lang="en-US" dirty="0"/>
              <a:t>: The sender encrypts the entire message using a secret key and sends the ciphertext. The recipient decrypts the ciphertext using the same secret key to verify the message.</a:t>
            </a:r>
          </a:p>
          <a:p>
            <a:pPr marL="0" indent="0" algn="just">
              <a:buNone/>
            </a:pPr>
            <a:endParaRPr lang="en-US" dirty="0"/>
          </a:p>
        </p:txBody>
      </p:sp>
    </p:spTree>
    <p:extLst>
      <p:ext uri="{BB962C8B-B14F-4D97-AF65-F5344CB8AC3E}">
        <p14:creationId xmlns:p14="http://schemas.microsoft.com/office/powerpoint/2010/main" val="4278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E2634-BF0E-868E-59C9-5C9FDDE835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B7B2FB-B0F1-8ADC-9BB5-1FE45D6EAE0B}"/>
              </a:ext>
            </a:extLst>
          </p:cNvPr>
          <p:cNvSpPr>
            <a:spLocks noGrp="1"/>
          </p:cNvSpPr>
          <p:nvPr>
            <p:ph idx="1"/>
          </p:nvPr>
        </p:nvSpPr>
        <p:spPr/>
        <p:txBody>
          <a:bodyPr>
            <a:normAutofit fontScale="92500" lnSpcReduction="10000"/>
          </a:bodyPr>
          <a:lstStyle/>
          <a:p>
            <a:pPr marL="0" indent="0" algn="just">
              <a:buNone/>
            </a:pPr>
            <a:r>
              <a:rPr lang="en-US" b="1" dirty="0"/>
              <a:t>3. Message Authentication Code (MAC)</a:t>
            </a:r>
          </a:p>
          <a:p>
            <a:pPr algn="just">
              <a:buFont typeface="Arial" panose="020B0604020202020204" pitchFamily="34" charset="0"/>
              <a:buChar char="•"/>
            </a:pPr>
            <a:r>
              <a:rPr lang="en-US" b="1" dirty="0"/>
              <a:t>Description</a:t>
            </a:r>
            <a:r>
              <a:rPr lang="en-US" dirty="0"/>
              <a:t>: A MAC is a function of the message and a secret key that produces a fixed-length value.</a:t>
            </a:r>
          </a:p>
          <a:p>
            <a:pPr algn="just">
              <a:buFont typeface="Arial" panose="020B0604020202020204" pitchFamily="34" charset="0"/>
              <a:buChar char="•"/>
            </a:pPr>
            <a:r>
              <a:rPr lang="en-US" b="1" dirty="0"/>
              <a:t>Purpose</a:t>
            </a:r>
            <a:r>
              <a:rPr lang="en-US" dirty="0"/>
              <a:t>: The MAC value serves as the authenticator for the message, ensuring both integrity and authenticity.</a:t>
            </a:r>
          </a:p>
          <a:p>
            <a:pPr algn="just">
              <a:buFont typeface="Arial" panose="020B0604020202020204" pitchFamily="34" charset="0"/>
              <a:buChar char="•"/>
            </a:pPr>
            <a:r>
              <a:rPr lang="en-US" b="1" dirty="0"/>
              <a:t>Example</a:t>
            </a:r>
            <a:r>
              <a:rPr lang="en-US" dirty="0"/>
              <a:t>: HMAC (Hash-based Message Authentication Code) uses a cryptographic hash function and a secret key.</a:t>
            </a:r>
          </a:p>
          <a:p>
            <a:pPr algn="just">
              <a:buFont typeface="Arial" panose="020B0604020202020204" pitchFamily="34" charset="0"/>
              <a:buChar char="•"/>
            </a:pPr>
            <a:r>
              <a:rPr lang="en-US" b="1" dirty="0"/>
              <a:t>How it works</a:t>
            </a:r>
            <a:r>
              <a:rPr lang="en-US" dirty="0"/>
              <a:t>: The sender generates the MAC using the message and a secret key and sends the MAC along with the message. The recipient generates the MAC for the received message using the same secret key and compares it with the received MAC to verify the message.</a:t>
            </a:r>
          </a:p>
          <a:p>
            <a:pPr marL="0" indent="0" algn="just">
              <a:buNone/>
            </a:pPr>
            <a:endParaRPr lang="en-US" dirty="0"/>
          </a:p>
        </p:txBody>
      </p:sp>
    </p:spTree>
    <p:extLst>
      <p:ext uri="{BB962C8B-B14F-4D97-AF65-F5344CB8AC3E}">
        <p14:creationId xmlns:p14="http://schemas.microsoft.com/office/powerpoint/2010/main" val="2267045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24ED6-0FD5-58D3-3772-FA844E7CD4F6}"/>
              </a:ext>
            </a:extLst>
          </p:cNvPr>
          <p:cNvSpPr>
            <a:spLocks noGrp="1"/>
          </p:cNvSpPr>
          <p:nvPr>
            <p:ph type="title"/>
          </p:nvPr>
        </p:nvSpPr>
        <p:spPr>
          <a:xfrm>
            <a:off x="838200" y="365126"/>
            <a:ext cx="9421536" cy="524108"/>
          </a:xfrm>
        </p:spPr>
        <p:txBody>
          <a:bodyPr>
            <a:normAutofit fontScale="90000"/>
          </a:bodyPr>
          <a:lstStyle/>
          <a:p>
            <a:r>
              <a:rPr lang="en-US" b="1" dirty="0"/>
              <a:t>Message Authentication Code (MAC)</a:t>
            </a:r>
          </a:p>
        </p:txBody>
      </p:sp>
      <p:sp>
        <p:nvSpPr>
          <p:cNvPr id="3" name="Content Placeholder 2">
            <a:extLst>
              <a:ext uri="{FF2B5EF4-FFF2-40B4-BE49-F238E27FC236}">
                <a16:creationId xmlns:a16="http://schemas.microsoft.com/office/drawing/2014/main" id="{D92C94F3-6FBA-D912-5662-4B52297D9BF1}"/>
              </a:ext>
            </a:extLst>
          </p:cNvPr>
          <p:cNvSpPr>
            <a:spLocks noGrp="1"/>
          </p:cNvSpPr>
          <p:nvPr>
            <p:ph idx="1"/>
          </p:nvPr>
        </p:nvSpPr>
        <p:spPr>
          <a:xfrm>
            <a:off x="838200" y="1253331"/>
            <a:ext cx="10515600" cy="4351338"/>
          </a:xfrm>
        </p:spPr>
        <p:txBody>
          <a:bodyPr>
            <a:normAutofit/>
          </a:bodyPr>
          <a:lstStyle/>
          <a:p>
            <a:pPr algn="just">
              <a:lnSpc>
                <a:spcPct val="100000"/>
              </a:lnSpc>
            </a:pPr>
            <a:r>
              <a:rPr lang="en-US" sz="2400" dirty="0"/>
              <a:t>A message authentication code (MAC) is a cryptographic checksum on data that uses a session key to detect both accidental and intentional modifications of the data.</a:t>
            </a:r>
          </a:p>
          <a:p>
            <a:pPr algn="just">
              <a:lnSpc>
                <a:spcPct val="100000"/>
              </a:lnSpc>
            </a:pPr>
            <a:r>
              <a:rPr lang="en-US" sz="2400" dirty="0"/>
              <a:t>It is a security code that is typed in by the user of a computer to access accounts or portals. This code is attached to the message or request sent by the user.</a:t>
            </a:r>
          </a:p>
          <a:p>
            <a:pPr algn="just">
              <a:lnSpc>
                <a:spcPct val="100000"/>
              </a:lnSpc>
            </a:pPr>
            <a:r>
              <a:rPr lang="en-US" sz="2400" dirty="0"/>
              <a:t>Message authentication codes (MACs) attached to the message must be recognized by the receiving system in order to grant the user access.</a:t>
            </a:r>
          </a:p>
          <a:p>
            <a:pPr algn="just">
              <a:lnSpc>
                <a:spcPct val="100000"/>
              </a:lnSpc>
            </a:pPr>
            <a:r>
              <a:rPr lang="en-US" sz="2400" dirty="0"/>
              <a:t>MACs are commonly used in electronic funds transfers (EFTs) to maintain information integrity.</a:t>
            </a:r>
          </a:p>
        </p:txBody>
      </p:sp>
    </p:spTree>
    <p:extLst>
      <p:ext uri="{BB962C8B-B14F-4D97-AF65-F5344CB8AC3E}">
        <p14:creationId xmlns:p14="http://schemas.microsoft.com/office/powerpoint/2010/main" val="3613807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B239C-7370-441C-8800-F10711A8DEE2}"/>
              </a:ext>
            </a:extLst>
          </p:cNvPr>
          <p:cNvSpPr>
            <a:spLocks noGrp="1"/>
          </p:cNvSpPr>
          <p:nvPr>
            <p:ph type="title"/>
          </p:nvPr>
        </p:nvSpPr>
        <p:spPr/>
        <p:txBody>
          <a:bodyPr>
            <a:normAutofit/>
          </a:bodyPr>
          <a:lstStyle/>
          <a:p>
            <a:r>
              <a:rPr lang="en-US" sz="4000" b="1" dirty="0"/>
              <a:t>Message Authentication Code (MAC) Work Flow</a:t>
            </a:r>
          </a:p>
        </p:txBody>
      </p:sp>
      <p:sp>
        <p:nvSpPr>
          <p:cNvPr id="3" name="Content Placeholder 2">
            <a:extLst>
              <a:ext uri="{FF2B5EF4-FFF2-40B4-BE49-F238E27FC236}">
                <a16:creationId xmlns:a16="http://schemas.microsoft.com/office/drawing/2014/main" id="{09797073-4DA3-34A1-C974-F54B368DE752}"/>
              </a:ext>
            </a:extLst>
          </p:cNvPr>
          <p:cNvSpPr>
            <a:spLocks noGrp="1"/>
          </p:cNvSpPr>
          <p:nvPr>
            <p:ph idx="1"/>
          </p:nvPr>
        </p:nvSpPr>
        <p:spPr/>
        <p:txBody>
          <a:bodyPr>
            <a:normAutofit/>
          </a:bodyPr>
          <a:lstStyle/>
          <a:p>
            <a:r>
              <a:rPr lang="en-US" sz="2400" dirty="0"/>
              <a:t>The message authentication code technique involves the use of a secret key to generate a small block of data that is appended to the message.</a:t>
            </a:r>
          </a:p>
          <a:p>
            <a:r>
              <a:rPr lang="en-US" sz="2400" dirty="0"/>
              <a:t>This technique assumes that two communicating parties, say A and B, share a common secret key K</a:t>
            </a:r>
            <a:r>
              <a:rPr lang="en-US" sz="2400" baseline="-25000" dirty="0"/>
              <a:t>AB</a:t>
            </a:r>
            <a:r>
              <a:rPr lang="en-US" sz="2400" dirty="0"/>
              <a:t>.</a:t>
            </a:r>
          </a:p>
          <a:p>
            <a:r>
              <a:rPr lang="en-US" sz="2400" dirty="0"/>
              <a:t>When A has a message to send to B, it calculates the message authentication code as a function of the message and the key: </a:t>
            </a:r>
          </a:p>
          <a:p>
            <a:pPr marL="0" indent="0" algn="ctr">
              <a:buNone/>
            </a:pPr>
            <a:r>
              <a:rPr lang="en-US" sz="2400" b="1" dirty="0"/>
              <a:t>MAC</a:t>
            </a:r>
            <a:r>
              <a:rPr lang="en-US" sz="2400" b="1" baseline="-25000" dirty="0"/>
              <a:t>M</a:t>
            </a:r>
            <a:r>
              <a:rPr lang="en-US" sz="2400" b="1" dirty="0"/>
              <a:t> = F (K</a:t>
            </a:r>
            <a:r>
              <a:rPr lang="en-US" sz="2400" b="1" baseline="-25000" dirty="0"/>
              <a:t>AB</a:t>
            </a:r>
            <a:r>
              <a:rPr lang="en-US" sz="2400" b="1" dirty="0"/>
              <a:t>,M). </a:t>
            </a:r>
          </a:p>
          <a:p>
            <a:r>
              <a:rPr lang="en-US" sz="2400" dirty="0"/>
              <a:t>The message plus code are transmitted to the intended recipient. The recipient performs the same calculation on the received message, using the same secret key, to generate a new message authentication code.</a:t>
            </a:r>
          </a:p>
          <a:p>
            <a:r>
              <a:rPr lang="en-US" sz="2400" dirty="0"/>
              <a:t>The received code is compared to the calculated code.</a:t>
            </a:r>
          </a:p>
        </p:txBody>
      </p:sp>
    </p:spTree>
    <p:extLst>
      <p:ext uri="{BB962C8B-B14F-4D97-AF65-F5344CB8AC3E}">
        <p14:creationId xmlns:p14="http://schemas.microsoft.com/office/powerpoint/2010/main" val="618569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A6E1-2C95-477A-745E-25CA6A29D384}"/>
              </a:ext>
            </a:extLst>
          </p:cNvPr>
          <p:cNvSpPr>
            <a:spLocks noGrp="1"/>
          </p:cNvSpPr>
          <p:nvPr>
            <p:ph type="title"/>
          </p:nvPr>
        </p:nvSpPr>
        <p:spPr/>
        <p:txBody>
          <a:bodyPr>
            <a:normAutofit/>
          </a:bodyPr>
          <a:lstStyle/>
          <a:p>
            <a:r>
              <a:rPr lang="en-US" sz="4000" b="1" dirty="0"/>
              <a:t>Message Authenticate Code (MAC) Work Flow</a:t>
            </a:r>
          </a:p>
        </p:txBody>
      </p:sp>
      <p:sp>
        <p:nvSpPr>
          <p:cNvPr id="3" name="Content Placeholder 2">
            <a:extLst>
              <a:ext uri="{FF2B5EF4-FFF2-40B4-BE49-F238E27FC236}">
                <a16:creationId xmlns:a16="http://schemas.microsoft.com/office/drawing/2014/main" id="{5E0A4C63-07D3-63FF-B203-87735E2F20BC}"/>
              </a:ext>
            </a:extLst>
          </p:cNvPr>
          <p:cNvSpPr>
            <a:spLocks noGrp="1"/>
          </p:cNvSpPr>
          <p:nvPr>
            <p:ph idx="1"/>
          </p:nvPr>
        </p:nvSpPr>
        <p:spPr>
          <a:xfrm>
            <a:off x="838200" y="1690688"/>
            <a:ext cx="10515600" cy="4351338"/>
          </a:xfrm>
        </p:spPr>
        <p:txBody>
          <a:bodyPr/>
          <a:lstStyle/>
          <a:p>
            <a:pPr marL="0" indent="0" algn="just">
              <a:lnSpc>
                <a:spcPct val="100000"/>
              </a:lnSpc>
              <a:buNone/>
            </a:pPr>
            <a:r>
              <a:rPr lang="en-US" sz="2400" dirty="0"/>
              <a:t>If we assume that only the receiver and the sender know the identity of the key, and if the received code matches the calculate code, then</a:t>
            </a:r>
          </a:p>
          <a:p>
            <a:pPr algn="just">
              <a:lnSpc>
                <a:spcPct val="100000"/>
              </a:lnSpc>
              <a:buFont typeface="Arial" panose="020B0604020202020204" pitchFamily="34" charset="0"/>
              <a:buChar char="•"/>
            </a:pPr>
            <a:r>
              <a:rPr lang="en-US" sz="2400" dirty="0"/>
              <a:t> The receiver is assured that the message has not been altered.</a:t>
            </a:r>
          </a:p>
          <a:p>
            <a:pPr algn="just">
              <a:lnSpc>
                <a:spcPct val="100000"/>
              </a:lnSpc>
              <a:buFont typeface="Arial" panose="020B0604020202020204" pitchFamily="34" charset="0"/>
              <a:buChar char="•"/>
            </a:pPr>
            <a:r>
              <a:rPr lang="en-US" sz="2400" dirty="0"/>
              <a:t>The receiver is assured that the message is from the alleged sender. Because no one else knows the secret key, no one else could prepare a message with a proper code.</a:t>
            </a:r>
          </a:p>
          <a:p>
            <a:pPr algn="just">
              <a:lnSpc>
                <a:spcPct val="100000"/>
              </a:lnSpc>
              <a:buFont typeface="Arial" panose="020B0604020202020204" pitchFamily="34" charset="0"/>
              <a:buChar char="•"/>
            </a:pPr>
            <a:r>
              <a:rPr lang="en-US" sz="2400" dirty="0"/>
              <a:t>If the message includes a sequence number, then the receiver can be assured of the proper sequence, because an attacker cannot successfully alter the sequence number.</a:t>
            </a:r>
          </a:p>
          <a:p>
            <a:pPr marL="0" indent="0">
              <a:buNone/>
            </a:pPr>
            <a:endParaRPr lang="en-US" dirty="0"/>
          </a:p>
        </p:txBody>
      </p:sp>
    </p:spTree>
    <p:extLst>
      <p:ext uri="{BB962C8B-B14F-4D97-AF65-F5344CB8AC3E}">
        <p14:creationId xmlns:p14="http://schemas.microsoft.com/office/powerpoint/2010/main" val="2650840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FC283-8342-B44E-5CC3-AB7F00CBE965}"/>
              </a:ext>
            </a:extLst>
          </p:cNvPr>
          <p:cNvSpPr>
            <a:spLocks noGrp="1"/>
          </p:cNvSpPr>
          <p:nvPr>
            <p:ph type="title"/>
          </p:nvPr>
        </p:nvSpPr>
        <p:spPr>
          <a:xfrm>
            <a:off x="838200" y="365126"/>
            <a:ext cx="10142989" cy="725444"/>
          </a:xfrm>
        </p:spPr>
        <p:txBody>
          <a:bodyPr/>
          <a:lstStyle/>
          <a:p>
            <a:r>
              <a:rPr lang="en-US" b="1" dirty="0"/>
              <a:t>3.2 Hash Functions</a:t>
            </a:r>
          </a:p>
        </p:txBody>
      </p:sp>
      <p:sp>
        <p:nvSpPr>
          <p:cNvPr id="3" name="Content Placeholder 2">
            <a:extLst>
              <a:ext uri="{FF2B5EF4-FFF2-40B4-BE49-F238E27FC236}">
                <a16:creationId xmlns:a16="http://schemas.microsoft.com/office/drawing/2014/main" id="{3BC28D48-CB28-65EA-3C88-99FB2A602FAF}"/>
              </a:ext>
            </a:extLst>
          </p:cNvPr>
          <p:cNvSpPr>
            <a:spLocks noGrp="1"/>
          </p:cNvSpPr>
          <p:nvPr>
            <p:ph idx="1"/>
          </p:nvPr>
        </p:nvSpPr>
        <p:spPr>
          <a:xfrm>
            <a:off x="838200" y="1253331"/>
            <a:ext cx="10515600" cy="4351338"/>
          </a:xfrm>
        </p:spPr>
        <p:txBody>
          <a:bodyPr>
            <a:normAutofit fontScale="62500" lnSpcReduction="20000"/>
          </a:bodyPr>
          <a:lstStyle/>
          <a:p>
            <a:pPr algn="just">
              <a:lnSpc>
                <a:spcPct val="120000"/>
              </a:lnSpc>
            </a:pPr>
            <a:r>
              <a:rPr lang="en-US" dirty="0"/>
              <a:t>A hash function takes a group of characters (called a key) and maps it to a value of a certain length (called a hash value or hash).</a:t>
            </a:r>
          </a:p>
          <a:p>
            <a:pPr algn="just">
              <a:lnSpc>
                <a:spcPct val="120000"/>
              </a:lnSpc>
            </a:pPr>
            <a:r>
              <a:rPr lang="en-US" dirty="0"/>
              <a:t>The hash value is representative of the original string of characters, but is normally smaller than the original.</a:t>
            </a:r>
          </a:p>
          <a:p>
            <a:pPr algn="just">
              <a:lnSpc>
                <a:spcPct val="120000"/>
              </a:lnSpc>
            </a:pPr>
            <a:r>
              <a:rPr lang="en-US" dirty="0"/>
              <a:t>Hashing is used in encryption and also done for indexing and locating items in databases.</a:t>
            </a:r>
          </a:p>
          <a:p>
            <a:pPr algn="just">
              <a:lnSpc>
                <a:spcPct val="120000"/>
              </a:lnSpc>
            </a:pPr>
            <a:r>
              <a:rPr lang="en-US" dirty="0"/>
              <a:t>A hash function maps keys to small integers (buckets). An ideal hash function maps the keys to the integers in a random-like manner, so that bucket values are evenly distributed even if there are regularities in the input data. This process can be divided into two steps as: </a:t>
            </a:r>
          </a:p>
          <a:p>
            <a:pPr marL="0" indent="0" algn="just">
              <a:lnSpc>
                <a:spcPct val="120000"/>
              </a:lnSpc>
              <a:buNone/>
            </a:pPr>
            <a:r>
              <a:rPr lang="en-US" dirty="0"/>
              <a:t>a) </a:t>
            </a:r>
            <a:r>
              <a:rPr lang="en-US" b="1" dirty="0"/>
              <a:t>Map the key to an integer.</a:t>
            </a:r>
          </a:p>
          <a:p>
            <a:pPr marL="0" indent="0" algn="just">
              <a:lnSpc>
                <a:spcPct val="120000"/>
              </a:lnSpc>
              <a:buNone/>
            </a:pPr>
            <a:r>
              <a:rPr lang="en-US" dirty="0"/>
              <a:t>b) </a:t>
            </a:r>
            <a:r>
              <a:rPr lang="en-US" b="1" dirty="0"/>
              <a:t>Map the integer to a bucket.</a:t>
            </a:r>
          </a:p>
          <a:p>
            <a:pPr marL="0" indent="0" algn="just">
              <a:lnSpc>
                <a:spcPct val="120000"/>
              </a:lnSpc>
              <a:buNone/>
            </a:pPr>
            <a:endParaRPr lang="en-US" b="1" dirty="0"/>
          </a:p>
          <a:p>
            <a:pPr marL="0" indent="0" algn="just">
              <a:lnSpc>
                <a:spcPct val="120000"/>
              </a:lnSpc>
              <a:buNone/>
            </a:pPr>
            <a:r>
              <a:rPr lang="en-US" b="1" i="1" dirty="0"/>
              <a:t>Note: The input to the hash function is of arbitrary length but output is always of fixed length.</a:t>
            </a:r>
          </a:p>
          <a:p>
            <a:pPr algn="just">
              <a:lnSpc>
                <a:spcPct val="120000"/>
              </a:lnSpc>
            </a:pPr>
            <a:endParaRPr lang="en-US" dirty="0"/>
          </a:p>
        </p:txBody>
      </p:sp>
    </p:spTree>
    <p:extLst>
      <p:ext uri="{BB962C8B-B14F-4D97-AF65-F5344CB8AC3E}">
        <p14:creationId xmlns:p14="http://schemas.microsoft.com/office/powerpoint/2010/main" val="1831845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215A-FA69-47B2-5FFC-7645FCAEF386}"/>
              </a:ext>
            </a:extLst>
          </p:cNvPr>
          <p:cNvSpPr>
            <a:spLocks noGrp="1"/>
          </p:cNvSpPr>
          <p:nvPr>
            <p:ph type="title"/>
          </p:nvPr>
        </p:nvSpPr>
        <p:spPr>
          <a:xfrm>
            <a:off x="838200" y="365125"/>
            <a:ext cx="10142989" cy="800945"/>
          </a:xfrm>
        </p:spPr>
        <p:txBody>
          <a:bodyPr/>
          <a:lstStyle/>
          <a:p>
            <a:r>
              <a:rPr lang="en-US" b="1" dirty="0"/>
              <a:t>3.2 Hash Functions</a:t>
            </a:r>
          </a:p>
        </p:txBody>
      </p:sp>
      <p:sp>
        <p:nvSpPr>
          <p:cNvPr id="3" name="Content Placeholder 2">
            <a:extLst>
              <a:ext uri="{FF2B5EF4-FFF2-40B4-BE49-F238E27FC236}">
                <a16:creationId xmlns:a16="http://schemas.microsoft.com/office/drawing/2014/main" id="{A18AC4C5-A9D5-B73C-7BBE-12618FD973AF}"/>
              </a:ext>
            </a:extLst>
          </p:cNvPr>
          <p:cNvSpPr>
            <a:spLocks noGrp="1"/>
          </p:cNvSpPr>
          <p:nvPr>
            <p:ph idx="1"/>
          </p:nvPr>
        </p:nvSpPr>
        <p:spPr>
          <a:xfrm>
            <a:off x="838200" y="1253331"/>
            <a:ext cx="10515600" cy="4351338"/>
          </a:xfrm>
        </p:spPr>
        <p:txBody>
          <a:bodyPr>
            <a:normAutofit/>
          </a:bodyPr>
          <a:lstStyle/>
          <a:p>
            <a:pPr marL="0" indent="0">
              <a:buNone/>
            </a:pPr>
            <a:r>
              <a:rPr lang="en-US" b="1" dirty="0"/>
              <a:t>Features</a:t>
            </a:r>
          </a:p>
          <a:p>
            <a:pPr marL="514350" indent="-514350" algn="just">
              <a:lnSpc>
                <a:spcPct val="100000"/>
              </a:lnSpc>
              <a:buAutoNum type="alphaLcParenR"/>
            </a:pPr>
            <a:r>
              <a:rPr lang="en-US" sz="2000" b="1" dirty="0"/>
              <a:t>Fixed Length Output (Hash Value)</a:t>
            </a:r>
          </a:p>
          <a:p>
            <a:pPr algn="just">
              <a:lnSpc>
                <a:spcPct val="100000"/>
              </a:lnSpc>
              <a:buFont typeface="Arial" panose="020B0604020202020204" pitchFamily="34" charset="0"/>
              <a:buChar char="•"/>
            </a:pPr>
            <a:r>
              <a:rPr lang="en-US" sz="1800" dirty="0"/>
              <a:t>Hash function coverts data of arbitrary length to a fixed length. This process is often referred to as </a:t>
            </a:r>
            <a:r>
              <a:rPr lang="en-US" sz="1800" b="1" dirty="0"/>
              <a:t>hashing the data</a:t>
            </a:r>
            <a:r>
              <a:rPr lang="en-US" sz="1800" dirty="0"/>
              <a:t>.</a:t>
            </a:r>
          </a:p>
          <a:p>
            <a:pPr algn="just">
              <a:lnSpc>
                <a:spcPct val="100000"/>
              </a:lnSpc>
              <a:buFont typeface="Arial" panose="020B0604020202020204" pitchFamily="34" charset="0"/>
              <a:buChar char="•"/>
            </a:pPr>
            <a:r>
              <a:rPr lang="en-US" sz="1800" dirty="0"/>
              <a:t>In general, the hash is much smaller than the input data, hence hash functions are sometimes called </a:t>
            </a:r>
            <a:r>
              <a:rPr lang="en-US" sz="1800" b="1" dirty="0"/>
              <a:t>compression functions</a:t>
            </a:r>
            <a:r>
              <a:rPr lang="en-US" sz="1800" dirty="0"/>
              <a:t>.</a:t>
            </a:r>
          </a:p>
          <a:p>
            <a:pPr algn="just">
              <a:lnSpc>
                <a:spcPct val="100000"/>
              </a:lnSpc>
              <a:buFont typeface="Arial" panose="020B0604020202020204" pitchFamily="34" charset="0"/>
              <a:buChar char="•"/>
            </a:pPr>
            <a:r>
              <a:rPr lang="en-US" sz="1800" dirty="0"/>
              <a:t>Since a hash is a smaller representation of a larger data, it is also referred to as a </a:t>
            </a:r>
            <a:r>
              <a:rPr lang="en-US" sz="1800" b="1" dirty="0"/>
              <a:t>digest</a:t>
            </a:r>
            <a:r>
              <a:rPr lang="en-US" sz="1800" dirty="0"/>
              <a:t>.</a:t>
            </a:r>
          </a:p>
          <a:p>
            <a:pPr algn="just">
              <a:lnSpc>
                <a:spcPct val="100000"/>
              </a:lnSpc>
              <a:buFont typeface="Arial" panose="020B0604020202020204" pitchFamily="34" charset="0"/>
              <a:buChar char="•"/>
            </a:pPr>
            <a:r>
              <a:rPr lang="en-US" sz="1800" dirty="0"/>
              <a:t>Hash function with n bit output is referred to as an </a:t>
            </a:r>
            <a:r>
              <a:rPr lang="en-US" sz="1800" b="1" dirty="0"/>
              <a:t>n-bit hash function</a:t>
            </a:r>
            <a:r>
              <a:rPr lang="en-US" sz="1800" dirty="0"/>
              <a:t>. Popular hash functions generate values between 160 and 512 bits.</a:t>
            </a:r>
          </a:p>
          <a:p>
            <a:pPr marL="0" indent="0">
              <a:buNone/>
            </a:pPr>
            <a:r>
              <a:rPr lang="en-US" sz="2000" b="1" dirty="0"/>
              <a:t>b) Efficiency of Operation</a:t>
            </a:r>
          </a:p>
          <a:p>
            <a:r>
              <a:rPr lang="en-US" sz="1800" dirty="0"/>
              <a:t>Faster than a symmetric operation</a:t>
            </a:r>
          </a:p>
          <a:p>
            <a:pPr marL="0" indent="0">
              <a:buNone/>
            </a:pPr>
            <a:endParaRPr lang="en-US" sz="2000" dirty="0"/>
          </a:p>
        </p:txBody>
      </p:sp>
    </p:spTree>
    <p:extLst>
      <p:ext uri="{BB962C8B-B14F-4D97-AF65-F5344CB8AC3E}">
        <p14:creationId xmlns:p14="http://schemas.microsoft.com/office/powerpoint/2010/main" val="3119611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1ED74-6BA1-97B3-05D1-15A2CCA6D86A}"/>
              </a:ext>
            </a:extLst>
          </p:cNvPr>
          <p:cNvSpPr>
            <a:spLocks noGrp="1"/>
          </p:cNvSpPr>
          <p:nvPr>
            <p:ph type="title"/>
          </p:nvPr>
        </p:nvSpPr>
        <p:spPr>
          <a:xfrm>
            <a:off x="838200" y="365126"/>
            <a:ext cx="10252046" cy="876446"/>
          </a:xfrm>
        </p:spPr>
        <p:txBody>
          <a:bodyPr/>
          <a:lstStyle/>
          <a:p>
            <a:r>
              <a:rPr lang="en-US" b="1" dirty="0"/>
              <a:t>Design of Hashing Algorithms</a:t>
            </a:r>
          </a:p>
        </p:txBody>
      </p:sp>
      <p:sp>
        <p:nvSpPr>
          <p:cNvPr id="3" name="Content Placeholder 2">
            <a:extLst>
              <a:ext uri="{FF2B5EF4-FFF2-40B4-BE49-F238E27FC236}">
                <a16:creationId xmlns:a16="http://schemas.microsoft.com/office/drawing/2014/main" id="{6D7F140C-7BD7-A0CD-A87D-8E887616DB23}"/>
              </a:ext>
            </a:extLst>
          </p:cNvPr>
          <p:cNvSpPr>
            <a:spLocks noGrp="1"/>
          </p:cNvSpPr>
          <p:nvPr>
            <p:ph idx="1"/>
          </p:nvPr>
        </p:nvSpPr>
        <p:spPr>
          <a:xfrm>
            <a:off x="838200" y="1283967"/>
            <a:ext cx="10515600" cy="4351338"/>
          </a:xfrm>
        </p:spPr>
        <p:txBody>
          <a:bodyPr/>
          <a:lstStyle/>
          <a:p>
            <a:pPr marL="0" indent="0" algn="just">
              <a:lnSpc>
                <a:spcPct val="100000"/>
              </a:lnSpc>
              <a:buNone/>
            </a:pPr>
            <a:r>
              <a:rPr lang="en-US" sz="2400" dirty="0"/>
              <a:t>Hashing is a mathematical function that operates on two fixed-size blocks of data to create a hash code. This hash function forms the part of the hashing algorithm.</a:t>
            </a:r>
          </a:p>
          <a:p>
            <a:pPr marL="0" indent="0" algn="just">
              <a:lnSpc>
                <a:spcPct val="100000"/>
              </a:lnSpc>
              <a:buNone/>
            </a:pPr>
            <a:r>
              <a:rPr lang="en-US" sz="2400" dirty="0"/>
              <a:t>The size of each data block varies depending on the algorithm. Typically the block sizes are from 128 bits to 512 bits. The following illustration demonstrates hash function −</a:t>
            </a:r>
          </a:p>
          <a:p>
            <a:pPr marL="0" indent="0">
              <a:buNone/>
            </a:pPr>
            <a:endParaRPr lang="en-US" dirty="0"/>
          </a:p>
        </p:txBody>
      </p:sp>
      <p:pic>
        <p:nvPicPr>
          <p:cNvPr id="5" name="Picture 4" descr="A diagram of a mathematical hash function&#10;&#10;Description automatically generated with medium confidence">
            <a:extLst>
              <a:ext uri="{FF2B5EF4-FFF2-40B4-BE49-F238E27FC236}">
                <a16:creationId xmlns:a16="http://schemas.microsoft.com/office/drawing/2014/main" id="{7A2288E8-3033-A44D-24CC-8E90FA5C67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9513" y="3768405"/>
            <a:ext cx="6619875" cy="1866900"/>
          </a:xfrm>
          <a:prstGeom prst="rect">
            <a:avLst/>
          </a:prstGeom>
        </p:spPr>
      </p:pic>
    </p:spTree>
    <p:extLst>
      <p:ext uri="{BB962C8B-B14F-4D97-AF65-F5344CB8AC3E}">
        <p14:creationId xmlns:p14="http://schemas.microsoft.com/office/powerpoint/2010/main" val="2148283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15D69-93EB-8832-10FA-9937D3AF7CAA}"/>
              </a:ext>
            </a:extLst>
          </p:cNvPr>
          <p:cNvSpPr>
            <a:spLocks noGrp="1"/>
          </p:cNvSpPr>
          <p:nvPr>
            <p:ph type="title"/>
          </p:nvPr>
        </p:nvSpPr>
        <p:spPr>
          <a:xfrm>
            <a:off x="838200" y="365126"/>
            <a:ext cx="10335936" cy="574442"/>
          </a:xfrm>
        </p:spPr>
        <p:txBody>
          <a:bodyPr>
            <a:normAutofit fontScale="90000"/>
          </a:bodyPr>
          <a:lstStyle/>
          <a:p>
            <a:r>
              <a:rPr lang="en-US" b="1" dirty="0"/>
              <a:t>Design of Hashing Algorithms</a:t>
            </a:r>
          </a:p>
        </p:txBody>
      </p:sp>
      <p:sp>
        <p:nvSpPr>
          <p:cNvPr id="3" name="Content Placeholder 2">
            <a:extLst>
              <a:ext uri="{FF2B5EF4-FFF2-40B4-BE49-F238E27FC236}">
                <a16:creationId xmlns:a16="http://schemas.microsoft.com/office/drawing/2014/main" id="{DFEE7B79-2421-A283-177D-663E1D22798B}"/>
              </a:ext>
            </a:extLst>
          </p:cNvPr>
          <p:cNvSpPr>
            <a:spLocks noGrp="1"/>
          </p:cNvSpPr>
          <p:nvPr>
            <p:ph idx="1"/>
          </p:nvPr>
        </p:nvSpPr>
        <p:spPr>
          <a:xfrm>
            <a:off x="838200" y="1062227"/>
            <a:ext cx="10515600" cy="4351338"/>
          </a:xfrm>
        </p:spPr>
        <p:txBody>
          <a:bodyPr/>
          <a:lstStyle/>
          <a:p>
            <a:pPr algn="just">
              <a:lnSpc>
                <a:spcPct val="100000"/>
              </a:lnSpc>
            </a:pPr>
            <a:r>
              <a:rPr lang="en-US" sz="2400" dirty="0"/>
              <a:t>Hashing algorithm involves rounds of above hash function like a block cipher. Each round takes an input of a fixed size, typically a combination of the most recent message block and the output of the last round.</a:t>
            </a:r>
          </a:p>
          <a:p>
            <a:pPr algn="just">
              <a:lnSpc>
                <a:spcPct val="100000"/>
              </a:lnSpc>
            </a:pPr>
            <a:r>
              <a:rPr lang="en-US" sz="2400" dirty="0"/>
              <a:t>This process is repeated for as many rounds as are required to hash the entire message. Schematic of hashing algorithm is depicted in the following illustration   </a:t>
            </a:r>
          </a:p>
          <a:p>
            <a:pPr marL="0" indent="0">
              <a:buNone/>
            </a:pPr>
            <a:r>
              <a:rPr lang="en-US" dirty="0"/>
              <a:t>              </a:t>
            </a:r>
          </a:p>
        </p:txBody>
      </p:sp>
      <p:pic>
        <p:nvPicPr>
          <p:cNvPr id="5" name="Picture 4" descr="A picture containing text, screenshot, font, diagram&#10;&#10;Description automatically generated">
            <a:extLst>
              <a:ext uri="{FF2B5EF4-FFF2-40B4-BE49-F238E27FC236}">
                <a16:creationId xmlns:a16="http://schemas.microsoft.com/office/drawing/2014/main" id="{5C627356-9E76-3901-91A6-A320C1A3F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461" y="3237896"/>
            <a:ext cx="6419850" cy="1447800"/>
          </a:xfrm>
          <a:prstGeom prst="rect">
            <a:avLst/>
          </a:prstGeom>
        </p:spPr>
      </p:pic>
      <p:sp>
        <p:nvSpPr>
          <p:cNvPr id="8" name="TextBox 7">
            <a:extLst>
              <a:ext uri="{FF2B5EF4-FFF2-40B4-BE49-F238E27FC236}">
                <a16:creationId xmlns:a16="http://schemas.microsoft.com/office/drawing/2014/main" id="{BC1F038A-63EC-67C5-383E-FF2DAC549C4A}"/>
              </a:ext>
            </a:extLst>
          </p:cNvPr>
          <p:cNvSpPr txBox="1"/>
          <p:nvPr/>
        </p:nvSpPr>
        <p:spPr>
          <a:xfrm>
            <a:off x="721453" y="5327009"/>
            <a:ext cx="1045268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hash value of first message block becomes an input to the second hash operation, output of which alters the result of the third operation, and so on. This effect, known as an </a:t>
            </a:r>
            <a:r>
              <a:rPr lang="en-US" b="1" dirty="0"/>
              <a:t>avalanche</a:t>
            </a:r>
            <a:r>
              <a:rPr lang="en-US" dirty="0"/>
              <a:t> effect of hashing.</a:t>
            </a:r>
          </a:p>
          <a:p>
            <a:endParaRPr lang="en-US" dirty="0"/>
          </a:p>
          <a:p>
            <a:endParaRPr lang="en-US" dirty="0"/>
          </a:p>
        </p:txBody>
      </p:sp>
    </p:spTree>
    <p:extLst>
      <p:ext uri="{BB962C8B-B14F-4D97-AF65-F5344CB8AC3E}">
        <p14:creationId xmlns:p14="http://schemas.microsoft.com/office/powerpoint/2010/main" val="384601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A813-1332-F6F0-C027-E61B75E3ABBC}"/>
              </a:ext>
            </a:extLst>
          </p:cNvPr>
          <p:cNvSpPr>
            <a:spLocks noGrp="1"/>
          </p:cNvSpPr>
          <p:nvPr>
            <p:ph type="title"/>
          </p:nvPr>
        </p:nvSpPr>
        <p:spPr>
          <a:xfrm>
            <a:off x="838200" y="365125"/>
            <a:ext cx="10059099" cy="566053"/>
          </a:xfrm>
        </p:spPr>
        <p:txBody>
          <a:bodyPr>
            <a:normAutofit fontScale="90000"/>
          </a:bodyPr>
          <a:lstStyle/>
          <a:p>
            <a:r>
              <a:rPr lang="en-US" b="1" dirty="0"/>
              <a:t>Applications of Hash Functions</a:t>
            </a:r>
          </a:p>
        </p:txBody>
      </p:sp>
      <p:sp>
        <p:nvSpPr>
          <p:cNvPr id="3" name="Content Placeholder 2">
            <a:extLst>
              <a:ext uri="{FF2B5EF4-FFF2-40B4-BE49-F238E27FC236}">
                <a16:creationId xmlns:a16="http://schemas.microsoft.com/office/drawing/2014/main" id="{35270FD1-DD32-3045-DCD5-AD1CFEE51D95}"/>
              </a:ext>
            </a:extLst>
          </p:cNvPr>
          <p:cNvSpPr>
            <a:spLocks noGrp="1"/>
          </p:cNvSpPr>
          <p:nvPr>
            <p:ph idx="1"/>
          </p:nvPr>
        </p:nvSpPr>
        <p:spPr>
          <a:xfrm>
            <a:off x="609949" y="1909515"/>
            <a:ext cx="10515600" cy="4351338"/>
          </a:xfrm>
        </p:spPr>
        <p:txBody>
          <a:bodyPr/>
          <a:lstStyle/>
          <a:p>
            <a:r>
              <a:rPr lang="en-US" b="1" dirty="0"/>
              <a:t>Password Storage </a:t>
            </a:r>
            <a:r>
              <a:rPr lang="en-US" dirty="0"/>
              <a:t>– provide protection to storage of password</a:t>
            </a:r>
          </a:p>
          <a:p>
            <a:r>
              <a:rPr lang="en-US" b="1" dirty="0"/>
              <a:t>Data Integrity Check </a:t>
            </a:r>
            <a:r>
              <a:rPr lang="en-US" dirty="0"/>
              <a:t>– to check correctness of data </a:t>
            </a:r>
          </a:p>
        </p:txBody>
      </p:sp>
    </p:spTree>
    <p:extLst>
      <p:ext uri="{BB962C8B-B14F-4D97-AF65-F5344CB8AC3E}">
        <p14:creationId xmlns:p14="http://schemas.microsoft.com/office/powerpoint/2010/main" val="543749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8A5E-4ABC-BF14-6A43-58C9D3B077CA}"/>
              </a:ext>
            </a:extLst>
          </p:cNvPr>
          <p:cNvSpPr>
            <a:spLocks noGrp="1"/>
          </p:cNvSpPr>
          <p:nvPr>
            <p:ph type="title"/>
          </p:nvPr>
        </p:nvSpPr>
        <p:spPr>
          <a:xfrm>
            <a:off x="838200" y="365126"/>
            <a:ext cx="9572538" cy="524108"/>
          </a:xfrm>
        </p:spPr>
        <p:txBody>
          <a:bodyPr>
            <a:normAutofit fontScale="90000"/>
          </a:bodyPr>
          <a:lstStyle/>
          <a:p>
            <a:r>
              <a:rPr lang="en-US" b="1" dirty="0"/>
              <a:t>3.3 Message Digest: MD4 and MD5</a:t>
            </a:r>
          </a:p>
        </p:txBody>
      </p:sp>
      <p:sp>
        <p:nvSpPr>
          <p:cNvPr id="3" name="Content Placeholder 2">
            <a:extLst>
              <a:ext uri="{FF2B5EF4-FFF2-40B4-BE49-F238E27FC236}">
                <a16:creationId xmlns:a16="http://schemas.microsoft.com/office/drawing/2014/main" id="{9DD95DBC-50A5-846A-412E-82ED3A08F949}"/>
              </a:ext>
            </a:extLst>
          </p:cNvPr>
          <p:cNvSpPr>
            <a:spLocks noGrp="1"/>
          </p:cNvSpPr>
          <p:nvPr>
            <p:ph idx="1"/>
          </p:nvPr>
        </p:nvSpPr>
        <p:spPr>
          <a:xfrm>
            <a:off x="838200" y="944782"/>
            <a:ext cx="10515600" cy="4351338"/>
          </a:xfrm>
        </p:spPr>
        <p:txBody>
          <a:bodyPr/>
          <a:lstStyle/>
          <a:p>
            <a:pPr marL="0" indent="0" algn="just">
              <a:lnSpc>
                <a:spcPct val="100000"/>
              </a:lnSpc>
              <a:buNone/>
            </a:pPr>
            <a:r>
              <a:rPr lang="en-US" b="1" dirty="0"/>
              <a:t>Message Digest (MD)</a:t>
            </a:r>
          </a:p>
          <a:p>
            <a:pPr algn="just">
              <a:lnSpc>
                <a:spcPct val="100000"/>
              </a:lnSpc>
            </a:pPr>
            <a:r>
              <a:rPr lang="en-US" dirty="0"/>
              <a:t>A message digest (MD) is a cryptographic hash function containing a string of digits created by a one-way hashing formula.</a:t>
            </a:r>
          </a:p>
          <a:p>
            <a:pPr algn="just"/>
            <a:r>
              <a:rPr lang="en-US" dirty="0"/>
              <a:t>Message digest algorithm is a procedure that maps input data of an arbitrary length to an output of fixed length.</a:t>
            </a:r>
          </a:p>
          <a:p>
            <a:pPr algn="just"/>
            <a:r>
              <a:rPr lang="en-US" dirty="0"/>
              <a:t>Output is often known as hash values, hash codes, hash sums, checksums, message digest, digital fingerprint or simply hashes.</a:t>
            </a:r>
          </a:p>
          <a:p>
            <a:pPr algn="just"/>
            <a:r>
              <a:rPr lang="en-US" dirty="0"/>
              <a:t>Hash functions </a:t>
            </a:r>
            <a:r>
              <a:rPr lang="en-US" dirty="0" err="1"/>
              <a:t>donot</a:t>
            </a:r>
            <a:r>
              <a:rPr lang="en-US" dirty="0"/>
              <a:t> have keys.</a:t>
            </a:r>
          </a:p>
          <a:p>
            <a:pPr algn="just"/>
            <a:r>
              <a:rPr lang="en-US" dirty="0"/>
              <a:t>It is designed to protect the integrity of data. </a:t>
            </a:r>
          </a:p>
          <a:p>
            <a:pPr algn="just"/>
            <a:endParaRPr lang="en-US" dirty="0"/>
          </a:p>
          <a:p>
            <a:pPr algn="just">
              <a:lnSpc>
                <a:spcPct val="100000"/>
              </a:lnSpc>
            </a:pPr>
            <a:endParaRPr lang="en-US" dirty="0"/>
          </a:p>
          <a:p>
            <a:pPr marL="0" indent="0" algn="just">
              <a:lnSpc>
                <a:spcPct val="100000"/>
              </a:lnSpc>
              <a:buNone/>
            </a:pPr>
            <a:endParaRPr lang="en-US" dirty="0"/>
          </a:p>
          <a:p>
            <a:pPr marL="0" indent="0" algn="just">
              <a:lnSpc>
                <a:spcPct val="100000"/>
              </a:lnSpc>
              <a:buNone/>
            </a:pPr>
            <a:endParaRPr lang="en-US" b="1" dirty="0"/>
          </a:p>
          <a:p>
            <a:pPr marL="0" indent="0" algn="just">
              <a:lnSpc>
                <a:spcPct val="100000"/>
              </a:lnSpc>
              <a:buNone/>
            </a:pPr>
            <a:endParaRPr lang="en-US" dirty="0"/>
          </a:p>
          <a:p>
            <a:pPr marL="0" indent="0" algn="just">
              <a:lnSpc>
                <a:spcPct val="100000"/>
              </a:lnSpc>
              <a:buNone/>
            </a:pPr>
            <a:endParaRPr lang="en-US" dirty="0"/>
          </a:p>
        </p:txBody>
      </p:sp>
    </p:spTree>
    <p:extLst>
      <p:ext uri="{BB962C8B-B14F-4D97-AF65-F5344CB8AC3E}">
        <p14:creationId xmlns:p14="http://schemas.microsoft.com/office/powerpoint/2010/main" val="1683979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2AED6-19AA-1BBD-E965-3096656357EC}"/>
              </a:ext>
            </a:extLst>
          </p:cNvPr>
          <p:cNvSpPr>
            <a:spLocks noGrp="1"/>
          </p:cNvSpPr>
          <p:nvPr>
            <p:ph type="title"/>
          </p:nvPr>
        </p:nvSpPr>
        <p:spPr/>
        <p:txBody>
          <a:bodyPr/>
          <a:lstStyle/>
          <a:p>
            <a:r>
              <a:rPr lang="en-US" b="1" dirty="0"/>
              <a:t>MD4</a:t>
            </a:r>
          </a:p>
        </p:txBody>
      </p:sp>
      <p:sp>
        <p:nvSpPr>
          <p:cNvPr id="3" name="Content Placeholder 2">
            <a:extLst>
              <a:ext uri="{FF2B5EF4-FFF2-40B4-BE49-F238E27FC236}">
                <a16:creationId xmlns:a16="http://schemas.microsoft.com/office/drawing/2014/main" id="{1DDFCE0A-8E98-AD92-C457-DE0B4C33A46B}"/>
              </a:ext>
            </a:extLst>
          </p:cNvPr>
          <p:cNvSpPr>
            <a:spLocks noGrp="1"/>
          </p:cNvSpPr>
          <p:nvPr>
            <p:ph idx="1"/>
          </p:nvPr>
        </p:nvSpPr>
        <p:spPr/>
        <p:txBody>
          <a:bodyPr/>
          <a:lstStyle/>
          <a:p>
            <a:pPr algn="just">
              <a:lnSpc>
                <a:spcPct val="100000"/>
              </a:lnSpc>
            </a:pPr>
            <a:r>
              <a:rPr lang="en-US" dirty="0"/>
              <a:t>First published in October 1990 by Ronald Rivest.</a:t>
            </a:r>
          </a:p>
          <a:p>
            <a:pPr algn="just">
              <a:lnSpc>
                <a:spcPct val="100000"/>
              </a:lnSpc>
            </a:pPr>
            <a:r>
              <a:rPr lang="en-US" dirty="0"/>
              <a:t>The MD4 message digest algorithm implements a cryptographic hash function to be used in checking a message’s integrity. MD4 runs faster than MD2.</a:t>
            </a:r>
          </a:p>
          <a:p>
            <a:pPr algn="just">
              <a:lnSpc>
                <a:spcPct val="100000"/>
              </a:lnSpc>
            </a:pPr>
            <a:r>
              <a:rPr lang="en-US" dirty="0"/>
              <a:t>MD4 is known as the algorithm that has influenced in the later designs, such as the MD5, SHA, and RIPEMD algorithms. The digest length for MD4 is 128 bits.</a:t>
            </a:r>
          </a:p>
        </p:txBody>
      </p:sp>
    </p:spTree>
    <p:extLst>
      <p:ext uri="{BB962C8B-B14F-4D97-AF65-F5344CB8AC3E}">
        <p14:creationId xmlns:p14="http://schemas.microsoft.com/office/powerpoint/2010/main" val="2448401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F587-8113-0C42-F803-2D889C0A62CB}"/>
              </a:ext>
            </a:extLst>
          </p:cNvPr>
          <p:cNvSpPr>
            <a:spLocks noGrp="1"/>
          </p:cNvSpPr>
          <p:nvPr>
            <p:ph type="title"/>
          </p:nvPr>
        </p:nvSpPr>
        <p:spPr/>
        <p:txBody>
          <a:bodyPr/>
          <a:lstStyle/>
          <a:p>
            <a:r>
              <a:rPr lang="en-US" b="1" dirty="0"/>
              <a:t>MD4 Algorithm Steps:</a:t>
            </a:r>
          </a:p>
        </p:txBody>
      </p:sp>
      <p:sp>
        <p:nvSpPr>
          <p:cNvPr id="3" name="Content Placeholder 2">
            <a:extLst>
              <a:ext uri="{FF2B5EF4-FFF2-40B4-BE49-F238E27FC236}">
                <a16:creationId xmlns:a16="http://schemas.microsoft.com/office/drawing/2014/main" id="{B8F92102-6E82-3AE0-FB65-963B6E9B6387}"/>
              </a:ext>
            </a:extLst>
          </p:cNvPr>
          <p:cNvSpPr>
            <a:spLocks noGrp="1"/>
          </p:cNvSpPr>
          <p:nvPr>
            <p:ph idx="1"/>
          </p:nvPr>
        </p:nvSpPr>
        <p:spPr/>
        <p:txBody>
          <a:bodyPr/>
          <a:lstStyle/>
          <a:p>
            <a:r>
              <a:rPr lang="en-US" dirty="0">
                <a:effectLst/>
                <a:latin typeface="Times New Roman" panose="02020603050405020304" pitchFamily="18" charset="0"/>
              </a:rPr>
              <a:t>Step 1. Append padding bits</a:t>
            </a:r>
          </a:p>
          <a:p>
            <a:r>
              <a:rPr lang="en-US" dirty="0">
                <a:effectLst/>
                <a:latin typeface="Times New Roman" panose="02020603050405020304" pitchFamily="18" charset="0"/>
              </a:rPr>
              <a:t>Step 2. Append length</a:t>
            </a:r>
            <a:endParaRPr lang="en-US" dirty="0">
              <a:latin typeface="Times New Roman" panose="02020603050405020304" pitchFamily="18" charset="0"/>
            </a:endParaRPr>
          </a:p>
          <a:p>
            <a:r>
              <a:rPr lang="en-US" dirty="0">
                <a:effectLst/>
                <a:latin typeface="Times New Roman" panose="02020603050405020304" pitchFamily="18" charset="0"/>
              </a:rPr>
              <a:t>Step 3. Initialize MD buffer</a:t>
            </a:r>
          </a:p>
          <a:p>
            <a:r>
              <a:rPr lang="en-US" dirty="0">
                <a:effectLst/>
                <a:latin typeface="Times New Roman" panose="02020603050405020304" pitchFamily="18" charset="0"/>
              </a:rPr>
              <a:t>Step 4. Process </a:t>
            </a:r>
            <a:r>
              <a:rPr lang="en-US" dirty="0">
                <a:effectLst/>
                <a:latin typeface="Courier New" panose="02070309020205020404" pitchFamily="49" charset="0"/>
              </a:rPr>
              <a:t>message </a:t>
            </a:r>
            <a:r>
              <a:rPr lang="en-US" dirty="0">
                <a:effectLst/>
                <a:latin typeface="Times New Roman" panose="02020603050405020304" pitchFamily="18" charset="0"/>
              </a:rPr>
              <a:t>in 16-word blocks</a:t>
            </a:r>
            <a:endParaRPr lang="en-US" dirty="0">
              <a:latin typeface="Times New Roman" panose="02020603050405020304" pitchFamily="18" charset="0"/>
            </a:endParaRPr>
          </a:p>
          <a:p>
            <a:r>
              <a:rPr lang="en-US" dirty="0">
                <a:effectLst/>
                <a:latin typeface="Times New Roman" panose="02020603050405020304" pitchFamily="18" charset="0"/>
              </a:rPr>
              <a:t>Step </a:t>
            </a:r>
            <a:r>
              <a:rPr lang="en-US" dirty="0">
                <a:effectLst/>
                <a:latin typeface="Arial" panose="020B0604020202020204" pitchFamily="34" charset="0"/>
              </a:rPr>
              <a:t>5 . </a:t>
            </a:r>
            <a:r>
              <a:rPr lang="en-US" dirty="0">
                <a:effectLst/>
                <a:latin typeface="Times New Roman" panose="02020603050405020304" pitchFamily="18" charset="0"/>
              </a:rPr>
              <a:t>Output</a:t>
            </a:r>
            <a:endParaRPr lang="en-US" dirty="0"/>
          </a:p>
        </p:txBody>
      </p:sp>
    </p:spTree>
    <p:extLst>
      <p:ext uri="{BB962C8B-B14F-4D97-AF65-F5344CB8AC3E}">
        <p14:creationId xmlns:p14="http://schemas.microsoft.com/office/powerpoint/2010/main" val="1907587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A75E0-EA3D-0345-E233-5E597F446DA0}"/>
              </a:ext>
            </a:extLst>
          </p:cNvPr>
          <p:cNvSpPr>
            <a:spLocks noGrp="1"/>
          </p:cNvSpPr>
          <p:nvPr>
            <p:ph type="title"/>
          </p:nvPr>
        </p:nvSpPr>
        <p:spPr/>
        <p:txBody>
          <a:bodyPr/>
          <a:lstStyle/>
          <a:p>
            <a:r>
              <a:rPr lang="en-US" b="1" dirty="0"/>
              <a:t>MD4 Algorithm Steps:</a:t>
            </a:r>
          </a:p>
        </p:txBody>
      </p:sp>
      <p:sp>
        <p:nvSpPr>
          <p:cNvPr id="3" name="Content Placeholder 2">
            <a:extLst>
              <a:ext uri="{FF2B5EF4-FFF2-40B4-BE49-F238E27FC236}">
                <a16:creationId xmlns:a16="http://schemas.microsoft.com/office/drawing/2014/main" id="{0F432E8D-24B0-7B92-31BC-A6CD49DB69BB}"/>
              </a:ext>
            </a:extLst>
          </p:cNvPr>
          <p:cNvSpPr>
            <a:spLocks noGrp="1"/>
          </p:cNvSpPr>
          <p:nvPr>
            <p:ph idx="1"/>
          </p:nvPr>
        </p:nvSpPr>
        <p:spPr/>
        <p:txBody>
          <a:bodyPr/>
          <a:lstStyle/>
          <a:p>
            <a:pPr marL="0" indent="0">
              <a:buNone/>
            </a:pPr>
            <a:r>
              <a:rPr lang="en-US" b="1" dirty="0"/>
              <a:t>1. Padding the Message</a:t>
            </a:r>
          </a:p>
          <a:p>
            <a:r>
              <a:rPr lang="en-US" dirty="0"/>
              <a:t>The message is padded so that its length (in bits) is congruent to 448 modulo 512. Padding is done as follows:</a:t>
            </a:r>
          </a:p>
          <a:p>
            <a:pPr>
              <a:buFont typeface="Arial" panose="020B0604020202020204" pitchFamily="34" charset="0"/>
              <a:buChar char="•"/>
            </a:pPr>
            <a:r>
              <a:rPr lang="en-US" dirty="0"/>
              <a:t>Append a single '1' bit to the message.</a:t>
            </a:r>
          </a:p>
          <a:p>
            <a:pPr>
              <a:buFont typeface="Arial" panose="020B0604020202020204" pitchFamily="34" charset="0"/>
              <a:buChar char="•"/>
            </a:pPr>
            <a:r>
              <a:rPr lang="en-US" dirty="0"/>
              <a:t>Append '0' bits until the length of the message is 64 bits less than a multiple of 512.</a:t>
            </a:r>
          </a:p>
          <a:p>
            <a:pPr>
              <a:buFont typeface="Arial" panose="020B0604020202020204" pitchFamily="34" charset="0"/>
              <a:buChar char="•"/>
            </a:pPr>
            <a:r>
              <a:rPr lang="en-US" dirty="0"/>
              <a:t>Append the length of the original message (before padding) as a 64-bit little-endian integer.</a:t>
            </a:r>
          </a:p>
          <a:p>
            <a:pPr marL="0" indent="0">
              <a:buNone/>
            </a:pPr>
            <a:endParaRPr lang="en-US" dirty="0"/>
          </a:p>
        </p:txBody>
      </p:sp>
    </p:spTree>
    <p:extLst>
      <p:ext uri="{BB962C8B-B14F-4D97-AF65-F5344CB8AC3E}">
        <p14:creationId xmlns:p14="http://schemas.microsoft.com/office/powerpoint/2010/main" val="3520795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EA0-5E20-D2AB-A7F0-DB8319303B81}"/>
              </a:ext>
            </a:extLst>
          </p:cNvPr>
          <p:cNvSpPr>
            <a:spLocks noGrp="1"/>
          </p:cNvSpPr>
          <p:nvPr>
            <p:ph type="title"/>
          </p:nvPr>
        </p:nvSpPr>
        <p:spPr/>
        <p:txBody>
          <a:bodyPr/>
          <a:lstStyle/>
          <a:p>
            <a:r>
              <a:rPr lang="en-US" b="1" dirty="0"/>
              <a:t>MD4 Algorithm Steps</a:t>
            </a:r>
          </a:p>
        </p:txBody>
      </p:sp>
      <p:sp>
        <p:nvSpPr>
          <p:cNvPr id="3" name="Content Placeholder 2">
            <a:extLst>
              <a:ext uri="{FF2B5EF4-FFF2-40B4-BE49-F238E27FC236}">
                <a16:creationId xmlns:a16="http://schemas.microsoft.com/office/drawing/2014/main" id="{06FA93AB-F569-8F0F-ACA5-23310F77AFAA}"/>
              </a:ext>
            </a:extLst>
          </p:cNvPr>
          <p:cNvSpPr>
            <a:spLocks noGrp="1"/>
          </p:cNvSpPr>
          <p:nvPr>
            <p:ph idx="1"/>
          </p:nvPr>
        </p:nvSpPr>
        <p:spPr/>
        <p:txBody>
          <a:bodyPr/>
          <a:lstStyle/>
          <a:p>
            <a:pPr marL="0" indent="0">
              <a:buNone/>
            </a:pPr>
            <a:r>
              <a:rPr lang="en-US" dirty="0"/>
              <a:t>2. </a:t>
            </a:r>
            <a:r>
              <a:rPr lang="en-US" b="1" dirty="0"/>
              <a:t>Initialize MD Buffer</a:t>
            </a:r>
          </a:p>
          <a:p>
            <a:pPr marL="0" indent="0">
              <a:buNone/>
            </a:pPr>
            <a:r>
              <a:rPr lang="en-US" dirty="0"/>
              <a:t>Initialize four 32-bit variables (registers) with specific constants:</a:t>
            </a:r>
          </a:p>
          <a:p>
            <a:pPr marL="0" indent="0">
              <a:buNone/>
            </a:pPr>
            <a:endParaRPr lang="en-US" dirty="0"/>
          </a:p>
          <a:p>
            <a:pPr marL="0" indent="0">
              <a:buNone/>
            </a:pPr>
            <a:r>
              <a:rPr lang="en-US" dirty="0"/>
              <a:t>A = 0x67452301</a:t>
            </a:r>
          </a:p>
          <a:p>
            <a:pPr marL="0" indent="0">
              <a:buNone/>
            </a:pPr>
            <a:r>
              <a:rPr lang="en-US" dirty="0"/>
              <a:t>B = 0xefcdab89</a:t>
            </a:r>
          </a:p>
          <a:p>
            <a:pPr marL="0" indent="0">
              <a:buNone/>
            </a:pPr>
            <a:r>
              <a:rPr lang="en-US" dirty="0"/>
              <a:t>C = 0x98badcfe</a:t>
            </a:r>
          </a:p>
          <a:p>
            <a:pPr marL="0" indent="0">
              <a:buNone/>
            </a:pPr>
            <a:r>
              <a:rPr lang="en-US" dirty="0"/>
              <a:t>D = 0x10325476</a:t>
            </a:r>
          </a:p>
        </p:txBody>
      </p:sp>
    </p:spTree>
    <p:extLst>
      <p:ext uri="{BB962C8B-B14F-4D97-AF65-F5344CB8AC3E}">
        <p14:creationId xmlns:p14="http://schemas.microsoft.com/office/powerpoint/2010/main" val="3895164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833FC-35F6-462D-E048-6CA2FB7024AD}"/>
              </a:ext>
            </a:extLst>
          </p:cNvPr>
          <p:cNvSpPr>
            <a:spLocks noGrp="1"/>
          </p:cNvSpPr>
          <p:nvPr>
            <p:ph type="title"/>
          </p:nvPr>
        </p:nvSpPr>
        <p:spPr/>
        <p:txBody>
          <a:bodyPr/>
          <a:lstStyle/>
          <a:p>
            <a:r>
              <a:rPr lang="en-US" b="1" dirty="0"/>
              <a:t>MD4 Algorithm Steps:</a:t>
            </a:r>
          </a:p>
        </p:txBody>
      </p:sp>
      <p:sp>
        <p:nvSpPr>
          <p:cNvPr id="3" name="Content Placeholder 2">
            <a:extLst>
              <a:ext uri="{FF2B5EF4-FFF2-40B4-BE49-F238E27FC236}">
                <a16:creationId xmlns:a16="http://schemas.microsoft.com/office/drawing/2014/main" id="{F504AFCA-93AF-F71A-F8B3-933CEB819238}"/>
              </a:ext>
            </a:extLst>
          </p:cNvPr>
          <p:cNvSpPr>
            <a:spLocks noGrp="1"/>
          </p:cNvSpPr>
          <p:nvPr>
            <p:ph idx="1"/>
          </p:nvPr>
        </p:nvSpPr>
        <p:spPr/>
        <p:txBody>
          <a:bodyPr/>
          <a:lstStyle/>
          <a:p>
            <a:pPr marL="0" indent="0">
              <a:buNone/>
            </a:pPr>
            <a:r>
              <a:rPr lang="en-US" b="1" dirty="0"/>
              <a:t>3. Process Message in 512-bit Blocks</a:t>
            </a:r>
          </a:p>
          <a:p>
            <a:pPr marL="0" indent="0">
              <a:buNone/>
            </a:pPr>
            <a:r>
              <a:rPr lang="en-US" dirty="0"/>
              <a:t>The message is processed in 512-bit blocks (each block consists of 16 32-bit words). For each block:</a:t>
            </a:r>
          </a:p>
          <a:p>
            <a:pPr marL="0" indent="0">
              <a:buNone/>
            </a:pPr>
            <a:endParaRPr lang="en-US" dirty="0"/>
          </a:p>
          <a:p>
            <a:r>
              <a:rPr lang="en-US" dirty="0"/>
              <a:t>Copy the four MD buffer variables into four working variables (AA, BB, CC, DD).</a:t>
            </a:r>
          </a:p>
        </p:txBody>
      </p:sp>
    </p:spTree>
    <p:extLst>
      <p:ext uri="{BB962C8B-B14F-4D97-AF65-F5344CB8AC3E}">
        <p14:creationId xmlns:p14="http://schemas.microsoft.com/office/powerpoint/2010/main" val="693107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36C05-E647-7AB0-5E0B-F9D3A3275018}"/>
              </a:ext>
            </a:extLst>
          </p:cNvPr>
          <p:cNvSpPr>
            <a:spLocks noGrp="1"/>
          </p:cNvSpPr>
          <p:nvPr>
            <p:ph type="title"/>
          </p:nvPr>
        </p:nvSpPr>
        <p:spPr/>
        <p:txBody>
          <a:bodyPr/>
          <a:lstStyle/>
          <a:p>
            <a:r>
              <a:rPr lang="en-US" b="1" dirty="0"/>
              <a:t>MD4 Algorithm Steps:</a:t>
            </a:r>
            <a:endParaRPr lang="en-US" dirty="0"/>
          </a:p>
        </p:txBody>
      </p:sp>
      <p:sp>
        <p:nvSpPr>
          <p:cNvPr id="3" name="Content Placeholder 2">
            <a:extLst>
              <a:ext uri="{FF2B5EF4-FFF2-40B4-BE49-F238E27FC236}">
                <a16:creationId xmlns:a16="http://schemas.microsoft.com/office/drawing/2014/main" id="{2C2DA4D1-3FD8-1A97-C4C9-E724B730F91B}"/>
              </a:ext>
            </a:extLst>
          </p:cNvPr>
          <p:cNvSpPr>
            <a:spLocks noGrp="1"/>
          </p:cNvSpPr>
          <p:nvPr>
            <p:ph idx="1"/>
          </p:nvPr>
        </p:nvSpPr>
        <p:spPr/>
        <p:txBody>
          <a:bodyPr/>
          <a:lstStyle/>
          <a:p>
            <a:pPr marL="0" indent="0">
              <a:buNone/>
            </a:pPr>
            <a:r>
              <a:rPr lang="en-US" b="1" dirty="0"/>
              <a:t>4. Round Functions</a:t>
            </a:r>
          </a:p>
          <a:p>
            <a:r>
              <a:rPr lang="en-US" dirty="0"/>
              <a:t>There are three rounds in MD4, each involving bitwise operations, modular additions, and left rotations. Each round uses a different non-linear function.</a:t>
            </a:r>
          </a:p>
          <a:p>
            <a:r>
              <a:rPr lang="en-US" dirty="0"/>
              <a:t>Round -1 : </a:t>
            </a:r>
            <a:r>
              <a:rPr lang="es-ES" dirty="0"/>
              <a:t>F(X, Y, Z) = (X &amp; Y)</a:t>
            </a:r>
          </a:p>
          <a:p>
            <a:r>
              <a:rPr lang="es-ES" dirty="0"/>
              <a:t>Round -2: G(X, Y, Z) = (X &amp; Y)</a:t>
            </a:r>
          </a:p>
          <a:p>
            <a:r>
              <a:rPr lang="es-ES" dirty="0"/>
              <a:t>Round -3: H(X, Y, Z) = (X &amp; Y)</a:t>
            </a:r>
          </a:p>
          <a:p>
            <a:endParaRPr lang="es-ES" dirty="0"/>
          </a:p>
          <a:p>
            <a:endParaRPr lang="en-US" dirty="0"/>
          </a:p>
        </p:txBody>
      </p:sp>
    </p:spTree>
    <p:extLst>
      <p:ext uri="{BB962C8B-B14F-4D97-AF65-F5344CB8AC3E}">
        <p14:creationId xmlns:p14="http://schemas.microsoft.com/office/powerpoint/2010/main" val="3360438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A9A-2F9D-977D-5DC1-F6037D237EE2}"/>
              </a:ext>
            </a:extLst>
          </p:cNvPr>
          <p:cNvSpPr>
            <a:spLocks noGrp="1"/>
          </p:cNvSpPr>
          <p:nvPr>
            <p:ph type="title"/>
          </p:nvPr>
        </p:nvSpPr>
        <p:spPr/>
        <p:txBody>
          <a:bodyPr/>
          <a:lstStyle/>
          <a:p>
            <a:r>
              <a:rPr lang="en-US" b="1" dirty="0"/>
              <a:t>MD4 Algorithm Steps:</a:t>
            </a:r>
          </a:p>
        </p:txBody>
      </p:sp>
      <p:sp>
        <p:nvSpPr>
          <p:cNvPr id="3" name="Content Placeholder 2">
            <a:extLst>
              <a:ext uri="{FF2B5EF4-FFF2-40B4-BE49-F238E27FC236}">
                <a16:creationId xmlns:a16="http://schemas.microsoft.com/office/drawing/2014/main" id="{3226C9DD-91A3-6F0D-9FB7-1B174459B761}"/>
              </a:ext>
            </a:extLst>
          </p:cNvPr>
          <p:cNvSpPr>
            <a:spLocks noGrp="1"/>
          </p:cNvSpPr>
          <p:nvPr>
            <p:ph idx="1"/>
          </p:nvPr>
        </p:nvSpPr>
        <p:spPr/>
        <p:txBody>
          <a:bodyPr/>
          <a:lstStyle/>
          <a:p>
            <a:r>
              <a:rPr lang="en-US" b="1" dirty="0"/>
              <a:t>5. Add Working Variables to MD Buffer</a:t>
            </a:r>
          </a:p>
          <a:p>
            <a:r>
              <a:rPr lang="en-US" dirty="0"/>
              <a:t>After processing each block, add the working variables back to the MD buffer:</a:t>
            </a:r>
          </a:p>
          <a:p>
            <a:pPr marL="0" indent="0">
              <a:buNone/>
            </a:pPr>
            <a:endParaRPr lang="en-US" dirty="0"/>
          </a:p>
          <a:p>
            <a:pPr marL="0" indent="0">
              <a:buNone/>
            </a:pPr>
            <a:r>
              <a:rPr lang="en-US" b="1" dirty="0"/>
              <a:t>6. Produce the Final Hash Value</a:t>
            </a:r>
          </a:p>
          <a:p>
            <a:r>
              <a:rPr lang="en-US" dirty="0"/>
              <a:t>Concatenate the MD buffer values A, B, C, and D to produce the final 128-bit hash value.</a:t>
            </a:r>
          </a:p>
          <a:p>
            <a:pPr marL="0" indent="0">
              <a:buNone/>
            </a:pPr>
            <a:endParaRPr lang="en-US" dirty="0"/>
          </a:p>
        </p:txBody>
      </p:sp>
      <p:pic>
        <p:nvPicPr>
          <p:cNvPr id="6" name="Picture 5">
            <a:extLst>
              <a:ext uri="{FF2B5EF4-FFF2-40B4-BE49-F238E27FC236}">
                <a16:creationId xmlns:a16="http://schemas.microsoft.com/office/drawing/2014/main" id="{51EFF271-2230-1B7C-84DA-CF1157BEAC2E}"/>
              </a:ext>
            </a:extLst>
          </p:cNvPr>
          <p:cNvPicPr>
            <a:picLocks noChangeAspect="1"/>
          </p:cNvPicPr>
          <p:nvPr/>
        </p:nvPicPr>
        <p:blipFill>
          <a:blip r:embed="rId2"/>
          <a:stretch>
            <a:fillRect/>
          </a:stretch>
        </p:blipFill>
        <p:spPr>
          <a:xfrm>
            <a:off x="3063098" y="3219450"/>
            <a:ext cx="5229225" cy="419100"/>
          </a:xfrm>
          <a:prstGeom prst="rect">
            <a:avLst/>
          </a:prstGeom>
        </p:spPr>
      </p:pic>
    </p:spTree>
    <p:extLst>
      <p:ext uri="{BB962C8B-B14F-4D97-AF65-F5344CB8AC3E}">
        <p14:creationId xmlns:p14="http://schemas.microsoft.com/office/powerpoint/2010/main" val="1806039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985E3-5671-8D7D-C810-374CB7E36326}"/>
              </a:ext>
            </a:extLst>
          </p:cNvPr>
          <p:cNvSpPr>
            <a:spLocks noGrp="1"/>
          </p:cNvSpPr>
          <p:nvPr>
            <p:ph type="title"/>
          </p:nvPr>
        </p:nvSpPr>
        <p:spPr/>
        <p:txBody>
          <a:bodyPr/>
          <a:lstStyle/>
          <a:p>
            <a:r>
              <a:rPr lang="en-US" b="1" dirty="0"/>
              <a:t>MD4</a:t>
            </a:r>
          </a:p>
        </p:txBody>
      </p:sp>
      <p:sp>
        <p:nvSpPr>
          <p:cNvPr id="3" name="Content Placeholder 2">
            <a:extLst>
              <a:ext uri="{FF2B5EF4-FFF2-40B4-BE49-F238E27FC236}">
                <a16:creationId xmlns:a16="http://schemas.microsoft.com/office/drawing/2014/main" id="{02BB8002-FC0B-A436-D556-F2464F67313A}"/>
              </a:ext>
            </a:extLst>
          </p:cNvPr>
          <p:cNvSpPr>
            <a:spLocks noGrp="1"/>
          </p:cNvSpPr>
          <p:nvPr>
            <p:ph idx="1"/>
          </p:nvPr>
        </p:nvSpPr>
        <p:spPr/>
        <p:txBody>
          <a:bodyPr/>
          <a:lstStyle/>
          <a:p>
            <a:pPr marL="0" indent="0">
              <a:buNone/>
            </a:pPr>
            <a:r>
              <a:rPr lang="en-US" dirty="0"/>
              <a:t>Example: </a:t>
            </a:r>
          </a:p>
        </p:txBody>
      </p:sp>
      <p:pic>
        <p:nvPicPr>
          <p:cNvPr id="8" name="Picture 7">
            <a:extLst>
              <a:ext uri="{FF2B5EF4-FFF2-40B4-BE49-F238E27FC236}">
                <a16:creationId xmlns:a16="http://schemas.microsoft.com/office/drawing/2014/main" id="{69FAD61E-5F09-190C-0653-C0CEB568AD53}"/>
              </a:ext>
            </a:extLst>
          </p:cNvPr>
          <p:cNvPicPr>
            <a:picLocks noChangeAspect="1"/>
          </p:cNvPicPr>
          <p:nvPr/>
        </p:nvPicPr>
        <p:blipFill>
          <a:blip r:embed="rId2"/>
          <a:stretch>
            <a:fillRect/>
          </a:stretch>
        </p:blipFill>
        <p:spPr>
          <a:xfrm>
            <a:off x="596766" y="1440588"/>
            <a:ext cx="10905423" cy="3818426"/>
          </a:xfrm>
          <a:prstGeom prst="rect">
            <a:avLst/>
          </a:prstGeom>
        </p:spPr>
      </p:pic>
      <p:pic>
        <p:nvPicPr>
          <p:cNvPr id="6" name="Picture 5">
            <a:extLst>
              <a:ext uri="{FF2B5EF4-FFF2-40B4-BE49-F238E27FC236}">
                <a16:creationId xmlns:a16="http://schemas.microsoft.com/office/drawing/2014/main" id="{5438764A-A763-E82D-8C0A-F057F266D885}"/>
              </a:ext>
            </a:extLst>
          </p:cNvPr>
          <p:cNvPicPr>
            <a:picLocks noChangeAspect="1"/>
          </p:cNvPicPr>
          <p:nvPr/>
        </p:nvPicPr>
        <p:blipFill>
          <a:blip r:embed="rId3"/>
          <a:stretch>
            <a:fillRect/>
          </a:stretch>
        </p:blipFill>
        <p:spPr>
          <a:xfrm>
            <a:off x="1837221" y="4814431"/>
            <a:ext cx="8517557" cy="2134376"/>
          </a:xfrm>
          <a:prstGeom prst="rect">
            <a:avLst/>
          </a:prstGeom>
        </p:spPr>
      </p:pic>
    </p:spTree>
    <p:extLst>
      <p:ext uri="{BB962C8B-B14F-4D97-AF65-F5344CB8AC3E}">
        <p14:creationId xmlns:p14="http://schemas.microsoft.com/office/powerpoint/2010/main" val="2738805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CE26B-EDE1-32F3-5CB0-EF257D3A7C2F}"/>
              </a:ext>
            </a:extLst>
          </p:cNvPr>
          <p:cNvSpPr>
            <a:spLocks noGrp="1"/>
          </p:cNvSpPr>
          <p:nvPr>
            <p:ph type="title"/>
          </p:nvPr>
        </p:nvSpPr>
        <p:spPr/>
        <p:txBody>
          <a:bodyPr/>
          <a:lstStyle/>
          <a:p>
            <a:r>
              <a:rPr lang="en-US" b="1" dirty="0"/>
              <a:t>MD4</a:t>
            </a:r>
          </a:p>
        </p:txBody>
      </p:sp>
      <p:sp>
        <p:nvSpPr>
          <p:cNvPr id="3" name="Content Placeholder 2">
            <a:extLst>
              <a:ext uri="{FF2B5EF4-FFF2-40B4-BE49-F238E27FC236}">
                <a16:creationId xmlns:a16="http://schemas.microsoft.com/office/drawing/2014/main" id="{C58C9A85-4783-FB55-E318-B28CA85E6CA7}"/>
              </a:ext>
            </a:extLst>
          </p:cNvPr>
          <p:cNvSpPr>
            <a:spLocks noGrp="1"/>
          </p:cNvSpPr>
          <p:nvPr>
            <p:ph idx="1"/>
          </p:nvPr>
        </p:nvSpPr>
        <p:spPr/>
        <p:txBody>
          <a:bodyPr/>
          <a:lstStyle/>
          <a:p>
            <a:r>
              <a:rPr lang="en-US" dirty="0"/>
              <a:t>To get the 128-bit message digest, a compression function is operated. Where a four-word buffer (A,B,C,D) is used to compute the message digest.</a:t>
            </a:r>
          </a:p>
          <a:p>
            <a:endParaRPr lang="en-US" dirty="0"/>
          </a:p>
        </p:txBody>
      </p:sp>
    </p:spTree>
    <p:extLst>
      <p:ext uri="{BB962C8B-B14F-4D97-AF65-F5344CB8AC3E}">
        <p14:creationId xmlns:p14="http://schemas.microsoft.com/office/powerpoint/2010/main" val="3739404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52FBB-AA10-15FA-31B2-72A514972220}"/>
              </a:ext>
            </a:extLst>
          </p:cNvPr>
          <p:cNvSpPr>
            <a:spLocks noGrp="1"/>
          </p:cNvSpPr>
          <p:nvPr>
            <p:ph type="title"/>
          </p:nvPr>
        </p:nvSpPr>
        <p:spPr/>
        <p:txBody>
          <a:bodyPr/>
          <a:lstStyle/>
          <a:p>
            <a:r>
              <a:rPr lang="en-US" b="1" dirty="0"/>
              <a:t>MD5 </a:t>
            </a:r>
          </a:p>
        </p:txBody>
      </p:sp>
      <p:sp>
        <p:nvSpPr>
          <p:cNvPr id="3" name="Content Placeholder 2">
            <a:extLst>
              <a:ext uri="{FF2B5EF4-FFF2-40B4-BE49-F238E27FC236}">
                <a16:creationId xmlns:a16="http://schemas.microsoft.com/office/drawing/2014/main" id="{7E508A4E-08E3-283D-808F-6E2158CB56BD}"/>
              </a:ext>
            </a:extLst>
          </p:cNvPr>
          <p:cNvSpPr>
            <a:spLocks noGrp="1"/>
          </p:cNvSpPr>
          <p:nvPr>
            <p:ph idx="1"/>
          </p:nvPr>
        </p:nvSpPr>
        <p:spPr/>
        <p:txBody>
          <a:bodyPr/>
          <a:lstStyle/>
          <a:p>
            <a:r>
              <a:rPr lang="en-US" dirty="0"/>
              <a:t>a cryptographic hash function algorithm that takes the message as input of any length and changes it into a fixed-length message of 16 bytes.</a:t>
            </a:r>
          </a:p>
          <a:p>
            <a:r>
              <a:rPr lang="en-US" dirty="0"/>
              <a:t>MD5 was developed as an improvement of MD4, with advanced security purposes.</a:t>
            </a:r>
          </a:p>
          <a:p>
            <a:r>
              <a:rPr lang="en-US" dirty="0"/>
              <a:t>The output of MD5 (Digest size) is always </a:t>
            </a:r>
            <a:r>
              <a:rPr lang="en-US" b="1" dirty="0"/>
              <a:t>128 bits.</a:t>
            </a:r>
            <a:endParaRPr lang="en-US" dirty="0"/>
          </a:p>
        </p:txBody>
      </p:sp>
    </p:spTree>
    <p:extLst>
      <p:ext uri="{BB962C8B-B14F-4D97-AF65-F5344CB8AC3E}">
        <p14:creationId xmlns:p14="http://schemas.microsoft.com/office/powerpoint/2010/main" val="2094430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57A44-60EA-7DCF-A3E4-3142E00F0EB1}"/>
              </a:ext>
            </a:extLst>
          </p:cNvPr>
          <p:cNvSpPr>
            <a:spLocks noGrp="1"/>
          </p:cNvSpPr>
          <p:nvPr>
            <p:ph type="title"/>
          </p:nvPr>
        </p:nvSpPr>
        <p:spPr/>
        <p:txBody>
          <a:bodyPr/>
          <a:lstStyle/>
          <a:p>
            <a:r>
              <a:rPr lang="en-US" b="1" dirty="0"/>
              <a:t>MD5 Working Algorithm</a:t>
            </a:r>
          </a:p>
        </p:txBody>
      </p:sp>
      <p:sp>
        <p:nvSpPr>
          <p:cNvPr id="3" name="Content Placeholder 2">
            <a:extLst>
              <a:ext uri="{FF2B5EF4-FFF2-40B4-BE49-F238E27FC236}">
                <a16:creationId xmlns:a16="http://schemas.microsoft.com/office/drawing/2014/main" id="{F4D54E24-A7B5-7035-8F68-013E8EF20747}"/>
              </a:ext>
            </a:extLst>
          </p:cNvPr>
          <p:cNvSpPr>
            <a:spLocks noGrp="1"/>
          </p:cNvSpPr>
          <p:nvPr>
            <p:ph idx="1"/>
          </p:nvPr>
        </p:nvSpPr>
        <p:spPr/>
        <p:txBody>
          <a:bodyPr>
            <a:normAutofit fontScale="70000" lnSpcReduction="20000"/>
          </a:bodyPr>
          <a:lstStyle/>
          <a:p>
            <a:pPr marL="514350" indent="-514350" algn="just">
              <a:lnSpc>
                <a:spcPct val="120000"/>
              </a:lnSpc>
              <a:buAutoNum type="arabicPeriod"/>
            </a:pPr>
            <a:r>
              <a:rPr lang="en-US" b="1" dirty="0"/>
              <a:t>Append Padding Bits</a:t>
            </a:r>
            <a:r>
              <a:rPr lang="en-US" dirty="0"/>
              <a:t>: In the first step, we add padding bits in the original message in such a way that the total length of the message is 64 bits less than the exact multiple of 512.</a:t>
            </a:r>
          </a:p>
          <a:p>
            <a:pPr marL="514350" indent="-514350" algn="just">
              <a:lnSpc>
                <a:spcPct val="120000"/>
              </a:lnSpc>
              <a:buAutoNum type="arabicPeriod"/>
            </a:pPr>
            <a:endParaRPr lang="en-US" dirty="0"/>
          </a:p>
          <a:p>
            <a:pPr marL="0" indent="0" algn="just">
              <a:lnSpc>
                <a:spcPct val="120000"/>
              </a:lnSpc>
              <a:buNone/>
            </a:pPr>
            <a:endParaRPr lang="en-US" dirty="0"/>
          </a:p>
          <a:p>
            <a:pPr marL="0" indent="0" algn="just">
              <a:lnSpc>
                <a:spcPct val="120000"/>
              </a:lnSpc>
              <a:buNone/>
            </a:pPr>
            <a:r>
              <a:rPr lang="en-US" dirty="0"/>
              <a:t>2.  </a:t>
            </a:r>
            <a:r>
              <a:rPr lang="en-US" b="1" dirty="0"/>
              <a:t>Append Length Bits</a:t>
            </a:r>
            <a:r>
              <a:rPr lang="en-US" dirty="0"/>
              <a:t>: In this step, we add the length bit in the output of the first step in such a way that the total number of the bits is the perfect multiple of 512.</a:t>
            </a:r>
          </a:p>
          <a:p>
            <a:pPr marL="0" indent="0" algn="just">
              <a:lnSpc>
                <a:spcPct val="120000"/>
              </a:lnSpc>
              <a:buNone/>
            </a:pPr>
            <a:r>
              <a:rPr lang="en-US" dirty="0"/>
              <a:t>3. </a:t>
            </a:r>
            <a:r>
              <a:rPr lang="en-US" b="1" dirty="0"/>
              <a:t>Initialize MD buffer</a:t>
            </a:r>
            <a:r>
              <a:rPr lang="en-US" dirty="0"/>
              <a:t>: Here, we use the 4 buffers i.e. J, K, L, and M. The size of each buffer is 32 bits.  </a:t>
            </a:r>
          </a:p>
          <a:p>
            <a:pPr marL="0" indent="0" algn="just">
              <a:lnSpc>
                <a:spcPct val="120000"/>
              </a:lnSpc>
              <a:buNone/>
            </a:pPr>
            <a:r>
              <a:rPr lang="en-US" dirty="0"/>
              <a:t>4. </a:t>
            </a:r>
            <a:r>
              <a:rPr lang="en-US" b="1" dirty="0"/>
              <a:t>Process Each 512-bit block</a:t>
            </a:r>
            <a:r>
              <a:rPr lang="en-US" dirty="0"/>
              <a:t>: Here a total of 64 operations are performed in 4 rounds. Each round with 16 operations. Different function is used in different rounds and 3 buffers is used for each function.</a:t>
            </a:r>
          </a:p>
          <a:p>
            <a:pPr marL="514350" indent="-514350" algn="just">
              <a:lnSpc>
                <a:spcPct val="120000"/>
              </a:lnSpc>
              <a:buAutoNum type="arabicPeriod"/>
            </a:pPr>
            <a:endParaRPr lang="en-US" dirty="0"/>
          </a:p>
        </p:txBody>
      </p:sp>
      <p:pic>
        <p:nvPicPr>
          <p:cNvPr id="5" name="Picture 4">
            <a:extLst>
              <a:ext uri="{FF2B5EF4-FFF2-40B4-BE49-F238E27FC236}">
                <a16:creationId xmlns:a16="http://schemas.microsoft.com/office/drawing/2014/main" id="{C4141352-7F39-F2D1-5FFF-BE3090E614AE}"/>
              </a:ext>
            </a:extLst>
          </p:cNvPr>
          <p:cNvPicPr>
            <a:picLocks noChangeAspect="1"/>
          </p:cNvPicPr>
          <p:nvPr/>
        </p:nvPicPr>
        <p:blipFill>
          <a:blip r:embed="rId2"/>
          <a:stretch>
            <a:fillRect/>
          </a:stretch>
        </p:blipFill>
        <p:spPr>
          <a:xfrm>
            <a:off x="838200" y="2756403"/>
            <a:ext cx="10193323" cy="496428"/>
          </a:xfrm>
          <a:prstGeom prst="rect">
            <a:avLst/>
          </a:prstGeom>
        </p:spPr>
      </p:pic>
      <p:sp>
        <p:nvSpPr>
          <p:cNvPr id="7" name="TextBox 6">
            <a:extLst>
              <a:ext uri="{FF2B5EF4-FFF2-40B4-BE49-F238E27FC236}">
                <a16:creationId xmlns:a16="http://schemas.microsoft.com/office/drawing/2014/main" id="{35A64C37-5487-55CD-9B75-F15DB9F07DA3}"/>
              </a:ext>
            </a:extLst>
          </p:cNvPr>
          <p:cNvSpPr txBox="1"/>
          <p:nvPr/>
        </p:nvSpPr>
        <p:spPr>
          <a:xfrm>
            <a:off x="3995257" y="5850235"/>
            <a:ext cx="6094602" cy="923330"/>
          </a:xfrm>
          <a:prstGeom prst="rect">
            <a:avLst/>
          </a:prstGeom>
          <a:noFill/>
        </p:spPr>
        <p:txBody>
          <a:bodyPr wrap="square">
            <a:spAutoFit/>
          </a:bodyPr>
          <a:lstStyle/>
          <a:p>
            <a:r>
              <a:rPr lang="en-US" b="1" dirty="0"/>
              <a:t>Output</a:t>
            </a:r>
            <a:r>
              <a:rPr lang="en-US" dirty="0"/>
              <a:t>: After all, rounds have been performed, the buffer J, K, L, and M contains the MD5 output starting with the lower bit J and ending with Higher bits M.</a:t>
            </a:r>
          </a:p>
        </p:txBody>
      </p:sp>
    </p:spTree>
    <p:extLst>
      <p:ext uri="{BB962C8B-B14F-4D97-AF65-F5344CB8AC3E}">
        <p14:creationId xmlns:p14="http://schemas.microsoft.com/office/powerpoint/2010/main" val="3213221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62DB-6CC9-0EDB-5FA9-D7BA0DD891F9}"/>
              </a:ext>
            </a:extLst>
          </p:cNvPr>
          <p:cNvSpPr>
            <a:spLocks noGrp="1"/>
          </p:cNvSpPr>
          <p:nvPr>
            <p:ph type="title"/>
          </p:nvPr>
        </p:nvSpPr>
        <p:spPr/>
        <p:txBody>
          <a:bodyPr/>
          <a:lstStyle/>
          <a:p>
            <a:r>
              <a:rPr lang="en-US" b="1" dirty="0"/>
              <a:t>Use of MD5 Algorithm: </a:t>
            </a:r>
          </a:p>
        </p:txBody>
      </p:sp>
      <p:sp>
        <p:nvSpPr>
          <p:cNvPr id="4" name="Rectangle 1">
            <a:extLst>
              <a:ext uri="{FF2B5EF4-FFF2-40B4-BE49-F238E27FC236}">
                <a16:creationId xmlns:a16="http://schemas.microsoft.com/office/drawing/2014/main" id="{B403AF90-5423-0096-618D-4966B4D5DA80}"/>
              </a:ext>
            </a:extLst>
          </p:cNvPr>
          <p:cNvSpPr>
            <a:spLocks noGrp="1" noChangeArrowheads="1"/>
          </p:cNvSpPr>
          <p:nvPr>
            <p:ph idx="1"/>
          </p:nvPr>
        </p:nvSpPr>
        <p:spPr bwMode="auto">
          <a:xfrm>
            <a:off x="1128619" y="1259706"/>
            <a:ext cx="955542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It is used for file authentication.</a:t>
            </a:r>
          </a:p>
          <a:p>
            <a:pPr marR="0" lvl="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In a web application, it is used for security purposes. e.g. Secure password of users etc.</a:t>
            </a:r>
          </a:p>
          <a:p>
            <a:pPr marR="0" lvl="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Using this algorithm, We can store our password in 128 bits format.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BC4A9A3-FC35-C59F-B954-57A750E16B64}"/>
              </a:ext>
            </a:extLst>
          </p:cNvPr>
          <p:cNvPicPr>
            <a:picLocks noChangeAspect="1"/>
          </p:cNvPicPr>
          <p:nvPr/>
        </p:nvPicPr>
        <p:blipFill>
          <a:blip r:embed="rId2"/>
          <a:stretch>
            <a:fillRect/>
          </a:stretch>
        </p:blipFill>
        <p:spPr>
          <a:xfrm>
            <a:off x="1868547" y="3355568"/>
            <a:ext cx="7572375" cy="1476375"/>
          </a:xfrm>
          <a:prstGeom prst="rect">
            <a:avLst/>
          </a:prstGeom>
        </p:spPr>
      </p:pic>
    </p:spTree>
    <p:extLst>
      <p:ext uri="{BB962C8B-B14F-4D97-AF65-F5344CB8AC3E}">
        <p14:creationId xmlns:p14="http://schemas.microsoft.com/office/powerpoint/2010/main" val="3929782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86975-3C4E-FD48-BA78-AE8F7D6899A6}"/>
              </a:ext>
            </a:extLst>
          </p:cNvPr>
          <p:cNvSpPr>
            <a:spLocks noGrp="1"/>
          </p:cNvSpPr>
          <p:nvPr>
            <p:ph type="title"/>
          </p:nvPr>
        </p:nvSpPr>
        <p:spPr/>
        <p:txBody>
          <a:bodyPr/>
          <a:lstStyle/>
          <a:p>
            <a:r>
              <a:rPr lang="en-US" b="1" dirty="0"/>
              <a:t>Difference between MD5 and MD4 </a:t>
            </a:r>
            <a:r>
              <a:rPr lang="en-US" b="1" dirty="0" err="1"/>
              <a:t>Alogrithm</a:t>
            </a:r>
            <a:r>
              <a:rPr lang="en-US" b="1" dirty="0"/>
              <a:t>:</a:t>
            </a:r>
          </a:p>
        </p:txBody>
      </p:sp>
      <p:sp>
        <p:nvSpPr>
          <p:cNvPr id="3" name="Content Placeholder 2">
            <a:extLst>
              <a:ext uri="{FF2B5EF4-FFF2-40B4-BE49-F238E27FC236}">
                <a16:creationId xmlns:a16="http://schemas.microsoft.com/office/drawing/2014/main" id="{4BD8AD27-7985-3D65-E833-3AF4A495F73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4C78D45-285C-A6F8-63BA-0F8B68243A63}"/>
              </a:ext>
            </a:extLst>
          </p:cNvPr>
          <p:cNvPicPr>
            <a:picLocks noChangeAspect="1"/>
          </p:cNvPicPr>
          <p:nvPr/>
        </p:nvPicPr>
        <p:blipFill>
          <a:blip r:embed="rId2"/>
          <a:stretch>
            <a:fillRect/>
          </a:stretch>
        </p:blipFill>
        <p:spPr>
          <a:xfrm>
            <a:off x="1586965" y="1312593"/>
            <a:ext cx="9018069" cy="5545407"/>
          </a:xfrm>
          <a:prstGeom prst="rect">
            <a:avLst/>
          </a:prstGeom>
        </p:spPr>
      </p:pic>
    </p:spTree>
    <p:extLst>
      <p:ext uri="{BB962C8B-B14F-4D97-AF65-F5344CB8AC3E}">
        <p14:creationId xmlns:p14="http://schemas.microsoft.com/office/powerpoint/2010/main" val="333770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72E9C-F6AC-186E-6250-6A24930F43EE}"/>
              </a:ext>
            </a:extLst>
          </p:cNvPr>
          <p:cNvSpPr>
            <a:spLocks noGrp="1"/>
          </p:cNvSpPr>
          <p:nvPr>
            <p:ph type="title"/>
          </p:nvPr>
        </p:nvSpPr>
        <p:spPr/>
        <p:txBody>
          <a:bodyPr/>
          <a:lstStyle/>
          <a:p>
            <a:r>
              <a:rPr lang="en-US" b="1" dirty="0"/>
              <a:t>3.4 Secure Hash Algorithms: SHA-1</a:t>
            </a:r>
          </a:p>
        </p:txBody>
      </p:sp>
      <p:sp>
        <p:nvSpPr>
          <p:cNvPr id="3" name="Content Placeholder 2">
            <a:extLst>
              <a:ext uri="{FF2B5EF4-FFF2-40B4-BE49-F238E27FC236}">
                <a16:creationId xmlns:a16="http://schemas.microsoft.com/office/drawing/2014/main" id="{5AA61EDA-33B3-A2BB-0DE4-6E4F2A689054}"/>
              </a:ext>
            </a:extLst>
          </p:cNvPr>
          <p:cNvSpPr>
            <a:spLocks noGrp="1"/>
          </p:cNvSpPr>
          <p:nvPr>
            <p:ph idx="1"/>
          </p:nvPr>
        </p:nvSpPr>
        <p:spPr>
          <a:xfrm>
            <a:off x="838200" y="1498454"/>
            <a:ext cx="10515600" cy="4351338"/>
          </a:xfrm>
        </p:spPr>
        <p:txBody>
          <a:bodyPr>
            <a:normAutofit/>
          </a:bodyPr>
          <a:lstStyle/>
          <a:p>
            <a:pPr algn="just">
              <a:lnSpc>
                <a:spcPct val="110000"/>
              </a:lnSpc>
            </a:pPr>
            <a:r>
              <a:rPr lang="en-US" dirty="0"/>
              <a:t>a family of cryptographic functions designed to keep data secured. It works by transforming the data using a hash function: an algorithm that consists of bitwise operations, modular additions, and compression functions.</a:t>
            </a:r>
          </a:p>
          <a:p>
            <a:pPr algn="just">
              <a:lnSpc>
                <a:spcPct val="110000"/>
              </a:lnSpc>
            </a:pPr>
            <a:r>
              <a:rPr lang="en-US" dirty="0"/>
              <a:t>these algorithms are designed to be one-way functions, meaning that once they’re transformed into their respective hash values, it’s virtually impossible to transform them back into the original data.</a:t>
            </a:r>
          </a:p>
        </p:txBody>
      </p:sp>
    </p:spTree>
    <p:extLst>
      <p:ext uri="{BB962C8B-B14F-4D97-AF65-F5344CB8AC3E}">
        <p14:creationId xmlns:p14="http://schemas.microsoft.com/office/powerpoint/2010/main" val="398022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B7927-4B94-EE58-E087-B219649B4639}"/>
              </a:ext>
            </a:extLst>
          </p:cNvPr>
          <p:cNvSpPr>
            <a:spLocks noGrp="1"/>
          </p:cNvSpPr>
          <p:nvPr>
            <p:ph type="title"/>
          </p:nvPr>
        </p:nvSpPr>
        <p:spPr/>
        <p:txBody>
          <a:bodyPr/>
          <a:lstStyle/>
          <a:p>
            <a:r>
              <a:rPr lang="en-US" b="1" dirty="0"/>
              <a:t>3.4 Secure Hash Algorithms SHA-1</a:t>
            </a:r>
          </a:p>
        </p:txBody>
      </p:sp>
      <p:sp>
        <p:nvSpPr>
          <p:cNvPr id="3" name="Content Placeholder 2">
            <a:extLst>
              <a:ext uri="{FF2B5EF4-FFF2-40B4-BE49-F238E27FC236}">
                <a16:creationId xmlns:a16="http://schemas.microsoft.com/office/drawing/2014/main" id="{F29BF1FE-ED0E-3778-BCE6-385735BCDECC}"/>
              </a:ext>
            </a:extLst>
          </p:cNvPr>
          <p:cNvSpPr>
            <a:spLocks noGrp="1"/>
          </p:cNvSpPr>
          <p:nvPr>
            <p:ph idx="1"/>
          </p:nvPr>
        </p:nvSpPr>
        <p:spPr>
          <a:xfrm>
            <a:off x="838200" y="1515232"/>
            <a:ext cx="10515600" cy="4351338"/>
          </a:xfrm>
        </p:spPr>
        <p:txBody>
          <a:bodyPr>
            <a:normAutofit/>
          </a:bodyPr>
          <a:lstStyle/>
          <a:p>
            <a:pPr algn="just">
              <a:lnSpc>
                <a:spcPct val="100000"/>
              </a:lnSpc>
            </a:pPr>
            <a:r>
              <a:rPr lang="en-US" sz="2400" dirty="0"/>
              <a:t>A common application of SHA is </a:t>
            </a:r>
          </a:p>
          <a:p>
            <a:pPr algn="just">
              <a:lnSpc>
                <a:spcPct val="100000"/>
              </a:lnSpc>
              <a:buFontTx/>
              <a:buChar char="-"/>
            </a:pPr>
            <a:r>
              <a:rPr lang="en-US" sz="2400" dirty="0"/>
              <a:t>to encrypting passwords, as the server side only needs to keep track of a specific user’s hash value, rather than the actual password. </a:t>
            </a:r>
          </a:p>
          <a:p>
            <a:pPr marL="0" indent="0" algn="just">
              <a:lnSpc>
                <a:spcPct val="100000"/>
              </a:lnSpc>
              <a:buNone/>
            </a:pPr>
            <a:r>
              <a:rPr lang="en-US" sz="2400" dirty="0"/>
              <a:t>This is helpful in case an attacker hacks the database, as they will only find the hashed functions and not the actual passwords, so if they were to input the hashed value as a password, the hash function will convert it into another string and subsequently deny access.</a:t>
            </a:r>
          </a:p>
        </p:txBody>
      </p:sp>
      <p:pic>
        <p:nvPicPr>
          <p:cNvPr id="5" name="Picture 4">
            <a:extLst>
              <a:ext uri="{FF2B5EF4-FFF2-40B4-BE49-F238E27FC236}">
                <a16:creationId xmlns:a16="http://schemas.microsoft.com/office/drawing/2014/main" id="{D6818A08-613B-E156-060D-DB09223EDF32}"/>
              </a:ext>
            </a:extLst>
          </p:cNvPr>
          <p:cNvPicPr>
            <a:picLocks noChangeAspect="1"/>
          </p:cNvPicPr>
          <p:nvPr/>
        </p:nvPicPr>
        <p:blipFill>
          <a:blip r:embed="rId2"/>
          <a:stretch>
            <a:fillRect/>
          </a:stretch>
        </p:blipFill>
        <p:spPr>
          <a:xfrm>
            <a:off x="3313290" y="4058067"/>
            <a:ext cx="5949454" cy="2713941"/>
          </a:xfrm>
          <a:prstGeom prst="rect">
            <a:avLst/>
          </a:prstGeom>
        </p:spPr>
      </p:pic>
    </p:spTree>
    <p:extLst>
      <p:ext uri="{BB962C8B-B14F-4D97-AF65-F5344CB8AC3E}">
        <p14:creationId xmlns:p14="http://schemas.microsoft.com/office/powerpoint/2010/main" val="2768352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DFCE8-9188-97EE-8BAA-E487CCB5BCA2}"/>
              </a:ext>
            </a:extLst>
          </p:cNvPr>
          <p:cNvSpPr>
            <a:spLocks noGrp="1"/>
          </p:cNvSpPr>
          <p:nvPr>
            <p:ph type="title"/>
          </p:nvPr>
        </p:nvSpPr>
        <p:spPr/>
        <p:txBody>
          <a:bodyPr>
            <a:normAutofit/>
          </a:bodyPr>
          <a:lstStyle/>
          <a:p>
            <a:r>
              <a:rPr lang="en-US" sz="3200" b="1" dirty="0"/>
              <a:t>3.4 Secure Hash Algorithms SHA-1 Construction</a:t>
            </a:r>
          </a:p>
        </p:txBody>
      </p:sp>
      <p:pic>
        <p:nvPicPr>
          <p:cNvPr id="5" name="Content Placeholder 4" descr="A picture containing text, diagram, screenshot, line&#10;&#10;Description automatically generated">
            <a:extLst>
              <a:ext uri="{FF2B5EF4-FFF2-40B4-BE49-F238E27FC236}">
                <a16:creationId xmlns:a16="http://schemas.microsoft.com/office/drawing/2014/main" id="{844C7EC4-8283-176D-097A-D728521D1E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2824" y="1314553"/>
            <a:ext cx="9006352" cy="3671136"/>
          </a:xfrm>
        </p:spPr>
      </p:pic>
      <p:sp>
        <p:nvSpPr>
          <p:cNvPr id="7" name="Rectangle 1">
            <a:extLst>
              <a:ext uri="{FF2B5EF4-FFF2-40B4-BE49-F238E27FC236}">
                <a16:creationId xmlns:a16="http://schemas.microsoft.com/office/drawing/2014/main" id="{7C755C17-EB33-2264-BC1C-A3B84A8861A8}"/>
              </a:ext>
            </a:extLst>
          </p:cNvPr>
          <p:cNvSpPr>
            <a:spLocks noChangeArrowheads="1"/>
          </p:cNvSpPr>
          <p:nvPr/>
        </p:nvSpPr>
        <p:spPr bwMode="auto">
          <a:xfrm>
            <a:off x="0" y="5465091"/>
            <a:ext cx="1215813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original message is processed in blocks. The blocks are concatenated using an initial vector (IV) and a function 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The value of the initial vector will change with each concatenation and at the end, we obtain the hash value.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9293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7F0AB-1CC8-8DF0-A532-1A0486F14718}"/>
              </a:ext>
            </a:extLst>
          </p:cNvPr>
          <p:cNvSpPr>
            <a:spLocks noGrp="1"/>
          </p:cNvSpPr>
          <p:nvPr>
            <p:ph type="title"/>
          </p:nvPr>
        </p:nvSpPr>
        <p:spPr/>
        <p:txBody>
          <a:bodyPr>
            <a:normAutofit/>
          </a:bodyPr>
          <a:lstStyle/>
          <a:p>
            <a:r>
              <a:rPr lang="en-US" sz="3200" b="1" dirty="0"/>
              <a:t>Similarities and differences between MD5 and SHA-1</a:t>
            </a:r>
          </a:p>
        </p:txBody>
      </p:sp>
      <p:pic>
        <p:nvPicPr>
          <p:cNvPr id="5" name="Picture 4">
            <a:extLst>
              <a:ext uri="{FF2B5EF4-FFF2-40B4-BE49-F238E27FC236}">
                <a16:creationId xmlns:a16="http://schemas.microsoft.com/office/drawing/2014/main" id="{491F1DF9-76A4-64F6-E323-E85B239E1880}"/>
              </a:ext>
            </a:extLst>
          </p:cNvPr>
          <p:cNvPicPr>
            <a:picLocks noChangeAspect="1"/>
          </p:cNvPicPr>
          <p:nvPr/>
        </p:nvPicPr>
        <p:blipFill>
          <a:blip r:embed="rId2"/>
          <a:stretch>
            <a:fillRect/>
          </a:stretch>
        </p:blipFill>
        <p:spPr>
          <a:xfrm>
            <a:off x="331845" y="1808591"/>
            <a:ext cx="5824022" cy="2352347"/>
          </a:xfrm>
          <a:prstGeom prst="rect">
            <a:avLst/>
          </a:prstGeom>
        </p:spPr>
      </p:pic>
      <p:pic>
        <p:nvPicPr>
          <p:cNvPr id="9" name="Picture 8">
            <a:extLst>
              <a:ext uri="{FF2B5EF4-FFF2-40B4-BE49-F238E27FC236}">
                <a16:creationId xmlns:a16="http://schemas.microsoft.com/office/drawing/2014/main" id="{37688656-30E2-33F8-52D8-84289F78EB6E}"/>
              </a:ext>
            </a:extLst>
          </p:cNvPr>
          <p:cNvPicPr>
            <a:picLocks noChangeAspect="1"/>
          </p:cNvPicPr>
          <p:nvPr/>
        </p:nvPicPr>
        <p:blipFill>
          <a:blip r:embed="rId3"/>
          <a:stretch>
            <a:fillRect/>
          </a:stretch>
        </p:blipFill>
        <p:spPr>
          <a:xfrm>
            <a:off x="7831253" y="2834481"/>
            <a:ext cx="1076325" cy="238125"/>
          </a:xfrm>
          <a:prstGeom prst="rect">
            <a:avLst/>
          </a:prstGeom>
        </p:spPr>
      </p:pic>
      <p:pic>
        <p:nvPicPr>
          <p:cNvPr id="11" name="Picture 10">
            <a:extLst>
              <a:ext uri="{FF2B5EF4-FFF2-40B4-BE49-F238E27FC236}">
                <a16:creationId xmlns:a16="http://schemas.microsoft.com/office/drawing/2014/main" id="{1EE7D7DA-5852-FE5E-0AD1-33B4907F30D2}"/>
              </a:ext>
            </a:extLst>
          </p:cNvPr>
          <p:cNvPicPr>
            <a:picLocks noChangeAspect="1"/>
          </p:cNvPicPr>
          <p:nvPr/>
        </p:nvPicPr>
        <p:blipFill>
          <a:blip r:embed="rId4"/>
          <a:stretch>
            <a:fillRect/>
          </a:stretch>
        </p:blipFill>
        <p:spPr>
          <a:xfrm>
            <a:off x="6096000" y="2356060"/>
            <a:ext cx="6153150" cy="2505075"/>
          </a:xfrm>
          <a:prstGeom prst="rect">
            <a:avLst/>
          </a:prstGeom>
        </p:spPr>
      </p:pic>
      <p:sp>
        <p:nvSpPr>
          <p:cNvPr id="15" name="Content Placeholder 14">
            <a:extLst>
              <a:ext uri="{FF2B5EF4-FFF2-40B4-BE49-F238E27FC236}">
                <a16:creationId xmlns:a16="http://schemas.microsoft.com/office/drawing/2014/main" id="{106FD87F-46C2-3CC7-5107-1462A32709E3}"/>
              </a:ext>
            </a:extLst>
          </p:cNvPr>
          <p:cNvSpPr>
            <a:spLocks noGrp="1"/>
          </p:cNvSpPr>
          <p:nvPr>
            <p:ph idx="1"/>
          </p:nvPr>
        </p:nvSpPr>
        <p:spPr/>
        <p:txBody>
          <a:bodyPr/>
          <a:lstStyle/>
          <a:p>
            <a:endParaRPr lang="en-US" dirty="0"/>
          </a:p>
        </p:txBody>
      </p:sp>
      <p:sp>
        <p:nvSpPr>
          <p:cNvPr id="16" name="TextBox 15">
            <a:extLst>
              <a:ext uri="{FF2B5EF4-FFF2-40B4-BE49-F238E27FC236}">
                <a16:creationId xmlns:a16="http://schemas.microsoft.com/office/drawing/2014/main" id="{65AD2EDA-8C4C-37D1-B848-B397D2AD4851}"/>
              </a:ext>
            </a:extLst>
          </p:cNvPr>
          <p:cNvSpPr txBox="1"/>
          <p:nvPr/>
        </p:nvSpPr>
        <p:spPr>
          <a:xfrm>
            <a:off x="6155867" y="1906177"/>
            <a:ext cx="1973065" cy="369332"/>
          </a:xfrm>
          <a:prstGeom prst="rect">
            <a:avLst/>
          </a:prstGeom>
          <a:noFill/>
        </p:spPr>
        <p:txBody>
          <a:bodyPr wrap="square" rtlCol="0">
            <a:spAutoFit/>
          </a:bodyPr>
          <a:lstStyle/>
          <a:p>
            <a:r>
              <a:rPr lang="en-US" b="1" dirty="0"/>
              <a:t>Differences</a:t>
            </a:r>
          </a:p>
        </p:txBody>
      </p:sp>
    </p:spTree>
    <p:extLst>
      <p:ext uri="{BB962C8B-B14F-4D97-AF65-F5344CB8AC3E}">
        <p14:creationId xmlns:p14="http://schemas.microsoft.com/office/powerpoint/2010/main" val="1122298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FD589-43D3-216A-0DE3-FD0DB7D0A089}"/>
              </a:ext>
            </a:extLst>
          </p:cNvPr>
          <p:cNvSpPr>
            <a:spLocks noGrp="1"/>
          </p:cNvSpPr>
          <p:nvPr>
            <p:ph type="title"/>
          </p:nvPr>
        </p:nvSpPr>
        <p:spPr>
          <a:xfrm>
            <a:off x="838200" y="365125"/>
            <a:ext cx="11049000" cy="1325563"/>
          </a:xfrm>
        </p:spPr>
        <p:txBody>
          <a:bodyPr>
            <a:normAutofit/>
          </a:bodyPr>
          <a:lstStyle/>
          <a:p>
            <a:r>
              <a:rPr lang="en-US" sz="4000" b="1" dirty="0"/>
              <a:t>3.5 HMAC (Hash Based Message Authentication Code)</a:t>
            </a:r>
          </a:p>
        </p:txBody>
      </p:sp>
      <p:sp>
        <p:nvSpPr>
          <p:cNvPr id="3" name="Content Placeholder 2">
            <a:extLst>
              <a:ext uri="{FF2B5EF4-FFF2-40B4-BE49-F238E27FC236}">
                <a16:creationId xmlns:a16="http://schemas.microsoft.com/office/drawing/2014/main" id="{0CC55C33-D0D9-8653-37E3-94E1A4CEB7A7}"/>
              </a:ext>
            </a:extLst>
          </p:cNvPr>
          <p:cNvSpPr>
            <a:spLocks noGrp="1"/>
          </p:cNvSpPr>
          <p:nvPr>
            <p:ph idx="1"/>
          </p:nvPr>
        </p:nvSpPr>
        <p:spPr/>
        <p:txBody>
          <a:bodyPr>
            <a:normAutofit/>
          </a:bodyPr>
          <a:lstStyle/>
          <a:p>
            <a:pPr algn="just">
              <a:lnSpc>
                <a:spcPct val="100000"/>
              </a:lnSpc>
            </a:pPr>
            <a:r>
              <a:rPr lang="en-US" sz="2400" dirty="0"/>
              <a:t>a cryptographic hash function that uses a secret key as input to the hash function along with the message being hashed. The resulting hash value is unique to the message and the secret key.</a:t>
            </a:r>
          </a:p>
          <a:p>
            <a:pPr algn="just">
              <a:lnSpc>
                <a:spcPct val="100000"/>
              </a:lnSpc>
            </a:pPr>
            <a:r>
              <a:rPr lang="en-US" sz="2400" dirty="0"/>
              <a:t>Used for both Integrity and authentication.</a:t>
            </a:r>
          </a:p>
          <a:p>
            <a:pPr algn="just">
              <a:lnSpc>
                <a:spcPct val="100000"/>
              </a:lnSpc>
            </a:pPr>
            <a:endParaRPr lang="en-US" sz="2400" dirty="0"/>
          </a:p>
          <a:p>
            <a:pPr algn="just">
              <a:lnSpc>
                <a:spcPct val="100000"/>
              </a:lnSpc>
            </a:pPr>
            <a:endParaRPr lang="en-US" sz="2400" dirty="0"/>
          </a:p>
        </p:txBody>
      </p:sp>
      <p:pic>
        <p:nvPicPr>
          <p:cNvPr id="5" name="Picture 4">
            <a:extLst>
              <a:ext uri="{FF2B5EF4-FFF2-40B4-BE49-F238E27FC236}">
                <a16:creationId xmlns:a16="http://schemas.microsoft.com/office/drawing/2014/main" id="{EB24E5CF-5568-73FA-53B4-808DDC012BE8}"/>
              </a:ext>
            </a:extLst>
          </p:cNvPr>
          <p:cNvPicPr>
            <a:picLocks noChangeAspect="1"/>
          </p:cNvPicPr>
          <p:nvPr/>
        </p:nvPicPr>
        <p:blipFill>
          <a:blip r:embed="rId2"/>
          <a:stretch>
            <a:fillRect/>
          </a:stretch>
        </p:blipFill>
        <p:spPr>
          <a:xfrm>
            <a:off x="2975804" y="4001294"/>
            <a:ext cx="6773791" cy="1697568"/>
          </a:xfrm>
          <a:prstGeom prst="rect">
            <a:avLst/>
          </a:prstGeom>
        </p:spPr>
      </p:pic>
    </p:spTree>
    <p:extLst>
      <p:ext uri="{BB962C8B-B14F-4D97-AF65-F5344CB8AC3E}">
        <p14:creationId xmlns:p14="http://schemas.microsoft.com/office/powerpoint/2010/main" val="42834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72068-029F-E177-240D-7A9DC84ED40A}"/>
              </a:ext>
            </a:extLst>
          </p:cNvPr>
          <p:cNvSpPr>
            <a:spLocks noGrp="1"/>
          </p:cNvSpPr>
          <p:nvPr>
            <p:ph type="title"/>
          </p:nvPr>
        </p:nvSpPr>
        <p:spPr>
          <a:xfrm>
            <a:off x="838200" y="-278342"/>
            <a:ext cx="10515600" cy="1325563"/>
          </a:xfrm>
        </p:spPr>
        <p:txBody>
          <a:bodyPr/>
          <a:lstStyle/>
          <a:p>
            <a:r>
              <a:rPr lang="en-US" b="1" dirty="0"/>
              <a:t>Working of HMAC:</a:t>
            </a:r>
          </a:p>
        </p:txBody>
      </p:sp>
      <p:sp>
        <p:nvSpPr>
          <p:cNvPr id="3" name="Content Placeholder 2">
            <a:extLst>
              <a:ext uri="{FF2B5EF4-FFF2-40B4-BE49-F238E27FC236}">
                <a16:creationId xmlns:a16="http://schemas.microsoft.com/office/drawing/2014/main" id="{146C661C-9F5B-6325-2BA2-1939CCC350D3}"/>
              </a:ext>
            </a:extLst>
          </p:cNvPr>
          <p:cNvSpPr>
            <a:spLocks noGrp="1"/>
          </p:cNvSpPr>
          <p:nvPr>
            <p:ph idx="1"/>
          </p:nvPr>
        </p:nvSpPr>
        <p:spPr>
          <a:xfrm>
            <a:off x="838200" y="928159"/>
            <a:ext cx="10515600" cy="4351338"/>
          </a:xfrm>
        </p:spPr>
        <p:txBody>
          <a:bodyPr>
            <a:noAutofit/>
          </a:bodyPr>
          <a:lstStyle/>
          <a:p>
            <a:pPr algn="just">
              <a:lnSpc>
                <a:spcPct val="120000"/>
              </a:lnSpc>
              <a:buFont typeface="Arial" panose="020B0604020202020204" pitchFamily="34" charset="0"/>
              <a:buChar char="•"/>
            </a:pPr>
            <a:r>
              <a:rPr lang="en-US" sz="2400" dirty="0"/>
              <a:t>Choose a cryptographic hash function to use for the HMAC. Common choices include SHA-1, SHA-256, and SHA-512.</a:t>
            </a:r>
          </a:p>
          <a:p>
            <a:pPr algn="just">
              <a:lnSpc>
                <a:spcPct val="120000"/>
              </a:lnSpc>
              <a:buFont typeface="Arial" panose="020B0604020202020204" pitchFamily="34" charset="0"/>
              <a:buChar char="•"/>
            </a:pPr>
            <a:r>
              <a:rPr lang="en-US" sz="2400" dirty="0"/>
              <a:t>Choose a secret key to use for the HMAC. The secret key should be a random, unique value that is kept secret from anyone who is not authorized to access the message.</a:t>
            </a:r>
          </a:p>
          <a:p>
            <a:pPr algn="just">
              <a:lnSpc>
                <a:spcPct val="120000"/>
              </a:lnSpc>
              <a:buFont typeface="Arial" panose="020B0604020202020204" pitchFamily="34" charset="0"/>
              <a:buChar char="•"/>
            </a:pPr>
            <a:r>
              <a:rPr lang="en-US" sz="2400" dirty="0"/>
              <a:t>Input the message and the secret key to the HMAC function along with the desired length of the hash output and the specific hash algorithm to be used.</a:t>
            </a:r>
          </a:p>
          <a:p>
            <a:pPr algn="just">
              <a:lnSpc>
                <a:spcPct val="120000"/>
              </a:lnSpc>
              <a:buFont typeface="Arial" panose="020B0604020202020204" pitchFamily="34" charset="0"/>
              <a:buChar char="•"/>
            </a:pPr>
            <a:r>
              <a:rPr lang="en-US" sz="2400" dirty="0"/>
              <a:t>The HMAC function will generate a unique hash value based on the message, the secret key, and the additional information.</a:t>
            </a:r>
          </a:p>
          <a:p>
            <a:pPr algn="just">
              <a:lnSpc>
                <a:spcPct val="120000"/>
              </a:lnSpc>
              <a:buFont typeface="Arial" panose="020B0604020202020204" pitchFamily="34" charset="0"/>
              <a:buChar char="•"/>
            </a:pPr>
            <a:r>
              <a:rPr lang="en-US" sz="2400" dirty="0"/>
              <a:t>The hash value can then be output by the HMAC function and used to authenticate the message.</a:t>
            </a:r>
          </a:p>
        </p:txBody>
      </p:sp>
    </p:spTree>
    <p:extLst>
      <p:ext uri="{BB962C8B-B14F-4D97-AF65-F5344CB8AC3E}">
        <p14:creationId xmlns:p14="http://schemas.microsoft.com/office/powerpoint/2010/main" val="1222965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EDC82-52C7-3BB0-06AC-C9352036C568}"/>
              </a:ext>
            </a:extLst>
          </p:cNvPr>
          <p:cNvSpPr>
            <a:spLocks noGrp="1"/>
          </p:cNvSpPr>
          <p:nvPr>
            <p:ph type="title"/>
          </p:nvPr>
        </p:nvSpPr>
        <p:spPr/>
        <p:txBody>
          <a:bodyPr/>
          <a:lstStyle/>
          <a:p>
            <a:r>
              <a:rPr lang="en-US" b="1" dirty="0"/>
              <a:t>HMAC Uses</a:t>
            </a:r>
          </a:p>
        </p:txBody>
      </p:sp>
      <p:sp>
        <p:nvSpPr>
          <p:cNvPr id="3" name="Content Placeholder 2">
            <a:extLst>
              <a:ext uri="{FF2B5EF4-FFF2-40B4-BE49-F238E27FC236}">
                <a16:creationId xmlns:a16="http://schemas.microsoft.com/office/drawing/2014/main" id="{FF86E386-D7A8-48A7-1EA8-83BEA4498B07}"/>
              </a:ext>
            </a:extLst>
          </p:cNvPr>
          <p:cNvSpPr>
            <a:spLocks noGrp="1"/>
          </p:cNvSpPr>
          <p:nvPr>
            <p:ph idx="1"/>
          </p:nvPr>
        </p:nvSpPr>
        <p:spPr/>
        <p:txBody>
          <a:bodyPr/>
          <a:lstStyle/>
          <a:p>
            <a:r>
              <a:rPr lang="en-US" dirty="0"/>
              <a:t>to generate secure hashes for storing passwords, generating unique tokens for session management, and for other security-critical applications.</a:t>
            </a:r>
          </a:p>
          <a:p>
            <a:r>
              <a:rPr lang="en-US" b="1" dirty="0"/>
              <a:t>Authenticating HTTP requests</a:t>
            </a:r>
            <a:r>
              <a:rPr lang="en-US" dirty="0"/>
              <a:t> : client and server</a:t>
            </a:r>
          </a:p>
          <a:p>
            <a:r>
              <a:rPr lang="en-US" b="1" dirty="0"/>
              <a:t>Generating secure tokens</a:t>
            </a:r>
            <a:r>
              <a:rPr lang="en-US" dirty="0"/>
              <a:t> : session management</a:t>
            </a:r>
          </a:p>
          <a:p>
            <a:r>
              <a:rPr lang="en-US" b="1" dirty="0"/>
              <a:t>Storing password hashes : </a:t>
            </a:r>
            <a:r>
              <a:rPr lang="en-US" dirty="0"/>
              <a:t>storing passwords in database</a:t>
            </a:r>
            <a:endParaRPr lang="en-US" b="1" dirty="0"/>
          </a:p>
          <a:p>
            <a:r>
              <a:rPr lang="en-US" b="1" dirty="0"/>
              <a:t>Authenticating data transmissions : </a:t>
            </a:r>
            <a:r>
              <a:rPr lang="en-US" dirty="0"/>
              <a:t>SSL, SSH</a:t>
            </a:r>
          </a:p>
        </p:txBody>
      </p:sp>
    </p:spTree>
    <p:extLst>
      <p:ext uri="{BB962C8B-B14F-4D97-AF65-F5344CB8AC3E}">
        <p14:creationId xmlns:p14="http://schemas.microsoft.com/office/powerpoint/2010/main" val="3525101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4BFF6-E37D-8C14-72C3-05F35DB943BA}"/>
              </a:ext>
            </a:extLst>
          </p:cNvPr>
          <p:cNvSpPr>
            <a:spLocks noGrp="1"/>
          </p:cNvSpPr>
          <p:nvPr>
            <p:ph type="title"/>
          </p:nvPr>
        </p:nvSpPr>
        <p:spPr/>
        <p:txBody>
          <a:bodyPr/>
          <a:lstStyle/>
          <a:p>
            <a:r>
              <a:rPr lang="en-US" b="1" dirty="0"/>
              <a:t>Applications of HMAC</a:t>
            </a:r>
          </a:p>
        </p:txBody>
      </p:sp>
      <p:sp>
        <p:nvSpPr>
          <p:cNvPr id="3" name="Content Placeholder 2">
            <a:extLst>
              <a:ext uri="{FF2B5EF4-FFF2-40B4-BE49-F238E27FC236}">
                <a16:creationId xmlns:a16="http://schemas.microsoft.com/office/drawing/2014/main" id="{5B5E49EC-A3BD-B63B-7512-21B6BA85A9E9}"/>
              </a:ext>
            </a:extLst>
          </p:cNvPr>
          <p:cNvSpPr>
            <a:spLocks noGrp="1"/>
          </p:cNvSpPr>
          <p:nvPr>
            <p:ph idx="1"/>
          </p:nvPr>
        </p:nvSpPr>
        <p:spPr/>
        <p:txBody>
          <a:bodyPr/>
          <a:lstStyle/>
          <a:p>
            <a:r>
              <a:rPr lang="en-US" dirty="0"/>
              <a:t>Can be used for IoT due to less cost.</a:t>
            </a:r>
          </a:p>
          <a:p>
            <a:r>
              <a:rPr lang="en-US" dirty="0"/>
              <a:t>Verification of e-mail address during activation or creation of an account.</a:t>
            </a:r>
          </a:p>
          <a:p>
            <a:r>
              <a:rPr lang="en-US" dirty="0"/>
              <a:t>Authentication of form data that is sent to the client browser and then submitted back.</a:t>
            </a:r>
          </a:p>
          <a:p>
            <a:endParaRPr lang="en-US" dirty="0"/>
          </a:p>
        </p:txBody>
      </p:sp>
    </p:spTree>
    <p:extLst>
      <p:ext uri="{BB962C8B-B14F-4D97-AF65-F5344CB8AC3E}">
        <p14:creationId xmlns:p14="http://schemas.microsoft.com/office/powerpoint/2010/main" val="2093812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B2DB-E2C4-3822-21DD-BCD97FB9A452}"/>
              </a:ext>
            </a:extLst>
          </p:cNvPr>
          <p:cNvSpPr>
            <a:spLocks noGrp="1"/>
          </p:cNvSpPr>
          <p:nvPr>
            <p:ph type="title"/>
          </p:nvPr>
        </p:nvSpPr>
        <p:spPr/>
        <p:txBody>
          <a:bodyPr/>
          <a:lstStyle/>
          <a:p>
            <a:r>
              <a:rPr lang="en-US" b="1" dirty="0"/>
              <a:t>3.6 Digital Signatures</a:t>
            </a:r>
          </a:p>
        </p:txBody>
      </p:sp>
      <p:sp>
        <p:nvSpPr>
          <p:cNvPr id="3" name="Content Placeholder 2">
            <a:extLst>
              <a:ext uri="{FF2B5EF4-FFF2-40B4-BE49-F238E27FC236}">
                <a16:creationId xmlns:a16="http://schemas.microsoft.com/office/drawing/2014/main" id="{D91FA893-0361-E500-2650-C7CD34709A81}"/>
              </a:ext>
            </a:extLst>
          </p:cNvPr>
          <p:cNvSpPr>
            <a:spLocks noGrp="1"/>
          </p:cNvSpPr>
          <p:nvPr>
            <p:ph idx="1"/>
          </p:nvPr>
        </p:nvSpPr>
        <p:spPr/>
        <p:txBody>
          <a:bodyPr/>
          <a:lstStyle/>
          <a:p>
            <a:pPr algn="just"/>
            <a:r>
              <a:rPr lang="en-US" dirty="0"/>
              <a:t>a mathematical technique used to validate the authenticity and integrity of a digital document, message or software.</a:t>
            </a:r>
          </a:p>
          <a:p>
            <a:pPr algn="just"/>
            <a:r>
              <a:rPr lang="en-US" dirty="0"/>
              <a:t>It's the digital equivalent of a handwritten signature or stamped seal, but it offers far more inherent security.</a:t>
            </a:r>
          </a:p>
          <a:p>
            <a:pPr algn="just"/>
            <a:r>
              <a:rPr lang="en-US" dirty="0"/>
              <a:t>Can provide evidence of origin, identity and status of electronic documents, transactions or digital messages.</a:t>
            </a:r>
          </a:p>
        </p:txBody>
      </p:sp>
    </p:spTree>
    <p:extLst>
      <p:ext uri="{BB962C8B-B14F-4D97-AF65-F5344CB8AC3E}">
        <p14:creationId xmlns:p14="http://schemas.microsoft.com/office/powerpoint/2010/main" val="774067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CA51C-9516-DD0F-890B-300F72495E8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3.6 Model Digital Signatures</a:t>
            </a:r>
            <a:endParaRPr lang="en-US" sz="3200" kern="1200">
              <a:solidFill>
                <a:schemeClr val="bg1"/>
              </a:solidFill>
              <a:latin typeface="+mj-lt"/>
              <a:ea typeface="+mj-ea"/>
              <a:cs typeface="+mj-cs"/>
            </a:endParaRPr>
          </a:p>
        </p:txBody>
      </p:sp>
      <p:pic>
        <p:nvPicPr>
          <p:cNvPr id="5" name="Content Placeholder 4" descr="A picture containing text, font, diagram, screenshot&#10;&#10;Description automatically generated">
            <a:extLst>
              <a:ext uri="{FF2B5EF4-FFF2-40B4-BE49-F238E27FC236}">
                <a16:creationId xmlns:a16="http://schemas.microsoft.com/office/drawing/2014/main" id="{4D2A5597-6902-DFD4-BF18-5819A7E864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6466" y="1675227"/>
            <a:ext cx="10219067" cy="4394199"/>
          </a:xfrm>
          <a:prstGeom prst="rect">
            <a:avLst/>
          </a:prstGeom>
        </p:spPr>
      </p:pic>
    </p:spTree>
    <p:extLst>
      <p:ext uri="{BB962C8B-B14F-4D97-AF65-F5344CB8AC3E}">
        <p14:creationId xmlns:p14="http://schemas.microsoft.com/office/powerpoint/2010/main" val="18886292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A7BE2-C546-2530-F53C-9612B93C68E1}"/>
              </a:ext>
            </a:extLst>
          </p:cNvPr>
          <p:cNvSpPr>
            <a:spLocks noGrp="1"/>
          </p:cNvSpPr>
          <p:nvPr>
            <p:ph type="title"/>
          </p:nvPr>
        </p:nvSpPr>
        <p:spPr/>
        <p:txBody>
          <a:bodyPr>
            <a:normAutofit fontScale="90000"/>
          </a:bodyPr>
          <a:lstStyle/>
          <a:p>
            <a:r>
              <a:rPr lang="en-US" b="1" dirty="0"/>
              <a:t>3.5 Digital Signatures</a:t>
            </a:r>
            <a:br>
              <a:rPr lang="en-US" b="1" dirty="0"/>
            </a:br>
            <a:br>
              <a:rPr lang="en-US" b="1" dirty="0"/>
            </a:br>
            <a:r>
              <a:rPr lang="en-US" b="1" dirty="0"/>
              <a:t>Algorithms</a:t>
            </a:r>
          </a:p>
        </p:txBody>
      </p:sp>
      <p:sp>
        <p:nvSpPr>
          <p:cNvPr id="3" name="Content Placeholder 2">
            <a:extLst>
              <a:ext uri="{FF2B5EF4-FFF2-40B4-BE49-F238E27FC236}">
                <a16:creationId xmlns:a16="http://schemas.microsoft.com/office/drawing/2014/main" id="{D0D63ECC-C80B-9F6C-6DC3-E274D92582A1}"/>
              </a:ext>
            </a:extLst>
          </p:cNvPr>
          <p:cNvSpPr>
            <a:spLocks noGrp="1"/>
          </p:cNvSpPr>
          <p:nvPr>
            <p:ph idx="1"/>
          </p:nvPr>
        </p:nvSpPr>
        <p:spPr/>
        <p:txBody>
          <a:bodyPr/>
          <a:lstStyle/>
          <a:p>
            <a:pPr algn="just">
              <a:lnSpc>
                <a:spcPct val="150000"/>
              </a:lnSpc>
            </a:pPr>
            <a:r>
              <a:rPr lang="en-US" b="1" dirty="0"/>
              <a:t>Key Generation Algorithm </a:t>
            </a:r>
            <a:r>
              <a:rPr lang="en-US" dirty="0"/>
              <a:t>: selects private key randomly from a set of possible private keys. Algorithm provides the corresponding public key.</a:t>
            </a:r>
          </a:p>
          <a:p>
            <a:pPr algn="just">
              <a:lnSpc>
                <a:spcPct val="150000"/>
              </a:lnSpc>
            </a:pPr>
            <a:r>
              <a:rPr lang="en-US" b="1" dirty="0"/>
              <a:t>Signing Algorithm: </a:t>
            </a:r>
            <a:r>
              <a:rPr lang="en-US" dirty="0"/>
              <a:t>produces a signature for the document.</a:t>
            </a:r>
          </a:p>
          <a:p>
            <a:pPr algn="just">
              <a:lnSpc>
                <a:spcPct val="150000"/>
              </a:lnSpc>
            </a:pPr>
            <a:r>
              <a:rPr lang="en-US" b="1" dirty="0"/>
              <a:t>Signature Verifying Algorithm : </a:t>
            </a:r>
            <a:r>
              <a:rPr lang="en-US" dirty="0"/>
              <a:t>either accepts or rejects the document’s authenticity.</a:t>
            </a:r>
          </a:p>
        </p:txBody>
      </p:sp>
    </p:spTree>
    <p:extLst>
      <p:ext uri="{BB962C8B-B14F-4D97-AF65-F5344CB8AC3E}">
        <p14:creationId xmlns:p14="http://schemas.microsoft.com/office/powerpoint/2010/main" val="30386033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4DCA-85FA-0522-D9D9-B4318041647E}"/>
              </a:ext>
            </a:extLst>
          </p:cNvPr>
          <p:cNvSpPr>
            <a:spLocks noGrp="1"/>
          </p:cNvSpPr>
          <p:nvPr>
            <p:ph type="title"/>
          </p:nvPr>
        </p:nvSpPr>
        <p:spPr/>
        <p:txBody>
          <a:bodyPr/>
          <a:lstStyle/>
          <a:p>
            <a:r>
              <a:rPr lang="en-US" b="1" dirty="0"/>
              <a:t>3.5 Working principle of Digital Signatures</a:t>
            </a:r>
          </a:p>
        </p:txBody>
      </p:sp>
      <p:sp>
        <p:nvSpPr>
          <p:cNvPr id="3" name="Content Placeholder 2">
            <a:extLst>
              <a:ext uri="{FF2B5EF4-FFF2-40B4-BE49-F238E27FC236}">
                <a16:creationId xmlns:a16="http://schemas.microsoft.com/office/drawing/2014/main" id="{F84FB631-75D9-2E94-69AA-01009B2D6F64}"/>
              </a:ext>
            </a:extLst>
          </p:cNvPr>
          <p:cNvSpPr>
            <a:spLocks noGrp="1"/>
          </p:cNvSpPr>
          <p:nvPr>
            <p:ph idx="1"/>
          </p:nvPr>
        </p:nvSpPr>
        <p:spPr/>
        <p:txBody>
          <a:bodyPr/>
          <a:lstStyle/>
          <a:p>
            <a:r>
              <a:rPr lang="en-US" dirty="0"/>
              <a:t>created and verified by using public key cryptography</a:t>
            </a:r>
          </a:p>
          <a:p>
            <a:r>
              <a:rPr lang="en-US" dirty="0"/>
              <a:t>user who is creating the digital signature uses their own private key to encrypt the signature-related document. </a:t>
            </a:r>
          </a:p>
        </p:txBody>
      </p:sp>
      <p:pic>
        <p:nvPicPr>
          <p:cNvPr id="5" name="Picture 4" descr="A diagram of a blockchain&#10;&#10;Description automatically generated with low confidence">
            <a:extLst>
              <a:ext uri="{FF2B5EF4-FFF2-40B4-BE49-F238E27FC236}">
                <a16:creationId xmlns:a16="http://schemas.microsoft.com/office/drawing/2014/main" id="{F9C20FB1-C538-B985-34E3-8BC48E636E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7584" y="3270250"/>
            <a:ext cx="6362700" cy="3467100"/>
          </a:xfrm>
          <a:prstGeom prst="rect">
            <a:avLst/>
          </a:prstGeom>
        </p:spPr>
      </p:pic>
    </p:spTree>
    <p:extLst>
      <p:ext uri="{BB962C8B-B14F-4D97-AF65-F5344CB8AC3E}">
        <p14:creationId xmlns:p14="http://schemas.microsoft.com/office/powerpoint/2010/main" val="5884409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71D7-7249-8FCE-6CB3-461575424C43}"/>
              </a:ext>
            </a:extLst>
          </p:cNvPr>
          <p:cNvSpPr>
            <a:spLocks noGrp="1"/>
          </p:cNvSpPr>
          <p:nvPr>
            <p:ph type="title"/>
          </p:nvPr>
        </p:nvSpPr>
        <p:spPr/>
        <p:txBody>
          <a:bodyPr/>
          <a:lstStyle/>
          <a:p>
            <a:r>
              <a:rPr lang="en-US" b="1" dirty="0"/>
              <a:t>3.5 Digital Signature</a:t>
            </a:r>
            <a:br>
              <a:rPr lang="en-US" b="1" dirty="0"/>
            </a:br>
            <a:r>
              <a:rPr lang="en-US" b="1" dirty="0"/>
              <a:t>Importance/Applications </a:t>
            </a:r>
          </a:p>
        </p:txBody>
      </p:sp>
      <p:sp>
        <p:nvSpPr>
          <p:cNvPr id="3" name="Content Placeholder 2">
            <a:extLst>
              <a:ext uri="{FF2B5EF4-FFF2-40B4-BE49-F238E27FC236}">
                <a16:creationId xmlns:a16="http://schemas.microsoft.com/office/drawing/2014/main" id="{99AACB84-EBF8-F1BF-69A6-BBB6A8750525}"/>
              </a:ext>
            </a:extLst>
          </p:cNvPr>
          <p:cNvSpPr>
            <a:spLocks noGrp="1"/>
          </p:cNvSpPr>
          <p:nvPr>
            <p:ph idx="1"/>
          </p:nvPr>
        </p:nvSpPr>
        <p:spPr/>
        <p:txBody>
          <a:bodyPr/>
          <a:lstStyle/>
          <a:p>
            <a:pPr algn="just">
              <a:lnSpc>
                <a:spcPct val="200000"/>
              </a:lnSpc>
            </a:pPr>
            <a:r>
              <a:rPr lang="en-US" dirty="0"/>
              <a:t>Authentication</a:t>
            </a:r>
          </a:p>
          <a:p>
            <a:pPr algn="just">
              <a:lnSpc>
                <a:spcPct val="200000"/>
              </a:lnSpc>
            </a:pPr>
            <a:r>
              <a:rPr lang="en-US" dirty="0"/>
              <a:t>Non-repudiation</a:t>
            </a:r>
          </a:p>
          <a:p>
            <a:pPr algn="just">
              <a:lnSpc>
                <a:spcPct val="200000"/>
              </a:lnSpc>
            </a:pPr>
            <a:r>
              <a:rPr lang="en-US" dirty="0"/>
              <a:t>Integrity</a:t>
            </a:r>
          </a:p>
        </p:txBody>
      </p:sp>
    </p:spTree>
    <p:extLst>
      <p:ext uri="{BB962C8B-B14F-4D97-AF65-F5344CB8AC3E}">
        <p14:creationId xmlns:p14="http://schemas.microsoft.com/office/powerpoint/2010/main" val="3609386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AE47C-5945-AECC-2F3F-90E8691CA5EA}"/>
              </a:ext>
            </a:extLst>
          </p:cNvPr>
          <p:cNvSpPr>
            <a:spLocks noGrp="1"/>
          </p:cNvSpPr>
          <p:nvPr>
            <p:ph type="title"/>
          </p:nvPr>
        </p:nvSpPr>
        <p:spPr/>
        <p:txBody>
          <a:bodyPr/>
          <a:lstStyle/>
          <a:p>
            <a:r>
              <a:rPr lang="en-US" b="1" dirty="0"/>
              <a:t>Difference between HMAC and Digital Signatures</a:t>
            </a:r>
          </a:p>
        </p:txBody>
      </p:sp>
      <p:sp>
        <p:nvSpPr>
          <p:cNvPr id="3" name="Content Placeholder 2">
            <a:extLst>
              <a:ext uri="{FF2B5EF4-FFF2-40B4-BE49-F238E27FC236}">
                <a16:creationId xmlns:a16="http://schemas.microsoft.com/office/drawing/2014/main" id="{D51C1C31-BF31-72E8-1F31-D36C4F323253}"/>
              </a:ext>
            </a:extLst>
          </p:cNvPr>
          <p:cNvSpPr>
            <a:spLocks noGrp="1"/>
          </p:cNvSpPr>
          <p:nvPr>
            <p:ph idx="1"/>
          </p:nvPr>
        </p:nvSpPr>
        <p:spPr/>
        <p:txBody>
          <a:bodyPr/>
          <a:lstStyle/>
          <a:p>
            <a:pPr marL="0" indent="0">
              <a:buNone/>
            </a:pPr>
            <a:r>
              <a:rPr lang="en-US" dirty="0"/>
              <a:t>They both use cryptography keys. And they both employ hash functions. The main difference is that </a:t>
            </a:r>
          </a:p>
          <a:p>
            <a:pPr marL="0" indent="0">
              <a:buNone/>
            </a:pPr>
            <a:r>
              <a:rPr lang="en-US" b="1" dirty="0"/>
              <a:t>digital signatures use asymmetric keys, </a:t>
            </a:r>
          </a:p>
          <a:p>
            <a:pPr marL="0" indent="0">
              <a:buNone/>
            </a:pPr>
            <a:r>
              <a:rPr lang="en-US" b="1" dirty="0"/>
              <a:t>while HMACs use symmetric keys (no public key)</a:t>
            </a:r>
            <a:r>
              <a:rPr lang="en-US" dirty="0"/>
              <a:t>.</a:t>
            </a:r>
          </a:p>
        </p:txBody>
      </p:sp>
    </p:spTree>
    <p:extLst>
      <p:ext uri="{BB962C8B-B14F-4D97-AF65-F5344CB8AC3E}">
        <p14:creationId xmlns:p14="http://schemas.microsoft.com/office/powerpoint/2010/main" val="25861332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650F-B0FE-F1F1-6B52-BB36CA4F0CF9}"/>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AE9F9F25-6C2A-A757-FB66-677512B536B0}"/>
              </a:ext>
            </a:extLst>
          </p:cNvPr>
          <p:cNvSpPr>
            <a:spLocks noGrp="1"/>
          </p:cNvSpPr>
          <p:nvPr>
            <p:ph idx="1"/>
          </p:nvPr>
        </p:nvSpPr>
        <p:spPr/>
        <p:txBody>
          <a:bodyPr/>
          <a:lstStyle/>
          <a:p>
            <a:pPr marL="514350" indent="-514350">
              <a:buAutoNum type="arabicPeriod"/>
            </a:pPr>
            <a:r>
              <a:rPr lang="en-US" dirty="0"/>
              <a:t>Explain in detail about MD4 and MD5 algorithm.</a:t>
            </a:r>
          </a:p>
          <a:p>
            <a:pPr marL="514350" indent="-514350">
              <a:buAutoNum type="arabicPeriod"/>
            </a:pPr>
            <a:r>
              <a:rPr lang="en-US" dirty="0"/>
              <a:t>What do you understand about HMAC ? Explain in detail.</a:t>
            </a:r>
          </a:p>
          <a:p>
            <a:pPr marL="514350" indent="-514350">
              <a:buAutoNum type="arabicPeriod"/>
            </a:pPr>
            <a:r>
              <a:rPr lang="en-US" dirty="0"/>
              <a:t>Write shorts notes on:</a:t>
            </a:r>
          </a:p>
          <a:p>
            <a:pPr marL="0" indent="0">
              <a:buNone/>
            </a:pPr>
            <a:r>
              <a:rPr lang="en-US" dirty="0"/>
              <a:t>       a) Digital Signatures</a:t>
            </a:r>
          </a:p>
          <a:p>
            <a:pPr marL="0" indent="0">
              <a:buNone/>
            </a:pPr>
            <a:r>
              <a:rPr lang="en-US" dirty="0"/>
              <a:t>       b) SHA-1 Algorithm</a:t>
            </a:r>
          </a:p>
          <a:p>
            <a:pPr marL="514350" indent="-514350">
              <a:buAutoNum type="arabicPeriod"/>
            </a:pPr>
            <a:endParaRPr lang="en-US" dirty="0"/>
          </a:p>
        </p:txBody>
      </p:sp>
    </p:spTree>
    <p:extLst>
      <p:ext uri="{BB962C8B-B14F-4D97-AF65-F5344CB8AC3E}">
        <p14:creationId xmlns:p14="http://schemas.microsoft.com/office/powerpoint/2010/main" val="3478556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TotalTime>
  <Words>2939</Words>
  <Application>Microsoft Office PowerPoint</Application>
  <PresentationFormat>Widescreen</PresentationFormat>
  <Paragraphs>206</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Calibri Light</vt:lpstr>
      <vt:lpstr>Courier New</vt:lpstr>
      <vt:lpstr>Times New Roman</vt:lpstr>
      <vt:lpstr>Office Theme</vt:lpstr>
      <vt:lpstr>PowerPoint Presentation</vt:lpstr>
      <vt:lpstr>Message Authentication</vt:lpstr>
      <vt:lpstr>How Message Authentication Works?</vt:lpstr>
      <vt:lpstr>Message Authentication Functions:</vt:lpstr>
      <vt:lpstr>Message Authentication Functions:</vt:lpstr>
      <vt:lpstr>PowerPoint Presentation</vt:lpstr>
      <vt:lpstr>PowerPoint Presentation</vt:lpstr>
      <vt:lpstr>Message Authentication Code (MAC)</vt:lpstr>
      <vt:lpstr>Message Authentication Code (MAC) Work Flow</vt:lpstr>
      <vt:lpstr>Message Authenticate Code (MAC) Work Flow</vt:lpstr>
      <vt:lpstr>3.2 Hash Functions</vt:lpstr>
      <vt:lpstr>3.2 Hash Functions</vt:lpstr>
      <vt:lpstr>Design of Hashing Algorithms</vt:lpstr>
      <vt:lpstr>Design of Hashing Algorithms</vt:lpstr>
      <vt:lpstr>Applications of Hash Functions</vt:lpstr>
      <vt:lpstr>3.3 Message Digest: MD4 and MD5</vt:lpstr>
      <vt:lpstr>MD4</vt:lpstr>
      <vt:lpstr>MD4 Algorithm Steps:</vt:lpstr>
      <vt:lpstr>MD4 Algorithm Steps:</vt:lpstr>
      <vt:lpstr>MD4 Algorithm Steps</vt:lpstr>
      <vt:lpstr>MD4 Algorithm Steps:</vt:lpstr>
      <vt:lpstr>MD4 Algorithm Steps:</vt:lpstr>
      <vt:lpstr>MD4 Algorithm Steps:</vt:lpstr>
      <vt:lpstr>MD4</vt:lpstr>
      <vt:lpstr>MD4</vt:lpstr>
      <vt:lpstr>MD5 </vt:lpstr>
      <vt:lpstr>MD5 Working Algorithm</vt:lpstr>
      <vt:lpstr>Use of MD5 Algorithm: </vt:lpstr>
      <vt:lpstr>Difference between MD5 and MD4 Alogrithm:</vt:lpstr>
      <vt:lpstr>3.4 Secure Hash Algorithms: SHA-1</vt:lpstr>
      <vt:lpstr>3.4 Secure Hash Algorithms SHA-1</vt:lpstr>
      <vt:lpstr>3.4 Secure Hash Algorithms SHA-1 Construction</vt:lpstr>
      <vt:lpstr>Similarities and differences between MD5 and SHA-1</vt:lpstr>
      <vt:lpstr>3.5 HMAC (Hash Based Message Authentication Code)</vt:lpstr>
      <vt:lpstr>Working of HMAC:</vt:lpstr>
      <vt:lpstr>HMAC Uses</vt:lpstr>
      <vt:lpstr>Applications of HMAC</vt:lpstr>
      <vt:lpstr>3.6 Digital Signatures</vt:lpstr>
      <vt:lpstr>3.6 Model Digital Signatures</vt:lpstr>
      <vt:lpstr>3.5 Digital Signatures  Algorithms</vt:lpstr>
      <vt:lpstr>3.5 Working principle of Digital Signatures</vt:lpstr>
      <vt:lpstr>3.5 Digital Signature Importance/Applications </vt:lpstr>
      <vt:lpstr>Difference between HMAC and Digital Signatures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 Gautam</dc:creator>
  <cp:lastModifiedBy>PC</cp:lastModifiedBy>
  <cp:revision>78</cp:revision>
  <dcterms:created xsi:type="dcterms:W3CDTF">2023-04-27T13:37:13Z</dcterms:created>
  <dcterms:modified xsi:type="dcterms:W3CDTF">2024-07-02T00:18:03Z</dcterms:modified>
</cp:coreProperties>
</file>