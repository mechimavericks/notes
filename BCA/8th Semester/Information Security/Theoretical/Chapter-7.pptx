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81" r:id="rId7"/>
    <p:sldId id="261" r:id="rId8"/>
    <p:sldId id="262" r:id="rId9"/>
    <p:sldId id="282" r:id="rId10"/>
    <p:sldId id="263" r:id="rId11"/>
    <p:sldId id="269" r:id="rId12"/>
    <p:sldId id="264" r:id="rId13"/>
    <p:sldId id="268" r:id="rId14"/>
    <p:sldId id="270" r:id="rId15"/>
    <p:sldId id="283" r:id="rId16"/>
    <p:sldId id="265" r:id="rId17"/>
    <p:sldId id="279" r:id="rId18"/>
    <p:sldId id="271" r:id="rId19"/>
    <p:sldId id="272" r:id="rId20"/>
    <p:sldId id="266" r:id="rId21"/>
    <p:sldId id="278" r:id="rId22"/>
    <p:sldId id="273" r:id="rId23"/>
    <p:sldId id="274" r:id="rId24"/>
    <p:sldId id="275" r:id="rId25"/>
    <p:sldId id="267" r:id="rId26"/>
    <p:sldId id="276" r:id="rId27"/>
    <p:sldId id="277" r:id="rId28"/>
    <p:sldId id="28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9" d="100"/>
          <a:sy n="79" d="100"/>
        </p:scale>
        <p:origin x="80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68793-40FE-7260-8392-956409D320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F55703-4A42-C0BD-5AAA-5B40907366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C5B60CC-037E-85EE-FE71-3C804467DA1C}"/>
              </a:ext>
            </a:extLst>
          </p:cNvPr>
          <p:cNvSpPr>
            <a:spLocks noGrp="1"/>
          </p:cNvSpPr>
          <p:nvPr>
            <p:ph type="dt" sz="half" idx="10"/>
          </p:nvPr>
        </p:nvSpPr>
        <p:spPr/>
        <p:txBody>
          <a:bodyPr/>
          <a:lstStyle/>
          <a:p>
            <a:fld id="{F8B399EB-4ED6-411D-9EF9-A2DDF5B4DA56}" type="datetimeFigureOut">
              <a:rPr lang="en-US" smtClean="0"/>
              <a:t>7/11/2024</a:t>
            </a:fld>
            <a:endParaRPr lang="en-US"/>
          </a:p>
        </p:txBody>
      </p:sp>
      <p:sp>
        <p:nvSpPr>
          <p:cNvPr id="5" name="Footer Placeholder 4">
            <a:extLst>
              <a:ext uri="{FF2B5EF4-FFF2-40B4-BE49-F238E27FC236}">
                <a16:creationId xmlns:a16="http://schemas.microsoft.com/office/drawing/2014/main" id="{7A42B98E-C241-998E-1757-13DE6FB8AC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B261C-0366-57CC-7C23-6BC61AA46990}"/>
              </a:ext>
            </a:extLst>
          </p:cNvPr>
          <p:cNvSpPr>
            <a:spLocks noGrp="1"/>
          </p:cNvSpPr>
          <p:nvPr>
            <p:ph type="sldNum" sz="quarter" idx="12"/>
          </p:nvPr>
        </p:nvSpPr>
        <p:spPr/>
        <p:txBody>
          <a:bodyPr/>
          <a:lstStyle/>
          <a:p>
            <a:fld id="{F2FB811C-F4DA-45AB-BA61-EE379E457149}" type="slidenum">
              <a:rPr lang="en-US" smtClean="0"/>
              <a:t>‹#›</a:t>
            </a:fld>
            <a:endParaRPr lang="en-US"/>
          </a:p>
        </p:txBody>
      </p:sp>
    </p:spTree>
    <p:extLst>
      <p:ext uri="{BB962C8B-B14F-4D97-AF65-F5344CB8AC3E}">
        <p14:creationId xmlns:p14="http://schemas.microsoft.com/office/powerpoint/2010/main" val="582687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19CC2-9E05-A7CD-594B-7B7CE13EBD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F285F4-C3E6-715D-94DC-443B730F28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9E7E16-581F-746E-793D-CA7E286D64FA}"/>
              </a:ext>
            </a:extLst>
          </p:cNvPr>
          <p:cNvSpPr>
            <a:spLocks noGrp="1"/>
          </p:cNvSpPr>
          <p:nvPr>
            <p:ph type="dt" sz="half" idx="10"/>
          </p:nvPr>
        </p:nvSpPr>
        <p:spPr/>
        <p:txBody>
          <a:bodyPr/>
          <a:lstStyle/>
          <a:p>
            <a:fld id="{F8B399EB-4ED6-411D-9EF9-A2DDF5B4DA56}" type="datetimeFigureOut">
              <a:rPr lang="en-US" smtClean="0"/>
              <a:t>7/11/2024</a:t>
            </a:fld>
            <a:endParaRPr lang="en-US"/>
          </a:p>
        </p:txBody>
      </p:sp>
      <p:sp>
        <p:nvSpPr>
          <p:cNvPr id="5" name="Footer Placeholder 4">
            <a:extLst>
              <a:ext uri="{FF2B5EF4-FFF2-40B4-BE49-F238E27FC236}">
                <a16:creationId xmlns:a16="http://schemas.microsoft.com/office/drawing/2014/main" id="{8A92C9E7-F253-403F-90B0-59C61A351B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B7871D-FCA1-5753-EB17-4AF55CD48559}"/>
              </a:ext>
            </a:extLst>
          </p:cNvPr>
          <p:cNvSpPr>
            <a:spLocks noGrp="1"/>
          </p:cNvSpPr>
          <p:nvPr>
            <p:ph type="sldNum" sz="quarter" idx="12"/>
          </p:nvPr>
        </p:nvSpPr>
        <p:spPr/>
        <p:txBody>
          <a:bodyPr/>
          <a:lstStyle/>
          <a:p>
            <a:fld id="{F2FB811C-F4DA-45AB-BA61-EE379E457149}" type="slidenum">
              <a:rPr lang="en-US" smtClean="0"/>
              <a:t>‹#›</a:t>
            </a:fld>
            <a:endParaRPr lang="en-US"/>
          </a:p>
        </p:txBody>
      </p:sp>
    </p:spTree>
    <p:extLst>
      <p:ext uri="{BB962C8B-B14F-4D97-AF65-F5344CB8AC3E}">
        <p14:creationId xmlns:p14="http://schemas.microsoft.com/office/powerpoint/2010/main" val="1964693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00270-700C-17EF-0FE6-F495872351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736F66-8213-3761-FE3B-3AEB82A9BB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A8057C-2D8F-DEEA-C7BF-FF910F48E916}"/>
              </a:ext>
            </a:extLst>
          </p:cNvPr>
          <p:cNvSpPr>
            <a:spLocks noGrp="1"/>
          </p:cNvSpPr>
          <p:nvPr>
            <p:ph type="dt" sz="half" idx="10"/>
          </p:nvPr>
        </p:nvSpPr>
        <p:spPr/>
        <p:txBody>
          <a:bodyPr/>
          <a:lstStyle/>
          <a:p>
            <a:fld id="{F8B399EB-4ED6-411D-9EF9-A2DDF5B4DA56}" type="datetimeFigureOut">
              <a:rPr lang="en-US" smtClean="0"/>
              <a:t>7/11/2024</a:t>
            </a:fld>
            <a:endParaRPr lang="en-US"/>
          </a:p>
        </p:txBody>
      </p:sp>
      <p:sp>
        <p:nvSpPr>
          <p:cNvPr id="5" name="Footer Placeholder 4">
            <a:extLst>
              <a:ext uri="{FF2B5EF4-FFF2-40B4-BE49-F238E27FC236}">
                <a16:creationId xmlns:a16="http://schemas.microsoft.com/office/drawing/2014/main" id="{8F139DCE-2C4C-8E66-7CDF-E5C32835A5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5C4FC0-73D6-DA5B-010C-B9DC3BCEAA3F}"/>
              </a:ext>
            </a:extLst>
          </p:cNvPr>
          <p:cNvSpPr>
            <a:spLocks noGrp="1"/>
          </p:cNvSpPr>
          <p:nvPr>
            <p:ph type="sldNum" sz="quarter" idx="12"/>
          </p:nvPr>
        </p:nvSpPr>
        <p:spPr/>
        <p:txBody>
          <a:bodyPr/>
          <a:lstStyle/>
          <a:p>
            <a:fld id="{F2FB811C-F4DA-45AB-BA61-EE379E457149}" type="slidenum">
              <a:rPr lang="en-US" smtClean="0"/>
              <a:t>‹#›</a:t>
            </a:fld>
            <a:endParaRPr lang="en-US"/>
          </a:p>
        </p:txBody>
      </p:sp>
    </p:spTree>
    <p:extLst>
      <p:ext uri="{BB962C8B-B14F-4D97-AF65-F5344CB8AC3E}">
        <p14:creationId xmlns:p14="http://schemas.microsoft.com/office/powerpoint/2010/main" val="1974078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33437-60FC-A22B-3F6C-C6F1979FF3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557D16-292B-77C7-BE8C-0219FBCA7F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DE82BCF-C601-F2FB-90C1-04EFD9DEFC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A93DC2D-825F-DC48-7FB7-7DDC762C5598}"/>
              </a:ext>
            </a:extLst>
          </p:cNvPr>
          <p:cNvSpPr>
            <a:spLocks noGrp="1"/>
          </p:cNvSpPr>
          <p:nvPr>
            <p:ph type="dt" sz="half" idx="10"/>
          </p:nvPr>
        </p:nvSpPr>
        <p:spPr/>
        <p:txBody>
          <a:bodyPr/>
          <a:lstStyle/>
          <a:p>
            <a:fld id="{F8B399EB-4ED6-411D-9EF9-A2DDF5B4DA56}" type="datetimeFigureOut">
              <a:rPr lang="en-US" smtClean="0"/>
              <a:t>7/11/2024</a:t>
            </a:fld>
            <a:endParaRPr lang="en-US"/>
          </a:p>
        </p:txBody>
      </p:sp>
      <p:sp>
        <p:nvSpPr>
          <p:cNvPr id="6" name="Footer Placeholder 5">
            <a:extLst>
              <a:ext uri="{FF2B5EF4-FFF2-40B4-BE49-F238E27FC236}">
                <a16:creationId xmlns:a16="http://schemas.microsoft.com/office/drawing/2014/main" id="{E82D4636-0B8C-CB64-65BF-70C40CE945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22341F-C5A3-74A6-E75E-A258701EEF7C}"/>
              </a:ext>
            </a:extLst>
          </p:cNvPr>
          <p:cNvSpPr>
            <a:spLocks noGrp="1"/>
          </p:cNvSpPr>
          <p:nvPr>
            <p:ph type="sldNum" sz="quarter" idx="12"/>
          </p:nvPr>
        </p:nvSpPr>
        <p:spPr/>
        <p:txBody>
          <a:bodyPr/>
          <a:lstStyle/>
          <a:p>
            <a:fld id="{F2FB811C-F4DA-45AB-BA61-EE379E457149}" type="slidenum">
              <a:rPr lang="en-US" smtClean="0"/>
              <a:t>‹#›</a:t>
            </a:fld>
            <a:endParaRPr lang="en-US"/>
          </a:p>
        </p:txBody>
      </p:sp>
    </p:spTree>
    <p:extLst>
      <p:ext uri="{BB962C8B-B14F-4D97-AF65-F5344CB8AC3E}">
        <p14:creationId xmlns:p14="http://schemas.microsoft.com/office/powerpoint/2010/main" val="2502214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A1B0E-F004-5E26-851E-FC22C07FA9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44033B-EA35-6A7E-6DA6-9D7FD9AD88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FFC90D-46CE-FA92-EF55-D38C56C5F1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908F5A9-87B6-10BF-31F3-F2F28A9039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D7C092-504F-CAD5-F088-DB91A646F2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5808FD2-1F0E-45F6-F692-021CD22FBD2E}"/>
              </a:ext>
            </a:extLst>
          </p:cNvPr>
          <p:cNvSpPr>
            <a:spLocks noGrp="1"/>
          </p:cNvSpPr>
          <p:nvPr>
            <p:ph type="dt" sz="half" idx="10"/>
          </p:nvPr>
        </p:nvSpPr>
        <p:spPr/>
        <p:txBody>
          <a:bodyPr/>
          <a:lstStyle/>
          <a:p>
            <a:fld id="{F8B399EB-4ED6-411D-9EF9-A2DDF5B4DA56}" type="datetimeFigureOut">
              <a:rPr lang="en-US" smtClean="0"/>
              <a:t>7/11/2024</a:t>
            </a:fld>
            <a:endParaRPr lang="en-US"/>
          </a:p>
        </p:txBody>
      </p:sp>
      <p:sp>
        <p:nvSpPr>
          <p:cNvPr id="8" name="Footer Placeholder 7">
            <a:extLst>
              <a:ext uri="{FF2B5EF4-FFF2-40B4-BE49-F238E27FC236}">
                <a16:creationId xmlns:a16="http://schemas.microsoft.com/office/drawing/2014/main" id="{47251E31-6152-59EC-1A12-9146A6522D8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2E57077-5BDB-A6CD-93E5-31DF0D72F94C}"/>
              </a:ext>
            </a:extLst>
          </p:cNvPr>
          <p:cNvSpPr>
            <a:spLocks noGrp="1"/>
          </p:cNvSpPr>
          <p:nvPr>
            <p:ph type="sldNum" sz="quarter" idx="12"/>
          </p:nvPr>
        </p:nvSpPr>
        <p:spPr/>
        <p:txBody>
          <a:bodyPr/>
          <a:lstStyle/>
          <a:p>
            <a:fld id="{F2FB811C-F4DA-45AB-BA61-EE379E457149}" type="slidenum">
              <a:rPr lang="en-US" smtClean="0"/>
              <a:t>‹#›</a:t>
            </a:fld>
            <a:endParaRPr lang="en-US"/>
          </a:p>
        </p:txBody>
      </p:sp>
    </p:spTree>
    <p:extLst>
      <p:ext uri="{BB962C8B-B14F-4D97-AF65-F5344CB8AC3E}">
        <p14:creationId xmlns:p14="http://schemas.microsoft.com/office/powerpoint/2010/main" val="145513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75BA2-CF4C-1811-0D90-BC5ED3FC5D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B130BAF-2D77-AE87-0C7D-E1F9AD14FD9B}"/>
              </a:ext>
            </a:extLst>
          </p:cNvPr>
          <p:cNvSpPr>
            <a:spLocks noGrp="1"/>
          </p:cNvSpPr>
          <p:nvPr>
            <p:ph type="dt" sz="half" idx="10"/>
          </p:nvPr>
        </p:nvSpPr>
        <p:spPr/>
        <p:txBody>
          <a:bodyPr/>
          <a:lstStyle/>
          <a:p>
            <a:fld id="{F8B399EB-4ED6-411D-9EF9-A2DDF5B4DA56}" type="datetimeFigureOut">
              <a:rPr lang="en-US" smtClean="0"/>
              <a:t>7/11/2024</a:t>
            </a:fld>
            <a:endParaRPr lang="en-US"/>
          </a:p>
        </p:txBody>
      </p:sp>
      <p:sp>
        <p:nvSpPr>
          <p:cNvPr id="4" name="Footer Placeholder 3">
            <a:extLst>
              <a:ext uri="{FF2B5EF4-FFF2-40B4-BE49-F238E27FC236}">
                <a16:creationId xmlns:a16="http://schemas.microsoft.com/office/drawing/2014/main" id="{F92654F7-1C8B-B0BD-30E5-6AACB2024E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1DB1C3-7837-A1A2-20EF-D3F611E75AC0}"/>
              </a:ext>
            </a:extLst>
          </p:cNvPr>
          <p:cNvSpPr>
            <a:spLocks noGrp="1"/>
          </p:cNvSpPr>
          <p:nvPr>
            <p:ph type="sldNum" sz="quarter" idx="12"/>
          </p:nvPr>
        </p:nvSpPr>
        <p:spPr/>
        <p:txBody>
          <a:bodyPr/>
          <a:lstStyle/>
          <a:p>
            <a:fld id="{F2FB811C-F4DA-45AB-BA61-EE379E457149}" type="slidenum">
              <a:rPr lang="en-US" smtClean="0"/>
              <a:t>‹#›</a:t>
            </a:fld>
            <a:endParaRPr lang="en-US"/>
          </a:p>
        </p:txBody>
      </p:sp>
    </p:spTree>
    <p:extLst>
      <p:ext uri="{BB962C8B-B14F-4D97-AF65-F5344CB8AC3E}">
        <p14:creationId xmlns:p14="http://schemas.microsoft.com/office/powerpoint/2010/main" val="3531721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D81C6F-8C24-B06C-3CD9-7D527B72D69E}"/>
              </a:ext>
            </a:extLst>
          </p:cNvPr>
          <p:cNvSpPr>
            <a:spLocks noGrp="1"/>
          </p:cNvSpPr>
          <p:nvPr>
            <p:ph type="dt" sz="half" idx="10"/>
          </p:nvPr>
        </p:nvSpPr>
        <p:spPr/>
        <p:txBody>
          <a:bodyPr/>
          <a:lstStyle/>
          <a:p>
            <a:fld id="{F8B399EB-4ED6-411D-9EF9-A2DDF5B4DA56}" type="datetimeFigureOut">
              <a:rPr lang="en-US" smtClean="0"/>
              <a:t>7/11/2024</a:t>
            </a:fld>
            <a:endParaRPr lang="en-US"/>
          </a:p>
        </p:txBody>
      </p:sp>
      <p:sp>
        <p:nvSpPr>
          <p:cNvPr id="3" name="Footer Placeholder 2">
            <a:extLst>
              <a:ext uri="{FF2B5EF4-FFF2-40B4-BE49-F238E27FC236}">
                <a16:creationId xmlns:a16="http://schemas.microsoft.com/office/drawing/2014/main" id="{655E92E6-99E0-5503-C7C2-B059DA81D1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401329-0178-E941-4940-131E774B756F}"/>
              </a:ext>
            </a:extLst>
          </p:cNvPr>
          <p:cNvSpPr>
            <a:spLocks noGrp="1"/>
          </p:cNvSpPr>
          <p:nvPr>
            <p:ph type="sldNum" sz="quarter" idx="12"/>
          </p:nvPr>
        </p:nvSpPr>
        <p:spPr/>
        <p:txBody>
          <a:bodyPr/>
          <a:lstStyle/>
          <a:p>
            <a:fld id="{F2FB811C-F4DA-45AB-BA61-EE379E457149}" type="slidenum">
              <a:rPr lang="en-US" smtClean="0"/>
              <a:t>‹#›</a:t>
            </a:fld>
            <a:endParaRPr lang="en-US"/>
          </a:p>
        </p:txBody>
      </p:sp>
    </p:spTree>
    <p:extLst>
      <p:ext uri="{BB962C8B-B14F-4D97-AF65-F5344CB8AC3E}">
        <p14:creationId xmlns:p14="http://schemas.microsoft.com/office/powerpoint/2010/main" val="3591874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2AB7-0E7C-0AD3-7FB5-F563612987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27A8E80-3E04-BB32-A0A2-A9473131F3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0B66A4D-D5F5-51FA-32E3-30210C8498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9BD00D-B7B5-A574-B782-FD121EC9DA3A}"/>
              </a:ext>
            </a:extLst>
          </p:cNvPr>
          <p:cNvSpPr>
            <a:spLocks noGrp="1"/>
          </p:cNvSpPr>
          <p:nvPr>
            <p:ph type="dt" sz="half" idx="10"/>
          </p:nvPr>
        </p:nvSpPr>
        <p:spPr/>
        <p:txBody>
          <a:bodyPr/>
          <a:lstStyle/>
          <a:p>
            <a:fld id="{F8B399EB-4ED6-411D-9EF9-A2DDF5B4DA56}" type="datetimeFigureOut">
              <a:rPr lang="en-US" smtClean="0"/>
              <a:t>7/11/2024</a:t>
            </a:fld>
            <a:endParaRPr lang="en-US"/>
          </a:p>
        </p:txBody>
      </p:sp>
      <p:sp>
        <p:nvSpPr>
          <p:cNvPr id="6" name="Footer Placeholder 5">
            <a:extLst>
              <a:ext uri="{FF2B5EF4-FFF2-40B4-BE49-F238E27FC236}">
                <a16:creationId xmlns:a16="http://schemas.microsoft.com/office/drawing/2014/main" id="{F8158D8F-FD7C-CE14-B269-FDD246B180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B25CA3-D3A0-24B5-E879-6561C17962C7}"/>
              </a:ext>
            </a:extLst>
          </p:cNvPr>
          <p:cNvSpPr>
            <a:spLocks noGrp="1"/>
          </p:cNvSpPr>
          <p:nvPr>
            <p:ph type="sldNum" sz="quarter" idx="12"/>
          </p:nvPr>
        </p:nvSpPr>
        <p:spPr/>
        <p:txBody>
          <a:bodyPr/>
          <a:lstStyle/>
          <a:p>
            <a:fld id="{F2FB811C-F4DA-45AB-BA61-EE379E457149}" type="slidenum">
              <a:rPr lang="en-US" smtClean="0"/>
              <a:t>‹#›</a:t>
            </a:fld>
            <a:endParaRPr lang="en-US"/>
          </a:p>
        </p:txBody>
      </p:sp>
    </p:spTree>
    <p:extLst>
      <p:ext uri="{BB962C8B-B14F-4D97-AF65-F5344CB8AC3E}">
        <p14:creationId xmlns:p14="http://schemas.microsoft.com/office/powerpoint/2010/main" val="2109059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1451E-75D3-88E7-4444-A26DDEC279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D20C2D-B830-7C4B-1E10-37C8E65F7B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28030A-686B-BCEA-ACDA-4E5B95339B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E72B2E-4688-4A73-0B7D-ED4EA86D9302}"/>
              </a:ext>
            </a:extLst>
          </p:cNvPr>
          <p:cNvSpPr>
            <a:spLocks noGrp="1"/>
          </p:cNvSpPr>
          <p:nvPr>
            <p:ph type="dt" sz="half" idx="10"/>
          </p:nvPr>
        </p:nvSpPr>
        <p:spPr/>
        <p:txBody>
          <a:bodyPr/>
          <a:lstStyle/>
          <a:p>
            <a:fld id="{F8B399EB-4ED6-411D-9EF9-A2DDF5B4DA56}" type="datetimeFigureOut">
              <a:rPr lang="en-US" smtClean="0"/>
              <a:t>7/11/2024</a:t>
            </a:fld>
            <a:endParaRPr lang="en-US"/>
          </a:p>
        </p:txBody>
      </p:sp>
      <p:sp>
        <p:nvSpPr>
          <p:cNvPr id="6" name="Footer Placeholder 5">
            <a:extLst>
              <a:ext uri="{FF2B5EF4-FFF2-40B4-BE49-F238E27FC236}">
                <a16:creationId xmlns:a16="http://schemas.microsoft.com/office/drawing/2014/main" id="{94639F11-1186-7358-A2E6-842A9B2A17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5C9BF3-88BE-0444-FDF0-33D2C32CFE04}"/>
              </a:ext>
            </a:extLst>
          </p:cNvPr>
          <p:cNvSpPr>
            <a:spLocks noGrp="1"/>
          </p:cNvSpPr>
          <p:nvPr>
            <p:ph type="sldNum" sz="quarter" idx="12"/>
          </p:nvPr>
        </p:nvSpPr>
        <p:spPr/>
        <p:txBody>
          <a:bodyPr/>
          <a:lstStyle/>
          <a:p>
            <a:fld id="{F2FB811C-F4DA-45AB-BA61-EE379E457149}" type="slidenum">
              <a:rPr lang="en-US" smtClean="0"/>
              <a:t>‹#›</a:t>
            </a:fld>
            <a:endParaRPr lang="en-US"/>
          </a:p>
        </p:txBody>
      </p:sp>
    </p:spTree>
    <p:extLst>
      <p:ext uri="{BB962C8B-B14F-4D97-AF65-F5344CB8AC3E}">
        <p14:creationId xmlns:p14="http://schemas.microsoft.com/office/powerpoint/2010/main" val="2853896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ABDF9-F017-8F5C-A324-A8BC725C47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96F3E0-29CD-12BC-5B9F-294A753351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CB81D2-D7CB-C09D-7CB8-7A06154F8F49}"/>
              </a:ext>
            </a:extLst>
          </p:cNvPr>
          <p:cNvSpPr>
            <a:spLocks noGrp="1"/>
          </p:cNvSpPr>
          <p:nvPr>
            <p:ph type="dt" sz="half" idx="10"/>
          </p:nvPr>
        </p:nvSpPr>
        <p:spPr/>
        <p:txBody>
          <a:bodyPr/>
          <a:lstStyle/>
          <a:p>
            <a:fld id="{F8B399EB-4ED6-411D-9EF9-A2DDF5B4DA56}" type="datetimeFigureOut">
              <a:rPr lang="en-US" smtClean="0"/>
              <a:t>7/11/2024</a:t>
            </a:fld>
            <a:endParaRPr lang="en-US"/>
          </a:p>
        </p:txBody>
      </p:sp>
      <p:sp>
        <p:nvSpPr>
          <p:cNvPr id="5" name="Footer Placeholder 4">
            <a:extLst>
              <a:ext uri="{FF2B5EF4-FFF2-40B4-BE49-F238E27FC236}">
                <a16:creationId xmlns:a16="http://schemas.microsoft.com/office/drawing/2014/main" id="{33718116-51FE-B033-563F-A090BD3ED4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616FEB-7BC1-B349-DC2E-E59C8813AABF}"/>
              </a:ext>
            </a:extLst>
          </p:cNvPr>
          <p:cNvSpPr>
            <a:spLocks noGrp="1"/>
          </p:cNvSpPr>
          <p:nvPr>
            <p:ph type="sldNum" sz="quarter" idx="12"/>
          </p:nvPr>
        </p:nvSpPr>
        <p:spPr/>
        <p:txBody>
          <a:bodyPr/>
          <a:lstStyle/>
          <a:p>
            <a:fld id="{F2FB811C-F4DA-45AB-BA61-EE379E457149}" type="slidenum">
              <a:rPr lang="en-US" smtClean="0"/>
              <a:t>‹#›</a:t>
            </a:fld>
            <a:endParaRPr lang="en-US"/>
          </a:p>
        </p:txBody>
      </p:sp>
    </p:spTree>
    <p:extLst>
      <p:ext uri="{BB962C8B-B14F-4D97-AF65-F5344CB8AC3E}">
        <p14:creationId xmlns:p14="http://schemas.microsoft.com/office/powerpoint/2010/main" val="2156849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30D4B7-6646-E091-B898-FBFDDC30EB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337881-627C-E3EC-34BE-2F1D6ECDC7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B9DCB7-8C91-0614-4DED-F8AE46CF251F}"/>
              </a:ext>
            </a:extLst>
          </p:cNvPr>
          <p:cNvSpPr>
            <a:spLocks noGrp="1"/>
          </p:cNvSpPr>
          <p:nvPr>
            <p:ph type="dt" sz="half" idx="10"/>
          </p:nvPr>
        </p:nvSpPr>
        <p:spPr/>
        <p:txBody>
          <a:bodyPr/>
          <a:lstStyle/>
          <a:p>
            <a:fld id="{F8B399EB-4ED6-411D-9EF9-A2DDF5B4DA56}" type="datetimeFigureOut">
              <a:rPr lang="en-US" smtClean="0"/>
              <a:t>7/11/2024</a:t>
            </a:fld>
            <a:endParaRPr lang="en-US"/>
          </a:p>
        </p:txBody>
      </p:sp>
      <p:sp>
        <p:nvSpPr>
          <p:cNvPr id="5" name="Footer Placeholder 4">
            <a:extLst>
              <a:ext uri="{FF2B5EF4-FFF2-40B4-BE49-F238E27FC236}">
                <a16:creationId xmlns:a16="http://schemas.microsoft.com/office/drawing/2014/main" id="{A7C13932-7E8D-CA71-9C61-631D0FB42E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E95D8E-007A-5DB8-4CC3-499EB14D6380}"/>
              </a:ext>
            </a:extLst>
          </p:cNvPr>
          <p:cNvSpPr>
            <a:spLocks noGrp="1"/>
          </p:cNvSpPr>
          <p:nvPr>
            <p:ph type="sldNum" sz="quarter" idx="12"/>
          </p:nvPr>
        </p:nvSpPr>
        <p:spPr/>
        <p:txBody>
          <a:bodyPr/>
          <a:lstStyle/>
          <a:p>
            <a:fld id="{F2FB811C-F4DA-45AB-BA61-EE379E457149}" type="slidenum">
              <a:rPr lang="en-US" smtClean="0"/>
              <a:t>‹#›</a:t>
            </a:fld>
            <a:endParaRPr lang="en-US"/>
          </a:p>
        </p:txBody>
      </p:sp>
    </p:spTree>
    <p:extLst>
      <p:ext uri="{BB962C8B-B14F-4D97-AF65-F5344CB8AC3E}">
        <p14:creationId xmlns:p14="http://schemas.microsoft.com/office/powerpoint/2010/main" val="724786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7AE635-3D02-E96F-2B30-0F9EFB4184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02D838-67D4-F1A2-6D62-A12BD675A8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DC3B3D-269E-119B-B721-413B854251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B399EB-4ED6-411D-9EF9-A2DDF5B4DA56}" type="datetimeFigureOut">
              <a:rPr lang="en-US" smtClean="0"/>
              <a:t>7/11/2024</a:t>
            </a:fld>
            <a:endParaRPr lang="en-US"/>
          </a:p>
        </p:txBody>
      </p:sp>
      <p:sp>
        <p:nvSpPr>
          <p:cNvPr id="5" name="Footer Placeholder 4">
            <a:extLst>
              <a:ext uri="{FF2B5EF4-FFF2-40B4-BE49-F238E27FC236}">
                <a16:creationId xmlns:a16="http://schemas.microsoft.com/office/drawing/2014/main" id="{78D538A3-E67C-41B5-BDD9-D5D5655327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18A61E9-7639-C8D2-6AAF-826288B8CB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FB811C-F4DA-45AB-BA61-EE379E457149}" type="slidenum">
              <a:rPr lang="en-US" smtClean="0"/>
              <a:t>‹#›</a:t>
            </a:fld>
            <a:endParaRPr lang="en-US"/>
          </a:p>
        </p:txBody>
      </p:sp>
    </p:spTree>
    <p:extLst>
      <p:ext uri="{BB962C8B-B14F-4D97-AF65-F5344CB8AC3E}">
        <p14:creationId xmlns:p14="http://schemas.microsoft.com/office/powerpoint/2010/main" val="14648339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A1088-49E5-AF62-ABCE-03E9813D57F5}"/>
              </a:ext>
            </a:extLst>
          </p:cNvPr>
          <p:cNvSpPr>
            <a:spLocks noGrp="1"/>
          </p:cNvSpPr>
          <p:nvPr>
            <p:ph type="ctrTitle"/>
          </p:nvPr>
        </p:nvSpPr>
        <p:spPr>
          <a:xfrm>
            <a:off x="1524000" y="219788"/>
            <a:ext cx="9144000" cy="2387600"/>
          </a:xfrm>
        </p:spPr>
        <p:txBody>
          <a:bodyPr/>
          <a:lstStyle/>
          <a:p>
            <a:r>
              <a:rPr lang="en-US" b="1" dirty="0"/>
              <a:t>Chapter 7: Network Security</a:t>
            </a:r>
          </a:p>
        </p:txBody>
      </p:sp>
      <p:sp>
        <p:nvSpPr>
          <p:cNvPr id="3" name="Subtitle 2">
            <a:extLst>
              <a:ext uri="{FF2B5EF4-FFF2-40B4-BE49-F238E27FC236}">
                <a16:creationId xmlns:a16="http://schemas.microsoft.com/office/drawing/2014/main" id="{ECD20E31-B2A6-8DB9-B859-C8846AE42213}"/>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B6B74EF5-752C-0C7B-769D-F083E9F87DDE}"/>
              </a:ext>
            </a:extLst>
          </p:cNvPr>
          <p:cNvPicPr>
            <a:picLocks noChangeAspect="1"/>
          </p:cNvPicPr>
          <p:nvPr/>
        </p:nvPicPr>
        <p:blipFill>
          <a:blip r:embed="rId2"/>
          <a:stretch>
            <a:fillRect/>
          </a:stretch>
        </p:blipFill>
        <p:spPr>
          <a:xfrm>
            <a:off x="1188681" y="3088433"/>
            <a:ext cx="10479146" cy="2169367"/>
          </a:xfrm>
          <a:prstGeom prst="rect">
            <a:avLst/>
          </a:prstGeom>
        </p:spPr>
      </p:pic>
    </p:spTree>
    <p:extLst>
      <p:ext uri="{BB962C8B-B14F-4D97-AF65-F5344CB8AC3E}">
        <p14:creationId xmlns:p14="http://schemas.microsoft.com/office/powerpoint/2010/main" val="2511842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66BCF-0AD8-2B4D-3BE6-5E885DDA325B}"/>
              </a:ext>
            </a:extLst>
          </p:cNvPr>
          <p:cNvSpPr>
            <a:spLocks noGrp="1"/>
          </p:cNvSpPr>
          <p:nvPr>
            <p:ph type="title"/>
          </p:nvPr>
        </p:nvSpPr>
        <p:spPr/>
        <p:txBody>
          <a:bodyPr/>
          <a:lstStyle/>
          <a:p>
            <a:r>
              <a:rPr lang="en-US" b="1" dirty="0"/>
              <a:t>7.1 Overview of Network Security </a:t>
            </a:r>
          </a:p>
        </p:txBody>
      </p:sp>
      <p:sp>
        <p:nvSpPr>
          <p:cNvPr id="3" name="Content Placeholder 2">
            <a:extLst>
              <a:ext uri="{FF2B5EF4-FFF2-40B4-BE49-F238E27FC236}">
                <a16:creationId xmlns:a16="http://schemas.microsoft.com/office/drawing/2014/main" id="{05DCD86A-ECCB-DEF5-D896-8EF82642992B}"/>
              </a:ext>
            </a:extLst>
          </p:cNvPr>
          <p:cNvSpPr>
            <a:spLocks noGrp="1"/>
          </p:cNvSpPr>
          <p:nvPr>
            <p:ph idx="1"/>
          </p:nvPr>
        </p:nvSpPr>
        <p:spPr/>
        <p:txBody>
          <a:bodyPr/>
          <a:lstStyle/>
          <a:p>
            <a:pPr marL="0" indent="0" algn="just">
              <a:buNone/>
            </a:pPr>
            <a:r>
              <a:rPr lang="en-US" b="1" dirty="0"/>
              <a:t>Network Security</a:t>
            </a:r>
          </a:p>
          <a:p>
            <a:pPr algn="just"/>
            <a:r>
              <a:rPr lang="en-US" dirty="0"/>
              <a:t>a crucial aspect of information security that focuses on protecting computer networks and their resources from unauthorized access, misuse, disruption, or modification.</a:t>
            </a:r>
          </a:p>
          <a:p>
            <a:pPr algn="just"/>
            <a:r>
              <a:rPr lang="en-US" dirty="0"/>
              <a:t>It involves implementing various measures to ensure the confidentiality, integrity, and availability of network data and services. </a:t>
            </a:r>
          </a:p>
          <a:p>
            <a:pPr algn="just"/>
            <a:r>
              <a:rPr lang="en-US" dirty="0"/>
              <a:t>Network security aims to prevent and detect unauthorized access, attacks, and vulnerabilities that may compromise the security of an organization's network infrastructure.</a:t>
            </a:r>
          </a:p>
        </p:txBody>
      </p:sp>
    </p:spTree>
    <p:extLst>
      <p:ext uri="{BB962C8B-B14F-4D97-AF65-F5344CB8AC3E}">
        <p14:creationId xmlns:p14="http://schemas.microsoft.com/office/powerpoint/2010/main" val="17980545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539E6-AE30-2ED0-903E-017E984505E5}"/>
              </a:ext>
            </a:extLst>
          </p:cNvPr>
          <p:cNvSpPr>
            <a:spLocks noGrp="1"/>
          </p:cNvSpPr>
          <p:nvPr>
            <p:ph type="title"/>
          </p:nvPr>
        </p:nvSpPr>
        <p:spPr/>
        <p:txBody>
          <a:bodyPr/>
          <a:lstStyle/>
          <a:p>
            <a:r>
              <a:rPr lang="en-US" b="1" dirty="0"/>
              <a:t>Key components of Network Security</a:t>
            </a:r>
          </a:p>
        </p:txBody>
      </p:sp>
      <p:sp>
        <p:nvSpPr>
          <p:cNvPr id="3" name="Content Placeholder 2">
            <a:extLst>
              <a:ext uri="{FF2B5EF4-FFF2-40B4-BE49-F238E27FC236}">
                <a16:creationId xmlns:a16="http://schemas.microsoft.com/office/drawing/2014/main" id="{FC4D1E2D-0A6F-4F10-76A2-7B8A6212AB24}"/>
              </a:ext>
            </a:extLst>
          </p:cNvPr>
          <p:cNvSpPr>
            <a:spLocks noGrp="1"/>
          </p:cNvSpPr>
          <p:nvPr>
            <p:ph idx="1"/>
          </p:nvPr>
        </p:nvSpPr>
        <p:spPr>
          <a:xfrm>
            <a:off x="838200" y="1648829"/>
            <a:ext cx="10515600" cy="4351338"/>
          </a:xfrm>
        </p:spPr>
        <p:txBody>
          <a:bodyPr>
            <a:normAutofit fontScale="92500" lnSpcReduction="20000"/>
          </a:bodyPr>
          <a:lstStyle/>
          <a:p>
            <a:pPr marL="514350" indent="-514350">
              <a:buAutoNum type="arabicPeriod"/>
            </a:pPr>
            <a:r>
              <a:rPr lang="en-US" dirty="0"/>
              <a:t>Firewalls </a:t>
            </a:r>
          </a:p>
          <a:p>
            <a:pPr marL="514350" indent="-514350">
              <a:buAutoNum type="arabicPeriod"/>
            </a:pPr>
            <a:r>
              <a:rPr lang="en-US" dirty="0"/>
              <a:t>Intrusion Detection System</a:t>
            </a:r>
          </a:p>
          <a:p>
            <a:pPr marL="514350" indent="-514350">
              <a:buAutoNum type="arabicPeriod"/>
            </a:pPr>
            <a:r>
              <a:rPr lang="en-US" dirty="0"/>
              <a:t>Virtual Private Networks</a:t>
            </a:r>
          </a:p>
          <a:p>
            <a:pPr marL="514350" indent="-514350">
              <a:buAutoNum type="arabicPeriod"/>
            </a:pPr>
            <a:r>
              <a:rPr lang="en-US" dirty="0"/>
              <a:t>Access Control</a:t>
            </a:r>
          </a:p>
          <a:p>
            <a:pPr marL="514350" indent="-514350">
              <a:buAutoNum type="arabicPeriod"/>
            </a:pPr>
            <a:r>
              <a:rPr lang="en-US" dirty="0"/>
              <a:t>Network Segmentation</a:t>
            </a:r>
          </a:p>
          <a:p>
            <a:pPr marL="514350" indent="-514350">
              <a:buAutoNum type="arabicPeriod"/>
            </a:pPr>
            <a:r>
              <a:rPr lang="en-US" dirty="0"/>
              <a:t>Secure Protocols and Encryption</a:t>
            </a:r>
          </a:p>
          <a:p>
            <a:pPr marL="514350" indent="-514350">
              <a:buAutoNum type="arabicPeriod"/>
            </a:pPr>
            <a:r>
              <a:rPr lang="en-US" dirty="0"/>
              <a:t>Network Monitoring and Logging</a:t>
            </a:r>
          </a:p>
          <a:p>
            <a:pPr marL="514350" indent="-514350">
              <a:buAutoNum type="arabicPeriod"/>
            </a:pPr>
            <a:r>
              <a:rPr lang="en-US" dirty="0"/>
              <a:t>Security Updates</a:t>
            </a:r>
          </a:p>
          <a:p>
            <a:pPr marL="514350" indent="-514350">
              <a:buAutoNum type="arabicPeriod"/>
            </a:pPr>
            <a:r>
              <a:rPr lang="en-US" dirty="0"/>
              <a:t>Network Security Policies</a:t>
            </a:r>
          </a:p>
          <a:p>
            <a:pPr marL="514350" indent="-514350">
              <a:buAutoNum type="arabicPeriod"/>
            </a:pPr>
            <a:r>
              <a:rPr lang="en-US" dirty="0"/>
              <a:t>Employee Awareness and Training</a:t>
            </a:r>
          </a:p>
        </p:txBody>
      </p:sp>
    </p:spTree>
    <p:extLst>
      <p:ext uri="{BB962C8B-B14F-4D97-AF65-F5344CB8AC3E}">
        <p14:creationId xmlns:p14="http://schemas.microsoft.com/office/powerpoint/2010/main" val="1560057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07421-3777-0BA9-C8E8-9C5AFEF48EE9}"/>
              </a:ext>
            </a:extLst>
          </p:cNvPr>
          <p:cNvSpPr>
            <a:spLocks noGrp="1"/>
          </p:cNvSpPr>
          <p:nvPr>
            <p:ph type="title"/>
          </p:nvPr>
        </p:nvSpPr>
        <p:spPr/>
        <p:txBody>
          <a:bodyPr/>
          <a:lstStyle/>
          <a:p>
            <a:r>
              <a:rPr lang="en-US" b="1" dirty="0"/>
              <a:t>Network Security Prevent Against:</a:t>
            </a:r>
          </a:p>
        </p:txBody>
      </p:sp>
      <p:sp>
        <p:nvSpPr>
          <p:cNvPr id="3" name="Content Placeholder 2">
            <a:extLst>
              <a:ext uri="{FF2B5EF4-FFF2-40B4-BE49-F238E27FC236}">
                <a16:creationId xmlns:a16="http://schemas.microsoft.com/office/drawing/2014/main" id="{2CE4175A-8A1A-B424-21C3-EB6A7F4AD831}"/>
              </a:ext>
            </a:extLst>
          </p:cNvPr>
          <p:cNvSpPr>
            <a:spLocks noGrp="1"/>
          </p:cNvSpPr>
          <p:nvPr>
            <p:ph idx="1"/>
          </p:nvPr>
        </p:nvSpPr>
        <p:spPr/>
        <p:txBody>
          <a:bodyPr/>
          <a:lstStyle/>
          <a:p>
            <a:r>
              <a:rPr lang="en-US" dirty="0"/>
              <a:t>Virus</a:t>
            </a:r>
          </a:p>
          <a:p>
            <a:r>
              <a:rPr lang="en-US" dirty="0"/>
              <a:t>Worms</a:t>
            </a:r>
          </a:p>
          <a:p>
            <a:r>
              <a:rPr lang="en-US" dirty="0"/>
              <a:t>Trojan</a:t>
            </a:r>
          </a:p>
          <a:p>
            <a:r>
              <a:rPr lang="en-US" dirty="0"/>
              <a:t>Spyware</a:t>
            </a:r>
          </a:p>
          <a:p>
            <a:r>
              <a:rPr lang="en-US" dirty="0"/>
              <a:t>Adware</a:t>
            </a:r>
          </a:p>
          <a:p>
            <a:r>
              <a:rPr lang="en-US" dirty="0"/>
              <a:t>Ransomware</a:t>
            </a:r>
          </a:p>
        </p:txBody>
      </p:sp>
    </p:spTree>
    <p:extLst>
      <p:ext uri="{BB962C8B-B14F-4D97-AF65-F5344CB8AC3E}">
        <p14:creationId xmlns:p14="http://schemas.microsoft.com/office/powerpoint/2010/main" val="1750080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96837-2C33-DE0E-74E4-2ED86C54B046}"/>
              </a:ext>
            </a:extLst>
          </p:cNvPr>
          <p:cNvSpPr>
            <a:spLocks noGrp="1"/>
          </p:cNvSpPr>
          <p:nvPr>
            <p:ph type="title"/>
          </p:nvPr>
        </p:nvSpPr>
        <p:spPr/>
        <p:txBody>
          <a:bodyPr/>
          <a:lstStyle/>
          <a:p>
            <a:r>
              <a:rPr lang="en-US" b="1" dirty="0"/>
              <a:t>Benefits of Network Security</a:t>
            </a:r>
          </a:p>
        </p:txBody>
      </p:sp>
      <p:sp>
        <p:nvSpPr>
          <p:cNvPr id="3" name="Content Placeholder 2">
            <a:extLst>
              <a:ext uri="{FF2B5EF4-FFF2-40B4-BE49-F238E27FC236}">
                <a16:creationId xmlns:a16="http://schemas.microsoft.com/office/drawing/2014/main" id="{D06C3E3E-F31A-9B8D-6E12-B225B1506203}"/>
              </a:ext>
            </a:extLst>
          </p:cNvPr>
          <p:cNvSpPr>
            <a:spLocks noGrp="1"/>
          </p:cNvSpPr>
          <p:nvPr>
            <p:ph idx="1"/>
          </p:nvPr>
        </p:nvSpPr>
        <p:spPr/>
        <p:txBody>
          <a:bodyPr/>
          <a:lstStyle/>
          <a:p>
            <a:r>
              <a:rPr lang="en-US" dirty="0"/>
              <a:t>Reduces overhead expenses and safeguards organizations from costly losses that occur from a data breach or other security incident.</a:t>
            </a:r>
          </a:p>
          <a:p>
            <a:r>
              <a:rPr lang="en-US" dirty="0"/>
              <a:t>Ensures legitimate access to systems, applications and data enables business operations and delivery of services and products to customers.</a:t>
            </a:r>
          </a:p>
        </p:txBody>
      </p:sp>
    </p:spTree>
    <p:extLst>
      <p:ext uri="{BB962C8B-B14F-4D97-AF65-F5344CB8AC3E}">
        <p14:creationId xmlns:p14="http://schemas.microsoft.com/office/powerpoint/2010/main" val="1141690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38621-CE1C-7CB9-2C9C-BDA1E6BDC940}"/>
              </a:ext>
            </a:extLst>
          </p:cNvPr>
          <p:cNvSpPr>
            <a:spLocks noGrp="1"/>
          </p:cNvSpPr>
          <p:nvPr>
            <p:ph type="title"/>
          </p:nvPr>
        </p:nvSpPr>
        <p:spPr/>
        <p:txBody>
          <a:bodyPr/>
          <a:lstStyle/>
          <a:p>
            <a:r>
              <a:rPr lang="en-US" b="1" dirty="0"/>
              <a:t>How does Network Security Work?</a:t>
            </a:r>
          </a:p>
        </p:txBody>
      </p:sp>
      <p:sp>
        <p:nvSpPr>
          <p:cNvPr id="3" name="Content Placeholder 2">
            <a:extLst>
              <a:ext uri="{FF2B5EF4-FFF2-40B4-BE49-F238E27FC236}">
                <a16:creationId xmlns:a16="http://schemas.microsoft.com/office/drawing/2014/main" id="{491A47F4-FB18-8457-39C0-CA9E181FA9CF}"/>
              </a:ext>
            </a:extLst>
          </p:cNvPr>
          <p:cNvSpPr>
            <a:spLocks noGrp="1"/>
          </p:cNvSpPr>
          <p:nvPr>
            <p:ph idx="1"/>
          </p:nvPr>
        </p:nvSpPr>
        <p:spPr/>
        <p:txBody>
          <a:bodyPr/>
          <a:lstStyle/>
          <a:p>
            <a:pPr algn="just"/>
            <a:r>
              <a:rPr lang="en-US" dirty="0"/>
              <a:t>Network security combines multiple layers of defenses at the edge and in the network. Each network security layer implements policies and controls. Authorized users gain access to network resources, but malicious actors are blocked from carrying out exploits and threats.</a:t>
            </a:r>
          </a:p>
        </p:txBody>
      </p:sp>
    </p:spTree>
    <p:extLst>
      <p:ext uri="{BB962C8B-B14F-4D97-AF65-F5344CB8AC3E}">
        <p14:creationId xmlns:p14="http://schemas.microsoft.com/office/powerpoint/2010/main" val="3274040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996F8-F6CF-4222-12AD-0D80DEA3E7CA}"/>
              </a:ext>
            </a:extLst>
          </p:cNvPr>
          <p:cNvSpPr>
            <a:spLocks noGrp="1"/>
          </p:cNvSpPr>
          <p:nvPr>
            <p:ph type="title"/>
          </p:nvPr>
        </p:nvSpPr>
        <p:spPr/>
        <p:txBody>
          <a:bodyPr/>
          <a:lstStyle/>
          <a:p>
            <a:r>
              <a:rPr lang="en-US" b="1" dirty="0"/>
              <a:t>7.2 Email Security </a:t>
            </a:r>
          </a:p>
        </p:txBody>
      </p:sp>
      <p:sp>
        <p:nvSpPr>
          <p:cNvPr id="3" name="Content Placeholder 2">
            <a:extLst>
              <a:ext uri="{FF2B5EF4-FFF2-40B4-BE49-F238E27FC236}">
                <a16:creationId xmlns:a16="http://schemas.microsoft.com/office/drawing/2014/main" id="{B865525F-090A-1CD2-968F-BE155F148C67}"/>
              </a:ext>
            </a:extLst>
          </p:cNvPr>
          <p:cNvSpPr>
            <a:spLocks noGrp="1"/>
          </p:cNvSpPr>
          <p:nvPr>
            <p:ph idx="1"/>
          </p:nvPr>
        </p:nvSpPr>
        <p:spPr>
          <a:xfrm>
            <a:off x="838200" y="1690688"/>
            <a:ext cx="10515600" cy="4351338"/>
          </a:xfrm>
        </p:spPr>
        <p:txBody>
          <a:bodyPr>
            <a:normAutofit lnSpcReduction="10000"/>
          </a:bodyPr>
          <a:lstStyle/>
          <a:p>
            <a:pPr algn="just">
              <a:lnSpc>
                <a:spcPct val="120000"/>
              </a:lnSpc>
            </a:pPr>
            <a:r>
              <a:rPr lang="en-US" dirty="0"/>
              <a:t>A critical aspect of network security as email remains one of the most widely used communication channels for businesses and individuals.</a:t>
            </a:r>
          </a:p>
          <a:p>
            <a:pPr algn="just">
              <a:lnSpc>
                <a:spcPct val="120000"/>
              </a:lnSpc>
            </a:pPr>
            <a:r>
              <a:rPr lang="en-US" dirty="0"/>
              <a:t>Securing email systems involves implementing measures to protect email messages from unauthorized access, interception, tampering, and other forms of threats.</a:t>
            </a:r>
          </a:p>
          <a:p>
            <a:pPr marL="0" indent="0" algn="just">
              <a:lnSpc>
                <a:spcPct val="120000"/>
              </a:lnSpc>
              <a:buNone/>
            </a:pPr>
            <a:r>
              <a:rPr lang="en-US" dirty="0"/>
              <a:t>By implementing robust email security measures, organizations can reduce the risk of email-based threats, protect sensitive information, and ensure the integrity of their communication channels.</a:t>
            </a:r>
          </a:p>
        </p:txBody>
      </p:sp>
    </p:spTree>
    <p:extLst>
      <p:ext uri="{BB962C8B-B14F-4D97-AF65-F5344CB8AC3E}">
        <p14:creationId xmlns:p14="http://schemas.microsoft.com/office/powerpoint/2010/main" val="2625217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9AB64-2AD3-8163-BD23-B0B9A317DB81}"/>
              </a:ext>
            </a:extLst>
          </p:cNvPr>
          <p:cNvSpPr>
            <a:spLocks noGrp="1"/>
          </p:cNvSpPr>
          <p:nvPr>
            <p:ph type="title"/>
          </p:nvPr>
        </p:nvSpPr>
        <p:spPr>
          <a:xfrm>
            <a:off x="1" y="365125"/>
            <a:ext cx="12047620" cy="1325563"/>
          </a:xfrm>
        </p:spPr>
        <p:txBody>
          <a:bodyPr>
            <a:normAutofit/>
          </a:bodyPr>
          <a:lstStyle/>
          <a:p>
            <a:r>
              <a:rPr lang="en-US" sz="4000" b="1" dirty="0"/>
              <a:t>S/MIME : Secure/Multipurpose Internet Mail Extensions</a:t>
            </a:r>
          </a:p>
        </p:txBody>
      </p:sp>
      <p:sp>
        <p:nvSpPr>
          <p:cNvPr id="3" name="Content Placeholder 2">
            <a:extLst>
              <a:ext uri="{FF2B5EF4-FFF2-40B4-BE49-F238E27FC236}">
                <a16:creationId xmlns:a16="http://schemas.microsoft.com/office/drawing/2014/main" id="{840401E4-9F8A-000C-392C-24F472C615E4}"/>
              </a:ext>
            </a:extLst>
          </p:cNvPr>
          <p:cNvSpPr>
            <a:spLocks noGrp="1"/>
          </p:cNvSpPr>
          <p:nvPr>
            <p:ph idx="1"/>
          </p:nvPr>
        </p:nvSpPr>
        <p:spPr/>
        <p:txBody>
          <a:bodyPr/>
          <a:lstStyle/>
          <a:p>
            <a:pPr algn="just">
              <a:lnSpc>
                <a:spcPct val="150000"/>
              </a:lnSpc>
            </a:pPr>
            <a:r>
              <a:rPr lang="en-US" dirty="0"/>
              <a:t>a widely used standard for securing email messages through encryption and digital signatures.</a:t>
            </a:r>
          </a:p>
          <a:p>
            <a:pPr algn="just">
              <a:lnSpc>
                <a:spcPct val="150000"/>
              </a:lnSpc>
            </a:pPr>
            <a:r>
              <a:rPr lang="en-US" dirty="0"/>
              <a:t>It provides end-to-end security for email communications, ensuring the confidentiality, integrity, and authenticity of the messages.</a:t>
            </a:r>
          </a:p>
        </p:txBody>
      </p:sp>
    </p:spTree>
    <p:extLst>
      <p:ext uri="{BB962C8B-B14F-4D97-AF65-F5344CB8AC3E}">
        <p14:creationId xmlns:p14="http://schemas.microsoft.com/office/powerpoint/2010/main" val="1632655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E5BA2-5FE0-8D2B-1336-53FAB455DE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DA8C1DF-0F06-0190-D5A4-E460E786A7EB}"/>
              </a:ext>
            </a:extLst>
          </p:cNvPr>
          <p:cNvSpPr>
            <a:spLocks noGrp="1"/>
          </p:cNvSpPr>
          <p:nvPr>
            <p:ph idx="1"/>
          </p:nvPr>
        </p:nvSpPr>
        <p:spPr/>
        <p:txBody>
          <a:bodyPr/>
          <a:lstStyle/>
          <a:p>
            <a:endParaRPr lang="en-US"/>
          </a:p>
        </p:txBody>
      </p:sp>
      <p:pic>
        <p:nvPicPr>
          <p:cNvPr id="1026" name="Picture 2" descr="What is Email Security? – Definition &amp; Best Practices | Sender">
            <a:extLst>
              <a:ext uri="{FF2B5EF4-FFF2-40B4-BE49-F238E27FC236}">
                <a16:creationId xmlns:a16="http://schemas.microsoft.com/office/drawing/2014/main" id="{A8A287FB-BE82-3A0A-8296-8CFDDDDF65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3303" y="0"/>
            <a:ext cx="7315200" cy="6200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054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9AB64-2AD3-8163-BD23-B0B9A317DB81}"/>
              </a:ext>
            </a:extLst>
          </p:cNvPr>
          <p:cNvSpPr>
            <a:spLocks noGrp="1"/>
          </p:cNvSpPr>
          <p:nvPr>
            <p:ph type="title"/>
          </p:nvPr>
        </p:nvSpPr>
        <p:spPr>
          <a:xfrm>
            <a:off x="0" y="0"/>
            <a:ext cx="12047620" cy="1325563"/>
          </a:xfrm>
        </p:spPr>
        <p:txBody>
          <a:bodyPr>
            <a:normAutofit/>
          </a:bodyPr>
          <a:lstStyle/>
          <a:p>
            <a:r>
              <a:rPr lang="en-US" sz="4000" b="1" dirty="0"/>
              <a:t>S/MIME : Secure/Multipurpose Internet Mail Extensions</a:t>
            </a:r>
          </a:p>
        </p:txBody>
      </p:sp>
      <p:sp>
        <p:nvSpPr>
          <p:cNvPr id="3" name="Content Placeholder 2">
            <a:extLst>
              <a:ext uri="{FF2B5EF4-FFF2-40B4-BE49-F238E27FC236}">
                <a16:creationId xmlns:a16="http://schemas.microsoft.com/office/drawing/2014/main" id="{840401E4-9F8A-000C-392C-24F472C615E4}"/>
              </a:ext>
            </a:extLst>
          </p:cNvPr>
          <p:cNvSpPr>
            <a:spLocks noGrp="1"/>
          </p:cNvSpPr>
          <p:nvPr>
            <p:ph idx="1"/>
          </p:nvPr>
        </p:nvSpPr>
        <p:spPr>
          <a:xfrm>
            <a:off x="645952" y="1070615"/>
            <a:ext cx="10783349" cy="5019791"/>
          </a:xfrm>
        </p:spPr>
        <p:txBody>
          <a:bodyPr>
            <a:noAutofit/>
          </a:bodyPr>
          <a:lstStyle/>
          <a:p>
            <a:pPr marL="0" indent="0" algn="just">
              <a:lnSpc>
                <a:spcPct val="150000"/>
              </a:lnSpc>
              <a:buNone/>
            </a:pPr>
            <a:r>
              <a:rPr lang="en-US" sz="1600" dirty="0"/>
              <a:t>Here’s an overview of S/MIME in email security:</a:t>
            </a:r>
          </a:p>
          <a:p>
            <a:pPr marL="514350" indent="-514350" algn="just">
              <a:lnSpc>
                <a:spcPct val="150000"/>
              </a:lnSpc>
              <a:buAutoNum type="arabicPeriod"/>
            </a:pPr>
            <a:r>
              <a:rPr lang="en-US" sz="1600" b="1" dirty="0"/>
              <a:t>Encryption :</a:t>
            </a:r>
            <a:r>
              <a:rPr lang="en-US" sz="1600" dirty="0"/>
              <a:t> S/MIME uses public-key cryptography to encrypt email messages, preventing unauthorized access to the content. Each user has a unique pair of cryptographic keys: a public key for encryption and a private key for decryption. When sending an S/MIME encrypted email, the sender uses the recipient's public key to encrypt the message. Only the recipient, with their corresponding private key, can decrypt and read the message.</a:t>
            </a:r>
          </a:p>
          <a:p>
            <a:pPr marL="514350" indent="-514350" algn="just">
              <a:lnSpc>
                <a:spcPct val="150000"/>
              </a:lnSpc>
              <a:buAutoNum type="arabicPeriod"/>
            </a:pPr>
            <a:r>
              <a:rPr lang="en-US" sz="1600" b="1" dirty="0"/>
              <a:t>Digital Signatures: </a:t>
            </a:r>
            <a:r>
              <a:rPr lang="en-US" sz="1600" dirty="0"/>
              <a:t>S/MIME enables the use of digital signatures to verify the authenticity and integrity of email messages. The sender signs the email with their private key, and the recipient can verify the signature using the sender's public key.</a:t>
            </a:r>
          </a:p>
          <a:p>
            <a:pPr marL="514350" indent="-514350" algn="just">
              <a:lnSpc>
                <a:spcPct val="150000"/>
              </a:lnSpc>
              <a:buAutoNum type="arabicPeriod"/>
            </a:pPr>
            <a:r>
              <a:rPr lang="en-US" sz="1600" b="1" dirty="0"/>
              <a:t>Authentication and Identity: </a:t>
            </a:r>
            <a:r>
              <a:rPr lang="en-US" sz="1600" dirty="0"/>
              <a:t>S/MIME allows users to verify each other's identities using digital certificates. Digital certificates, issued by trusted Certificate Authorities (CAs), bind an individual's or organization's identity to their public key. S/MIME is supported by most popular email clients and servers, making it widely compatible across different platforms and environments. This allows users to exchange secure email messages regardless of the email software they use, as long as it supports S/MIME.</a:t>
            </a:r>
          </a:p>
          <a:p>
            <a:pPr marL="514350" indent="-514350" algn="just">
              <a:lnSpc>
                <a:spcPct val="150000"/>
              </a:lnSpc>
              <a:buAutoNum type="arabicPeriod"/>
            </a:pPr>
            <a:r>
              <a:rPr lang="en-US" sz="1600" b="1" dirty="0"/>
              <a:t>Interoperability :  </a:t>
            </a:r>
            <a:r>
              <a:rPr lang="en-US" sz="1600" dirty="0"/>
              <a:t>S/MIME is supported by most popular email clients and servers, making it widely compatible across different platforms and environments.</a:t>
            </a:r>
          </a:p>
          <a:p>
            <a:pPr marL="514350" indent="-514350" algn="just">
              <a:lnSpc>
                <a:spcPct val="150000"/>
              </a:lnSpc>
              <a:buFont typeface="Arial" panose="020B0604020202020204" pitchFamily="34" charset="0"/>
              <a:buAutoNum type="arabicPeriod"/>
            </a:pPr>
            <a:endParaRPr lang="en-US" sz="1600" b="1" dirty="0"/>
          </a:p>
        </p:txBody>
      </p:sp>
    </p:spTree>
    <p:extLst>
      <p:ext uri="{BB962C8B-B14F-4D97-AF65-F5344CB8AC3E}">
        <p14:creationId xmlns:p14="http://schemas.microsoft.com/office/powerpoint/2010/main" val="263625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06248-5629-FEC4-866E-82A5EA0D1B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BFE386-6D3D-C373-243D-0CE04F8D7E1B}"/>
              </a:ext>
            </a:extLst>
          </p:cNvPr>
          <p:cNvSpPr>
            <a:spLocks noGrp="1"/>
          </p:cNvSpPr>
          <p:nvPr>
            <p:ph idx="1"/>
          </p:nvPr>
        </p:nvSpPr>
        <p:spPr/>
        <p:txBody>
          <a:bodyPr>
            <a:normAutofit fontScale="70000" lnSpcReduction="20000"/>
          </a:bodyPr>
          <a:lstStyle/>
          <a:p>
            <a:pPr marL="0" indent="0" algn="just">
              <a:lnSpc>
                <a:spcPct val="150000"/>
              </a:lnSpc>
              <a:buNone/>
            </a:pPr>
            <a:r>
              <a:rPr lang="en-US" b="1" dirty="0"/>
              <a:t>7. Secure Attachments : </a:t>
            </a:r>
            <a:r>
              <a:rPr lang="en-US" dirty="0"/>
              <a:t>S/MIME not only secures the email body but also provides encryption and integrity protection for attachments.</a:t>
            </a:r>
          </a:p>
          <a:p>
            <a:pPr marL="0" indent="0" algn="just">
              <a:lnSpc>
                <a:spcPct val="150000"/>
              </a:lnSpc>
              <a:buNone/>
            </a:pPr>
            <a:r>
              <a:rPr lang="en-US" b="1" dirty="0"/>
              <a:t>8. Message Integrity : </a:t>
            </a:r>
            <a:r>
              <a:rPr lang="en-US" dirty="0"/>
              <a:t>S/MIME protects the integrity of email messages by using digital signatures.</a:t>
            </a:r>
            <a:endParaRPr lang="en-US" b="1" dirty="0"/>
          </a:p>
          <a:p>
            <a:pPr marL="0" indent="0" algn="just">
              <a:lnSpc>
                <a:spcPct val="150000"/>
              </a:lnSpc>
              <a:buNone/>
            </a:pPr>
            <a:r>
              <a:rPr lang="en-US" b="1" dirty="0"/>
              <a:t>9. Trust Model : </a:t>
            </a:r>
            <a:r>
              <a:rPr lang="en-US" dirty="0"/>
              <a:t>S/MIME relies on a trust model based on trusted Certificate Authorities (CAs). </a:t>
            </a:r>
            <a:endParaRPr lang="en-US" b="1" dirty="0"/>
          </a:p>
          <a:p>
            <a:pPr marL="0" indent="0" algn="just">
              <a:lnSpc>
                <a:spcPct val="150000"/>
              </a:lnSpc>
              <a:buNone/>
            </a:pPr>
            <a:r>
              <a:rPr lang="en-US" b="1" dirty="0"/>
              <a:t>10. Key Management : </a:t>
            </a:r>
            <a:r>
              <a:rPr lang="en-US" dirty="0"/>
              <a:t>S/MIME requires the secure management of cryptographic keys. Users must keep their private keys secure and protected with a strong passphrase. Public keys are typically distributed through digital certificates</a:t>
            </a:r>
          </a:p>
        </p:txBody>
      </p:sp>
    </p:spTree>
    <p:extLst>
      <p:ext uri="{BB962C8B-B14F-4D97-AF65-F5344CB8AC3E}">
        <p14:creationId xmlns:p14="http://schemas.microsoft.com/office/powerpoint/2010/main" val="4160971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02420-A8AD-228F-8AA6-875698D352A5}"/>
              </a:ext>
            </a:extLst>
          </p:cNvPr>
          <p:cNvSpPr>
            <a:spLocks noGrp="1"/>
          </p:cNvSpPr>
          <p:nvPr>
            <p:ph type="title"/>
          </p:nvPr>
        </p:nvSpPr>
        <p:spPr/>
        <p:txBody>
          <a:bodyPr/>
          <a:lstStyle/>
          <a:p>
            <a:r>
              <a:rPr lang="en-US" b="1" dirty="0"/>
              <a:t>Pretty Good Privacy (PGP)</a:t>
            </a:r>
          </a:p>
        </p:txBody>
      </p:sp>
      <p:sp>
        <p:nvSpPr>
          <p:cNvPr id="3" name="Content Placeholder 2">
            <a:extLst>
              <a:ext uri="{FF2B5EF4-FFF2-40B4-BE49-F238E27FC236}">
                <a16:creationId xmlns:a16="http://schemas.microsoft.com/office/drawing/2014/main" id="{7035688C-04F3-8E2B-9EC1-9DE87BD8BD42}"/>
              </a:ext>
            </a:extLst>
          </p:cNvPr>
          <p:cNvSpPr>
            <a:spLocks noGrp="1"/>
          </p:cNvSpPr>
          <p:nvPr>
            <p:ph idx="1"/>
          </p:nvPr>
        </p:nvSpPr>
        <p:spPr/>
        <p:txBody>
          <a:bodyPr/>
          <a:lstStyle/>
          <a:p>
            <a:pPr algn="just">
              <a:lnSpc>
                <a:spcPct val="100000"/>
              </a:lnSpc>
            </a:pPr>
            <a:r>
              <a:rPr lang="en-US" dirty="0"/>
              <a:t>a widely used encryption and digital signing technology that provides secure email communication. </a:t>
            </a:r>
          </a:p>
          <a:p>
            <a:pPr algn="just">
              <a:lnSpc>
                <a:spcPct val="100000"/>
              </a:lnSpc>
            </a:pPr>
            <a:r>
              <a:rPr lang="en-US" dirty="0"/>
              <a:t>Developed by Phil Zimmermann in 1991, PGP has become a standard for securing email messages and other forms of electronic communication. </a:t>
            </a:r>
          </a:p>
          <a:p>
            <a:pPr algn="just">
              <a:lnSpc>
                <a:spcPct val="100000"/>
              </a:lnSpc>
            </a:pPr>
            <a:r>
              <a:rPr lang="en-US" dirty="0"/>
              <a:t>PGP is an open-source software package that is designed for email security. Phil Zimmerman developed it. It provides the basic or fundamental needs of cryptography. </a:t>
            </a:r>
          </a:p>
        </p:txBody>
      </p:sp>
    </p:spTree>
    <p:extLst>
      <p:ext uri="{BB962C8B-B14F-4D97-AF65-F5344CB8AC3E}">
        <p14:creationId xmlns:p14="http://schemas.microsoft.com/office/powerpoint/2010/main" val="2053814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951B1-4BD4-482D-EAB3-E297D338D4FF}"/>
              </a:ext>
            </a:extLst>
          </p:cNvPr>
          <p:cNvSpPr>
            <a:spLocks noGrp="1"/>
          </p:cNvSpPr>
          <p:nvPr>
            <p:ph type="title"/>
          </p:nvPr>
        </p:nvSpPr>
        <p:spPr/>
        <p:txBody>
          <a:bodyPr/>
          <a:lstStyle/>
          <a:p>
            <a:r>
              <a:rPr lang="en-US" b="1" dirty="0"/>
              <a:t>Overview of PGP in email security</a:t>
            </a:r>
          </a:p>
        </p:txBody>
      </p:sp>
      <p:sp>
        <p:nvSpPr>
          <p:cNvPr id="3" name="Content Placeholder 2">
            <a:extLst>
              <a:ext uri="{FF2B5EF4-FFF2-40B4-BE49-F238E27FC236}">
                <a16:creationId xmlns:a16="http://schemas.microsoft.com/office/drawing/2014/main" id="{8B160D85-C660-CA0D-BFE6-BC8985D46533}"/>
              </a:ext>
            </a:extLst>
          </p:cNvPr>
          <p:cNvSpPr>
            <a:spLocks noGrp="1"/>
          </p:cNvSpPr>
          <p:nvPr>
            <p:ph idx="1"/>
          </p:nvPr>
        </p:nvSpPr>
        <p:spPr>
          <a:xfrm>
            <a:off x="838200" y="1599122"/>
            <a:ext cx="10515600" cy="4351338"/>
          </a:xfrm>
        </p:spPr>
        <p:txBody>
          <a:bodyPr>
            <a:normAutofit fontScale="77500" lnSpcReduction="20000"/>
          </a:bodyPr>
          <a:lstStyle/>
          <a:p>
            <a:pPr marL="514350" indent="-514350" algn="just">
              <a:lnSpc>
                <a:spcPct val="110000"/>
              </a:lnSpc>
              <a:buAutoNum type="arabicPeriod"/>
            </a:pPr>
            <a:r>
              <a:rPr lang="en-US" b="1" dirty="0"/>
              <a:t>Encryption </a:t>
            </a:r>
            <a:r>
              <a:rPr lang="en-US" dirty="0"/>
              <a:t>: PGP uses a hybrid encryption scheme that combines symmetric and asymmetric encryption. When sending an email, PGP generates a random symmetric encryption key for that specific message, encrypts the message using that key, and then encrypts the symmetric key using the recipient's public key. The encrypted message and encrypted symmetric key are sent together. </a:t>
            </a:r>
          </a:p>
          <a:p>
            <a:pPr marL="514350" indent="-514350" algn="just">
              <a:lnSpc>
                <a:spcPct val="110000"/>
              </a:lnSpc>
              <a:buAutoNum type="arabicPeriod"/>
            </a:pPr>
            <a:r>
              <a:rPr lang="en-US" b="1" dirty="0"/>
              <a:t>Digital Signatures: </a:t>
            </a:r>
            <a:r>
              <a:rPr lang="en-US" dirty="0"/>
              <a:t>PGP allows users to digitally sign their emails to provide authenticity and integrity.</a:t>
            </a:r>
            <a:endParaRPr lang="en-US" b="1" dirty="0"/>
          </a:p>
          <a:p>
            <a:pPr marL="514350" indent="-514350" algn="just">
              <a:lnSpc>
                <a:spcPct val="110000"/>
              </a:lnSpc>
              <a:buAutoNum type="arabicPeriod"/>
            </a:pPr>
            <a:r>
              <a:rPr lang="en-US" b="1" dirty="0"/>
              <a:t>Web of Trust: </a:t>
            </a:r>
            <a:r>
              <a:rPr lang="en-US" dirty="0"/>
              <a:t>PGP operates on a decentralized trust model called the Web of Trust. Instead of relying on a central authority, individuals sign each other's public keys to establish trust.</a:t>
            </a:r>
            <a:endParaRPr lang="en-US" b="1" dirty="0"/>
          </a:p>
          <a:p>
            <a:pPr marL="514350" indent="-514350" algn="just">
              <a:lnSpc>
                <a:spcPct val="110000"/>
              </a:lnSpc>
              <a:buAutoNum type="arabicPeriod"/>
            </a:pPr>
            <a:r>
              <a:rPr lang="en-US" b="1" dirty="0"/>
              <a:t>Key Management: </a:t>
            </a:r>
            <a:r>
              <a:rPr lang="en-US" dirty="0"/>
              <a:t>PGP requires the management of public and private keys. Users generate their own key pairs consisting of a public key and a private key. </a:t>
            </a:r>
            <a:endParaRPr lang="en-US" b="1" dirty="0"/>
          </a:p>
        </p:txBody>
      </p:sp>
    </p:spTree>
    <p:extLst>
      <p:ext uri="{BB962C8B-B14F-4D97-AF65-F5344CB8AC3E}">
        <p14:creationId xmlns:p14="http://schemas.microsoft.com/office/powerpoint/2010/main" val="4034778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AE050-D4C1-A1CB-BD96-0A4AF623266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DFE3782-B841-7438-3C61-4E7B4210E224}"/>
              </a:ext>
            </a:extLst>
          </p:cNvPr>
          <p:cNvSpPr>
            <a:spLocks noGrp="1"/>
          </p:cNvSpPr>
          <p:nvPr>
            <p:ph idx="1"/>
          </p:nvPr>
        </p:nvSpPr>
        <p:spPr>
          <a:xfrm>
            <a:off x="838200" y="1253331"/>
            <a:ext cx="10515600" cy="4351338"/>
          </a:xfrm>
        </p:spPr>
        <p:txBody>
          <a:bodyPr>
            <a:normAutofit fontScale="92500" lnSpcReduction="20000"/>
          </a:bodyPr>
          <a:lstStyle/>
          <a:p>
            <a:pPr marL="0" indent="0" algn="just">
              <a:lnSpc>
                <a:spcPct val="110000"/>
              </a:lnSpc>
              <a:buNone/>
            </a:pPr>
            <a:r>
              <a:rPr lang="en-US" b="1" dirty="0"/>
              <a:t>5. Compatibility: </a:t>
            </a:r>
            <a:r>
              <a:rPr lang="en-US" dirty="0"/>
              <a:t>PGP is compatible with various email clients and platforms through plugins or standalone applications. It can be used with popular email clients like Thunderbird, Microsoft Outlook, and Apple Mail, as well as with web-based email services.</a:t>
            </a:r>
            <a:endParaRPr lang="en-US" b="1" dirty="0"/>
          </a:p>
          <a:p>
            <a:pPr marL="0" indent="0" algn="just">
              <a:lnSpc>
                <a:spcPct val="110000"/>
              </a:lnSpc>
              <a:buNone/>
            </a:pPr>
            <a:r>
              <a:rPr lang="en-US" b="1" dirty="0"/>
              <a:t>6. Additional Features: </a:t>
            </a:r>
            <a:r>
              <a:rPr lang="en-US" dirty="0"/>
              <a:t>PGP provides additional features such as key revocation, which allows users to invalidate compromised or lost private keys, and key servers, where users can upload and distribute their public keys for others to access.</a:t>
            </a:r>
            <a:endParaRPr lang="en-US" b="1" dirty="0"/>
          </a:p>
          <a:p>
            <a:pPr marL="0" indent="0" algn="just">
              <a:lnSpc>
                <a:spcPct val="110000"/>
              </a:lnSpc>
              <a:buNone/>
            </a:pPr>
            <a:r>
              <a:rPr lang="en-US" b="1" dirty="0"/>
              <a:t>7. OpenPGP Standard: </a:t>
            </a:r>
            <a:r>
              <a:rPr lang="en-US" dirty="0"/>
              <a:t>PGP's functionality is defined by the OpenPGP standard, which is an open standard managed by the Internet Engineering Task Force (IETF). </a:t>
            </a:r>
            <a:endParaRPr lang="en-US" b="1" dirty="0"/>
          </a:p>
          <a:p>
            <a:pPr marL="0" indent="0">
              <a:lnSpc>
                <a:spcPct val="110000"/>
              </a:lnSpc>
              <a:buNone/>
            </a:pPr>
            <a:endParaRPr lang="en-US" dirty="0"/>
          </a:p>
        </p:txBody>
      </p:sp>
    </p:spTree>
    <p:extLst>
      <p:ext uri="{BB962C8B-B14F-4D97-AF65-F5344CB8AC3E}">
        <p14:creationId xmlns:p14="http://schemas.microsoft.com/office/powerpoint/2010/main" val="3716618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6F11A-D031-2EE6-3336-D15E0855EAF8}"/>
              </a:ext>
            </a:extLst>
          </p:cNvPr>
          <p:cNvSpPr>
            <a:spLocks noGrp="1"/>
          </p:cNvSpPr>
          <p:nvPr>
            <p:ph type="title"/>
          </p:nvPr>
        </p:nvSpPr>
        <p:spPr>
          <a:xfrm>
            <a:off x="1173804" y="243866"/>
            <a:ext cx="10515600" cy="627096"/>
          </a:xfrm>
        </p:spPr>
        <p:txBody>
          <a:bodyPr>
            <a:normAutofit fontScale="90000"/>
          </a:bodyPr>
          <a:lstStyle/>
          <a:p>
            <a:r>
              <a:rPr lang="en-US" b="1" dirty="0"/>
              <a:t>Difference between PGP and S/MIME</a:t>
            </a:r>
          </a:p>
        </p:txBody>
      </p:sp>
      <p:graphicFrame>
        <p:nvGraphicFramePr>
          <p:cNvPr id="4" name="Content Placeholder 3">
            <a:extLst>
              <a:ext uri="{FF2B5EF4-FFF2-40B4-BE49-F238E27FC236}">
                <a16:creationId xmlns:a16="http://schemas.microsoft.com/office/drawing/2014/main" id="{B5D0D8AF-E122-222B-DACA-669BA13390DD}"/>
              </a:ext>
            </a:extLst>
          </p:cNvPr>
          <p:cNvGraphicFramePr>
            <a:graphicFrameLocks noGrp="1"/>
          </p:cNvGraphicFramePr>
          <p:nvPr>
            <p:ph idx="1"/>
            <p:extLst>
              <p:ext uri="{D42A27DB-BD31-4B8C-83A1-F6EECF244321}">
                <p14:modId xmlns:p14="http://schemas.microsoft.com/office/powerpoint/2010/main" val="71184487"/>
              </p:ext>
            </p:extLst>
          </p:nvPr>
        </p:nvGraphicFramePr>
        <p:xfrm>
          <a:off x="502596" y="870962"/>
          <a:ext cx="11442970" cy="5743172"/>
        </p:xfrm>
        <a:graphic>
          <a:graphicData uri="http://schemas.openxmlformats.org/drawingml/2006/table">
            <a:tbl>
              <a:tblPr firstRow="1" bandRow="1">
                <a:tableStyleId>{5C22544A-7EE6-4342-B048-85BDC9FD1C3A}</a:tableStyleId>
              </a:tblPr>
              <a:tblGrid>
                <a:gridCol w="948605">
                  <a:extLst>
                    <a:ext uri="{9D8B030D-6E8A-4147-A177-3AD203B41FA5}">
                      <a16:colId xmlns:a16="http://schemas.microsoft.com/office/drawing/2014/main" val="1632565254"/>
                    </a:ext>
                  </a:extLst>
                </a:gridCol>
                <a:gridCol w="5190796">
                  <a:extLst>
                    <a:ext uri="{9D8B030D-6E8A-4147-A177-3AD203B41FA5}">
                      <a16:colId xmlns:a16="http://schemas.microsoft.com/office/drawing/2014/main" val="4175646885"/>
                    </a:ext>
                  </a:extLst>
                </a:gridCol>
                <a:gridCol w="5303569">
                  <a:extLst>
                    <a:ext uri="{9D8B030D-6E8A-4147-A177-3AD203B41FA5}">
                      <a16:colId xmlns:a16="http://schemas.microsoft.com/office/drawing/2014/main" val="807531057"/>
                    </a:ext>
                  </a:extLst>
                </a:gridCol>
              </a:tblGrid>
              <a:tr h="588913">
                <a:tc>
                  <a:txBody>
                    <a:bodyPr/>
                    <a:lstStyle/>
                    <a:p>
                      <a:pPr algn="ctr" fontAlgn="base"/>
                      <a:r>
                        <a:rPr lang="en-US" sz="1400" b="1" dirty="0">
                          <a:effectLst/>
                        </a:rPr>
                        <a:t>S.NO</a:t>
                      </a:r>
                    </a:p>
                  </a:txBody>
                  <a:tcPr marL="38100" marR="38100" marT="76200" marB="76200" anchor="ctr"/>
                </a:tc>
                <a:tc>
                  <a:txBody>
                    <a:bodyPr/>
                    <a:lstStyle/>
                    <a:p>
                      <a:pPr algn="ctr" fontAlgn="base"/>
                      <a:r>
                        <a:rPr lang="en-US" sz="1400" b="1" dirty="0">
                          <a:effectLst/>
                        </a:rPr>
                        <a:t>PGP</a:t>
                      </a:r>
                    </a:p>
                  </a:txBody>
                  <a:tcPr marL="76200" marR="76200" marT="76200" marB="76200" anchor="ctr"/>
                </a:tc>
                <a:tc>
                  <a:txBody>
                    <a:bodyPr/>
                    <a:lstStyle/>
                    <a:p>
                      <a:pPr algn="ctr" fontAlgn="base"/>
                      <a:r>
                        <a:rPr lang="en-US" sz="1400" b="1">
                          <a:effectLst/>
                        </a:rPr>
                        <a:t>S/MIME</a:t>
                      </a:r>
                    </a:p>
                  </a:txBody>
                  <a:tcPr marL="76200" marR="76200" marT="76200" marB="76200" anchor="ctr"/>
                </a:tc>
                <a:extLst>
                  <a:ext uri="{0D108BD9-81ED-4DB2-BD59-A6C34878D82A}">
                    <a16:rowId xmlns:a16="http://schemas.microsoft.com/office/drawing/2014/main" val="1763479092"/>
                  </a:ext>
                </a:extLst>
              </a:tr>
              <a:tr h="677504">
                <a:tc>
                  <a:txBody>
                    <a:bodyPr/>
                    <a:lstStyle/>
                    <a:p>
                      <a:pPr algn="ctr" fontAlgn="ctr"/>
                      <a:r>
                        <a:rPr lang="en-US" sz="1250" b="0">
                          <a:effectLst/>
                        </a:rPr>
                        <a:t>1.</a:t>
                      </a:r>
                    </a:p>
                  </a:txBody>
                  <a:tcPr marL="76200" marR="76200" marT="106680" marB="106680" anchor="ctr"/>
                </a:tc>
                <a:tc>
                  <a:txBody>
                    <a:bodyPr/>
                    <a:lstStyle/>
                    <a:p>
                      <a:pPr algn="ctr" fontAlgn="ctr"/>
                      <a:r>
                        <a:rPr lang="en-US" sz="1250" b="0" dirty="0">
                          <a:effectLst/>
                        </a:rPr>
                        <a:t>It is designed for processing plain texts</a:t>
                      </a:r>
                    </a:p>
                  </a:txBody>
                  <a:tcPr marL="76200" marR="76200" marT="106680" marB="106680" anchor="ctr"/>
                </a:tc>
                <a:tc>
                  <a:txBody>
                    <a:bodyPr/>
                    <a:lstStyle/>
                    <a:p>
                      <a:pPr algn="ctr" fontAlgn="ctr"/>
                      <a:r>
                        <a:rPr lang="en-US" sz="1250" b="0">
                          <a:effectLst/>
                        </a:rPr>
                        <a:t>While it is designed to process email as well as many multimedia files.</a:t>
                      </a:r>
                    </a:p>
                  </a:txBody>
                  <a:tcPr marL="76200" marR="76200" marT="106680" marB="106680" anchor="ctr"/>
                </a:tc>
                <a:extLst>
                  <a:ext uri="{0D108BD9-81ED-4DB2-BD59-A6C34878D82A}">
                    <a16:rowId xmlns:a16="http://schemas.microsoft.com/office/drawing/2014/main" val="3130356654"/>
                  </a:ext>
                </a:extLst>
              </a:tr>
              <a:tr h="588913">
                <a:tc>
                  <a:txBody>
                    <a:bodyPr/>
                    <a:lstStyle/>
                    <a:p>
                      <a:pPr algn="ctr" fontAlgn="ctr"/>
                      <a:r>
                        <a:rPr lang="en-US" sz="1250" b="0">
                          <a:effectLst/>
                        </a:rPr>
                        <a:t>3.</a:t>
                      </a:r>
                    </a:p>
                  </a:txBody>
                  <a:tcPr marL="76200" marR="76200" marT="106680" marB="106680" anchor="ctr"/>
                </a:tc>
                <a:tc>
                  <a:txBody>
                    <a:bodyPr/>
                    <a:lstStyle/>
                    <a:p>
                      <a:pPr algn="ctr" fontAlgn="ctr"/>
                      <a:r>
                        <a:rPr lang="en-US" sz="1250" b="0">
                          <a:effectLst/>
                        </a:rPr>
                        <a:t>PGP is good for personal as well as office use.</a:t>
                      </a:r>
                    </a:p>
                  </a:txBody>
                  <a:tcPr marL="76200" marR="76200" marT="106680" marB="106680" anchor="ctr"/>
                </a:tc>
                <a:tc>
                  <a:txBody>
                    <a:bodyPr/>
                    <a:lstStyle/>
                    <a:p>
                      <a:pPr algn="ctr" fontAlgn="ctr"/>
                      <a:r>
                        <a:rPr lang="en-US" sz="1250" b="0" dirty="0">
                          <a:effectLst/>
                        </a:rPr>
                        <a:t>While it is good for industrial use.</a:t>
                      </a:r>
                    </a:p>
                  </a:txBody>
                  <a:tcPr marL="76200" marR="76200" marT="106680" marB="106680" anchor="ctr"/>
                </a:tc>
                <a:extLst>
                  <a:ext uri="{0D108BD9-81ED-4DB2-BD59-A6C34878D82A}">
                    <a16:rowId xmlns:a16="http://schemas.microsoft.com/office/drawing/2014/main" val="1531577389"/>
                  </a:ext>
                </a:extLst>
              </a:tr>
              <a:tr h="677504">
                <a:tc>
                  <a:txBody>
                    <a:bodyPr/>
                    <a:lstStyle/>
                    <a:p>
                      <a:pPr algn="ctr" fontAlgn="ctr"/>
                      <a:r>
                        <a:rPr lang="en-US" sz="1250" b="0">
                          <a:effectLst/>
                        </a:rPr>
                        <a:t>5.</a:t>
                      </a:r>
                    </a:p>
                  </a:txBody>
                  <a:tcPr marL="76200" marR="76200" marT="106680" marB="106680" anchor="ctr"/>
                </a:tc>
                <a:tc>
                  <a:txBody>
                    <a:bodyPr/>
                    <a:lstStyle/>
                    <a:p>
                      <a:pPr algn="ctr" fontAlgn="ctr"/>
                      <a:r>
                        <a:rPr lang="en-US" sz="1250" b="0">
                          <a:effectLst/>
                        </a:rPr>
                        <a:t>It depends on user key exchange.</a:t>
                      </a:r>
                    </a:p>
                  </a:txBody>
                  <a:tcPr marL="76200" marR="76200" marT="106680" marB="106680" anchor="ctr"/>
                </a:tc>
                <a:tc>
                  <a:txBody>
                    <a:bodyPr/>
                    <a:lstStyle/>
                    <a:p>
                      <a:pPr algn="ctr" fontAlgn="ctr"/>
                      <a:r>
                        <a:rPr lang="en-US" sz="1250" b="0" dirty="0">
                          <a:effectLst/>
                        </a:rPr>
                        <a:t>Whereas it relies on a hierarchically valid certificate for key exchange.</a:t>
                      </a:r>
                    </a:p>
                  </a:txBody>
                  <a:tcPr marL="76200" marR="76200" marT="106680" marB="106680" anchor="ctr"/>
                </a:tc>
                <a:extLst>
                  <a:ext uri="{0D108BD9-81ED-4DB2-BD59-A6C34878D82A}">
                    <a16:rowId xmlns:a16="http://schemas.microsoft.com/office/drawing/2014/main" val="2347067772"/>
                  </a:ext>
                </a:extLst>
              </a:tr>
              <a:tr h="677504">
                <a:tc>
                  <a:txBody>
                    <a:bodyPr/>
                    <a:lstStyle/>
                    <a:p>
                      <a:pPr algn="ctr" fontAlgn="ctr"/>
                      <a:r>
                        <a:rPr lang="en-US" sz="1250" b="0">
                          <a:effectLst/>
                        </a:rPr>
                        <a:t>6.</a:t>
                      </a:r>
                    </a:p>
                  </a:txBody>
                  <a:tcPr marL="76200" marR="76200" marT="106680" marB="106680" anchor="ctr"/>
                </a:tc>
                <a:tc>
                  <a:txBody>
                    <a:bodyPr/>
                    <a:lstStyle/>
                    <a:p>
                      <a:pPr algn="ctr" fontAlgn="ctr"/>
                      <a:r>
                        <a:rPr lang="en-US" sz="1250" b="0">
                          <a:effectLst/>
                        </a:rPr>
                        <a:t>PGP is comparatively less convenient.</a:t>
                      </a:r>
                    </a:p>
                  </a:txBody>
                  <a:tcPr marL="76200" marR="76200" marT="106680" marB="106680" anchor="ctr"/>
                </a:tc>
                <a:tc>
                  <a:txBody>
                    <a:bodyPr/>
                    <a:lstStyle/>
                    <a:p>
                      <a:pPr algn="ctr" fontAlgn="ctr"/>
                      <a:r>
                        <a:rPr lang="en-US" sz="1250" b="0">
                          <a:effectLst/>
                        </a:rPr>
                        <a:t>While it is more convenient than PGP due to the secure transformation of all the applications.</a:t>
                      </a:r>
                    </a:p>
                  </a:txBody>
                  <a:tcPr marL="76200" marR="76200" marT="106680" marB="106680" anchor="ctr"/>
                </a:tc>
                <a:extLst>
                  <a:ext uri="{0D108BD9-81ED-4DB2-BD59-A6C34878D82A}">
                    <a16:rowId xmlns:a16="http://schemas.microsoft.com/office/drawing/2014/main" val="1813402894"/>
                  </a:ext>
                </a:extLst>
              </a:tr>
              <a:tr h="588913">
                <a:tc>
                  <a:txBody>
                    <a:bodyPr/>
                    <a:lstStyle/>
                    <a:p>
                      <a:pPr algn="ctr" fontAlgn="ctr"/>
                      <a:r>
                        <a:rPr lang="en-US" sz="1250" b="0">
                          <a:effectLst/>
                        </a:rPr>
                        <a:t>7.</a:t>
                      </a:r>
                    </a:p>
                  </a:txBody>
                  <a:tcPr marL="76200" marR="76200" marT="106680" marB="106680" anchor="ctr"/>
                </a:tc>
                <a:tc>
                  <a:txBody>
                    <a:bodyPr/>
                    <a:lstStyle/>
                    <a:p>
                      <a:pPr algn="ctr" fontAlgn="ctr"/>
                      <a:r>
                        <a:rPr lang="fr-FR" sz="1250" b="0">
                          <a:effectLst/>
                        </a:rPr>
                        <a:t>PGP contains 4096 public keys.</a:t>
                      </a:r>
                    </a:p>
                  </a:txBody>
                  <a:tcPr marL="76200" marR="76200" marT="106680" marB="106680" anchor="ctr"/>
                </a:tc>
                <a:tc>
                  <a:txBody>
                    <a:bodyPr/>
                    <a:lstStyle/>
                    <a:p>
                      <a:pPr algn="ctr" fontAlgn="ctr"/>
                      <a:r>
                        <a:rPr lang="en-US" sz="1250" b="0">
                          <a:effectLst/>
                        </a:rPr>
                        <a:t>While it contains only 1024 public keys.</a:t>
                      </a:r>
                    </a:p>
                  </a:txBody>
                  <a:tcPr marL="76200" marR="76200" marT="106680" marB="106680" anchor="ctr"/>
                </a:tc>
                <a:extLst>
                  <a:ext uri="{0D108BD9-81ED-4DB2-BD59-A6C34878D82A}">
                    <a16:rowId xmlns:a16="http://schemas.microsoft.com/office/drawing/2014/main" val="2989780755"/>
                  </a:ext>
                </a:extLst>
              </a:tr>
              <a:tr h="677504">
                <a:tc>
                  <a:txBody>
                    <a:bodyPr/>
                    <a:lstStyle/>
                    <a:p>
                      <a:pPr algn="ctr" fontAlgn="ctr"/>
                      <a:r>
                        <a:rPr lang="en-US" sz="1250" b="0">
                          <a:effectLst/>
                        </a:rPr>
                        <a:t>9.</a:t>
                      </a:r>
                    </a:p>
                  </a:txBody>
                  <a:tcPr marL="76200" marR="76200" marT="106680" marB="106680" anchor="ctr"/>
                </a:tc>
                <a:tc>
                  <a:txBody>
                    <a:bodyPr/>
                    <a:lstStyle/>
                    <a:p>
                      <a:pPr algn="ctr" fontAlgn="ctr"/>
                      <a:r>
                        <a:rPr lang="en-US" sz="1250" b="0">
                          <a:effectLst/>
                        </a:rPr>
                        <a:t>PGP is also be used in VPNs.</a:t>
                      </a:r>
                    </a:p>
                  </a:txBody>
                  <a:tcPr marL="76200" marR="76200" marT="106680" marB="106680" anchor="ctr"/>
                </a:tc>
                <a:tc>
                  <a:txBody>
                    <a:bodyPr/>
                    <a:lstStyle/>
                    <a:p>
                      <a:pPr algn="ctr" fontAlgn="ctr"/>
                      <a:r>
                        <a:rPr lang="en-US" sz="1250" b="0" dirty="0">
                          <a:effectLst/>
                        </a:rPr>
                        <a:t>While it is not used in VPNs, it is only used in email services.</a:t>
                      </a:r>
                    </a:p>
                  </a:txBody>
                  <a:tcPr marL="76200" marR="76200" marT="106680" marB="106680" anchor="ctr"/>
                </a:tc>
                <a:extLst>
                  <a:ext uri="{0D108BD9-81ED-4DB2-BD59-A6C34878D82A}">
                    <a16:rowId xmlns:a16="http://schemas.microsoft.com/office/drawing/2014/main" val="3735676873"/>
                  </a:ext>
                </a:extLst>
              </a:tr>
              <a:tr h="588913">
                <a:tc>
                  <a:txBody>
                    <a:bodyPr/>
                    <a:lstStyle/>
                    <a:p>
                      <a:pPr algn="ctr" fontAlgn="ctr"/>
                      <a:r>
                        <a:rPr lang="en-US" sz="1250" b="0">
                          <a:effectLst/>
                        </a:rPr>
                        <a:t>10.</a:t>
                      </a:r>
                    </a:p>
                  </a:txBody>
                  <a:tcPr marL="76200" marR="76200" marT="106680" marB="106680" anchor="ctr"/>
                </a:tc>
                <a:tc>
                  <a:txBody>
                    <a:bodyPr/>
                    <a:lstStyle/>
                    <a:p>
                      <a:pPr algn="ctr" fontAlgn="ctr"/>
                      <a:r>
                        <a:rPr lang="fr-FR" sz="1250" b="0">
                          <a:effectLst/>
                        </a:rPr>
                        <a:t>PGP uses </a:t>
                      </a:r>
                      <a:r>
                        <a:rPr lang="fr-FR" sz="1250" b="1">
                          <a:effectLst/>
                        </a:rPr>
                        <a:t>Diffie hellman digital signature</a:t>
                      </a:r>
                      <a:r>
                        <a:rPr lang="fr-FR" sz="1250" b="0">
                          <a:effectLst/>
                        </a:rPr>
                        <a:t>.</a:t>
                      </a:r>
                    </a:p>
                  </a:txBody>
                  <a:tcPr marL="76200" marR="76200" marT="106680" marB="106680" anchor="ctr"/>
                </a:tc>
                <a:tc>
                  <a:txBody>
                    <a:bodyPr/>
                    <a:lstStyle/>
                    <a:p>
                      <a:pPr algn="ctr" fontAlgn="ctr"/>
                      <a:r>
                        <a:rPr lang="en-US" sz="1250" b="0">
                          <a:effectLst/>
                        </a:rPr>
                        <a:t>While it uses </a:t>
                      </a:r>
                      <a:r>
                        <a:rPr lang="en-US" sz="1250" b="1">
                          <a:effectLst/>
                        </a:rPr>
                        <a:t>Elgamal digital signature</a:t>
                      </a:r>
                      <a:r>
                        <a:rPr lang="en-US" sz="1250" b="0">
                          <a:effectLst/>
                        </a:rPr>
                        <a:t>.</a:t>
                      </a:r>
                    </a:p>
                  </a:txBody>
                  <a:tcPr marL="76200" marR="76200" marT="106680" marB="106680" anchor="ctr"/>
                </a:tc>
                <a:extLst>
                  <a:ext uri="{0D108BD9-81ED-4DB2-BD59-A6C34878D82A}">
                    <a16:rowId xmlns:a16="http://schemas.microsoft.com/office/drawing/2014/main" val="2652195130"/>
                  </a:ext>
                </a:extLst>
              </a:tr>
              <a:tr h="677504">
                <a:tc>
                  <a:txBody>
                    <a:bodyPr/>
                    <a:lstStyle/>
                    <a:p>
                      <a:pPr algn="ctr" fontAlgn="ctr"/>
                      <a:r>
                        <a:rPr lang="en-US" sz="1250" b="0">
                          <a:effectLst/>
                        </a:rPr>
                        <a:t>12.</a:t>
                      </a:r>
                    </a:p>
                  </a:txBody>
                  <a:tcPr marL="76200" marR="76200" marT="106680" marB="106680" anchor="ctr"/>
                </a:tc>
                <a:tc>
                  <a:txBody>
                    <a:bodyPr/>
                    <a:lstStyle/>
                    <a:p>
                      <a:pPr algn="ctr" fontAlgn="ctr"/>
                      <a:r>
                        <a:rPr lang="en-US" sz="1250" b="0" dirty="0">
                          <a:effectLst/>
                        </a:rPr>
                        <a:t>PGP is used for   Securing text messages only.</a:t>
                      </a:r>
                    </a:p>
                  </a:txBody>
                  <a:tcPr marL="76200" marR="76200" marT="106680" marB="106680" anchor="ctr"/>
                </a:tc>
                <a:tc>
                  <a:txBody>
                    <a:bodyPr/>
                    <a:lstStyle/>
                    <a:p>
                      <a:pPr algn="ctr" fontAlgn="ctr"/>
                      <a:r>
                        <a:rPr lang="en-US" sz="1250" b="0" dirty="0">
                          <a:effectLst/>
                        </a:rPr>
                        <a:t>S/MIME is used for Securing Messages and attachments.</a:t>
                      </a:r>
                    </a:p>
                  </a:txBody>
                  <a:tcPr marL="76200" marR="76200" marT="106680" marB="106680" anchor="ctr"/>
                </a:tc>
                <a:extLst>
                  <a:ext uri="{0D108BD9-81ED-4DB2-BD59-A6C34878D82A}">
                    <a16:rowId xmlns:a16="http://schemas.microsoft.com/office/drawing/2014/main" val="1944688029"/>
                  </a:ext>
                </a:extLst>
              </a:tr>
            </a:tbl>
          </a:graphicData>
        </a:graphic>
      </p:graphicFrame>
    </p:spTree>
    <p:extLst>
      <p:ext uri="{BB962C8B-B14F-4D97-AF65-F5344CB8AC3E}">
        <p14:creationId xmlns:p14="http://schemas.microsoft.com/office/powerpoint/2010/main" val="2673698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2EAA2-B91C-513B-1B99-93282AE1A1A7}"/>
              </a:ext>
            </a:extLst>
          </p:cNvPr>
          <p:cNvSpPr>
            <a:spLocks noGrp="1"/>
          </p:cNvSpPr>
          <p:nvPr>
            <p:ph type="title"/>
          </p:nvPr>
        </p:nvSpPr>
        <p:spPr/>
        <p:txBody>
          <a:bodyPr/>
          <a:lstStyle/>
          <a:p>
            <a:r>
              <a:rPr lang="en-US" b="1" dirty="0"/>
              <a:t>7.3 SSL and TLS</a:t>
            </a:r>
          </a:p>
        </p:txBody>
      </p:sp>
      <p:sp>
        <p:nvSpPr>
          <p:cNvPr id="3" name="Content Placeholder 2">
            <a:extLst>
              <a:ext uri="{FF2B5EF4-FFF2-40B4-BE49-F238E27FC236}">
                <a16:creationId xmlns:a16="http://schemas.microsoft.com/office/drawing/2014/main" id="{6F9BB6EF-5A7C-6785-C572-7A93CC35ADF7}"/>
              </a:ext>
            </a:extLst>
          </p:cNvPr>
          <p:cNvSpPr>
            <a:spLocks noGrp="1"/>
          </p:cNvSpPr>
          <p:nvPr>
            <p:ph idx="1"/>
          </p:nvPr>
        </p:nvSpPr>
        <p:spPr/>
        <p:txBody>
          <a:bodyPr/>
          <a:lstStyle/>
          <a:p>
            <a:pPr algn="just">
              <a:lnSpc>
                <a:spcPct val="100000"/>
              </a:lnSpc>
            </a:pPr>
            <a:r>
              <a:rPr lang="en-US" dirty="0"/>
              <a:t>SSL (Secure Sockets Layer) and TLS (Transport Layer Security) are cryptographic protocols that provide secure communication over networks, particularly over the internet.</a:t>
            </a:r>
          </a:p>
          <a:p>
            <a:pPr algn="just">
              <a:lnSpc>
                <a:spcPct val="100000"/>
              </a:lnSpc>
            </a:pPr>
            <a:r>
              <a:rPr lang="en-US" dirty="0"/>
              <a:t>They establish an encrypted connection between a client (e.g., a web browser) and a server (e.g., a web server) to ensure the confidentiality and integrity of data transmitted between them. </a:t>
            </a:r>
          </a:p>
          <a:p>
            <a:pPr algn="just">
              <a:lnSpc>
                <a:spcPct val="100000"/>
              </a:lnSpc>
            </a:pPr>
            <a:r>
              <a:rPr lang="en-US" dirty="0"/>
              <a:t>While SSL was the predecessor, TLS is the newer and more widely adopted protocol.</a:t>
            </a:r>
          </a:p>
        </p:txBody>
      </p:sp>
    </p:spTree>
    <p:extLst>
      <p:ext uri="{BB962C8B-B14F-4D97-AF65-F5344CB8AC3E}">
        <p14:creationId xmlns:p14="http://schemas.microsoft.com/office/powerpoint/2010/main" val="3249581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FAEBD-CC6B-875D-A02B-DE3FF97ADDF9}"/>
              </a:ext>
            </a:extLst>
          </p:cNvPr>
          <p:cNvSpPr>
            <a:spLocks noGrp="1"/>
          </p:cNvSpPr>
          <p:nvPr>
            <p:ph type="title"/>
          </p:nvPr>
        </p:nvSpPr>
        <p:spPr/>
        <p:txBody>
          <a:bodyPr/>
          <a:lstStyle/>
          <a:p>
            <a:endParaRPr lang="en-US"/>
          </a:p>
        </p:txBody>
      </p:sp>
      <p:pic>
        <p:nvPicPr>
          <p:cNvPr id="5" name="Content Placeholder 4" descr="A picture containing text, screenshot, font, rectangle&#10;&#10;Description automatically generated">
            <a:extLst>
              <a:ext uri="{FF2B5EF4-FFF2-40B4-BE49-F238E27FC236}">
                <a16:creationId xmlns:a16="http://schemas.microsoft.com/office/drawing/2014/main" id="{469FCC73-A590-6058-9392-AA02257674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60390" y="1502632"/>
            <a:ext cx="6370521" cy="3414599"/>
          </a:xfrm>
        </p:spPr>
      </p:pic>
    </p:spTree>
    <p:extLst>
      <p:ext uri="{BB962C8B-B14F-4D97-AF65-F5344CB8AC3E}">
        <p14:creationId xmlns:p14="http://schemas.microsoft.com/office/powerpoint/2010/main" val="4200796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F0626-6623-EFA9-05C1-0A392A0D1304}"/>
              </a:ext>
            </a:extLst>
          </p:cNvPr>
          <p:cNvSpPr>
            <a:spLocks noGrp="1"/>
          </p:cNvSpPr>
          <p:nvPr>
            <p:ph type="title"/>
          </p:nvPr>
        </p:nvSpPr>
        <p:spPr>
          <a:xfrm>
            <a:off x="838200" y="0"/>
            <a:ext cx="10515600" cy="1325563"/>
          </a:xfrm>
        </p:spPr>
        <p:txBody>
          <a:bodyPr/>
          <a:lstStyle/>
          <a:p>
            <a:r>
              <a:rPr lang="en-US" b="1" dirty="0"/>
              <a:t>Overview of SSL and TLS:</a:t>
            </a:r>
          </a:p>
        </p:txBody>
      </p:sp>
      <p:sp>
        <p:nvSpPr>
          <p:cNvPr id="3" name="Content Placeholder 2">
            <a:extLst>
              <a:ext uri="{FF2B5EF4-FFF2-40B4-BE49-F238E27FC236}">
                <a16:creationId xmlns:a16="http://schemas.microsoft.com/office/drawing/2014/main" id="{2C1B1CBC-5953-6C49-B0A8-467B2635EBEC}"/>
              </a:ext>
            </a:extLst>
          </p:cNvPr>
          <p:cNvSpPr>
            <a:spLocks noGrp="1"/>
          </p:cNvSpPr>
          <p:nvPr>
            <p:ph idx="1"/>
          </p:nvPr>
        </p:nvSpPr>
        <p:spPr>
          <a:xfrm>
            <a:off x="838200" y="931486"/>
            <a:ext cx="10515600" cy="5679039"/>
          </a:xfrm>
        </p:spPr>
        <p:txBody>
          <a:bodyPr>
            <a:normAutofit fontScale="77500" lnSpcReduction="20000"/>
          </a:bodyPr>
          <a:lstStyle/>
          <a:p>
            <a:pPr marL="514350" indent="-514350" algn="just">
              <a:lnSpc>
                <a:spcPct val="120000"/>
              </a:lnSpc>
              <a:buAutoNum type="arabicPeriod"/>
            </a:pPr>
            <a:r>
              <a:rPr lang="en-US" b="1" dirty="0"/>
              <a:t>Encryption</a:t>
            </a:r>
            <a:r>
              <a:rPr lang="en-US" dirty="0"/>
              <a:t>: SSL and TLS use encryption algorithms to encrypt data transmitted between the client and server. This ensures that even if intercepted, the data remains secure and unreadable to unauthorized parties. Common encryption algorithms used in SSL/TLS include RSA (Rivest-Shamir-Adleman), AES (Advanced Encryption Standard), and 3DES (Triple Data Encryption Standard).</a:t>
            </a:r>
          </a:p>
          <a:p>
            <a:pPr marL="514350" indent="-514350" algn="just">
              <a:lnSpc>
                <a:spcPct val="120000"/>
              </a:lnSpc>
              <a:buAutoNum type="arabicPeriod"/>
            </a:pPr>
            <a:r>
              <a:rPr lang="en-US" b="1" dirty="0"/>
              <a:t>Handshake</a:t>
            </a:r>
            <a:r>
              <a:rPr lang="en-US" dirty="0"/>
              <a:t>: The SSL/TLS handshake process establishes a secure connection between the client and server. </a:t>
            </a:r>
          </a:p>
          <a:p>
            <a:pPr marL="514350" indent="-514350" algn="just">
              <a:lnSpc>
                <a:spcPct val="120000"/>
              </a:lnSpc>
              <a:buAutoNum type="arabicPeriod"/>
            </a:pPr>
            <a:r>
              <a:rPr lang="en-US" b="1" dirty="0"/>
              <a:t>Certificate-based Authentication </a:t>
            </a:r>
            <a:r>
              <a:rPr lang="en-US" dirty="0"/>
              <a:t>: SSL/TLS uses digital certificates to authenticate the identities of the server and, optionally, the client.</a:t>
            </a:r>
          </a:p>
          <a:p>
            <a:pPr marL="514350" indent="-514350" algn="just">
              <a:lnSpc>
                <a:spcPct val="120000"/>
              </a:lnSpc>
              <a:buAutoNum type="arabicPeriod"/>
            </a:pPr>
            <a:r>
              <a:rPr lang="en-US" b="1" dirty="0"/>
              <a:t>Versions: </a:t>
            </a:r>
            <a:r>
              <a:rPr lang="en-US" dirty="0"/>
              <a:t>SSL and TLS have evolved over time, with multiple versions released. SSL 1.0 and 2.0 are considered insecure and are no longer used. SSL 3.0 improved security but has known vulnerabilities and is also deprecated. TLS 1.0, TLS 1.1, TLS 1.2, and TLS 1.3 are the more recent and widely adopted versions. TLS 1.3 is the latest version and offers improved security, performance, and reduced latency.</a:t>
            </a:r>
          </a:p>
        </p:txBody>
      </p:sp>
    </p:spTree>
    <p:extLst>
      <p:ext uri="{BB962C8B-B14F-4D97-AF65-F5344CB8AC3E}">
        <p14:creationId xmlns:p14="http://schemas.microsoft.com/office/powerpoint/2010/main" val="28517299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62C7F-D167-B9EE-D568-A159B36F94F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565C04B-ABBB-BFF0-F160-973CE8D8C2BC}"/>
              </a:ext>
            </a:extLst>
          </p:cNvPr>
          <p:cNvSpPr>
            <a:spLocks noGrp="1"/>
          </p:cNvSpPr>
          <p:nvPr>
            <p:ph idx="1"/>
          </p:nvPr>
        </p:nvSpPr>
        <p:spPr>
          <a:xfrm>
            <a:off x="762699" y="1253331"/>
            <a:ext cx="10515600" cy="4351338"/>
          </a:xfrm>
        </p:spPr>
        <p:txBody>
          <a:bodyPr>
            <a:normAutofit fontScale="92500" lnSpcReduction="10000"/>
          </a:bodyPr>
          <a:lstStyle/>
          <a:p>
            <a:pPr marL="0" indent="0" algn="just">
              <a:lnSpc>
                <a:spcPct val="110000"/>
              </a:lnSpc>
              <a:buNone/>
            </a:pPr>
            <a:r>
              <a:rPr lang="en-US" b="1" dirty="0"/>
              <a:t>5. Usage:  </a:t>
            </a:r>
            <a:r>
              <a:rPr lang="en-US" dirty="0"/>
              <a:t>SSL/TLS is commonly used in various applications and protocols, including secure web browsing (HTTPS), email transmission (SMTP, IMAP, POP3), virtual private networks (VPNs), and secure file transfer (FTPS). </a:t>
            </a:r>
            <a:endParaRPr lang="en-US" b="1" dirty="0"/>
          </a:p>
          <a:p>
            <a:pPr marL="0" indent="0" algn="just">
              <a:lnSpc>
                <a:spcPct val="110000"/>
              </a:lnSpc>
              <a:buNone/>
            </a:pPr>
            <a:r>
              <a:rPr lang="en-US" b="1" dirty="0"/>
              <a:t>6. Forward Secrecy: </a:t>
            </a:r>
            <a:r>
              <a:rPr lang="en-US" dirty="0"/>
              <a:t>TLS provides forward secrecy (also known as perfect forward secrecy) as an additional security feature. It ensures that even if the long-term private key of the server is compromised, past communications remain secure.</a:t>
            </a:r>
            <a:endParaRPr lang="en-US" b="1" dirty="0"/>
          </a:p>
          <a:p>
            <a:pPr marL="0" indent="0" algn="just">
              <a:lnSpc>
                <a:spcPct val="110000"/>
              </a:lnSpc>
              <a:buNone/>
            </a:pPr>
            <a:r>
              <a:rPr lang="en-US" b="1" dirty="0"/>
              <a:t>7. Vulnerabilities and Updates: </a:t>
            </a:r>
            <a:r>
              <a:rPr lang="en-US" dirty="0"/>
              <a:t>SSL and early versions of TLS have been affected by various security vulnerabilities, such as POODLE, BEAST, and Heartbleed.</a:t>
            </a:r>
            <a:endParaRPr lang="en-US" b="1" dirty="0"/>
          </a:p>
          <a:p>
            <a:endParaRPr lang="en-US" dirty="0"/>
          </a:p>
        </p:txBody>
      </p:sp>
    </p:spTree>
    <p:extLst>
      <p:ext uri="{BB962C8B-B14F-4D97-AF65-F5344CB8AC3E}">
        <p14:creationId xmlns:p14="http://schemas.microsoft.com/office/powerpoint/2010/main" val="38450335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592BB-9AAB-2EA8-28D1-2C224A11F1E8}"/>
              </a:ext>
            </a:extLst>
          </p:cNvPr>
          <p:cNvSpPr>
            <a:spLocks noGrp="1"/>
          </p:cNvSpPr>
          <p:nvPr>
            <p:ph type="title"/>
          </p:nvPr>
        </p:nvSpPr>
        <p:spPr/>
        <p:txBody>
          <a:bodyPr/>
          <a:lstStyle/>
          <a:p>
            <a:r>
              <a:rPr lang="en-US" b="1" dirty="0"/>
              <a:t>7.4 IP Security (</a:t>
            </a:r>
            <a:r>
              <a:rPr lang="en-US" b="1" dirty="0" err="1"/>
              <a:t>IPSec</a:t>
            </a:r>
            <a:r>
              <a:rPr lang="en-US" b="1" dirty="0"/>
              <a:t>)</a:t>
            </a:r>
          </a:p>
        </p:txBody>
      </p:sp>
      <p:sp>
        <p:nvSpPr>
          <p:cNvPr id="3" name="Content Placeholder 2">
            <a:extLst>
              <a:ext uri="{FF2B5EF4-FFF2-40B4-BE49-F238E27FC236}">
                <a16:creationId xmlns:a16="http://schemas.microsoft.com/office/drawing/2014/main" id="{E9D43682-A066-215D-AF5E-F2E4BF9D58D1}"/>
              </a:ext>
            </a:extLst>
          </p:cNvPr>
          <p:cNvSpPr>
            <a:spLocks noGrp="1"/>
          </p:cNvSpPr>
          <p:nvPr>
            <p:ph idx="1"/>
          </p:nvPr>
        </p:nvSpPr>
        <p:spPr/>
        <p:txBody>
          <a:bodyPr/>
          <a:lstStyle/>
          <a:p>
            <a:pPr algn="just">
              <a:lnSpc>
                <a:spcPct val="100000"/>
              </a:lnSpc>
            </a:pPr>
            <a:r>
              <a:rPr lang="en-US" dirty="0"/>
              <a:t>a suite of protocols and standards that provides security services for IP (Internet Protocol) network communications.</a:t>
            </a:r>
          </a:p>
          <a:p>
            <a:pPr algn="just">
              <a:lnSpc>
                <a:spcPct val="100000"/>
              </a:lnSpc>
            </a:pPr>
            <a:r>
              <a:rPr lang="en-US" dirty="0"/>
              <a:t>It is commonly used to secure virtual private networks (VPNs) and ensure the confidentiality, integrity, and authenticity of IP packets transmitted over an IP network.</a:t>
            </a:r>
          </a:p>
        </p:txBody>
      </p:sp>
    </p:spTree>
    <p:extLst>
      <p:ext uri="{BB962C8B-B14F-4D97-AF65-F5344CB8AC3E}">
        <p14:creationId xmlns:p14="http://schemas.microsoft.com/office/powerpoint/2010/main" val="12356370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F1F4B-161D-27F0-9EB9-0FBD6F8CD475}"/>
              </a:ext>
            </a:extLst>
          </p:cNvPr>
          <p:cNvSpPr>
            <a:spLocks noGrp="1"/>
          </p:cNvSpPr>
          <p:nvPr>
            <p:ph type="title"/>
          </p:nvPr>
        </p:nvSpPr>
        <p:spPr/>
        <p:txBody>
          <a:bodyPr/>
          <a:lstStyle/>
          <a:p>
            <a:endParaRPr lang="en-US"/>
          </a:p>
        </p:txBody>
      </p:sp>
      <p:pic>
        <p:nvPicPr>
          <p:cNvPr id="5" name="Content Placeholder 4" descr="A picture containing text, diagram, screenshot, line&#10;&#10;Description automatically generated">
            <a:extLst>
              <a:ext uri="{FF2B5EF4-FFF2-40B4-BE49-F238E27FC236}">
                <a16:creationId xmlns:a16="http://schemas.microsoft.com/office/drawing/2014/main" id="{2C5B520D-76A4-CA6E-BAC2-3414431AF0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7490" y="1564372"/>
            <a:ext cx="10515600" cy="3530236"/>
          </a:xfrm>
        </p:spPr>
      </p:pic>
    </p:spTree>
    <p:extLst>
      <p:ext uri="{BB962C8B-B14F-4D97-AF65-F5344CB8AC3E}">
        <p14:creationId xmlns:p14="http://schemas.microsoft.com/office/powerpoint/2010/main" val="34161818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B55DE-4F32-9739-5B35-B38C4B8A7191}"/>
              </a:ext>
            </a:extLst>
          </p:cNvPr>
          <p:cNvSpPr>
            <a:spLocks noGrp="1"/>
          </p:cNvSpPr>
          <p:nvPr>
            <p:ph type="title"/>
          </p:nvPr>
        </p:nvSpPr>
        <p:spPr/>
        <p:txBody>
          <a:bodyPr/>
          <a:lstStyle/>
          <a:p>
            <a:r>
              <a:rPr lang="en-US" b="1" dirty="0"/>
              <a:t>Why is </a:t>
            </a:r>
            <a:r>
              <a:rPr lang="en-US" b="1" dirty="0" err="1"/>
              <a:t>IPSec</a:t>
            </a:r>
            <a:r>
              <a:rPr lang="en-US" b="1" dirty="0"/>
              <a:t> Important?</a:t>
            </a:r>
          </a:p>
        </p:txBody>
      </p:sp>
      <p:sp>
        <p:nvSpPr>
          <p:cNvPr id="3" name="Content Placeholder 2">
            <a:extLst>
              <a:ext uri="{FF2B5EF4-FFF2-40B4-BE49-F238E27FC236}">
                <a16:creationId xmlns:a16="http://schemas.microsoft.com/office/drawing/2014/main" id="{9B9D5215-F34C-9F72-48A3-8D6E0661FF46}"/>
              </a:ext>
            </a:extLst>
          </p:cNvPr>
          <p:cNvSpPr>
            <a:spLocks noGrp="1"/>
          </p:cNvSpPr>
          <p:nvPr>
            <p:ph idx="1"/>
          </p:nvPr>
        </p:nvSpPr>
        <p:spPr/>
        <p:txBody>
          <a:bodyPr/>
          <a:lstStyle/>
          <a:p>
            <a:pPr algn="just"/>
            <a:r>
              <a:rPr lang="en-US" dirty="0"/>
              <a:t>The Internet Engineering Task Force developed </a:t>
            </a:r>
            <a:r>
              <a:rPr lang="en-US" dirty="0" err="1"/>
              <a:t>IPSec</a:t>
            </a:r>
            <a:r>
              <a:rPr lang="en-US" dirty="0"/>
              <a:t> in the 1990s to ensure data confidentiality, integrity, and authenticity when accessing public networks.</a:t>
            </a:r>
          </a:p>
          <a:p>
            <a:pPr algn="just"/>
            <a:r>
              <a:rPr lang="en-US" dirty="0"/>
              <a:t>For example, users connect to the internet with an </a:t>
            </a:r>
            <a:r>
              <a:rPr lang="en-US" dirty="0" err="1"/>
              <a:t>IPSec</a:t>
            </a:r>
            <a:r>
              <a:rPr lang="en-US" dirty="0"/>
              <a:t> virtual private network (VPN) to access company files remotely. </a:t>
            </a:r>
          </a:p>
          <a:p>
            <a:pPr algn="just"/>
            <a:r>
              <a:rPr lang="en-US" dirty="0"/>
              <a:t>The </a:t>
            </a:r>
            <a:r>
              <a:rPr lang="en-US" dirty="0" err="1"/>
              <a:t>IPSec</a:t>
            </a:r>
            <a:r>
              <a:rPr lang="en-US" dirty="0"/>
              <a:t> protocol encrypts sensitive information to prevent unwanted monitoring. The server can also verify that the received data packets are authorized.</a:t>
            </a:r>
          </a:p>
        </p:txBody>
      </p:sp>
    </p:spTree>
    <p:extLst>
      <p:ext uri="{BB962C8B-B14F-4D97-AF65-F5344CB8AC3E}">
        <p14:creationId xmlns:p14="http://schemas.microsoft.com/office/powerpoint/2010/main" val="31360005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57FDB-F34C-59F6-DE46-F3A0B646F884}"/>
              </a:ext>
            </a:extLst>
          </p:cNvPr>
          <p:cNvSpPr>
            <a:spLocks noGrp="1"/>
          </p:cNvSpPr>
          <p:nvPr>
            <p:ph type="title"/>
          </p:nvPr>
        </p:nvSpPr>
        <p:spPr>
          <a:xfrm>
            <a:off x="838200" y="188956"/>
            <a:ext cx="10515600" cy="1325563"/>
          </a:xfrm>
        </p:spPr>
        <p:txBody>
          <a:bodyPr/>
          <a:lstStyle/>
          <a:p>
            <a:r>
              <a:rPr lang="en-US" b="1" dirty="0"/>
              <a:t>What are the uses of </a:t>
            </a:r>
            <a:r>
              <a:rPr lang="en-US" b="1" dirty="0" err="1"/>
              <a:t>IPSec</a:t>
            </a:r>
            <a:r>
              <a:rPr lang="en-US" b="1" dirty="0"/>
              <a:t>?</a:t>
            </a:r>
            <a:br>
              <a:rPr lang="en-US" b="1" dirty="0"/>
            </a:br>
            <a:endParaRPr lang="en-US" dirty="0"/>
          </a:p>
        </p:txBody>
      </p:sp>
      <p:sp>
        <p:nvSpPr>
          <p:cNvPr id="3" name="Content Placeholder 2">
            <a:extLst>
              <a:ext uri="{FF2B5EF4-FFF2-40B4-BE49-F238E27FC236}">
                <a16:creationId xmlns:a16="http://schemas.microsoft.com/office/drawing/2014/main" id="{D65CFA15-C344-D4A8-A012-F058AE74522F}"/>
              </a:ext>
            </a:extLst>
          </p:cNvPr>
          <p:cNvSpPr>
            <a:spLocks noGrp="1"/>
          </p:cNvSpPr>
          <p:nvPr>
            <p:ph idx="1"/>
          </p:nvPr>
        </p:nvSpPr>
        <p:spPr>
          <a:xfrm>
            <a:off x="586530" y="1355841"/>
            <a:ext cx="10654717" cy="4541619"/>
          </a:xfrm>
        </p:spPr>
        <p:txBody>
          <a:bodyPr>
            <a:normAutofit fontScale="92500" lnSpcReduction="10000"/>
          </a:bodyPr>
          <a:lstStyle/>
          <a:p>
            <a:pPr marL="0" indent="0" algn="just">
              <a:lnSpc>
                <a:spcPct val="110000"/>
              </a:lnSpc>
              <a:buNone/>
            </a:pPr>
            <a:r>
              <a:rPr lang="en-US" dirty="0"/>
              <a:t>IPsec can be used to do the following:</a:t>
            </a:r>
          </a:p>
          <a:p>
            <a:pPr algn="just">
              <a:lnSpc>
                <a:spcPct val="110000"/>
              </a:lnSpc>
              <a:buFont typeface="Arial" panose="020B0604020202020204" pitchFamily="34" charset="0"/>
              <a:buChar char="•"/>
            </a:pPr>
            <a:r>
              <a:rPr lang="en-US" dirty="0"/>
              <a:t>Provide router security when sending data across the public internet.</a:t>
            </a:r>
          </a:p>
          <a:p>
            <a:pPr algn="just">
              <a:lnSpc>
                <a:spcPct val="110000"/>
              </a:lnSpc>
              <a:buFont typeface="Arial" panose="020B0604020202020204" pitchFamily="34" charset="0"/>
              <a:buChar char="•"/>
            </a:pPr>
            <a:r>
              <a:rPr lang="en-US" dirty="0"/>
              <a:t>Encrypt application data.</a:t>
            </a:r>
          </a:p>
          <a:p>
            <a:pPr algn="just">
              <a:lnSpc>
                <a:spcPct val="110000"/>
              </a:lnSpc>
              <a:buFont typeface="Arial" panose="020B0604020202020204" pitchFamily="34" charset="0"/>
              <a:buChar char="•"/>
            </a:pPr>
            <a:r>
              <a:rPr lang="en-US" dirty="0"/>
              <a:t>Authenticate data quickly if the data originates from a known sender.</a:t>
            </a:r>
          </a:p>
          <a:p>
            <a:pPr algn="just">
              <a:lnSpc>
                <a:spcPct val="110000"/>
              </a:lnSpc>
              <a:buFont typeface="Arial" panose="020B0604020202020204" pitchFamily="34" charset="0"/>
              <a:buChar char="•"/>
            </a:pPr>
            <a:r>
              <a:rPr lang="en-US" dirty="0"/>
              <a:t>Protect network data by setting up encrypted circuits, called IPsec tunnels, that encrypt all data sent between two endpoints.</a:t>
            </a:r>
          </a:p>
          <a:p>
            <a:pPr marL="0" indent="0" algn="just">
              <a:lnSpc>
                <a:spcPct val="110000"/>
              </a:lnSpc>
              <a:buNone/>
            </a:pPr>
            <a:r>
              <a:rPr lang="en-US" dirty="0"/>
              <a:t>Organizations use </a:t>
            </a:r>
            <a:r>
              <a:rPr lang="en-US" dirty="0" err="1"/>
              <a:t>IPSec</a:t>
            </a:r>
            <a:r>
              <a:rPr lang="en-US" dirty="0"/>
              <a:t> to protect against replay attacks. A replay attack, or man-in-the-middle attack, is an act of intercepting and altering ongoing transmission by routing data to an intermediary computer.</a:t>
            </a:r>
          </a:p>
        </p:txBody>
      </p:sp>
    </p:spTree>
    <p:extLst>
      <p:ext uri="{BB962C8B-B14F-4D97-AF65-F5344CB8AC3E}">
        <p14:creationId xmlns:p14="http://schemas.microsoft.com/office/powerpoint/2010/main" val="765431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13CD7-F9D0-C37E-9411-112130E2FE96}"/>
              </a:ext>
            </a:extLst>
          </p:cNvPr>
          <p:cNvSpPr>
            <a:spLocks noGrp="1"/>
          </p:cNvSpPr>
          <p:nvPr>
            <p:ph type="title"/>
          </p:nvPr>
        </p:nvSpPr>
        <p:spPr/>
        <p:txBody>
          <a:bodyPr/>
          <a:lstStyle/>
          <a:p>
            <a:r>
              <a:rPr lang="en-US" b="1" dirty="0"/>
              <a:t>How does </a:t>
            </a:r>
            <a:r>
              <a:rPr lang="en-US" b="1" dirty="0" err="1"/>
              <a:t>IPSec</a:t>
            </a:r>
            <a:r>
              <a:rPr lang="en-US" b="1" dirty="0"/>
              <a:t> work? </a:t>
            </a:r>
            <a:br>
              <a:rPr lang="en-US" b="1" dirty="0"/>
            </a:br>
            <a:endParaRPr lang="en-US" dirty="0"/>
          </a:p>
        </p:txBody>
      </p:sp>
      <p:sp>
        <p:nvSpPr>
          <p:cNvPr id="3" name="Content Placeholder 2">
            <a:extLst>
              <a:ext uri="{FF2B5EF4-FFF2-40B4-BE49-F238E27FC236}">
                <a16:creationId xmlns:a16="http://schemas.microsoft.com/office/drawing/2014/main" id="{0023F0B4-88E1-5457-6EB7-C2881D1C9C5E}"/>
              </a:ext>
            </a:extLst>
          </p:cNvPr>
          <p:cNvSpPr>
            <a:spLocks noGrp="1"/>
          </p:cNvSpPr>
          <p:nvPr>
            <p:ph idx="1"/>
          </p:nvPr>
        </p:nvSpPr>
        <p:spPr>
          <a:xfrm>
            <a:off x="302005" y="1162895"/>
            <a:ext cx="11341914" cy="5011402"/>
          </a:xfrm>
        </p:spPr>
        <p:txBody>
          <a:bodyPr>
            <a:normAutofit fontScale="85000" lnSpcReduction="20000"/>
          </a:bodyPr>
          <a:lstStyle/>
          <a:p>
            <a:pPr marL="0" indent="0" algn="just">
              <a:lnSpc>
                <a:spcPct val="120000"/>
              </a:lnSpc>
              <a:buNone/>
            </a:pPr>
            <a:r>
              <a:rPr lang="en-US" dirty="0"/>
              <a:t>Computers exchange data with the </a:t>
            </a:r>
            <a:r>
              <a:rPr lang="en-US" dirty="0" err="1"/>
              <a:t>IPSec</a:t>
            </a:r>
            <a:r>
              <a:rPr lang="en-US" dirty="0"/>
              <a:t> protocol through the following steps. </a:t>
            </a:r>
          </a:p>
          <a:p>
            <a:pPr algn="just">
              <a:lnSpc>
                <a:spcPct val="120000"/>
              </a:lnSpc>
              <a:buFont typeface="+mj-lt"/>
              <a:buAutoNum type="arabicPeriod"/>
            </a:pPr>
            <a:r>
              <a:rPr lang="en-US" dirty="0"/>
              <a:t>The sender computer determines if the data transmission requires </a:t>
            </a:r>
            <a:r>
              <a:rPr lang="en-US" dirty="0" err="1"/>
              <a:t>IPSec</a:t>
            </a:r>
            <a:r>
              <a:rPr lang="en-US" dirty="0"/>
              <a:t> protection by verifying against its security policy. If it does, the computer initiates secure </a:t>
            </a:r>
            <a:r>
              <a:rPr lang="en-US" dirty="0" err="1"/>
              <a:t>IPSec</a:t>
            </a:r>
            <a:r>
              <a:rPr lang="en-US" dirty="0"/>
              <a:t> transmission with the recipient computer.</a:t>
            </a:r>
          </a:p>
          <a:p>
            <a:pPr algn="just">
              <a:lnSpc>
                <a:spcPct val="120000"/>
              </a:lnSpc>
              <a:buFont typeface="+mj-lt"/>
              <a:buAutoNum type="arabicPeriod"/>
            </a:pPr>
            <a:r>
              <a:rPr lang="en-US" dirty="0"/>
              <a:t>Both computers negotiate the requirements to establish a secure connection. This includes mutually agreeing on the encryption, authentication, and other security association (SA) parameters. </a:t>
            </a:r>
          </a:p>
          <a:p>
            <a:pPr algn="just">
              <a:lnSpc>
                <a:spcPct val="120000"/>
              </a:lnSpc>
              <a:buFont typeface="+mj-lt"/>
              <a:buAutoNum type="arabicPeriod"/>
            </a:pPr>
            <a:r>
              <a:rPr lang="en-US" dirty="0"/>
              <a:t>The computer sends and receives encrypted data, validating that it came from trusted sources. It performs checks to ensure the underlying content is reliable. </a:t>
            </a:r>
          </a:p>
          <a:p>
            <a:pPr algn="just">
              <a:lnSpc>
                <a:spcPct val="120000"/>
              </a:lnSpc>
              <a:buFont typeface="+mj-lt"/>
              <a:buAutoNum type="arabicPeriod"/>
            </a:pPr>
            <a:r>
              <a:rPr lang="en-US" dirty="0"/>
              <a:t>Once the transmission is complete or the session has timed out, the computer ends the </a:t>
            </a:r>
            <a:r>
              <a:rPr lang="en-US" dirty="0" err="1"/>
              <a:t>IPSec</a:t>
            </a:r>
            <a:r>
              <a:rPr lang="en-US" dirty="0"/>
              <a:t> connection. </a:t>
            </a:r>
          </a:p>
          <a:p>
            <a:pPr marL="0" indent="0" algn="just">
              <a:lnSpc>
                <a:spcPct val="120000"/>
              </a:lnSpc>
              <a:buNone/>
            </a:pPr>
            <a:endParaRPr lang="en-US" dirty="0"/>
          </a:p>
          <a:p>
            <a:pPr algn="just">
              <a:lnSpc>
                <a:spcPct val="120000"/>
              </a:lnSpc>
            </a:pPr>
            <a:endParaRPr lang="en-US" dirty="0"/>
          </a:p>
        </p:txBody>
      </p:sp>
    </p:spTree>
    <p:extLst>
      <p:ext uri="{BB962C8B-B14F-4D97-AF65-F5344CB8AC3E}">
        <p14:creationId xmlns:p14="http://schemas.microsoft.com/office/powerpoint/2010/main" val="9302779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D3A12-D331-E29D-5CB9-4C0E310DF457}"/>
              </a:ext>
            </a:extLst>
          </p:cNvPr>
          <p:cNvSpPr>
            <a:spLocks noGrp="1"/>
          </p:cNvSpPr>
          <p:nvPr>
            <p:ph type="title"/>
          </p:nvPr>
        </p:nvSpPr>
        <p:spPr/>
        <p:txBody>
          <a:bodyPr/>
          <a:lstStyle/>
          <a:p>
            <a:r>
              <a:rPr lang="en-US" b="1" dirty="0"/>
              <a:t>7.5 Firewalls and their types</a:t>
            </a:r>
          </a:p>
        </p:txBody>
      </p:sp>
      <p:sp>
        <p:nvSpPr>
          <p:cNvPr id="3" name="Content Placeholder 2">
            <a:extLst>
              <a:ext uri="{FF2B5EF4-FFF2-40B4-BE49-F238E27FC236}">
                <a16:creationId xmlns:a16="http://schemas.microsoft.com/office/drawing/2014/main" id="{239BCD5D-8E85-BC62-4C45-B1986A20A4A0}"/>
              </a:ext>
            </a:extLst>
          </p:cNvPr>
          <p:cNvSpPr>
            <a:spLocks noGrp="1"/>
          </p:cNvSpPr>
          <p:nvPr>
            <p:ph idx="1"/>
          </p:nvPr>
        </p:nvSpPr>
        <p:spPr>
          <a:xfrm>
            <a:off x="838200" y="1573955"/>
            <a:ext cx="10515600" cy="4351338"/>
          </a:xfrm>
        </p:spPr>
        <p:txBody>
          <a:bodyPr/>
          <a:lstStyle/>
          <a:p>
            <a:pPr algn="just"/>
            <a:r>
              <a:rPr lang="en-US" dirty="0"/>
              <a:t>Firewalls are network security devices that act as a barrier between an internal network and external networks, such as the internet.</a:t>
            </a:r>
          </a:p>
          <a:p>
            <a:pPr algn="just"/>
            <a:r>
              <a:rPr lang="en-US" dirty="0"/>
              <a:t>They monitor and control incoming and outgoing network traffic based on predefined security rules.</a:t>
            </a:r>
          </a:p>
          <a:p>
            <a:pPr algn="just"/>
            <a:r>
              <a:rPr lang="en-US" dirty="0"/>
              <a:t>Firewalls help protect networks from unauthorized access, malicious activities, and potential threats.</a:t>
            </a:r>
          </a:p>
        </p:txBody>
      </p:sp>
    </p:spTree>
    <p:extLst>
      <p:ext uri="{BB962C8B-B14F-4D97-AF65-F5344CB8AC3E}">
        <p14:creationId xmlns:p14="http://schemas.microsoft.com/office/powerpoint/2010/main" val="20801576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picture containing clipart&#10;&#10;Description automatically generated">
            <a:extLst>
              <a:ext uri="{FF2B5EF4-FFF2-40B4-BE49-F238E27FC236}">
                <a16:creationId xmlns:a16="http://schemas.microsoft.com/office/drawing/2014/main" id="{E39E3E52-9E5C-59AD-76D8-DD74B7DC576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1384300"/>
            <a:ext cx="10905066" cy="4089399"/>
          </a:xfrm>
          <a:prstGeom prst="rect">
            <a:avLst/>
          </a:prstGeom>
        </p:spPr>
      </p:pic>
    </p:spTree>
    <p:extLst>
      <p:ext uri="{BB962C8B-B14F-4D97-AF65-F5344CB8AC3E}">
        <p14:creationId xmlns:p14="http://schemas.microsoft.com/office/powerpoint/2010/main" val="39162612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563BA-5A12-72B0-DBC9-97A45D38B130}"/>
              </a:ext>
            </a:extLst>
          </p:cNvPr>
          <p:cNvSpPr>
            <a:spLocks noGrp="1"/>
          </p:cNvSpPr>
          <p:nvPr>
            <p:ph type="title"/>
          </p:nvPr>
        </p:nvSpPr>
        <p:spPr/>
        <p:txBody>
          <a:bodyPr/>
          <a:lstStyle/>
          <a:p>
            <a:r>
              <a:rPr lang="en-US" b="1" dirty="0"/>
              <a:t>Types of firewall </a:t>
            </a:r>
          </a:p>
        </p:txBody>
      </p:sp>
      <p:sp>
        <p:nvSpPr>
          <p:cNvPr id="3" name="Content Placeholder 2">
            <a:extLst>
              <a:ext uri="{FF2B5EF4-FFF2-40B4-BE49-F238E27FC236}">
                <a16:creationId xmlns:a16="http://schemas.microsoft.com/office/drawing/2014/main" id="{5724A2CB-4468-1464-2822-1538A119BEFF}"/>
              </a:ext>
            </a:extLst>
          </p:cNvPr>
          <p:cNvSpPr>
            <a:spLocks noGrp="1"/>
          </p:cNvSpPr>
          <p:nvPr>
            <p:ph idx="1"/>
          </p:nvPr>
        </p:nvSpPr>
        <p:spPr/>
        <p:txBody>
          <a:bodyPr>
            <a:normAutofit/>
          </a:bodyPr>
          <a:lstStyle/>
          <a:p>
            <a:pPr algn="just">
              <a:lnSpc>
                <a:spcPct val="100000"/>
              </a:lnSpc>
            </a:pPr>
            <a:r>
              <a:rPr lang="en-US" b="1" dirty="0"/>
              <a:t>Packet Filtering Firewalls: </a:t>
            </a:r>
            <a:r>
              <a:rPr lang="en-US" dirty="0"/>
              <a:t>A small amount of data is analyzed and distributed according to the filter’s standards.</a:t>
            </a:r>
          </a:p>
          <a:p>
            <a:pPr algn="just">
              <a:lnSpc>
                <a:spcPct val="100000"/>
              </a:lnSpc>
            </a:pPr>
            <a:r>
              <a:rPr lang="en-US" b="1" dirty="0"/>
              <a:t>Stateful Inspection Firewalls: </a:t>
            </a:r>
            <a:r>
              <a:rPr lang="en-US" dirty="0"/>
              <a:t>Dynamic packet filtering that monitors active connections to determine which network packets to allow through the Firewall.</a:t>
            </a:r>
          </a:p>
          <a:p>
            <a:pPr algn="just">
              <a:lnSpc>
                <a:spcPct val="100000"/>
              </a:lnSpc>
            </a:pPr>
            <a:r>
              <a:rPr lang="en-US" b="1" dirty="0"/>
              <a:t>Application-Level Gateways (Proxy Firewalls): </a:t>
            </a:r>
            <a:r>
              <a:rPr lang="en-US" dirty="0"/>
              <a:t>Network security system that protects while filtering messages at the application layer.</a:t>
            </a:r>
          </a:p>
          <a:p>
            <a:pPr algn="just">
              <a:lnSpc>
                <a:spcPct val="100000"/>
              </a:lnSpc>
            </a:pPr>
            <a:r>
              <a:rPr lang="en-US" b="1" dirty="0"/>
              <a:t>Next-Generation Firewalls (NGFW): </a:t>
            </a:r>
            <a:r>
              <a:rPr lang="en-US" dirty="0"/>
              <a:t>Deep packet inspection Firewall with application-level inspection.</a:t>
            </a:r>
          </a:p>
          <a:p>
            <a:pPr algn="just">
              <a:lnSpc>
                <a:spcPct val="100000"/>
              </a:lnSpc>
            </a:pPr>
            <a:endParaRPr lang="en-US" dirty="0"/>
          </a:p>
        </p:txBody>
      </p:sp>
    </p:spTree>
    <p:extLst>
      <p:ext uri="{BB962C8B-B14F-4D97-AF65-F5344CB8AC3E}">
        <p14:creationId xmlns:p14="http://schemas.microsoft.com/office/powerpoint/2010/main" val="26492956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E6B89-9538-269B-7BE2-936C3992F6B5}"/>
              </a:ext>
            </a:extLst>
          </p:cNvPr>
          <p:cNvSpPr>
            <a:spLocks noGrp="1"/>
          </p:cNvSpPr>
          <p:nvPr>
            <p:ph type="title"/>
          </p:nvPr>
        </p:nvSpPr>
        <p:spPr/>
        <p:txBody>
          <a:bodyPr/>
          <a:lstStyle/>
          <a:p>
            <a:r>
              <a:rPr lang="en-US" b="1" dirty="0"/>
              <a:t>Why Do We Need Firewalls?</a:t>
            </a:r>
            <a:br>
              <a:rPr lang="en-US" b="1" dirty="0"/>
            </a:br>
            <a:endParaRPr lang="en-US" dirty="0"/>
          </a:p>
        </p:txBody>
      </p:sp>
      <p:sp>
        <p:nvSpPr>
          <p:cNvPr id="3" name="Content Placeholder 2">
            <a:extLst>
              <a:ext uri="{FF2B5EF4-FFF2-40B4-BE49-F238E27FC236}">
                <a16:creationId xmlns:a16="http://schemas.microsoft.com/office/drawing/2014/main" id="{088CEFBB-D870-4207-BCC8-6DF4C4C9D7B1}"/>
              </a:ext>
            </a:extLst>
          </p:cNvPr>
          <p:cNvSpPr>
            <a:spLocks noGrp="1"/>
          </p:cNvSpPr>
          <p:nvPr>
            <p:ph idx="1"/>
          </p:nvPr>
        </p:nvSpPr>
        <p:spPr>
          <a:xfrm>
            <a:off x="838200" y="1253331"/>
            <a:ext cx="10515600" cy="4351338"/>
          </a:xfrm>
        </p:spPr>
        <p:txBody>
          <a:bodyPr>
            <a:normAutofit fontScale="85000" lnSpcReduction="10000"/>
          </a:bodyPr>
          <a:lstStyle/>
          <a:p>
            <a:pPr algn="just">
              <a:lnSpc>
                <a:spcPct val="110000"/>
              </a:lnSpc>
            </a:pPr>
            <a:r>
              <a:rPr lang="en-US" dirty="0"/>
              <a:t>Firewalls, especially Next Generation Firewalls, focus on blocking malware and application-layer attacks. </a:t>
            </a:r>
          </a:p>
          <a:p>
            <a:pPr algn="just">
              <a:lnSpc>
                <a:spcPct val="110000"/>
              </a:lnSpc>
            </a:pPr>
            <a:r>
              <a:rPr lang="en-US" dirty="0"/>
              <a:t>Along with an integrated intrusion prevention system (IPS), these Next Generation Firewalls are able to react quickly and seamlessly to detect and combat attacks across the whole network. </a:t>
            </a:r>
          </a:p>
          <a:p>
            <a:pPr algn="just">
              <a:lnSpc>
                <a:spcPct val="110000"/>
              </a:lnSpc>
            </a:pPr>
            <a:r>
              <a:rPr lang="en-US" dirty="0"/>
              <a:t>Firewalls can act on previously set policies to better protect your network and can carry out quick assessments to detect invasive or suspicious activity, such as malware, and shut it down.</a:t>
            </a:r>
          </a:p>
          <a:p>
            <a:pPr algn="just">
              <a:lnSpc>
                <a:spcPct val="110000"/>
              </a:lnSpc>
            </a:pPr>
            <a:r>
              <a:rPr lang="en-US" dirty="0"/>
              <a:t>By leveraging a firewall for your security infrastructure, you’re setting up your network with specific policies to allow or block incoming and outgoing traffic.</a:t>
            </a:r>
          </a:p>
        </p:txBody>
      </p:sp>
    </p:spTree>
    <p:extLst>
      <p:ext uri="{BB962C8B-B14F-4D97-AF65-F5344CB8AC3E}">
        <p14:creationId xmlns:p14="http://schemas.microsoft.com/office/powerpoint/2010/main" val="7014961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TotalTime>
  <Words>2225</Words>
  <Application>Microsoft Office PowerPoint</Application>
  <PresentationFormat>Widescreen</PresentationFormat>
  <Paragraphs>132</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Calibri Light</vt:lpstr>
      <vt:lpstr>Office Theme</vt:lpstr>
      <vt:lpstr>Chapter 7: Network Security</vt:lpstr>
      <vt:lpstr>7.1 Overview of Network Security </vt:lpstr>
      <vt:lpstr>Key components of Network Security</vt:lpstr>
      <vt:lpstr>Network Security Prevent Against:</vt:lpstr>
      <vt:lpstr>Benefits of Network Security</vt:lpstr>
      <vt:lpstr>How does Network Security Work?</vt:lpstr>
      <vt:lpstr>7.2 Email Security </vt:lpstr>
      <vt:lpstr>S/MIME : Secure/Multipurpose Internet Mail Extensions</vt:lpstr>
      <vt:lpstr>PowerPoint Presentation</vt:lpstr>
      <vt:lpstr>S/MIME : Secure/Multipurpose Internet Mail Extensions</vt:lpstr>
      <vt:lpstr>PowerPoint Presentation</vt:lpstr>
      <vt:lpstr>Pretty Good Privacy (PGP)</vt:lpstr>
      <vt:lpstr>Overview of PGP in email security</vt:lpstr>
      <vt:lpstr>PowerPoint Presentation</vt:lpstr>
      <vt:lpstr>Difference between PGP and S/MIME</vt:lpstr>
      <vt:lpstr>7.3 SSL and TLS</vt:lpstr>
      <vt:lpstr>PowerPoint Presentation</vt:lpstr>
      <vt:lpstr>Overview of SSL and TLS:</vt:lpstr>
      <vt:lpstr>PowerPoint Presentation</vt:lpstr>
      <vt:lpstr>7.4 IP Security (IPSec)</vt:lpstr>
      <vt:lpstr>PowerPoint Presentation</vt:lpstr>
      <vt:lpstr>Why is IPSec Important?</vt:lpstr>
      <vt:lpstr>What are the uses of IPSec? </vt:lpstr>
      <vt:lpstr>How does IPSec work?  </vt:lpstr>
      <vt:lpstr>7.5 Firewalls and their types</vt:lpstr>
      <vt:lpstr>PowerPoint Presentation</vt:lpstr>
      <vt:lpstr>Types of firewall </vt:lpstr>
      <vt:lpstr>Why Do We Need Firewalls?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Govinda Gautam</dc:creator>
  <cp:lastModifiedBy>PC</cp:lastModifiedBy>
  <cp:revision>67</cp:revision>
  <dcterms:created xsi:type="dcterms:W3CDTF">2023-05-15T13:27:50Z</dcterms:created>
  <dcterms:modified xsi:type="dcterms:W3CDTF">2024-07-11T00:12:48Z</dcterms:modified>
</cp:coreProperties>
</file>